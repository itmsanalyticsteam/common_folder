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4160520" y="0"/>
            <a:ext cx="64008" cy="685800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94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PROFILE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Gujarat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&amp; State Snapshot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3154680" cy="566928"/>
          </a:xfrm>
          <a:prstGeom prst="rect">
            <a:avLst/>
          </a:prstGeom>
          <a:solidFill>
            <a:srgbClr val="143A5E"/>
          </a:solidFill>
          <a:ln w="6350">
            <a:solidFill>
              <a:srgbClr val="0E83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737360" y="274320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456432"/>
            <a:ext cx="3154680" cy="566928"/>
          </a:xfrm>
          <a:prstGeom prst="rect">
            <a:avLst/>
          </a:prstGeom>
          <a:solidFill>
            <a:srgbClr val="143A5E"/>
          </a:solidFill>
          <a:ln w="6350">
            <a:solidFill>
              <a:srgbClr val="0E83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5643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737360" y="345643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169664"/>
            <a:ext cx="3154680" cy="566928"/>
          </a:xfrm>
          <a:prstGeom prst="rect">
            <a:avLst/>
          </a:prstGeom>
          <a:solidFill>
            <a:srgbClr val="143A5E"/>
          </a:solidFill>
          <a:ln w="6350">
            <a:solidFill>
              <a:srgbClr val="0E83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6966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Data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737360" y="4169664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Feb 2026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172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Census of India 2011 · GST registration figures as on 28 Feb 2026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5486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at a Glance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0" y="1143000"/>
            <a:ext cx="3456432" cy="1371600"/>
          </a:xfrm>
          <a:prstGeom prst="rect">
            <a:avLst/>
          </a:prstGeom>
          <a:solidFill>
            <a:srgbClr val="F3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47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143000"/>
            <a:ext cx="82296" cy="137160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1399032"/>
            <a:ext cx="566928" cy="566928"/>
          </a:xfrm>
          <a:prstGeom prst="ellipse">
            <a:avLst/>
          </a:prstGeom>
          <a:solidFill>
            <a:srgbClr val="E2EEF0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536192"/>
            <a:ext cx="292608" cy="2926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577840" y="1307592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7.39 Cr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5577840" y="1801368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Population (2026)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577840" y="2075688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6.04 Cr in 2011 Census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47888" y="1143000"/>
            <a:ext cx="3456432" cy="1371600"/>
          </a:xfrm>
          <a:prstGeom prst="rect">
            <a:avLst/>
          </a:prstGeom>
          <a:solidFill>
            <a:srgbClr val="F3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47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47888" y="1143000"/>
            <a:ext cx="82296" cy="137160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7" name="Shape 24"/>
          <p:cNvSpPr/>
          <p:nvPr/>
        </p:nvSpPr>
        <p:spPr>
          <a:xfrm>
            <a:off x="8522208" y="1399032"/>
            <a:ext cx="566928" cy="566928"/>
          </a:xfrm>
          <a:prstGeom prst="ellipse">
            <a:avLst/>
          </a:prstGeom>
          <a:solidFill>
            <a:srgbClr val="E2EEF0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68" y="1536192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253728" y="1307592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1,96,244</a:t>
            </a:r>
            <a:endParaRPr lang="en-US" sz="2700" dirty="0"/>
          </a:p>
        </p:txBody>
      </p:sp>
      <p:sp>
        <p:nvSpPr>
          <p:cNvPr id="30" name="Text 26"/>
          <p:cNvSpPr/>
          <p:nvPr/>
        </p:nvSpPr>
        <p:spPr>
          <a:xfrm>
            <a:off x="9253728" y="1801368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Area (sq. km)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9253728" y="2075688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 persons / sq. km density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572000" y="2734056"/>
            <a:ext cx="3456432" cy="1371600"/>
          </a:xfrm>
          <a:prstGeom prst="rect">
            <a:avLst/>
          </a:prstGeom>
          <a:solidFill>
            <a:srgbClr val="F3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47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572000" y="2734056"/>
            <a:ext cx="82296" cy="137160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4" name="Shape 30"/>
          <p:cNvSpPr/>
          <p:nvPr/>
        </p:nvSpPr>
        <p:spPr>
          <a:xfrm>
            <a:off x="4846320" y="2990088"/>
            <a:ext cx="566928" cy="566928"/>
          </a:xfrm>
          <a:prstGeom prst="ellipse">
            <a:avLst/>
          </a:prstGeom>
          <a:solidFill>
            <a:srgbClr val="E2EEF0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127248"/>
            <a:ext cx="292608" cy="29260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577840" y="2898648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78.03%</a:t>
            </a:r>
            <a:endParaRPr lang="en-US" sz="2700" dirty="0"/>
          </a:p>
        </p:txBody>
      </p:sp>
      <p:sp>
        <p:nvSpPr>
          <p:cNvPr id="37" name="Text 32"/>
          <p:cNvSpPr/>
          <p:nvPr/>
        </p:nvSpPr>
        <p:spPr>
          <a:xfrm>
            <a:off x="5577840" y="3392424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Rate (2011)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5577840" y="3666744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national average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47888" y="2734056"/>
            <a:ext cx="3456432" cy="1371600"/>
          </a:xfrm>
          <a:prstGeom prst="rect">
            <a:avLst/>
          </a:prstGeom>
          <a:solidFill>
            <a:srgbClr val="F3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47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8247888" y="2734056"/>
            <a:ext cx="82296" cy="137160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41" name="Shape 36"/>
          <p:cNvSpPr/>
          <p:nvPr/>
        </p:nvSpPr>
        <p:spPr>
          <a:xfrm>
            <a:off x="8522208" y="2990088"/>
            <a:ext cx="566928" cy="566928"/>
          </a:xfrm>
          <a:prstGeom prst="ellipse">
            <a:avLst/>
          </a:prstGeom>
          <a:solidFill>
            <a:srgbClr val="E2EEF0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368" y="3127248"/>
            <a:ext cx="292608" cy="29260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9253728" y="2898648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25</a:t>
            </a:r>
            <a:endParaRPr lang="en-US" sz="2700" dirty="0"/>
          </a:p>
        </p:txBody>
      </p:sp>
      <p:sp>
        <p:nvSpPr>
          <p:cNvPr id="44" name="Text 38"/>
          <p:cNvSpPr/>
          <p:nvPr/>
        </p:nvSpPr>
        <p:spPr>
          <a:xfrm>
            <a:off x="9253728" y="3392424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Divisions / Ranges</a:t>
            </a:r>
            <a:endParaRPr lang="en-US" sz="1150" dirty="0"/>
          </a:p>
        </p:txBody>
      </p:sp>
      <p:sp>
        <p:nvSpPr>
          <p:cNvPr id="45" name="Text 39"/>
          <p:cNvSpPr/>
          <p:nvPr/>
        </p:nvSpPr>
        <p:spPr>
          <a:xfrm>
            <a:off x="9253728" y="3666744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Units · HQ Ahmedabad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4572000" y="4370832"/>
            <a:ext cx="7132320" cy="2075688"/>
          </a:xfrm>
          <a:prstGeom prst="rect">
            <a:avLst/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E2A47">
                <a:alpha val="12000"/>
              </a:srgbClr>
            </a:outerShdw>
          </a:effectLst>
        </p:spPr>
      </p:sp>
      <p:sp>
        <p:nvSpPr>
          <p:cNvPr id="47" name="Shape 41"/>
          <p:cNvSpPr/>
          <p:nvPr/>
        </p:nvSpPr>
        <p:spPr>
          <a:xfrm>
            <a:off x="7635240" y="4663440"/>
            <a:ext cx="0" cy="1481328"/>
          </a:xfrm>
          <a:prstGeom prst="line">
            <a:avLst/>
          </a:prstGeom>
          <a:noFill/>
          <a:ln w="19050">
            <a:solidFill>
              <a:srgbClr val="143A5E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681728"/>
            <a:ext cx="329184" cy="329184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5257800" y="46451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Registered Taxpayers</a:t>
            </a:r>
            <a:endParaRPr lang="en-US" sz="1300" dirty="0"/>
          </a:p>
        </p:txBody>
      </p:sp>
      <p:sp>
        <p:nvSpPr>
          <p:cNvPr id="50" name="Text 43"/>
          <p:cNvSpPr/>
          <p:nvPr/>
        </p:nvSpPr>
        <p:spPr>
          <a:xfrm>
            <a:off x="4846320" y="512064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13,82,342</a:t>
            </a:r>
            <a:endParaRPr lang="en-US" sz="3400" dirty="0"/>
          </a:p>
        </p:txBody>
      </p:sp>
      <p:sp>
        <p:nvSpPr>
          <p:cNvPr id="51" name="Text 44"/>
          <p:cNvSpPr/>
          <p:nvPr/>
        </p:nvSpPr>
        <p:spPr>
          <a:xfrm>
            <a:off x="4864608" y="58338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registrations across Gujarat (State Code 24)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7818120" y="4681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10058400" y="4681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12,52,571</a:t>
            </a:r>
            <a:endParaRPr lang="en-US" sz="1300" dirty="0"/>
          </a:p>
        </p:txBody>
      </p:sp>
      <p:sp>
        <p:nvSpPr>
          <p:cNvPr id="54" name="Shape 47"/>
          <p:cNvSpPr/>
          <p:nvPr/>
        </p:nvSpPr>
        <p:spPr>
          <a:xfrm>
            <a:off x="7818120" y="5074920"/>
            <a:ext cx="3703320" cy="0"/>
          </a:xfrm>
          <a:prstGeom prst="line">
            <a:avLst/>
          </a:prstGeom>
          <a:noFill/>
          <a:ln w="12700">
            <a:solidFill>
              <a:srgbClr val="143A5E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7818120" y="51114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200" dirty="0"/>
          </a:p>
        </p:txBody>
      </p:sp>
      <p:sp>
        <p:nvSpPr>
          <p:cNvPr id="56" name="Text 49"/>
          <p:cNvSpPr/>
          <p:nvPr/>
        </p:nvSpPr>
        <p:spPr>
          <a:xfrm>
            <a:off x="10058400" y="51114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89,412</a:t>
            </a:r>
            <a:endParaRPr lang="en-US" sz="1300" dirty="0"/>
          </a:p>
        </p:txBody>
      </p:sp>
      <p:sp>
        <p:nvSpPr>
          <p:cNvPr id="57" name="Shape 50"/>
          <p:cNvSpPr/>
          <p:nvPr/>
        </p:nvSpPr>
        <p:spPr>
          <a:xfrm>
            <a:off x="7818120" y="5504688"/>
            <a:ext cx="3703320" cy="0"/>
          </a:xfrm>
          <a:prstGeom prst="line">
            <a:avLst/>
          </a:prstGeom>
          <a:noFill/>
          <a:ln w="12700">
            <a:solidFill>
              <a:srgbClr val="143A5E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7818120" y="55412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Deductor (TDS)</a:t>
            </a:r>
            <a:endParaRPr lang="en-US" sz="1200" dirty="0"/>
          </a:p>
        </p:txBody>
      </p:sp>
      <p:sp>
        <p:nvSpPr>
          <p:cNvPr id="59" name="Text 52"/>
          <p:cNvSpPr/>
          <p:nvPr/>
        </p:nvSpPr>
        <p:spPr>
          <a:xfrm>
            <a:off x="10058400" y="55412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37,193</a:t>
            </a:r>
            <a:endParaRPr lang="en-US" sz="1300" dirty="0"/>
          </a:p>
        </p:txBody>
      </p:sp>
      <p:sp>
        <p:nvSpPr>
          <p:cNvPr id="60" name="Shape 53"/>
          <p:cNvSpPr/>
          <p:nvPr/>
        </p:nvSpPr>
        <p:spPr>
          <a:xfrm>
            <a:off x="7818120" y="5934456"/>
            <a:ext cx="3703320" cy="0"/>
          </a:xfrm>
          <a:prstGeom prst="line">
            <a:avLst/>
          </a:prstGeom>
          <a:noFill/>
          <a:ln w="12700">
            <a:solidFill>
              <a:srgbClr val="143A5E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7818120" y="59710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 · TCS · Others</a:t>
            </a:r>
            <a:endParaRPr lang="en-US" sz="1200" dirty="0"/>
          </a:p>
        </p:txBody>
      </p:sp>
      <p:sp>
        <p:nvSpPr>
          <p:cNvPr id="62" name="Text 55"/>
          <p:cNvSpPr/>
          <p:nvPr/>
        </p:nvSpPr>
        <p:spPr>
          <a:xfrm>
            <a:off x="10058400" y="59710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5,166</a:t>
            </a:r>
            <a:endParaRPr lang="en-US" sz="1300" dirty="0"/>
          </a:p>
        </p:txBody>
      </p:sp>
      <p:sp>
        <p:nvSpPr>
          <p:cNvPr id="63" name="Shape 56"/>
          <p:cNvSpPr/>
          <p:nvPr/>
        </p:nvSpPr>
        <p:spPr>
          <a:xfrm>
            <a:off x="7818120" y="6364224"/>
            <a:ext cx="3703320" cy="0"/>
          </a:xfrm>
          <a:prstGeom prst="line">
            <a:avLst/>
          </a:prstGeom>
          <a:noFill/>
          <a:ln w="12700">
            <a:solidFill>
              <a:srgbClr val="143A5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Confidentiality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confidentiality, integrity, and secure handling of taxpayer information throughout the GST platform lifecycle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621024" cy="2157984"/>
          </a:xfrm>
          <a:prstGeom prst="rect">
            <a:avLst/>
          </a:prstGeom>
          <a:solidFill>
            <a:srgbClr val="F3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4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057400"/>
            <a:ext cx="3621024" cy="6400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" y="23134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E2A4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47802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295144"/>
            <a:ext cx="2386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&amp; Protection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3099816"/>
            <a:ext cx="30906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taxpayer, financial &amp; operational data by sensitivity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protection controls based on data criticality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handling across the full data lifecycle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70832" y="2057400"/>
            <a:ext cx="3621024" cy="2157984"/>
          </a:xfrm>
          <a:prstGeom prst="rect">
            <a:avLst/>
          </a:prstGeom>
          <a:solidFill>
            <a:srgbClr val="F3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47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0832" y="2057400"/>
            <a:ext cx="3621024" cy="6400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3" name="Shape 10"/>
          <p:cNvSpPr/>
          <p:nvPr/>
        </p:nvSpPr>
        <p:spPr>
          <a:xfrm>
            <a:off x="4626864" y="23134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E2A4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47802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295144"/>
            <a:ext cx="2386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Secure-by-Design Architecture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645152" y="3099816"/>
            <a:ext cx="30906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security from requirements through deployment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Control, MFA &amp; encryption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least-privilege access platform-wide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38744" y="2057400"/>
            <a:ext cx="3621024" cy="2157984"/>
          </a:xfrm>
          <a:prstGeom prst="rect">
            <a:avLst/>
          </a:prstGeom>
          <a:solidFill>
            <a:srgbClr val="F3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47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38744" y="2057400"/>
            <a:ext cx="3621024" cy="6400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Shape 15"/>
          <p:cNvSpPr/>
          <p:nvPr/>
        </p:nvSpPr>
        <p:spPr>
          <a:xfrm>
            <a:off x="8494776" y="23134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E2A4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47802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62872" y="2295144"/>
            <a:ext cx="2386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&amp; Access Governance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513064" y="3099816"/>
            <a:ext cx="30906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NDAs for all project personnel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Approval-based access to sensitive information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access reviews &amp; governance oversight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02920" y="4453128"/>
            <a:ext cx="3621024" cy="2157984"/>
          </a:xfrm>
          <a:prstGeom prst="rect">
            <a:avLst/>
          </a:prstGeom>
          <a:solidFill>
            <a:srgbClr val="F3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47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4453128"/>
            <a:ext cx="3621024" cy="6400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5" name="Shape 20"/>
          <p:cNvSpPr/>
          <p:nvPr/>
        </p:nvSpPr>
        <p:spPr>
          <a:xfrm>
            <a:off x="758952" y="470916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E2A4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873752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27048" y="4690872"/>
            <a:ext cx="2386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Data Segregation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777240" y="5495544"/>
            <a:ext cx="30906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 access on a need-to-know basis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/ anonymized datasets for dev &amp; testing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Dev–UAT–Production separation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370832" y="4453128"/>
            <a:ext cx="3621024" cy="2157984"/>
          </a:xfrm>
          <a:prstGeom prst="rect">
            <a:avLst/>
          </a:prstGeom>
          <a:solidFill>
            <a:srgbClr val="F3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47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70832" y="4453128"/>
            <a:ext cx="3621024" cy="6400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1" name="Shape 25"/>
          <p:cNvSpPr/>
          <p:nvPr/>
        </p:nvSpPr>
        <p:spPr>
          <a:xfrm>
            <a:off x="4626864" y="470916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E2A47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873752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94960" y="4690872"/>
            <a:ext cx="2386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Exchange &amp; Auditability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4645152" y="5495544"/>
            <a:ext cx="30906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Govt-compliant encrypted channels &amp; transfers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approval workflows for ad-hoc requests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audit trails &amp; accountability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8238744" y="4453128"/>
            <a:ext cx="3621024" cy="2157984"/>
          </a:xfrm>
          <a:prstGeom prst="rect">
            <a:avLst/>
          </a:prstGeom>
          <a:solidFill>
            <a:srgbClr val="F3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47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238744" y="4453128"/>
            <a:ext cx="3621024" cy="6400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7" name="Shape 30"/>
          <p:cNvSpPr/>
          <p:nvPr/>
        </p:nvSpPr>
        <p:spPr>
          <a:xfrm>
            <a:off x="8494776" y="470916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E2A47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4873752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262872" y="4690872"/>
            <a:ext cx="2386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Continuous Monitoring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8513064" y="5495544"/>
            <a:ext cx="30906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Govt of India &amp; State guidelines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monitoring, logging &amp; audit reporting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vulnerability assessments &amp; reviews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GSTIN Tool Presentation</dc:title>
  <dc:subject>PptxGenJS Presentation</dc:subject>
  <dc:creator>GSTIN Tool</dc:creator>
  <cp:lastModifiedBy>GSTIN Tool</cp:lastModifiedBy>
  <cp:revision>1</cp:revision>
  <dcterms:created xsi:type="dcterms:W3CDTF">2026-06-04T13:20:26Z</dcterms:created>
  <dcterms:modified xsi:type="dcterms:W3CDTF">2026-06-04T13:20:26Z</dcterms:modified>
</cp:coreProperties>
</file>