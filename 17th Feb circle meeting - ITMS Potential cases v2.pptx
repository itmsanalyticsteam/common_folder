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1"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13AFB8-4CE9-44F5-8004-2B2D446919A9}">
  <a:tblStyle styleId="{ED13AFB8-4CE9-44F5-8004-2B2D446919A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10" d="100"/>
          <a:sy n="110" d="100"/>
        </p:scale>
        <p:origin x="43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1:notes"/>
          <p:cNvSpPr>
            <a:spLocks noGrp="1" noRot="1" noChangeAspect="1"/>
          </p:cNvSpPr>
          <p:nvPr>
            <p:ph type="sldImg" idx="2"/>
          </p:nvPr>
        </p:nvSpPr>
        <p:spPr>
          <a:xfrm>
            <a:off x="846138" y="1241425"/>
            <a:ext cx="5951537" cy="33480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7" name="Google Shape;40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8" name="Google Shape;40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Verdana"/>
              <a:buNone/>
            </a:pPr>
            <a:fld id="{00000000-1234-1234-1234-123412341234}" type="slidenum">
              <a:rPr lang="en-IN" sz="1200" b="1" i="0" u="none" strike="noStrike" cap="none">
                <a:solidFill>
                  <a:srgbClr val="000000"/>
                </a:solidFill>
                <a:latin typeface="Verdana"/>
                <a:ea typeface="Verdana"/>
                <a:cs typeface="Verdana"/>
                <a:sym typeface="Verdana"/>
              </a:rPr>
              <a:t>1</a:t>
            </a:fld>
            <a:endParaRPr sz="1200" b="1" i="0" u="none" strike="noStrike" cap="none">
              <a:solidFill>
                <a:srgbClr val="000000"/>
              </a:solidFill>
              <a:latin typeface="Verdana"/>
              <a:ea typeface="Verdana"/>
              <a:cs typeface="Verdana"/>
              <a:sym typeface="Verdan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5" name="Google Shape;41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6" name="Google Shape;41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3" name="Google Shape;42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4" name="Google Shape;424;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1" name="Google Shape;43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2" name="Google Shape;43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9" name="Google Shape;43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0" name="Google Shape;44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7" name="Google Shape;44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8" name="Google Shape;44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5" name="Google Shape;45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6" name="Google Shape;45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4" name="Google Shape;46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5" name="Google Shape;46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2" name="Google Shape;472;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3" name="Google Shape;473;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1" name="Google Shape;48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10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9" name="Google Shape;489;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11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6" name="Google Shape;49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12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4" name="Google Shape;504;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5" name="Google Shape;505;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13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2" name="Google Shape;512;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3" name="Google Shape;513;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14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0" name="Google Shape;520;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1" name="Google Shape;521;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15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8" name="Google Shape;52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29" name="Google Shape;529;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16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6" name="Google Shape;536;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7" name="Google Shape;537;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17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4" name="Google Shape;544;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5" name="Google Shape;545;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18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2" name="Google Shape;552;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3" name="Google Shape;553;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19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0" name="Google Shape;560;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1" name="Google Shape;561;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20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8" name="Google Shape;568;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9" name="Google Shape;569;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21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6" name="Google Shape;576;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7" name="Google Shape;577;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22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4" name="Google Shape;584;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5" name="Google Shape;585;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23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2" name="Google Shape;592;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3" name="Google Shape;593;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24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0" name="Google Shape;600;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1" name="Google Shape;601;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25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8" name="Google Shape;608;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9" name="Google Shape;609;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26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6" name="Google Shape;616;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7" name="Google Shape;617;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27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4" name="Google Shape;624;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5" name="Google Shape;625;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28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2" name="Google Shape;632;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3" name="Google Shape;633;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29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0" name="Google Shape;640;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1" name="Google Shape;641;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30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8" name="Google Shape;648;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9" name="Google Shape;649;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31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6" name="Google Shape;656;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7" name="Google Shape;657;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32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5" name="Google Shape;665;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33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2" name="Google Shape;672;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3" name="Google Shape;673;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34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p:cSld name="Blank">
    <p:spTree>
      <p:nvGrpSpPr>
        <p:cNvPr id="1" name="Shape 19"/>
        <p:cNvGrpSpPr/>
        <p:nvPr/>
      </p:nvGrpSpPr>
      <p:grpSpPr>
        <a:xfrm>
          <a:off x="0" y="0"/>
          <a:ext cx="0" cy="0"/>
          <a:chOff x="0" y="0"/>
          <a:chExt cx="0" cy="0"/>
        </a:xfrm>
      </p:grpSpPr>
      <p:pic>
        <p:nvPicPr>
          <p:cNvPr id="20" name="Google Shape;20;p2"/>
          <p:cNvPicPr preferRelativeResize="0"/>
          <p:nvPr/>
        </p:nvPicPr>
        <p:blipFill rotWithShape="1">
          <a:blip r:embed="rId2">
            <a:alphaModFix/>
          </a:blip>
          <a:srcRect/>
          <a:stretch/>
        </p:blipFill>
        <p:spPr>
          <a:xfrm>
            <a:off x="1588" y="1588"/>
            <a:ext cx="3175" cy="1587"/>
          </a:xfrm>
          <a:prstGeom prst="rect">
            <a:avLst/>
          </a:prstGeom>
          <a:noFill/>
          <a:ln>
            <a:noFill/>
          </a:ln>
        </p:spPr>
      </p:pic>
      <p:sp>
        <p:nvSpPr>
          <p:cNvPr id="21" name="Google Shape;21;p2"/>
          <p:cNvSpPr txBox="1"/>
          <p:nvPr/>
        </p:nvSpPr>
        <p:spPr>
          <a:xfrm>
            <a:off x="6335713" y="6519863"/>
            <a:ext cx="4895850" cy="12223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dk1"/>
              </a:buClr>
              <a:buSzPts val="800"/>
              <a:buFont typeface="Arial"/>
              <a:buNone/>
            </a:pPr>
            <a:r>
              <a:rPr lang="en-IN" sz="800" b="0" i="0" u="none" strike="noStrike" cap="none">
                <a:solidFill>
                  <a:schemeClr val="dk1"/>
                </a:solidFill>
                <a:latin typeface="Calibri"/>
                <a:ea typeface="Calibri"/>
                <a:cs typeface="Calibri"/>
                <a:sym typeface="Calibri"/>
              </a:rPr>
              <a:t>CTD Review Meeting</a:t>
            </a:r>
            <a:endParaRPr/>
          </a:p>
        </p:txBody>
      </p:sp>
      <p:sp>
        <p:nvSpPr>
          <p:cNvPr id="22" name="Google Shape;22;p2"/>
          <p:cNvSpPr txBox="1"/>
          <p:nvPr/>
        </p:nvSpPr>
        <p:spPr>
          <a:xfrm>
            <a:off x="11426825" y="6519863"/>
            <a:ext cx="307975" cy="12223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dk1"/>
              </a:buClr>
              <a:buSzPts val="800"/>
              <a:buFont typeface="Arial"/>
              <a:buNone/>
            </a:pPr>
            <a:fld id="{00000000-1234-1234-1234-123412341234}" type="slidenum">
              <a:rPr lang="en-IN" sz="800" b="0" i="0" u="none" strike="noStrike" cap="none">
                <a:solidFill>
                  <a:schemeClr val="dk1"/>
                </a:solidFill>
                <a:latin typeface="Calibri"/>
                <a:ea typeface="Calibri"/>
                <a:cs typeface="Calibri"/>
                <a:sym typeface="Calibri"/>
              </a:rPr>
              <a:t>‹#›</a:t>
            </a:fld>
            <a:endParaRPr sz="800" b="0" i="0" u="none" strike="noStrike" cap="none">
              <a:solidFill>
                <a:schemeClr val="dk1"/>
              </a:solidFill>
              <a:latin typeface="Calibri"/>
              <a:ea typeface="Calibri"/>
              <a:cs typeface="Calibri"/>
              <a:sym typeface="Calibri"/>
            </a:endParaRPr>
          </a:p>
        </p:txBody>
      </p:sp>
      <p:sp>
        <p:nvSpPr>
          <p:cNvPr id="23" name="Google Shape;23;p2"/>
          <p:cNvSpPr txBox="1"/>
          <p:nvPr/>
        </p:nvSpPr>
        <p:spPr>
          <a:xfrm>
            <a:off x="4065588" y="700088"/>
            <a:ext cx="254000"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24" name="Google Shape;24;p2"/>
          <p:cNvSpPr txBox="1"/>
          <p:nvPr/>
        </p:nvSpPr>
        <p:spPr>
          <a:xfrm>
            <a:off x="4321175" y="803275"/>
            <a:ext cx="1673225"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25" name="Google Shape;25;p2"/>
          <p:cNvSpPr txBox="1"/>
          <p:nvPr/>
        </p:nvSpPr>
        <p:spPr>
          <a:xfrm>
            <a:off x="5970588" y="803275"/>
            <a:ext cx="249237"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26" name="Google Shape;26;p2"/>
          <p:cNvSpPr txBox="1"/>
          <p:nvPr/>
        </p:nvSpPr>
        <p:spPr>
          <a:xfrm>
            <a:off x="4321175" y="801688"/>
            <a:ext cx="1673225"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pic>
        <p:nvPicPr>
          <p:cNvPr id="27" name="Google Shape;27;p2"/>
          <p:cNvPicPr preferRelativeResize="0"/>
          <p:nvPr/>
        </p:nvPicPr>
        <p:blipFill rotWithShape="1">
          <a:blip r:embed="rId3">
            <a:alphaModFix/>
          </a:blip>
          <a:srcRect r="18580"/>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Standard slide">
  <p:cSld name="Standard slide">
    <p:spTree>
      <p:nvGrpSpPr>
        <p:cNvPr id="1" name="Shape 28"/>
        <p:cNvGrpSpPr/>
        <p:nvPr/>
      </p:nvGrpSpPr>
      <p:grpSpPr>
        <a:xfrm>
          <a:off x="0" y="0"/>
          <a:ext cx="0" cy="0"/>
          <a:chOff x="0" y="0"/>
          <a:chExt cx="0" cy="0"/>
        </a:xfrm>
      </p:grpSpPr>
      <p:pic>
        <p:nvPicPr>
          <p:cNvPr id="29" name="Google Shape;29;p3"/>
          <p:cNvPicPr preferRelativeResize="0"/>
          <p:nvPr/>
        </p:nvPicPr>
        <p:blipFill rotWithShape="1">
          <a:blip r:embed="rId2">
            <a:alphaModFix/>
          </a:blip>
          <a:srcRect/>
          <a:stretch/>
        </p:blipFill>
        <p:spPr>
          <a:xfrm>
            <a:off x="1588" y="1588"/>
            <a:ext cx="3175" cy="1587"/>
          </a:xfrm>
          <a:prstGeom prst="rect">
            <a:avLst/>
          </a:prstGeom>
          <a:noFill/>
          <a:ln>
            <a:noFill/>
          </a:ln>
        </p:spPr>
      </p:pic>
      <p:sp>
        <p:nvSpPr>
          <p:cNvPr id="30" name="Google Shape;30;p3"/>
          <p:cNvSpPr txBox="1"/>
          <p:nvPr/>
        </p:nvSpPr>
        <p:spPr>
          <a:xfrm>
            <a:off x="6335713" y="6519863"/>
            <a:ext cx="4895850" cy="12223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dk1"/>
              </a:buClr>
              <a:buSzPts val="800"/>
              <a:buFont typeface="Arial"/>
              <a:buNone/>
            </a:pPr>
            <a:r>
              <a:rPr lang="en-IN" sz="800" b="0" i="0" u="none" strike="noStrike" cap="none">
                <a:solidFill>
                  <a:schemeClr val="dk1"/>
                </a:solidFill>
                <a:latin typeface="Calibri"/>
                <a:ea typeface="Calibri"/>
                <a:cs typeface="Calibri"/>
                <a:sym typeface="Calibri"/>
              </a:rPr>
              <a:t>CTD Review Meeting</a:t>
            </a:r>
            <a:endParaRPr/>
          </a:p>
        </p:txBody>
      </p:sp>
      <p:sp>
        <p:nvSpPr>
          <p:cNvPr id="31" name="Google Shape;31;p3"/>
          <p:cNvSpPr txBox="1"/>
          <p:nvPr/>
        </p:nvSpPr>
        <p:spPr>
          <a:xfrm>
            <a:off x="11426825" y="6519863"/>
            <a:ext cx="307975" cy="12223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dk1"/>
              </a:buClr>
              <a:buSzPts val="800"/>
              <a:buFont typeface="Arial"/>
              <a:buNone/>
            </a:pPr>
            <a:fld id="{00000000-1234-1234-1234-123412341234}" type="slidenum">
              <a:rPr lang="en-IN" sz="800" b="0" i="0" u="none" strike="noStrike" cap="none">
                <a:solidFill>
                  <a:schemeClr val="dk1"/>
                </a:solidFill>
                <a:latin typeface="Calibri"/>
                <a:ea typeface="Calibri"/>
                <a:cs typeface="Calibri"/>
                <a:sym typeface="Calibri"/>
              </a:rPr>
              <a:t>‹#›</a:t>
            </a:fld>
            <a:endParaRPr sz="800" b="0" i="0" u="none" strike="noStrike" cap="none">
              <a:solidFill>
                <a:schemeClr val="dk1"/>
              </a:solidFill>
              <a:latin typeface="Calibri"/>
              <a:ea typeface="Calibri"/>
              <a:cs typeface="Calibri"/>
              <a:sym typeface="Calibri"/>
            </a:endParaRPr>
          </a:p>
        </p:txBody>
      </p:sp>
      <p:sp>
        <p:nvSpPr>
          <p:cNvPr id="32" name="Google Shape;32;p3"/>
          <p:cNvSpPr txBox="1"/>
          <p:nvPr/>
        </p:nvSpPr>
        <p:spPr>
          <a:xfrm>
            <a:off x="4065588" y="700088"/>
            <a:ext cx="254000"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33" name="Google Shape;33;p3"/>
          <p:cNvSpPr txBox="1"/>
          <p:nvPr/>
        </p:nvSpPr>
        <p:spPr>
          <a:xfrm>
            <a:off x="4321175" y="803275"/>
            <a:ext cx="1673225"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34" name="Google Shape;34;p3"/>
          <p:cNvSpPr txBox="1"/>
          <p:nvPr/>
        </p:nvSpPr>
        <p:spPr>
          <a:xfrm>
            <a:off x="5970588" y="803275"/>
            <a:ext cx="249237"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35" name="Google Shape;35;p3"/>
          <p:cNvSpPr txBox="1"/>
          <p:nvPr/>
        </p:nvSpPr>
        <p:spPr>
          <a:xfrm>
            <a:off x="4321175" y="801688"/>
            <a:ext cx="1673225"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36" name="Google Shape;36;p3"/>
          <p:cNvSpPr txBox="1">
            <a:spLocks noGrp="1"/>
          </p:cNvSpPr>
          <p:nvPr>
            <p:ph type="title"/>
          </p:nvPr>
        </p:nvSpPr>
        <p:spPr>
          <a:xfrm>
            <a:off x="609601" y="294200"/>
            <a:ext cx="10972800" cy="590400"/>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399">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
          <p:cNvSpPr txBox="1">
            <a:spLocks noGrp="1"/>
          </p:cNvSpPr>
          <p:nvPr>
            <p:ph type="body" idx="1"/>
          </p:nvPr>
        </p:nvSpPr>
        <p:spPr>
          <a:xfrm>
            <a:off x="609601" y="1137920"/>
            <a:ext cx="10972800" cy="4947920"/>
          </a:xfrm>
          <a:prstGeom prst="rect">
            <a:avLst/>
          </a:prstGeom>
          <a:noFill/>
          <a:ln>
            <a:noFill/>
          </a:ln>
        </p:spPr>
        <p:txBody>
          <a:bodyPr spcFirstLastPara="1" wrap="square" lIns="0" tIns="0" rIns="0" bIns="0" anchor="t" anchorCtr="0">
            <a:noAutofit/>
          </a:bodyPr>
          <a:lstStyle>
            <a:lvl1pPr marL="457200" lvl="0" indent="-342900" algn="l">
              <a:spcBef>
                <a:spcPts val="0"/>
              </a:spcBef>
              <a:spcAft>
                <a:spcPts val="0"/>
              </a:spcAft>
              <a:buClr>
                <a:schemeClr val="dk1"/>
              </a:buClr>
              <a:buSzPts val="1800"/>
              <a:buChar char="•"/>
              <a:defRPr/>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38" name="Google Shape;38;p3"/>
          <p:cNvSpPr txBox="1">
            <a:spLocks noGrp="1"/>
          </p:cNvSpPr>
          <p:nvPr>
            <p:ph type="dt" idx="10"/>
          </p:nvPr>
        </p:nvSpPr>
        <p:spPr>
          <a:xfrm>
            <a:off x="0" y="0"/>
            <a:ext cx="0" cy="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3"/>
          <p:cNvSpPr txBox="1">
            <a:spLocks noGrp="1"/>
          </p:cNvSpPr>
          <p:nvPr>
            <p:ph type="ftr" idx="11"/>
          </p:nvPr>
        </p:nvSpPr>
        <p:spPr>
          <a:xfrm>
            <a:off x="0" y="0"/>
            <a:ext cx="0" cy="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0" name="Google Shape;40;p3"/>
          <p:cNvSpPr txBox="1">
            <a:spLocks noGrp="1"/>
          </p:cNvSpPr>
          <p:nvPr>
            <p:ph type="sldNum" idx="12"/>
          </p:nvPr>
        </p:nvSpPr>
        <p:spPr>
          <a:xfrm>
            <a:off x="0" y="0"/>
            <a:ext cx="0" cy="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Calibri"/>
                <a:ea typeface="Calibri"/>
                <a:cs typeface="Calibri"/>
                <a:sym typeface="Calibri"/>
              </a:defRPr>
            </a:lvl1pPr>
            <a:lvl2pPr marL="0" marR="0" lvl="1" indent="0" algn="l" rtl="0">
              <a:spcBef>
                <a:spcPts val="0"/>
              </a:spcBef>
              <a:buNone/>
              <a:defRPr sz="1800" b="0" i="0" u="none" strike="noStrike" cap="none">
                <a:solidFill>
                  <a:schemeClr val="dk1"/>
                </a:solidFill>
                <a:latin typeface="Calibri"/>
                <a:ea typeface="Calibri"/>
                <a:cs typeface="Calibri"/>
                <a:sym typeface="Calibri"/>
              </a:defRPr>
            </a:lvl2pPr>
            <a:lvl3pPr marL="0" marR="0" lvl="2" indent="0" algn="l" rtl="0">
              <a:spcBef>
                <a:spcPts val="0"/>
              </a:spcBef>
              <a:buNone/>
              <a:defRPr sz="1800" b="0" i="0" u="none" strike="noStrike" cap="none">
                <a:solidFill>
                  <a:schemeClr val="dk1"/>
                </a:solidFill>
                <a:latin typeface="Calibri"/>
                <a:ea typeface="Calibri"/>
                <a:cs typeface="Calibri"/>
                <a:sym typeface="Calibri"/>
              </a:defRPr>
            </a:lvl3pPr>
            <a:lvl4pPr marL="0" marR="0" lvl="3" indent="0" algn="l" rtl="0">
              <a:spcBef>
                <a:spcPts val="0"/>
              </a:spcBef>
              <a:buNone/>
              <a:defRPr sz="1800" b="0" i="0" u="none" strike="noStrike" cap="none">
                <a:solidFill>
                  <a:schemeClr val="dk1"/>
                </a:solidFill>
                <a:latin typeface="Calibri"/>
                <a:ea typeface="Calibri"/>
                <a:cs typeface="Calibri"/>
                <a:sym typeface="Calibri"/>
              </a:defRPr>
            </a:lvl4pPr>
            <a:lvl5pPr marL="0" marR="0" lvl="4" indent="0" algn="l" rtl="0">
              <a:spcBef>
                <a:spcPts val="0"/>
              </a:spcBef>
              <a:buNone/>
              <a:defRPr sz="1800" b="0" i="0" u="none" strike="noStrike" cap="none">
                <a:solidFill>
                  <a:schemeClr val="dk1"/>
                </a:solidFill>
                <a:latin typeface="Calibri"/>
                <a:ea typeface="Calibri"/>
                <a:cs typeface="Calibri"/>
                <a:sym typeface="Calibri"/>
              </a:defRPr>
            </a:lvl5pPr>
            <a:lvl6pPr marL="0" marR="0" lvl="5" indent="0" algn="l" rtl="0">
              <a:spcBef>
                <a:spcPts val="0"/>
              </a:spcBef>
              <a:buNone/>
              <a:defRPr sz="1800" b="0" i="0" u="none" strike="noStrike" cap="none">
                <a:solidFill>
                  <a:schemeClr val="dk1"/>
                </a:solidFill>
                <a:latin typeface="Calibri"/>
                <a:ea typeface="Calibri"/>
                <a:cs typeface="Calibri"/>
                <a:sym typeface="Calibri"/>
              </a:defRPr>
            </a:lvl6pPr>
            <a:lvl7pPr marL="0" marR="0" lvl="6" indent="0" algn="l" rtl="0">
              <a:spcBef>
                <a:spcPts val="0"/>
              </a:spcBef>
              <a:buNone/>
              <a:defRPr sz="1800" b="0" i="0" u="none" strike="noStrike" cap="none">
                <a:solidFill>
                  <a:schemeClr val="dk1"/>
                </a:solidFill>
                <a:latin typeface="Calibri"/>
                <a:ea typeface="Calibri"/>
                <a:cs typeface="Calibri"/>
                <a:sym typeface="Calibri"/>
              </a:defRPr>
            </a:lvl7pPr>
            <a:lvl8pPr marL="0" marR="0" lvl="7" indent="0" algn="l" rtl="0">
              <a:spcBef>
                <a:spcPts val="0"/>
              </a:spcBef>
              <a:buNone/>
              <a:defRPr sz="1800" b="0" i="0" u="none" strike="noStrike" cap="none">
                <a:solidFill>
                  <a:schemeClr val="dk1"/>
                </a:solidFill>
                <a:latin typeface="Calibri"/>
                <a:ea typeface="Calibri"/>
                <a:cs typeface="Calibri"/>
                <a:sym typeface="Calibri"/>
              </a:defRPr>
            </a:lvl8pPr>
            <a:lvl9pPr marL="0" marR="0" lvl="8" indent="0" algn="l" rtl="0">
              <a:spcBef>
                <a:spcPts val="0"/>
              </a:spcBef>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r>
              <a:rPr lang="en-IN"/>
              <a:t>Page </a:t>
            </a: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 White">
  <p:cSld name="Title Slide - White">
    <p:bg>
      <p:bgPr>
        <a:solidFill>
          <a:schemeClr val="lt1"/>
        </a:solidFill>
        <a:effectLst/>
      </p:bgPr>
    </p:bg>
    <p:spTree>
      <p:nvGrpSpPr>
        <p:cNvPr id="1" name="Shape 41"/>
        <p:cNvGrpSpPr/>
        <p:nvPr/>
      </p:nvGrpSpPr>
      <p:grpSpPr>
        <a:xfrm>
          <a:off x="0" y="0"/>
          <a:ext cx="0" cy="0"/>
          <a:chOff x="0" y="0"/>
          <a:chExt cx="0" cy="0"/>
        </a:xfrm>
      </p:grpSpPr>
      <p:grpSp>
        <p:nvGrpSpPr>
          <p:cNvPr id="42" name="Google Shape;42;p4"/>
          <p:cNvGrpSpPr/>
          <p:nvPr/>
        </p:nvGrpSpPr>
        <p:grpSpPr>
          <a:xfrm>
            <a:off x="460541" y="344137"/>
            <a:ext cx="1819109" cy="345828"/>
            <a:chOff x="398463" y="404813"/>
            <a:chExt cx="1627187" cy="307976"/>
          </a:xfrm>
        </p:grpSpPr>
        <p:sp>
          <p:nvSpPr>
            <p:cNvPr id="43" name="Google Shape;43;p4"/>
            <p:cNvSpPr/>
            <p:nvPr/>
          </p:nvSpPr>
          <p:spPr>
            <a:xfrm>
              <a:off x="1938338" y="625476"/>
              <a:ext cx="87312" cy="87313"/>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4" name="Google Shape;44;p4"/>
            <p:cNvSpPr/>
            <p:nvPr/>
          </p:nvSpPr>
          <p:spPr>
            <a:xfrm>
              <a:off x="398463" y="406401"/>
              <a:ext cx="247650" cy="301625"/>
            </a:xfrm>
            <a:custGeom>
              <a:avLst/>
              <a:gdLst/>
              <a:ahLst/>
              <a:cxnLst/>
              <a:rect l="l" t="t" r="r" b="b"/>
              <a:pathLst>
                <a:path w="287" h="347" extrusionOk="0">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5" name="Google Shape;45;p4"/>
            <p:cNvSpPr/>
            <p:nvPr/>
          </p:nvSpPr>
          <p:spPr>
            <a:xfrm>
              <a:off x="906463" y="404813"/>
              <a:ext cx="74612" cy="303213"/>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6" name="Google Shape;46;p4"/>
            <p:cNvSpPr/>
            <p:nvPr/>
          </p:nvSpPr>
          <p:spPr>
            <a:xfrm>
              <a:off x="1011238" y="479426"/>
              <a:ext cx="215900" cy="231775"/>
            </a:xfrm>
            <a:custGeom>
              <a:avLst/>
              <a:gdLst/>
              <a:ahLst/>
              <a:cxnLst/>
              <a:rect l="l" t="t" r="r" b="b"/>
              <a:pathLst>
                <a:path w="252" h="267" extrusionOk="0">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7" name="Google Shape;47;p4"/>
            <p:cNvSpPr/>
            <p:nvPr/>
          </p:nvSpPr>
          <p:spPr>
            <a:xfrm>
              <a:off x="1257300" y="482601"/>
              <a:ext cx="74612" cy="225425"/>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8" name="Google Shape;48;p4"/>
            <p:cNvSpPr/>
            <p:nvPr/>
          </p:nvSpPr>
          <p:spPr>
            <a:xfrm>
              <a:off x="1257300" y="404813"/>
              <a:ext cx="74612" cy="508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9" name="Google Shape;49;p4"/>
            <p:cNvSpPr/>
            <p:nvPr/>
          </p:nvSpPr>
          <p:spPr>
            <a:xfrm>
              <a:off x="1362075" y="411163"/>
              <a:ext cx="158750" cy="300038"/>
            </a:xfrm>
            <a:custGeom>
              <a:avLst/>
              <a:gdLst/>
              <a:ahLst/>
              <a:cxnLst/>
              <a:rect l="l" t="t" r="r" b="b"/>
              <a:pathLst>
                <a:path w="184" h="344" extrusionOk="0">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0" name="Google Shape;50;p4"/>
            <p:cNvSpPr/>
            <p:nvPr/>
          </p:nvSpPr>
          <p:spPr>
            <a:xfrm>
              <a:off x="1535113" y="411163"/>
              <a:ext cx="158750" cy="300038"/>
            </a:xfrm>
            <a:custGeom>
              <a:avLst/>
              <a:gdLst/>
              <a:ahLst/>
              <a:cxnLst/>
              <a:rect l="l" t="t" r="r" b="b"/>
              <a:pathLst>
                <a:path w="184" h="344" extrusionOk="0">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1" name="Google Shape;51;p4"/>
            <p:cNvSpPr/>
            <p:nvPr/>
          </p:nvSpPr>
          <p:spPr>
            <a:xfrm>
              <a:off x="1709738" y="479426"/>
              <a:ext cx="211137" cy="231775"/>
            </a:xfrm>
            <a:custGeom>
              <a:avLst/>
              <a:gdLst/>
              <a:ahLst/>
              <a:cxnLst/>
              <a:rect l="l" t="t" r="r" b="b"/>
              <a:pathLst>
                <a:path w="244" h="267" extrusionOk="0">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2" name="Google Shape;52;p4"/>
            <p:cNvSpPr/>
            <p:nvPr/>
          </p:nvSpPr>
          <p:spPr>
            <a:xfrm>
              <a:off x="668338" y="479426"/>
              <a:ext cx="209550" cy="231775"/>
            </a:xfrm>
            <a:custGeom>
              <a:avLst/>
              <a:gdLst/>
              <a:ahLst/>
              <a:cxnLst/>
              <a:rect l="l" t="t" r="r" b="b"/>
              <a:pathLst>
                <a:path w="243" h="267" extrusionOk="0">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53" name="Google Shape;53;p4"/>
          <p:cNvSpPr txBox="1">
            <a:spLocks noGrp="1"/>
          </p:cNvSpPr>
          <p:nvPr>
            <p:ph type="ctrTitle"/>
          </p:nvPr>
        </p:nvSpPr>
        <p:spPr>
          <a:xfrm>
            <a:off x="457201" y="5186209"/>
            <a:ext cx="4490721" cy="895983"/>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sz="3200" b="0">
                <a:solidFill>
                  <a:schemeClr val="accent1"/>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4"/>
          <p:cNvSpPr txBox="1">
            <a:spLocks noGrp="1"/>
          </p:cNvSpPr>
          <p:nvPr>
            <p:ph type="body" idx="1"/>
          </p:nvPr>
        </p:nvSpPr>
        <p:spPr>
          <a:xfrm>
            <a:off x="457201" y="6365848"/>
            <a:ext cx="4490721" cy="273050"/>
          </a:xfrm>
          <a:prstGeom prst="rect">
            <a:avLst/>
          </a:prstGeom>
          <a:noFill/>
          <a:ln>
            <a:noFill/>
          </a:ln>
        </p:spPr>
        <p:txBody>
          <a:bodyPr spcFirstLastPara="1" wrap="square" lIns="0" tIns="0" rIns="0" bIns="0" anchor="t" anchorCtr="0">
            <a:noAutofit/>
          </a:bodyPr>
          <a:lstStyle>
            <a:lvl1pPr marL="457200" lvl="0" indent="-317500" algn="l">
              <a:spcBef>
                <a:spcPts val="0"/>
              </a:spcBef>
              <a:spcAft>
                <a:spcPts val="0"/>
              </a:spcAft>
              <a:buClr>
                <a:schemeClr val="dk1"/>
              </a:buClr>
              <a:buSzPts val="1400"/>
              <a:buFont typeface="Calibri"/>
              <a:buChar char="•"/>
              <a:defRPr sz="1400" b="1">
                <a:solidFill>
                  <a:schemeClr val="dk1"/>
                </a:solidFill>
                <a:latin typeface="Calibri"/>
                <a:ea typeface="Calibri"/>
                <a:cs typeface="Calibri"/>
                <a:sym typeface="Calibri"/>
              </a:defRPr>
            </a:lvl1pPr>
            <a:lvl2pPr marL="914400" lvl="1" indent="-304800" algn="l">
              <a:spcBef>
                <a:spcPts val="0"/>
              </a:spcBef>
              <a:spcAft>
                <a:spcPts val="0"/>
              </a:spcAft>
              <a:buClr>
                <a:schemeClr val="lt1"/>
              </a:buClr>
              <a:buSzPts val="1200"/>
              <a:buChar char="•"/>
              <a:defRPr>
                <a:solidFill>
                  <a:schemeClr val="lt1"/>
                </a:solidFill>
              </a:defRPr>
            </a:lvl2pPr>
            <a:lvl3pPr marL="1371600" lvl="2" indent="-304800" algn="l">
              <a:spcBef>
                <a:spcPts val="750"/>
              </a:spcBef>
              <a:spcAft>
                <a:spcPts val="0"/>
              </a:spcAft>
              <a:buClr>
                <a:schemeClr val="lt1"/>
              </a:buClr>
              <a:buSzPts val="1200"/>
              <a:buChar char="−"/>
              <a:defRPr>
                <a:solidFill>
                  <a:schemeClr val="lt1"/>
                </a:solidFill>
              </a:defRPr>
            </a:lvl3pPr>
            <a:lvl4pPr marL="1828800" lvl="3" indent="-304800" algn="l">
              <a:spcBef>
                <a:spcPts val="750"/>
              </a:spcBef>
              <a:spcAft>
                <a:spcPts val="0"/>
              </a:spcAft>
              <a:buClr>
                <a:schemeClr val="lt1"/>
              </a:buClr>
              <a:buSzPts val="1200"/>
              <a:buChar char="◦"/>
              <a:defRPr>
                <a:solidFill>
                  <a:schemeClr val="lt1"/>
                </a:solidFill>
              </a:defRPr>
            </a:lvl4pPr>
            <a:lvl5pPr marL="2286000" lvl="4" indent="-304800" algn="l">
              <a:spcBef>
                <a:spcPts val="750"/>
              </a:spcBef>
              <a:spcAft>
                <a:spcPts val="0"/>
              </a:spcAft>
              <a:buClr>
                <a:schemeClr val="lt1"/>
              </a:buClr>
              <a:buSzPts val="1200"/>
              <a:buChar char="−"/>
              <a:defRPr>
                <a:solidFill>
                  <a:schemeClr val="lt1"/>
                </a:solidFill>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55" name="Google Shape;55;p4"/>
          <p:cNvSpPr>
            <a:spLocks noGrp="1"/>
          </p:cNvSpPr>
          <p:nvPr>
            <p:ph type="pic" idx="2"/>
          </p:nvPr>
        </p:nvSpPr>
        <p:spPr>
          <a:xfrm>
            <a:off x="3319272" y="688848"/>
            <a:ext cx="5562600" cy="5556504"/>
          </a:xfrm>
          <a:prstGeom prst="rect">
            <a:avLst/>
          </a:prstGeom>
          <a:noFill/>
          <a:ln>
            <a:noFill/>
          </a:ln>
        </p:spPr>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 Black">
  <p:cSld name="Title Slide - Black">
    <p:bg>
      <p:bgPr>
        <a:solidFill>
          <a:schemeClr val="dk1"/>
        </a:solidFill>
        <a:effectLst/>
      </p:bgPr>
    </p:bg>
    <p:spTree>
      <p:nvGrpSpPr>
        <p:cNvPr id="1" name="Shape 56"/>
        <p:cNvGrpSpPr/>
        <p:nvPr/>
      </p:nvGrpSpPr>
      <p:grpSpPr>
        <a:xfrm>
          <a:off x="0" y="0"/>
          <a:ext cx="0" cy="0"/>
          <a:chOff x="0" y="0"/>
          <a:chExt cx="0" cy="0"/>
        </a:xfrm>
      </p:grpSpPr>
      <p:grpSp>
        <p:nvGrpSpPr>
          <p:cNvPr id="57" name="Google Shape;57;p5"/>
          <p:cNvGrpSpPr/>
          <p:nvPr/>
        </p:nvGrpSpPr>
        <p:grpSpPr>
          <a:xfrm>
            <a:off x="463296" y="341312"/>
            <a:ext cx="1819656" cy="347472"/>
            <a:chOff x="398463" y="404813"/>
            <a:chExt cx="1627187" cy="307976"/>
          </a:xfrm>
        </p:grpSpPr>
        <p:sp>
          <p:nvSpPr>
            <p:cNvPr id="58" name="Google Shape;58;p5"/>
            <p:cNvSpPr/>
            <p:nvPr/>
          </p:nvSpPr>
          <p:spPr>
            <a:xfrm>
              <a:off x="1938338" y="625476"/>
              <a:ext cx="87312" cy="87313"/>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9" name="Google Shape;59;p5"/>
            <p:cNvSpPr/>
            <p:nvPr/>
          </p:nvSpPr>
          <p:spPr>
            <a:xfrm>
              <a:off x="398463" y="406401"/>
              <a:ext cx="247650" cy="301625"/>
            </a:xfrm>
            <a:custGeom>
              <a:avLst/>
              <a:gdLst/>
              <a:ahLst/>
              <a:cxnLst/>
              <a:rect l="l" t="t" r="r" b="b"/>
              <a:pathLst>
                <a:path w="287" h="347" extrusionOk="0">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0" name="Google Shape;60;p5"/>
            <p:cNvSpPr/>
            <p:nvPr/>
          </p:nvSpPr>
          <p:spPr>
            <a:xfrm>
              <a:off x="906463" y="404813"/>
              <a:ext cx="74612" cy="303213"/>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1" name="Google Shape;61;p5"/>
            <p:cNvSpPr/>
            <p:nvPr/>
          </p:nvSpPr>
          <p:spPr>
            <a:xfrm>
              <a:off x="1011238" y="479426"/>
              <a:ext cx="215900" cy="231775"/>
            </a:xfrm>
            <a:custGeom>
              <a:avLst/>
              <a:gdLst/>
              <a:ahLst/>
              <a:cxnLst/>
              <a:rect l="l" t="t" r="r" b="b"/>
              <a:pathLst>
                <a:path w="252" h="267" extrusionOk="0">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2" name="Google Shape;62;p5"/>
            <p:cNvSpPr/>
            <p:nvPr/>
          </p:nvSpPr>
          <p:spPr>
            <a:xfrm>
              <a:off x="1257300" y="482601"/>
              <a:ext cx="74612" cy="225425"/>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3" name="Google Shape;63;p5"/>
            <p:cNvSpPr/>
            <p:nvPr/>
          </p:nvSpPr>
          <p:spPr>
            <a:xfrm>
              <a:off x="1257300" y="404813"/>
              <a:ext cx="74612" cy="508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4" name="Google Shape;64;p5"/>
            <p:cNvSpPr/>
            <p:nvPr/>
          </p:nvSpPr>
          <p:spPr>
            <a:xfrm>
              <a:off x="1362075" y="411163"/>
              <a:ext cx="158750" cy="300038"/>
            </a:xfrm>
            <a:custGeom>
              <a:avLst/>
              <a:gdLst/>
              <a:ahLst/>
              <a:cxnLst/>
              <a:rect l="l" t="t" r="r" b="b"/>
              <a:pathLst>
                <a:path w="184" h="344" extrusionOk="0">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5" name="Google Shape;65;p5"/>
            <p:cNvSpPr/>
            <p:nvPr/>
          </p:nvSpPr>
          <p:spPr>
            <a:xfrm>
              <a:off x="1535113" y="411163"/>
              <a:ext cx="158750" cy="300038"/>
            </a:xfrm>
            <a:custGeom>
              <a:avLst/>
              <a:gdLst/>
              <a:ahLst/>
              <a:cxnLst/>
              <a:rect l="l" t="t" r="r" b="b"/>
              <a:pathLst>
                <a:path w="184" h="344" extrusionOk="0">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6" name="Google Shape;66;p5"/>
            <p:cNvSpPr/>
            <p:nvPr/>
          </p:nvSpPr>
          <p:spPr>
            <a:xfrm>
              <a:off x="1709738" y="479426"/>
              <a:ext cx="211137" cy="231775"/>
            </a:xfrm>
            <a:custGeom>
              <a:avLst/>
              <a:gdLst/>
              <a:ahLst/>
              <a:cxnLst/>
              <a:rect l="l" t="t" r="r" b="b"/>
              <a:pathLst>
                <a:path w="244" h="267" extrusionOk="0">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7" name="Google Shape;67;p5"/>
            <p:cNvSpPr/>
            <p:nvPr/>
          </p:nvSpPr>
          <p:spPr>
            <a:xfrm>
              <a:off x="668338" y="479426"/>
              <a:ext cx="209550" cy="231775"/>
            </a:xfrm>
            <a:custGeom>
              <a:avLst/>
              <a:gdLst/>
              <a:ahLst/>
              <a:cxnLst/>
              <a:rect l="l" t="t" r="r" b="b"/>
              <a:pathLst>
                <a:path w="243" h="267" extrusionOk="0">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68" name="Google Shape;68;p5"/>
          <p:cNvSpPr txBox="1">
            <a:spLocks noGrp="1"/>
          </p:cNvSpPr>
          <p:nvPr>
            <p:ph type="body" idx="1"/>
          </p:nvPr>
        </p:nvSpPr>
        <p:spPr>
          <a:xfrm>
            <a:off x="463296" y="6365848"/>
            <a:ext cx="4446269" cy="273050"/>
          </a:xfrm>
          <a:prstGeom prst="rect">
            <a:avLst/>
          </a:prstGeom>
          <a:noFill/>
          <a:ln>
            <a:noFill/>
          </a:ln>
        </p:spPr>
        <p:txBody>
          <a:bodyPr spcFirstLastPara="1" wrap="square" lIns="0" tIns="0" rIns="0" bIns="0" anchor="t" anchorCtr="0">
            <a:noAutofit/>
          </a:bodyPr>
          <a:lstStyle>
            <a:lvl1pPr marL="457200" lvl="0" indent="-317500" algn="l">
              <a:spcBef>
                <a:spcPts val="0"/>
              </a:spcBef>
              <a:spcAft>
                <a:spcPts val="0"/>
              </a:spcAft>
              <a:buClr>
                <a:schemeClr val="lt1"/>
              </a:buClr>
              <a:buSzPts val="1400"/>
              <a:buFont typeface="Calibri"/>
              <a:buChar char="•"/>
              <a:defRPr sz="1400" b="1">
                <a:solidFill>
                  <a:schemeClr val="lt1"/>
                </a:solidFill>
                <a:latin typeface="Calibri"/>
                <a:ea typeface="Calibri"/>
                <a:cs typeface="Calibri"/>
                <a:sym typeface="Calibri"/>
              </a:defRPr>
            </a:lvl1pPr>
            <a:lvl2pPr marL="914400" lvl="1" indent="-304800" algn="l">
              <a:spcBef>
                <a:spcPts val="0"/>
              </a:spcBef>
              <a:spcAft>
                <a:spcPts val="0"/>
              </a:spcAft>
              <a:buClr>
                <a:schemeClr val="lt1"/>
              </a:buClr>
              <a:buSzPts val="1200"/>
              <a:buChar char="•"/>
              <a:defRPr>
                <a:solidFill>
                  <a:schemeClr val="lt1"/>
                </a:solidFill>
              </a:defRPr>
            </a:lvl2pPr>
            <a:lvl3pPr marL="1371600" lvl="2" indent="-304800" algn="l">
              <a:spcBef>
                <a:spcPts val="750"/>
              </a:spcBef>
              <a:spcAft>
                <a:spcPts val="0"/>
              </a:spcAft>
              <a:buClr>
                <a:schemeClr val="lt1"/>
              </a:buClr>
              <a:buSzPts val="1200"/>
              <a:buChar char="−"/>
              <a:defRPr>
                <a:solidFill>
                  <a:schemeClr val="lt1"/>
                </a:solidFill>
              </a:defRPr>
            </a:lvl3pPr>
            <a:lvl4pPr marL="1828800" lvl="3" indent="-304800" algn="l">
              <a:spcBef>
                <a:spcPts val="750"/>
              </a:spcBef>
              <a:spcAft>
                <a:spcPts val="0"/>
              </a:spcAft>
              <a:buClr>
                <a:schemeClr val="lt1"/>
              </a:buClr>
              <a:buSzPts val="1200"/>
              <a:buChar char="◦"/>
              <a:defRPr>
                <a:solidFill>
                  <a:schemeClr val="lt1"/>
                </a:solidFill>
              </a:defRPr>
            </a:lvl4pPr>
            <a:lvl5pPr marL="2286000" lvl="4" indent="-304800" algn="l">
              <a:spcBef>
                <a:spcPts val="750"/>
              </a:spcBef>
              <a:spcAft>
                <a:spcPts val="0"/>
              </a:spcAft>
              <a:buClr>
                <a:schemeClr val="lt1"/>
              </a:buClr>
              <a:buSzPts val="1200"/>
              <a:buChar char="−"/>
              <a:defRPr>
                <a:solidFill>
                  <a:schemeClr val="lt1"/>
                </a:solidFill>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69" name="Google Shape;69;p5"/>
          <p:cNvSpPr txBox="1">
            <a:spLocks noGrp="1"/>
          </p:cNvSpPr>
          <p:nvPr>
            <p:ph type="ctrTitle"/>
          </p:nvPr>
        </p:nvSpPr>
        <p:spPr>
          <a:xfrm>
            <a:off x="463296" y="5186209"/>
            <a:ext cx="4446269" cy="895983"/>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sz="3200" b="0">
                <a:solidFill>
                  <a:schemeClr val="accent1"/>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
          <p:cNvSpPr>
            <a:spLocks noGrp="1"/>
          </p:cNvSpPr>
          <p:nvPr>
            <p:ph type="pic" idx="2"/>
          </p:nvPr>
        </p:nvSpPr>
        <p:spPr>
          <a:xfrm>
            <a:off x="3316942" y="688848"/>
            <a:ext cx="5562600" cy="5556504"/>
          </a:xfrm>
          <a:prstGeom prst="rect">
            <a:avLst/>
          </a:prstGeom>
          <a:noFill/>
          <a:ln>
            <a:noFill/>
          </a:ln>
        </p:spPr>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Slide - Black Page Image">
  <p:cSld name="Title Slide - Black Page Image">
    <p:bg>
      <p:bgPr>
        <a:solidFill>
          <a:schemeClr val="dk1"/>
        </a:solidFill>
        <a:effectLst/>
      </p:bgPr>
    </p:bg>
    <p:spTree>
      <p:nvGrpSpPr>
        <p:cNvPr id="1" name="Shape 71"/>
        <p:cNvGrpSpPr/>
        <p:nvPr/>
      </p:nvGrpSpPr>
      <p:grpSpPr>
        <a:xfrm>
          <a:off x="0" y="0"/>
          <a:ext cx="0" cy="0"/>
          <a:chOff x="0" y="0"/>
          <a:chExt cx="0" cy="0"/>
        </a:xfrm>
      </p:grpSpPr>
      <p:cxnSp>
        <p:nvCxnSpPr>
          <p:cNvPr id="72" name="Google Shape;72;p6"/>
          <p:cNvCxnSpPr/>
          <p:nvPr/>
        </p:nvCxnSpPr>
        <p:spPr>
          <a:xfrm rot="10800000" flipH="1">
            <a:off x="0" y="0"/>
            <a:ext cx="12192000" cy="6858000"/>
          </a:xfrm>
          <a:prstGeom prst="straightConnector1">
            <a:avLst/>
          </a:prstGeom>
          <a:noFill/>
          <a:ln w="9525" cap="flat" cmpd="sng">
            <a:solidFill>
              <a:schemeClr val="dk2"/>
            </a:solidFill>
            <a:prstDash val="solid"/>
            <a:round/>
            <a:headEnd type="none" w="sm" len="sm"/>
            <a:tailEnd type="none" w="sm" len="sm"/>
          </a:ln>
        </p:spPr>
      </p:cxnSp>
      <p:grpSp>
        <p:nvGrpSpPr>
          <p:cNvPr id="73" name="Google Shape;73;p6"/>
          <p:cNvGrpSpPr/>
          <p:nvPr/>
        </p:nvGrpSpPr>
        <p:grpSpPr>
          <a:xfrm>
            <a:off x="463296" y="341312"/>
            <a:ext cx="1819656" cy="347472"/>
            <a:chOff x="398463" y="404813"/>
            <a:chExt cx="1627187" cy="307976"/>
          </a:xfrm>
        </p:grpSpPr>
        <p:sp>
          <p:nvSpPr>
            <p:cNvPr id="74" name="Google Shape;74;p6"/>
            <p:cNvSpPr/>
            <p:nvPr/>
          </p:nvSpPr>
          <p:spPr>
            <a:xfrm>
              <a:off x="1938338" y="625476"/>
              <a:ext cx="87312" cy="87313"/>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5" name="Google Shape;75;p6"/>
            <p:cNvSpPr/>
            <p:nvPr/>
          </p:nvSpPr>
          <p:spPr>
            <a:xfrm>
              <a:off x="398463" y="406401"/>
              <a:ext cx="247650" cy="301625"/>
            </a:xfrm>
            <a:custGeom>
              <a:avLst/>
              <a:gdLst/>
              <a:ahLst/>
              <a:cxnLst/>
              <a:rect l="l" t="t" r="r" b="b"/>
              <a:pathLst>
                <a:path w="287" h="347" extrusionOk="0">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6" name="Google Shape;76;p6"/>
            <p:cNvSpPr/>
            <p:nvPr/>
          </p:nvSpPr>
          <p:spPr>
            <a:xfrm>
              <a:off x="906463" y="404813"/>
              <a:ext cx="74612" cy="303213"/>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7" name="Google Shape;77;p6"/>
            <p:cNvSpPr/>
            <p:nvPr/>
          </p:nvSpPr>
          <p:spPr>
            <a:xfrm>
              <a:off x="1011238" y="479426"/>
              <a:ext cx="215900" cy="231775"/>
            </a:xfrm>
            <a:custGeom>
              <a:avLst/>
              <a:gdLst/>
              <a:ahLst/>
              <a:cxnLst/>
              <a:rect l="l" t="t" r="r" b="b"/>
              <a:pathLst>
                <a:path w="252" h="267" extrusionOk="0">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8" name="Google Shape;78;p6"/>
            <p:cNvSpPr/>
            <p:nvPr/>
          </p:nvSpPr>
          <p:spPr>
            <a:xfrm>
              <a:off x="1257300" y="482601"/>
              <a:ext cx="74612" cy="225425"/>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9" name="Google Shape;79;p6"/>
            <p:cNvSpPr/>
            <p:nvPr/>
          </p:nvSpPr>
          <p:spPr>
            <a:xfrm>
              <a:off x="1257300" y="404813"/>
              <a:ext cx="74612" cy="508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0" name="Google Shape;80;p6"/>
            <p:cNvSpPr/>
            <p:nvPr/>
          </p:nvSpPr>
          <p:spPr>
            <a:xfrm>
              <a:off x="1362075" y="411163"/>
              <a:ext cx="158750" cy="300038"/>
            </a:xfrm>
            <a:custGeom>
              <a:avLst/>
              <a:gdLst/>
              <a:ahLst/>
              <a:cxnLst/>
              <a:rect l="l" t="t" r="r" b="b"/>
              <a:pathLst>
                <a:path w="184" h="344" extrusionOk="0">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1" name="Google Shape;81;p6"/>
            <p:cNvSpPr/>
            <p:nvPr/>
          </p:nvSpPr>
          <p:spPr>
            <a:xfrm>
              <a:off x="1535113" y="411163"/>
              <a:ext cx="158750" cy="300038"/>
            </a:xfrm>
            <a:custGeom>
              <a:avLst/>
              <a:gdLst/>
              <a:ahLst/>
              <a:cxnLst/>
              <a:rect l="l" t="t" r="r" b="b"/>
              <a:pathLst>
                <a:path w="184" h="344" extrusionOk="0">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2" name="Google Shape;82;p6"/>
            <p:cNvSpPr/>
            <p:nvPr/>
          </p:nvSpPr>
          <p:spPr>
            <a:xfrm>
              <a:off x="1709738" y="479426"/>
              <a:ext cx="211137" cy="231775"/>
            </a:xfrm>
            <a:custGeom>
              <a:avLst/>
              <a:gdLst/>
              <a:ahLst/>
              <a:cxnLst/>
              <a:rect l="l" t="t" r="r" b="b"/>
              <a:pathLst>
                <a:path w="244" h="267" extrusionOk="0">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3" name="Google Shape;83;p6"/>
            <p:cNvSpPr/>
            <p:nvPr/>
          </p:nvSpPr>
          <p:spPr>
            <a:xfrm>
              <a:off x="668338" y="479426"/>
              <a:ext cx="209550" cy="231775"/>
            </a:xfrm>
            <a:custGeom>
              <a:avLst/>
              <a:gdLst/>
              <a:ahLst/>
              <a:cxnLst/>
              <a:rect l="l" t="t" r="r" b="b"/>
              <a:pathLst>
                <a:path w="243" h="267" extrusionOk="0">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84" name="Google Shape;84;p6"/>
          <p:cNvSpPr>
            <a:spLocks noGrp="1"/>
          </p:cNvSpPr>
          <p:nvPr>
            <p:ph type="pic" idx="2"/>
          </p:nvPr>
        </p:nvSpPr>
        <p:spPr>
          <a:xfrm>
            <a:off x="0" y="0"/>
            <a:ext cx="12192000" cy="6858000"/>
          </a:xfrm>
          <a:prstGeom prst="rect">
            <a:avLst/>
          </a:prstGeom>
          <a:noFill/>
          <a:ln>
            <a:noFill/>
          </a:ln>
        </p:spPr>
      </p:sp>
      <p:sp>
        <p:nvSpPr>
          <p:cNvPr id="85" name="Google Shape;85;p6"/>
          <p:cNvSpPr txBox="1">
            <a:spLocks noGrp="1"/>
          </p:cNvSpPr>
          <p:nvPr>
            <p:ph type="body" idx="1"/>
          </p:nvPr>
        </p:nvSpPr>
        <p:spPr>
          <a:xfrm>
            <a:off x="463296" y="6364224"/>
            <a:ext cx="4446269" cy="273050"/>
          </a:xfrm>
          <a:prstGeom prst="rect">
            <a:avLst/>
          </a:prstGeom>
          <a:noFill/>
          <a:ln>
            <a:noFill/>
          </a:ln>
        </p:spPr>
        <p:txBody>
          <a:bodyPr spcFirstLastPara="1" wrap="square" lIns="0" tIns="0" rIns="0" bIns="0" anchor="t" anchorCtr="0">
            <a:noAutofit/>
          </a:bodyPr>
          <a:lstStyle>
            <a:lvl1pPr marL="457200" lvl="0" indent="-317500" algn="l">
              <a:spcBef>
                <a:spcPts val="0"/>
              </a:spcBef>
              <a:spcAft>
                <a:spcPts val="0"/>
              </a:spcAft>
              <a:buClr>
                <a:schemeClr val="lt1"/>
              </a:buClr>
              <a:buSzPts val="1400"/>
              <a:buFont typeface="Calibri"/>
              <a:buChar char="•"/>
              <a:defRPr sz="1400" b="1">
                <a:solidFill>
                  <a:schemeClr val="lt1"/>
                </a:solidFill>
                <a:latin typeface="Calibri"/>
                <a:ea typeface="Calibri"/>
                <a:cs typeface="Calibri"/>
                <a:sym typeface="Calibri"/>
              </a:defRPr>
            </a:lvl1pPr>
            <a:lvl2pPr marL="914400" lvl="1" indent="-304800" algn="l">
              <a:spcBef>
                <a:spcPts val="0"/>
              </a:spcBef>
              <a:spcAft>
                <a:spcPts val="0"/>
              </a:spcAft>
              <a:buClr>
                <a:schemeClr val="lt1"/>
              </a:buClr>
              <a:buSzPts val="1200"/>
              <a:buChar char="•"/>
              <a:defRPr>
                <a:solidFill>
                  <a:schemeClr val="lt1"/>
                </a:solidFill>
              </a:defRPr>
            </a:lvl2pPr>
            <a:lvl3pPr marL="1371600" lvl="2" indent="-304800" algn="l">
              <a:spcBef>
                <a:spcPts val="750"/>
              </a:spcBef>
              <a:spcAft>
                <a:spcPts val="0"/>
              </a:spcAft>
              <a:buClr>
                <a:schemeClr val="lt1"/>
              </a:buClr>
              <a:buSzPts val="1200"/>
              <a:buChar char="−"/>
              <a:defRPr>
                <a:solidFill>
                  <a:schemeClr val="lt1"/>
                </a:solidFill>
              </a:defRPr>
            </a:lvl3pPr>
            <a:lvl4pPr marL="1828800" lvl="3" indent="-304800" algn="l">
              <a:spcBef>
                <a:spcPts val="750"/>
              </a:spcBef>
              <a:spcAft>
                <a:spcPts val="0"/>
              </a:spcAft>
              <a:buClr>
                <a:schemeClr val="lt1"/>
              </a:buClr>
              <a:buSzPts val="1200"/>
              <a:buChar char="◦"/>
              <a:defRPr>
                <a:solidFill>
                  <a:schemeClr val="lt1"/>
                </a:solidFill>
              </a:defRPr>
            </a:lvl4pPr>
            <a:lvl5pPr marL="2286000" lvl="4" indent="-304800" algn="l">
              <a:spcBef>
                <a:spcPts val="750"/>
              </a:spcBef>
              <a:spcAft>
                <a:spcPts val="0"/>
              </a:spcAft>
              <a:buClr>
                <a:schemeClr val="lt1"/>
              </a:buClr>
              <a:buSzPts val="1200"/>
              <a:buChar char="−"/>
              <a:defRPr>
                <a:solidFill>
                  <a:schemeClr val="lt1"/>
                </a:solidFill>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86" name="Google Shape;86;p6"/>
          <p:cNvSpPr txBox="1">
            <a:spLocks noGrp="1"/>
          </p:cNvSpPr>
          <p:nvPr>
            <p:ph type="ctrTitle"/>
          </p:nvPr>
        </p:nvSpPr>
        <p:spPr>
          <a:xfrm>
            <a:off x="463296" y="5186209"/>
            <a:ext cx="4446269" cy="895983"/>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sz="3200" b="0">
                <a:solidFill>
                  <a:schemeClr val="accent1"/>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Slide - Circle with text">
  <p:cSld name="Title Slide - Circle with text">
    <p:bg>
      <p:bgPr>
        <a:solidFill>
          <a:schemeClr val="lt1"/>
        </a:solidFill>
        <a:effectLst/>
      </p:bgPr>
    </p:bg>
    <p:spTree>
      <p:nvGrpSpPr>
        <p:cNvPr id="1" name="Shape 87"/>
        <p:cNvGrpSpPr/>
        <p:nvPr/>
      </p:nvGrpSpPr>
      <p:grpSpPr>
        <a:xfrm>
          <a:off x="0" y="0"/>
          <a:ext cx="0" cy="0"/>
          <a:chOff x="0" y="0"/>
          <a:chExt cx="0" cy="0"/>
        </a:xfrm>
      </p:grpSpPr>
      <p:grpSp>
        <p:nvGrpSpPr>
          <p:cNvPr id="88" name="Google Shape;88;p7"/>
          <p:cNvGrpSpPr/>
          <p:nvPr/>
        </p:nvGrpSpPr>
        <p:grpSpPr>
          <a:xfrm>
            <a:off x="460541" y="344137"/>
            <a:ext cx="1819109" cy="345828"/>
            <a:chOff x="398463" y="404813"/>
            <a:chExt cx="1627187" cy="307976"/>
          </a:xfrm>
        </p:grpSpPr>
        <p:sp>
          <p:nvSpPr>
            <p:cNvPr id="89" name="Google Shape;89;p7"/>
            <p:cNvSpPr/>
            <p:nvPr/>
          </p:nvSpPr>
          <p:spPr>
            <a:xfrm>
              <a:off x="1938338" y="625476"/>
              <a:ext cx="87312" cy="87313"/>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0" name="Google Shape;90;p7"/>
            <p:cNvSpPr/>
            <p:nvPr/>
          </p:nvSpPr>
          <p:spPr>
            <a:xfrm>
              <a:off x="398463" y="406401"/>
              <a:ext cx="247650" cy="301625"/>
            </a:xfrm>
            <a:custGeom>
              <a:avLst/>
              <a:gdLst/>
              <a:ahLst/>
              <a:cxnLst/>
              <a:rect l="l" t="t" r="r" b="b"/>
              <a:pathLst>
                <a:path w="287" h="347" extrusionOk="0">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1" name="Google Shape;91;p7"/>
            <p:cNvSpPr/>
            <p:nvPr/>
          </p:nvSpPr>
          <p:spPr>
            <a:xfrm>
              <a:off x="906463" y="404813"/>
              <a:ext cx="74612" cy="303213"/>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2" name="Google Shape;92;p7"/>
            <p:cNvSpPr/>
            <p:nvPr/>
          </p:nvSpPr>
          <p:spPr>
            <a:xfrm>
              <a:off x="1011238" y="479426"/>
              <a:ext cx="215900" cy="231775"/>
            </a:xfrm>
            <a:custGeom>
              <a:avLst/>
              <a:gdLst/>
              <a:ahLst/>
              <a:cxnLst/>
              <a:rect l="l" t="t" r="r" b="b"/>
              <a:pathLst>
                <a:path w="252" h="267" extrusionOk="0">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3" name="Google Shape;93;p7"/>
            <p:cNvSpPr/>
            <p:nvPr/>
          </p:nvSpPr>
          <p:spPr>
            <a:xfrm>
              <a:off x="1257300" y="482601"/>
              <a:ext cx="74612" cy="225425"/>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 name="Google Shape;94;p7"/>
            <p:cNvSpPr/>
            <p:nvPr/>
          </p:nvSpPr>
          <p:spPr>
            <a:xfrm>
              <a:off x="1257300" y="404813"/>
              <a:ext cx="74612" cy="508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5" name="Google Shape;95;p7"/>
            <p:cNvSpPr/>
            <p:nvPr/>
          </p:nvSpPr>
          <p:spPr>
            <a:xfrm>
              <a:off x="1362075" y="411163"/>
              <a:ext cx="158750" cy="300038"/>
            </a:xfrm>
            <a:custGeom>
              <a:avLst/>
              <a:gdLst/>
              <a:ahLst/>
              <a:cxnLst/>
              <a:rect l="l" t="t" r="r" b="b"/>
              <a:pathLst>
                <a:path w="184" h="344" extrusionOk="0">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6" name="Google Shape;96;p7"/>
            <p:cNvSpPr/>
            <p:nvPr/>
          </p:nvSpPr>
          <p:spPr>
            <a:xfrm>
              <a:off x="1535113" y="411163"/>
              <a:ext cx="158750" cy="300038"/>
            </a:xfrm>
            <a:custGeom>
              <a:avLst/>
              <a:gdLst/>
              <a:ahLst/>
              <a:cxnLst/>
              <a:rect l="l" t="t" r="r" b="b"/>
              <a:pathLst>
                <a:path w="184" h="344" extrusionOk="0">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7" name="Google Shape;97;p7"/>
            <p:cNvSpPr/>
            <p:nvPr/>
          </p:nvSpPr>
          <p:spPr>
            <a:xfrm>
              <a:off x="1709738" y="479426"/>
              <a:ext cx="211137" cy="231775"/>
            </a:xfrm>
            <a:custGeom>
              <a:avLst/>
              <a:gdLst/>
              <a:ahLst/>
              <a:cxnLst/>
              <a:rect l="l" t="t" r="r" b="b"/>
              <a:pathLst>
                <a:path w="244" h="267" extrusionOk="0">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8" name="Google Shape;98;p7"/>
            <p:cNvSpPr/>
            <p:nvPr/>
          </p:nvSpPr>
          <p:spPr>
            <a:xfrm>
              <a:off x="668338" y="479426"/>
              <a:ext cx="209550" cy="231775"/>
            </a:xfrm>
            <a:custGeom>
              <a:avLst/>
              <a:gdLst/>
              <a:ahLst/>
              <a:cxnLst/>
              <a:rect l="l" t="t" r="r" b="b"/>
              <a:pathLst>
                <a:path w="243" h="267" extrusionOk="0">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99" name="Google Shape;99;p7"/>
          <p:cNvSpPr>
            <a:spLocks noGrp="1"/>
          </p:cNvSpPr>
          <p:nvPr>
            <p:ph type="pic" idx="2"/>
          </p:nvPr>
        </p:nvSpPr>
        <p:spPr>
          <a:xfrm>
            <a:off x="3724289" y="688848"/>
            <a:ext cx="5562600" cy="5556504"/>
          </a:xfrm>
          <a:prstGeom prst="rect">
            <a:avLst/>
          </a:prstGeom>
          <a:noFill/>
          <a:ln>
            <a:noFill/>
          </a:ln>
        </p:spPr>
      </p:sp>
      <p:sp>
        <p:nvSpPr>
          <p:cNvPr id="100" name="Google Shape;100;p7"/>
          <p:cNvSpPr txBox="1">
            <a:spLocks noGrp="1"/>
          </p:cNvSpPr>
          <p:nvPr>
            <p:ph type="ctrTitle"/>
          </p:nvPr>
        </p:nvSpPr>
        <p:spPr>
          <a:xfrm>
            <a:off x="457201" y="5186209"/>
            <a:ext cx="4490721" cy="895983"/>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sz="3200" b="0">
                <a:solidFill>
                  <a:schemeClr val="accent1"/>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7"/>
          <p:cNvSpPr txBox="1">
            <a:spLocks noGrp="1"/>
          </p:cNvSpPr>
          <p:nvPr>
            <p:ph type="body" idx="1"/>
          </p:nvPr>
        </p:nvSpPr>
        <p:spPr>
          <a:xfrm>
            <a:off x="457201" y="6365848"/>
            <a:ext cx="4490721" cy="273050"/>
          </a:xfrm>
          <a:prstGeom prst="rect">
            <a:avLst/>
          </a:prstGeom>
          <a:noFill/>
          <a:ln>
            <a:noFill/>
          </a:ln>
        </p:spPr>
        <p:txBody>
          <a:bodyPr spcFirstLastPara="1" wrap="square" lIns="0" tIns="0" rIns="0" bIns="0" anchor="t" anchorCtr="0">
            <a:noAutofit/>
          </a:bodyPr>
          <a:lstStyle>
            <a:lvl1pPr marL="457200" lvl="0" indent="-317500" algn="l">
              <a:spcBef>
                <a:spcPts val="0"/>
              </a:spcBef>
              <a:spcAft>
                <a:spcPts val="0"/>
              </a:spcAft>
              <a:buClr>
                <a:schemeClr val="dk1"/>
              </a:buClr>
              <a:buSzPts val="1400"/>
              <a:buFont typeface="Calibri"/>
              <a:buChar char="•"/>
              <a:defRPr sz="1400" b="1">
                <a:solidFill>
                  <a:schemeClr val="dk1"/>
                </a:solidFill>
                <a:latin typeface="Calibri"/>
                <a:ea typeface="Calibri"/>
                <a:cs typeface="Calibri"/>
                <a:sym typeface="Calibri"/>
              </a:defRPr>
            </a:lvl1pPr>
            <a:lvl2pPr marL="914400" lvl="1" indent="-304800" algn="l">
              <a:spcBef>
                <a:spcPts val="0"/>
              </a:spcBef>
              <a:spcAft>
                <a:spcPts val="0"/>
              </a:spcAft>
              <a:buClr>
                <a:schemeClr val="lt1"/>
              </a:buClr>
              <a:buSzPts val="1200"/>
              <a:buChar char="•"/>
              <a:defRPr>
                <a:solidFill>
                  <a:schemeClr val="lt1"/>
                </a:solidFill>
              </a:defRPr>
            </a:lvl2pPr>
            <a:lvl3pPr marL="1371600" lvl="2" indent="-304800" algn="l">
              <a:spcBef>
                <a:spcPts val="750"/>
              </a:spcBef>
              <a:spcAft>
                <a:spcPts val="0"/>
              </a:spcAft>
              <a:buClr>
                <a:schemeClr val="lt1"/>
              </a:buClr>
              <a:buSzPts val="1200"/>
              <a:buChar char="−"/>
              <a:defRPr>
                <a:solidFill>
                  <a:schemeClr val="lt1"/>
                </a:solidFill>
              </a:defRPr>
            </a:lvl3pPr>
            <a:lvl4pPr marL="1828800" lvl="3" indent="-304800" algn="l">
              <a:spcBef>
                <a:spcPts val="750"/>
              </a:spcBef>
              <a:spcAft>
                <a:spcPts val="0"/>
              </a:spcAft>
              <a:buClr>
                <a:schemeClr val="lt1"/>
              </a:buClr>
              <a:buSzPts val="1200"/>
              <a:buChar char="◦"/>
              <a:defRPr>
                <a:solidFill>
                  <a:schemeClr val="lt1"/>
                </a:solidFill>
              </a:defRPr>
            </a:lvl4pPr>
            <a:lvl5pPr marL="2286000" lvl="4" indent="-304800" algn="l">
              <a:spcBef>
                <a:spcPts val="750"/>
              </a:spcBef>
              <a:spcAft>
                <a:spcPts val="0"/>
              </a:spcAft>
              <a:buClr>
                <a:schemeClr val="lt1"/>
              </a:buClr>
              <a:buSzPts val="1200"/>
              <a:buChar char="−"/>
              <a:defRPr>
                <a:solidFill>
                  <a:schemeClr val="lt1"/>
                </a:solidFill>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Divider - Deloitte white">
  <p:cSld name="Divider - Deloitte white">
    <p:bg>
      <p:bgPr>
        <a:solidFill>
          <a:schemeClr val="lt1"/>
        </a:solidFill>
        <a:effectLst/>
      </p:bgPr>
    </p:bg>
    <p:spTree>
      <p:nvGrpSpPr>
        <p:cNvPr id="1" name="Shape 102"/>
        <p:cNvGrpSpPr/>
        <p:nvPr/>
      </p:nvGrpSpPr>
      <p:grpSpPr>
        <a:xfrm>
          <a:off x="0" y="0"/>
          <a:ext cx="0" cy="0"/>
          <a:chOff x="0" y="0"/>
          <a:chExt cx="0" cy="0"/>
        </a:xfrm>
      </p:grpSpPr>
      <p:pic>
        <p:nvPicPr>
          <p:cNvPr id="103" name="Google Shape;103;p8"/>
          <p:cNvPicPr preferRelativeResize="0"/>
          <p:nvPr/>
        </p:nvPicPr>
        <p:blipFill rotWithShape="1">
          <a:blip r:embed="rId2">
            <a:alphaModFix/>
          </a:blip>
          <a:srcRect/>
          <a:stretch/>
        </p:blipFill>
        <p:spPr>
          <a:xfrm>
            <a:off x="1588" y="1588"/>
            <a:ext cx="3175" cy="1587"/>
          </a:xfrm>
          <a:prstGeom prst="rect">
            <a:avLst/>
          </a:prstGeom>
          <a:noFill/>
          <a:ln>
            <a:noFill/>
          </a:ln>
        </p:spPr>
      </p:pic>
      <p:sp>
        <p:nvSpPr>
          <p:cNvPr id="104" name="Google Shape;104;p8"/>
          <p:cNvSpPr txBox="1"/>
          <p:nvPr/>
        </p:nvSpPr>
        <p:spPr>
          <a:xfrm>
            <a:off x="6335713" y="6519863"/>
            <a:ext cx="4895850" cy="12223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dk1"/>
              </a:buClr>
              <a:buSzPts val="800"/>
              <a:buFont typeface="Arial"/>
              <a:buNone/>
            </a:pPr>
            <a:r>
              <a:rPr lang="en-IN" sz="800" b="0" i="0" u="none" strike="noStrike" cap="none">
                <a:solidFill>
                  <a:schemeClr val="dk1"/>
                </a:solidFill>
                <a:latin typeface="Calibri"/>
                <a:ea typeface="Calibri"/>
                <a:cs typeface="Calibri"/>
                <a:sym typeface="Calibri"/>
              </a:rPr>
              <a:t>CTD Review Meeting</a:t>
            </a:r>
            <a:endParaRPr/>
          </a:p>
        </p:txBody>
      </p:sp>
      <p:sp>
        <p:nvSpPr>
          <p:cNvPr id="105" name="Google Shape;105;p8"/>
          <p:cNvSpPr txBox="1"/>
          <p:nvPr/>
        </p:nvSpPr>
        <p:spPr>
          <a:xfrm>
            <a:off x="11426825" y="6519863"/>
            <a:ext cx="307975" cy="12223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dk1"/>
              </a:buClr>
              <a:buSzPts val="800"/>
              <a:buFont typeface="Arial"/>
              <a:buNone/>
            </a:pPr>
            <a:fld id="{00000000-1234-1234-1234-123412341234}" type="slidenum">
              <a:rPr lang="en-IN" sz="800" b="0" i="0" u="none" strike="noStrike" cap="none">
                <a:solidFill>
                  <a:schemeClr val="dk1"/>
                </a:solidFill>
                <a:latin typeface="Calibri"/>
                <a:ea typeface="Calibri"/>
                <a:cs typeface="Calibri"/>
                <a:sym typeface="Calibri"/>
              </a:rPr>
              <a:t>‹#›</a:t>
            </a:fld>
            <a:endParaRPr sz="800" b="0" i="0" u="none" strike="noStrike" cap="none">
              <a:solidFill>
                <a:schemeClr val="dk1"/>
              </a:solidFill>
              <a:latin typeface="Calibri"/>
              <a:ea typeface="Calibri"/>
              <a:cs typeface="Calibri"/>
              <a:sym typeface="Calibri"/>
            </a:endParaRPr>
          </a:p>
        </p:txBody>
      </p:sp>
      <p:sp>
        <p:nvSpPr>
          <p:cNvPr id="106" name="Google Shape;106;p8"/>
          <p:cNvSpPr txBox="1"/>
          <p:nvPr/>
        </p:nvSpPr>
        <p:spPr>
          <a:xfrm>
            <a:off x="4065588" y="700088"/>
            <a:ext cx="254000"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107" name="Google Shape;107;p8"/>
          <p:cNvSpPr txBox="1"/>
          <p:nvPr/>
        </p:nvSpPr>
        <p:spPr>
          <a:xfrm>
            <a:off x="4321175" y="803275"/>
            <a:ext cx="1673225"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108" name="Google Shape;108;p8"/>
          <p:cNvSpPr txBox="1"/>
          <p:nvPr/>
        </p:nvSpPr>
        <p:spPr>
          <a:xfrm>
            <a:off x="5970588" y="803275"/>
            <a:ext cx="249237"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109" name="Google Shape;109;p8"/>
          <p:cNvSpPr txBox="1"/>
          <p:nvPr/>
        </p:nvSpPr>
        <p:spPr>
          <a:xfrm>
            <a:off x="4321175" y="801688"/>
            <a:ext cx="1673225"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110" name="Google Shape;110;p8"/>
          <p:cNvSpPr txBox="1">
            <a:spLocks noGrp="1"/>
          </p:cNvSpPr>
          <p:nvPr>
            <p:ph type="title"/>
          </p:nvPr>
        </p:nvSpPr>
        <p:spPr>
          <a:xfrm>
            <a:off x="463296" y="1724001"/>
            <a:ext cx="11271504" cy="1592403"/>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SzPts val="1400"/>
              <a:buNone/>
              <a:defRPr sz="3600" b="1">
                <a:solidFill>
                  <a:schemeClr val="dk1"/>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8"/>
          <p:cNvSpPr txBox="1">
            <a:spLocks noGrp="1"/>
          </p:cNvSpPr>
          <p:nvPr>
            <p:ph type="body" idx="1"/>
          </p:nvPr>
        </p:nvSpPr>
        <p:spPr>
          <a:xfrm>
            <a:off x="463296" y="3471532"/>
            <a:ext cx="11271504" cy="1566532"/>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3600"/>
              <a:buFont typeface="Calibri"/>
              <a:buNone/>
              <a:defRPr sz="3600">
                <a:solidFill>
                  <a:schemeClr val="dk1"/>
                </a:solidFill>
                <a:latin typeface="Calibri"/>
                <a:ea typeface="Calibri"/>
                <a:cs typeface="Calibri"/>
                <a:sym typeface="Calibri"/>
              </a:defRPr>
            </a:lvl1pPr>
            <a:lvl2pPr marL="914400" lvl="1" indent="-228600" algn="l">
              <a:spcBef>
                <a:spcPts val="0"/>
              </a:spcBef>
              <a:spcAft>
                <a:spcPts val="0"/>
              </a:spcAft>
              <a:buClr>
                <a:srgbClr val="888888"/>
              </a:buClr>
              <a:buSzPts val="1500"/>
              <a:buNone/>
              <a:defRPr sz="1500">
                <a:solidFill>
                  <a:srgbClr val="888888"/>
                </a:solidFill>
              </a:defRPr>
            </a:lvl2pPr>
            <a:lvl3pPr marL="1371600" lvl="2" indent="-228600" algn="l">
              <a:spcBef>
                <a:spcPts val="750"/>
              </a:spcBef>
              <a:spcAft>
                <a:spcPts val="0"/>
              </a:spcAft>
              <a:buClr>
                <a:srgbClr val="888888"/>
              </a:buClr>
              <a:buSzPts val="1350"/>
              <a:buNone/>
              <a:defRPr sz="1350">
                <a:solidFill>
                  <a:srgbClr val="888888"/>
                </a:solidFill>
              </a:defRPr>
            </a:lvl3pPr>
            <a:lvl4pPr marL="1828800" lvl="3" indent="-228600" algn="l">
              <a:spcBef>
                <a:spcPts val="750"/>
              </a:spcBef>
              <a:spcAft>
                <a:spcPts val="0"/>
              </a:spcAft>
              <a:buClr>
                <a:srgbClr val="888888"/>
              </a:buClr>
              <a:buSzPts val="1200"/>
              <a:buNone/>
              <a:defRPr sz="1200">
                <a:solidFill>
                  <a:srgbClr val="888888"/>
                </a:solidFill>
              </a:defRPr>
            </a:lvl4pPr>
            <a:lvl5pPr marL="2286000" lvl="4" indent="-228600" algn="l">
              <a:spcBef>
                <a:spcPts val="750"/>
              </a:spcBef>
              <a:spcAft>
                <a:spcPts val="0"/>
              </a:spcAft>
              <a:buClr>
                <a:srgbClr val="888888"/>
              </a:buClr>
              <a:buSzPts val="1200"/>
              <a:buNone/>
              <a:defRPr sz="1200">
                <a:solidFill>
                  <a:srgbClr val="888888"/>
                </a:solidFill>
              </a:defRPr>
            </a:lvl5pPr>
            <a:lvl6pPr marL="2743200" lvl="5" indent="-228600" algn="l">
              <a:spcBef>
                <a:spcPts val="750"/>
              </a:spcBef>
              <a:spcAft>
                <a:spcPts val="0"/>
              </a:spcAft>
              <a:buClr>
                <a:srgbClr val="888888"/>
              </a:buClr>
              <a:buSzPts val="1200"/>
              <a:buNone/>
              <a:defRPr sz="1200">
                <a:solidFill>
                  <a:srgbClr val="888888"/>
                </a:solidFill>
              </a:defRPr>
            </a:lvl6pPr>
            <a:lvl7pPr marL="3200400" lvl="6" indent="-228600" algn="l">
              <a:spcBef>
                <a:spcPts val="750"/>
              </a:spcBef>
              <a:spcAft>
                <a:spcPts val="0"/>
              </a:spcAft>
              <a:buClr>
                <a:srgbClr val="888888"/>
              </a:buClr>
              <a:buSzPts val="1200"/>
              <a:buNone/>
              <a:defRPr sz="1200">
                <a:solidFill>
                  <a:srgbClr val="888888"/>
                </a:solidFill>
              </a:defRPr>
            </a:lvl7pPr>
            <a:lvl8pPr marL="3657600" lvl="7" indent="-228600" algn="l">
              <a:spcBef>
                <a:spcPts val="750"/>
              </a:spcBef>
              <a:spcAft>
                <a:spcPts val="0"/>
              </a:spcAft>
              <a:buClr>
                <a:srgbClr val="888888"/>
              </a:buClr>
              <a:buSzPts val="1200"/>
              <a:buNone/>
              <a:defRPr sz="1200">
                <a:solidFill>
                  <a:srgbClr val="888888"/>
                </a:solidFill>
              </a:defRPr>
            </a:lvl8pPr>
            <a:lvl9pPr marL="4114800" lvl="8" indent="-228600" algn="l">
              <a:spcBef>
                <a:spcPts val="750"/>
              </a:spcBef>
              <a:spcAft>
                <a:spcPts val="750"/>
              </a:spcAft>
              <a:buClr>
                <a:srgbClr val="888888"/>
              </a:buClr>
              <a:buSzPts val="1200"/>
              <a:buNone/>
              <a:defRPr sz="1200">
                <a:solidFill>
                  <a:srgbClr val="888888"/>
                </a:solidFill>
              </a:defRPr>
            </a:lvl9pPr>
          </a:lstStyle>
          <a:p>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Divider - Deloitte green accent 4">
  <p:cSld name="Divider - Deloitte green accent 4">
    <p:bg>
      <p:bgPr>
        <a:solidFill>
          <a:srgbClr val="046A38"/>
        </a:solidFill>
        <a:effectLst/>
      </p:bgPr>
    </p:bg>
    <p:spTree>
      <p:nvGrpSpPr>
        <p:cNvPr id="1" name="Shape 112"/>
        <p:cNvGrpSpPr/>
        <p:nvPr/>
      </p:nvGrpSpPr>
      <p:grpSpPr>
        <a:xfrm>
          <a:off x="0" y="0"/>
          <a:ext cx="0" cy="0"/>
          <a:chOff x="0" y="0"/>
          <a:chExt cx="0" cy="0"/>
        </a:xfrm>
      </p:grpSpPr>
      <p:sp>
        <p:nvSpPr>
          <p:cNvPr id="113" name="Google Shape;113;p9"/>
          <p:cNvSpPr txBox="1"/>
          <p:nvPr/>
        </p:nvSpPr>
        <p:spPr>
          <a:xfrm>
            <a:off x="501650" y="6519863"/>
            <a:ext cx="5354638" cy="20796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lt1"/>
              </a:buClr>
              <a:buSzPts val="675"/>
              <a:buFont typeface="Arial"/>
              <a:buNone/>
            </a:pPr>
            <a:r>
              <a:rPr lang="en-IN" sz="675" b="0" i="0" u="none" strike="noStrike" cap="none">
                <a:solidFill>
                  <a:schemeClr val="lt1"/>
                </a:solidFill>
                <a:latin typeface="Calibri"/>
                <a:ea typeface="Calibri"/>
                <a:cs typeface="Calibri"/>
                <a:sym typeface="Calibri"/>
              </a:rPr>
              <a:t>Member firms and DTTL: Insert appropriate copyright</a:t>
            </a:r>
            <a:br>
              <a:rPr lang="en-IN" sz="675" b="0" i="0" u="none" strike="noStrike" cap="none">
                <a:solidFill>
                  <a:schemeClr val="lt1"/>
                </a:solidFill>
                <a:latin typeface="Calibri"/>
                <a:ea typeface="Calibri"/>
                <a:cs typeface="Calibri"/>
                <a:sym typeface="Calibri"/>
              </a:rPr>
            </a:br>
            <a:r>
              <a:rPr lang="en-IN" sz="675" b="0" i="0" u="none" strike="noStrike" cap="none">
                <a:solidFill>
                  <a:schemeClr val="lt1"/>
                </a:solidFill>
                <a:latin typeface="Calibri"/>
                <a:ea typeface="Calibri"/>
                <a:cs typeface="Calibri"/>
                <a:sym typeface="Calibri"/>
              </a:rPr>
              <a:t>[To edit, click View &gt; Slide Master &gt; Slide Master]</a:t>
            </a:r>
            <a:endParaRPr/>
          </a:p>
        </p:txBody>
      </p:sp>
      <p:sp>
        <p:nvSpPr>
          <p:cNvPr id="114" name="Google Shape;114;p9"/>
          <p:cNvSpPr txBox="1"/>
          <p:nvPr/>
        </p:nvSpPr>
        <p:spPr>
          <a:xfrm>
            <a:off x="6335713" y="6519863"/>
            <a:ext cx="4895850" cy="207962"/>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lt1"/>
              </a:buClr>
              <a:buSzPts val="675"/>
              <a:buFont typeface="Arial"/>
              <a:buNone/>
            </a:pPr>
            <a:r>
              <a:rPr lang="en-IN" sz="675" b="0" i="0" u="none" strike="noStrike" cap="none">
                <a:solidFill>
                  <a:schemeClr val="lt1"/>
                </a:solidFill>
                <a:latin typeface="Calibri"/>
                <a:ea typeface="Calibri"/>
                <a:cs typeface="Calibri"/>
                <a:sym typeface="Calibri"/>
              </a:rPr>
              <a:t>Presentation title</a:t>
            </a:r>
            <a:br>
              <a:rPr lang="en-IN" sz="675" b="0" i="0" u="none" strike="noStrike" cap="none">
                <a:solidFill>
                  <a:schemeClr val="lt1"/>
                </a:solidFill>
                <a:latin typeface="Calibri"/>
                <a:ea typeface="Calibri"/>
                <a:cs typeface="Calibri"/>
                <a:sym typeface="Calibri"/>
              </a:rPr>
            </a:br>
            <a:r>
              <a:rPr lang="en-IN" sz="675" b="0" i="0" u="none" strike="noStrike" cap="none">
                <a:solidFill>
                  <a:schemeClr val="lt1"/>
                </a:solidFill>
                <a:latin typeface="Calibri"/>
                <a:ea typeface="Calibri"/>
                <a:cs typeface="Calibri"/>
                <a:sym typeface="Calibri"/>
              </a:rPr>
              <a:t>[To edit, click View &gt; Slide Master &gt; Slide Master]</a:t>
            </a:r>
            <a:endParaRPr/>
          </a:p>
        </p:txBody>
      </p:sp>
      <p:sp>
        <p:nvSpPr>
          <p:cNvPr id="115" name="Google Shape;115;p9"/>
          <p:cNvSpPr txBox="1"/>
          <p:nvPr/>
        </p:nvSpPr>
        <p:spPr>
          <a:xfrm>
            <a:off x="11426825" y="6519863"/>
            <a:ext cx="307975" cy="10318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lt1"/>
              </a:buClr>
              <a:buSzPts val="600"/>
              <a:buFont typeface="Arial"/>
              <a:buNone/>
            </a:pPr>
            <a:fld id="{00000000-1234-1234-1234-123412341234}" type="slidenum">
              <a:rPr lang="en-IN" sz="600" b="0" i="0" u="none" strike="noStrike" cap="none">
                <a:solidFill>
                  <a:schemeClr val="lt1"/>
                </a:solidFill>
                <a:latin typeface="Calibri"/>
                <a:ea typeface="Calibri"/>
                <a:cs typeface="Calibri"/>
                <a:sym typeface="Calibri"/>
              </a:rPr>
              <a:t>‹#›</a:t>
            </a:fld>
            <a:endParaRPr sz="600" b="0" i="0" u="none" strike="noStrike" cap="none">
              <a:solidFill>
                <a:schemeClr val="lt1"/>
              </a:solidFill>
              <a:latin typeface="Calibri"/>
              <a:ea typeface="Calibri"/>
              <a:cs typeface="Calibri"/>
              <a:sym typeface="Calibri"/>
            </a:endParaRPr>
          </a:p>
        </p:txBody>
      </p:sp>
      <p:sp>
        <p:nvSpPr>
          <p:cNvPr id="116" name="Google Shape;116;p9"/>
          <p:cNvSpPr txBox="1">
            <a:spLocks noGrp="1"/>
          </p:cNvSpPr>
          <p:nvPr>
            <p:ph type="title"/>
          </p:nvPr>
        </p:nvSpPr>
        <p:spPr>
          <a:xfrm>
            <a:off x="469901" y="1726936"/>
            <a:ext cx="11264900" cy="1592403"/>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SzPts val="1400"/>
              <a:buNone/>
              <a:defRPr sz="3600" b="1">
                <a:solidFill>
                  <a:schemeClr val="lt1"/>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9"/>
          <p:cNvSpPr txBox="1">
            <a:spLocks noGrp="1"/>
          </p:cNvSpPr>
          <p:nvPr>
            <p:ph type="body" idx="1"/>
          </p:nvPr>
        </p:nvSpPr>
        <p:spPr>
          <a:xfrm>
            <a:off x="469901" y="3474720"/>
            <a:ext cx="11264900" cy="1566532"/>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lt1"/>
              </a:buClr>
              <a:buSzPts val="3600"/>
              <a:buFont typeface="Calibri"/>
              <a:buNone/>
              <a:defRPr sz="3600">
                <a:solidFill>
                  <a:schemeClr val="lt1"/>
                </a:solidFill>
              </a:defRPr>
            </a:lvl1pPr>
            <a:lvl2pPr marL="914400" lvl="1" indent="-228600" algn="l">
              <a:spcBef>
                <a:spcPts val="0"/>
              </a:spcBef>
              <a:spcAft>
                <a:spcPts val="0"/>
              </a:spcAft>
              <a:buClr>
                <a:srgbClr val="888888"/>
              </a:buClr>
              <a:buSzPts val="2000"/>
              <a:buNone/>
              <a:defRPr sz="2000">
                <a:solidFill>
                  <a:srgbClr val="888888"/>
                </a:solidFill>
              </a:defRPr>
            </a:lvl2pPr>
            <a:lvl3pPr marL="1371600" lvl="2" indent="-228600" algn="l">
              <a:spcBef>
                <a:spcPts val="750"/>
              </a:spcBef>
              <a:spcAft>
                <a:spcPts val="0"/>
              </a:spcAft>
              <a:buClr>
                <a:srgbClr val="888888"/>
              </a:buClr>
              <a:buSzPts val="1800"/>
              <a:buNone/>
              <a:defRPr sz="1800">
                <a:solidFill>
                  <a:srgbClr val="888888"/>
                </a:solidFill>
              </a:defRPr>
            </a:lvl3pPr>
            <a:lvl4pPr marL="1828800" lvl="3" indent="-228600" algn="l">
              <a:spcBef>
                <a:spcPts val="750"/>
              </a:spcBef>
              <a:spcAft>
                <a:spcPts val="0"/>
              </a:spcAft>
              <a:buClr>
                <a:srgbClr val="888888"/>
              </a:buClr>
              <a:buSzPts val="1600"/>
              <a:buNone/>
              <a:defRPr sz="1600">
                <a:solidFill>
                  <a:srgbClr val="888888"/>
                </a:solidFill>
              </a:defRPr>
            </a:lvl4pPr>
            <a:lvl5pPr marL="2286000" lvl="4" indent="-228600" algn="l">
              <a:spcBef>
                <a:spcPts val="750"/>
              </a:spcBef>
              <a:spcAft>
                <a:spcPts val="0"/>
              </a:spcAft>
              <a:buClr>
                <a:srgbClr val="888888"/>
              </a:buClr>
              <a:buSzPts val="1600"/>
              <a:buNone/>
              <a:defRPr sz="1600">
                <a:solidFill>
                  <a:srgbClr val="888888"/>
                </a:solidFill>
              </a:defRPr>
            </a:lvl5pPr>
            <a:lvl6pPr marL="2743200" lvl="5" indent="-228600" algn="l">
              <a:spcBef>
                <a:spcPts val="750"/>
              </a:spcBef>
              <a:spcAft>
                <a:spcPts val="0"/>
              </a:spcAft>
              <a:buClr>
                <a:srgbClr val="888888"/>
              </a:buClr>
              <a:buSzPts val="1600"/>
              <a:buNone/>
              <a:defRPr sz="1600">
                <a:solidFill>
                  <a:srgbClr val="888888"/>
                </a:solidFill>
              </a:defRPr>
            </a:lvl6pPr>
            <a:lvl7pPr marL="3200400" lvl="6" indent="-228600" algn="l">
              <a:spcBef>
                <a:spcPts val="750"/>
              </a:spcBef>
              <a:spcAft>
                <a:spcPts val="0"/>
              </a:spcAft>
              <a:buClr>
                <a:srgbClr val="888888"/>
              </a:buClr>
              <a:buSzPts val="1600"/>
              <a:buNone/>
              <a:defRPr sz="1600">
                <a:solidFill>
                  <a:srgbClr val="888888"/>
                </a:solidFill>
              </a:defRPr>
            </a:lvl7pPr>
            <a:lvl8pPr marL="3657600" lvl="7" indent="-228600" algn="l">
              <a:spcBef>
                <a:spcPts val="750"/>
              </a:spcBef>
              <a:spcAft>
                <a:spcPts val="0"/>
              </a:spcAft>
              <a:buClr>
                <a:srgbClr val="888888"/>
              </a:buClr>
              <a:buSzPts val="1600"/>
              <a:buNone/>
              <a:defRPr sz="1600">
                <a:solidFill>
                  <a:srgbClr val="888888"/>
                </a:solidFill>
              </a:defRPr>
            </a:lvl8pPr>
            <a:lvl9pPr marL="4114800" lvl="8" indent="-228600" algn="l">
              <a:spcBef>
                <a:spcPts val="750"/>
              </a:spcBef>
              <a:spcAft>
                <a:spcPts val="750"/>
              </a:spcAft>
              <a:buClr>
                <a:srgbClr val="888888"/>
              </a:buClr>
              <a:buSzPts val="1600"/>
              <a:buNone/>
              <a:defRPr sz="1600">
                <a:solidFill>
                  <a:srgbClr val="888888"/>
                </a:solidFill>
              </a:defRPr>
            </a:lvl9pPr>
          </a:lstStyle>
          <a:p>
            <a:endParaRPr/>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Divider - Deloitte black">
  <p:cSld name="Divider - Deloitte black">
    <p:bg>
      <p:bgPr>
        <a:solidFill>
          <a:schemeClr val="dk1"/>
        </a:solidFill>
        <a:effectLst/>
      </p:bgPr>
    </p:bg>
    <p:spTree>
      <p:nvGrpSpPr>
        <p:cNvPr id="1" name="Shape 118"/>
        <p:cNvGrpSpPr/>
        <p:nvPr/>
      </p:nvGrpSpPr>
      <p:grpSpPr>
        <a:xfrm>
          <a:off x="0" y="0"/>
          <a:ext cx="0" cy="0"/>
          <a:chOff x="0" y="0"/>
          <a:chExt cx="0" cy="0"/>
        </a:xfrm>
      </p:grpSpPr>
      <p:sp>
        <p:nvSpPr>
          <p:cNvPr id="119" name="Google Shape;119;p10"/>
          <p:cNvSpPr txBox="1"/>
          <p:nvPr/>
        </p:nvSpPr>
        <p:spPr>
          <a:xfrm>
            <a:off x="501650" y="6519863"/>
            <a:ext cx="5354638" cy="20796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lt1"/>
              </a:buClr>
              <a:buSzPts val="675"/>
              <a:buFont typeface="Arial"/>
              <a:buNone/>
            </a:pPr>
            <a:r>
              <a:rPr lang="en-IN" sz="675" b="0" i="0" u="none" strike="noStrike" cap="none">
                <a:solidFill>
                  <a:schemeClr val="lt1"/>
                </a:solidFill>
                <a:latin typeface="Calibri"/>
                <a:ea typeface="Calibri"/>
                <a:cs typeface="Calibri"/>
                <a:sym typeface="Calibri"/>
              </a:rPr>
              <a:t>Member firms and DTTL: Insert appropriate copyright</a:t>
            </a:r>
            <a:br>
              <a:rPr lang="en-IN" sz="675" b="0" i="0" u="none" strike="noStrike" cap="none">
                <a:solidFill>
                  <a:schemeClr val="lt1"/>
                </a:solidFill>
                <a:latin typeface="Calibri"/>
                <a:ea typeface="Calibri"/>
                <a:cs typeface="Calibri"/>
                <a:sym typeface="Calibri"/>
              </a:rPr>
            </a:br>
            <a:r>
              <a:rPr lang="en-IN" sz="675" b="0" i="0" u="none" strike="noStrike" cap="none">
                <a:solidFill>
                  <a:schemeClr val="lt1"/>
                </a:solidFill>
                <a:latin typeface="Calibri"/>
                <a:ea typeface="Calibri"/>
                <a:cs typeface="Calibri"/>
                <a:sym typeface="Calibri"/>
              </a:rPr>
              <a:t>[To edit, click View &gt; Slide Master &gt; Slide Master]</a:t>
            </a:r>
            <a:endParaRPr/>
          </a:p>
        </p:txBody>
      </p:sp>
      <p:sp>
        <p:nvSpPr>
          <p:cNvPr id="120" name="Google Shape;120;p10"/>
          <p:cNvSpPr txBox="1"/>
          <p:nvPr/>
        </p:nvSpPr>
        <p:spPr>
          <a:xfrm>
            <a:off x="6335713" y="6519863"/>
            <a:ext cx="4895850" cy="207962"/>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lt1"/>
              </a:buClr>
              <a:buSzPts val="675"/>
              <a:buFont typeface="Arial"/>
              <a:buNone/>
            </a:pPr>
            <a:r>
              <a:rPr lang="en-IN" sz="675" b="0" i="0" u="none" strike="noStrike" cap="none">
                <a:solidFill>
                  <a:schemeClr val="lt1"/>
                </a:solidFill>
                <a:latin typeface="Calibri"/>
                <a:ea typeface="Calibri"/>
                <a:cs typeface="Calibri"/>
                <a:sym typeface="Calibri"/>
              </a:rPr>
              <a:t>Presentation title</a:t>
            </a:r>
            <a:br>
              <a:rPr lang="en-IN" sz="675" b="0" i="0" u="none" strike="noStrike" cap="none">
                <a:solidFill>
                  <a:schemeClr val="lt1"/>
                </a:solidFill>
                <a:latin typeface="Calibri"/>
                <a:ea typeface="Calibri"/>
                <a:cs typeface="Calibri"/>
                <a:sym typeface="Calibri"/>
              </a:rPr>
            </a:br>
            <a:r>
              <a:rPr lang="en-IN" sz="675" b="0" i="0" u="none" strike="noStrike" cap="none">
                <a:solidFill>
                  <a:schemeClr val="lt1"/>
                </a:solidFill>
                <a:latin typeface="Calibri"/>
                <a:ea typeface="Calibri"/>
                <a:cs typeface="Calibri"/>
                <a:sym typeface="Calibri"/>
              </a:rPr>
              <a:t>[To edit, click View &gt; Slide Master &gt; Slide Master]</a:t>
            </a:r>
            <a:endParaRPr/>
          </a:p>
        </p:txBody>
      </p:sp>
      <p:sp>
        <p:nvSpPr>
          <p:cNvPr id="121" name="Google Shape;121;p10"/>
          <p:cNvSpPr txBox="1"/>
          <p:nvPr/>
        </p:nvSpPr>
        <p:spPr>
          <a:xfrm>
            <a:off x="11426825" y="6519863"/>
            <a:ext cx="307975" cy="10318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lt1"/>
              </a:buClr>
              <a:buSzPts val="600"/>
              <a:buFont typeface="Arial"/>
              <a:buNone/>
            </a:pPr>
            <a:fld id="{00000000-1234-1234-1234-123412341234}" type="slidenum">
              <a:rPr lang="en-IN" sz="600" b="0" i="0" u="none" strike="noStrike" cap="none">
                <a:solidFill>
                  <a:schemeClr val="lt1"/>
                </a:solidFill>
                <a:latin typeface="Calibri"/>
                <a:ea typeface="Calibri"/>
                <a:cs typeface="Calibri"/>
                <a:sym typeface="Calibri"/>
              </a:rPr>
              <a:t>‹#›</a:t>
            </a:fld>
            <a:endParaRPr sz="600" b="0" i="0" u="none" strike="noStrike" cap="none">
              <a:solidFill>
                <a:schemeClr val="lt1"/>
              </a:solidFill>
              <a:latin typeface="Calibri"/>
              <a:ea typeface="Calibri"/>
              <a:cs typeface="Calibri"/>
              <a:sym typeface="Calibri"/>
            </a:endParaRPr>
          </a:p>
        </p:txBody>
      </p:sp>
      <p:sp>
        <p:nvSpPr>
          <p:cNvPr id="122" name="Google Shape;122;p10"/>
          <p:cNvSpPr txBox="1">
            <a:spLocks noGrp="1"/>
          </p:cNvSpPr>
          <p:nvPr>
            <p:ph type="title"/>
          </p:nvPr>
        </p:nvSpPr>
        <p:spPr>
          <a:xfrm>
            <a:off x="469901" y="1728217"/>
            <a:ext cx="11264900" cy="1592403"/>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SzPts val="1400"/>
              <a:buNone/>
              <a:defRPr sz="3600" b="1">
                <a:solidFill>
                  <a:schemeClr val="lt1"/>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0"/>
          <p:cNvSpPr txBox="1">
            <a:spLocks noGrp="1"/>
          </p:cNvSpPr>
          <p:nvPr>
            <p:ph type="body" idx="1"/>
          </p:nvPr>
        </p:nvSpPr>
        <p:spPr>
          <a:xfrm>
            <a:off x="469901" y="3474720"/>
            <a:ext cx="11264900" cy="1566532"/>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lt1"/>
              </a:buClr>
              <a:buSzPts val="3600"/>
              <a:buFont typeface="Calibri"/>
              <a:buNone/>
              <a:defRPr sz="3600">
                <a:solidFill>
                  <a:schemeClr val="lt1"/>
                </a:solidFill>
              </a:defRPr>
            </a:lvl1pPr>
            <a:lvl2pPr marL="914400" lvl="1" indent="-228600" algn="l">
              <a:spcBef>
                <a:spcPts val="0"/>
              </a:spcBef>
              <a:spcAft>
                <a:spcPts val="0"/>
              </a:spcAft>
              <a:buClr>
                <a:srgbClr val="888888"/>
              </a:buClr>
              <a:buSzPts val="2000"/>
              <a:buNone/>
              <a:defRPr sz="2000">
                <a:solidFill>
                  <a:srgbClr val="888888"/>
                </a:solidFill>
              </a:defRPr>
            </a:lvl2pPr>
            <a:lvl3pPr marL="1371600" lvl="2" indent="-228600" algn="l">
              <a:spcBef>
                <a:spcPts val="750"/>
              </a:spcBef>
              <a:spcAft>
                <a:spcPts val="0"/>
              </a:spcAft>
              <a:buClr>
                <a:srgbClr val="888888"/>
              </a:buClr>
              <a:buSzPts val="1800"/>
              <a:buNone/>
              <a:defRPr sz="1800">
                <a:solidFill>
                  <a:srgbClr val="888888"/>
                </a:solidFill>
              </a:defRPr>
            </a:lvl3pPr>
            <a:lvl4pPr marL="1828800" lvl="3" indent="-228600" algn="l">
              <a:spcBef>
                <a:spcPts val="750"/>
              </a:spcBef>
              <a:spcAft>
                <a:spcPts val="0"/>
              </a:spcAft>
              <a:buClr>
                <a:srgbClr val="888888"/>
              </a:buClr>
              <a:buSzPts val="1600"/>
              <a:buNone/>
              <a:defRPr sz="1600">
                <a:solidFill>
                  <a:srgbClr val="888888"/>
                </a:solidFill>
              </a:defRPr>
            </a:lvl4pPr>
            <a:lvl5pPr marL="2286000" lvl="4" indent="-228600" algn="l">
              <a:spcBef>
                <a:spcPts val="750"/>
              </a:spcBef>
              <a:spcAft>
                <a:spcPts val="0"/>
              </a:spcAft>
              <a:buClr>
                <a:srgbClr val="888888"/>
              </a:buClr>
              <a:buSzPts val="1600"/>
              <a:buNone/>
              <a:defRPr sz="1600">
                <a:solidFill>
                  <a:srgbClr val="888888"/>
                </a:solidFill>
              </a:defRPr>
            </a:lvl5pPr>
            <a:lvl6pPr marL="2743200" lvl="5" indent="-228600" algn="l">
              <a:spcBef>
                <a:spcPts val="750"/>
              </a:spcBef>
              <a:spcAft>
                <a:spcPts val="0"/>
              </a:spcAft>
              <a:buClr>
                <a:srgbClr val="888888"/>
              </a:buClr>
              <a:buSzPts val="1600"/>
              <a:buNone/>
              <a:defRPr sz="1600">
                <a:solidFill>
                  <a:srgbClr val="888888"/>
                </a:solidFill>
              </a:defRPr>
            </a:lvl6pPr>
            <a:lvl7pPr marL="3200400" lvl="6" indent="-228600" algn="l">
              <a:spcBef>
                <a:spcPts val="750"/>
              </a:spcBef>
              <a:spcAft>
                <a:spcPts val="0"/>
              </a:spcAft>
              <a:buClr>
                <a:srgbClr val="888888"/>
              </a:buClr>
              <a:buSzPts val="1600"/>
              <a:buNone/>
              <a:defRPr sz="1600">
                <a:solidFill>
                  <a:srgbClr val="888888"/>
                </a:solidFill>
              </a:defRPr>
            </a:lvl7pPr>
            <a:lvl8pPr marL="3657600" lvl="7" indent="-228600" algn="l">
              <a:spcBef>
                <a:spcPts val="750"/>
              </a:spcBef>
              <a:spcAft>
                <a:spcPts val="0"/>
              </a:spcAft>
              <a:buClr>
                <a:srgbClr val="888888"/>
              </a:buClr>
              <a:buSzPts val="1600"/>
              <a:buNone/>
              <a:defRPr sz="1600">
                <a:solidFill>
                  <a:srgbClr val="888888"/>
                </a:solidFill>
              </a:defRPr>
            </a:lvl8pPr>
            <a:lvl9pPr marL="4114800" lvl="8" indent="-228600" algn="l">
              <a:spcBef>
                <a:spcPts val="750"/>
              </a:spcBef>
              <a:spcAft>
                <a:spcPts val="750"/>
              </a:spcAft>
              <a:buClr>
                <a:srgbClr val="888888"/>
              </a:buClr>
              <a:buSzPts val="1600"/>
              <a:buNone/>
              <a:defRPr sz="1600">
                <a:solidFill>
                  <a:srgbClr val="888888"/>
                </a:solidFill>
              </a:defRPr>
            </a:lvl9pPr>
          </a:lstStyle>
          <a:p>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Divider - Deloitte green accent 1">
  <p:cSld name="Divider - Deloitte green accent 1">
    <p:bg>
      <p:bgPr>
        <a:solidFill>
          <a:schemeClr val="accent1"/>
        </a:solidFill>
        <a:effectLst/>
      </p:bgPr>
    </p:bg>
    <p:spTree>
      <p:nvGrpSpPr>
        <p:cNvPr id="1" name="Shape 124"/>
        <p:cNvGrpSpPr/>
        <p:nvPr/>
      </p:nvGrpSpPr>
      <p:grpSpPr>
        <a:xfrm>
          <a:off x="0" y="0"/>
          <a:ext cx="0" cy="0"/>
          <a:chOff x="0" y="0"/>
          <a:chExt cx="0" cy="0"/>
        </a:xfrm>
      </p:grpSpPr>
      <p:sp>
        <p:nvSpPr>
          <p:cNvPr id="125" name="Google Shape;125;p11"/>
          <p:cNvSpPr txBox="1"/>
          <p:nvPr/>
        </p:nvSpPr>
        <p:spPr>
          <a:xfrm>
            <a:off x="501650" y="6519863"/>
            <a:ext cx="5354638" cy="20796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lt1"/>
              </a:buClr>
              <a:buSzPts val="675"/>
              <a:buFont typeface="Arial"/>
              <a:buNone/>
            </a:pPr>
            <a:r>
              <a:rPr lang="en-IN" sz="675" b="0" i="0" u="none" strike="noStrike" cap="none">
                <a:solidFill>
                  <a:schemeClr val="lt1"/>
                </a:solidFill>
                <a:latin typeface="Calibri"/>
                <a:ea typeface="Calibri"/>
                <a:cs typeface="Calibri"/>
                <a:sym typeface="Calibri"/>
              </a:rPr>
              <a:t>Member firms and DTTL: Insert appropriate copyright</a:t>
            </a:r>
            <a:br>
              <a:rPr lang="en-IN" sz="675" b="0" i="0" u="none" strike="noStrike" cap="none">
                <a:solidFill>
                  <a:schemeClr val="lt1"/>
                </a:solidFill>
                <a:latin typeface="Calibri"/>
                <a:ea typeface="Calibri"/>
                <a:cs typeface="Calibri"/>
                <a:sym typeface="Calibri"/>
              </a:rPr>
            </a:br>
            <a:r>
              <a:rPr lang="en-IN" sz="675" b="0" i="0" u="none" strike="noStrike" cap="none">
                <a:solidFill>
                  <a:schemeClr val="lt1"/>
                </a:solidFill>
                <a:latin typeface="Calibri"/>
                <a:ea typeface="Calibri"/>
                <a:cs typeface="Calibri"/>
                <a:sym typeface="Calibri"/>
              </a:rPr>
              <a:t>[To edit, click View &gt; Slide Master &gt; Slide Master]</a:t>
            </a:r>
            <a:endParaRPr/>
          </a:p>
        </p:txBody>
      </p:sp>
      <p:sp>
        <p:nvSpPr>
          <p:cNvPr id="126" name="Google Shape;126;p11"/>
          <p:cNvSpPr txBox="1"/>
          <p:nvPr/>
        </p:nvSpPr>
        <p:spPr>
          <a:xfrm>
            <a:off x="6335713" y="6519863"/>
            <a:ext cx="4895850" cy="207962"/>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lt1"/>
              </a:buClr>
              <a:buSzPts val="675"/>
              <a:buFont typeface="Arial"/>
              <a:buNone/>
            </a:pPr>
            <a:r>
              <a:rPr lang="en-IN" sz="675" b="0" i="0" u="none" strike="noStrike" cap="none">
                <a:solidFill>
                  <a:schemeClr val="lt1"/>
                </a:solidFill>
                <a:latin typeface="Calibri"/>
                <a:ea typeface="Calibri"/>
                <a:cs typeface="Calibri"/>
                <a:sym typeface="Calibri"/>
              </a:rPr>
              <a:t>Presentation title</a:t>
            </a:r>
            <a:br>
              <a:rPr lang="en-IN" sz="675" b="0" i="0" u="none" strike="noStrike" cap="none">
                <a:solidFill>
                  <a:schemeClr val="lt1"/>
                </a:solidFill>
                <a:latin typeface="Calibri"/>
                <a:ea typeface="Calibri"/>
                <a:cs typeface="Calibri"/>
                <a:sym typeface="Calibri"/>
              </a:rPr>
            </a:br>
            <a:r>
              <a:rPr lang="en-IN" sz="675" b="0" i="0" u="none" strike="noStrike" cap="none">
                <a:solidFill>
                  <a:schemeClr val="lt1"/>
                </a:solidFill>
                <a:latin typeface="Calibri"/>
                <a:ea typeface="Calibri"/>
                <a:cs typeface="Calibri"/>
                <a:sym typeface="Calibri"/>
              </a:rPr>
              <a:t>[To edit, click View &gt; Slide Master &gt; Slide Master]</a:t>
            </a:r>
            <a:endParaRPr/>
          </a:p>
        </p:txBody>
      </p:sp>
      <p:sp>
        <p:nvSpPr>
          <p:cNvPr id="127" name="Google Shape;127;p11"/>
          <p:cNvSpPr txBox="1"/>
          <p:nvPr/>
        </p:nvSpPr>
        <p:spPr>
          <a:xfrm>
            <a:off x="11426825" y="6519863"/>
            <a:ext cx="307975" cy="10318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lt1"/>
              </a:buClr>
              <a:buSzPts val="600"/>
              <a:buFont typeface="Arial"/>
              <a:buNone/>
            </a:pPr>
            <a:fld id="{00000000-1234-1234-1234-123412341234}" type="slidenum">
              <a:rPr lang="en-IN" sz="600" b="0" i="0" u="none" strike="noStrike" cap="none">
                <a:solidFill>
                  <a:schemeClr val="lt1"/>
                </a:solidFill>
                <a:latin typeface="Calibri"/>
                <a:ea typeface="Calibri"/>
                <a:cs typeface="Calibri"/>
                <a:sym typeface="Calibri"/>
              </a:rPr>
              <a:t>‹#›</a:t>
            </a:fld>
            <a:endParaRPr sz="600" b="0" i="0" u="none" strike="noStrike" cap="none">
              <a:solidFill>
                <a:schemeClr val="lt1"/>
              </a:solidFill>
              <a:latin typeface="Calibri"/>
              <a:ea typeface="Calibri"/>
              <a:cs typeface="Calibri"/>
              <a:sym typeface="Calibri"/>
            </a:endParaRPr>
          </a:p>
        </p:txBody>
      </p:sp>
      <p:sp>
        <p:nvSpPr>
          <p:cNvPr id="128" name="Google Shape;128;p11"/>
          <p:cNvSpPr txBox="1">
            <a:spLocks noGrp="1"/>
          </p:cNvSpPr>
          <p:nvPr>
            <p:ph type="title"/>
          </p:nvPr>
        </p:nvSpPr>
        <p:spPr>
          <a:xfrm>
            <a:off x="463296" y="1728217"/>
            <a:ext cx="11271504" cy="1592403"/>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SzPts val="1400"/>
              <a:buNone/>
              <a:defRPr sz="3600" b="1">
                <a:solidFill>
                  <a:schemeClr val="lt1"/>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11"/>
          <p:cNvSpPr txBox="1">
            <a:spLocks noGrp="1"/>
          </p:cNvSpPr>
          <p:nvPr>
            <p:ph type="body" idx="1"/>
          </p:nvPr>
        </p:nvSpPr>
        <p:spPr>
          <a:xfrm>
            <a:off x="463296" y="3474720"/>
            <a:ext cx="11271504" cy="1566532"/>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lt1"/>
              </a:buClr>
              <a:buSzPts val="3600"/>
              <a:buFont typeface="Calibri"/>
              <a:buNone/>
              <a:defRPr sz="3600">
                <a:solidFill>
                  <a:schemeClr val="lt1"/>
                </a:solidFill>
              </a:defRPr>
            </a:lvl1pPr>
            <a:lvl2pPr marL="914400" lvl="1" indent="-228600" algn="l">
              <a:spcBef>
                <a:spcPts val="0"/>
              </a:spcBef>
              <a:spcAft>
                <a:spcPts val="0"/>
              </a:spcAft>
              <a:buClr>
                <a:srgbClr val="888888"/>
              </a:buClr>
              <a:buSzPts val="2000"/>
              <a:buNone/>
              <a:defRPr sz="2000">
                <a:solidFill>
                  <a:srgbClr val="888888"/>
                </a:solidFill>
              </a:defRPr>
            </a:lvl2pPr>
            <a:lvl3pPr marL="1371600" lvl="2" indent="-228600" algn="l">
              <a:spcBef>
                <a:spcPts val="750"/>
              </a:spcBef>
              <a:spcAft>
                <a:spcPts val="0"/>
              </a:spcAft>
              <a:buClr>
                <a:srgbClr val="888888"/>
              </a:buClr>
              <a:buSzPts val="1800"/>
              <a:buNone/>
              <a:defRPr sz="1800">
                <a:solidFill>
                  <a:srgbClr val="888888"/>
                </a:solidFill>
              </a:defRPr>
            </a:lvl3pPr>
            <a:lvl4pPr marL="1828800" lvl="3" indent="-228600" algn="l">
              <a:spcBef>
                <a:spcPts val="750"/>
              </a:spcBef>
              <a:spcAft>
                <a:spcPts val="0"/>
              </a:spcAft>
              <a:buClr>
                <a:srgbClr val="888888"/>
              </a:buClr>
              <a:buSzPts val="1600"/>
              <a:buNone/>
              <a:defRPr sz="1600">
                <a:solidFill>
                  <a:srgbClr val="888888"/>
                </a:solidFill>
              </a:defRPr>
            </a:lvl4pPr>
            <a:lvl5pPr marL="2286000" lvl="4" indent="-228600" algn="l">
              <a:spcBef>
                <a:spcPts val="750"/>
              </a:spcBef>
              <a:spcAft>
                <a:spcPts val="0"/>
              </a:spcAft>
              <a:buClr>
                <a:srgbClr val="888888"/>
              </a:buClr>
              <a:buSzPts val="1600"/>
              <a:buNone/>
              <a:defRPr sz="1600">
                <a:solidFill>
                  <a:srgbClr val="888888"/>
                </a:solidFill>
              </a:defRPr>
            </a:lvl5pPr>
            <a:lvl6pPr marL="2743200" lvl="5" indent="-228600" algn="l">
              <a:spcBef>
                <a:spcPts val="750"/>
              </a:spcBef>
              <a:spcAft>
                <a:spcPts val="0"/>
              </a:spcAft>
              <a:buClr>
                <a:srgbClr val="888888"/>
              </a:buClr>
              <a:buSzPts val="1600"/>
              <a:buNone/>
              <a:defRPr sz="1600">
                <a:solidFill>
                  <a:srgbClr val="888888"/>
                </a:solidFill>
              </a:defRPr>
            </a:lvl6pPr>
            <a:lvl7pPr marL="3200400" lvl="6" indent="-228600" algn="l">
              <a:spcBef>
                <a:spcPts val="750"/>
              </a:spcBef>
              <a:spcAft>
                <a:spcPts val="0"/>
              </a:spcAft>
              <a:buClr>
                <a:srgbClr val="888888"/>
              </a:buClr>
              <a:buSzPts val="1600"/>
              <a:buNone/>
              <a:defRPr sz="1600">
                <a:solidFill>
                  <a:srgbClr val="888888"/>
                </a:solidFill>
              </a:defRPr>
            </a:lvl7pPr>
            <a:lvl8pPr marL="3657600" lvl="7" indent="-228600" algn="l">
              <a:spcBef>
                <a:spcPts val="750"/>
              </a:spcBef>
              <a:spcAft>
                <a:spcPts val="0"/>
              </a:spcAft>
              <a:buClr>
                <a:srgbClr val="888888"/>
              </a:buClr>
              <a:buSzPts val="1600"/>
              <a:buNone/>
              <a:defRPr sz="1600">
                <a:solidFill>
                  <a:srgbClr val="888888"/>
                </a:solidFill>
              </a:defRPr>
            </a:lvl8pPr>
            <a:lvl9pPr marL="4114800" lvl="8" indent="-228600" algn="l">
              <a:spcBef>
                <a:spcPts val="750"/>
              </a:spcBef>
              <a:spcAft>
                <a:spcPts val="750"/>
              </a:spcAft>
              <a:buClr>
                <a:srgbClr val="888888"/>
              </a:buClr>
              <a:buSzPts val="1600"/>
              <a:buNone/>
              <a:defRPr sz="1600">
                <a:solidFill>
                  <a:srgbClr val="888888"/>
                </a:solidFill>
              </a:defRPr>
            </a:lvl9pPr>
          </a:lstStyle>
          <a:p>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Divider - Deloitte green accent 2">
  <p:cSld name="Divider - Deloitte green accent 2">
    <p:bg>
      <p:bgPr>
        <a:solidFill>
          <a:schemeClr val="accent2"/>
        </a:solidFill>
        <a:effectLst/>
      </p:bgPr>
    </p:bg>
    <p:spTree>
      <p:nvGrpSpPr>
        <p:cNvPr id="1" name="Shape 130"/>
        <p:cNvGrpSpPr/>
        <p:nvPr/>
      </p:nvGrpSpPr>
      <p:grpSpPr>
        <a:xfrm>
          <a:off x="0" y="0"/>
          <a:ext cx="0" cy="0"/>
          <a:chOff x="0" y="0"/>
          <a:chExt cx="0" cy="0"/>
        </a:xfrm>
      </p:grpSpPr>
      <p:sp>
        <p:nvSpPr>
          <p:cNvPr id="131" name="Google Shape;131;p12"/>
          <p:cNvSpPr txBox="1"/>
          <p:nvPr/>
        </p:nvSpPr>
        <p:spPr>
          <a:xfrm>
            <a:off x="501650" y="6519863"/>
            <a:ext cx="5354638" cy="20796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lt1"/>
              </a:buClr>
              <a:buSzPts val="675"/>
              <a:buFont typeface="Arial"/>
              <a:buNone/>
            </a:pPr>
            <a:r>
              <a:rPr lang="en-IN" sz="675" b="0" i="0" u="none" strike="noStrike" cap="none">
                <a:solidFill>
                  <a:schemeClr val="lt1"/>
                </a:solidFill>
                <a:latin typeface="Calibri"/>
                <a:ea typeface="Calibri"/>
                <a:cs typeface="Calibri"/>
                <a:sym typeface="Calibri"/>
              </a:rPr>
              <a:t>Member firms and DTTL: Insert appropriate copyright</a:t>
            </a:r>
            <a:br>
              <a:rPr lang="en-IN" sz="675" b="0" i="0" u="none" strike="noStrike" cap="none">
                <a:solidFill>
                  <a:schemeClr val="lt1"/>
                </a:solidFill>
                <a:latin typeface="Calibri"/>
                <a:ea typeface="Calibri"/>
                <a:cs typeface="Calibri"/>
                <a:sym typeface="Calibri"/>
              </a:rPr>
            </a:br>
            <a:r>
              <a:rPr lang="en-IN" sz="675" b="0" i="0" u="none" strike="noStrike" cap="none">
                <a:solidFill>
                  <a:schemeClr val="lt1"/>
                </a:solidFill>
                <a:latin typeface="Calibri"/>
                <a:ea typeface="Calibri"/>
                <a:cs typeface="Calibri"/>
                <a:sym typeface="Calibri"/>
              </a:rPr>
              <a:t>[To edit, click View &gt; Slide Master &gt; Slide Master]</a:t>
            </a:r>
            <a:endParaRPr/>
          </a:p>
        </p:txBody>
      </p:sp>
      <p:sp>
        <p:nvSpPr>
          <p:cNvPr id="132" name="Google Shape;132;p12"/>
          <p:cNvSpPr txBox="1"/>
          <p:nvPr/>
        </p:nvSpPr>
        <p:spPr>
          <a:xfrm>
            <a:off x="6335713" y="6519863"/>
            <a:ext cx="4895850" cy="207962"/>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lt1"/>
              </a:buClr>
              <a:buSzPts val="675"/>
              <a:buFont typeface="Arial"/>
              <a:buNone/>
            </a:pPr>
            <a:r>
              <a:rPr lang="en-IN" sz="675" b="0" i="0" u="none" strike="noStrike" cap="none">
                <a:solidFill>
                  <a:schemeClr val="lt1"/>
                </a:solidFill>
                <a:latin typeface="Calibri"/>
                <a:ea typeface="Calibri"/>
                <a:cs typeface="Calibri"/>
                <a:sym typeface="Calibri"/>
              </a:rPr>
              <a:t>Presentation title</a:t>
            </a:r>
            <a:br>
              <a:rPr lang="en-IN" sz="675" b="0" i="0" u="none" strike="noStrike" cap="none">
                <a:solidFill>
                  <a:schemeClr val="lt1"/>
                </a:solidFill>
                <a:latin typeface="Calibri"/>
                <a:ea typeface="Calibri"/>
                <a:cs typeface="Calibri"/>
                <a:sym typeface="Calibri"/>
              </a:rPr>
            </a:br>
            <a:r>
              <a:rPr lang="en-IN" sz="675" b="0" i="0" u="none" strike="noStrike" cap="none">
                <a:solidFill>
                  <a:schemeClr val="lt1"/>
                </a:solidFill>
                <a:latin typeface="Calibri"/>
                <a:ea typeface="Calibri"/>
                <a:cs typeface="Calibri"/>
                <a:sym typeface="Calibri"/>
              </a:rPr>
              <a:t>[To edit, click View &gt; Slide Master &gt; Slide Master]</a:t>
            </a:r>
            <a:endParaRPr/>
          </a:p>
        </p:txBody>
      </p:sp>
      <p:sp>
        <p:nvSpPr>
          <p:cNvPr id="133" name="Google Shape;133;p12"/>
          <p:cNvSpPr txBox="1"/>
          <p:nvPr/>
        </p:nvSpPr>
        <p:spPr>
          <a:xfrm>
            <a:off x="11426825" y="6519863"/>
            <a:ext cx="307975" cy="10318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lt1"/>
              </a:buClr>
              <a:buSzPts val="600"/>
              <a:buFont typeface="Arial"/>
              <a:buNone/>
            </a:pPr>
            <a:fld id="{00000000-1234-1234-1234-123412341234}" type="slidenum">
              <a:rPr lang="en-IN" sz="600" b="0" i="0" u="none" strike="noStrike" cap="none">
                <a:solidFill>
                  <a:schemeClr val="lt1"/>
                </a:solidFill>
                <a:latin typeface="Calibri"/>
                <a:ea typeface="Calibri"/>
                <a:cs typeface="Calibri"/>
                <a:sym typeface="Calibri"/>
              </a:rPr>
              <a:t>‹#›</a:t>
            </a:fld>
            <a:endParaRPr sz="600" b="0" i="0" u="none" strike="noStrike" cap="none">
              <a:solidFill>
                <a:schemeClr val="lt1"/>
              </a:solidFill>
              <a:latin typeface="Calibri"/>
              <a:ea typeface="Calibri"/>
              <a:cs typeface="Calibri"/>
              <a:sym typeface="Calibri"/>
            </a:endParaRPr>
          </a:p>
        </p:txBody>
      </p:sp>
      <p:sp>
        <p:nvSpPr>
          <p:cNvPr id="134" name="Google Shape;134;p12"/>
          <p:cNvSpPr txBox="1">
            <a:spLocks noGrp="1"/>
          </p:cNvSpPr>
          <p:nvPr>
            <p:ph type="title"/>
          </p:nvPr>
        </p:nvSpPr>
        <p:spPr>
          <a:xfrm>
            <a:off x="463296" y="1728217"/>
            <a:ext cx="11227056" cy="1592403"/>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SzPts val="1400"/>
              <a:buNone/>
              <a:defRPr sz="3600" b="1">
                <a:solidFill>
                  <a:schemeClr val="lt1"/>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12"/>
          <p:cNvSpPr txBox="1">
            <a:spLocks noGrp="1"/>
          </p:cNvSpPr>
          <p:nvPr>
            <p:ph type="body" idx="1"/>
          </p:nvPr>
        </p:nvSpPr>
        <p:spPr>
          <a:xfrm>
            <a:off x="463296" y="3474720"/>
            <a:ext cx="11227056" cy="1566532"/>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lt1"/>
              </a:buClr>
              <a:buSzPts val="3600"/>
              <a:buFont typeface="Calibri"/>
              <a:buNone/>
              <a:defRPr sz="3600">
                <a:solidFill>
                  <a:schemeClr val="lt1"/>
                </a:solidFill>
              </a:defRPr>
            </a:lvl1pPr>
            <a:lvl2pPr marL="914400" lvl="1" indent="-228600" algn="l">
              <a:spcBef>
                <a:spcPts val="0"/>
              </a:spcBef>
              <a:spcAft>
                <a:spcPts val="0"/>
              </a:spcAft>
              <a:buClr>
                <a:srgbClr val="888888"/>
              </a:buClr>
              <a:buSzPts val="2000"/>
              <a:buNone/>
              <a:defRPr sz="2000">
                <a:solidFill>
                  <a:srgbClr val="888888"/>
                </a:solidFill>
              </a:defRPr>
            </a:lvl2pPr>
            <a:lvl3pPr marL="1371600" lvl="2" indent="-228600" algn="l">
              <a:spcBef>
                <a:spcPts val="750"/>
              </a:spcBef>
              <a:spcAft>
                <a:spcPts val="0"/>
              </a:spcAft>
              <a:buClr>
                <a:srgbClr val="888888"/>
              </a:buClr>
              <a:buSzPts val="1800"/>
              <a:buNone/>
              <a:defRPr sz="1800">
                <a:solidFill>
                  <a:srgbClr val="888888"/>
                </a:solidFill>
              </a:defRPr>
            </a:lvl3pPr>
            <a:lvl4pPr marL="1828800" lvl="3" indent="-228600" algn="l">
              <a:spcBef>
                <a:spcPts val="750"/>
              </a:spcBef>
              <a:spcAft>
                <a:spcPts val="0"/>
              </a:spcAft>
              <a:buClr>
                <a:srgbClr val="888888"/>
              </a:buClr>
              <a:buSzPts val="1600"/>
              <a:buNone/>
              <a:defRPr sz="1600">
                <a:solidFill>
                  <a:srgbClr val="888888"/>
                </a:solidFill>
              </a:defRPr>
            </a:lvl4pPr>
            <a:lvl5pPr marL="2286000" lvl="4" indent="-228600" algn="l">
              <a:spcBef>
                <a:spcPts val="750"/>
              </a:spcBef>
              <a:spcAft>
                <a:spcPts val="0"/>
              </a:spcAft>
              <a:buClr>
                <a:srgbClr val="888888"/>
              </a:buClr>
              <a:buSzPts val="1600"/>
              <a:buNone/>
              <a:defRPr sz="1600">
                <a:solidFill>
                  <a:srgbClr val="888888"/>
                </a:solidFill>
              </a:defRPr>
            </a:lvl5pPr>
            <a:lvl6pPr marL="2743200" lvl="5" indent="-228600" algn="l">
              <a:spcBef>
                <a:spcPts val="750"/>
              </a:spcBef>
              <a:spcAft>
                <a:spcPts val="0"/>
              </a:spcAft>
              <a:buClr>
                <a:srgbClr val="888888"/>
              </a:buClr>
              <a:buSzPts val="1600"/>
              <a:buNone/>
              <a:defRPr sz="1600">
                <a:solidFill>
                  <a:srgbClr val="888888"/>
                </a:solidFill>
              </a:defRPr>
            </a:lvl6pPr>
            <a:lvl7pPr marL="3200400" lvl="6" indent="-228600" algn="l">
              <a:spcBef>
                <a:spcPts val="750"/>
              </a:spcBef>
              <a:spcAft>
                <a:spcPts val="0"/>
              </a:spcAft>
              <a:buClr>
                <a:srgbClr val="888888"/>
              </a:buClr>
              <a:buSzPts val="1600"/>
              <a:buNone/>
              <a:defRPr sz="1600">
                <a:solidFill>
                  <a:srgbClr val="888888"/>
                </a:solidFill>
              </a:defRPr>
            </a:lvl7pPr>
            <a:lvl8pPr marL="3657600" lvl="7" indent="-228600" algn="l">
              <a:spcBef>
                <a:spcPts val="750"/>
              </a:spcBef>
              <a:spcAft>
                <a:spcPts val="0"/>
              </a:spcAft>
              <a:buClr>
                <a:srgbClr val="888888"/>
              </a:buClr>
              <a:buSzPts val="1600"/>
              <a:buNone/>
              <a:defRPr sz="1600">
                <a:solidFill>
                  <a:srgbClr val="888888"/>
                </a:solidFill>
              </a:defRPr>
            </a:lvl8pPr>
            <a:lvl9pPr marL="4114800" lvl="8" indent="-228600" algn="l">
              <a:spcBef>
                <a:spcPts val="750"/>
              </a:spcBef>
              <a:spcAft>
                <a:spcPts val="750"/>
              </a:spcAft>
              <a:buClr>
                <a:srgbClr val="888888"/>
              </a:buClr>
              <a:buSzPts val="1600"/>
              <a:buNone/>
              <a:defRPr sz="1600">
                <a:solidFill>
                  <a:srgbClr val="888888"/>
                </a:solidFill>
              </a:defRPr>
            </a:lvl9pPr>
          </a:lstStyle>
          <a:p>
            <a:endParaRP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Divider - Deloitte green accent 3">
  <p:cSld name="Divider - Deloitte green accent 3">
    <p:bg>
      <p:bgPr>
        <a:solidFill>
          <a:srgbClr val="26890D"/>
        </a:solidFill>
        <a:effectLst/>
      </p:bgPr>
    </p:bg>
    <p:spTree>
      <p:nvGrpSpPr>
        <p:cNvPr id="1" name="Shape 136"/>
        <p:cNvGrpSpPr/>
        <p:nvPr/>
      </p:nvGrpSpPr>
      <p:grpSpPr>
        <a:xfrm>
          <a:off x="0" y="0"/>
          <a:ext cx="0" cy="0"/>
          <a:chOff x="0" y="0"/>
          <a:chExt cx="0" cy="0"/>
        </a:xfrm>
      </p:grpSpPr>
      <p:sp>
        <p:nvSpPr>
          <p:cNvPr id="137" name="Google Shape;137;p13"/>
          <p:cNvSpPr txBox="1"/>
          <p:nvPr/>
        </p:nvSpPr>
        <p:spPr>
          <a:xfrm>
            <a:off x="501650" y="6519863"/>
            <a:ext cx="5354638" cy="20796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lt1"/>
              </a:buClr>
              <a:buSzPts val="675"/>
              <a:buFont typeface="Arial"/>
              <a:buNone/>
            </a:pPr>
            <a:r>
              <a:rPr lang="en-IN" sz="675" b="0" i="0" u="none" strike="noStrike" cap="none">
                <a:solidFill>
                  <a:schemeClr val="lt1"/>
                </a:solidFill>
                <a:latin typeface="Calibri"/>
                <a:ea typeface="Calibri"/>
                <a:cs typeface="Calibri"/>
                <a:sym typeface="Calibri"/>
              </a:rPr>
              <a:t>Member firms and DTTL: Insert appropriate copyright</a:t>
            </a:r>
            <a:br>
              <a:rPr lang="en-IN" sz="675" b="0" i="0" u="none" strike="noStrike" cap="none">
                <a:solidFill>
                  <a:schemeClr val="lt1"/>
                </a:solidFill>
                <a:latin typeface="Calibri"/>
                <a:ea typeface="Calibri"/>
                <a:cs typeface="Calibri"/>
                <a:sym typeface="Calibri"/>
              </a:rPr>
            </a:br>
            <a:r>
              <a:rPr lang="en-IN" sz="675" b="0" i="0" u="none" strike="noStrike" cap="none">
                <a:solidFill>
                  <a:schemeClr val="lt1"/>
                </a:solidFill>
                <a:latin typeface="Calibri"/>
                <a:ea typeface="Calibri"/>
                <a:cs typeface="Calibri"/>
                <a:sym typeface="Calibri"/>
              </a:rPr>
              <a:t>[To edit, click View &gt; Slide Master &gt; Slide Master]</a:t>
            </a:r>
            <a:endParaRPr/>
          </a:p>
        </p:txBody>
      </p:sp>
      <p:sp>
        <p:nvSpPr>
          <p:cNvPr id="138" name="Google Shape;138;p13"/>
          <p:cNvSpPr txBox="1"/>
          <p:nvPr/>
        </p:nvSpPr>
        <p:spPr>
          <a:xfrm>
            <a:off x="6335713" y="6519863"/>
            <a:ext cx="4895850" cy="207962"/>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lt1"/>
              </a:buClr>
              <a:buSzPts val="675"/>
              <a:buFont typeface="Arial"/>
              <a:buNone/>
            </a:pPr>
            <a:r>
              <a:rPr lang="en-IN" sz="675" b="0" i="0" u="none" strike="noStrike" cap="none">
                <a:solidFill>
                  <a:schemeClr val="lt1"/>
                </a:solidFill>
                <a:latin typeface="Calibri"/>
                <a:ea typeface="Calibri"/>
                <a:cs typeface="Calibri"/>
                <a:sym typeface="Calibri"/>
              </a:rPr>
              <a:t>Presentation title</a:t>
            </a:r>
            <a:br>
              <a:rPr lang="en-IN" sz="675" b="0" i="0" u="none" strike="noStrike" cap="none">
                <a:solidFill>
                  <a:schemeClr val="lt1"/>
                </a:solidFill>
                <a:latin typeface="Calibri"/>
                <a:ea typeface="Calibri"/>
                <a:cs typeface="Calibri"/>
                <a:sym typeface="Calibri"/>
              </a:rPr>
            </a:br>
            <a:r>
              <a:rPr lang="en-IN" sz="675" b="0" i="0" u="none" strike="noStrike" cap="none">
                <a:solidFill>
                  <a:schemeClr val="lt1"/>
                </a:solidFill>
                <a:latin typeface="Calibri"/>
                <a:ea typeface="Calibri"/>
                <a:cs typeface="Calibri"/>
                <a:sym typeface="Calibri"/>
              </a:rPr>
              <a:t>[To edit, click View &gt; Slide Master &gt; Slide Master]</a:t>
            </a:r>
            <a:endParaRPr/>
          </a:p>
        </p:txBody>
      </p:sp>
      <p:sp>
        <p:nvSpPr>
          <p:cNvPr id="139" name="Google Shape;139;p13"/>
          <p:cNvSpPr txBox="1"/>
          <p:nvPr/>
        </p:nvSpPr>
        <p:spPr>
          <a:xfrm>
            <a:off x="11426825" y="6519863"/>
            <a:ext cx="307975" cy="10318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lt1"/>
              </a:buClr>
              <a:buSzPts val="600"/>
              <a:buFont typeface="Arial"/>
              <a:buNone/>
            </a:pPr>
            <a:fld id="{00000000-1234-1234-1234-123412341234}" type="slidenum">
              <a:rPr lang="en-IN" sz="600" b="0" i="0" u="none" strike="noStrike" cap="none">
                <a:solidFill>
                  <a:schemeClr val="lt1"/>
                </a:solidFill>
                <a:latin typeface="Calibri"/>
                <a:ea typeface="Calibri"/>
                <a:cs typeface="Calibri"/>
                <a:sym typeface="Calibri"/>
              </a:rPr>
              <a:t>‹#›</a:t>
            </a:fld>
            <a:endParaRPr sz="600" b="0" i="0" u="none" strike="noStrike" cap="none">
              <a:solidFill>
                <a:schemeClr val="lt1"/>
              </a:solidFill>
              <a:latin typeface="Calibri"/>
              <a:ea typeface="Calibri"/>
              <a:cs typeface="Calibri"/>
              <a:sym typeface="Calibri"/>
            </a:endParaRPr>
          </a:p>
        </p:txBody>
      </p:sp>
      <p:sp>
        <p:nvSpPr>
          <p:cNvPr id="140" name="Google Shape;140;p13"/>
          <p:cNvSpPr txBox="1">
            <a:spLocks noGrp="1"/>
          </p:cNvSpPr>
          <p:nvPr>
            <p:ph type="title"/>
          </p:nvPr>
        </p:nvSpPr>
        <p:spPr>
          <a:xfrm>
            <a:off x="463296" y="1728217"/>
            <a:ext cx="11227056" cy="1592403"/>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SzPts val="1400"/>
              <a:buNone/>
              <a:defRPr sz="3600" b="1">
                <a:solidFill>
                  <a:schemeClr val="lt1"/>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13"/>
          <p:cNvSpPr txBox="1">
            <a:spLocks noGrp="1"/>
          </p:cNvSpPr>
          <p:nvPr>
            <p:ph type="body" idx="1"/>
          </p:nvPr>
        </p:nvSpPr>
        <p:spPr>
          <a:xfrm>
            <a:off x="463296" y="3474720"/>
            <a:ext cx="11227056" cy="1566532"/>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lt1"/>
              </a:buClr>
              <a:buSzPts val="3600"/>
              <a:buFont typeface="Calibri"/>
              <a:buNone/>
              <a:defRPr sz="3600">
                <a:solidFill>
                  <a:schemeClr val="lt1"/>
                </a:solidFill>
              </a:defRPr>
            </a:lvl1pPr>
            <a:lvl2pPr marL="914400" lvl="1" indent="-228600" algn="l">
              <a:spcBef>
                <a:spcPts val="0"/>
              </a:spcBef>
              <a:spcAft>
                <a:spcPts val="0"/>
              </a:spcAft>
              <a:buClr>
                <a:srgbClr val="888888"/>
              </a:buClr>
              <a:buSzPts val="2000"/>
              <a:buNone/>
              <a:defRPr sz="2000">
                <a:solidFill>
                  <a:srgbClr val="888888"/>
                </a:solidFill>
              </a:defRPr>
            </a:lvl2pPr>
            <a:lvl3pPr marL="1371600" lvl="2" indent="-228600" algn="l">
              <a:spcBef>
                <a:spcPts val="750"/>
              </a:spcBef>
              <a:spcAft>
                <a:spcPts val="0"/>
              </a:spcAft>
              <a:buClr>
                <a:srgbClr val="888888"/>
              </a:buClr>
              <a:buSzPts val="1800"/>
              <a:buNone/>
              <a:defRPr sz="1800">
                <a:solidFill>
                  <a:srgbClr val="888888"/>
                </a:solidFill>
              </a:defRPr>
            </a:lvl3pPr>
            <a:lvl4pPr marL="1828800" lvl="3" indent="-228600" algn="l">
              <a:spcBef>
                <a:spcPts val="750"/>
              </a:spcBef>
              <a:spcAft>
                <a:spcPts val="0"/>
              </a:spcAft>
              <a:buClr>
                <a:srgbClr val="888888"/>
              </a:buClr>
              <a:buSzPts val="1600"/>
              <a:buNone/>
              <a:defRPr sz="1600">
                <a:solidFill>
                  <a:srgbClr val="888888"/>
                </a:solidFill>
              </a:defRPr>
            </a:lvl4pPr>
            <a:lvl5pPr marL="2286000" lvl="4" indent="-228600" algn="l">
              <a:spcBef>
                <a:spcPts val="750"/>
              </a:spcBef>
              <a:spcAft>
                <a:spcPts val="0"/>
              </a:spcAft>
              <a:buClr>
                <a:srgbClr val="888888"/>
              </a:buClr>
              <a:buSzPts val="1600"/>
              <a:buNone/>
              <a:defRPr sz="1600">
                <a:solidFill>
                  <a:srgbClr val="888888"/>
                </a:solidFill>
              </a:defRPr>
            </a:lvl5pPr>
            <a:lvl6pPr marL="2743200" lvl="5" indent="-228600" algn="l">
              <a:spcBef>
                <a:spcPts val="750"/>
              </a:spcBef>
              <a:spcAft>
                <a:spcPts val="0"/>
              </a:spcAft>
              <a:buClr>
                <a:srgbClr val="888888"/>
              </a:buClr>
              <a:buSzPts val="1600"/>
              <a:buNone/>
              <a:defRPr sz="1600">
                <a:solidFill>
                  <a:srgbClr val="888888"/>
                </a:solidFill>
              </a:defRPr>
            </a:lvl6pPr>
            <a:lvl7pPr marL="3200400" lvl="6" indent="-228600" algn="l">
              <a:spcBef>
                <a:spcPts val="750"/>
              </a:spcBef>
              <a:spcAft>
                <a:spcPts val="0"/>
              </a:spcAft>
              <a:buClr>
                <a:srgbClr val="888888"/>
              </a:buClr>
              <a:buSzPts val="1600"/>
              <a:buNone/>
              <a:defRPr sz="1600">
                <a:solidFill>
                  <a:srgbClr val="888888"/>
                </a:solidFill>
              </a:defRPr>
            </a:lvl7pPr>
            <a:lvl8pPr marL="3657600" lvl="7" indent="-228600" algn="l">
              <a:spcBef>
                <a:spcPts val="750"/>
              </a:spcBef>
              <a:spcAft>
                <a:spcPts val="0"/>
              </a:spcAft>
              <a:buClr>
                <a:srgbClr val="888888"/>
              </a:buClr>
              <a:buSzPts val="1600"/>
              <a:buNone/>
              <a:defRPr sz="1600">
                <a:solidFill>
                  <a:srgbClr val="888888"/>
                </a:solidFill>
              </a:defRPr>
            </a:lvl8pPr>
            <a:lvl9pPr marL="4114800" lvl="8" indent="-228600" algn="l">
              <a:spcBef>
                <a:spcPts val="750"/>
              </a:spcBef>
              <a:spcAft>
                <a:spcPts val="750"/>
              </a:spcAft>
              <a:buClr>
                <a:srgbClr val="888888"/>
              </a:buClr>
              <a:buSzPts val="1600"/>
              <a:buNone/>
              <a:defRPr sz="1600">
                <a:solidFill>
                  <a:srgbClr val="888888"/>
                </a:solidFill>
              </a:defRPr>
            </a:lvl9pPr>
          </a:lstStyle>
          <a:p>
            <a:endParaRPr/>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Key statement green accent 2">
  <p:cSld name="Key statement green accent 2">
    <p:bg>
      <p:bgPr>
        <a:solidFill>
          <a:schemeClr val="accent2"/>
        </a:solidFill>
        <a:effectLst/>
      </p:bgPr>
    </p:bg>
    <p:spTree>
      <p:nvGrpSpPr>
        <p:cNvPr id="1" name="Shape 142"/>
        <p:cNvGrpSpPr/>
        <p:nvPr/>
      </p:nvGrpSpPr>
      <p:grpSpPr>
        <a:xfrm>
          <a:off x="0" y="0"/>
          <a:ext cx="0" cy="0"/>
          <a:chOff x="0" y="0"/>
          <a:chExt cx="0" cy="0"/>
        </a:xfrm>
      </p:grpSpPr>
      <p:sp>
        <p:nvSpPr>
          <p:cNvPr id="143" name="Google Shape;143;p14"/>
          <p:cNvSpPr txBox="1"/>
          <p:nvPr/>
        </p:nvSpPr>
        <p:spPr>
          <a:xfrm>
            <a:off x="501650" y="6519863"/>
            <a:ext cx="5354638" cy="20796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lt1"/>
              </a:buClr>
              <a:buSzPts val="675"/>
              <a:buFont typeface="Arial"/>
              <a:buNone/>
            </a:pPr>
            <a:r>
              <a:rPr lang="en-IN" sz="675" b="0" i="0" u="none" strike="noStrike" cap="none">
                <a:solidFill>
                  <a:schemeClr val="lt1"/>
                </a:solidFill>
                <a:latin typeface="Calibri"/>
                <a:ea typeface="Calibri"/>
                <a:cs typeface="Calibri"/>
                <a:sym typeface="Calibri"/>
              </a:rPr>
              <a:t>Member firms and DTTL: Insert appropriate copyright</a:t>
            </a:r>
            <a:br>
              <a:rPr lang="en-IN" sz="675" b="0" i="0" u="none" strike="noStrike" cap="none">
                <a:solidFill>
                  <a:schemeClr val="lt1"/>
                </a:solidFill>
                <a:latin typeface="Calibri"/>
                <a:ea typeface="Calibri"/>
                <a:cs typeface="Calibri"/>
                <a:sym typeface="Calibri"/>
              </a:rPr>
            </a:br>
            <a:r>
              <a:rPr lang="en-IN" sz="675" b="0" i="0" u="none" strike="noStrike" cap="none">
                <a:solidFill>
                  <a:schemeClr val="lt1"/>
                </a:solidFill>
                <a:latin typeface="Calibri"/>
                <a:ea typeface="Calibri"/>
                <a:cs typeface="Calibri"/>
                <a:sym typeface="Calibri"/>
              </a:rPr>
              <a:t>[To edit, click View &gt; Slide Master &gt; Slide Master]</a:t>
            </a:r>
            <a:endParaRPr/>
          </a:p>
        </p:txBody>
      </p:sp>
      <p:sp>
        <p:nvSpPr>
          <p:cNvPr id="144" name="Google Shape;144;p14"/>
          <p:cNvSpPr txBox="1"/>
          <p:nvPr/>
        </p:nvSpPr>
        <p:spPr>
          <a:xfrm>
            <a:off x="6335713" y="6519863"/>
            <a:ext cx="4895850" cy="207962"/>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lt1"/>
              </a:buClr>
              <a:buSzPts val="675"/>
              <a:buFont typeface="Arial"/>
              <a:buNone/>
            </a:pPr>
            <a:r>
              <a:rPr lang="en-IN" sz="675" b="0" i="0" u="none" strike="noStrike" cap="none">
                <a:solidFill>
                  <a:schemeClr val="lt1"/>
                </a:solidFill>
                <a:latin typeface="Calibri"/>
                <a:ea typeface="Calibri"/>
                <a:cs typeface="Calibri"/>
                <a:sym typeface="Calibri"/>
              </a:rPr>
              <a:t>Presentation title</a:t>
            </a:r>
            <a:br>
              <a:rPr lang="en-IN" sz="675" b="0" i="0" u="none" strike="noStrike" cap="none">
                <a:solidFill>
                  <a:schemeClr val="lt1"/>
                </a:solidFill>
                <a:latin typeface="Calibri"/>
                <a:ea typeface="Calibri"/>
                <a:cs typeface="Calibri"/>
                <a:sym typeface="Calibri"/>
              </a:rPr>
            </a:br>
            <a:r>
              <a:rPr lang="en-IN" sz="675" b="0" i="0" u="none" strike="noStrike" cap="none">
                <a:solidFill>
                  <a:schemeClr val="lt1"/>
                </a:solidFill>
                <a:latin typeface="Calibri"/>
                <a:ea typeface="Calibri"/>
                <a:cs typeface="Calibri"/>
                <a:sym typeface="Calibri"/>
              </a:rPr>
              <a:t>[To edit, click View &gt; Slide Master &gt; Slide Master]</a:t>
            </a:r>
            <a:endParaRPr/>
          </a:p>
        </p:txBody>
      </p:sp>
      <p:sp>
        <p:nvSpPr>
          <p:cNvPr id="145" name="Google Shape;145;p14"/>
          <p:cNvSpPr txBox="1"/>
          <p:nvPr/>
        </p:nvSpPr>
        <p:spPr>
          <a:xfrm>
            <a:off x="11426825" y="6519863"/>
            <a:ext cx="307975" cy="10318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lt1"/>
              </a:buClr>
              <a:buSzPts val="600"/>
              <a:buFont typeface="Arial"/>
              <a:buNone/>
            </a:pPr>
            <a:fld id="{00000000-1234-1234-1234-123412341234}" type="slidenum">
              <a:rPr lang="en-IN" sz="600" b="0" i="0" u="none" strike="noStrike" cap="none">
                <a:solidFill>
                  <a:schemeClr val="lt1"/>
                </a:solidFill>
                <a:latin typeface="Calibri"/>
                <a:ea typeface="Calibri"/>
                <a:cs typeface="Calibri"/>
                <a:sym typeface="Calibri"/>
              </a:rPr>
              <a:t>‹#›</a:t>
            </a:fld>
            <a:endParaRPr sz="600" b="0" i="0" u="none" strike="noStrike" cap="none">
              <a:solidFill>
                <a:schemeClr val="lt1"/>
              </a:solidFill>
              <a:latin typeface="Calibri"/>
              <a:ea typeface="Calibri"/>
              <a:cs typeface="Calibri"/>
              <a:sym typeface="Calibri"/>
            </a:endParaRPr>
          </a:p>
        </p:txBody>
      </p:sp>
      <p:sp>
        <p:nvSpPr>
          <p:cNvPr id="146" name="Google Shape;146;p14"/>
          <p:cNvSpPr txBox="1">
            <a:spLocks noGrp="1"/>
          </p:cNvSpPr>
          <p:nvPr>
            <p:ph type="body" idx="1"/>
          </p:nvPr>
        </p:nvSpPr>
        <p:spPr>
          <a:xfrm>
            <a:off x="463297" y="1714500"/>
            <a:ext cx="9323916" cy="4648200"/>
          </a:xfrm>
          <a:prstGeom prst="rect">
            <a:avLst/>
          </a:prstGeom>
          <a:noFill/>
          <a:ln>
            <a:noFill/>
          </a:ln>
        </p:spPr>
        <p:txBody>
          <a:bodyPr spcFirstLastPara="1" wrap="square" lIns="0" tIns="0" rIns="0" bIns="0" anchor="t" anchorCtr="0">
            <a:noAutofit/>
          </a:bodyPr>
          <a:lstStyle>
            <a:lvl1pPr marL="457200" lvl="0" indent="-457200" algn="l">
              <a:spcBef>
                <a:spcPts val="3600"/>
              </a:spcBef>
              <a:spcAft>
                <a:spcPts val="0"/>
              </a:spcAft>
              <a:buClr>
                <a:schemeClr val="lt1"/>
              </a:buClr>
              <a:buSzPts val="3600"/>
              <a:buFont typeface="Calibri"/>
              <a:buChar char="•"/>
              <a:defRPr sz="3600">
                <a:solidFill>
                  <a:schemeClr val="lt1"/>
                </a:solidFill>
              </a:defRPr>
            </a:lvl1pPr>
            <a:lvl2pPr marL="914400" lvl="1" indent="-419100" algn="l">
              <a:spcBef>
                <a:spcPts val="750"/>
              </a:spcBef>
              <a:spcAft>
                <a:spcPts val="0"/>
              </a:spcAft>
              <a:buClr>
                <a:schemeClr val="lt2"/>
              </a:buClr>
              <a:buSzPts val="3000"/>
              <a:buChar char="•"/>
              <a:defRPr sz="3000">
                <a:solidFill>
                  <a:schemeClr val="lt2"/>
                </a:solidFill>
              </a:defRPr>
            </a:lvl2pPr>
            <a:lvl3pPr marL="1371600" lvl="2" indent="-419100" algn="l">
              <a:spcBef>
                <a:spcPts val="750"/>
              </a:spcBef>
              <a:spcAft>
                <a:spcPts val="0"/>
              </a:spcAft>
              <a:buClr>
                <a:schemeClr val="lt2"/>
              </a:buClr>
              <a:buSzPts val="3000"/>
              <a:buChar char="−"/>
              <a:defRPr sz="3000">
                <a:solidFill>
                  <a:schemeClr val="lt2"/>
                </a:solidFill>
              </a:defRPr>
            </a:lvl3pPr>
            <a:lvl4pPr marL="1828800" lvl="3" indent="-419100" algn="l">
              <a:spcBef>
                <a:spcPts val="750"/>
              </a:spcBef>
              <a:spcAft>
                <a:spcPts val="0"/>
              </a:spcAft>
              <a:buClr>
                <a:schemeClr val="lt2"/>
              </a:buClr>
              <a:buSzPts val="3000"/>
              <a:buChar char="◦"/>
              <a:defRPr sz="3000">
                <a:solidFill>
                  <a:schemeClr val="lt2"/>
                </a:solidFill>
              </a:defRPr>
            </a:lvl4pPr>
            <a:lvl5pPr marL="2286000" lvl="4" indent="-419100" algn="l">
              <a:spcBef>
                <a:spcPts val="750"/>
              </a:spcBef>
              <a:spcAft>
                <a:spcPts val="0"/>
              </a:spcAft>
              <a:buClr>
                <a:schemeClr val="lt2"/>
              </a:buClr>
              <a:buSzPts val="3000"/>
              <a:buChar char="−"/>
              <a:defRPr sz="3000">
                <a:solidFill>
                  <a:schemeClr val="lt2"/>
                </a:solidFill>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Key statement Green Accent 4">
  <p:cSld name="Key statement Green Accent 4">
    <p:bg>
      <p:bgPr>
        <a:solidFill>
          <a:srgbClr val="046A38"/>
        </a:solidFill>
        <a:effectLst/>
      </p:bgPr>
    </p:bg>
    <p:spTree>
      <p:nvGrpSpPr>
        <p:cNvPr id="1" name="Shape 147"/>
        <p:cNvGrpSpPr/>
        <p:nvPr/>
      </p:nvGrpSpPr>
      <p:grpSpPr>
        <a:xfrm>
          <a:off x="0" y="0"/>
          <a:ext cx="0" cy="0"/>
          <a:chOff x="0" y="0"/>
          <a:chExt cx="0" cy="0"/>
        </a:xfrm>
      </p:grpSpPr>
      <p:sp>
        <p:nvSpPr>
          <p:cNvPr id="148" name="Google Shape;148;p15"/>
          <p:cNvSpPr txBox="1"/>
          <p:nvPr/>
        </p:nvSpPr>
        <p:spPr>
          <a:xfrm>
            <a:off x="501650" y="6519863"/>
            <a:ext cx="5354638" cy="20796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lt1"/>
              </a:buClr>
              <a:buSzPts val="675"/>
              <a:buFont typeface="Arial"/>
              <a:buNone/>
            </a:pPr>
            <a:r>
              <a:rPr lang="en-IN" sz="675" b="0" i="0" u="none" strike="noStrike" cap="none">
                <a:solidFill>
                  <a:schemeClr val="lt1"/>
                </a:solidFill>
                <a:latin typeface="Calibri"/>
                <a:ea typeface="Calibri"/>
                <a:cs typeface="Calibri"/>
                <a:sym typeface="Calibri"/>
              </a:rPr>
              <a:t>Member firms and DTTL: Insert appropriate copyright</a:t>
            </a:r>
            <a:br>
              <a:rPr lang="en-IN" sz="675" b="0" i="0" u="none" strike="noStrike" cap="none">
                <a:solidFill>
                  <a:schemeClr val="lt1"/>
                </a:solidFill>
                <a:latin typeface="Calibri"/>
                <a:ea typeface="Calibri"/>
                <a:cs typeface="Calibri"/>
                <a:sym typeface="Calibri"/>
              </a:rPr>
            </a:br>
            <a:r>
              <a:rPr lang="en-IN" sz="675" b="0" i="0" u="none" strike="noStrike" cap="none">
                <a:solidFill>
                  <a:schemeClr val="lt1"/>
                </a:solidFill>
                <a:latin typeface="Calibri"/>
                <a:ea typeface="Calibri"/>
                <a:cs typeface="Calibri"/>
                <a:sym typeface="Calibri"/>
              </a:rPr>
              <a:t>[To edit, click View &gt; Slide Master &gt; Slide Master]</a:t>
            </a:r>
            <a:endParaRPr/>
          </a:p>
        </p:txBody>
      </p:sp>
      <p:sp>
        <p:nvSpPr>
          <p:cNvPr id="149" name="Google Shape;149;p15"/>
          <p:cNvSpPr txBox="1"/>
          <p:nvPr/>
        </p:nvSpPr>
        <p:spPr>
          <a:xfrm>
            <a:off x="6335713" y="6519863"/>
            <a:ext cx="4895850" cy="207962"/>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lt1"/>
              </a:buClr>
              <a:buSzPts val="675"/>
              <a:buFont typeface="Arial"/>
              <a:buNone/>
            </a:pPr>
            <a:r>
              <a:rPr lang="en-IN" sz="675" b="0" i="0" u="none" strike="noStrike" cap="none">
                <a:solidFill>
                  <a:schemeClr val="lt1"/>
                </a:solidFill>
                <a:latin typeface="Calibri"/>
                <a:ea typeface="Calibri"/>
                <a:cs typeface="Calibri"/>
                <a:sym typeface="Calibri"/>
              </a:rPr>
              <a:t>Presentation title</a:t>
            </a:r>
            <a:br>
              <a:rPr lang="en-IN" sz="675" b="0" i="0" u="none" strike="noStrike" cap="none">
                <a:solidFill>
                  <a:schemeClr val="lt1"/>
                </a:solidFill>
                <a:latin typeface="Calibri"/>
                <a:ea typeface="Calibri"/>
                <a:cs typeface="Calibri"/>
                <a:sym typeface="Calibri"/>
              </a:rPr>
            </a:br>
            <a:r>
              <a:rPr lang="en-IN" sz="675" b="0" i="0" u="none" strike="noStrike" cap="none">
                <a:solidFill>
                  <a:schemeClr val="lt1"/>
                </a:solidFill>
                <a:latin typeface="Calibri"/>
                <a:ea typeface="Calibri"/>
                <a:cs typeface="Calibri"/>
                <a:sym typeface="Calibri"/>
              </a:rPr>
              <a:t>[To edit, click View &gt; Slide Master &gt; Slide Master]</a:t>
            </a:r>
            <a:endParaRPr/>
          </a:p>
        </p:txBody>
      </p:sp>
      <p:sp>
        <p:nvSpPr>
          <p:cNvPr id="150" name="Google Shape;150;p15"/>
          <p:cNvSpPr txBox="1"/>
          <p:nvPr/>
        </p:nvSpPr>
        <p:spPr>
          <a:xfrm>
            <a:off x="11426825" y="6519863"/>
            <a:ext cx="307975" cy="10318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lt1"/>
              </a:buClr>
              <a:buSzPts val="600"/>
              <a:buFont typeface="Arial"/>
              <a:buNone/>
            </a:pPr>
            <a:fld id="{00000000-1234-1234-1234-123412341234}" type="slidenum">
              <a:rPr lang="en-IN" sz="600" b="0" i="0" u="none" strike="noStrike" cap="none">
                <a:solidFill>
                  <a:schemeClr val="lt1"/>
                </a:solidFill>
                <a:latin typeface="Calibri"/>
                <a:ea typeface="Calibri"/>
                <a:cs typeface="Calibri"/>
                <a:sym typeface="Calibri"/>
              </a:rPr>
              <a:t>‹#›</a:t>
            </a:fld>
            <a:endParaRPr sz="600" b="0" i="0" u="none" strike="noStrike" cap="none">
              <a:solidFill>
                <a:schemeClr val="lt1"/>
              </a:solidFill>
              <a:latin typeface="Calibri"/>
              <a:ea typeface="Calibri"/>
              <a:cs typeface="Calibri"/>
              <a:sym typeface="Calibri"/>
            </a:endParaRPr>
          </a:p>
        </p:txBody>
      </p:sp>
      <p:sp>
        <p:nvSpPr>
          <p:cNvPr id="151" name="Google Shape;151;p15"/>
          <p:cNvSpPr txBox="1">
            <a:spLocks noGrp="1"/>
          </p:cNvSpPr>
          <p:nvPr>
            <p:ph type="body" idx="1"/>
          </p:nvPr>
        </p:nvSpPr>
        <p:spPr>
          <a:xfrm>
            <a:off x="463296" y="1714500"/>
            <a:ext cx="9341104" cy="4648200"/>
          </a:xfrm>
          <a:prstGeom prst="rect">
            <a:avLst/>
          </a:prstGeom>
          <a:noFill/>
          <a:ln>
            <a:noFill/>
          </a:ln>
        </p:spPr>
        <p:txBody>
          <a:bodyPr spcFirstLastPara="1" wrap="square" lIns="0" tIns="0" rIns="0" bIns="0" anchor="t" anchorCtr="0">
            <a:noAutofit/>
          </a:bodyPr>
          <a:lstStyle>
            <a:lvl1pPr marL="457200" lvl="0" indent="-457200" algn="l">
              <a:spcBef>
                <a:spcPts val="3600"/>
              </a:spcBef>
              <a:spcAft>
                <a:spcPts val="0"/>
              </a:spcAft>
              <a:buClr>
                <a:schemeClr val="lt1"/>
              </a:buClr>
              <a:buSzPts val="3600"/>
              <a:buFont typeface="Calibri"/>
              <a:buChar char="•"/>
              <a:defRPr sz="3600">
                <a:solidFill>
                  <a:schemeClr val="lt1"/>
                </a:solidFill>
              </a:defRPr>
            </a:lvl1pPr>
            <a:lvl2pPr marL="914400" lvl="1" indent="-419100" algn="l">
              <a:spcBef>
                <a:spcPts val="750"/>
              </a:spcBef>
              <a:spcAft>
                <a:spcPts val="0"/>
              </a:spcAft>
              <a:buClr>
                <a:schemeClr val="lt2"/>
              </a:buClr>
              <a:buSzPts val="3000"/>
              <a:buChar char="•"/>
              <a:defRPr sz="3000">
                <a:solidFill>
                  <a:schemeClr val="lt2"/>
                </a:solidFill>
              </a:defRPr>
            </a:lvl2pPr>
            <a:lvl3pPr marL="1371600" lvl="2" indent="-419100" algn="l">
              <a:spcBef>
                <a:spcPts val="750"/>
              </a:spcBef>
              <a:spcAft>
                <a:spcPts val="0"/>
              </a:spcAft>
              <a:buClr>
                <a:schemeClr val="lt2"/>
              </a:buClr>
              <a:buSzPts val="3000"/>
              <a:buChar char="−"/>
              <a:defRPr sz="3000">
                <a:solidFill>
                  <a:schemeClr val="lt2"/>
                </a:solidFill>
              </a:defRPr>
            </a:lvl3pPr>
            <a:lvl4pPr marL="1828800" lvl="3" indent="-419100" algn="l">
              <a:spcBef>
                <a:spcPts val="750"/>
              </a:spcBef>
              <a:spcAft>
                <a:spcPts val="0"/>
              </a:spcAft>
              <a:buClr>
                <a:schemeClr val="lt2"/>
              </a:buClr>
              <a:buSzPts val="3000"/>
              <a:buChar char="◦"/>
              <a:defRPr sz="3000">
                <a:solidFill>
                  <a:schemeClr val="lt2"/>
                </a:solidFill>
              </a:defRPr>
            </a:lvl4pPr>
            <a:lvl5pPr marL="2286000" lvl="4" indent="-419100" algn="l">
              <a:spcBef>
                <a:spcPts val="750"/>
              </a:spcBef>
              <a:spcAft>
                <a:spcPts val="0"/>
              </a:spcAft>
              <a:buClr>
                <a:schemeClr val="lt2"/>
              </a:buClr>
              <a:buSzPts val="3000"/>
              <a:buChar char="−"/>
              <a:defRPr sz="3000">
                <a:solidFill>
                  <a:schemeClr val="lt2"/>
                </a:solidFill>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Key statement teal">
  <p:cSld name="Key statement teal">
    <p:bg>
      <p:bgPr>
        <a:solidFill>
          <a:srgbClr val="0D8390"/>
        </a:solidFill>
        <a:effectLst/>
      </p:bgPr>
    </p:bg>
    <p:spTree>
      <p:nvGrpSpPr>
        <p:cNvPr id="1" name="Shape 152"/>
        <p:cNvGrpSpPr/>
        <p:nvPr/>
      </p:nvGrpSpPr>
      <p:grpSpPr>
        <a:xfrm>
          <a:off x="0" y="0"/>
          <a:ext cx="0" cy="0"/>
          <a:chOff x="0" y="0"/>
          <a:chExt cx="0" cy="0"/>
        </a:xfrm>
      </p:grpSpPr>
      <p:sp>
        <p:nvSpPr>
          <p:cNvPr id="153" name="Google Shape;153;p16"/>
          <p:cNvSpPr txBox="1"/>
          <p:nvPr/>
        </p:nvSpPr>
        <p:spPr>
          <a:xfrm>
            <a:off x="11426825" y="6643688"/>
            <a:ext cx="307975" cy="104775"/>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lt1"/>
              </a:buClr>
              <a:buSzPts val="600"/>
              <a:buFont typeface="Arial"/>
              <a:buNone/>
            </a:pPr>
            <a:fld id="{00000000-1234-1234-1234-123412341234}" type="slidenum">
              <a:rPr lang="en-IN" sz="600" b="0" i="0" u="none" strike="noStrike" cap="none">
                <a:solidFill>
                  <a:schemeClr val="lt1"/>
                </a:solidFill>
                <a:latin typeface="Calibri"/>
                <a:ea typeface="Calibri"/>
                <a:cs typeface="Calibri"/>
                <a:sym typeface="Calibri"/>
              </a:rPr>
              <a:t>‹#›</a:t>
            </a:fld>
            <a:endParaRPr sz="600" b="0" i="0" u="none" strike="noStrike" cap="none">
              <a:solidFill>
                <a:schemeClr val="lt1"/>
              </a:solidFill>
              <a:latin typeface="Calibri"/>
              <a:ea typeface="Calibri"/>
              <a:cs typeface="Calibri"/>
              <a:sym typeface="Calibri"/>
            </a:endParaRPr>
          </a:p>
        </p:txBody>
      </p:sp>
      <p:sp>
        <p:nvSpPr>
          <p:cNvPr id="154" name="Google Shape;154;p16"/>
          <p:cNvSpPr txBox="1">
            <a:spLocks noGrp="1"/>
          </p:cNvSpPr>
          <p:nvPr>
            <p:ph type="body" idx="1"/>
          </p:nvPr>
        </p:nvSpPr>
        <p:spPr>
          <a:xfrm>
            <a:off x="463296" y="1719073"/>
            <a:ext cx="9341104" cy="4643628"/>
          </a:xfrm>
          <a:prstGeom prst="rect">
            <a:avLst/>
          </a:prstGeom>
          <a:noFill/>
          <a:ln>
            <a:noFill/>
          </a:ln>
        </p:spPr>
        <p:txBody>
          <a:bodyPr spcFirstLastPara="1" wrap="square" lIns="0" tIns="0" rIns="0" bIns="0" anchor="t" anchorCtr="0">
            <a:noAutofit/>
          </a:bodyPr>
          <a:lstStyle>
            <a:lvl1pPr marL="457200" lvl="0" indent="-457200" algn="l">
              <a:spcBef>
                <a:spcPts val="3600"/>
              </a:spcBef>
              <a:spcAft>
                <a:spcPts val="0"/>
              </a:spcAft>
              <a:buClr>
                <a:schemeClr val="lt1"/>
              </a:buClr>
              <a:buSzPts val="3600"/>
              <a:buFont typeface="Calibri"/>
              <a:buChar char="•"/>
              <a:defRPr sz="3600">
                <a:solidFill>
                  <a:schemeClr val="lt1"/>
                </a:solidFill>
              </a:defRPr>
            </a:lvl1pPr>
            <a:lvl2pPr marL="914400" lvl="1" indent="-419100" algn="l">
              <a:spcBef>
                <a:spcPts val="750"/>
              </a:spcBef>
              <a:spcAft>
                <a:spcPts val="0"/>
              </a:spcAft>
              <a:buClr>
                <a:schemeClr val="lt2"/>
              </a:buClr>
              <a:buSzPts val="3000"/>
              <a:buChar char="•"/>
              <a:defRPr sz="3000">
                <a:solidFill>
                  <a:schemeClr val="lt2"/>
                </a:solidFill>
              </a:defRPr>
            </a:lvl2pPr>
            <a:lvl3pPr marL="1371600" lvl="2" indent="-419100" algn="l">
              <a:spcBef>
                <a:spcPts val="750"/>
              </a:spcBef>
              <a:spcAft>
                <a:spcPts val="0"/>
              </a:spcAft>
              <a:buClr>
                <a:schemeClr val="lt2"/>
              </a:buClr>
              <a:buSzPts val="3000"/>
              <a:buChar char="−"/>
              <a:defRPr sz="3000">
                <a:solidFill>
                  <a:schemeClr val="lt2"/>
                </a:solidFill>
              </a:defRPr>
            </a:lvl3pPr>
            <a:lvl4pPr marL="1828800" lvl="3" indent="-419100" algn="l">
              <a:spcBef>
                <a:spcPts val="750"/>
              </a:spcBef>
              <a:spcAft>
                <a:spcPts val="0"/>
              </a:spcAft>
              <a:buClr>
                <a:schemeClr val="lt2"/>
              </a:buClr>
              <a:buSzPts val="3000"/>
              <a:buChar char="◦"/>
              <a:defRPr sz="3000">
                <a:solidFill>
                  <a:schemeClr val="lt2"/>
                </a:solidFill>
              </a:defRPr>
            </a:lvl4pPr>
            <a:lvl5pPr marL="2286000" lvl="4" indent="-419100" algn="l">
              <a:spcBef>
                <a:spcPts val="750"/>
              </a:spcBef>
              <a:spcAft>
                <a:spcPts val="0"/>
              </a:spcAft>
              <a:buClr>
                <a:schemeClr val="lt2"/>
              </a:buClr>
              <a:buSzPts val="3000"/>
              <a:buChar char="−"/>
              <a:defRPr sz="3000">
                <a:solidFill>
                  <a:schemeClr val="lt2"/>
                </a:solidFill>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Key statement black">
  <p:cSld name="Key statement black">
    <p:bg>
      <p:bgPr>
        <a:solidFill>
          <a:schemeClr val="dk1"/>
        </a:solidFill>
        <a:effectLst/>
      </p:bgPr>
    </p:bg>
    <p:spTree>
      <p:nvGrpSpPr>
        <p:cNvPr id="1" name="Shape 155"/>
        <p:cNvGrpSpPr/>
        <p:nvPr/>
      </p:nvGrpSpPr>
      <p:grpSpPr>
        <a:xfrm>
          <a:off x="0" y="0"/>
          <a:ext cx="0" cy="0"/>
          <a:chOff x="0" y="0"/>
          <a:chExt cx="0" cy="0"/>
        </a:xfrm>
      </p:grpSpPr>
      <p:sp>
        <p:nvSpPr>
          <p:cNvPr id="156" name="Google Shape;156;p17"/>
          <p:cNvSpPr txBox="1"/>
          <p:nvPr/>
        </p:nvSpPr>
        <p:spPr>
          <a:xfrm>
            <a:off x="501650" y="6519863"/>
            <a:ext cx="5354638" cy="20796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lt1"/>
              </a:buClr>
              <a:buSzPts val="675"/>
              <a:buFont typeface="Arial"/>
              <a:buNone/>
            </a:pPr>
            <a:r>
              <a:rPr lang="en-IN" sz="675" b="0" i="0" u="none" strike="noStrike" cap="none">
                <a:solidFill>
                  <a:schemeClr val="lt1"/>
                </a:solidFill>
                <a:latin typeface="Calibri"/>
                <a:ea typeface="Calibri"/>
                <a:cs typeface="Calibri"/>
                <a:sym typeface="Calibri"/>
              </a:rPr>
              <a:t>Member firms and DTTL: Insert appropriate copyright</a:t>
            </a:r>
            <a:br>
              <a:rPr lang="en-IN" sz="675" b="0" i="0" u="none" strike="noStrike" cap="none">
                <a:solidFill>
                  <a:schemeClr val="lt1"/>
                </a:solidFill>
                <a:latin typeface="Calibri"/>
                <a:ea typeface="Calibri"/>
                <a:cs typeface="Calibri"/>
                <a:sym typeface="Calibri"/>
              </a:rPr>
            </a:br>
            <a:r>
              <a:rPr lang="en-IN" sz="675" b="0" i="0" u="none" strike="noStrike" cap="none">
                <a:solidFill>
                  <a:schemeClr val="lt1"/>
                </a:solidFill>
                <a:latin typeface="Calibri"/>
                <a:ea typeface="Calibri"/>
                <a:cs typeface="Calibri"/>
                <a:sym typeface="Calibri"/>
              </a:rPr>
              <a:t>[To edit, click View &gt; Slide Master &gt; Slide Master]</a:t>
            </a:r>
            <a:endParaRPr/>
          </a:p>
        </p:txBody>
      </p:sp>
      <p:sp>
        <p:nvSpPr>
          <p:cNvPr id="157" name="Google Shape;157;p17"/>
          <p:cNvSpPr txBox="1"/>
          <p:nvPr/>
        </p:nvSpPr>
        <p:spPr>
          <a:xfrm>
            <a:off x="6335713" y="6519863"/>
            <a:ext cx="4895850" cy="207962"/>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lt1"/>
              </a:buClr>
              <a:buSzPts val="675"/>
              <a:buFont typeface="Arial"/>
              <a:buNone/>
            </a:pPr>
            <a:r>
              <a:rPr lang="en-IN" sz="675" b="0" i="0" u="none" strike="noStrike" cap="none">
                <a:solidFill>
                  <a:schemeClr val="lt1"/>
                </a:solidFill>
                <a:latin typeface="Calibri"/>
                <a:ea typeface="Calibri"/>
                <a:cs typeface="Calibri"/>
                <a:sym typeface="Calibri"/>
              </a:rPr>
              <a:t>Presentation title</a:t>
            </a:r>
            <a:br>
              <a:rPr lang="en-IN" sz="675" b="0" i="0" u="none" strike="noStrike" cap="none">
                <a:solidFill>
                  <a:schemeClr val="lt1"/>
                </a:solidFill>
                <a:latin typeface="Calibri"/>
                <a:ea typeface="Calibri"/>
                <a:cs typeface="Calibri"/>
                <a:sym typeface="Calibri"/>
              </a:rPr>
            </a:br>
            <a:r>
              <a:rPr lang="en-IN" sz="675" b="0" i="0" u="none" strike="noStrike" cap="none">
                <a:solidFill>
                  <a:schemeClr val="lt1"/>
                </a:solidFill>
                <a:latin typeface="Calibri"/>
                <a:ea typeface="Calibri"/>
                <a:cs typeface="Calibri"/>
                <a:sym typeface="Calibri"/>
              </a:rPr>
              <a:t>[To edit, click View &gt; Slide Master &gt; Slide Master]</a:t>
            </a:r>
            <a:endParaRPr/>
          </a:p>
        </p:txBody>
      </p:sp>
      <p:sp>
        <p:nvSpPr>
          <p:cNvPr id="158" name="Google Shape;158;p17"/>
          <p:cNvSpPr txBox="1"/>
          <p:nvPr/>
        </p:nvSpPr>
        <p:spPr>
          <a:xfrm>
            <a:off x="11426825" y="6519863"/>
            <a:ext cx="307975" cy="10318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lt1"/>
              </a:buClr>
              <a:buSzPts val="600"/>
              <a:buFont typeface="Arial"/>
              <a:buNone/>
            </a:pPr>
            <a:fld id="{00000000-1234-1234-1234-123412341234}" type="slidenum">
              <a:rPr lang="en-IN" sz="600" b="0" i="0" u="none" strike="noStrike" cap="none">
                <a:solidFill>
                  <a:schemeClr val="lt1"/>
                </a:solidFill>
                <a:latin typeface="Calibri"/>
                <a:ea typeface="Calibri"/>
                <a:cs typeface="Calibri"/>
                <a:sym typeface="Calibri"/>
              </a:rPr>
              <a:t>‹#›</a:t>
            </a:fld>
            <a:endParaRPr sz="600" b="0" i="0" u="none" strike="noStrike" cap="none">
              <a:solidFill>
                <a:schemeClr val="lt1"/>
              </a:solidFill>
              <a:latin typeface="Calibri"/>
              <a:ea typeface="Calibri"/>
              <a:cs typeface="Calibri"/>
              <a:sym typeface="Calibri"/>
            </a:endParaRPr>
          </a:p>
        </p:txBody>
      </p:sp>
      <p:sp>
        <p:nvSpPr>
          <p:cNvPr id="159" name="Google Shape;159;p17"/>
          <p:cNvSpPr txBox="1">
            <a:spLocks noGrp="1"/>
          </p:cNvSpPr>
          <p:nvPr>
            <p:ph type="body" idx="1"/>
          </p:nvPr>
        </p:nvSpPr>
        <p:spPr>
          <a:xfrm>
            <a:off x="463296" y="1719073"/>
            <a:ext cx="9341104" cy="4643628"/>
          </a:xfrm>
          <a:prstGeom prst="rect">
            <a:avLst/>
          </a:prstGeom>
          <a:noFill/>
          <a:ln>
            <a:noFill/>
          </a:ln>
        </p:spPr>
        <p:txBody>
          <a:bodyPr spcFirstLastPara="1" wrap="square" lIns="0" tIns="0" rIns="0" bIns="0" anchor="t" anchorCtr="0">
            <a:noAutofit/>
          </a:bodyPr>
          <a:lstStyle>
            <a:lvl1pPr marL="457200" lvl="0" indent="-457200" algn="l">
              <a:spcBef>
                <a:spcPts val="3600"/>
              </a:spcBef>
              <a:spcAft>
                <a:spcPts val="0"/>
              </a:spcAft>
              <a:buClr>
                <a:schemeClr val="lt1"/>
              </a:buClr>
              <a:buSzPts val="3600"/>
              <a:buFont typeface="Calibri"/>
              <a:buChar char="•"/>
              <a:defRPr sz="3600">
                <a:solidFill>
                  <a:schemeClr val="lt1"/>
                </a:solidFill>
              </a:defRPr>
            </a:lvl1pPr>
            <a:lvl2pPr marL="914400" lvl="1" indent="-419100" algn="l">
              <a:spcBef>
                <a:spcPts val="750"/>
              </a:spcBef>
              <a:spcAft>
                <a:spcPts val="0"/>
              </a:spcAft>
              <a:buClr>
                <a:schemeClr val="lt2"/>
              </a:buClr>
              <a:buSzPts val="3000"/>
              <a:buChar char="•"/>
              <a:defRPr sz="3000">
                <a:solidFill>
                  <a:schemeClr val="lt2"/>
                </a:solidFill>
              </a:defRPr>
            </a:lvl2pPr>
            <a:lvl3pPr marL="1371600" lvl="2" indent="-419100" algn="l">
              <a:spcBef>
                <a:spcPts val="750"/>
              </a:spcBef>
              <a:spcAft>
                <a:spcPts val="0"/>
              </a:spcAft>
              <a:buClr>
                <a:schemeClr val="lt2"/>
              </a:buClr>
              <a:buSzPts val="3000"/>
              <a:buChar char="−"/>
              <a:defRPr sz="3000">
                <a:solidFill>
                  <a:schemeClr val="lt2"/>
                </a:solidFill>
              </a:defRPr>
            </a:lvl3pPr>
            <a:lvl4pPr marL="1828800" lvl="3" indent="-419100" algn="l">
              <a:spcBef>
                <a:spcPts val="750"/>
              </a:spcBef>
              <a:spcAft>
                <a:spcPts val="0"/>
              </a:spcAft>
              <a:buClr>
                <a:schemeClr val="lt2"/>
              </a:buClr>
              <a:buSzPts val="3000"/>
              <a:buChar char="◦"/>
              <a:defRPr sz="3000">
                <a:solidFill>
                  <a:schemeClr val="lt2"/>
                </a:solidFill>
              </a:defRPr>
            </a:lvl4pPr>
            <a:lvl5pPr marL="2286000" lvl="4" indent="-419100" algn="l">
              <a:spcBef>
                <a:spcPts val="750"/>
              </a:spcBef>
              <a:spcAft>
                <a:spcPts val="0"/>
              </a:spcAft>
              <a:buClr>
                <a:schemeClr val="lt2"/>
              </a:buClr>
              <a:buSzPts val="3000"/>
              <a:buChar char="−"/>
              <a:defRPr sz="3000">
                <a:solidFill>
                  <a:schemeClr val="lt2"/>
                </a:solidFill>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Key statement white">
  <p:cSld name="Key statement white">
    <p:spTree>
      <p:nvGrpSpPr>
        <p:cNvPr id="1" name="Shape 160"/>
        <p:cNvGrpSpPr/>
        <p:nvPr/>
      </p:nvGrpSpPr>
      <p:grpSpPr>
        <a:xfrm>
          <a:off x="0" y="0"/>
          <a:ext cx="0" cy="0"/>
          <a:chOff x="0" y="0"/>
          <a:chExt cx="0" cy="0"/>
        </a:xfrm>
      </p:grpSpPr>
      <p:pic>
        <p:nvPicPr>
          <p:cNvPr id="161" name="Google Shape;161;p18"/>
          <p:cNvPicPr preferRelativeResize="0"/>
          <p:nvPr/>
        </p:nvPicPr>
        <p:blipFill rotWithShape="1">
          <a:blip r:embed="rId2">
            <a:alphaModFix/>
          </a:blip>
          <a:srcRect/>
          <a:stretch/>
        </p:blipFill>
        <p:spPr>
          <a:xfrm>
            <a:off x="1588" y="1588"/>
            <a:ext cx="3175" cy="1587"/>
          </a:xfrm>
          <a:prstGeom prst="rect">
            <a:avLst/>
          </a:prstGeom>
          <a:noFill/>
          <a:ln>
            <a:noFill/>
          </a:ln>
        </p:spPr>
      </p:pic>
      <p:sp>
        <p:nvSpPr>
          <p:cNvPr id="162" name="Google Shape;162;p18"/>
          <p:cNvSpPr txBox="1"/>
          <p:nvPr/>
        </p:nvSpPr>
        <p:spPr>
          <a:xfrm>
            <a:off x="6335713" y="6519863"/>
            <a:ext cx="4895850" cy="12223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dk1"/>
              </a:buClr>
              <a:buSzPts val="800"/>
              <a:buFont typeface="Arial"/>
              <a:buNone/>
            </a:pPr>
            <a:r>
              <a:rPr lang="en-IN" sz="800" b="0" i="0" u="none" strike="noStrike" cap="none">
                <a:solidFill>
                  <a:schemeClr val="dk1"/>
                </a:solidFill>
                <a:latin typeface="Calibri"/>
                <a:ea typeface="Calibri"/>
                <a:cs typeface="Calibri"/>
                <a:sym typeface="Calibri"/>
              </a:rPr>
              <a:t>CTD Review Meeting</a:t>
            </a:r>
            <a:endParaRPr/>
          </a:p>
        </p:txBody>
      </p:sp>
      <p:sp>
        <p:nvSpPr>
          <p:cNvPr id="163" name="Google Shape;163;p18"/>
          <p:cNvSpPr txBox="1"/>
          <p:nvPr/>
        </p:nvSpPr>
        <p:spPr>
          <a:xfrm>
            <a:off x="11426825" y="6519863"/>
            <a:ext cx="307975" cy="12223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dk1"/>
              </a:buClr>
              <a:buSzPts val="800"/>
              <a:buFont typeface="Arial"/>
              <a:buNone/>
            </a:pPr>
            <a:fld id="{00000000-1234-1234-1234-123412341234}" type="slidenum">
              <a:rPr lang="en-IN" sz="800" b="0" i="0" u="none" strike="noStrike" cap="none">
                <a:solidFill>
                  <a:schemeClr val="dk1"/>
                </a:solidFill>
                <a:latin typeface="Calibri"/>
                <a:ea typeface="Calibri"/>
                <a:cs typeface="Calibri"/>
                <a:sym typeface="Calibri"/>
              </a:rPr>
              <a:t>‹#›</a:t>
            </a:fld>
            <a:endParaRPr sz="800" b="0" i="0" u="none" strike="noStrike" cap="none">
              <a:solidFill>
                <a:schemeClr val="dk1"/>
              </a:solidFill>
              <a:latin typeface="Calibri"/>
              <a:ea typeface="Calibri"/>
              <a:cs typeface="Calibri"/>
              <a:sym typeface="Calibri"/>
            </a:endParaRPr>
          </a:p>
        </p:txBody>
      </p:sp>
      <p:sp>
        <p:nvSpPr>
          <p:cNvPr id="164" name="Google Shape;164;p18"/>
          <p:cNvSpPr txBox="1"/>
          <p:nvPr/>
        </p:nvSpPr>
        <p:spPr>
          <a:xfrm>
            <a:off x="4065588" y="700088"/>
            <a:ext cx="254000"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165" name="Google Shape;165;p18"/>
          <p:cNvSpPr txBox="1"/>
          <p:nvPr/>
        </p:nvSpPr>
        <p:spPr>
          <a:xfrm>
            <a:off x="4321175" y="803275"/>
            <a:ext cx="1673225"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166" name="Google Shape;166;p18"/>
          <p:cNvSpPr txBox="1"/>
          <p:nvPr/>
        </p:nvSpPr>
        <p:spPr>
          <a:xfrm>
            <a:off x="5970588" y="803275"/>
            <a:ext cx="249237"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167" name="Google Shape;167;p18"/>
          <p:cNvSpPr txBox="1"/>
          <p:nvPr/>
        </p:nvSpPr>
        <p:spPr>
          <a:xfrm>
            <a:off x="4321175" y="801688"/>
            <a:ext cx="1673225"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168" name="Google Shape;168;p18"/>
          <p:cNvSpPr txBox="1">
            <a:spLocks noGrp="1"/>
          </p:cNvSpPr>
          <p:nvPr>
            <p:ph type="body" idx="1"/>
          </p:nvPr>
        </p:nvSpPr>
        <p:spPr>
          <a:xfrm>
            <a:off x="475488" y="1719072"/>
            <a:ext cx="9328912" cy="4643628"/>
          </a:xfrm>
          <a:prstGeom prst="rect">
            <a:avLst/>
          </a:prstGeom>
          <a:noFill/>
          <a:ln>
            <a:noFill/>
          </a:ln>
        </p:spPr>
        <p:txBody>
          <a:bodyPr spcFirstLastPara="1" wrap="square" lIns="0" tIns="0" rIns="0" bIns="0" anchor="t" anchorCtr="0">
            <a:noAutofit/>
          </a:bodyPr>
          <a:lstStyle>
            <a:lvl1pPr marL="457200" lvl="0" indent="-228600" algn="l">
              <a:spcBef>
                <a:spcPts val="2700"/>
              </a:spcBef>
              <a:spcAft>
                <a:spcPts val="0"/>
              </a:spcAft>
              <a:buClr>
                <a:schemeClr val="dk1"/>
              </a:buClr>
              <a:buSzPts val="3600"/>
              <a:buFont typeface="Calibri"/>
              <a:buNone/>
              <a:defRPr sz="3600">
                <a:solidFill>
                  <a:schemeClr val="dk1"/>
                </a:solidFill>
              </a:defRPr>
            </a:lvl1pPr>
            <a:lvl2pPr marL="914400" lvl="1" indent="-371475" algn="l">
              <a:spcBef>
                <a:spcPts val="750"/>
              </a:spcBef>
              <a:spcAft>
                <a:spcPts val="0"/>
              </a:spcAft>
              <a:buClr>
                <a:schemeClr val="lt2"/>
              </a:buClr>
              <a:buSzPts val="2250"/>
              <a:buChar char="•"/>
              <a:defRPr sz="2250">
                <a:solidFill>
                  <a:schemeClr val="lt2"/>
                </a:solidFill>
              </a:defRPr>
            </a:lvl2pPr>
            <a:lvl3pPr marL="1371600" lvl="2" indent="-371475" algn="l">
              <a:spcBef>
                <a:spcPts val="750"/>
              </a:spcBef>
              <a:spcAft>
                <a:spcPts val="0"/>
              </a:spcAft>
              <a:buClr>
                <a:schemeClr val="lt2"/>
              </a:buClr>
              <a:buSzPts val="2250"/>
              <a:buChar char="−"/>
              <a:defRPr sz="2250">
                <a:solidFill>
                  <a:schemeClr val="lt2"/>
                </a:solidFill>
              </a:defRPr>
            </a:lvl3pPr>
            <a:lvl4pPr marL="1828800" lvl="3" indent="-371475" algn="l">
              <a:spcBef>
                <a:spcPts val="750"/>
              </a:spcBef>
              <a:spcAft>
                <a:spcPts val="0"/>
              </a:spcAft>
              <a:buClr>
                <a:schemeClr val="lt2"/>
              </a:buClr>
              <a:buSzPts val="2250"/>
              <a:buChar char="◦"/>
              <a:defRPr sz="2250">
                <a:solidFill>
                  <a:schemeClr val="lt2"/>
                </a:solidFill>
              </a:defRPr>
            </a:lvl4pPr>
            <a:lvl5pPr marL="2286000" lvl="4" indent="-371475" algn="l">
              <a:spcBef>
                <a:spcPts val="750"/>
              </a:spcBef>
              <a:spcAft>
                <a:spcPts val="0"/>
              </a:spcAft>
              <a:buClr>
                <a:schemeClr val="lt2"/>
              </a:buClr>
              <a:buSzPts val="2250"/>
              <a:buChar char="−"/>
              <a:defRPr sz="2250">
                <a:solidFill>
                  <a:schemeClr val="lt2"/>
                </a:solidFill>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mp; 1 column text">
  <p:cSld name="Title &amp; 1 column text">
    <p:spTree>
      <p:nvGrpSpPr>
        <p:cNvPr id="1" name="Shape 169"/>
        <p:cNvGrpSpPr/>
        <p:nvPr/>
      </p:nvGrpSpPr>
      <p:grpSpPr>
        <a:xfrm>
          <a:off x="0" y="0"/>
          <a:ext cx="0" cy="0"/>
          <a:chOff x="0" y="0"/>
          <a:chExt cx="0" cy="0"/>
        </a:xfrm>
      </p:grpSpPr>
      <p:sp>
        <p:nvSpPr>
          <p:cNvPr id="170" name="Google Shape;170;p19"/>
          <p:cNvSpPr txBox="1">
            <a:spLocks noGrp="1"/>
          </p:cNvSpPr>
          <p:nvPr>
            <p:ph type="body" idx="1"/>
          </p:nvPr>
        </p:nvSpPr>
        <p:spPr>
          <a:xfrm>
            <a:off x="463296" y="1714500"/>
            <a:ext cx="11277600" cy="46482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1"/>
              </a:buClr>
              <a:buSzPts val="1200"/>
              <a:buFont typeface="Calibri"/>
              <a:buNone/>
              <a:defRPr sz="1200">
                <a:latin typeface="Calibri"/>
                <a:ea typeface="Calibri"/>
                <a:cs typeface="Calibri"/>
                <a:sym typeface="Calibri"/>
              </a:defRPr>
            </a:lvl1pPr>
            <a:lvl2pPr marL="914400" lvl="1" indent="-304800" algn="l">
              <a:spcBef>
                <a:spcPts val="750"/>
              </a:spcBef>
              <a:spcAft>
                <a:spcPts val="0"/>
              </a:spcAft>
              <a:buClr>
                <a:schemeClr val="dk1"/>
              </a:buClr>
              <a:buSzPts val="1200"/>
              <a:buFont typeface="Arial"/>
              <a:buChar char="•"/>
              <a:defRPr sz="1200">
                <a:latin typeface="Calibri"/>
                <a:ea typeface="Calibri"/>
                <a:cs typeface="Calibri"/>
                <a:sym typeface="Calibri"/>
              </a:defRPr>
            </a:lvl2pPr>
            <a:lvl3pPr marL="1371600" lvl="2" indent="-304800" algn="l">
              <a:spcBef>
                <a:spcPts val="750"/>
              </a:spcBef>
              <a:spcAft>
                <a:spcPts val="0"/>
              </a:spcAft>
              <a:buClr>
                <a:schemeClr val="dk1"/>
              </a:buClr>
              <a:buSzPts val="1200"/>
              <a:buFont typeface="Arial"/>
              <a:buChar char="−"/>
              <a:defRPr sz="1200">
                <a:latin typeface="Calibri"/>
                <a:ea typeface="Calibri"/>
                <a:cs typeface="Calibri"/>
                <a:sym typeface="Calibri"/>
              </a:defRPr>
            </a:lvl3pPr>
            <a:lvl4pPr marL="1828800" lvl="3" indent="-304800" algn="l">
              <a:spcBef>
                <a:spcPts val="750"/>
              </a:spcBef>
              <a:spcAft>
                <a:spcPts val="0"/>
              </a:spcAft>
              <a:buClr>
                <a:schemeClr val="dk1"/>
              </a:buClr>
              <a:buSzPts val="1200"/>
              <a:buFont typeface="Arial"/>
              <a:buChar char="◦"/>
              <a:defRPr sz="1200">
                <a:latin typeface="Calibri"/>
                <a:ea typeface="Calibri"/>
                <a:cs typeface="Calibri"/>
                <a:sym typeface="Calibri"/>
              </a:defRPr>
            </a:lvl4pPr>
            <a:lvl5pPr marL="2286000" lvl="4" indent="-304800" algn="l">
              <a:spcBef>
                <a:spcPts val="750"/>
              </a:spcBef>
              <a:spcAft>
                <a:spcPts val="0"/>
              </a:spcAft>
              <a:buClr>
                <a:schemeClr val="dk1"/>
              </a:buClr>
              <a:buSzPts val="1200"/>
              <a:buFont typeface="Arial"/>
              <a:buChar char="−"/>
              <a:defRPr sz="1200">
                <a:latin typeface="Calibri"/>
                <a:ea typeface="Calibri"/>
                <a:cs typeface="Calibri"/>
                <a:sym typeface="Calibri"/>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171" name="Google Shape;171;p19"/>
          <p:cNvSpPr txBox="1">
            <a:spLocks noGrp="1"/>
          </p:cNvSpPr>
          <p:nvPr>
            <p:ph type="title"/>
          </p:nvPr>
        </p:nvSpPr>
        <p:spPr>
          <a:xfrm>
            <a:off x="463296" y="347473"/>
            <a:ext cx="11277600" cy="69850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s">
  <p:cSld name="Contents">
    <p:spTree>
      <p:nvGrpSpPr>
        <p:cNvPr id="1" name="Shape 172"/>
        <p:cNvGrpSpPr/>
        <p:nvPr/>
      </p:nvGrpSpPr>
      <p:grpSpPr>
        <a:xfrm>
          <a:off x="0" y="0"/>
          <a:ext cx="0" cy="0"/>
          <a:chOff x="0" y="0"/>
          <a:chExt cx="0" cy="0"/>
        </a:xfrm>
      </p:grpSpPr>
      <p:sp>
        <p:nvSpPr>
          <p:cNvPr id="173" name="Google Shape;173;p20"/>
          <p:cNvSpPr txBox="1">
            <a:spLocks noGrp="1"/>
          </p:cNvSpPr>
          <p:nvPr>
            <p:ph type="body" idx="1"/>
          </p:nvPr>
        </p:nvSpPr>
        <p:spPr>
          <a:xfrm>
            <a:off x="463296" y="1714500"/>
            <a:ext cx="9341104" cy="46482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1"/>
              </a:buClr>
              <a:buSzPts val="1200"/>
              <a:buFont typeface="Calibri"/>
              <a:buNone/>
              <a:defRPr sz="1200">
                <a:latin typeface="Calibri"/>
                <a:ea typeface="Calibri"/>
                <a:cs typeface="Calibri"/>
                <a:sym typeface="Calibri"/>
              </a:defRPr>
            </a:lvl1pPr>
            <a:lvl2pPr marL="914400" lvl="1" indent="-304800" algn="l">
              <a:spcBef>
                <a:spcPts val="750"/>
              </a:spcBef>
              <a:spcAft>
                <a:spcPts val="0"/>
              </a:spcAft>
              <a:buClr>
                <a:schemeClr val="dk1"/>
              </a:buClr>
              <a:buSzPts val="1200"/>
              <a:buFont typeface="Arial"/>
              <a:buChar char="•"/>
              <a:defRPr sz="1200">
                <a:latin typeface="Calibri"/>
                <a:ea typeface="Calibri"/>
                <a:cs typeface="Calibri"/>
                <a:sym typeface="Calibri"/>
              </a:defRPr>
            </a:lvl2pPr>
            <a:lvl3pPr marL="1371600" lvl="2" indent="-304800" algn="l">
              <a:spcBef>
                <a:spcPts val="750"/>
              </a:spcBef>
              <a:spcAft>
                <a:spcPts val="0"/>
              </a:spcAft>
              <a:buClr>
                <a:schemeClr val="dk1"/>
              </a:buClr>
              <a:buSzPts val="1200"/>
              <a:buFont typeface="Arial"/>
              <a:buChar char="−"/>
              <a:defRPr sz="1200">
                <a:latin typeface="Calibri"/>
                <a:ea typeface="Calibri"/>
                <a:cs typeface="Calibri"/>
                <a:sym typeface="Calibri"/>
              </a:defRPr>
            </a:lvl3pPr>
            <a:lvl4pPr marL="1828800" lvl="3" indent="-304800" algn="l">
              <a:spcBef>
                <a:spcPts val="750"/>
              </a:spcBef>
              <a:spcAft>
                <a:spcPts val="0"/>
              </a:spcAft>
              <a:buClr>
                <a:schemeClr val="dk1"/>
              </a:buClr>
              <a:buSzPts val="1200"/>
              <a:buFont typeface="Arial"/>
              <a:buChar char="◦"/>
              <a:defRPr sz="1200">
                <a:latin typeface="Calibri"/>
                <a:ea typeface="Calibri"/>
                <a:cs typeface="Calibri"/>
                <a:sym typeface="Calibri"/>
              </a:defRPr>
            </a:lvl4pPr>
            <a:lvl5pPr marL="2286000" lvl="4" indent="-304800" algn="l">
              <a:spcBef>
                <a:spcPts val="750"/>
              </a:spcBef>
              <a:spcAft>
                <a:spcPts val="0"/>
              </a:spcAft>
              <a:buClr>
                <a:schemeClr val="dk1"/>
              </a:buClr>
              <a:buSzPts val="1200"/>
              <a:buFont typeface="Arial"/>
              <a:buChar char="−"/>
              <a:defRPr sz="1200">
                <a:latin typeface="Calibri"/>
                <a:ea typeface="Calibri"/>
                <a:cs typeface="Calibri"/>
                <a:sym typeface="Calibri"/>
              </a:defRPr>
            </a:lvl5pPr>
            <a:lvl6pPr marL="2743200" lvl="5" indent="-285750" algn="l">
              <a:spcBef>
                <a:spcPts val="750"/>
              </a:spcBef>
              <a:spcAft>
                <a:spcPts val="0"/>
              </a:spcAft>
              <a:buClr>
                <a:schemeClr val="dk1"/>
              </a:buClr>
              <a:buSzPts val="900"/>
              <a:buChar char="−"/>
              <a:defRPr/>
            </a:lvl6pPr>
            <a:lvl7pPr marL="3200400" lvl="6" indent="-285750" algn="l">
              <a:spcBef>
                <a:spcPts val="750"/>
              </a:spcBef>
              <a:spcAft>
                <a:spcPts val="0"/>
              </a:spcAft>
              <a:buClr>
                <a:schemeClr val="dk1"/>
              </a:buClr>
              <a:buSzPts val="900"/>
              <a:buChar char="−"/>
              <a:defRPr/>
            </a:lvl7pPr>
            <a:lvl8pPr marL="3657600" lvl="7" indent="-285750" algn="l">
              <a:spcBef>
                <a:spcPts val="750"/>
              </a:spcBef>
              <a:spcAft>
                <a:spcPts val="0"/>
              </a:spcAft>
              <a:buClr>
                <a:schemeClr val="dk1"/>
              </a:buClr>
              <a:buSzPts val="900"/>
              <a:buChar char="−"/>
              <a:defRPr/>
            </a:lvl8pPr>
            <a:lvl9pPr marL="4114800" lvl="8" indent="-285750" algn="l">
              <a:spcBef>
                <a:spcPts val="750"/>
              </a:spcBef>
              <a:spcAft>
                <a:spcPts val="750"/>
              </a:spcAft>
              <a:buClr>
                <a:schemeClr val="dk1"/>
              </a:buClr>
              <a:buSzPts val="900"/>
              <a:buChar char="−"/>
              <a:defRPr/>
            </a:lvl9pPr>
          </a:lstStyle>
          <a:p>
            <a:endParaRPr/>
          </a:p>
        </p:txBody>
      </p:sp>
      <p:sp>
        <p:nvSpPr>
          <p:cNvPr id="174" name="Google Shape;174;p20"/>
          <p:cNvSpPr txBox="1">
            <a:spLocks noGrp="1"/>
          </p:cNvSpPr>
          <p:nvPr>
            <p:ph type="title"/>
          </p:nvPr>
        </p:nvSpPr>
        <p:spPr>
          <a:xfrm>
            <a:off x="463296" y="347473"/>
            <a:ext cx="11180232" cy="69850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Letter Layout">
  <p:cSld name="Letter Layout">
    <p:spTree>
      <p:nvGrpSpPr>
        <p:cNvPr id="1" name="Shape 175"/>
        <p:cNvGrpSpPr/>
        <p:nvPr/>
      </p:nvGrpSpPr>
      <p:grpSpPr>
        <a:xfrm>
          <a:off x="0" y="0"/>
          <a:ext cx="0" cy="0"/>
          <a:chOff x="0" y="0"/>
          <a:chExt cx="0" cy="0"/>
        </a:xfrm>
      </p:grpSpPr>
      <p:grpSp>
        <p:nvGrpSpPr>
          <p:cNvPr id="176" name="Google Shape;176;p21"/>
          <p:cNvGrpSpPr/>
          <p:nvPr/>
        </p:nvGrpSpPr>
        <p:grpSpPr>
          <a:xfrm>
            <a:off x="460541" y="344137"/>
            <a:ext cx="1819109" cy="345828"/>
            <a:chOff x="398463" y="404813"/>
            <a:chExt cx="1627187" cy="307976"/>
          </a:xfrm>
        </p:grpSpPr>
        <p:sp>
          <p:nvSpPr>
            <p:cNvPr id="177" name="Google Shape;177;p21"/>
            <p:cNvSpPr/>
            <p:nvPr/>
          </p:nvSpPr>
          <p:spPr>
            <a:xfrm>
              <a:off x="1938338" y="625476"/>
              <a:ext cx="87312" cy="87313"/>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8" name="Google Shape;178;p21"/>
            <p:cNvSpPr/>
            <p:nvPr/>
          </p:nvSpPr>
          <p:spPr>
            <a:xfrm>
              <a:off x="398463" y="406401"/>
              <a:ext cx="247650" cy="301625"/>
            </a:xfrm>
            <a:custGeom>
              <a:avLst/>
              <a:gdLst/>
              <a:ahLst/>
              <a:cxnLst/>
              <a:rect l="l" t="t" r="r" b="b"/>
              <a:pathLst>
                <a:path w="287" h="347" extrusionOk="0">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9" name="Google Shape;179;p21"/>
            <p:cNvSpPr/>
            <p:nvPr/>
          </p:nvSpPr>
          <p:spPr>
            <a:xfrm>
              <a:off x="906463" y="404813"/>
              <a:ext cx="74612" cy="303213"/>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0" name="Google Shape;180;p21"/>
            <p:cNvSpPr/>
            <p:nvPr/>
          </p:nvSpPr>
          <p:spPr>
            <a:xfrm>
              <a:off x="1011238" y="479426"/>
              <a:ext cx="215900" cy="231775"/>
            </a:xfrm>
            <a:custGeom>
              <a:avLst/>
              <a:gdLst/>
              <a:ahLst/>
              <a:cxnLst/>
              <a:rect l="l" t="t" r="r" b="b"/>
              <a:pathLst>
                <a:path w="252" h="267" extrusionOk="0">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1" name="Google Shape;181;p21"/>
            <p:cNvSpPr/>
            <p:nvPr/>
          </p:nvSpPr>
          <p:spPr>
            <a:xfrm>
              <a:off x="1257300" y="482601"/>
              <a:ext cx="74612" cy="225425"/>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2" name="Google Shape;182;p21"/>
            <p:cNvSpPr/>
            <p:nvPr/>
          </p:nvSpPr>
          <p:spPr>
            <a:xfrm>
              <a:off x="1257300" y="404813"/>
              <a:ext cx="74612" cy="508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3" name="Google Shape;183;p21"/>
            <p:cNvSpPr/>
            <p:nvPr/>
          </p:nvSpPr>
          <p:spPr>
            <a:xfrm>
              <a:off x="1362075" y="411163"/>
              <a:ext cx="158750" cy="300038"/>
            </a:xfrm>
            <a:custGeom>
              <a:avLst/>
              <a:gdLst/>
              <a:ahLst/>
              <a:cxnLst/>
              <a:rect l="l" t="t" r="r" b="b"/>
              <a:pathLst>
                <a:path w="184" h="344" extrusionOk="0">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4" name="Google Shape;184;p21"/>
            <p:cNvSpPr/>
            <p:nvPr/>
          </p:nvSpPr>
          <p:spPr>
            <a:xfrm>
              <a:off x="1535113" y="411163"/>
              <a:ext cx="158750" cy="300038"/>
            </a:xfrm>
            <a:custGeom>
              <a:avLst/>
              <a:gdLst/>
              <a:ahLst/>
              <a:cxnLst/>
              <a:rect l="l" t="t" r="r" b="b"/>
              <a:pathLst>
                <a:path w="184" h="344" extrusionOk="0">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5" name="Google Shape;185;p21"/>
            <p:cNvSpPr/>
            <p:nvPr/>
          </p:nvSpPr>
          <p:spPr>
            <a:xfrm>
              <a:off x="1709738" y="479426"/>
              <a:ext cx="211137" cy="231775"/>
            </a:xfrm>
            <a:custGeom>
              <a:avLst/>
              <a:gdLst/>
              <a:ahLst/>
              <a:cxnLst/>
              <a:rect l="l" t="t" r="r" b="b"/>
              <a:pathLst>
                <a:path w="244" h="267" extrusionOk="0">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6" name="Google Shape;186;p21"/>
            <p:cNvSpPr/>
            <p:nvPr/>
          </p:nvSpPr>
          <p:spPr>
            <a:xfrm>
              <a:off x="668338" y="479426"/>
              <a:ext cx="209550" cy="231775"/>
            </a:xfrm>
            <a:custGeom>
              <a:avLst/>
              <a:gdLst/>
              <a:ahLst/>
              <a:cxnLst/>
              <a:rect l="l" t="t" r="r" b="b"/>
              <a:pathLst>
                <a:path w="243" h="267" extrusionOk="0">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187" name="Google Shape;187;p21"/>
          <p:cNvSpPr txBox="1">
            <a:spLocks noGrp="1"/>
          </p:cNvSpPr>
          <p:nvPr>
            <p:ph type="body" idx="1"/>
          </p:nvPr>
        </p:nvSpPr>
        <p:spPr>
          <a:xfrm>
            <a:off x="8933144" y="345584"/>
            <a:ext cx="2804160" cy="1027760"/>
          </a:xfrm>
          <a:prstGeom prst="rect">
            <a:avLst/>
          </a:prstGeom>
          <a:noFill/>
          <a:ln>
            <a:noFill/>
          </a:ln>
        </p:spPr>
        <p:txBody>
          <a:bodyPr spcFirstLastPara="1" wrap="square" lIns="0" tIns="0" rIns="0" bIns="0" anchor="t" anchorCtr="0">
            <a:noAutofit/>
          </a:bodyPr>
          <a:lstStyle>
            <a:lvl1pPr marL="457200" lvl="0" indent="-279400" algn="l">
              <a:spcBef>
                <a:spcPts val="139"/>
              </a:spcBef>
              <a:spcAft>
                <a:spcPts val="0"/>
              </a:spcAft>
              <a:buClr>
                <a:schemeClr val="dk1"/>
              </a:buClr>
              <a:buSzPts val="800"/>
              <a:buFont typeface="Calibri"/>
              <a:buChar char="•"/>
              <a:defRPr sz="800">
                <a:solidFill>
                  <a:schemeClr val="dk1"/>
                </a:solidFill>
              </a:defRPr>
            </a:lvl1pPr>
            <a:lvl2pPr marL="914400" lvl="1" indent="-274764" algn="l">
              <a:spcBef>
                <a:spcPts val="750"/>
              </a:spcBef>
              <a:spcAft>
                <a:spcPts val="0"/>
              </a:spcAft>
              <a:buClr>
                <a:schemeClr val="dk2"/>
              </a:buClr>
              <a:buSzPts val="727"/>
              <a:buChar char="•"/>
              <a:defRPr sz="727">
                <a:solidFill>
                  <a:schemeClr val="dk2"/>
                </a:solidFill>
              </a:defRPr>
            </a:lvl2pPr>
            <a:lvl3pPr marL="1371600" lvl="2" indent="-274764" algn="l">
              <a:spcBef>
                <a:spcPts val="750"/>
              </a:spcBef>
              <a:spcAft>
                <a:spcPts val="0"/>
              </a:spcAft>
              <a:buClr>
                <a:schemeClr val="dk2"/>
              </a:buClr>
              <a:buSzPts val="727"/>
              <a:buChar char="−"/>
              <a:defRPr sz="727">
                <a:solidFill>
                  <a:schemeClr val="dk2"/>
                </a:solidFill>
              </a:defRPr>
            </a:lvl3pPr>
            <a:lvl4pPr marL="1828800" lvl="3" indent="-272542" algn="l">
              <a:spcBef>
                <a:spcPts val="750"/>
              </a:spcBef>
              <a:spcAft>
                <a:spcPts val="0"/>
              </a:spcAft>
              <a:buClr>
                <a:schemeClr val="dk2"/>
              </a:buClr>
              <a:buSzPts val="692"/>
              <a:buChar char="◦"/>
              <a:defRPr sz="692">
                <a:solidFill>
                  <a:schemeClr val="dk2"/>
                </a:solidFill>
              </a:defRPr>
            </a:lvl4pPr>
            <a:lvl5pPr marL="2286000" lvl="4" indent="-272542" algn="l">
              <a:spcBef>
                <a:spcPts val="750"/>
              </a:spcBef>
              <a:spcAft>
                <a:spcPts val="0"/>
              </a:spcAft>
              <a:buClr>
                <a:schemeClr val="dk2"/>
              </a:buClr>
              <a:buSzPts val="692"/>
              <a:buChar char="−"/>
              <a:defRPr sz="692">
                <a:solidFill>
                  <a:schemeClr val="dk2"/>
                </a:solidFill>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188" name="Google Shape;188;p21"/>
          <p:cNvSpPr txBox="1">
            <a:spLocks noGrp="1"/>
          </p:cNvSpPr>
          <p:nvPr>
            <p:ph type="body" idx="2"/>
          </p:nvPr>
        </p:nvSpPr>
        <p:spPr>
          <a:xfrm>
            <a:off x="463296" y="1714500"/>
            <a:ext cx="3549904" cy="4648200"/>
          </a:xfrm>
          <a:prstGeom prst="rect">
            <a:avLst/>
          </a:prstGeom>
          <a:noFill/>
          <a:ln>
            <a:noFill/>
          </a:ln>
        </p:spPr>
        <p:txBody>
          <a:bodyPr spcFirstLastPara="1" wrap="square" lIns="0" tIns="0" rIns="0" bIns="0" anchor="t" anchorCtr="0">
            <a:noAutofit/>
          </a:bodyPr>
          <a:lstStyle>
            <a:lvl1pPr marL="457200" lvl="0" indent="-304800" algn="l">
              <a:spcBef>
                <a:spcPts val="0"/>
              </a:spcBef>
              <a:spcAft>
                <a:spcPts val="0"/>
              </a:spcAft>
              <a:buClr>
                <a:schemeClr val="dk1"/>
              </a:buClr>
              <a:buSzPts val="1200"/>
              <a:buFont typeface="Calibri"/>
              <a:buChar char="•"/>
              <a:defRPr sz="1200"/>
            </a:lvl1pPr>
            <a:lvl2pPr marL="914400" lvl="1" indent="-304800" algn="l">
              <a:spcBef>
                <a:spcPts val="416"/>
              </a:spcBef>
              <a:spcAft>
                <a:spcPts val="0"/>
              </a:spcAft>
              <a:buClr>
                <a:schemeClr val="dk1"/>
              </a:buClr>
              <a:buSzPts val="1200"/>
              <a:buChar char="•"/>
              <a:defRPr/>
            </a:lvl2pPr>
            <a:lvl3pPr marL="1371600" lvl="2" indent="-304800" algn="l">
              <a:spcBef>
                <a:spcPts val="750"/>
              </a:spcBef>
              <a:spcAft>
                <a:spcPts val="0"/>
              </a:spcAft>
              <a:buClr>
                <a:schemeClr val="dk1"/>
              </a:buClr>
              <a:buSzPts val="1200"/>
              <a:buChar char="−"/>
              <a:defRPr/>
            </a:lvl3pPr>
            <a:lvl4pPr marL="1828800" lvl="3" indent="-304800" algn="l">
              <a:spcBef>
                <a:spcPts val="750"/>
              </a:spcBef>
              <a:spcAft>
                <a:spcPts val="0"/>
              </a:spcAft>
              <a:buClr>
                <a:schemeClr val="dk1"/>
              </a:buClr>
              <a:buSzPts val="1200"/>
              <a:buChar char="◦"/>
              <a:defRPr/>
            </a:lvl4pPr>
            <a:lvl5pPr marL="2286000" lvl="4" indent="-304800" algn="l">
              <a:spcBef>
                <a:spcPts val="750"/>
              </a:spcBef>
              <a:spcAft>
                <a:spcPts val="0"/>
              </a:spcAft>
              <a:buClr>
                <a:schemeClr val="dk1"/>
              </a:buClr>
              <a:buSzPts val="12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189" name="Google Shape;189;p21"/>
          <p:cNvSpPr txBox="1">
            <a:spLocks noGrp="1"/>
          </p:cNvSpPr>
          <p:nvPr>
            <p:ph type="body" idx="3"/>
          </p:nvPr>
        </p:nvSpPr>
        <p:spPr>
          <a:xfrm>
            <a:off x="4318000" y="1719073"/>
            <a:ext cx="7416801" cy="4643628"/>
          </a:xfrm>
          <a:prstGeom prst="rect">
            <a:avLst/>
          </a:prstGeom>
          <a:noFill/>
          <a:ln>
            <a:noFill/>
          </a:ln>
        </p:spPr>
        <p:txBody>
          <a:bodyPr spcFirstLastPara="1" wrap="square" lIns="0" tIns="0" rIns="0" bIns="0" anchor="t" anchorCtr="0">
            <a:noAutofit/>
          </a:bodyPr>
          <a:lstStyle>
            <a:lvl1pPr marL="457200" lvl="0" indent="-228600" algn="l">
              <a:spcBef>
                <a:spcPts val="1247"/>
              </a:spcBef>
              <a:spcAft>
                <a:spcPts val="0"/>
              </a:spcAft>
              <a:buClr>
                <a:schemeClr val="dk1"/>
              </a:buClr>
              <a:buSzPts val="1200"/>
              <a:buFont typeface="Calibri"/>
              <a:buNone/>
              <a:defRPr sz="1200"/>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750"/>
              </a:spcBef>
              <a:spcAft>
                <a:spcPts val="0"/>
              </a:spcAft>
              <a:buClr>
                <a:schemeClr val="dk1"/>
              </a:buClr>
              <a:buSzPts val="1200"/>
              <a:buFont typeface="Arial"/>
              <a:buChar char="−"/>
              <a:defRPr sz="1200"/>
            </a:lvl3pPr>
            <a:lvl4pPr marL="1828800" lvl="3" indent="-304800" algn="l">
              <a:spcBef>
                <a:spcPts val="750"/>
              </a:spcBef>
              <a:spcAft>
                <a:spcPts val="0"/>
              </a:spcAft>
              <a:buClr>
                <a:schemeClr val="dk1"/>
              </a:buClr>
              <a:buSzPts val="1200"/>
              <a:buFont typeface="Arial"/>
              <a:buChar char="◦"/>
              <a:defRPr sz="1200"/>
            </a:lvl4pPr>
            <a:lvl5pPr marL="2286000" lvl="4" indent="-304800" algn="l">
              <a:spcBef>
                <a:spcPts val="750"/>
              </a:spcBef>
              <a:spcAft>
                <a:spcPts val="0"/>
              </a:spcAft>
              <a:buClr>
                <a:schemeClr val="dk1"/>
              </a:buClr>
              <a:buSzPts val="1200"/>
              <a:buFont typeface="Arial"/>
              <a:buChar char="−"/>
              <a:defRPr sz="1200"/>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s with image">
  <p:cSld name="Contents with image">
    <p:spTree>
      <p:nvGrpSpPr>
        <p:cNvPr id="1" name="Shape 190"/>
        <p:cNvGrpSpPr/>
        <p:nvPr/>
      </p:nvGrpSpPr>
      <p:grpSpPr>
        <a:xfrm>
          <a:off x="0" y="0"/>
          <a:ext cx="0" cy="0"/>
          <a:chOff x="0" y="0"/>
          <a:chExt cx="0" cy="0"/>
        </a:xfrm>
      </p:grpSpPr>
      <p:sp>
        <p:nvSpPr>
          <p:cNvPr id="191" name="Google Shape;191;p22"/>
          <p:cNvSpPr txBox="1">
            <a:spLocks noGrp="1"/>
          </p:cNvSpPr>
          <p:nvPr>
            <p:ph type="title"/>
          </p:nvPr>
        </p:nvSpPr>
        <p:spPr>
          <a:xfrm>
            <a:off x="463295" y="347472"/>
            <a:ext cx="11228832" cy="698500"/>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2" name="Google Shape;192;p22"/>
          <p:cNvSpPr>
            <a:spLocks noGrp="1"/>
          </p:cNvSpPr>
          <p:nvPr>
            <p:ph type="pic" idx="2"/>
          </p:nvPr>
        </p:nvSpPr>
        <p:spPr>
          <a:xfrm>
            <a:off x="5450351" y="1714500"/>
            <a:ext cx="6240000" cy="4648200"/>
          </a:xfrm>
          <a:prstGeom prst="rect">
            <a:avLst/>
          </a:prstGeom>
          <a:noFill/>
          <a:ln>
            <a:noFill/>
          </a:ln>
        </p:spPr>
      </p:sp>
      <p:sp>
        <p:nvSpPr>
          <p:cNvPr id="193" name="Google Shape;193;p22"/>
          <p:cNvSpPr txBox="1">
            <a:spLocks noGrp="1"/>
          </p:cNvSpPr>
          <p:nvPr>
            <p:ph type="body" idx="1"/>
          </p:nvPr>
        </p:nvSpPr>
        <p:spPr>
          <a:xfrm>
            <a:off x="463296" y="1714500"/>
            <a:ext cx="4413504" cy="46482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1"/>
              </a:buClr>
              <a:buSzPts val="1200"/>
              <a:buFont typeface="Calibri"/>
              <a:buNone/>
              <a:defRPr sz="1200">
                <a:latin typeface="Calibri"/>
                <a:ea typeface="Calibri"/>
                <a:cs typeface="Calibri"/>
                <a:sym typeface="Calibri"/>
              </a:defRPr>
            </a:lvl1pPr>
            <a:lvl2pPr marL="914400" lvl="1" indent="-304800" algn="l">
              <a:spcBef>
                <a:spcPts val="750"/>
              </a:spcBef>
              <a:spcAft>
                <a:spcPts val="0"/>
              </a:spcAft>
              <a:buClr>
                <a:schemeClr val="dk1"/>
              </a:buClr>
              <a:buSzPts val="1200"/>
              <a:buFont typeface="Arial"/>
              <a:buChar char="•"/>
              <a:defRPr sz="1200">
                <a:latin typeface="Calibri"/>
                <a:ea typeface="Calibri"/>
                <a:cs typeface="Calibri"/>
                <a:sym typeface="Calibri"/>
              </a:defRPr>
            </a:lvl2pPr>
            <a:lvl3pPr marL="1371600" lvl="2" indent="-304800" algn="l">
              <a:spcBef>
                <a:spcPts val="750"/>
              </a:spcBef>
              <a:spcAft>
                <a:spcPts val="0"/>
              </a:spcAft>
              <a:buClr>
                <a:schemeClr val="dk1"/>
              </a:buClr>
              <a:buSzPts val="1200"/>
              <a:buFont typeface="Arial"/>
              <a:buChar char="−"/>
              <a:defRPr sz="1200">
                <a:latin typeface="Calibri"/>
                <a:ea typeface="Calibri"/>
                <a:cs typeface="Calibri"/>
                <a:sym typeface="Calibri"/>
              </a:defRPr>
            </a:lvl3pPr>
            <a:lvl4pPr marL="1828800" lvl="3" indent="-304800" algn="l">
              <a:spcBef>
                <a:spcPts val="750"/>
              </a:spcBef>
              <a:spcAft>
                <a:spcPts val="0"/>
              </a:spcAft>
              <a:buClr>
                <a:schemeClr val="dk1"/>
              </a:buClr>
              <a:buSzPts val="1200"/>
              <a:buFont typeface="Arial"/>
              <a:buChar char="◦"/>
              <a:defRPr sz="1200">
                <a:latin typeface="Calibri"/>
                <a:ea typeface="Calibri"/>
                <a:cs typeface="Calibri"/>
                <a:sym typeface="Calibri"/>
              </a:defRPr>
            </a:lvl4pPr>
            <a:lvl5pPr marL="2286000" lvl="4" indent="-304800" algn="l">
              <a:spcBef>
                <a:spcPts val="750"/>
              </a:spcBef>
              <a:spcAft>
                <a:spcPts val="0"/>
              </a:spcAft>
              <a:buClr>
                <a:schemeClr val="dk1"/>
              </a:buClr>
              <a:buSzPts val="1200"/>
              <a:buFont typeface="Arial"/>
              <a:buChar char="−"/>
              <a:defRPr sz="1200">
                <a:latin typeface="Calibri"/>
                <a:ea typeface="Calibri"/>
                <a:cs typeface="Calibri"/>
                <a:sym typeface="Calibri"/>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Tree>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2 columns of text">
  <p:cSld name="2 columns of text">
    <p:spTree>
      <p:nvGrpSpPr>
        <p:cNvPr id="1" name="Shape 194"/>
        <p:cNvGrpSpPr/>
        <p:nvPr/>
      </p:nvGrpSpPr>
      <p:grpSpPr>
        <a:xfrm>
          <a:off x="0" y="0"/>
          <a:ext cx="0" cy="0"/>
          <a:chOff x="0" y="0"/>
          <a:chExt cx="0" cy="0"/>
        </a:xfrm>
      </p:grpSpPr>
      <p:sp>
        <p:nvSpPr>
          <p:cNvPr id="195" name="Google Shape;195;p23"/>
          <p:cNvSpPr txBox="1">
            <a:spLocks noGrp="1"/>
          </p:cNvSpPr>
          <p:nvPr>
            <p:ph type="body" idx="1"/>
          </p:nvPr>
        </p:nvSpPr>
        <p:spPr>
          <a:xfrm>
            <a:off x="463296" y="1719072"/>
            <a:ext cx="5480304" cy="4643628"/>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1"/>
              </a:buClr>
              <a:buSzPts val="1200"/>
              <a:buFont typeface="Calibri"/>
              <a:buNone/>
              <a:defRPr sz="1200"/>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750"/>
              </a:spcBef>
              <a:spcAft>
                <a:spcPts val="0"/>
              </a:spcAft>
              <a:buClr>
                <a:schemeClr val="dk1"/>
              </a:buClr>
              <a:buSzPts val="1200"/>
              <a:buFont typeface="Arial"/>
              <a:buChar char="−"/>
              <a:defRPr sz="1200"/>
            </a:lvl3pPr>
            <a:lvl4pPr marL="1828800" lvl="3" indent="-304800" algn="l">
              <a:spcBef>
                <a:spcPts val="750"/>
              </a:spcBef>
              <a:spcAft>
                <a:spcPts val="0"/>
              </a:spcAft>
              <a:buClr>
                <a:schemeClr val="dk1"/>
              </a:buClr>
              <a:buSzPts val="1200"/>
              <a:buFont typeface="Arial"/>
              <a:buChar char="◦"/>
              <a:defRPr sz="1200"/>
            </a:lvl4pPr>
            <a:lvl5pPr marL="2286000" lvl="4" indent="-304800" algn="l">
              <a:spcBef>
                <a:spcPts val="750"/>
              </a:spcBef>
              <a:spcAft>
                <a:spcPts val="0"/>
              </a:spcAft>
              <a:buClr>
                <a:schemeClr val="dk1"/>
              </a:buClr>
              <a:buSzPts val="1200"/>
              <a:buFont typeface="Arial"/>
              <a:buChar char="−"/>
              <a:defRPr sz="1200"/>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196" name="Google Shape;196;p23"/>
          <p:cNvSpPr txBox="1">
            <a:spLocks noGrp="1"/>
          </p:cNvSpPr>
          <p:nvPr>
            <p:ph type="body" idx="2"/>
          </p:nvPr>
        </p:nvSpPr>
        <p:spPr>
          <a:xfrm>
            <a:off x="6248404" y="1719072"/>
            <a:ext cx="5486397" cy="4643628"/>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1"/>
              </a:buClr>
              <a:buSzPts val="1200"/>
              <a:buFont typeface="Calibri"/>
              <a:buNone/>
              <a:defRPr sz="1200"/>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750"/>
              </a:spcBef>
              <a:spcAft>
                <a:spcPts val="0"/>
              </a:spcAft>
              <a:buClr>
                <a:schemeClr val="dk1"/>
              </a:buClr>
              <a:buSzPts val="1200"/>
              <a:buFont typeface="Arial"/>
              <a:buChar char="−"/>
              <a:defRPr sz="1200"/>
            </a:lvl3pPr>
            <a:lvl4pPr marL="1828800" lvl="3" indent="-304800" algn="l">
              <a:spcBef>
                <a:spcPts val="750"/>
              </a:spcBef>
              <a:spcAft>
                <a:spcPts val="0"/>
              </a:spcAft>
              <a:buClr>
                <a:schemeClr val="dk1"/>
              </a:buClr>
              <a:buSzPts val="1200"/>
              <a:buFont typeface="Arial"/>
              <a:buChar char="◦"/>
              <a:defRPr sz="1200"/>
            </a:lvl4pPr>
            <a:lvl5pPr marL="2286000" lvl="4" indent="-304800" algn="l">
              <a:spcBef>
                <a:spcPts val="750"/>
              </a:spcBef>
              <a:spcAft>
                <a:spcPts val="0"/>
              </a:spcAft>
              <a:buClr>
                <a:schemeClr val="dk1"/>
              </a:buClr>
              <a:buSzPts val="1200"/>
              <a:buFont typeface="Arial"/>
              <a:buChar char="−"/>
              <a:defRPr sz="1200"/>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197" name="Google Shape;197;p23"/>
          <p:cNvSpPr txBox="1">
            <a:spLocks noGrp="1"/>
          </p:cNvSpPr>
          <p:nvPr>
            <p:ph type="body" idx="3"/>
          </p:nvPr>
        </p:nvSpPr>
        <p:spPr>
          <a:xfrm>
            <a:off x="463295" y="682940"/>
            <a:ext cx="11277600" cy="757255"/>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2"/>
              </a:buClr>
              <a:buSzPts val="1800"/>
              <a:buFont typeface="Calibri"/>
              <a:buNone/>
              <a:defRPr sz="1800" b="0">
                <a:solidFill>
                  <a:schemeClr val="dk2"/>
                </a:solidFill>
              </a:defRPr>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198" name="Google Shape;198;p23"/>
          <p:cNvSpPr txBox="1">
            <a:spLocks noGrp="1"/>
          </p:cNvSpPr>
          <p:nvPr>
            <p:ph type="title"/>
          </p:nvPr>
        </p:nvSpPr>
        <p:spPr>
          <a:xfrm>
            <a:off x="463295" y="345992"/>
            <a:ext cx="11277600" cy="334099"/>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 columns - large">
  <p:cSld name="2 columns - large">
    <p:spTree>
      <p:nvGrpSpPr>
        <p:cNvPr id="1" name="Shape 199"/>
        <p:cNvGrpSpPr/>
        <p:nvPr/>
      </p:nvGrpSpPr>
      <p:grpSpPr>
        <a:xfrm>
          <a:off x="0" y="0"/>
          <a:ext cx="0" cy="0"/>
          <a:chOff x="0" y="0"/>
          <a:chExt cx="0" cy="0"/>
        </a:xfrm>
      </p:grpSpPr>
      <p:sp>
        <p:nvSpPr>
          <p:cNvPr id="200" name="Google Shape;200;p24"/>
          <p:cNvSpPr txBox="1">
            <a:spLocks noGrp="1"/>
          </p:cNvSpPr>
          <p:nvPr>
            <p:ph type="body" idx="1"/>
          </p:nvPr>
        </p:nvSpPr>
        <p:spPr>
          <a:xfrm>
            <a:off x="463295" y="682940"/>
            <a:ext cx="11277600" cy="757255"/>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2"/>
              </a:buClr>
              <a:buSzPts val="1800"/>
              <a:buFont typeface="Calibri"/>
              <a:buNone/>
              <a:defRPr sz="1800" b="0">
                <a:solidFill>
                  <a:schemeClr val="dk2"/>
                </a:solidFill>
              </a:defRPr>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01" name="Google Shape;201;p24"/>
          <p:cNvSpPr txBox="1">
            <a:spLocks noGrp="1"/>
          </p:cNvSpPr>
          <p:nvPr>
            <p:ph type="title"/>
          </p:nvPr>
        </p:nvSpPr>
        <p:spPr>
          <a:xfrm>
            <a:off x="463295" y="345992"/>
            <a:ext cx="11277600" cy="334099"/>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2" name="Google Shape;202;p24"/>
          <p:cNvSpPr txBox="1">
            <a:spLocks noGrp="1"/>
          </p:cNvSpPr>
          <p:nvPr>
            <p:ph type="body" idx="2"/>
          </p:nvPr>
        </p:nvSpPr>
        <p:spPr>
          <a:xfrm>
            <a:off x="463296" y="1719072"/>
            <a:ext cx="5480304" cy="4643628"/>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1"/>
              </a:buClr>
              <a:buSzPts val="1200"/>
              <a:buFont typeface="Calibri"/>
              <a:buNone/>
              <a:defRPr sz="1200"/>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750"/>
              </a:spcBef>
              <a:spcAft>
                <a:spcPts val="0"/>
              </a:spcAft>
              <a:buClr>
                <a:schemeClr val="dk1"/>
              </a:buClr>
              <a:buSzPts val="1200"/>
              <a:buFont typeface="Arial"/>
              <a:buChar char="−"/>
              <a:defRPr sz="1200"/>
            </a:lvl3pPr>
            <a:lvl4pPr marL="1828800" lvl="3" indent="-304800" algn="l">
              <a:spcBef>
                <a:spcPts val="750"/>
              </a:spcBef>
              <a:spcAft>
                <a:spcPts val="0"/>
              </a:spcAft>
              <a:buClr>
                <a:schemeClr val="dk1"/>
              </a:buClr>
              <a:buSzPts val="1200"/>
              <a:buFont typeface="Arial"/>
              <a:buChar char="◦"/>
              <a:defRPr sz="1200"/>
            </a:lvl4pPr>
            <a:lvl5pPr marL="2286000" lvl="4" indent="-304800" algn="l">
              <a:spcBef>
                <a:spcPts val="750"/>
              </a:spcBef>
              <a:spcAft>
                <a:spcPts val="0"/>
              </a:spcAft>
              <a:buClr>
                <a:schemeClr val="dk1"/>
              </a:buClr>
              <a:buSzPts val="1200"/>
              <a:buFont typeface="Arial"/>
              <a:buChar char="−"/>
              <a:defRPr sz="1200"/>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03" name="Google Shape;203;p24"/>
          <p:cNvSpPr txBox="1">
            <a:spLocks noGrp="1"/>
          </p:cNvSpPr>
          <p:nvPr>
            <p:ph type="body" idx="3"/>
          </p:nvPr>
        </p:nvSpPr>
        <p:spPr>
          <a:xfrm>
            <a:off x="6260591" y="1714500"/>
            <a:ext cx="5480304" cy="4643628"/>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1"/>
              </a:buClr>
              <a:buSzPts val="1200"/>
              <a:buFont typeface="Calibri"/>
              <a:buNone/>
              <a:defRPr sz="1200"/>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750"/>
              </a:spcBef>
              <a:spcAft>
                <a:spcPts val="0"/>
              </a:spcAft>
              <a:buClr>
                <a:schemeClr val="dk1"/>
              </a:buClr>
              <a:buSzPts val="1200"/>
              <a:buFont typeface="Arial"/>
              <a:buChar char="−"/>
              <a:defRPr sz="1200"/>
            </a:lvl3pPr>
            <a:lvl4pPr marL="1828800" lvl="3" indent="-304800" algn="l">
              <a:spcBef>
                <a:spcPts val="750"/>
              </a:spcBef>
              <a:spcAft>
                <a:spcPts val="0"/>
              </a:spcAft>
              <a:buClr>
                <a:schemeClr val="dk1"/>
              </a:buClr>
              <a:buSzPts val="1200"/>
              <a:buFont typeface="Arial"/>
              <a:buChar char="◦"/>
              <a:defRPr sz="1200"/>
            </a:lvl4pPr>
            <a:lvl5pPr marL="2286000" lvl="4" indent="-304800" algn="l">
              <a:spcBef>
                <a:spcPts val="750"/>
              </a:spcBef>
              <a:spcAft>
                <a:spcPts val="0"/>
              </a:spcAft>
              <a:buClr>
                <a:schemeClr val="dk1"/>
              </a:buClr>
              <a:buSzPts val="1200"/>
              <a:buFont typeface="Arial"/>
              <a:buChar char="−"/>
              <a:defRPr sz="1200"/>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Tree>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ubtitle &amp; chart">
  <p:cSld name="Title, subtitle &amp; chart">
    <p:spTree>
      <p:nvGrpSpPr>
        <p:cNvPr id="1" name="Shape 204"/>
        <p:cNvGrpSpPr/>
        <p:nvPr/>
      </p:nvGrpSpPr>
      <p:grpSpPr>
        <a:xfrm>
          <a:off x="0" y="0"/>
          <a:ext cx="0" cy="0"/>
          <a:chOff x="0" y="0"/>
          <a:chExt cx="0" cy="0"/>
        </a:xfrm>
      </p:grpSpPr>
      <p:sp>
        <p:nvSpPr>
          <p:cNvPr id="205" name="Google Shape;205;p25"/>
          <p:cNvSpPr txBox="1">
            <a:spLocks noGrp="1"/>
          </p:cNvSpPr>
          <p:nvPr>
            <p:ph type="body" idx="1"/>
          </p:nvPr>
        </p:nvSpPr>
        <p:spPr>
          <a:xfrm>
            <a:off x="457201" y="685801"/>
            <a:ext cx="11277599" cy="1027633"/>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2"/>
              </a:buClr>
              <a:buSzPts val="1800"/>
              <a:buFont typeface="Calibri"/>
              <a:buNone/>
              <a:defRPr sz="1800" b="0">
                <a:solidFill>
                  <a:schemeClr val="dk2"/>
                </a:solidFill>
              </a:defRPr>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06" name="Google Shape;206;p25"/>
          <p:cNvSpPr>
            <a:spLocks noGrp="1"/>
          </p:cNvSpPr>
          <p:nvPr>
            <p:ph type="chart" idx="2"/>
          </p:nvPr>
        </p:nvSpPr>
        <p:spPr>
          <a:xfrm>
            <a:off x="463296" y="2078281"/>
            <a:ext cx="11271504" cy="4042735"/>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1pPr>
            <a:lvl2pPr marR="0" lvl="1" algn="l" rtl="0">
              <a:spcBef>
                <a:spcPts val="750"/>
              </a:spcBef>
              <a:spcAft>
                <a:spcPts val="0"/>
              </a:spcAft>
              <a:buClr>
                <a:schemeClr val="dk1"/>
              </a:buClr>
              <a:buSzPts val="1200"/>
              <a:buFont typeface="Arial"/>
              <a:buChar char="•"/>
              <a:defRPr sz="1200" b="1" i="0" u="none" strike="noStrike" cap="none">
                <a:solidFill>
                  <a:schemeClr val="dk1"/>
                </a:solidFill>
                <a:latin typeface="Calibri"/>
                <a:ea typeface="Calibri"/>
                <a:cs typeface="Calibri"/>
                <a:sym typeface="Calibri"/>
              </a:defRPr>
            </a:lvl2pPr>
            <a:lvl3pPr marR="0" lvl="2"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R="0" lvl="3"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4pPr>
            <a:lvl5pPr marR="0" lvl="4"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5pPr>
            <a:lvl6pPr marR="0" lvl="5"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6pPr>
            <a:lvl7pPr marR="0" lvl="6"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7pPr>
            <a:lvl8pPr marR="0" lvl="7"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8pPr>
            <a:lvl9pPr marR="0" lvl="8" algn="l" rtl="0">
              <a:spcBef>
                <a:spcPts val="750"/>
              </a:spcBef>
              <a:spcAft>
                <a:spcPts val="75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9pPr>
          </a:lstStyle>
          <a:p>
            <a:endParaRPr/>
          </a:p>
        </p:txBody>
      </p:sp>
      <p:sp>
        <p:nvSpPr>
          <p:cNvPr id="207" name="Google Shape;207;p25"/>
          <p:cNvSpPr txBox="1">
            <a:spLocks noGrp="1"/>
          </p:cNvSpPr>
          <p:nvPr>
            <p:ph type="body" idx="3"/>
          </p:nvPr>
        </p:nvSpPr>
        <p:spPr>
          <a:xfrm>
            <a:off x="463296" y="1717263"/>
            <a:ext cx="11271504" cy="357187"/>
          </a:xfrm>
          <a:prstGeom prst="rect">
            <a:avLst/>
          </a:prstGeom>
          <a:noFill/>
          <a:ln>
            <a:noFill/>
          </a:ln>
        </p:spPr>
        <p:txBody>
          <a:bodyPr spcFirstLastPara="1" wrap="square" lIns="0" tIns="0" rIns="0" bIns="0" anchor="t" anchorCtr="0">
            <a:noAutofit/>
          </a:bodyPr>
          <a:lstStyle>
            <a:lvl1pPr marL="457200" lvl="0" indent="-304800" algn="l">
              <a:spcBef>
                <a:spcPts val="0"/>
              </a:spcBef>
              <a:spcAft>
                <a:spcPts val="0"/>
              </a:spcAft>
              <a:buClr>
                <a:schemeClr val="dk1"/>
              </a:buClr>
              <a:buSzPts val="1200"/>
              <a:buFont typeface="Calibri"/>
              <a:buChar char="•"/>
              <a:defRPr sz="1200"/>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08" name="Google Shape;208;p25"/>
          <p:cNvSpPr txBox="1">
            <a:spLocks noGrp="1"/>
          </p:cNvSpPr>
          <p:nvPr>
            <p:ph type="title"/>
          </p:nvPr>
        </p:nvSpPr>
        <p:spPr>
          <a:xfrm>
            <a:off x="463294" y="350300"/>
            <a:ext cx="11265412" cy="335500"/>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p25"/>
          <p:cNvSpPr txBox="1">
            <a:spLocks noGrp="1"/>
          </p:cNvSpPr>
          <p:nvPr>
            <p:ph type="body" idx="4"/>
          </p:nvPr>
        </p:nvSpPr>
        <p:spPr>
          <a:xfrm>
            <a:off x="457201" y="6121016"/>
            <a:ext cx="11277599" cy="241685"/>
          </a:xfrm>
          <a:prstGeom prst="rect">
            <a:avLst/>
          </a:prstGeom>
          <a:noFill/>
          <a:ln>
            <a:noFill/>
          </a:ln>
        </p:spPr>
        <p:txBody>
          <a:bodyPr spcFirstLastPara="1" wrap="square" lIns="0" tIns="0" rIns="0" bIns="0" anchor="t" anchorCtr="0">
            <a:noAutofit/>
          </a:bodyPr>
          <a:lstStyle>
            <a:lvl1pPr marL="457200" lvl="0" indent="-285750" algn="l">
              <a:spcBef>
                <a:spcPts val="0"/>
              </a:spcBef>
              <a:spcAft>
                <a:spcPts val="0"/>
              </a:spcAft>
              <a:buClr>
                <a:schemeClr val="dk1"/>
              </a:buClr>
              <a:buSzPts val="900"/>
              <a:buFont typeface="Calibri"/>
              <a:buChar char="•"/>
              <a:defRPr sz="900"/>
            </a:lvl1pPr>
            <a:lvl2pPr marL="914400" lvl="1" indent="-342900" algn="l">
              <a:spcBef>
                <a:spcPts val="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ext and chart">
  <p:cSld name="Text and chart">
    <p:spTree>
      <p:nvGrpSpPr>
        <p:cNvPr id="1" name="Shape 210"/>
        <p:cNvGrpSpPr/>
        <p:nvPr/>
      </p:nvGrpSpPr>
      <p:grpSpPr>
        <a:xfrm>
          <a:off x="0" y="0"/>
          <a:ext cx="0" cy="0"/>
          <a:chOff x="0" y="0"/>
          <a:chExt cx="0" cy="0"/>
        </a:xfrm>
      </p:grpSpPr>
      <p:sp>
        <p:nvSpPr>
          <p:cNvPr id="211" name="Google Shape;211;p26"/>
          <p:cNvSpPr>
            <a:spLocks noGrp="1"/>
          </p:cNvSpPr>
          <p:nvPr>
            <p:ph type="chart" idx="2"/>
          </p:nvPr>
        </p:nvSpPr>
        <p:spPr>
          <a:xfrm>
            <a:off x="6256871" y="2137713"/>
            <a:ext cx="5480304" cy="3983302"/>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1pPr>
            <a:lvl2pPr marR="0" lvl="1" algn="l" rtl="0">
              <a:spcBef>
                <a:spcPts val="750"/>
              </a:spcBef>
              <a:spcAft>
                <a:spcPts val="0"/>
              </a:spcAft>
              <a:buClr>
                <a:schemeClr val="dk1"/>
              </a:buClr>
              <a:buSzPts val="1200"/>
              <a:buFont typeface="Arial"/>
              <a:buChar char="•"/>
              <a:defRPr sz="1200" b="1" i="0" u="none" strike="noStrike" cap="none">
                <a:solidFill>
                  <a:schemeClr val="dk1"/>
                </a:solidFill>
                <a:latin typeface="Calibri"/>
                <a:ea typeface="Calibri"/>
                <a:cs typeface="Calibri"/>
                <a:sym typeface="Calibri"/>
              </a:defRPr>
            </a:lvl2pPr>
            <a:lvl3pPr marR="0" lvl="2"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R="0" lvl="3"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4pPr>
            <a:lvl5pPr marR="0" lvl="4"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5pPr>
            <a:lvl6pPr marR="0" lvl="5"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6pPr>
            <a:lvl7pPr marR="0" lvl="6"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7pPr>
            <a:lvl8pPr marR="0" lvl="7"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8pPr>
            <a:lvl9pPr marR="0" lvl="8" algn="l" rtl="0">
              <a:spcBef>
                <a:spcPts val="750"/>
              </a:spcBef>
              <a:spcAft>
                <a:spcPts val="75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9pPr>
          </a:lstStyle>
          <a:p>
            <a:endParaRPr/>
          </a:p>
        </p:txBody>
      </p:sp>
      <p:sp>
        <p:nvSpPr>
          <p:cNvPr id="212" name="Google Shape;212;p26"/>
          <p:cNvSpPr txBox="1">
            <a:spLocks noGrp="1"/>
          </p:cNvSpPr>
          <p:nvPr>
            <p:ph type="body" idx="1"/>
          </p:nvPr>
        </p:nvSpPr>
        <p:spPr>
          <a:xfrm>
            <a:off x="6256871" y="1719074"/>
            <a:ext cx="5480304" cy="405940"/>
          </a:xfrm>
          <a:prstGeom prst="rect">
            <a:avLst/>
          </a:prstGeom>
          <a:noFill/>
          <a:ln>
            <a:noFill/>
          </a:ln>
        </p:spPr>
        <p:txBody>
          <a:bodyPr spcFirstLastPara="1" wrap="square" lIns="0" tIns="0" rIns="0" bIns="0" anchor="t" anchorCtr="0">
            <a:noAutofit/>
          </a:bodyPr>
          <a:lstStyle>
            <a:lvl1pPr marL="457200" lvl="0" indent="-304800" algn="l">
              <a:spcBef>
                <a:spcPts val="0"/>
              </a:spcBef>
              <a:spcAft>
                <a:spcPts val="0"/>
              </a:spcAft>
              <a:buClr>
                <a:schemeClr val="dk1"/>
              </a:buClr>
              <a:buSzPts val="1200"/>
              <a:buFont typeface="Calibri"/>
              <a:buChar char="•"/>
              <a:defRPr sz="1200"/>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13" name="Google Shape;213;p26"/>
          <p:cNvSpPr txBox="1">
            <a:spLocks noGrp="1"/>
          </p:cNvSpPr>
          <p:nvPr>
            <p:ph type="body" idx="3"/>
          </p:nvPr>
        </p:nvSpPr>
        <p:spPr>
          <a:xfrm>
            <a:off x="463297" y="6121016"/>
            <a:ext cx="11273879" cy="241685"/>
          </a:xfrm>
          <a:prstGeom prst="rect">
            <a:avLst/>
          </a:prstGeom>
          <a:noFill/>
          <a:ln>
            <a:noFill/>
          </a:ln>
        </p:spPr>
        <p:txBody>
          <a:bodyPr spcFirstLastPara="1" wrap="square" lIns="0" tIns="0" rIns="0" bIns="0" anchor="t" anchorCtr="0">
            <a:noAutofit/>
          </a:bodyPr>
          <a:lstStyle>
            <a:lvl1pPr marL="457200" lvl="0" indent="-279400" algn="l">
              <a:spcBef>
                <a:spcPts val="0"/>
              </a:spcBef>
              <a:spcAft>
                <a:spcPts val="0"/>
              </a:spcAft>
              <a:buClr>
                <a:schemeClr val="dk1"/>
              </a:buClr>
              <a:buSzPts val="800"/>
              <a:buFont typeface="Calibri"/>
              <a:buChar char="•"/>
              <a:defRPr sz="800"/>
            </a:lvl1pPr>
            <a:lvl2pPr marL="914400" lvl="1" indent="-342900" algn="l">
              <a:spcBef>
                <a:spcPts val="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14" name="Google Shape;214;p26"/>
          <p:cNvSpPr txBox="1">
            <a:spLocks noGrp="1"/>
          </p:cNvSpPr>
          <p:nvPr>
            <p:ph type="body" idx="4"/>
          </p:nvPr>
        </p:nvSpPr>
        <p:spPr>
          <a:xfrm>
            <a:off x="463295" y="682940"/>
            <a:ext cx="11277600" cy="757255"/>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2"/>
              </a:buClr>
              <a:buSzPts val="1800"/>
              <a:buFont typeface="Calibri"/>
              <a:buNone/>
              <a:defRPr sz="1800" b="0">
                <a:solidFill>
                  <a:schemeClr val="dk2"/>
                </a:solidFill>
              </a:defRPr>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15" name="Google Shape;215;p26"/>
          <p:cNvSpPr txBox="1">
            <a:spLocks noGrp="1"/>
          </p:cNvSpPr>
          <p:nvPr>
            <p:ph type="title"/>
          </p:nvPr>
        </p:nvSpPr>
        <p:spPr>
          <a:xfrm>
            <a:off x="463295" y="345992"/>
            <a:ext cx="11277600" cy="334099"/>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6" name="Google Shape;216;p26"/>
          <p:cNvSpPr txBox="1">
            <a:spLocks noGrp="1"/>
          </p:cNvSpPr>
          <p:nvPr>
            <p:ph type="body" idx="5"/>
          </p:nvPr>
        </p:nvSpPr>
        <p:spPr>
          <a:xfrm>
            <a:off x="463296" y="1719073"/>
            <a:ext cx="5480304" cy="4401943"/>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1"/>
              </a:buClr>
              <a:buSzPts val="1200"/>
              <a:buFont typeface="Calibri"/>
              <a:buNone/>
              <a:defRPr sz="1200"/>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750"/>
              </a:spcBef>
              <a:spcAft>
                <a:spcPts val="0"/>
              </a:spcAft>
              <a:buClr>
                <a:schemeClr val="dk1"/>
              </a:buClr>
              <a:buSzPts val="1200"/>
              <a:buFont typeface="Arial"/>
              <a:buChar char="−"/>
              <a:defRPr sz="1200"/>
            </a:lvl3pPr>
            <a:lvl4pPr marL="1828800" lvl="3" indent="-304800" algn="l">
              <a:spcBef>
                <a:spcPts val="750"/>
              </a:spcBef>
              <a:spcAft>
                <a:spcPts val="0"/>
              </a:spcAft>
              <a:buClr>
                <a:schemeClr val="dk1"/>
              </a:buClr>
              <a:buSzPts val="1200"/>
              <a:buFont typeface="Arial"/>
              <a:buChar char="◦"/>
              <a:defRPr sz="1200"/>
            </a:lvl4pPr>
            <a:lvl5pPr marL="2286000" lvl="4" indent="-304800" algn="l">
              <a:spcBef>
                <a:spcPts val="750"/>
              </a:spcBef>
              <a:spcAft>
                <a:spcPts val="0"/>
              </a:spcAft>
              <a:buClr>
                <a:schemeClr val="dk1"/>
              </a:buClr>
              <a:buSzPts val="1200"/>
              <a:buFont typeface="Arial"/>
              <a:buChar char="−"/>
              <a:defRPr sz="1200"/>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 chart">
  <p:cSld name="2 chart">
    <p:spTree>
      <p:nvGrpSpPr>
        <p:cNvPr id="1" name="Shape 217"/>
        <p:cNvGrpSpPr/>
        <p:nvPr/>
      </p:nvGrpSpPr>
      <p:grpSpPr>
        <a:xfrm>
          <a:off x="0" y="0"/>
          <a:ext cx="0" cy="0"/>
          <a:chOff x="0" y="0"/>
          <a:chExt cx="0" cy="0"/>
        </a:xfrm>
      </p:grpSpPr>
      <p:sp>
        <p:nvSpPr>
          <p:cNvPr id="218" name="Google Shape;218;p27"/>
          <p:cNvSpPr txBox="1">
            <a:spLocks noGrp="1"/>
          </p:cNvSpPr>
          <p:nvPr>
            <p:ph type="body" idx="1"/>
          </p:nvPr>
        </p:nvSpPr>
        <p:spPr>
          <a:xfrm>
            <a:off x="6254379" y="1719073"/>
            <a:ext cx="5486516" cy="405939"/>
          </a:xfrm>
          <a:prstGeom prst="rect">
            <a:avLst/>
          </a:prstGeom>
          <a:noFill/>
          <a:ln>
            <a:noFill/>
          </a:ln>
        </p:spPr>
        <p:txBody>
          <a:bodyPr spcFirstLastPara="1" wrap="square" lIns="0" tIns="0" rIns="0" bIns="0" anchor="t" anchorCtr="0">
            <a:noAutofit/>
          </a:bodyPr>
          <a:lstStyle>
            <a:lvl1pPr marL="457200" lvl="0" indent="-304800" algn="l">
              <a:spcBef>
                <a:spcPts val="0"/>
              </a:spcBef>
              <a:spcAft>
                <a:spcPts val="0"/>
              </a:spcAft>
              <a:buClr>
                <a:schemeClr val="dk1"/>
              </a:buClr>
              <a:buSzPts val="1200"/>
              <a:buFont typeface="Calibri"/>
              <a:buChar char="•"/>
              <a:defRPr sz="1200"/>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19" name="Google Shape;219;p27"/>
          <p:cNvSpPr txBox="1">
            <a:spLocks noGrp="1"/>
          </p:cNvSpPr>
          <p:nvPr>
            <p:ph type="body" idx="2"/>
          </p:nvPr>
        </p:nvSpPr>
        <p:spPr>
          <a:xfrm>
            <a:off x="457201" y="6121016"/>
            <a:ext cx="11277599" cy="241685"/>
          </a:xfrm>
          <a:prstGeom prst="rect">
            <a:avLst/>
          </a:prstGeom>
          <a:noFill/>
          <a:ln>
            <a:noFill/>
          </a:ln>
        </p:spPr>
        <p:txBody>
          <a:bodyPr spcFirstLastPara="1" wrap="square" lIns="0" tIns="0" rIns="0" bIns="0" anchor="t" anchorCtr="0">
            <a:noAutofit/>
          </a:bodyPr>
          <a:lstStyle>
            <a:lvl1pPr marL="457200" lvl="0" indent="-285750" algn="l">
              <a:spcBef>
                <a:spcPts val="0"/>
              </a:spcBef>
              <a:spcAft>
                <a:spcPts val="0"/>
              </a:spcAft>
              <a:buClr>
                <a:schemeClr val="dk1"/>
              </a:buClr>
              <a:buSzPts val="900"/>
              <a:buFont typeface="Calibri"/>
              <a:buChar char="•"/>
              <a:defRPr sz="900"/>
            </a:lvl1pPr>
            <a:lvl2pPr marL="914400" lvl="1" indent="-342900" algn="l">
              <a:spcBef>
                <a:spcPts val="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20" name="Google Shape;220;p27"/>
          <p:cNvSpPr>
            <a:spLocks noGrp="1"/>
          </p:cNvSpPr>
          <p:nvPr>
            <p:ph type="chart" idx="3"/>
          </p:nvPr>
        </p:nvSpPr>
        <p:spPr>
          <a:xfrm>
            <a:off x="460271" y="2125011"/>
            <a:ext cx="5480304" cy="3996002"/>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1pPr>
            <a:lvl2pPr marR="0" lvl="1" algn="l" rtl="0">
              <a:spcBef>
                <a:spcPts val="750"/>
              </a:spcBef>
              <a:spcAft>
                <a:spcPts val="0"/>
              </a:spcAft>
              <a:buClr>
                <a:schemeClr val="dk1"/>
              </a:buClr>
              <a:buSzPts val="1200"/>
              <a:buFont typeface="Arial"/>
              <a:buChar char="•"/>
              <a:defRPr sz="1200" b="1" i="0" u="none" strike="noStrike" cap="none">
                <a:solidFill>
                  <a:schemeClr val="dk1"/>
                </a:solidFill>
                <a:latin typeface="Calibri"/>
                <a:ea typeface="Calibri"/>
                <a:cs typeface="Calibri"/>
                <a:sym typeface="Calibri"/>
              </a:defRPr>
            </a:lvl2pPr>
            <a:lvl3pPr marR="0" lvl="2"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R="0" lvl="3"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4pPr>
            <a:lvl5pPr marR="0" lvl="4"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5pPr>
            <a:lvl6pPr marR="0" lvl="5"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6pPr>
            <a:lvl7pPr marR="0" lvl="6"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7pPr>
            <a:lvl8pPr marR="0" lvl="7"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8pPr>
            <a:lvl9pPr marR="0" lvl="8" algn="l" rtl="0">
              <a:spcBef>
                <a:spcPts val="750"/>
              </a:spcBef>
              <a:spcAft>
                <a:spcPts val="75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9pPr>
          </a:lstStyle>
          <a:p>
            <a:endParaRPr/>
          </a:p>
        </p:txBody>
      </p:sp>
      <p:sp>
        <p:nvSpPr>
          <p:cNvPr id="221" name="Google Shape;221;p27"/>
          <p:cNvSpPr txBox="1">
            <a:spLocks noGrp="1"/>
          </p:cNvSpPr>
          <p:nvPr>
            <p:ph type="body" idx="4"/>
          </p:nvPr>
        </p:nvSpPr>
        <p:spPr>
          <a:xfrm>
            <a:off x="463296" y="1719073"/>
            <a:ext cx="5480304" cy="405939"/>
          </a:xfrm>
          <a:prstGeom prst="rect">
            <a:avLst/>
          </a:prstGeom>
          <a:noFill/>
          <a:ln>
            <a:noFill/>
          </a:ln>
        </p:spPr>
        <p:txBody>
          <a:bodyPr spcFirstLastPara="1" wrap="square" lIns="0" tIns="0" rIns="0" bIns="0" anchor="t" anchorCtr="0">
            <a:noAutofit/>
          </a:bodyPr>
          <a:lstStyle>
            <a:lvl1pPr marL="457200" lvl="0" indent="-304800" algn="l">
              <a:spcBef>
                <a:spcPts val="0"/>
              </a:spcBef>
              <a:spcAft>
                <a:spcPts val="0"/>
              </a:spcAft>
              <a:buClr>
                <a:schemeClr val="dk1"/>
              </a:buClr>
              <a:buSzPts val="1200"/>
              <a:buFont typeface="Calibri"/>
              <a:buChar char="•"/>
              <a:defRPr sz="1200"/>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22" name="Google Shape;222;p27"/>
          <p:cNvSpPr>
            <a:spLocks noGrp="1"/>
          </p:cNvSpPr>
          <p:nvPr>
            <p:ph type="chart" idx="5"/>
          </p:nvPr>
        </p:nvSpPr>
        <p:spPr>
          <a:xfrm>
            <a:off x="6248403" y="2125011"/>
            <a:ext cx="5486397" cy="399600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1pPr>
            <a:lvl2pPr marR="0" lvl="1" algn="l" rtl="0">
              <a:spcBef>
                <a:spcPts val="750"/>
              </a:spcBef>
              <a:spcAft>
                <a:spcPts val="0"/>
              </a:spcAft>
              <a:buClr>
                <a:schemeClr val="dk1"/>
              </a:buClr>
              <a:buSzPts val="1200"/>
              <a:buFont typeface="Arial"/>
              <a:buChar char="•"/>
              <a:defRPr sz="1200" b="1" i="0" u="none" strike="noStrike" cap="none">
                <a:solidFill>
                  <a:schemeClr val="dk1"/>
                </a:solidFill>
                <a:latin typeface="Calibri"/>
                <a:ea typeface="Calibri"/>
                <a:cs typeface="Calibri"/>
                <a:sym typeface="Calibri"/>
              </a:defRPr>
            </a:lvl2pPr>
            <a:lvl3pPr marR="0" lvl="2"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R="0" lvl="3"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4pPr>
            <a:lvl5pPr marR="0" lvl="4"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5pPr>
            <a:lvl6pPr marR="0" lvl="5"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6pPr>
            <a:lvl7pPr marR="0" lvl="6"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7pPr>
            <a:lvl8pPr marR="0" lvl="7"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8pPr>
            <a:lvl9pPr marR="0" lvl="8" algn="l" rtl="0">
              <a:spcBef>
                <a:spcPts val="750"/>
              </a:spcBef>
              <a:spcAft>
                <a:spcPts val="75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9pPr>
          </a:lstStyle>
          <a:p>
            <a:endParaRPr/>
          </a:p>
        </p:txBody>
      </p:sp>
      <p:sp>
        <p:nvSpPr>
          <p:cNvPr id="223" name="Google Shape;223;p27"/>
          <p:cNvSpPr txBox="1">
            <a:spLocks noGrp="1"/>
          </p:cNvSpPr>
          <p:nvPr>
            <p:ph type="body" idx="6"/>
          </p:nvPr>
        </p:nvSpPr>
        <p:spPr>
          <a:xfrm>
            <a:off x="463295" y="682940"/>
            <a:ext cx="11277600" cy="757255"/>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2"/>
              </a:buClr>
              <a:buSzPts val="1800"/>
              <a:buFont typeface="Calibri"/>
              <a:buNone/>
              <a:defRPr sz="1800" b="0">
                <a:solidFill>
                  <a:schemeClr val="dk2"/>
                </a:solidFill>
              </a:defRPr>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24" name="Google Shape;224;p27"/>
          <p:cNvSpPr txBox="1">
            <a:spLocks noGrp="1"/>
          </p:cNvSpPr>
          <p:nvPr>
            <p:ph type="title"/>
          </p:nvPr>
        </p:nvSpPr>
        <p:spPr>
          <a:xfrm>
            <a:off x="463295" y="345992"/>
            <a:ext cx="11277600" cy="334099"/>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 column content">
  <p:cSld name="2 column content">
    <p:spTree>
      <p:nvGrpSpPr>
        <p:cNvPr id="1" name="Shape 225"/>
        <p:cNvGrpSpPr/>
        <p:nvPr/>
      </p:nvGrpSpPr>
      <p:grpSpPr>
        <a:xfrm>
          <a:off x="0" y="0"/>
          <a:ext cx="0" cy="0"/>
          <a:chOff x="0" y="0"/>
          <a:chExt cx="0" cy="0"/>
        </a:xfrm>
      </p:grpSpPr>
      <p:sp>
        <p:nvSpPr>
          <p:cNvPr id="226" name="Google Shape;226;p28"/>
          <p:cNvSpPr txBox="1">
            <a:spLocks noGrp="1"/>
          </p:cNvSpPr>
          <p:nvPr>
            <p:ph type="body" idx="1"/>
          </p:nvPr>
        </p:nvSpPr>
        <p:spPr>
          <a:xfrm>
            <a:off x="5450349" y="1718455"/>
            <a:ext cx="6290545" cy="4716463"/>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1"/>
              </a:buClr>
              <a:buSzPts val="1200"/>
              <a:buFont typeface="Calibri"/>
              <a:buNone/>
              <a:defRPr sz="1200"/>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750"/>
              </a:spcBef>
              <a:spcAft>
                <a:spcPts val="0"/>
              </a:spcAft>
              <a:buClr>
                <a:schemeClr val="dk1"/>
              </a:buClr>
              <a:buSzPts val="1200"/>
              <a:buFont typeface="Arial"/>
              <a:buChar char="−"/>
              <a:defRPr sz="1200"/>
            </a:lvl3pPr>
            <a:lvl4pPr marL="1828800" lvl="3" indent="-304800" algn="l">
              <a:spcBef>
                <a:spcPts val="750"/>
              </a:spcBef>
              <a:spcAft>
                <a:spcPts val="0"/>
              </a:spcAft>
              <a:buClr>
                <a:schemeClr val="dk1"/>
              </a:buClr>
              <a:buSzPts val="1200"/>
              <a:buFont typeface="Arial"/>
              <a:buChar char="◦"/>
              <a:defRPr sz="1200"/>
            </a:lvl4pPr>
            <a:lvl5pPr marL="2286000" lvl="4" indent="-304800" algn="l">
              <a:spcBef>
                <a:spcPts val="750"/>
              </a:spcBef>
              <a:spcAft>
                <a:spcPts val="0"/>
              </a:spcAft>
              <a:buClr>
                <a:schemeClr val="dk1"/>
              </a:buClr>
              <a:buSzPts val="1200"/>
              <a:buFont typeface="Arial"/>
              <a:buChar char="−"/>
              <a:defRPr sz="1200"/>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27" name="Google Shape;227;p28"/>
          <p:cNvSpPr txBox="1">
            <a:spLocks noGrp="1"/>
          </p:cNvSpPr>
          <p:nvPr>
            <p:ph type="body" idx="2"/>
          </p:nvPr>
        </p:nvSpPr>
        <p:spPr>
          <a:xfrm>
            <a:off x="463295" y="682940"/>
            <a:ext cx="11277600" cy="757255"/>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2"/>
              </a:buClr>
              <a:buSzPts val="1800"/>
              <a:buFont typeface="Calibri"/>
              <a:buNone/>
              <a:defRPr sz="1800" b="0">
                <a:solidFill>
                  <a:schemeClr val="dk2"/>
                </a:solidFill>
              </a:defRPr>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28" name="Google Shape;228;p28"/>
          <p:cNvSpPr txBox="1">
            <a:spLocks noGrp="1"/>
          </p:cNvSpPr>
          <p:nvPr>
            <p:ph type="title"/>
          </p:nvPr>
        </p:nvSpPr>
        <p:spPr>
          <a:xfrm>
            <a:off x="463295" y="345992"/>
            <a:ext cx="11277600" cy="334099"/>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28"/>
          <p:cNvSpPr txBox="1">
            <a:spLocks noGrp="1"/>
          </p:cNvSpPr>
          <p:nvPr>
            <p:ph type="body" idx="3"/>
          </p:nvPr>
        </p:nvSpPr>
        <p:spPr>
          <a:xfrm>
            <a:off x="463296" y="1714500"/>
            <a:ext cx="4413504" cy="46482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1"/>
              </a:buClr>
              <a:buSzPts val="1200"/>
              <a:buFont typeface="Calibri"/>
              <a:buNone/>
              <a:defRPr sz="1200">
                <a:latin typeface="Calibri"/>
                <a:ea typeface="Calibri"/>
                <a:cs typeface="Calibri"/>
                <a:sym typeface="Calibri"/>
              </a:defRPr>
            </a:lvl1pPr>
            <a:lvl2pPr marL="914400" lvl="1" indent="-304800" algn="l">
              <a:spcBef>
                <a:spcPts val="750"/>
              </a:spcBef>
              <a:spcAft>
                <a:spcPts val="0"/>
              </a:spcAft>
              <a:buClr>
                <a:schemeClr val="dk1"/>
              </a:buClr>
              <a:buSzPts val="1200"/>
              <a:buFont typeface="Arial"/>
              <a:buChar char="•"/>
              <a:defRPr sz="1200">
                <a:latin typeface="Calibri"/>
                <a:ea typeface="Calibri"/>
                <a:cs typeface="Calibri"/>
                <a:sym typeface="Calibri"/>
              </a:defRPr>
            </a:lvl2pPr>
            <a:lvl3pPr marL="1371600" lvl="2" indent="-304800" algn="l">
              <a:spcBef>
                <a:spcPts val="750"/>
              </a:spcBef>
              <a:spcAft>
                <a:spcPts val="0"/>
              </a:spcAft>
              <a:buClr>
                <a:schemeClr val="dk1"/>
              </a:buClr>
              <a:buSzPts val="1200"/>
              <a:buFont typeface="Arial"/>
              <a:buChar char="−"/>
              <a:defRPr sz="1200">
                <a:latin typeface="Calibri"/>
                <a:ea typeface="Calibri"/>
                <a:cs typeface="Calibri"/>
                <a:sym typeface="Calibri"/>
              </a:defRPr>
            </a:lvl3pPr>
            <a:lvl4pPr marL="1828800" lvl="3" indent="-304800" algn="l">
              <a:spcBef>
                <a:spcPts val="750"/>
              </a:spcBef>
              <a:spcAft>
                <a:spcPts val="0"/>
              </a:spcAft>
              <a:buClr>
                <a:schemeClr val="dk1"/>
              </a:buClr>
              <a:buSzPts val="1200"/>
              <a:buFont typeface="Arial"/>
              <a:buChar char="◦"/>
              <a:defRPr sz="1200">
                <a:latin typeface="Calibri"/>
                <a:ea typeface="Calibri"/>
                <a:cs typeface="Calibri"/>
                <a:sym typeface="Calibri"/>
              </a:defRPr>
            </a:lvl4pPr>
            <a:lvl5pPr marL="2286000" lvl="4" indent="-304800" algn="l">
              <a:spcBef>
                <a:spcPts val="750"/>
              </a:spcBef>
              <a:spcAft>
                <a:spcPts val="0"/>
              </a:spcAft>
              <a:buClr>
                <a:schemeClr val="dk1"/>
              </a:buClr>
              <a:buSzPts val="1200"/>
              <a:buFont typeface="Arial"/>
              <a:buChar char="−"/>
              <a:defRPr sz="1200">
                <a:latin typeface="Calibri"/>
                <a:ea typeface="Calibri"/>
                <a:cs typeface="Calibri"/>
                <a:sym typeface="Calibri"/>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2 content with quote ">
  <p:cSld name="2 content with quote ">
    <p:spTree>
      <p:nvGrpSpPr>
        <p:cNvPr id="1" name="Shape 230"/>
        <p:cNvGrpSpPr/>
        <p:nvPr/>
      </p:nvGrpSpPr>
      <p:grpSpPr>
        <a:xfrm>
          <a:off x="0" y="0"/>
          <a:ext cx="0" cy="0"/>
          <a:chOff x="0" y="0"/>
          <a:chExt cx="0" cy="0"/>
        </a:xfrm>
      </p:grpSpPr>
      <p:sp>
        <p:nvSpPr>
          <p:cNvPr id="231" name="Google Shape;231;p29"/>
          <p:cNvSpPr txBox="1">
            <a:spLocks noGrp="1"/>
          </p:cNvSpPr>
          <p:nvPr>
            <p:ph type="body" idx="1"/>
          </p:nvPr>
        </p:nvSpPr>
        <p:spPr>
          <a:xfrm>
            <a:off x="8192978" y="1737504"/>
            <a:ext cx="3547917" cy="4644248"/>
          </a:xfrm>
          <a:prstGeom prst="rect">
            <a:avLst/>
          </a:prstGeom>
          <a:noFill/>
          <a:ln>
            <a:noFill/>
          </a:ln>
        </p:spPr>
        <p:txBody>
          <a:bodyPr spcFirstLastPara="1" wrap="square" lIns="0" tIns="0" rIns="0" bIns="0" anchor="t" anchorCtr="0">
            <a:noAutofit/>
          </a:bodyPr>
          <a:lstStyle>
            <a:lvl1pPr marL="457200" lvl="0" indent="-342900" algn="l">
              <a:spcBef>
                <a:spcPts val="0"/>
              </a:spcBef>
              <a:spcAft>
                <a:spcPts val="0"/>
              </a:spcAft>
              <a:buClr>
                <a:schemeClr val="accent3"/>
              </a:buClr>
              <a:buSzPts val="1800"/>
              <a:buFont typeface="Calibri"/>
              <a:buChar char="•"/>
              <a:defRPr sz="1800">
                <a:solidFill>
                  <a:schemeClr val="accent3"/>
                </a:solidFill>
              </a:defRPr>
            </a:lvl1pPr>
            <a:lvl2pPr marL="914400" lvl="1" indent="-304800" algn="l">
              <a:spcBef>
                <a:spcPts val="750"/>
              </a:spcBef>
              <a:spcAft>
                <a:spcPts val="0"/>
              </a:spcAft>
              <a:buClr>
                <a:schemeClr val="dk1"/>
              </a:buClr>
              <a:buSzPts val="1200"/>
              <a:buChar char="•"/>
              <a:defRPr/>
            </a:lvl2pPr>
            <a:lvl3pPr marL="1371600" lvl="2" indent="-304800" algn="l">
              <a:spcBef>
                <a:spcPts val="750"/>
              </a:spcBef>
              <a:spcAft>
                <a:spcPts val="0"/>
              </a:spcAft>
              <a:buClr>
                <a:schemeClr val="dk1"/>
              </a:buClr>
              <a:buSzPts val="1200"/>
              <a:buChar char="−"/>
              <a:defRPr/>
            </a:lvl3pPr>
            <a:lvl4pPr marL="1828800" lvl="3" indent="-304800" algn="l">
              <a:spcBef>
                <a:spcPts val="750"/>
              </a:spcBef>
              <a:spcAft>
                <a:spcPts val="0"/>
              </a:spcAft>
              <a:buClr>
                <a:schemeClr val="dk1"/>
              </a:buClr>
              <a:buSzPts val="1200"/>
              <a:buChar char="◦"/>
              <a:defRPr/>
            </a:lvl4pPr>
            <a:lvl5pPr marL="2286000" lvl="4" indent="-304800" algn="l">
              <a:spcBef>
                <a:spcPts val="750"/>
              </a:spcBef>
              <a:spcAft>
                <a:spcPts val="0"/>
              </a:spcAft>
              <a:buClr>
                <a:schemeClr val="dk1"/>
              </a:buClr>
              <a:buSzPts val="12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32" name="Google Shape;232;p29"/>
          <p:cNvSpPr txBox="1">
            <a:spLocks noGrp="1"/>
          </p:cNvSpPr>
          <p:nvPr>
            <p:ph type="body" idx="2"/>
          </p:nvPr>
        </p:nvSpPr>
        <p:spPr>
          <a:xfrm>
            <a:off x="473296" y="1718454"/>
            <a:ext cx="7400704" cy="4644247"/>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1"/>
              </a:buClr>
              <a:buSzPts val="1200"/>
              <a:buFont typeface="Calibri"/>
              <a:buNone/>
              <a:defRPr sz="1200"/>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750"/>
              </a:spcBef>
              <a:spcAft>
                <a:spcPts val="0"/>
              </a:spcAft>
              <a:buClr>
                <a:schemeClr val="dk1"/>
              </a:buClr>
              <a:buSzPts val="1200"/>
              <a:buFont typeface="Arial"/>
              <a:buChar char="−"/>
              <a:defRPr sz="1200"/>
            </a:lvl3pPr>
            <a:lvl4pPr marL="1828800" lvl="3" indent="-304800" algn="l">
              <a:spcBef>
                <a:spcPts val="750"/>
              </a:spcBef>
              <a:spcAft>
                <a:spcPts val="0"/>
              </a:spcAft>
              <a:buClr>
                <a:schemeClr val="dk1"/>
              </a:buClr>
              <a:buSzPts val="1200"/>
              <a:buFont typeface="Arial"/>
              <a:buChar char="◦"/>
              <a:defRPr sz="1200"/>
            </a:lvl4pPr>
            <a:lvl5pPr marL="2286000" lvl="4" indent="-304800" algn="l">
              <a:spcBef>
                <a:spcPts val="750"/>
              </a:spcBef>
              <a:spcAft>
                <a:spcPts val="0"/>
              </a:spcAft>
              <a:buClr>
                <a:schemeClr val="dk1"/>
              </a:buClr>
              <a:buSzPts val="1200"/>
              <a:buFont typeface="Arial"/>
              <a:buChar char="−"/>
              <a:defRPr sz="1200"/>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33" name="Google Shape;233;p29"/>
          <p:cNvSpPr txBox="1">
            <a:spLocks noGrp="1"/>
          </p:cNvSpPr>
          <p:nvPr>
            <p:ph type="body" idx="3"/>
          </p:nvPr>
        </p:nvSpPr>
        <p:spPr>
          <a:xfrm>
            <a:off x="463295" y="682940"/>
            <a:ext cx="11277600" cy="757255"/>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2"/>
              </a:buClr>
              <a:buSzPts val="1800"/>
              <a:buFont typeface="Calibri"/>
              <a:buNone/>
              <a:defRPr sz="1800" b="0">
                <a:solidFill>
                  <a:schemeClr val="dk2"/>
                </a:solidFill>
              </a:defRPr>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34" name="Google Shape;234;p29"/>
          <p:cNvSpPr txBox="1">
            <a:spLocks noGrp="1"/>
          </p:cNvSpPr>
          <p:nvPr>
            <p:ph type="title"/>
          </p:nvPr>
        </p:nvSpPr>
        <p:spPr>
          <a:xfrm>
            <a:off x="463295" y="345992"/>
            <a:ext cx="11277600" cy="334099"/>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3 chart">
  <p:cSld name="3 chart">
    <p:spTree>
      <p:nvGrpSpPr>
        <p:cNvPr id="1" name="Shape 235"/>
        <p:cNvGrpSpPr/>
        <p:nvPr/>
      </p:nvGrpSpPr>
      <p:grpSpPr>
        <a:xfrm>
          <a:off x="0" y="0"/>
          <a:ext cx="0" cy="0"/>
          <a:chOff x="0" y="0"/>
          <a:chExt cx="0" cy="0"/>
        </a:xfrm>
      </p:grpSpPr>
      <p:sp>
        <p:nvSpPr>
          <p:cNvPr id="236" name="Google Shape;236;p30"/>
          <p:cNvSpPr>
            <a:spLocks noGrp="1"/>
          </p:cNvSpPr>
          <p:nvPr>
            <p:ph type="chart" idx="2"/>
          </p:nvPr>
        </p:nvSpPr>
        <p:spPr>
          <a:xfrm>
            <a:off x="461468" y="2115797"/>
            <a:ext cx="3549549" cy="4005216"/>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1pPr>
            <a:lvl2pPr marR="0" lvl="1" algn="l" rtl="0">
              <a:spcBef>
                <a:spcPts val="750"/>
              </a:spcBef>
              <a:spcAft>
                <a:spcPts val="0"/>
              </a:spcAft>
              <a:buClr>
                <a:schemeClr val="dk1"/>
              </a:buClr>
              <a:buSzPts val="1200"/>
              <a:buFont typeface="Arial"/>
              <a:buChar char="•"/>
              <a:defRPr sz="1200" b="1" i="0" u="none" strike="noStrike" cap="none">
                <a:solidFill>
                  <a:schemeClr val="dk1"/>
                </a:solidFill>
                <a:latin typeface="Calibri"/>
                <a:ea typeface="Calibri"/>
                <a:cs typeface="Calibri"/>
                <a:sym typeface="Calibri"/>
              </a:defRPr>
            </a:lvl2pPr>
            <a:lvl3pPr marR="0" lvl="2"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R="0" lvl="3"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4pPr>
            <a:lvl5pPr marR="0" lvl="4"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5pPr>
            <a:lvl6pPr marR="0" lvl="5"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6pPr>
            <a:lvl7pPr marR="0" lvl="6"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7pPr>
            <a:lvl8pPr marR="0" lvl="7"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8pPr>
            <a:lvl9pPr marR="0" lvl="8" algn="l" rtl="0">
              <a:spcBef>
                <a:spcPts val="750"/>
              </a:spcBef>
              <a:spcAft>
                <a:spcPts val="75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9pPr>
          </a:lstStyle>
          <a:p>
            <a:endParaRPr/>
          </a:p>
        </p:txBody>
      </p:sp>
      <p:sp>
        <p:nvSpPr>
          <p:cNvPr id="237" name="Google Shape;237;p30"/>
          <p:cNvSpPr txBox="1">
            <a:spLocks noGrp="1"/>
          </p:cNvSpPr>
          <p:nvPr>
            <p:ph type="body" idx="1"/>
          </p:nvPr>
        </p:nvSpPr>
        <p:spPr>
          <a:xfrm>
            <a:off x="459119" y="1722943"/>
            <a:ext cx="3549549" cy="392112"/>
          </a:xfrm>
          <a:prstGeom prst="rect">
            <a:avLst/>
          </a:prstGeom>
          <a:noFill/>
          <a:ln>
            <a:noFill/>
          </a:ln>
        </p:spPr>
        <p:txBody>
          <a:bodyPr spcFirstLastPara="1" wrap="square" lIns="0" tIns="0" rIns="0" bIns="0" anchor="t" anchorCtr="0">
            <a:noAutofit/>
          </a:bodyPr>
          <a:lstStyle>
            <a:lvl1pPr marL="457200" lvl="0" indent="-304800" algn="l">
              <a:spcBef>
                <a:spcPts val="0"/>
              </a:spcBef>
              <a:spcAft>
                <a:spcPts val="0"/>
              </a:spcAft>
              <a:buClr>
                <a:schemeClr val="dk1"/>
              </a:buClr>
              <a:buSzPts val="1200"/>
              <a:buFont typeface="Calibri"/>
              <a:buChar char="•"/>
              <a:defRPr sz="1200"/>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38" name="Google Shape;238;p30"/>
          <p:cNvSpPr txBox="1">
            <a:spLocks noGrp="1"/>
          </p:cNvSpPr>
          <p:nvPr>
            <p:ph type="body" idx="3"/>
          </p:nvPr>
        </p:nvSpPr>
        <p:spPr>
          <a:xfrm>
            <a:off x="461468" y="6121016"/>
            <a:ext cx="11277600" cy="241685"/>
          </a:xfrm>
          <a:prstGeom prst="rect">
            <a:avLst/>
          </a:prstGeom>
          <a:noFill/>
          <a:ln>
            <a:noFill/>
          </a:ln>
        </p:spPr>
        <p:txBody>
          <a:bodyPr spcFirstLastPara="1" wrap="square" lIns="0" tIns="0" rIns="0" bIns="0" anchor="t" anchorCtr="0">
            <a:noAutofit/>
          </a:bodyPr>
          <a:lstStyle>
            <a:lvl1pPr marL="457200" lvl="0" indent="-285750" algn="l">
              <a:spcBef>
                <a:spcPts val="0"/>
              </a:spcBef>
              <a:spcAft>
                <a:spcPts val="0"/>
              </a:spcAft>
              <a:buClr>
                <a:schemeClr val="dk1"/>
              </a:buClr>
              <a:buSzPts val="900"/>
              <a:buFont typeface="Calibri"/>
              <a:buChar char="•"/>
              <a:defRPr sz="900"/>
            </a:lvl1pPr>
            <a:lvl2pPr marL="914400" lvl="1" indent="-342900" algn="l">
              <a:spcBef>
                <a:spcPts val="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39" name="Google Shape;239;p30"/>
          <p:cNvSpPr>
            <a:spLocks noGrp="1"/>
          </p:cNvSpPr>
          <p:nvPr>
            <p:ph type="chart" idx="4"/>
          </p:nvPr>
        </p:nvSpPr>
        <p:spPr>
          <a:xfrm>
            <a:off x="4323575" y="2115798"/>
            <a:ext cx="3549549" cy="4005216"/>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1pPr>
            <a:lvl2pPr marR="0" lvl="1" algn="l" rtl="0">
              <a:spcBef>
                <a:spcPts val="750"/>
              </a:spcBef>
              <a:spcAft>
                <a:spcPts val="0"/>
              </a:spcAft>
              <a:buClr>
                <a:schemeClr val="dk1"/>
              </a:buClr>
              <a:buSzPts val="1200"/>
              <a:buFont typeface="Arial"/>
              <a:buChar char="•"/>
              <a:defRPr sz="1200" b="1" i="0" u="none" strike="noStrike" cap="none">
                <a:solidFill>
                  <a:schemeClr val="dk1"/>
                </a:solidFill>
                <a:latin typeface="Calibri"/>
                <a:ea typeface="Calibri"/>
                <a:cs typeface="Calibri"/>
                <a:sym typeface="Calibri"/>
              </a:defRPr>
            </a:lvl2pPr>
            <a:lvl3pPr marR="0" lvl="2"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R="0" lvl="3"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4pPr>
            <a:lvl5pPr marR="0" lvl="4"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5pPr>
            <a:lvl6pPr marR="0" lvl="5"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6pPr>
            <a:lvl7pPr marR="0" lvl="6"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7pPr>
            <a:lvl8pPr marR="0" lvl="7"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8pPr>
            <a:lvl9pPr marR="0" lvl="8" algn="l" rtl="0">
              <a:spcBef>
                <a:spcPts val="750"/>
              </a:spcBef>
              <a:spcAft>
                <a:spcPts val="75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9pPr>
          </a:lstStyle>
          <a:p>
            <a:endParaRPr/>
          </a:p>
        </p:txBody>
      </p:sp>
      <p:sp>
        <p:nvSpPr>
          <p:cNvPr id="240" name="Google Shape;240;p30"/>
          <p:cNvSpPr txBox="1">
            <a:spLocks noGrp="1"/>
          </p:cNvSpPr>
          <p:nvPr>
            <p:ph type="body" idx="5"/>
          </p:nvPr>
        </p:nvSpPr>
        <p:spPr>
          <a:xfrm>
            <a:off x="4321226" y="1722944"/>
            <a:ext cx="3549549" cy="392112"/>
          </a:xfrm>
          <a:prstGeom prst="rect">
            <a:avLst/>
          </a:prstGeom>
          <a:noFill/>
          <a:ln>
            <a:noFill/>
          </a:ln>
        </p:spPr>
        <p:txBody>
          <a:bodyPr spcFirstLastPara="1" wrap="square" lIns="0" tIns="0" rIns="0" bIns="0" anchor="t" anchorCtr="0">
            <a:noAutofit/>
          </a:bodyPr>
          <a:lstStyle>
            <a:lvl1pPr marL="457200" lvl="0" indent="-304800" algn="l">
              <a:spcBef>
                <a:spcPts val="0"/>
              </a:spcBef>
              <a:spcAft>
                <a:spcPts val="0"/>
              </a:spcAft>
              <a:buClr>
                <a:schemeClr val="dk1"/>
              </a:buClr>
              <a:buSzPts val="1200"/>
              <a:buFont typeface="Calibri"/>
              <a:buChar char="•"/>
              <a:defRPr sz="1200"/>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41" name="Google Shape;241;p30"/>
          <p:cNvSpPr>
            <a:spLocks noGrp="1"/>
          </p:cNvSpPr>
          <p:nvPr>
            <p:ph type="chart" idx="6"/>
          </p:nvPr>
        </p:nvSpPr>
        <p:spPr>
          <a:xfrm>
            <a:off x="8193695" y="2115798"/>
            <a:ext cx="3549549" cy="4005216"/>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1pPr>
            <a:lvl2pPr marR="0" lvl="1" algn="l" rtl="0">
              <a:spcBef>
                <a:spcPts val="750"/>
              </a:spcBef>
              <a:spcAft>
                <a:spcPts val="0"/>
              </a:spcAft>
              <a:buClr>
                <a:schemeClr val="dk1"/>
              </a:buClr>
              <a:buSzPts val="1200"/>
              <a:buFont typeface="Arial"/>
              <a:buChar char="•"/>
              <a:defRPr sz="1200" b="1" i="0" u="none" strike="noStrike" cap="none">
                <a:solidFill>
                  <a:schemeClr val="dk1"/>
                </a:solidFill>
                <a:latin typeface="Calibri"/>
                <a:ea typeface="Calibri"/>
                <a:cs typeface="Calibri"/>
                <a:sym typeface="Calibri"/>
              </a:defRPr>
            </a:lvl2pPr>
            <a:lvl3pPr marR="0" lvl="2"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R="0" lvl="3"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4pPr>
            <a:lvl5pPr marR="0" lvl="4"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5pPr>
            <a:lvl6pPr marR="0" lvl="5"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6pPr>
            <a:lvl7pPr marR="0" lvl="6"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7pPr>
            <a:lvl8pPr marR="0" lvl="7"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8pPr>
            <a:lvl9pPr marR="0" lvl="8" algn="l" rtl="0">
              <a:spcBef>
                <a:spcPts val="750"/>
              </a:spcBef>
              <a:spcAft>
                <a:spcPts val="75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9pPr>
          </a:lstStyle>
          <a:p>
            <a:endParaRPr/>
          </a:p>
        </p:txBody>
      </p:sp>
      <p:sp>
        <p:nvSpPr>
          <p:cNvPr id="242" name="Google Shape;242;p30"/>
          <p:cNvSpPr txBox="1">
            <a:spLocks noGrp="1"/>
          </p:cNvSpPr>
          <p:nvPr>
            <p:ph type="body" idx="7"/>
          </p:nvPr>
        </p:nvSpPr>
        <p:spPr>
          <a:xfrm>
            <a:off x="8191346" y="1722944"/>
            <a:ext cx="3549549" cy="392112"/>
          </a:xfrm>
          <a:prstGeom prst="rect">
            <a:avLst/>
          </a:prstGeom>
          <a:noFill/>
          <a:ln>
            <a:noFill/>
          </a:ln>
        </p:spPr>
        <p:txBody>
          <a:bodyPr spcFirstLastPara="1" wrap="square" lIns="0" tIns="0" rIns="0" bIns="0" anchor="t" anchorCtr="0">
            <a:noAutofit/>
          </a:bodyPr>
          <a:lstStyle>
            <a:lvl1pPr marL="457200" lvl="0" indent="-304800" algn="l">
              <a:spcBef>
                <a:spcPts val="0"/>
              </a:spcBef>
              <a:spcAft>
                <a:spcPts val="0"/>
              </a:spcAft>
              <a:buClr>
                <a:schemeClr val="dk1"/>
              </a:buClr>
              <a:buSzPts val="1200"/>
              <a:buFont typeface="Calibri"/>
              <a:buChar char="•"/>
              <a:defRPr sz="1200"/>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43" name="Google Shape;243;p30"/>
          <p:cNvSpPr txBox="1">
            <a:spLocks noGrp="1"/>
          </p:cNvSpPr>
          <p:nvPr>
            <p:ph type="body" idx="8"/>
          </p:nvPr>
        </p:nvSpPr>
        <p:spPr>
          <a:xfrm>
            <a:off x="463295" y="682940"/>
            <a:ext cx="11277600" cy="757255"/>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2"/>
              </a:buClr>
              <a:buSzPts val="1800"/>
              <a:buFont typeface="Calibri"/>
              <a:buNone/>
              <a:defRPr sz="1800" b="0">
                <a:solidFill>
                  <a:schemeClr val="dk2"/>
                </a:solidFill>
              </a:defRPr>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44" name="Google Shape;244;p30"/>
          <p:cNvSpPr txBox="1">
            <a:spLocks noGrp="1"/>
          </p:cNvSpPr>
          <p:nvPr>
            <p:ph type="title"/>
          </p:nvPr>
        </p:nvSpPr>
        <p:spPr>
          <a:xfrm>
            <a:off x="463295" y="345992"/>
            <a:ext cx="11277600" cy="334099"/>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eam profile">
  <p:cSld name="Team profile">
    <p:spTree>
      <p:nvGrpSpPr>
        <p:cNvPr id="1" name="Shape 245"/>
        <p:cNvGrpSpPr/>
        <p:nvPr/>
      </p:nvGrpSpPr>
      <p:grpSpPr>
        <a:xfrm>
          <a:off x="0" y="0"/>
          <a:ext cx="0" cy="0"/>
          <a:chOff x="0" y="0"/>
          <a:chExt cx="0" cy="0"/>
        </a:xfrm>
      </p:grpSpPr>
      <p:sp>
        <p:nvSpPr>
          <p:cNvPr id="246" name="Google Shape;246;p31"/>
          <p:cNvSpPr>
            <a:spLocks noGrp="1"/>
          </p:cNvSpPr>
          <p:nvPr>
            <p:ph type="pic" idx="2"/>
          </p:nvPr>
        </p:nvSpPr>
        <p:spPr>
          <a:xfrm>
            <a:off x="481764" y="1727251"/>
            <a:ext cx="2712000" cy="1260000"/>
          </a:xfrm>
          <a:prstGeom prst="rect">
            <a:avLst/>
          </a:prstGeom>
          <a:noFill/>
          <a:ln>
            <a:noFill/>
          </a:ln>
        </p:spPr>
      </p:sp>
      <p:sp>
        <p:nvSpPr>
          <p:cNvPr id="247" name="Google Shape;247;p31"/>
          <p:cNvSpPr>
            <a:spLocks noGrp="1"/>
          </p:cNvSpPr>
          <p:nvPr>
            <p:ph type="pic" idx="3"/>
          </p:nvPr>
        </p:nvSpPr>
        <p:spPr>
          <a:xfrm>
            <a:off x="3330040" y="1727251"/>
            <a:ext cx="2712000" cy="1260000"/>
          </a:xfrm>
          <a:prstGeom prst="rect">
            <a:avLst/>
          </a:prstGeom>
          <a:noFill/>
          <a:ln>
            <a:noFill/>
          </a:ln>
        </p:spPr>
      </p:sp>
      <p:sp>
        <p:nvSpPr>
          <p:cNvPr id="248" name="Google Shape;248;p31"/>
          <p:cNvSpPr>
            <a:spLocks noGrp="1"/>
          </p:cNvSpPr>
          <p:nvPr>
            <p:ph type="pic" idx="4"/>
          </p:nvPr>
        </p:nvSpPr>
        <p:spPr>
          <a:xfrm>
            <a:off x="6171687" y="1727251"/>
            <a:ext cx="2712000" cy="1260000"/>
          </a:xfrm>
          <a:prstGeom prst="rect">
            <a:avLst/>
          </a:prstGeom>
          <a:noFill/>
          <a:ln>
            <a:noFill/>
          </a:ln>
        </p:spPr>
      </p:sp>
      <p:sp>
        <p:nvSpPr>
          <p:cNvPr id="249" name="Google Shape;249;p31"/>
          <p:cNvSpPr>
            <a:spLocks noGrp="1"/>
          </p:cNvSpPr>
          <p:nvPr>
            <p:ph type="pic" idx="5"/>
          </p:nvPr>
        </p:nvSpPr>
        <p:spPr>
          <a:xfrm>
            <a:off x="9020883" y="1727251"/>
            <a:ext cx="2712000" cy="1260000"/>
          </a:xfrm>
          <a:prstGeom prst="rect">
            <a:avLst/>
          </a:prstGeom>
          <a:noFill/>
          <a:ln>
            <a:noFill/>
          </a:ln>
        </p:spPr>
      </p:sp>
      <p:sp>
        <p:nvSpPr>
          <p:cNvPr id="250" name="Google Shape;250;p31"/>
          <p:cNvSpPr txBox="1">
            <a:spLocks noGrp="1"/>
          </p:cNvSpPr>
          <p:nvPr>
            <p:ph type="body" idx="1"/>
          </p:nvPr>
        </p:nvSpPr>
        <p:spPr>
          <a:xfrm>
            <a:off x="473297" y="3124200"/>
            <a:ext cx="2720468" cy="32385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Font typeface="Calibri"/>
              <a:buNone/>
              <a:defRPr sz="1200" b="1">
                <a:solidFill>
                  <a:schemeClr val="accent1"/>
                </a:solidFill>
              </a:defRPr>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0"/>
              </a:spcBef>
              <a:spcAft>
                <a:spcPts val="0"/>
              </a:spcAft>
              <a:buClr>
                <a:schemeClr val="dk1"/>
              </a:buClr>
              <a:buSzPts val="1200"/>
              <a:buFont typeface="Arial"/>
              <a:buChar char="−"/>
              <a:defRPr sz="1200"/>
            </a:lvl3pPr>
            <a:lvl4pPr marL="1828800" lvl="3" indent="-304800" algn="l">
              <a:spcBef>
                <a:spcPts val="0"/>
              </a:spcBef>
              <a:spcAft>
                <a:spcPts val="0"/>
              </a:spcAft>
              <a:buClr>
                <a:schemeClr val="dk1"/>
              </a:buClr>
              <a:buSzPts val="1200"/>
              <a:buFont typeface="Arial"/>
              <a:buChar char="◦"/>
              <a:defRPr sz="1200"/>
            </a:lvl4pPr>
            <a:lvl5pPr marL="2286000" lvl="4" indent="-304800" algn="l">
              <a:spcBef>
                <a:spcPts val="0"/>
              </a:spcBef>
              <a:spcAft>
                <a:spcPts val="0"/>
              </a:spcAft>
              <a:buClr>
                <a:schemeClr val="dk1"/>
              </a:buClr>
              <a:buSzPts val="1200"/>
              <a:buFont typeface="Arial"/>
              <a:buChar char="−"/>
              <a:defRPr sz="1200"/>
            </a:lvl5pPr>
            <a:lvl6pPr marL="2743200" lvl="5" indent="-285750" algn="l">
              <a:spcBef>
                <a:spcPts val="0"/>
              </a:spcBef>
              <a:spcAft>
                <a:spcPts val="0"/>
              </a:spcAft>
              <a:buClr>
                <a:schemeClr val="dk1"/>
              </a:buClr>
              <a:buSzPts val="900"/>
              <a:buFont typeface="Verdana"/>
              <a:buChar char="−"/>
              <a:defRPr/>
            </a:lvl6pPr>
            <a:lvl7pPr marL="3200400" lvl="6" indent="-285750" algn="l">
              <a:spcBef>
                <a:spcPts val="0"/>
              </a:spcBef>
              <a:spcAft>
                <a:spcPts val="0"/>
              </a:spcAft>
              <a:buClr>
                <a:schemeClr val="dk1"/>
              </a:buClr>
              <a:buSzPts val="900"/>
              <a:buChar char="−"/>
              <a:defRPr/>
            </a:lvl7pPr>
            <a:lvl8pPr marL="3657600" lvl="7" indent="-285750" algn="l">
              <a:spcBef>
                <a:spcPts val="0"/>
              </a:spcBef>
              <a:spcAft>
                <a:spcPts val="0"/>
              </a:spcAft>
              <a:buClr>
                <a:schemeClr val="dk1"/>
              </a:buClr>
              <a:buSzPts val="900"/>
              <a:buChar char="−"/>
              <a:defRPr/>
            </a:lvl8pPr>
            <a:lvl9pPr marL="4114800" lvl="8" indent="-285750" algn="l">
              <a:spcBef>
                <a:spcPts val="0"/>
              </a:spcBef>
              <a:spcAft>
                <a:spcPts val="0"/>
              </a:spcAft>
              <a:buClr>
                <a:schemeClr val="dk1"/>
              </a:buClr>
              <a:buSzPts val="900"/>
              <a:buChar char="−"/>
              <a:defRPr/>
            </a:lvl9pPr>
          </a:lstStyle>
          <a:p>
            <a:endParaRPr/>
          </a:p>
        </p:txBody>
      </p:sp>
      <p:sp>
        <p:nvSpPr>
          <p:cNvPr id="251" name="Google Shape;251;p31"/>
          <p:cNvSpPr txBox="1">
            <a:spLocks noGrp="1"/>
          </p:cNvSpPr>
          <p:nvPr>
            <p:ph type="body" idx="6"/>
          </p:nvPr>
        </p:nvSpPr>
        <p:spPr>
          <a:xfrm>
            <a:off x="6171687" y="3120553"/>
            <a:ext cx="2712000" cy="32385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Font typeface="Calibri"/>
              <a:buNone/>
              <a:defRPr sz="1200" b="1">
                <a:solidFill>
                  <a:schemeClr val="accent1"/>
                </a:solidFill>
              </a:defRPr>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0"/>
              </a:spcBef>
              <a:spcAft>
                <a:spcPts val="0"/>
              </a:spcAft>
              <a:buClr>
                <a:schemeClr val="dk1"/>
              </a:buClr>
              <a:buSzPts val="1200"/>
              <a:buFont typeface="Arial"/>
              <a:buChar char="−"/>
              <a:defRPr sz="1200"/>
            </a:lvl3pPr>
            <a:lvl4pPr marL="1828800" lvl="3" indent="-304800" algn="l">
              <a:spcBef>
                <a:spcPts val="0"/>
              </a:spcBef>
              <a:spcAft>
                <a:spcPts val="0"/>
              </a:spcAft>
              <a:buClr>
                <a:schemeClr val="dk1"/>
              </a:buClr>
              <a:buSzPts val="1200"/>
              <a:buFont typeface="Arial"/>
              <a:buChar char="◦"/>
              <a:defRPr sz="1200"/>
            </a:lvl4pPr>
            <a:lvl5pPr marL="2286000" lvl="4" indent="-304800" algn="l">
              <a:spcBef>
                <a:spcPts val="0"/>
              </a:spcBef>
              <a:spcAft>
                <a:spcPts val="0"/>
              </a:spcAft>
              <a:buClr>
                <a:schemeClr val="dk1"/>
              </a:buClr>
              <a:buSzPts val="1200"/>
              <a:buFont typeface="Arial"/>
              <a:buChar char="−"/>
              <a:defRPr sz="1200"/>
            </a:lvl5pPr>
            <a:lvl6pPr marL="2743200" lvl="5" indent="-285750" algn="l">
              <a:spcBef>
                <a:spcPts val="0"/>
              </a:spcBef>
              <a:spcAft>
                <a:spcPts val="0"/>
              </a:spcAft>
              <a:buClr>
                <a:schemeClr val="dk1"/>
              </a:buClr>
              <a:buSzPts val="900"/>
              <a:buFont typeface="Verdana"/>
              <a:buChar char="−"/>
              <a:defRPr/>
            </a:lvl6pPr>
            <a:lvl7pPr marL="3200400" lvl="6" indent="-285750" algn="l">
              <a:spcBef>
                <a:spcPts val="0"/>
              </a:spcBef>
              <a:spcAft>
                <a:spcPts val="0"/>
              </a:spcAft>
              <a:buClr>
                <a:schemeClr val="dk1"/>
              </a:buClr>
              <a:buSzPts val="900"/>
              <a:buChar char="−"/>
              <a:defRPr/>
            </a:lvl7pPr>
            <a:lvl8pPr marL="3657600" lvl="7" indent="-285750" algn="l">
              <a:spcBef>
                <a:spcPts val="0"/>
              </a:spcBef>
              <a:spcAft>
                <a:spcPts val="0"/>
              </a:spcAft>
              <a:buClr>
                <a:schemeClr val="dk1"/>
              </a:buClr>
              <a:buSzPts val="900"/>
              <a:buChar char="−"/>
              <a:defRPr/>
            </a:lvl8pPr>
            <a:lvl9pPr marL="4114800" lvl="8" indent="-285750" algn="l">
              <a:spcBef>
                <a:spcPts val="0"/>
              </a:spcBef>
              <a:spcAft>
                <a:spcPts val="0"/>
              </a:spcAft>
              <a:buClr>
                <a:schemeClr val="dk1"/>
              </a:buClr>
              <a:buSzPts val="900"/>
              <a:buChar char="−"/>
              <a:defRPr/>
            </a:lvl9pPr>
          </a:lstStyle>
          <a:p>
            <a:endParaRPr/>
          </a:p>
        </p:txBody>
      </p:sp>
      <p:sp>
        <p:nvSpPr>
          <p:cNvPr id="252" name="Google Shape;252;p31"/>
          <p:cNvSpPr txBox="1">
            <a:spLocks noGrp="1"/>
          </p:cNvSpPr>
          <p:nvPr>
            <p:ph type="body" idx="7"/>
          </p:nvPr>
        </p:nvSpPr>
        <p:spPr>
          <a:xfrm>
            <a:off x="3330040" y="3124202"/>
            <a:ext cx="2712000" cy="3238499"/>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Font typeface="Calibri"/>
              <a:buNone/>
              <a:defRPr sz="1200" b="1">
                <a:solidFill>
                  <a:schemeClr val="accent1"/>
                </a:solidFill>
              </a:defRPr>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0"/>
              </a:spcBef>
              <a:spcAft>
                <a:spcPts val="0"/>
              </a:spcAft>
              <a:buClr>
                <a:schemeClr val="dk1"/>
              </a:buClr>
              <a:buSzPts val="1200"/>
              <a:buFont typeface="Arial"/>
              <a:buChar char="−"/>
              <a:defRPr sz="1200"/>
            </a:lvl3pPr>
            <a:lvl4pPr marL="1828800" lvl="3" indent="-304800" algn="l">
              <a:spcBef>
                <a:spcPts val="0"/>
              </a:spcBef>
              <a:spcAft>
                <a:spcPts val="0"/>
              </a:spcAft>
              <a:buClr>
                <a:schemeClr val="dk1"/>
              </a:buClr>
              <a:buSzPts val="1200"/>
              <a:buFont typeface="Arial"/>
              <a:buChar char="◦"/>
              <a:defRPr sz="1200"/>
            </a:lvl4pPr>
            <a:lvl5pPr marL="2286000" lvl="4" indent="-304800" algn="l">
              <a:spcBef>
                <a:spcPts val="0"/>
              </a:spcBef>
              <a:spcAft>
                <a:spcPts val="0"/>
              </a:spcAft>
              <a:buClr>
                <a:schemeClr val="dk1"/>
              </a:buClr>
              <a:buSzPts val="1200"/>
              <a:buFont typeface="Arial"/>
              <a:buChar char="−"/>
              <a:defRPr sz="1200"/>
            </a:lvl5pPr>
            <a:lvl6pPr marL="2743200" lvl="5" indent="-285750" algn="l">
              <a:spcBef>
                <a:spcPts val="0"/>
              </a:spcBef>
              <a:spcAft>
                <a:spcPts val="0"/>
              </a:spcAft>
              <a:buClr>
                <a:schemeClr val="dk1"/>
              </a:buClr>
              <a:buSzPts val="900"/>
              <a:buFont typeface="Verdana"/>
              <a:buChar char="−"/>
              <a:defRPr/>
            </a:lvl6pPr>
            <a:lvl7pPr marL="3200400" lvl="6" indent="-285750" algn="l">
              <a:spcBef>
                <a:spcPts val="0"/>
              </a:spcBef>
              <a:spcAft>
                <a:spcPts val="0"/>
              </a:spcAft>
              <a:buClr>
                <a:schemeClr val="dk1"/>
              </a:buClr>
              <a:buSzPts val="900"/>
              <a:buChar char="−"/>
              <a:defRPr/>
            </a:lvl7pPr>
            <a:lvl8pPr marL="3657600" lvl="7" indent="-285750" algn="l">
              <a:spcBef>
                <a:spcPts val="0"/>
              </a:spcBef>
              <a:spcAft>
                <a:spcPts val="0"/>
              </a:spcAft>
              <a:buClr>
                <a:schemeClr val="dk1"/>
              </a:buClr>
              <a:buSzPts val="900"/>
              <a:buChar char="−"/>
              <a:defRPr/>
            </a:lvl8pPr>
            <a:lvl9pPr marL="4114800" lvl="8" indent="-285750" algn="l">
              <a:spcBef>
                <a:spcPts val="0"/>
              </a:spcBef>
              <a:spcAft>
                <a:spcPts val="0"/>
              </a:spcAft>
              <a:buClr>
                <a:schemeClr val="dk1"/>
              </a:buClr>
              <a:buSzPts val="900"/>
              <a:buChar char="−"/>
              <a:defRPr/>
            </a:lvl9pPr>
          </a:lstStyle>
          <a:p>
            <a:endParaRPr/>
          </a:p>
        </p:txBody>
      </p:sp>
      <p:sp>
        <p:nvSpPr>
          <p:cNvPr id="253" name="Google Shape;253;p31"/>
          <p:cNvSpPr txBox="1">
            <a:spLocks noGrp="1"/>
          </p:cNvSpPr>
          <p:nvPr>
            <p:ph type="body" idx="8"/>
          </p:nvPr>
        </p:nvSpPr>
        <p:spPr>
          <a:xfrm>
            <a:off x="9035701" y="3108508"/>
            <a:ext cx="2697183" cy="3254192"/>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Font typeface="Calibri"/>
              <a:buNone/>
              <a:defRPr sz="1200" b="1">
                <a:solidFill>
                  <a:schemeClr val="accent1"/>
                </a:solidFill>
              </a:defRPr>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0"/>
              </a:spcBef>
              <a:spcAft>
                <a:spcPts val="0"/>
              </a:spcAft>
              <a:buClr>
                <a:schemeClr val="dk1"/>
              </a:buClr>
              <a:buSzPts val="1200"/>
              <a:buFont typeface="Arial"/>
              <a:buChar char="−"/>
              <a:defRPr sz="1200"/>
            </a:lvl3pPr>
            <a:lvl4pPr marL="1828800" lvl="3" indent="-304800" algn="l">
              <a:spcBef>
                <a:spcPts val="0"/>
              </a:spcBef>
              <a:spcAft>
                <a:spcPts val="0"/>
              </a:spcAft>
              <a:buClr>
                <a:schemeClr val="dk1"/>
              </a:buClr>
              <a:buSzPts val="1200"/>
              <a:buFont typeface="Arial"/>
              <a:buChar char="◦"/>
              <a:defRPr sz="1200"/>
            </a:lvl4pPr>
            <a:lvl5pPr marL="2286000" lvl="4" indent="-304800" algn="l">
              <a:spcBef>
                <a:spcPts val="0"/>
              </a:spcBef>
              <a:spcAft>
                <a:spcPts val="0"/>
              </a:spcAft>
              <a:buClr>
                <a:schemeClr val="dk1"/>
              </a:buClr>
              <a:buSzPts val="1200"/>
              <a:buFont typeface="Arial"/>
              <a:buChar char="−"/>
              <a:defRPr sz="1200"/>
            </a:lvl5pPr>
            <a:lvl6pPr marL="2743200" lvl="5" indent="-285750" algn="l">
              <a:spcBef>
                <a:spcPts val="0"/>
              </a:spcBef>
              <a:spcAft>
                <a:spcPts val="0"/>
              </a:spcAft>
              <a:buClr>
                <a:schemeClr val="dk1"/>
              </a:buClr>
              <a:buSzPts val="900"/>
              <a:buFont typeface="Verdana"/>
              <a:buChar char="−"/>
              <a:defRPr/>
            </a:lvl6pPr>
            <a:lvl7pPr marL="3200400" lvl="6" indent="-285750" algn="l">
              <a:spcBef>
                <a:spcPts val="0"/>
              </a:spcBef>
              <a:spcAft>
                <a:spcPts val="0"/>
              </a:spcAft>
              <a:buClr>
                <a:schemeClr val="dk1"/>
              </a:buClr>
              <a:buSzPts val="900"/>
              <a:buChar char="−"/>
              <a:defRPr/>
            </a:lvl7pPr>
            <a:lvl8pPr marL="3657600" lvl="7" indent="-285750" algn="l">
              <a:spcBef>
                <a:spcPts val="0"/>
              </a:spcBef>
              <a:spcAft>
                <a:spcPts val="0"/>
              </a:spcAft>
              <a:buClr>
                <a:schemeClr val="dk1"/>
              </a:buClr>
              <a:buSzPts val="900"/>
              <a:buChar char="−"/>
              <a:defRPr/>
            </a:lvl8pPr>
            <a:lvl9pPr marL="4114800" lvl="8" indent="-285750" algn="l">
              <a:spcBef>
                <a:spcPts val="0"/>
              </a:spcBef>
              <a:spcAft>
                <a:spcPts val="0"/>
              </a:spcAft>
              <a:buClr>
                <a:schemeClr val="dk1"/>
              </a:buClr>
              <a:buSzPts val="900"/>
              <a:buChar char="−"/>
              <a:defRPr/>
            </a:lvl9pPr>
          </a:lstStyle>
          <a:p>
            <a:endParaRPr/>
          </a:p>
        </p:txBody>
      </p:sp>
      <p:sp>
        <p:nvSpPr>
          <p:cNvPr id="254" name="Google Shape;254;p31"/>
          <p:cNvSpPr txBox="1">
            <a:spLocks noGrp="1"/>
          </p:cNvSpPr>
          <p:nvPr>
            <p:ph type="body" idx="9"/>
          </p:nvPr>
        </p:nvSpPr>
        <p:spPr>
          <a:xfrm>
            <a:off x="463295" y="682940"/>
            <a:ext cx="11277600" cy="757255"/>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2"/>
              </a:buClr>
              <a:buSzPts val="1800"/>
              <a:buFont typeface="Calibri"/>
              <a:buNone/>
              <a:defRPr sz="1800" b="0">
                <a:solidFill>
                  <a:schemeClr val="dk2"/>
                </a:solidFill>
              </a:defRPr>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55" name="Google Shape;255;p31"/>
          <p:cNvSpPr txBox="1">
            <a:spLocks noGrp="1"/>
          </p:cNvSpPr>
          <p:nvPr>
            <p:ph type="title"/>
          </p:nvPr>
        </p:nvSpPr>
        <p:spPr>
          <a:xfrm>
            <a:off x="463295" y="345992"/>
            <a:ext cx="11277600" cy="334099"/>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Team profile 2">
  <p:cSld name="Team profile 2">
    <p:spTree>
      <p:nvGrpSpPr>
        <p:cNvPr id="1" name="Shape 256"/>
        <p:cNvGrpSpPr/>
        <p:nvPr/>
      </p:nvGrpSpPr>
      <p:grpSpPr>
        <a:xfrm>
          <a:off x="0" y="0"/>
          <a:ext cx="0" cy="0"/>
          <a:chOff x="0" y="0"/>
          <a:chExt cx="0" cy="0"/>
        </a:xfrm>
      </p:grpSpPr>
      <p:pic>
        <p:nvPicPr>
          <p:cNvPr id="257" name="Google Shape;257;p32"/>
          <p:cNvPicPr preferRelativeResize="0"/>
          <p:nvPr/>
        </p:nvPicPr>
        <p:blipFill rotWithShape="1">
          <a:blip r:embed="rId2">
            <a:alphaModFix/>
          </a:blip>
          <a:srcRect/>
          <a:stretch/>
        </p:blipFill>
        <p:spPr>
          <a:xfrm>
            <a:off x="1588" y="1588"/>
            <a:ext cx="3175" cy="1587"/>
          </a:xfrm>
          <a:prstGeom prst="rect">
            <a:avLst/>
          </a:prstGeom>
          <a:noFill/>
          <a:ln>
            <a:noFill/>
          </a:ln>
        </p:spPr>
      </p:pic>
      <p:sp>
        <p:nvSpPr>
          <p:cNvPr id="258" name="Google Shape;258;p32"/>
          <p:cNvSpPr txBox="1"/>
          <p:nvPr/>
        </p:nvSpPr>
        <p:spPr>
          <a:xfrm>
            <a:off x="6335713" y="6519863"/>
            <a:ext cx="4895850" cy="12223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dk1"/>
              </a:buClr>
              <a:buSzPts val="800"/>
              <a:buFont typeface="Arial"/>
              <a:buNone/>
            </a:pPr>
            <a:r>
              <a:rPr lang="en-IN" sz="800" b="0" i="0" u="none" strike="noStrike" cap="none">
                <a:solidFill>
                  <a:schemeClr val="dk1"/>
                </a:solidFill>
                <a:latin typeface="Calibri"/>
                <a:ea typeface="Calibri"/>
                <a:cs typeface="Calibri"/>
                <a:sym typeface="Calibri"/>
              </a:rPr>
              <a:t>CTD Review Meeting</a:t>
            </a:r>
            <a:endParaRPr/>
          </a:p>
        </p:txBody>
      </p:sp>
      <p:sp>
        <p:nvSpPr>
          <p:cNvPr id="259" name="Google Shape;259;p32"/>
          <p:cNvSpPr txBox="1"/>
          <p:nvPr/>
        </p:nvSpPr>
        <p:spPr>
          <a:xfrm>
            <a:off x="11426825" y="6519863"/>
            <a:ext cx="307975" cy="12223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dk1"/>
              </a:buClr>
              <a:buSzPts val="800"/>
              <a:buFont typeface="Arial"/>
              <a:buNone/>
            </a:pPr>
            <a:fld id="{00000000-1234-1234-1234-123412341234}" type="slidenum">
              <a:rPr lang="en-IN" sz="800" b="0" i="0" u="none" strike="noStrike" cap="none">
                <a:solidFill>
                  <a:schemeClr val="dk1"/>
                </a:solidFill>
                <a:latin typeface="Calibri"/>
                <a:ea typeface="Calibri"/>
                <a:cs typeface="Calibri"/>
                <a:sym typeface="Calibri"/>
              </a:rPr>
              <a:t>‹#›</a:t>
            </a:fld>
            <a:endParaRPr sz="800" b="0" i="0" u="none" strike="noStrike" cap="none">
              <a:solidFill>
                <a:schemeClr val="dk1"/>
              </a:solidFill>
              <a:latin typeface="Calibri"/>
              <a:ea typeface="Calibri"/>
              <a:cs typeface="Calibri"/>
              <a:sym typeface="Calibri"/>
            </a:endParaRPr>
          </a:p>
        </p:txBody>
      </p:sp>
      <p:sp>
        <p:nvSpPr>
          <p:cNvPr id="260" name="Google Shape;260;p32"/>
          <p:cNvSpPr txBox="1"/>
          <p:nvPr/>
        </p:nvSpPr>
        <p:spPr>
          <a:xfrm>
            <a:off x="4065588" y="700088"/>
            <a:ext cx="254000"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261" name="Google Shape;261;p32"/>
          <p:cNvSpPr txBox="1"/>
          <p:nvPr/>
        </p:nvSpPr>
        <p:spPr>
          <a:xfrm>
            <a:off x="4321175" y="803275"/>
            <a:ext cx="1673225"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262" name="Google Shape;262;p32"/>
          <p:cNvSpPr txBox="1"/>
          <p:nvPr/>
        </p:nvSpPr>
        <p:spPr>
          <a:xfrm>
            <a:off x="5970588" y="803275"/>
            <a:ext cx="249237"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263" name="Google Shape;263;p32"/>
          <p:cNvSpPr txBox="1"/>
          <p:nvPr/>
        </p:nvSpPr>
        <p:spPr>
          <a:xfrm>
            <a:off x="4321175" y="801688"/>
            <a:ext cx="1673225"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264" name="Google Shape;264;p32"/>
          <p:cNvSpPr/>
          <p:nvPr/>
        </p:nvSpPr>
        <p:spPr>
          <a:xfrm>
            <a:off x="469900" y="1716088"/>
            <a:ext cx="5486400" cy="52387"/>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825" b="0" i="0" u="none" strike="noStrike" cap="none">
              <a:solidFill>
                <a:schemeClr val="lt1"/>
              </a:solidFill>
              <a:latin typeface="Calibri"/>
              <a:ea typeface="Calibri"/>
              <a:cs typeface="Calibri"/>
              <a:sym typeface="Calibri"/>
            </a:endParaRPr>
          </a:p>
        </p:txBody>
      </p:sp>
      <p:sp>
        <p:nvSpPr>
          <p:cNvPr id="265" name="Google Shape;265;p32"/>
          <p:cNvSpPr/>
          <p:nvPr/>
        </p:nvSpPr>
        <p:spPr>
          <a:xfrm>
            <a:off x="6246813" y="1719263"/>
            <a:ext cx="5486400" cy="52387"/>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825" b="0" i="0" u="none" strike="noStrike" cap="none">
              <a:solidFill>
                <a:schemeClr val="lt1"/>
              </a:solidFill>
              <a:latin typeface="Calibri"/>
              <a:ea typeface="Calibri"/>
              <a:cs typeface="Calibri"/>
              <a:sym typeface="Calibri"/>
            </a:endParaRPr>
          </a:p>
        </p:txBody>
      </p:sp>
      <p:sp>
        <p:nvSpPr>
          <p:cNvPr id="266" name="Google Shape;266;p32"/>
          <p:cNvSpPr/>
          <p:nvPr/>
        </p:nvSpPr>
        <p:spPr>
          <a:xfrm>
            <a:off x="469900" y="4127500"/>
            <a:ext cx="5486400" cy="52388"/>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825" b="0" i="0" u="none" strike="noStrike" cap="none">
              <a:solidFill>
                <a:schemeClr val="lt1"/>
              </a:solidFill>
              <a:latin typeface="Calibri"/>
              <a:ea typeface="Calibri"/>
              <a:cs typeface="Calibri"/>
              <a:sym typeface="Calibri"/>
            </a:endParaRPr>
          </a:p>
        </p:txBody>
      </p:sp>
      <p:sp>
        <p:nvSpPr>
          <p:cNvPr id="267" name="Google Shape;267;p32"/>
          <p:cNvSpPr/>
          <p:nvPr/>
        </p:nvSpPr>
        <p:spPr>
          <a:xfrm>
            <a:off x="6246813" y="4130675"/>
            <a:ext cx="5486400" cy="52388"/>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825" b="0" i="0" u="none" strike="noStrike" cap="none">
              <a:solidFill>
                <a:schemeClr val="lt1"/>
              </a:solidFill>
              <a:latin typeface="Calibri"/>
              <a:ea typeface="Calibri"/>
              <a:cs typeface="Calibri"/>
              <a:sym typeface="Calibri"/>
            </a:endParaRPr>
          </a:p>
        </p:txBody>
      </p:sp>
      <p:sp>
        <p:nvSpPr>
          <p:cNvPr id="268" name="Google Shape;268;p32"/>
          <p:cNvSpPr>
            <a:spLocks noGrp="1"/>
          </p:cNvSpPr>
          <p:nvPr>
            <p:ph type="pic" idx="2"/>
          </p:nvPr>
        </p:nvSpPr>
        <p:spPr>
          <a:xfrm>
            <a:off x="475645" y="1845377"/>
            <a:ext cx="1968000" cy="1476000"/>
          </a:xfrm>
          <a:prstGeom prst="rect">
            <a:avLst/>
          </a:prstGeom>
          <a:noFill/>
          <a:ln>
            <a:noFill/>
          </a:ln>
        </p:spPr>
      </p:sp>
      <p:sp>
        <p:nvSpPr>
          <p:cNvPr id="269" name="Google Shape;269;p32"/>
          <p:cNvSpPr>
            <a:spLocks noGrp="1"/>
          </p:cNvSpPr>
          <p:nvPr>
            <p:ph type="pic" idx="3"/>
          </p:nvPr>
        </p:nvSpPr>
        <p:spPr>
          <a:xfrm>
            <a:off x="6266617" y="1845377"/>
            <a:ext cx="1968000" cy="1476000"/>
          </a:xfrm>
          <a:prstGeom prst="rect">
            <a:avLst/>
          </a:prstGeom>
          <a:noFill/>
          <a:ln>
            <a:noFill/>
          </a:ln>
        </p:spPr>
      </p:sp>
      <p:sp>
        <p:nvSpPr>
          <p:cNvPr id="270" name="Google Shape;270;p32"/>
          <p:cNvSpPr>
            <a:spLocks noGrp="1"/>
          </p:cNvSpPr>
          <p:nvPr>
            <p:ph type="pic" idx="4"/>
          </p:nvPr>
        </p:nvSpPr>
        <p:spPr>
          <a:xfrm>
            <a:off x="475645" y="4256213"/>
            <a:ext cx="1968000" cy="1476000"/>
          </a:xfrm>
          <a:prstGeom prst="rect">
            <a:avLst/>
          </a:prstGeom>
          <a:noFill/>
          <a:ln>
            <a:noFill/>
          </a:ln>
        </p:spPr>
      </p:sp>
      <p:sp>
        <p:nvSpPr>
          <p:cNvPr id="271" name="Google Shape;271;p32"/>
          <p:cNvSpPr>
            <a:spLocks noGrp="1"/>
          </p:cNvSpPr>
          <p:nvPr>
            <p:ph type="pic" idx="5"/>
          </p:nvPr>
        </p:nvSpPr>
        <p:spPr>
          <a:xfrm>
            <a:off x="6266617" y="4256213"/>
            <a:ext cx="1968000" cy="1476000"/>
          </a:xfrm>
          <a:prstGeom prst="rect">
            <a:avLst/>
          </a:prstGeom>
          <a:noFill/>
          <a:ln>
            <a:noFill/>
          </a:ln>
        </p:spPr>
      </p:sp>
      <p:sp>
        <p:nvSpPr>
          <p:cNvPr id="272" name="Google Shape;272;p32"/>
          <p:cNvSpPr txBox="1">
            <a:spLocks noGrp="1"/>
          </p:cNvSpPr>
          <p:nvPr>
            <p:ph type="body" idx="1"/>
          </p:nvPr>
        </p:nvSpPr>
        <p:spPr>
          <a:xfrm>
            <a:off x="2655128" y="1845377"/>
            <a:ext cx="3288000" cy="19440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1"/>
              </a:buClr>
              <a:buSzPts val="1200"/>
              <a:buFont typeface="Calibri"/>
              <a:buNone/>
              <a:defRPr sz="1200" b="1"/>
            </a:lvl1pPr>
            <a:lvl2pPr marL="914400" lvl="1" indent="-304800" algn="l">
              <a:spcBef>
                <a:spcPts val="0"/>
              </a:spcBef>
              <a:spcAft>
                <a:spcPts val="0"/>
              </a:spcAft>
              <a:buClr>
                <a:schemeClr val="dk1"/>
              </a:buClr>
              <a:buSzPts val="1200"/>
              <a:buFont typeface="Arial"/>
              <a:buChar char="•"/>
              <a:defRPr sz="1200" b="0"/>
            </a:lvl2pPr>
            <a:lvl3pPr marL="1371600" lvl="2" indent="-342900" algn="l">
              <a:spcBef>
                <a:spcPts val="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73" name="Google Shape;273;p32"/>
          <p:cNvSpPr txBox="1">
            <a:spLocks noGrp="1"/>
          </p:cNvSpPr>
          <p:nvPr>
            <p:ph type="body" idx="6"/>
          </p:nvPr>
        </p:nvSpPr>
        <p:spPr>
          <a:xfrm>
            <a:off x="8439092" y="1845377"/>
            <a:ext cx="3302592" cy="19440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1"/>
              </a:buClr>
              <a:buSzPts val="1200"/>
              <a:buFont typeface="Calibri"/>
              <a:buNone/>
              <a:defRPr sz="1200" b="1"/>
            </a:lvl1pPr>
            <a:lvl2pPr marL="914400" lvl="1" indent="-304800" algn="l">
              <a:spcBef>
                <a:spcPts val="0"/>
              </a:spcBef>
              <a:spcAft>
                <a:spcPts val="0"/>
              </a:spcAft>
              <a:buClr>
                <a:schemeClr val="dk1"/>
              </a:buClr>
              <a:buSzPts val="1200"/>
              <a:buFont typeface="Arial"/>
              <a:buChar char="•"/>
              <a:defRPr sz="1200" b="0"/>
            </a:lvl2pPr>
            <a:lvl3pPr marL="1371600" lvl="2" indent="-342900" algn="l">
              <a:spcBef>
                <a:spcPts val="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74" name="Google Shape;274;p32"/>
          <p:cNvSpPr txBox="1">
            <a:spLocks noGrp="1"/>
          </p:cNvSpPr>
          <p:nvPr>
            <p:ph type="body" idx="7"/>
          </p:nvPr>
        </p:nvSpPr>
        <p:spPr>
          <a:xfrm>
            <a:off x="2655128" y="4256213"/>
            <a:ext cx="3288000" cy="19440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1"/>
              </a:buClr>
              <a:buSzPts val="1200"/>
              <a:buFont typeface="Calibri"/>
              <a:buNone/>
              <a:defRPr sz="1200" b="1"/>
            </a:lvl1pPr>
            <a:lvl2pPr marL="914400" lvl="1" indent="-304800" algn="l">
              <a:spcBef>
                <a:spcPts val="0"/>
              </a:spcBef>
              <a:spcAft>
                <a:spcPts val="0"/>
              </a:spcAft>
              <a:buClr>
                <a:schemeClr val="dk1"/>
              </a:buClr>
              <a:buSzPts val="1200"/>
              <a:buFont typeface="Arial"/>
              <a:buChar char="•"/>
              <a:defRPr sz="1200" b="0"/>
            </a:lvl2pPr>
            <a:lvl3pPr marL="1371600" lvl="2" indent="-342900" algn="l">
              <a:spcBef>
                <a:spcPts val="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75" name="Google Shape;275;p32"/>
          <p:cNvSpPr txBox="1">
            <a:spLocks noGrp="1"/>
          </p:cNvSpPr>
          <p:nvPr>
            <p:ph type="body" idx="8"/>
          </p:nvPr>
        </p:nvSpPr>
        <p:spPr>
          <a:xfrm>
            <a:off x="8439092" y="4256213"/>
            <a:ext cx="3302592" cy="19440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1"/>
              </a:buClr>
              <a:buSzPts val="1200"/>
              <a:buFont typeface="Calibri"/>
              <a:buNone/>
              <a:defRPr sz="1200" b="1"/>
            </a:lvl1pPr>
            <a:lvl2pPr marL="914400" lvl="1" indent="-304800" algn="l">
              <a:spcBef>
                <a:spcPts val="0"/>
              </a:spcBef>
              <a:spcAft>
                <a:spcPts val="0"/>
              </a:spcAft>
              <a:buClr>
                <a:schemeClr val="dk1"/>
              </a:buClr>
              <a:buSzPts val="1200"/>
              <a:buFont typeface="Arial"/>
              <a:buChar char="•"/>
              <a:defRPr sz="1200" b="0"/>
            </a:lvl2pPr>
            <a:lvl3pPr marL="1371600" lvl="2" indent="-342900" algn="l">
              <a:spcBef>
                <a:spcPts val="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76" name="Google Shape;276;p32"/>
          <p:cNvSpPr txBox="1">
            <a:spLocks noGrp="1"/>
          </p:cNvSpPr>
          <p:nvPr>
            <p:ph type="body" idx="9"/>
          </p:nvPr>
        </p:nvSpPr>
        <p:spPr>
          <a:xfrm>
            <a:off x="463295" y="682940"/>
            <a:ext cx="11277600" cy="757255"/>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2"/>
              </a:buClr>
              <a:buSzPts val="1800"/>
              <a:buFont typeface="Calibri"/>
              <a:buNone/>
              <a:defRPr sz="1800" b="0">
                <a:solidFill>
                  <a:schemeClr val="dk2"/>
                </a:solidFill>
              </a:defRPr>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77" name="Google Shape;277;p32"/>
          <p:cNvSpPr txBox="1">
            <a:spLocks noGrp="1"/>
          </p:cNvSpPr>
          <p:nvPr>
            <p:ph type="title"/>
          </p:nvPr>
        </p:nvSpPr>
        <p:spPr>
          <a:xfrm>
            <a:off x="463295" y="345992"/>
            <a:ext cx="11277600" cy="334099"/>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matchingName="Qualifications 2 x 1">
  <p:cSld name="Qualifications 2 x 1">
    <p:spTree>
      <p:nvGrpSpPr>
        <p:cNvPr id="1" name="Shape 278"/>
        <p:cNvGrpSpPr/>
        <p:nvPr/>
      </p:nvGrpSpPr>
      <p:grpSpPr>
        <a:xfrm>
          <a:off x="0" y="0"/>
          <a:ext cx="0" cy="0"/>
          <a:chOff x="0" y="0"/>
          <a:chExt cx="0" cy="0"/>
        </a:xfrm>
      </p:grpSpPr>
      <p:pic>
        <p:nvPicPr>
          <p:cNvPr id="279" name="Google Shape;279;p33"/>
          <p:cNvPicPr preferRelativeResize="0"/>
          <p:nvPr/>
        </p:nvPicPr>
        <p:blipFill rotWithShape="1">
          <a:blip r:embed="rId2">
            <a:alphaModFix/>
          </a:blip>
          <a:srcRect/>
          <a:stretch/>
        </p:blipFill>
        <p:spPr>
          <a:xfrm>
            <a:off x="1588" y="1588"/>
            <a:ext cx="3175" cy="1587"/>
          </a:xfrm>
          <a:prstGeom prst="rect">
            <a:avLst/>
          </a:prstGeom>
          <a:noFill/>
          <a:ln>
            <a:noFill/>
          </a:ln>
        </p:spPr>
      </p:pic>
      <p:sp>
        <p:nvSpPr>
          <p:cNvPr id="280" name="Google Shape;280;p33"/>
          <p:cNvSpPr txBox="1"/>
          <p:nvPr/>
        </p:nvSpPr>
        <p:spPr>
          <a:xfrm>
            <a:off x="6335713" y="6519863"/>
            <a:ext cx="4895850" cy="12223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dk1"/>
              </a:buClr>
              <a:buSzPts val="800"/>
              <a:buFont typeface="Arial"/>
              <a:buNone/>
            </a:pPr>
            <a:r>
              <a:rPr lang="en-IN" sz="800" b="0" i="0" u="none" strike="noStrike" cap="none">
                <a:solidFill>
                  <a:schemeClr val="dk1"/>
                </a:solidFill>
                <a:latin typeface="Calibri"/>
                <a:ea typeface="Calibri"/>
                <a:cs typeface="Calibri"/>
                <a:sym typeface="Calibri"/>
              </a:rPr>
              <a:t>CTD Review Meeting</a:t>
            </a:r>
            <a:endParaRPr/>
          </a:p>
        </p:txBody>
      </p:sp>
      <p:sp>
        <p:nvSpPr>
          <p:cNvPr id="281" name="Google Shape;281;p33"/>
          <p:cNvSpPr txBox="1"/>
          <p:nvPr/>
        </p:nvSpPr>
        <p:spPr>
          <a:xfrm>
            <a:off x="11426825" y="6519863"/>
            <a:ext cx="307975" cy="12223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dk1"/>
              </a:buClr>
              <a:buSzPts val="800"/>
              <a:buFont typeface="Arial"/>
              <a:buNone/>
            </a:pPr>
            <a:fld id="{00000000-1234-1234-1234-123412341234}" type="slidenum">
              <a:rPr lang="en-IN" sz="800" b="0" i="0" u="none" strike="noStrike" cap="none">
                <a:solidFill>
                  <a:schemeClr val="dk1"/>
                </a:solidFill>
                <a:latin typeface="Calibri"/>
                <a:ea typeface="Calibri"/>
                <a:cs typeface="Calibri"/>
                <a:sym typeface="Calibri"/>
              </a:rPr>
              <a:t>‹#›</a:t>
            </a:fld>
            <a:endParaRPr sz="800" b="0" i="0" u="none" strike="noStrike" cap="none">
              <a:solidFill>
                <a:schemeClr val="dk1"/>
              </a:solidFill>
              <a:latin typeface="Calibri"/>
              <a:ea typeface="Calibri"/>
              <a:cs typeface="Calibri"/>
              <a:sym typeface="Calibri"/>
            </a:endParaRPr>
          </a:p>
        </p:txBody>
      </p:sp>
      <p:sp>
        <p:nvSpPr>
          <p:cNvPr id="282" name="Google Shape;282;p33"/>
          <p:cNvSpPr txBox="1"/>
          <p:nvPr/>
        </p:nvSpPr>
        <p:spPr>
          <a:xfrm>
            <a:off x="4065588" y="700088"/>
            <a:ext cx="254000"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283" name="Google Shape;283;p33"/>
          <p:cNvSpPr txBox="1"/>
          <p:nvPr/>
        </p:nvSpPr>
        <p:spPr>
          <a:xfrm>
            <a:off x="4321175" y="803275"/>
            <a:ext cx="1673225"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284" name="Google Shape;284;p33"/>
          <p:cNvSpPr txBox="1"/>
          <p:nvPr/>
        </p:nvSpPr>
        <p:spPr>
          <a:xfrm>
            <a:off x="5970588" y="803275"/>
            <a:ext cx="249237"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285" name="Google Shape;285;p33"/>
          <p:cNvSpPr txBox="1"/>
          <p:nvPr/>
        </p:nvSpPr>
        <p:spPr>
          <a:xfrm>
            <a:off x="4321175" y="801688"/>
            <a:ext cx="1673225"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286" name="Google Shape;286;p33"/>
          <p:cNvSpPr/>
          <p:nvPr/>
        </p:nvSpPr>
        <p:spPr>
          <a:xfrm>
            <a:off x="469900" y="1716088"/>
            <a:ext cx="5486400" cy="52387"/>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825" b="0" i="0" u="none" strike="noStrike" cap="none">
              <a:solidFill>
                <a:schemeClr val="lt1"/>
              </a:solidFill>
              <a:latin typeface="Calibri"/>
              <a:ea typeface="Calibri"/>
              <a:cs typeface="Calibri"/>
              <a:sym typeface="Calibri"/>
            </a:endParaRPr>
          </a:p>
        </p:txBody>
      </p:sp>
      <p:sp>
        <p:nvSpPr>
          <p:cNvPr id="287" name="Google Shape;287;p33"/>
          <p:cNvSpPr/>
          <p:nvPr/>
        </p:nvSpPr>
        <p:spPr>
          <a:xfrm>
            <a:off x="6246813" y="1719263"/>
            <a:ext cx="5486400" cy="52387"/>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825" b="0" i="0" u="none" strike="noStrike" cap="none">
              <a:solidFill>
                <a:schemeClr val="lt1"/>
              </a:solidFill>
              <a:latin typeface="Calibri"/>
              <a:ea typeface="Calibri"/>
              <a:cs typeface="Calibri"/>
              <a:sym typeface="Calibri"/>
            </a:endParaRPr>
          </a:p>
        </p:txBody>
      </p:sp>
      <p:sp>
        <p:nvSpPr>
          <p:cNvPr id="288" name="Google Shape;288;p33"/>
          <p:cNvSpPr txBox="1">
            <a:spLocks noGrp="1"/>
          </p:cNvSpPr>
          <p:nvPr>
            <p:ph type="body" idx="1"/>
          </p:nvPr>
        </p:nvSpPr>
        <p:spPr>
          <a:xfrm>
            <a:off x="470343" y="1857892"/>
            <a:ext cx="5486400" cy="4504808"/>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Font typeface="Calibri"/>
              <a:buNone/>
              <a:defRPr sz="1200" b="1">
                <a:solidFill>
                  <a:schemeClr val="accent1"/>
                </a:solidFill>
              </a:defRPr>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750"/>
              </a:spcBef>
              <a:spcAft>
                <a:spcPts val="0"/>
              </a:spcAft>
              <a:buClr>
                <a:schemeClr val="dk1"/>
              </a:buClr>
              <a:buSzPts val="1200"/>
              <a:buFont typeface="Arial"/>
              <a:buChar char="−"/>
              <a:defRPr sz="1200"/>
            </a:lvl3pPr>
            <a:lvl4pPr marL="1828800" lvl="3" indent="-304800" algn="l">
              <a:spcBef>
                <a:spcPts val="750"/>
              </a:spcBef>
              <a:spcAft>
                <a:spcPts val="0"/>
              </a:spcAft>
              <a:buClr>
                <a:schemeClr val="dk1"/>
              </a:buClr>
              <a:buSzPts val="1200"/>
              <a:buFont typeface="Arial"/>
              <a:buChar char="◦"/>
              <a:defRPr sz="1200"/>
            </a:lvl4pPr>
            <a:lvl5pPr marL="2286000" lvl="4" indent="-304800" algn="l">
              <a:spcBef>
                <a:spcPts val="750"/>
              </a:spcBef>
              <a:spcAft>
                <a:spcPts val="0"/>
              </a:spcAft>
              <a:buClr>
                <a:schemeClr val="dk1"/>
              </a:buClr>
              <a:buSzPts val="1200"/>
              <a:buFont typeface="Arial"/>
              <a:buChar char="−"/>
              <a:defRPr sz="1200"/>
            </a:lvl5pPr>
            <a:lvl6pPr marL="2743200" lvl="5" indent="-285750" algn="l">
              <a:spcBef>
                <a:spcPts val="750"/>
              </a:spcBef>
              <a:spcAft>
                <a:spcPts val="0"/>
              </a:spcAft>
              <a:buClr>
                <a:schemeClr val="dk1"/>
              </a:buClr>
              <a:buSzPts val="900"/>
              <a:buFont typeface="Verdana"/>
              <a:buChar char="−"/>
              <a:defRPr/>
            </a:lvl6pPr>
            <a:lvl7pPr marL="3200400" lvl="6" indent="-285750" algn="l">
              <a:spcBef>
                <a:spcPts val="750"/>
              </a:spcBef>
              <a:spcAft>
                <a:spcPts val="0"/>
              </a:spcAft>
              <a:buClr>
                <a:schemeClr val="dk1"/>
              </a:buClr>
              <a:buSzPts val="900"/>
              <a:buChar char="−"/>
              <a:defRPr/>
            </a:lvl7pPr>
            <a:lvl8pPr marL="3657600" lvl="7" indent="-285750" algn="l">
              <a:spcBef>
                <a:spcPts val="750"/>
              </a:spcBef>
              <a:spcAft>
                <a:spcPts val="0"/>
              </a:spcAft>
              <a:buClr>
                <a:schemeClr val="dk1"/>
              </a:buClr>
              <a:buSzPts val="900"/>
              <a:buChar char="−"/>
              <a:defRPr/>
            </a:lvl8pPr>
            <a:lvl9pPr marL="4114800" lvl="8" indent="-285750" algn="l">
              <a:spcBef>
                <a:spcPts val="750"/>
              </a:spcBef>
              <a:spcAft>
                <a:spcPts val="750"/>
              </a:spcAft>
              <a:buClr>
                <a:schemeClr val="dk1"/>
              </a:buClr>
              <a:buSzPts val="900"/>
              <a:buChar char="−"/>
              <a:defRPr/>
            </a:lvl9pPr>
          </a:lstStyle>
          <a:p>
            <a:endParaRPr/>
          </a:p>
        </p:txBody>
      </p:sp>
      <p:sp>
        <p:nvSpPr>
          <p:cNvPr id="289" name="Google Shape;289;p33"/>
          <p:cNvSpPr txBox="1">
            <a:spLocks noGrp="1"/>
          </p:cNvSpPr>
          <p:nvPr>
            <p:ph type="body" idx="2"/>
          </p:nvPr>
        </p:nvSpPr>
        <p:spPr>
          <a:xfrm>
            <a:off x="6246195" y="1857892"/>
            <a:ext cx="5486400" cy="4504808"/>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Font typeface="Calibri"/>
              <a:buNone/>
              <a:defRPr sz="1200" b="1">
                <a:solidFill>
                  <a:schemeClr val="accent1"/>
                </a:solidFill>
              </a:defRPr>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750"/>
              </a:spcBef>
              <a:spcAft>
                <a:spcPts val="0"/>
              </a:spcAft>
              <a:buClr>
                <a:schemeClr val="dk1"/>
              </a:buClr>
              <a:buSzPts val="1200"/>
              <a:buFont typeface="Arial"/>
              <a:buChar char="−"/>
              <a:defRPr sz="1200"/>
            </a:lvl3pPr>
            <a:lvl4pPr marL="1828800" lvl="3" indent="-304800" algn="l">
              <a:spcBef>
                <a:spcPts val="750"/>
              </a:spcBef>
              <a:spcAft>
                <a:spcPts val="0"/>
              </a:spcAft>
              <a:buClr>
                <a:schemeClr val="dk1"/>
              </a:buClr>
              <a:buSzPts val="1200"/>
              <a:buFont typeface="Arial"/>
              <a:buChar char="◦"/>
              <a:defRPr sz="1200"/>
            </a:lvl4pPr>
            <a:lvl5pPr marL="2286000" lvl="4" indent="-304800" algn="l">
              <a:spcBef>
                <a:spcPts val="750"/>
              </a:spcBef>
              <a:spcAft>
                <a:spcPts val="0"/>
              </a:spcAft>
              <a:buClr>
                <a:schemeClr val="dk1"/>
              </a:buClr>
              <a:buSzPts val="1200"/>
              <a:buFont typeface="Arial"/>
              <a:buChar char="−"/>
              <a:defRPr sz="1200"/>
            </a:lvl5pPr>
            <a:lvl6pPr marL="2743200" lvl="5" indent="-285750" algn="l">
              <a:spcBef>
                <a:spcPts val="750"/>
              </a:spcBef>
              <a:spcAft>
                <a:spcPts val="0"/>
              </a:spcAft>
              <a:buClr>
                <a:schemeClr val="dk1"/>
              </a:buClr>
              <a:buSzPts val="900"/>
              <a:buFont typeface="Verdana"/>
              <a:buChar char="−"/>
              <a:defRPr/>
            </a:lvl6pPr>
            <a:lvl7pPr marL="3200400" lvl="6" indent="-285750" algn="l">
              <a:spcBef>
                <a:spcPts val="750"/>
              </a:spcBef>
              <a:spcAft>
                <a:spcPts val="0"/>
              </a:spcAft>
              <a:buClr>
                <a:schemeClr val="dk1"/>
              </a:buClr>
              <a:buSzPts val="900"/>
              <a:buChar char="−"/>
              <a:defRPr/>
            </a:lvl7pPr>
            <a:lvl8pPr marL="3657600" lvl="7" indent="-285750" algn="l">
              <a:spcBef>
                <a:spcPts val="750"/>
              </a:spcBef>
              <a:spcAft>
                <a:spcPts val="0"/>
              </a:spcAft>
              <a:buClr>
                <a:schemeClr val="dk1"/>
              </a:buClr>
              <a:buSzPts val="900"/>
              <a:buChar char="−"/>
              <a:defRPr/>
            </a:lvl8pPr>
            <a:lvl9pPr marL="4114800" lvl="8" indent="-285750" algn="l">
              <a:spcBef>
                <a:spcPts val="750"/>
              </a:spcBef>
              <a:spcAft>
                <a:spcPts val="750"/>
              </a:spcAft>
              <a:buClr>
                <a:schemeClr val="dk1"/>
              </a:buClr>
              <a:buSzPts val="900"/>
              <a:buChar char="−"/>
              <a:defRPr/>
            </a:lvl9pPr>
          </a:lstStyle>
          <a:p>
            <a:endParaRPr/>
          </a:p>
        </p:txBody>
      </p:sp>
      <p:sp>
        <p:nvSpPr>
          <p:cNvPr id="290" name="Google Shape;290;p33"/>
          <p:cNvSpPr>
            <a:spLocks noGrp="1"/>
          </p:cNvSpPr>
          <p:nvPr>
            <p:ph type="pic" idx="3"/>
          </p:nvPr>
        </p:nvSpPr>
        <p:spPr>
          <a:xfrm>
            <a:off x="4734090" y="1857894"/>
            <a:ext cx="1210207" cy="549275"/>
          </a:xfrm>
          <a:prstGeom prst="rect">
            <a:avLst/>
          </a:prstGeom>
          <a:noFill/>
          <a:ln>
            <a:noFill/>
          </a:ln>
        </p:spPr>
      </p:sp>
      <p:sp>
        <p:nvSpPr>
          <p:cNvPr id="291" name="Google Shape;291;p33"/>
          <p:cNvSpPr>
            <a:spLocks noGrp="1"/>
          </p:cNvSpPr>
          <p:nvPr>
            <p:ph type="pic" idx="4"/>
          </p:nvPr>
        </p:nvSpPr>
        <p:spPr>
          <a:xfrm>
            <a:off x="10488434" y="1857894"/>
            <a:ext cx="1244161" cy="549275"/>
          </a:xfrm>
          <a:prstGeom prst="rect">
            <a:avLst/>
          </a:prstGeom>
          <a:noFill/>
          <a:ln>
            <a:noFill/>
          </a:ln>
        </p:spPr>
      </p:sp>
      <p:sp>
        <p:nvSpPr>
          <p:cNvPr id="292" name="Google Shape;292;p33"/>
          <p:cNvSpPr txBox="1">
            <a:spLocks noGrp="1"/>
          </p:cNvSpPr>
          <p:nvPr>
            <p:ph type="body" idx="5"/>
          </p:nvPr>
        </p:nvSpPr>
        <p:spPr>
          <a:xfrm>
            <a:off x="463295" y="682940"/>
            <a:ext cx="11277600" cy="757255"/>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2"/>
              </a:buClr>
              <a:buSzPts val="1800"/>
              <a:buFont typeface="Calibri"/>
              <a:buNone/>
              <a:defRPr sz="1800" b="0">
                <a:solidFill>
                  <a:schemeClr val="dk2"/>
                </a:solidFill>
              </a:defRPr>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93" name="Google Shape;293;p33"/>
          <p:cNvSpPr txBox="1">
            <a:spLocks noGrp="1"/>
          </p:cNvSpPr>
          <p:nvPr>
            <p:ph type="title"/>
          </p:nvPr>
        </p:nvSpPr>
        <p:spPr>
          <a:xfrm>
            <a:off x="463295" y="345992"/>
            <a:ext cx="11277600" cy="334099"/>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mp; subtitle">
  <p:cSld name="Title &amp; subtitle">
    <p:spTree>
      <p:nvGrpSpPr>
        <p:cNvPr id="1" name="Shape 294"/>
        <p:cNvGrpSpPr/>
        <p:nvPr/>
      </p:nvGrpSpPr>
      <p:grpSpPr>
        <a:xfrm>
          <a:off x="0" y="0"/>
          <a:ext cx="0" cy="0"/>
          <a:chOff x="0" y="0"/>
          <a:chExt cx="0" cy="0"/>
        </a:xfrm>
      </p:grpSpPr>
      <p:sp>
        <p:nvSpPr>
          <p:cNvPr id="295" name="Google Shape;295;p34"/>
          <p:cNvSpPr txBox="1">
            <a:spLocks noGrp="1"/>
          </p:cNvSpPr>
          <p:nvPr>
            <p:ph type="body" idx="1"/>
          </p:nvPr>
        </p:nvSpPr>
        <p:spPr>
          <a:xfrm>
            <a:off x="463295" y="682940"/>
            <a:ext cx="11277600" cy="757255"/>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2"/>
              </a:buClr>
              <a:buSzPts val="1800"/>
              <a:buFont typeface="Calibri"/>
              <a:buNone/>
              <a:defRPr sz="1800" b="0">
                <a:solidFill>
                  <a:schemeClr val="dk2"/>
                </a:solidFill>
              </a:defRPr>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296" name="Google Shape;296;p34"/>
          <p:cNvSpPr txBox="1">
            <a:spLocks noGrp="1"/>
          </p:cNvSpPr>
          <p:nvPr>
            <p:ph type="title"/>
          </p:nvPr>
        </p:nvSpPr>
        <p:spPr>
          <a:xfrm>
            <a:off x="463295" y="345992"/>
            <a:ext cx="11277600" cy="334099"/>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97"/>
        <p:cNvGrpSpPr/>
        <p:nvPr/>
      </p:nvGrpSpPr>
      <p:grpSpPr>
        <a:xfrm>
          <a:off x="0" y="0"/>
          <a:ext cx="0" cy="0"/>
          <a:chOff x="0" y="0"/>
          <a:chExt cx="0" cy="0"/>
        </a:xfrm>
      </p:grpSpPr>
      <p:sp>
        <p:nvSpPr>
          <p:cNvPr id="298" name="Google Shape;298;p35"/>
          <p:cNvSpPr txBox="1">
            <a:spLocks noGrp="1"/>
          </p:cNvSpPr>
          <p:nvPr>
            <p:ph type="title"/>
          </p:nvPr>
        </p:nvSpPr>
        <p:spPr>
          <a:xfrm>
            <a:off x="463295" y="345992"/>
            <a:ext cx="11277600" cy="334099"/>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Divider-Full Bleed Image">
  <p:cSld name="Divider-Full Bleed Image">
    <p:spTree>
      <p:nvGrpSpPr>
        <p:cNvPr id="1" name="Shape 299"/>
        <p:cNvGrpSpPr/>
        <p:nvPr/>
      </p:nvGrpSpPr>
      <p:grpSpPr>
        <a:xfrm>
          <a:off x="0" y="0"/>
          <a:ext cx="0" cy="0"/>
          <a:chOff x="0" y="0"/>
          <a:chExt cx="0" cy="0"/>
        </a:xfrm>
      </p:grpSpPr>
      <p:sp>
        <p:nvSpPr>
          <p:cNvPr id="300" name="Google Shape;300;p36"/>
          <p:cNvSpPr>
            <a:spLocks noGrp="1"/>
          </p:cNvSpPr>
          <p:nvPr>
            <p:ph type="pic" idx="2"/>
          </p:nvPr>
        </p:nvSpPr>
        <p:spPr>
          <a:xfrm>
            <a:off x="0" y="0"/>
            <a:ext cx="12192000" cy="6858000"/>
          </a:xfrm>
          <a:prstGeom prst="rect">
            <a:avLst/>
          </a:prstGeom>
          <a:noFill/>
          <a:ln>
            <a:noFill/>
          </a:ln>
        </p:spPr>
      </p:sp>
      <p:sp>
        <p:nvSpPr>
          <p:cNvPr id="301" name="Google Shape;301;p36"/>
          <p:cNvSpPr txBox="1">
            <a:spLocks noGrp="1"/>
          </p:cNvSpPr>
          <p:nvPr>
            <p:ph type="body" idx="1"/>
          </p:nvPr>
        </p:nvSpPr>
        <p:spPr>
          <a:xfrm>
            <a:off x="478220" y="366547"/>
            <a:ext cx="5465380" cy="484791"/>
          </a:xfrm>
          <a:prstGeom prst="rect">
            <a:avLst/>
          </a:prstGeom>
          <a:noFill/>
          <a:ln>
            <a:noFill/>
          </a:ln>
        </p:spPr>
        <p:txBody>
          <a:bodyPr spcFirstLastPara="1" wrap="square" lIns="0" tIns="0" rIns="0" bIns="0" anchor="t" anchorCtr="0">
            <a:noAutofit/>
          </a:bodyPr>
          <a:lstStyle>
            <a:lvl1pPr marL="457200" lvl="0" indent="-431800" algn="l">
              <a:spcBef>
                <a:spcPts val="0"/>
              </a:spcBef>
              <a:spcAft>
                <a:spcPts val="0"/>
              </a:spcAft>
              <a:buClr>
                <a:schemeClr val="dk1"/>
              </a:buClr>
              <a:buSzPts val="3200"/>
              <a:buFont typeface="Calibri"/>
              <a:buChar char="•"/>
              <a:defRPr sz="3200" b="1">
                <a:latin typeface="Calibri"/>
                <a:ea typeface="Calibri"/>
                <a:cs typeface="Calibri"/>
                <a:sym typeface="Calibri"/>
              </a:defRPr>
            </a:lvl1pPr>
            <a:lvl2pPr marL="914400" lvl="1" indent="-431800" algn="l">
              <a:spcBef>
                <a:spcPts val="750"/>
              </a:spcBef>
              <a:spcAft>
                <a:spcPts val="0"/>
              </a:spcAft>
              <a:buClr>
                <a:schemeClr val="dk1"/>
              </a:buClr>
              <a:buSzPts val="3200"/>
              <a:buChar char="•"/>
              <a:defRPr sz="3200" b="1">
                <a:latin typeface="Calibri"/>
                <a:ea typeface="Calibri"/>
                <a:cs typeface="Calibri"/>
                <a:sym typeface="Calibri"/>
              </a:defRPr>
            </a:lvl2pPr>
            <a:lvl3pPr marL="1371600" lvl="2" indent="-431800" algn="l">
              <a:spcBef>
                <a:spcPts val="750"/>
              </a:spcBef>
              <a:spcAft>
                <a:spcPts val="0"/>
              </a:spcAft>
              <a:buClr>
                <a:schemeClr val="dk1"/>
              </a:buClr>
              <a:buSzPts val="3200"/>
              <a:buChar char="−"/>
              <a:defRPr sz="3200" b="1">
                <a:latin typeface="Calibri"/>
                <a:ea typeface="Calibri"/>
                <a:cs typeface="Calibri"/>
                <a:sym typeface="Calibri"/>
              </a:defRPr>
            </a:lvl3pPr>
            <a:lvl4pPr marL="1828800" lvl="3" indent="-431800" algn="l">
              <a:spcBef>
                <a:spcPts val="750"/>
              </a:spcBef>
              <a:spcAft>
                <a:spcPts val="0"/>
              </a:spcAft>
              <a:buClr>
                <a:schemeClr val="dk1"/>
              </a:buClr>
              <a:buSzPts val="3200"/>
              <a:buChar char="◦"/>
              <a:defRPr sz="3200" b="1">
                <a:latin typeface="Calibri"/>
                <a:ea typeface="Calibri"/>
                <a:cs typeface="Calibri"/>
                <a:sym typeface="Calibri"/>
              </a:defRPr>
            </a:lvl4pPr>
            <a:lvl5pPr marL="2286000" lvl="4" indent="-431800" algn="l">
              <a:spcBef>
                <a:spcPts val="750"/>
              </a:spcBef>
              <a:spcAft>
                <a:spcPts val="0"/>
              </a:spcAft>
              <a:buClr>
                <a:schemeClr val="dk1"/>
              </a:buClr>
              <a:buSzPts val="3200"/>
              <a:buChar char="−"/>
              <a:defRPr sz="3200" b="1">
                <a:latin typeface="Calibri"/>
                <a:ea typeface="Calibri"/>
                <a:cs typeface="Calibri"/>
                <a:sym typeface="Calibri"/>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302" name="Google Shape;302;p36"/>
          <p:cNvSpPr txBox="1">
            <a:spLocks noGrp="1"/>
          </p:cNvSpPr>
          <p:nvPr>
            <p:ph type="body" idx="3"/>
          </p:nvPr>
        </p:nvSpPr>
        <p:spPr>
          <a:xfrm>
            <a:off x="478220" y="851339"/>
            <a:ext cx="5465380" cy="863162"/>
          </a:xfrm>
          <a:prstGeom prst="rect">
            <a:avLst/>
          </a:prstGeom>
          <a:noFill/>
          <a:ln>
            <a:noFill/>
          </a:ln>
        </p:spPr>
        <p:txBody>
          <a:bodyPr spcFirstLastPara="1" wrap="square" lIns="0" tIns="0" rIns="0" bIns="0" anchor="t" anchorCtr="0">
            <a:noAutofit/>
          </a:bodyPr>
          <a:lstStyle>
            <a:lvl1pPr marL="457200" lvl="0" indent="-431800" algn="l">
              <a:spcBef>
                <a:spcPts val="0"/>
              </a:spcBef>
              <a:spcAft>
                <a:spcPts val="0"/>
              </a:spcAft>
              <a:buClr>
                <a:schemeClr val="dk1"/>
              </a:buClr>
              <a:buSzPts val="3200"/>
              <a:buFont typeface="Calibri"/>
              <a:buChar char="•"/>
              <a:defRPr sz="3200" b="0">
                <a:latin typeface="Calibri"/>
                <a:ea typeface="Calibri"/>
                <a:cs typeface="Calibri"/>
                <a:sym typeface="Calibri"/>
              </a:defRPr>
            </a:lvl1pPr>
            <a:lvl2pPr marL="914400" lvl="1" indent="-431800" algn="l">
              <a:spcBef>
                <a:spcPts val="750"/>
              </a:spcBef>
              <a:spcAft>
                <a:spcPts val="0"/>
              </a:spcAft>
              <a:buClr>
                <a:schemeClr val="dk1"/>
              </a:buClr>
              <a:buSzPts val="3200"/>
              <a:buChar char="•"/>
              <a:defRPr sz="3200" b="1">
                <a:latin typeface="Calibri"/>
                <a:ea typeface="Calibri"/>
                <a:cs typeface="Calibri"/>
                <a:sym typeface="Calibri"/>
              </a:defRPr>
            </a:lvl2pPr>
            <a:lvl3pPr marL="1371600" lvl="2" indent="-431800" algn="l">
              <a:spcBef>
                <a:spcPts val="750"/>
              </a:spcBef>
              <a:spcAft>
                <a:spcPts val="0"/>
              </a:spcAft>
              <a:buClr>
                <a:schemeClr val="dk1"/>
              </a:buClr>
              <a:buSzPts val="3200"/>
              <a:buChar char="−"/>
              <a:defRPr sz="3200" b="1">
                <a:latin typeface="Calibri"/>
                <a:ea typeface="Calibri"/>
                <a:cs typeface="Calibri"/>
                <a:sym typeface="Calibri"/>
              </a:defRPr>
            </a:lvl3pPr>
            <a:lvl4pPr marL="1828800" lvl="3" indent="-431800" algn="l">
              <a:spcBef>
                <a:spcPts val="750"/>
              </a:spcBef>
              <a:spcAft>
                <a:spcPts val="0"/>
              </a:spcAft>
              <a:buClr>
                <a:schemeClr val="dk1"/>
              </a:buClr>
              <a:buSzPts val="3200"/>
              <a:buChar char="◦"/>
              <a:defRPr sz="3200" b="1">
                <a:latin typeface="Calibri"/>
                <a:ea typeface="Calibri"/>
                <a:cs typeface="Calibri"/>
                <a:sym typeface="Calibri"/>
              </a:defRPr>
            </a:lvl4pPr>
            <a:lvl5pPr marL="2286000" lvl="4" indent="-431800" algn="l">
              <a:spcBef>
                <a:spcPts val="750"/>
              </a:spcBef>
              <a:spcAft>
                <a:spcPts val="0"/>
              </a:spcAft>
              <a:buClr>
                <a:schemeClr val="dk1"/>
              </a:buClr>
              <a:buSzPts val="3200"/>
              <a:buChar char="−"/>
              <a:defRPr sz="3200" b="1">
                <a:latin typeface="Calibri"/>
                <a:ea typeface="Calibri"/>
                <a:cs typeface="Calibri"/>
                <a:sym typeface="Calibri"/>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Tree>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subtitle &amp; 1 column text">
  <p:cSld name="Title, subtitle &amp; 1 column text">
    <p:spTree>
      <p:nvGrpSpPr>
        <p:cNvPr id="1" name="Shape 303"/>
        <p:cNvGrpSpPr/>
        <p:nvPr/>
      </p:nvGrpSpPr>
      <p:grpSpPr>
        <a:xfrm>
          <a:off x="0" y="0"/>
          <a:ext cx="0" cy="0"/>
          <a:chOff x="0" y="0"/>
          <a:chExt cx="0" cy="0"/>
        </a:xfrm>
      </p:grpSpPr>
      <p:sp>
        <p:nvSpPr>
          <p:cNvPr id="304" name="Google Shape;304;p37"/>
          <p:cNvSpPr txBox="1">
            <a:spLocks noGrp="1"/>
          </p:cNvSpPr>
          <p:nvPr>
            <p:ph type="body" idx="1"/>
          </p:nvPr>
        </p:nvSpPr>
        <p:spPr>
          <a:xfrm>
            <a:off x="461823" y="1714500"/>
            <a:ext cx="11277600" cy="4667250"/>
          </a:xfrm>
          <a:prstGeom prst="rect">
            <a:avLst/>
          </a:prstGeom>
          <a:noFill/>
          <a:ln>
            <a:noFill/>
          </a:ln>
        </p:spPr>
        <p:txBody>
          <a:bodyPr spcFirstLastPara="1" wrap="square" lIns="0" tIns="0" rIns="0" bIns="0" anchor="t" anchorCtr="0">
            <a:noAutofit/>
          </a:bodyPr>
          <a:lstStyle>
            <a:lvl1pPr marL="457200" lvl="0" indent="-304800" algn="l">
              <a:spcBef>
                <a:spcPts val="0"/>
              </a:spcBef>
              <a:spcAft>
                <a:spcPts val="0"/>
              </a:spcAft>
              <a:buClr>
                <a:schemeClr val="dk1"/>
              </a:buClr>
              <a:buSzPts val="1200"/>
              <a:buFont typeface="Calibri"/>
              <a:buChar char="•"/>
              <a:defRPr sz="1200"/>
            </a:lvl1pPr>
            <a:lvl2pPr marL="914400" lvl="1" indent="-304800" algn="l">
              <a:spcBef>
                <a:spcPts val="750"/>
              </a:spcBef>
              <a:spcAft>
                <a:spcPts val="0"/>
              </a:spcAft>
              <a:buClr>
                <a:schemeClr val="dk1"/>
              </a:buClr>
              <a:buSzPts val="1200"/>
              <a:buChar char="•"/>
              <a:defRPr sz="1200"/>
            </a:lvl2pPr>
            <a:lvl3pPr marL="1371600" lvl="2" indent="-304800" algn="l">
              <a:spcBef>
                <a:spcPts val="750"/>
              </a:spcBef>
              <a:spcAft>
                <a:spcPts val="0"/>
              </a:spcAft>
              <a:buClr>
                <a:schemeClr val="dk1"/>
              </a:buClr>
              <a:buSzPts val="1200"/>
              <a:buChar char="−"/>
              <a:defRPr sz="1200"/>
            </a:lvl3pPr>
            <a:lvl4pPr marL="1828800" lvl="3" indent="-304800" algn="l">
              <a:spcBef>
                <a:spcPts val="750"/>
              </a:spcBef>
              <a:spcAft>
                <a:spcPts val="0"/>
              </a:spcAft>
              <a:buClr>
                <a:schemeClr val="dk1"/>
              </a:buClr>
              <a:buSzPts val="1200"/>
              <a:buChar char="◦"/>
              <a:defRPr sz="1200"/>
            </a:lvl4pPr>
            <a:lvl5pPr marL="2286000" lvl="4" indent="-304800" algn="l">
              <a:spcBef>
                <a:spcPts val="750"/>
              </a:spcBef>
              <a:spcAft>
                <a:spcPts val="0"/>
              </a:spcAft>
              <a:buClr>
                <a:schemeClr val="dk1"/>
              </a:buClr>
              <a:buSzPts val="1200"/>
              <a:buChar char="−"/>
              <a:defRPr sz="1200"/>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305" name="Google Shape;305;p37"/>
          <p:cNvSpPr txBox="1">
            <a:spLocks noGrp="1"/>
          </p:cNvSpPr>
          <p:nvPr>
            <p:ph type="body" idx="2"/>
          </p:nvPr>
        </p:nvSpPr>
        <p:spPr>
          <a:xfrm>
            <a:off x="463295" y="682940"/>
            <a:ext cx="11277600" cy="757255"/>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2"/>
              </a:buClr>
              <a:buSzPts val="1800"/>
              <a:buFont typeface="Calibri"/>
              <a:buNone/>
              <a:defRPr sz="1800" b="0">
                <a:solidFill>
                  <a:schemeClr val="dk2"/>
                </a:solidFill>
              </a:defRPr>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306" name="Google Shape;306;p37"/>
          <p:cNvSpPr txBox="1">
            <a:spLocks noGrp="1"/>
          </p:cNvSpPr>
          <p:nvPr>
            <p:ph type="title"/>
          </p:nvPr>
        </p:nvSpPr>
        <p:spPr>
          <a:xfrm>
            <a:off x="463295" y="345992"/>
            <a:ext cx="11277600" cy="334099"/>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3 column green line">
  <p:cSld name="3 column green line">
    <p:spTree>
      <p:nvGrpSpPr>
        <p:cNvPr id="1" name="Shape 307"/>
        <p:cNvGrpSpPr/>
        <p:nvPr/>
      </p:nvGrpSpPr>
      <p:grpSpPr>
        <a:xfrm>
          <a:off x="0" y="0"/>
          <a:ext cx="0" cy="0"/>
          <a:chOff x="0" y="0"/>
          <a:chExt cx="0" cy="0"/>
        </a:xfrm>
      </p:grpSpPr>
      <p:pic>
        <p:nvPicPr>
          <p:cNvPr id="308" name="Google Shape;308;p38"/>
          <p:cNvPicPr preferRelativeResize="0"/>
          <p:nvPr/>
        </p:nvPicPr>
        <p:blipFill rotWithShape="1">
          <a:blip r:embed="rId2">
            <a:alphaModFix/>
          </a:blip>
          <a:srcRect/>
          <a:stretch/>
        </p:blipFill>
        <p:spPr>
          <a:xfrm>
            <a:off x="1588" y="1588"/>
            <a:ext cx="3175" cy="1587"/>
          </a:xfrm>
          <a:prstGeom prst="rect">
            <a:avLst/>
          </a:prstGeom>
          <a:noFill/>
          <a:ln>
            <a:noFill/>
          </a:ln>
        </p:spPr>
      </p:pic>
      <p:sp>
        <p:nvSpPr>
          <p:cNvPr id="309" name="Google Shape;309;p38"/>
          <p:cNvSpPr txBox="1"/>
          <p:nvPr/>
        </p:nvSpPr>
        <p:spPr>
          <a:xfrm>
            <a:off x="6335713" y="6519863"/>
            <a:ext cx="4895850" cy="12223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dk1"/>
              </a:buClr>
              <a:buSzPts val="800"/>
              <a:buFont typeface="Arial"/>
              <a:buNone/>
            </a:pPr>
            <a:r>
              <a:rPr lang="en-IN" sz="800" b="0" i="0" u="none" strike="noStrike" cap="none">
                <a:solidFill>
                  <a:schemeClr val="dk1"/>
                </a:solidFill>
                <a:latin typeface="Calibri"/>
                <a:ea typeface="Calibri"/>
                <a:cs typeface="Calibri"/>
                <a:sym typeface="Calibri"/>
              </a:rPr>
              <a:t>CTD Review Meeting</a:t>
            </a:r>
            <a:endParaRPr/>
          </a:p>
        </p:txBody>
      </p:sp>
      <p:sp>
        <p:nvSpPr>
          <p:cNvPr id="310" name="Google Shape;310;p38"/>
          <p:cNvSpPr txBox="1"/>
          <p:nvPr/>
        </p:nvSpPr>
        <p:spPr>
          <a:xfrm>
            <a:off x="11426825" y="6519863"/>
            <a:ext cx="307975" cy="12223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dk1"/>
              </a:buClr>
              <a:buSzPts val="800"/>
              <a:buFont typeface="Arial"/>
              <a:buNone/>
            </a:pPr>
            <a:fld id="{00000000-1234-1234-1234-123412341234}" type="slidenum">
              <a:rPr lang="en-IN" sz="800" b="0" i="0" u="none" strike="noStrike" cap="none">
                <a:solidFill>
                  <a:schemeClr val="dk1"/>
                </a:solidFill>
                <a:latin typeface="Calibri"/>
                <a:ea typeface="Calibri"/>
                <a:cs typeface="Calibri"/>
                <a:sym typeface="Calibri"/>
              </a:rPr>
              <a:t>‹#›</a:t>
            </a:fld>
            <a:endParaRPr sz="800" b="0" i="0" u="none" strike="noStrike" cap="none">
              <a:solidFill>
                <a:schemeClr val="dk1"/>
              </a:solidFill>
              <a:latin typeface="Calibri"/>
              <a:ea typeface="Calibri"/>
              <a:cs typeface="Calibri"/>
              <a:sym typeface="Calibri"/>
            </a:endParaRPr>
          </a:p>
        </p:txBody>
      </p:sp>
      <p:sp>
        <p:nvSpPr>
          <p:cNvPr id="311" name="Google Shape;311;p38"/>
          <p:cNvSpPr txBox="1"/>
          <p:nvPr/>
        </p:nvSpPr>
        <p:spPr>
          <a:xfrm>
            <a:off x="4065588" y="700088"/>
            <a:ext cx="254000"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312" name="Google Shape;312;p38"/>
          <p:cNvSpPr txBox="1"/>
          <p:nvPr/>
        </p:nvSpPr>
        <p:spPr>
          <a:xfrm>
            <a:off x="4321175" y="803275"/>
            <a:ext cx="1673225"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313" name="Google Shape;313;p38"/>
          <p:cNvSpPr txBox="1"/>
          <p:nvPr/>
        </p:nvSpPr>
        <p:spPr>
          <a:xfrm>
            <a:off x="5970588" y="803275"/>
            <a:ext cx="249237"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314" name="Google Shape;314;p38"/>
          <p:cNvSpPr txBox="1"/>
          <p:nvPr/>
        </p:nvSpPr>
        <p:spPr>
          <a:xfrm>
            <a:off x="4321175" y="801688"/>
            <a:ext cx="1673225"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315" name="Google Shape;315;p38"/>
          <p:cNvSpPr/>
          <p:nvPr/>
        </p:nvSpPr>
        <p:spPr>
          <a:xfrm>
            <a:off x="458788" y="1716088"/>
            <a:ext cx="3560762" cy="53975"/>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825" b="0" i="0" u="none" strike="noStrike" cap="none">
              <a:solidFill>
                <a:schemeClr val="lt1"/>
              </a:solidFill>
              <a:latin typeface="Calibri"/>
              <a:ea typeface="Calibri"/>
              <a:cs typeface="Calibri"/>
              <a:sym typeface="Calibri"/>
            </a:endParaRPr>
          </a:p>
        </p:txBody>
      </p:sp>
      <p:sp>
        <p:nvSpPr>
          <p:cNvPr id="316" name="Google Shape;316;p38"/>
          <p:cNvSpPr/>
          <p:nvPr/>
        </p:nvSpPr>
        <p:spPr>
          <a:xfrm>
            <a:off x="4314825" y="1716088"/>
            <a:ext cx="3560763" cy="53975"/>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825" b="0" i="0" u="none" strike="noStrike" cap="none">
              <a:solidFill>
                <a:schemeClr val="lt1"/>
              </a:solidFill>
              <a:latin typeface="Calibri"/>
              <a:ea typeface="Calibri"/>
              <a:cs typeface="Calibri"/>
              <a:sym typeface="Calibri"/>
            </a:endParaRPr>
          </a:p>
        </p:txBody>
      </p:sp>
      <p:sp>
        <p:nvSpPr>
          <p:cNvPr id="317" name="Google Shape;317;p38"/>
          <p:cNvSpPr/>
          <p:nvPr/>
        </p:nvSpPr>
        <p:spPr>
          <a:xfrm>
            <a:off x="8178800" y="1716088"/>
            <a:ext cx="3560763" cy="53975"/>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825" b="0" i="0" u="none" strike="noStrike" cap="none">
              <a:solidFill>
                <a:schemeClr val="lt1"/>
              </a:solidFill>
              <a:latin typeface="Calibri"/>
              <a:ea typeface="Calibri"/>
              <a:cs typeface="Calibri"/>
              <a:sym typeface="Calibri"/>
            </a:endParaRPr>
          </a:p>
        </p:txBody>
      </p:sp>
      <p:sp>
        <p:nvSpPr>
          <p:cNvPr id="318" name="Google Shape;318;p38"/>
          <p:cNvSpPr txBox="1">
            <a:spLocks noGrp="1"/>
          </p:cNvSpPr>
          <p:nvPr>
            <p:ph type="body" idx="1"/>
          </p:nvPr>
        </p:nvSpPr>
        <p:spPr>
          <a:xfrm>
            <a:off x="458730" y="1851440"/>
            <a:ext cx="3554471" cy="451126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Font typeface="Calibri"/>
              <a:buNone/>
              <a:defRPr sz="1200" b="1">
                <a:solidFill>
                  <a:schemeClr val="accent1"/>
                </a:solidFill>
              </a:defRPr>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750"/>
              </a:spcBef>
              <a:spcAft>
                <a:spcPts val="0"/>
              </a:spcAft>
              <a:buClr>
                <a:schemeClr val="dk1"/>
              </a:buClr>
              <a:buSzPts val="1200"/>
              <a:buFont typeface="Arial"/>
              <a:buChar char="−"/>
              <a:defRPr sz="1200"/>
            </a:lvl3pPr>
            <a:lvl4pPr marL="1828800" lvl="3" indent="-304800" algn="l">
              <a:spcBef>
                <a:spcPts val="750"/>
              </a:spcBef>
              <a:spcAft>
                <a:spcPts val="0"/>
              </a:spcAft>
              <a:buClr>
                <a:schemeClr val="dk1"/>
              </a:buClr>
              <a:buSzPts val="1200"/>
              <a:buFont typeface="Arial"/>
              <a:buChar char="◦"/>
              <a:defRPr sz="1200"/>
            </a:lvl4pPr>
            <a:lvl5pPr marL="2286000" lvl="4" indent="-304800" algn="l">
              <a:spcBef>
                <a:spcPts val="750"/>
              </a:spcBef>
              <a:spcAft>
                <a:spcPts val="0"/>
              </a:spcAft>
              <a:buClr>
                <a:schemeClr val="dk1"/>
              </a:buClr>
              <a:buSzPts val="1200"/>
              <a:buFont typeface="Arial"/>
              <a:buChar char="−"/>
              <a:defRPr sz="1200"/>
            </a:lvl5pPr>
            <a:lvl6pPr marL="2743200" lvl="5" indent="-285750" algn="l">
              <a:spcBef>
                <a:spcPts val="750"/>
              </a:spcBef>
              <a:spcAft>
                <a:spcPts val="0"/>
              </a:spcAft>
              <a:buClr>
                <a:schemeClr val="dk1"/>
              </a:buClr>
              <a:buSzPts val="900"/>
              <a:buFont typeface="Verdana"/>
              <a:buChar char="−"/>
              <a:defRPr/>
            </a:lvl6pPr>
            <a:lvl7pPr marL="3200400" lvl="6" indent="-285750" algn="l">
              <a:spcBef>
                <a:spcPts val="750"/>
              </a:spcBef>
              <a:spcAft>
                <a:spcPts val="0"/>
              </a:spcAft>
              <a:buClr>
                <a:schemeClr val="dk1"/>
              </a:buClr>
              <a:buSzPts val="900"/>
              <a:buChar char="−"/>
              <a:defRPr/>
            </a:lvl7pPr>
            <a:lvl8pPr marL="3657600" lvl="7" indent="-285750" algn="l">
              <a:spcBef>
                <a:spcPts val="750"/>
              </a:spcBef>
              <a:spcAft>
                <a:spcPts val="0"/>
              </a:spcAft>
              <a:buClr>
                <a:schemeClr val="dk1"/>
              </a:buClr>
              <a:buSzPts val="900"/>
              <a:buChar char="−"/>
              <a:defRPr/>
            </a:lvl8pPr>
            <a:lvl9pPr marL="4114800" lvl="8" indent="-285750" algn="l">
              <a:spcBef>
                <a:spcPts val="750"/>
              </a:spcBef>
              <a:spcAft>
                <a:spcPts val="750"/>
              </a:spcAft>
              <a:buClr>
                <a:schemeClr val="dk1"/>
              </a:buClr>
              <a:buSzPts val="900"/>
              <a:buChar char="−"/>
              <a:defRPr/>
            </a:lvl9pPr>
          </a:lstStyle>
          <a:p>
            <a:endParaRPr/>
          </a:p>
        </p:txBody>
      </p:sp>
      <p:sp>
        <p:nvSpPr>
          <p:cNvPr id="319" name="Google Shape;319;p38"/>
          <p:cNvSpPr txBox="1">
            <a:spLocks noGrp="1"/>
          </p:cNvSpPr>
          <p:nvPr>
            <p:ph type="body" idx="2"/>
          </p:nvPr>
        </p:nvSpPr>
        <p:spPr>
          <a:xfrm>
            <a:off x="4314826" y="1851440"/>
            <a:ext cx="3554471" cy="451126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Font typeface="Calibri"/>
              <a:buNone/>
              <a:defRPr sz="1200" b="1">
                <a:solidFill>
                  <a:schemeClr val="accent1"/>
                </a:solidFill>
              </a:defRPr>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750"/>
              </a:spcBef>
              <a:spcAft>
                <a:spcPts val="0"/>
              </a:spcAft>
              <a:buClr>
                <a:schemeClr val="dk1"/>
              </a:buClr>
              <a:buSzPts val="1200"/>
              <a:buFont typeface="Arial"/>
              <a:buChar char="−"/>
              <a:defRPr sz="1200"/>
            </a:lvl3pPr>
            <a:lvl4pPr marL="1828800" lvl="3" indent="-304800" algn="l">
              <a:spcBef>
                <a:spcPts val="750"/>
              </a:spcBef>
              <a:spcAft>
                <a:spcPts val="0"/>
              </a:spcAft>
              <a:buClr>
                <a:schemeClr val="dk1"/>
              </a:buClr>
              <a:buSzPts val="1200"/>
              <a:buFont typeface="Arial"/>
              <a:buChar char="◦"/>
              <a:defRPr sz="1200"/>
            </a:lvl4pPr>
            <a:lvl5pPr marL="2286000" lvl="4" indent="-304800" algn="l">
              <a:spcBef>
                <a:spcPts val="750"/>
              </a:spcBef>
              <a:spcAft>
                <a:spcPts val="0"/>
              </a:spcAft>
              <a:buClr>
                <a:schemeClr val="dk1"/>
              </a:buClr>
              <a:buSzPts val="1200"/>
              <a:buFont typeface="Arial"/>
              <a:buChar char="−"/>
              <a:defRPr sz="1200"/>
            </a:lvl5pPr>
            <a:lvl6pPr marL="2743200" lvl="5" indent="-285750" algn="l">
              <a:spcBef>
                <a:spcPts val="750"/>
              </a:spcBef>
              <a:spcAft>
                <a:spcPts val="0"/>
              </a:spcAft>
              <a:buClr>
                <a:schemeClr val="dk1"/>
              </a:buClr>
              <a:buSzPts val="900"/>
              <a:buFont typeface="Verdana"/>
              <a:buChar char="−"/>
              <a:defRPr/>
            </a:lvl6pPr>
            <a:lvl7pPr marL="3200400" lvl="6" indent="-285750" algn="l">
              <a:spcBef>
                <a:spcPts val="750"/>
              </a:spcBef>
              <a:spcAft>
                <a:spcPts val="0"/>
              </a:spcAft>
              <a:buClr>
                <a:schemeClr val="dk1"/>
              </a:buClr>
              <a:buSzPts val="900"/>
              <a:buChar char="−"/>
              <a:defRPr/>
            </a:lvl7pPr>
            <a:lvl8pPr marL="3657600" lvl="7" indent="-285750" algn="l">
              <a:spcBef>
                <a:spcPts val="750"/>
              </a:spcBef>
              <a:spcAft>
                <a:spcPts val="0"/>
              </a:spcAft>
              <a:buClr>
                <a:schemeClr val="dk1"/>
              </a:buClr>
              <a:buSzPts val="900"/>
              <a:buChar char="−"/>
              <a:defRPr/>
            </a:lvl8pPr>
            <a:lvl9pPr marL="4114800" lvl="8" indent="-285750" algn="l">
              <a:spcBef>
                <a:spcPts val="750"/>
              </a:spcBef>
              <a:spcAft>
                <a:spcPts val="750"/>
              </a:spcAft>
              <a:buClr>
                <a:schemeClr val="dk1"/>
              </a:buClr>
              <a:buSzPts val="900"/>
              <a:buChar char="−"/>
              <a:defRPr/>
            </a:lvl9pPr>
          </a:lstStyle>
          <a:p>
            <a:endParaRPr/>
          </a:p>
        </p:txBody>
      </p:sp>
      <p:sp>
        <p:nvSpPr>
          <p:cNvPr id="320" name="Google Shape;320;p38"/>
          <p:cNvSpPr txBox="1">
            <a:spLocks noGrp="1"/>
          </p:cNvSpPr>
          <p:nvPr>
            <p:ph type="body" idx="3"/>
          </p:nvPr>
        </p:nvSpPr>
        <p:spPr>
          <a:xfrm>
            <a:off x="8178800" y="1851440"/>
            <a:ext cx="3556000" cy="451126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Font typeface="Calibri"/>
              <a:buNone/>
              <a:defRPr sz="1200" b="1">
                <a:solidFill>
                  <a:schemeClr val="accent1"/>
                </a:solidFill>
              </a:defRPr>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750"/>
              </a:spcBef>
              <a:spcAft>
                <a:spcPts val="0"/>
              </a:spcAft>
              <a:buClr>
                <a:schemeClr val="dk1"/>
              </a:buClr>
              <a:buSzPts val="1200"/>
              <a:buFont typeface="Arial"/>
              <a:buChar char="−"/>
              <a:defRPr sz="1200"/>
            </a:lvl3pPr>
            <a:lvl4pPr marL="1828800" lvl="3" indent="-304800" algn="l">
              <a:spcBef>
                <a:spcPts val="750"/>
              </a:spcBef>
              <a:spcAft>
                <a:spcPts val="0"/>
              </a:spcAft>
              <a:buClr>
                <a:schemeClr val="dk1"/>
              </a:buClr>
              <a:buSzPts val="1200"/>
              <a:buFont typeface="Arial"/>
              <a:buChar char="◦"/>
              <a:defRPr sz="1200"/>
            </a:lvl4pPr>
            <a:lvl5pPr marL="2286000" lvl="4" indent="-304800" algn="l">
              <a:spcBef>
                <a:spcPts val="750"/>
              </a:spcBef>
              <a:spcAft>
                <a:spcPts val="0"/>
              </a:spcAft>
              <a:buClr>
                <a:schemeClr val="dk1"/>
              </a:buClr>
              <a:buSzPts val="1200"/>
              <a:buFont typeface="Arial"/>
              <a:buChar char="−"/>
              <a:defRPr sz="1200"/>
            </a:lvl5pPr>
            <a:lvl6pPr marL="2743200" lvl="5" indent="-285750" algn="l">
              <a:spcBef>
                <a:spcPts val="750"/>
              </a:spcBef>
              <a:spcAft>
                <a:spcPts val="0"/>
              </a:spcAft>
              <a:buClr>
                <a:schemeClr val="dk1"/>
              </a:buClr>
              <a:buSzPts val="900"/>
              <a:buFont typeface="Verdana"/>
              <a:buChar char="−"/>
              <a:defRPr/>
            </a:lvl6pPr>
            <a:lvl7pPr marL="3200400" lvl="6" indent="-285750" algn="l">
              <a:spcBef>
                <a:spcPts val="750"/>
              </a:spcBef>
              <a:spcAft>
                <a:spcPts val="0"/>
              </a:spcAft>
              <a:buClr>
                <a:schemeClr val="dk1"/>
              </a:buClr>
              <a:buSzPts val="900"/>
              <a:buChar char="−"/>
              <a:defRPr/>
            </a:lvl7pPr>
            <a:lvl8pPr marL="3657600" lvl="7" indent="-285750" algn="l">
              <a:spcBef>
                <a:spcPts val="750"/>
              </a:spcBef>
              <a:spcAft>
                <a:spcPts val="0"/>
              </a:spcAft>
              <a:buClr>
                <a:schemeClr val="dk1"/>
              </a:buClr>
              <a:buSzPts val="900"/>
              <a:buChar char="−"/>
              <a:defRPr/>
            </a:lvl8pPr>
            <a:lvl9pPr marL="4114800" lvl="8" indent="-285750" algn="l">
              <a:spcBef>
                <a:spcPts val="750"/>
              </a:spcBef>
              <a:spcAft>
                <a:spcPts val="750"/>
              </a:spcAft>
              <a:buClr>
                <a:schemeClr val="dk1"/>
              </a:buClr>
              <a:buSzPts val="900"/>
              <a:buChar char="−"/>
              <a:defRPr/>
            </a:lvl9pPr>
          </a:lstStyle>
          <a:p>
            <a:endParaRPr/>
          </a:p>
        </p:txBody>
      </p:sp>
      <p:sp>
        <p:nvSpPr>
          <p:cNvPr id="321" name="Google Shape;321;p38"/>
          <p:cNvSpPr txBox="1">
            <a:spLocks noGrp="1"/>
          </p:cNvSpPr>
          <p:nvPr>
            <p:ph type="body" idx="4"/>
          </p:nvPr>
        </p:nvSpPr>
        <p:spPr>
          <a:xfrm>
            <a:off x="463295" y="682940"/>
            <a:ext cx="11277600" cy="757255"/>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2"/>
              </a:buClr>
              <a:buSzPts val="1800"/>
              <a:buFont typeface="Calibri"/>
              <a:buNone/>
              <a:defRPr sz="1800" b="0">
                <a:solidFill>
                  <a:schemeClr val="dk2"/>
                </a:solidFill>
              </a:defRPr>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322" name="Google Shape;322;p38"/>
          <p:cNvSpPr txBox="1">
            <a:spLocks noGrp="1"/>
          </p:cNvSpPr>
          <p:nvPr>
            <p:ph type="title"/>
          </p:nvPr>
        </p:nvSpPr>
        <p:spPr>
          <a:xfrm>
            <a:off x="463295" y="345992"/>
            <a:ext cx="11277600" cy="334099"/>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4 column icon">
  <p:cSld name="4 column icon">
    <p:spTree>
      <p:nvGrpSpPr>
        <p:cNvPr id="1" name="Shape 323"/>
        <p:cNvGrpSpPr/>
        <p:nvPr/>
      </p:nvGrpSpPr>
      <p:grpSpPr>
        <a:xfrm>
          <a:off x="0" y="0"/>
          <a:ext cx="0" cy="0"/>
          <a:chOff x="0" y="0"/>
          <a:chExt cx="0" cy="0"/>
        </a:xfrm>
      </p:grpSpPr>
      <p:sp>
        <p:nvSpPr>
          <p:cNvPr id="324" name="Google Shape;324;p39"/>
          <p:cNvSpPr txBox="1">
            <a:spLocks noGrp="1"/>
          </p:cNvSpPr>
          <p:nvPr>
            <p:ph type="body" idx="1"/>
          </p:nvPr>
        </p:nvSpPr>
        <p:spPr>
          <a:xfrm>
            <a:off x="463295" y="682940"/>
            <a:ext cx="11277600" cy="757255"/>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2"/>
              </a:buClr>
              <a:buSzPts val="1800"/>
              <a:buFont typeface="Calibri"/>
              <a:buNone/>
              <a:defRPr sz="1800" b="0">
                <a:solidFill>
                  <a:schemeClr val="dk2"/>
                </a:solidFill>
              </a:defRPr>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325" name="Google Shape;325;p39"/>
          <p:cNvSpPr txBox="1">
            <a:spLocks noGrp="1"/>
          </p:cNvSpPr>
          <p:nvPr>
            <p:ph type="title"/>
          </p:nvPr>
        </p:nvSpPr>
        <p:spPr>
          <a:xfrm>
            <a:off x="463295" y="345992"/>
            <a:ext cx="11277600" cy="334099"/>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6" name="Google Shape;326;p39"/>
          <p:cNvSpPr txBox="1">
            <a:spLocks noGrp="1"/>
          </p:cNvSpPr>
          <p:nvPr>
            <p:ph type="body" idx="2"/>
          </p:nvPr>
        </p:nvSpPr>
        <p:spPr>
          <a:xfrm>
            <a:off x="473297" y="3124200"/>
            <a:ext cx="2720468" cy="32385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Font typeface="Calibri"/>
              <a:buNone/>
              <a:defRPr sz="1200" b="1">
                <a:solidFill>
                  <a:schemeClr val="accent1"/>
                </a:solidFill>
              </a:defRPr>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0"/>
              </a:spcBef>
              <a:spcAft>
                <a:spcPts val="0"/>
              </a:spcAft>
              <a:buClr>
                <a:schemeClr val="dk1"/>
              </a:buClr>
              <a:buSzPts val="1200"/>
              <a:buFont typeface="Arial"/>
              <a:buChar char="−"/>
              <a:defRPr sz="1200"/>
            </a:lvl3pPr>
            <a:lvl4pPr marL="1828800" lvl="3" indent="-304800" algn="l">
              <a:spcBef>
                <a:spcPts val="0"/>
              </a:spcBef>
              <a:spcAft>
                <a:spcPts val="0"/>
              </a:spcAft>
              <a:buClr>
                <a:schemeClr val="dk1"/>
              </a:buClr>
              <a:buSzPts val="1200"/>
              <a:buFont typeface="Arial"/>
              <a:buChar char="◦"/>
              <a:defRPr sz="1200"/>
            </a:lvl4pPr>
            <a:lvl5pPr marL="2286000" lvl="4" indent="-304800" algn="l">
              <a:spcBef>
                <a:spcPts val="0"/>
              </a:spcBef>
              <a:spcAft>
                <a:spcPts val="0"/>
              </a:spcAft>
              <a:buClr>
                <a:schemeClr val="dk1"/>
              </a:buClr>
              <a:buSzPts val="1200"/>
              <a:buFont typeface="Arial"/>
              <a:buChar char="−"/>
              <a:defRPr sz="1200"/>
            </a:lvl5pPr>
            <a:lvl6pPr marL="2743200" lvl="5" indent="-285750" algn="l">
              <a:spcBef>
                <a:spcPts val="0"/>
              </a:spcBef>
              <a:spcAft>
                <a:spcPts val="0"/>
              </a:spcAft>
              <a:buClr>
                <a:schemeClr val="dk1"/>
              </a:buClr>
              <a:buSzPts val="900"/>
              <a:buFont typeface="Verdana"/>
              <a:buChar char="−"/>
              <a:defRPr/>
            </a:lvl6pPr>
            <a:lvl7pPr marL="3200400" lvl="6" indent="-285750" algn="l">
              <a:spcBef>
                <a:spcPts val="0"/>
              </a:spcBef>
              <a:spcAft>
                <a:spcPts val="0"/>
              </a:spcAft>
              <a:buClr>
                <a:schemeClr val="dk1"/>
              </a:buClr>
              <a:buSzPts val="900"/>
              <a:buChar char="−"/>
              <a:defRPr/>
            </a:lvl7pPr>
            <a:lvl8pPr marL="3657600" lvl="7" indent="-285750" algn="l">
              <a:spcBef>
                <a:spcPts val="0"/>
              </a:spcBef>
              <a:spcAft>
                <a:spcPts val="0"/>
              </a:spcAft>
              <a:buClr>
                <a:schemeClr val="dk1"/>
              </a:buClr>
              <a:buSzPts val="900"/>
              <a:buChar char="−"/>
              <a:defRPr/>
            </a:lvl8pPr>
            <a:lvl9pPr marL="4114800" lvl="8" indent="-285750" algn="l">
              <a:spcBef>
                <a:spcPts val="0"/>
              </a:spcBef>
              <a:spcAft>
                <a:spcPts val="0"/>
              </a:spcAft>
              <a:buClr>
                <a:schemeClr val="dk1"/>
              </a:buClr>
              <a:buSzPts val="900"/>
              <a:buChar char="−"/>
              <a:defRPr/>
            </a:lvl9pPr>
          </a:lstStyle>
          <a:p>
            <a:endParaRPr/>
          </a:p>
        </p:txBody>
      </p:sp>
      <p:sp>
        <p:nvSpPr>
          <p:cNvPr id="327" name="Google Shape;327;p39"/>
          <p:cNvSpPr txBox="1">
            <a:spLocks noGrp="1"/>
          </p:cNvSpPr>
          <p:nvPr>
            <p:ph type="body" idx="3"/>
          </p:nvPr>
        </p:nvSpPr>
        <p:spPr>
          <a:xfrm>
            <a:off x="6171687" y="3120553"/>
            <a:ext cx="2712000" cy="32385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Font typeface="Calibri"/>
              <a:buNone/>
              <a:defRPr sz="1200" b="1">
                <a:solidFill>
                  <a:schemeClr val="accent1"/>
                </a:solidFill>
              </a:defRPr>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0"/>
              </a:spcBef>
              <a:spcAft>
                <a:spcPts val="0"/>
              </a:spcAft>
              <a:buClr>
                <a:schemeClr val="dk1"/>
              </a:buClr>
              <a:buSzPts val="1200"/>
              <a:buFont typeface="Arial"/>
              <a:buChar char="−"/>
              <a:defRPr sz="1200"/>
            </a:lvl3pPr>
            <a:lvl4pPr marL="1828800" lvl="3" indent="-304800" algn="l">
              <a:spcBef>
                <a:spcPts val="0"/>
              </a:spcBef>
              <a:spcAft>
                <a:spcPts val="0"/>
              </a:spcAft>
              <a:buClr>
                <a:schemeClr val="dk1"/>
              </a:buClr>
              <a:buSzPts val="1200"/>
              <a:buFont typeface="Arial"/>
              <a:buChar char="◦"/>
              <a:defRPr sz="1200"/>
            </a:lvl4pPr>
            <a:lvl5pPr marL="2286000" lvl="4" indent="-304800" algn="l">
              <a:spcBef>
                <a:spcPts val="0"/>
              </a:spcBef>
              <a:spcAft>
                <a:spcPts val="0"/>
              </a:spcAft>
              <a:buClr>
                <a:schemeClr val="dk1"/>
              </a:buClr>
              <a:buSzPts val="1200"/>
              <a:buFont typeface="Arial"/>
              <a:buChar char="−"/>
              <a:defRPr sz="1200"/>
            </a:lvl5pPr>
            <a:lvl6pPr marL="2743200" lvl="5" indent="-285750" algn="l">
              <a:spcBef>
                <a:spcPts val="0"/>
              </a:spcBef>
              <a:spcAft>
                <a:spcPts val="0"/>
              </a:spcAft>
              <a:buClr>
                <a:schemeClr val="dk1"/>
              </a:buClr>
              <a:buSzPts val="900"/>
              <a:buFont typeface="Verdana"/>
              <a:buChar char="−"/>
              <a:defRPr/>
            </a:lvl6pPr>
            <a:lvl7pPr marL="3200400" lvl="6" indent="-285750" algn="l">
              <a:spcBef>
                <a:spcPts val="0"/>
              </a:spcBef>
              <a:spcAft>
                <a:spcPts val="0"/>
              </a:spcAft>
              <a:buClr>
                <a:schemeClr val="dk1"/>
              </a:buClr>
              <a:buSzPts val="900"/>
              <a:buChar char="−"/>
              <a:defRPr/>
            </a:lvl7pPr>
            <a:lvl8pPr marL="3657600" lvl="7" indent="-285750" algn="l">
              <a:spcBef>
                <a:spcPts val="0"/>
              </a:spcBef>
              <a:spcAft>
                <a:spcPts val="0"/>
              </a:spcAft>
              <a:buClr>
                <a:schemeClr val="dk1"/>
              </a:buClr>
              <a:buSzPts val="900"/>
              <a:buChar char="−"/>
              <a:defRPr/>
            </a:lvl8pPr>
            <a:lvl9pPr marL="4114800" lvl="8" indent="-285750" algn="l">
              <a:spcBef>
                <a:spcPts val="0"/>
              </a:spcBef>
              <a:spcAft>
                <a:spcPts val="0"/>
              </a:spcAft>
              <a:buClr>
                <a:schemeClr val="dk1"/>
              </a:buClr>
              <a:buSzPts val="900"/>
              <a:buChar char="−"/>
              <a:defRPr/>
            </a:lvl9pPr>
          </a:lstStyle>
          <a:p>
            <a:endParaRPr/>
          </a:p>
        </p:txBody>
      </p:sp>
      <p:sp>
        <p:nvSpPr>
          <p:cNvPr id="328" name="Google Shape;328;p39"/>
          <p:cNvSpPr txBox="1">
            <a:spLocks noGrp="1"/>
          </p:cNvSpPr>
          <p:nvPr>
            <p:ph type="body" idx="4"/>
          </p:nvPr>
        </p:nvSpPr>
        <p:spPr>
          <a:xfrm>
            <a:off x="3330040" y="3124202"/>
            <a:ext cx="2712000" cy="3238499"/>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Font typeface="Calibri"/>
              <a:buNone/>
              <a:defRPr sz="1200" b="1">
                <a:solidFill>
                  <a:schemeClr val="accent1"/>
                </a:solidFill>
              </a:defRPr>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0"/>
              </a:spcBef>
              <a:spcAft>
                <a:spcPts val="0"/>
              </a:spcAft>
              <a:buClr>
                <a:schemeClr val="dk1"/>
              </a:buClr>
              <a:buSzPts val="1200"/>
              <a:buFont typeface="Arial"/>
              <a:buChar char="−"/>
              <a:defRPr sz="1200"/>
            </a:lvl3pPr>
            <a:lvl4pPr marL="1828800" lvl="3" indent="-304800" algn="l">
              <a:spcBef>
                <a:spcPts val="0"/>
              </a:spcBef>
              <a:spcAft>
                <a:spcPts val="0"/>
              </a:spcAft>
              <a:buClr>
                <a:schemeClr val="dk1"/>
              </a:buClr>
              <a:buSzPts val="1200"/>
              <a:buFont typeface="Arial"/>
              <a:buChar char="◦"/>
              <a:defRPr sz="1200"/>
            </a:lvl4pPr>
            <a:lvl5pPr marL="2286000" lvl="4" indent="-304800" algn="l">
              <a:spcBef>
                <a:spcPts val="0"/>
              </a:spcBef>
              <a:spcAft>
                <a:spcPts val="0"/>
              </a:spcAft>
              <a:buClr>
                <a:schemeClr val="dk1"/>
              </a:buClr>
              <a:buSzPts val="1200"/>
              <a:buFont typeface="Arial"/>
              <a:buChar char="−"/>
              <a:defRPr sz="1200"/>
            </a:lvl5pPr>
            <a:lvl6pPr marL="2743200" lvl="5" indent="-285750" algn="l">
              <a:spcBef>
                <a:spcPts val="0"/>
              </a:spcBef>
              <a:spcAft>
                <a:spcPts val="0"/>
              </a:spcAft>
              <a:buClr>
                <a:schemeClr val="dk1"/>
              </a:buClr>
              <a:buSzPts val="900"/>
              <a:buFont typeface="Verdana"/>
              <a:buChar char="−"/>
              <a:defRPr/>
            </a:lvl6pPr>
            <a:lvl7pPr marL="3200400" lvl="6" indent="-285750" algn="l">
              <a:spcBef>
                <a:spcPts val="0"/>
              </a:spcBef>
              <a:spcAft>
                <a:spcPts val="0"/>
              </a:spcAft>
              <a:buClr>
                <a:schemeClr val="dk1"/>
              </a:buClr>
              <a:buSzPts val="900"/>
              <a:buChar char="−"/>
              <a:defRPr/>
            </a:lvl7pPr>
            <a:lvl8pPr marL="3657600" lvl="7" indent="-285750" algn="l">
              <a:spcBef>
                <a:spcPts val="0"/>
              </a:spcBef>
              <a:spcAft>
                <a:spcPts val="0"/>
              </a:spcAft>
              <a:buClr>
                <a:schemeClr val="dk1"/>
              </a:buClr>
              <a:buSzPts val="900"/>
              <a:buChar char="−"/>
              <a:defRPr/>
            </a:lvl8pPr>
            <a:lvl9pPr marL="4114800" lvl="8" indent="-285750" algn="l">
              <a:spcBef>
                <a:spcPts val="0"/>
              </a:spcBef>
              <a:spcAft>
                <a:spcPts val="0"/>
              </a:spcAft>
              <a:buClr>
                <a:schemeClr val="dk1"/>
              </a:buClr>
              <a:buSzPts val="900"/>
              <a:buChar char="−"/>
              <a:defRPr/>
            </a:lvl9pPr>
          </a:lstStyle>
          <a:p>
            <a:endParaRPr/>
          </a:p>
        </p:txBody>
      </p:sp>
      <p:sp>
        <p:nvSpPr>
          <p:cNvPr id="329" name="Google Shape;329;p39"/>
          <p:cNvSpPr txBox="1">
            <a:spLocks noGrp="1"/>
          </p:cNvSpPr>
          <p:nvPr>
            <p:ph type="body" idx="5"/>
          </p:nvPr>
        </p:nvSpPr>
        <p:spPr>
          <a:xfrm>
            <a:off x="9035701" y="3108508"/>
            <a:ext cx="2697183" cy="3254192"/>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Font typeface="Calibri"/>
              <a:buNone/>
              <a:defRPr sz="1200" b="1">
                <a:solidFill>
                  <a:schemeClr val="accent1"/>
                </a:solidFill>
              </a:defRPr>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0"/>
              </a:spcBef>
              <a:spcAft>
                <a:spcPts val="0"/>
              </a:spcAft>
              <a:buClr>
                <a:schemeClr val="dk1"/>
              </a:buClr>
              <a:buSzPts val="1200"/>
              <a:buFont typeface="Arial"/>
              <a:buChar char="−"/>
              <a:defRPr sz="1200"/>
            </a:lvl3pPr>
            <a:lvl4pPr marL="1828800" lvl="3" indent="-304800" algn="l">
              <a:spcBef>
                <a:spcPts val="0"/>
              </a:spcBef>
              <a:spcAft>
                <a:spcPts val="0"/>
              </a:spcAft>
              <a:buClr>
                <a:schemeClr val="dk1"/>
              </a:buClr>
              <a:buSzPts val="1200"/>
              <a:buFont typeface="Arial"/>
              <a:buChar char="◦"/>
              <a:defRPr sz="1200"/>
            </a:lvl4pPr>
            <a:lvl5pPr marL="2286000" lvl="4" indent="-304800" algn="l">
              <a:spcBef>
                <a:spcPts val="0"/>
              </a:spcBef>
              <a:spcAft>
                <a:spcPts val="0"/>
              </a:spcAft>
              <a:buClr>
                <a:schemeClr val="dk1"/>
              </a:buClr>
              <a:buSzPts val="1200"/>
              <a:buFont typeface="Arial"/>
              <a:buChar char="−"/>
              <a:defRPr sz="1200"/>
            </a:lvl5pPr>
            <a:lvl6pPr marL="2743200" lvl="5" indent="-285750" algn="l">
              <a:spcBef>
                <a:spcPts val="0"/>
              </a:spcBef>
              <a:spcAft>
                <a:spcPts val="0"/>
              </a:spcAft>
              <a:buClr>
                <a:schemeClr val="dk1"/>
              </a:buClr>
              <a:buSzPts val="900"/>
              <a:buFont typeface="Verdana"/>
              <a:buChar char="−"/>
              <a:defRPr/>
            </a:lvl6pPr>
            <a:lvl7pPr marL="3200400" lvl="6" indent="-285750" algn="l">
              <a:spcBef>
                <a:spcPts val="0"/>
              </a:spcBef>
              <a:spcAft>
                <a:spcPts val="0"/>
              </a:spcAft>
              <a:buClr>
                <a:schemeClr val="dk1"/>
              </a:buClr>
              <a:buSzPts val="900"/>
              <a:buChar char="−"/>
              <a:defRPr/>
            </a:lvl7pPr>
            <a:lvl8pPr marL="3657600" lvl="7" indent="-285750" algn="l">
              <a:spcBef>
                <a:spcPts val="0"/>
              </a:spcBef>
              <a:spcAft>
                <a:spcPts val="0"/>
              </a:spcAft>
              <a:buClr>
                <a:schemeClr val="dk1"/>
              </a:buClr>
              <a:buSzPts val="900"/>
              <a:buChar char="−"/>
              <a:defRPr/>
            </a:lvl8pPr>
            <a:lvl9pPr marL="4114800" lvl="8" indent="-285750" algn="l">
              <a:spcBef>
                <a:spcPts val="0"/>
              </a:spcBef>
              <a:spcAft>
                <a:spcPts val="0"/>
              </a:spcAft>
              <a:buClr>
                <a:schemeClr val="dk1"/>
              </a:buClr>
              <a:buSzPts val="900"/>
              <a:buChar char="−"/>
              <a:defRPr/>
            </a:lvl9pPr>
          </a:lstStyle>
          <a:p>
            <a:endParaRPr/>
          </a:p>
        </p:txBody>
      </p:sp>
    </p:spTree>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4 column icon green">
  <p:cSld name="4 column icon green">
    <p:bg>
      <p:bgPr>
        <a:solidFill>
          <a:schemeClr val="accent2"/>
        </a:solidFill>
        <a:effectLst/>
      </p:bgPr>
    </p:bg>
    <p:spTree>
      <p:nvGrpSpPr>
        <p:cNvPr id="1" name="Shape 330"/>
        <p:cNvGrpSpPr/>
        <p:nvPr/>
      </p:nvGrpSpPr>
      <p:grpSpPr>
        <a:xfrm>
          <a:off x="0" y="0"/>
          <a:ext cx="0" cy="0"/>
          <a:chOff x="0" y="0"/>
          <a:chExt cx="0" cy="0"/>
        </a:xfrm>
      </p:grpSpPr>
      <p:sp>
        <p:nvSpPr>
          <p:cNvPr id="331" name="Google Shape;331;p40"/>
          <p:cNvSpPr txBox="1"/>
          <p:nvPr/>
        </p:nvSpPr>
        <p:spPr>
          <a:xfrm>
            <a:off x="6335713" y="6477000"/>
            <a:ext cx="4895850" cy="207963"/>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lt1"/>
              </a:buClr>
              <a:buSzPts val="675"/>
              <a:buFont typeface="Arial"/>
              <a:buNone/>
            </a:pPr>
            <a:r>
              <a:rPr lang="en-IN" sz="675" b="0" i="0" u="none" strike="noStrike" cap="none">
                <a:solidFill>
                  <a:schemeClr val="lt1"/>
                </a:solidFill>
                <a:latin typeface="Calibri"/>
                <a:ea typeface="Calibri"/>
                <a:cs typeface="Calibri"/>
                <a:sym typeface="Calibri"/>
              </a:rPr>
              <a:t>Presentation title</a:t>
            </a:r>
            <a:br>
              <a:rPr lang="en-IN" sz="675" b="0" i="0" u="none" strike="noStrike" cap="none">
                <a:solidFill>
                  <a:schemeClr val="lt1"/>
                </a:solidFill>
                <a:latin typeface="Calibri"/>
                <a:ea typeface="Calibri"/>
                <a:cs typeface="Calibri"/>
                <a:sym typeface="Calibri"/>
              </a:rPr>
            </a:br>
            <a:r>
              <a:rPr lang="en-IN" sz="675" b="0" i="0" u="none" strike="noStrike" cap="none">
                <a:solidFill>
                  <a:schemeClr val="lt1"/>
                </a:solidFill>
                <a:latin typeface="Calibri"/>
                <a:ea typeface="Calibri"/>
                <a:cs typeface="Calibri"/>
                <a:sym typeface="Calibri"/>
              </a:rPr>
              <a:t>[To edit, click View &gt; Slide Master &gt; Slide Master]</a:t>
            </a:r>
            <a:endParaRPr/>
          </a:p>
        </p:txBody>
      </p:sp>
      <p:sp>
        <p:nvSpPr>
          <p:cNvPr id="332" name="Google Shape;332;p40"/>
          <p:cNvSpPr txBox="1"/>
          <p:nvPr/>
        </p:nvSpPr>
        <p:spPr>
          <a:xfrm>
            <a:off x="501650" y="6477000"/>
            <a:ext cx="5354638" cy="20796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lt1"/>
              </a:buClr>
              <a:buSzPts val="675"/>
              <a:buFont typeface="Arial"/>
              <a:buNone/>
            </a:pPr>
            <a:r>
              <a:rPr lang="en-IN" sz="675" b="0" i="0" u="none" strike="noStrike" cap="none">
                <a:solidFill>
                  <a:schemeClr val="lt1"/>
                </a:solidFill>
                <a:latin typeface="Calibri"/>
                <a:ea typeface="Calibri"/>
                <a:cs typeface="Calibri"/>
                <a:sym typeface="Calibri"/>
              </a:rPr>
              <a:t>Member firms and DTTL: Insert appropriate copyright</a:t>
            </a:r>
            <a:br>
              <a:rPr lang="en-IN" sz="675" b="0" i="0" u="none" strike="noStrike" cap="none">
                <a:solidFill>
                  <a:schemeClr val="lt1"/>
                </a:solidFill>
                <a:latin typeface="Calibri"/>
                <a:ea typeface="Calibri"/>
                <a:cs typeface="Calibri"/>
                <a:sym typeface="Calibri"/>
              </a:rPr>
            </a:br>
            <a:r>
              <a:rPr lang="en-IN" sz="675" b="0" i="0" u="none" strike="noStrike" cap="none">
                <a:solidFill>
                  <a:schemeClr val="lt1"/>
                </a:solidFill>
                <a:latin typeface="Calibri"/>
                <a:ea typeface="Calibri"/>
                <a:cs typeface="Calibri"/>
                <a:sym typeface="Calibri"/>
              </a:rPr>
              <a:t>[To edit, click View &gt; Slide Mster &gt; Slide Master]</a:t>
            </a:r>
            <a:endParaRPr/>
          </a:p>
        </p:txBody>
      </p:sp>
      <p:sp>
        <p:nvSpPr>
          <p:cNvPr id="333" name="Google Shape;333;p40"/>
          <p:cNvSpPr txBox="1"/>
          <p:nvPr/>
        </p:nvSpPr>
        <p:spPr>
          <a:xfrm>
            <a:off x="11382375" y="6477000"/>
            <a:ext cx="307975" cy="103188"/>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lt1"/>
              </a:buClr>
              <a:buSzPts val="600"/>
              <a:buFont typeface="Arial"/>
              <a:buNone/>
            </a:pPr>
            <a:fld id="{00000000-1234-1234-1234-123412341234}" type="slidenum">
              <a:rPr lang="en-IN" sz="600" b="0" i="0" u="none" strike="noStrike" cap="none">
                <a:solidFill>
                  <a:schemeClr val="lt1"/>
                </a:solidFill>
                <a:latin typeface="Calibri"/>
                <a:ea typeface="Calibri"/>
                <a:cs typeface="Calibri"/>
                <a:sym typeface="Calibri"/>
              </a:rPr>
              <a:t>‹#›</a:t>
            </a:fld>
            <a:endParaRPr sz="600" b="0" i="0" u="none" strike="noStrike" cap="none">
              <a:solidFill>
                <a:schemeClr val="lt1"/>
              </a:solidFill>
              <a:latin typeface="Calibri"/>
              <a:ea typeface="Calibri"/>
              <a:cs typeface="Calibri"/>
              <a:sym typeface="Calibri"/>
            </a:endParaRPr>
          </a:p>
        </p:txBody>
      </p:sp>
      <p:sp>
        <p:nvSpPr>
          <p:cNvPr id="334" name="Google Shape;334;p40"/>
          <p:cNvSpPr txBox="1">
            <a:spLocks noGrp="1"/>
          </p:cNvSpPr>
          <p:nvPr>
            <p:ph type="body" idx="1"/>
          </p:nvPr>
        </p:nvSpPr>
        <p:spPr>
          <a:xfrm>
            <a:off x="463295" y="682940"/>
            <a:ext cx="11277600" cy="757255"/>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lt1"/>
              </a:buClr>
              <a:buSzPts val="1800"/>
              <a:buFont typeface="Calibri"/>
              <a:buNone/>
              <a:defRPr sz="1800" b="0">
                <a:solidFill>
                  <a:schemeClr val="lt1"/>
                </a:solidFill>
              </a:defRPr>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335" name="Google Shape;335;p40"/>
          <p:cNvSpPr txBox="1">
            <a:spLocks noGrp="1"/>
          </p:cNvSpPr>
          <p:nvPr>
            <p:ph type="title"/>
          </p:nvPr>
        </p:nvSpPr>
        <p:spPr>
          <a:xfrm>
            <a:off x="463295" y="345992"/>
            <a:ext cx="11277600" cy="334099"/>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solidFill>
                  <a:schemeClr val="lt1"/>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6" name="Google Shape;336;p40"/>
          <p:cNvSpPr txBox="1">
            <a:spLocks noGrp="1"/>
          </p:cNvSpPr>
          <p:nvPr>
            <p:ph type="body" idx="2"/>
          </p:nvPr>
        </p:nvSpPr>
        <p:spPr>
          <a:xfrm>
            <a:off x="473297" y="3124200"/>
            <a:ext cx="2720468" cy="32385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lt1"/>
              </a:buClr>
              <a:buSzPts val="1200"/>
              <a:buFont typeface="Calibri"/>
              <a:buNone/>
              <a:defRPr sz="1200" b="1">
                <a:solidFill>
                  <a:schemeClr val="lt1"/>
                </a:solidFill>
              </a:defRPr>
            </a:lvl1pPr>
            <a:lvl2pPr marL="914400" lvl="1" indent="-304800" algn="l">
              <a:spcBef>
                <a:spcPts val="750"/>
              </a:spcBef>
              <a:spcAft>
                <a:spcPts val="0"/>
              </a:spcAft>
              <a:buClr>
                <a:schemeClr val="lt1"/>
              </a:buClr>
              <a:buSzPts val="1200"/>
              <a:buFont typeface="Arial"/>
              <a:buChar char="•"/>
              <a:defRPr sz="1200">
                <a:solidFill>
                  <a:schemeClr val="lt1"/>
                </a:solidFill>
              </a:defRPr>
            </a:lvl2pPr>
            <a:lvl3pPr marL="1371600" lvl="2" indent="-304800" algn="l">
              <a:spcBef>
                <a:spcPts val="0"/>
              </a:spcBef>
              <a:spcAft>
                <a:spcPts val="0"/>
              </a:spcAft>
              <a:buClr>
                <a:schemeClr val="lt1"/>
              </a:buClr>
              <a:buSzPts val="1200"/>
              <a:buFont typeface="Arial"/>
              <a:buChar char="−"/>
              <a:defRPr sz="1200">
                <a:solidFill>
                  <a:schemeClr val="lt1"/>
                </a:solidFill>
              </a:defRPr>
            </a:lvl3pPr>
            <a:lvl4pPr marL="1828800" lvl="3" indent="-304800" algn="l">
              <a:spcBef>
                <a:spcPts val="0"/>
              </a:spcBef>
              <a:spcAft>
                <a:spcPts val="0"/>
              </a:spcAft>
              <a:buClr>
                <a:schemeClr val="lt1"/>
              </a:buClr>
              <a:buSzPts val="1200"/>
              <a:buFont typeface="Arial"/>
              <a:buChar char="◦"/>
              <a:defRPr sz="1200">
                <a:solidFill>
                  <a:schemeClr val="lt1"/>
                </a:solidFill>
              </a:defRPr>
            </a:lvl4pPr>
            <a:lvl5pPr marL="2286000" lvl="4" indent="-304800" algn="l">
              <a:spcBef>
                <a:spcPts val="0"/>
              </a:spcBef>
              <a:spcAft>
                <a:spcPts val="0"/>
              </a:spcAft>
              <a:buClr>
                <a:schemeClr val="lt1"/>
              </a:buClr>
              <a:buSzPts val="1200"/>
              <a:buFont typeface="Arial"/>
              <a:buChar char="−"/>
              <a:defRPr sz="1200">
                <a:solidFill>
                  <a:schemeClr val="lt1"/>
                </a:solidFill>
              </a:defRPr>
            </a:lvl5pPr>
            <a:lvl6pPr marL="2743200" lvl="5" indent="-285750" algn="l">
              <a:spcBef>
                <a:spcPts val="0"/>
              </a:spcBef>
              <a:spcAft>
                <a:spcPts val="0"/>
              </a:spcAft>
              <a:buClr>
                <a:schemeClr val="dk1"/>
              </a:buClr>
              <a:buSzPts val="900"/>
              <a:buFont typeface="Verdana"/>
              <a:buChar char="−"/>
              <a:defRPr/>
            </a:lvl6pPr>
            <a:lvl7pPr marL="3200400" lvl="6" indent="-285750" algn="l">
              <a:spcBef>
                <a:spcPts val="0"/>
              </a:spcBef>
              <a:spcAft>
                <a:spcPts val="0"/>
              </a:spcAft>
              <a:buClr>
                <a:schemeClr val="dk1"/>
              </a:buClr>
              <a:buSzPts val="900"/>
              <a:buChar char="−"/>
              <a:defRPr/>
            </a:lvl7pPr>
            <a:lvl8pPr marL="3657600" lvl="7" indent="-285750" algn="l">
              <a:spcBef>
                <a:spcPts val="0"/>
              </a:spcBef>
              <a:spcAft>
                <a:spcPts val="0"/>
              </a:spcAft>
              <a:buClr>
                <a:schemeClr val="dk1"/>
              </a:buClr>
              <a:buSzPts val="900"/>
              <a:buChar char="−"/>
              <a:defRPr/>
            </a:lvl8pPr>
            <a:lvl9pPr marL="4114800" lvl="8" indent="-285750" algn="l">
              <a:spcBef>
                <a:spcPts val="0"/>
              </a:spcBef>
              <a:spcAft>
                <a:spcPts val="0"/>
              </a:spcAft>
              <a:buClr>
                <a:schemeClr val="dk1"/>
              </a:buClr>
              <a:buSzPts val="900"/>
              <a:buChar char="−"/>
              <a:defRPr/>
            </a:lvl9pPr>
          </a:lstStyle>
          <a:p>
            <a:endParaRPr/>
          </a:p>
        </p:txBody>
      </p:sp>
      <p:sp>
        <p:nvSpPr>
          <p:cNvPr id="337" name="Google Shape;337;p40"/>
          <p:cNvSpPr txBox="1">
            <a:spLocks noGrp="1"/>
          </p:cNvSpPr>
          <p:nvPr>
            <p:ph type="body" idx="3"/>
          </p:nvPr>
        </p:nvSpPr>
        <p:spPr>
          <a:xfrm>
            <a:off x="6171687" y="3120553"/>
            <a:ext cx="2712000" cy="32385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lt1"/>
              </a:buClr>
              <a:buSzPts val="1200"/>
              <a:buFont typeface="Calibri"/>
              <a:buNone/>
              <a:defRPr sz="1200" b="1">
                <a:solidFill>
                  <a:schemeClr val="lt1"/>
                </a:solidFill>
              </a:defRPr>
            </a:lvl1pPr>
            <a:lvl2pPr marL="914400" lvl="1" indent="-304800" algn="l">
              <a:spcBef>
                <a:spcPts val="750"/>
              </a:spcBef>
              <a:spcAft>
                <a:spcPts val="0"/>
              </a:spcAft>
              <a:buClr>
                <a:schemeClr val="lt1"/>
              </a:buClr>
              <a:buSzPts val="1200"/>
              <a:buFont typeface="Arial"/>
              <a:buChar char="•"/>
              <a:defRPr sz="1200">
                <a:solidFill>
                  <a:schemeClr val="lt1"/>
                </a:solidFill>
              </a:defRPr>
            </a:lvl2pPr>
            <a:lvl3pPr marL="1371600" lvl="2" indent="-304800" algn="l">
              <a:spcBef>
                <a:spcPts val="0"/>
              </a:spcBef>
              <a:spcAft>
                <a:spcPts val="0"/>
              </a:spcAft>
              <a:buClr>
                <a:schemeClr val="lt1"/>
              </a:buClr>
              <a:buSzPts val="1200"/>
              <a:buFont typeface="Arial"/>
              <a:buChar char="−"/>
              <a:defRPr sz="1200">
                <a:solidFill>
                  <a:schemeClr val="lt1"/>
                </a:solidFill>
              </a:defRPr>
            </a:lvl3pPr>
            <a:lvl4pPr marL="1828800" lvl="3" indent="-304800" algn="l">
              <a:spcBef>
                <a:spcPts val="0"/>
              </a:spcBef>
              <a:spcAft>
                <a:spcPts val="0"/>
              </a:spcAft>
              <a:buClr>
                <a:schemeClr val="lt1"/>
              </a:buClr>
              <a:buSzPts val="1200"/>
              <a:buFont typeface="Arial"/>
              <a:buChar char="◦"/>
              <a:defRPr sz="1200">
                <a:solidFill>
                  <a:schemeClr val="lt1"/>
                </a:solidFill>
              </a:defRPr>
            </a:lvl4pPr>
            <a:lvl5pPr marL="2286000" lvl="4" indent="-304800" algn="l">
              <a:spcBef>
                <a:spcPts val="0"/>
              </a:spcBef>
              <a:spcAft>
                <a:spcPts val="0"/>
              </a:spcAft>
              <a:buClr>
                <a:schemeClr val="lt1"/>
              </a:buClr>
              <a:buSzPts val="1200"/>
              <a:buFont typeface="Arial"/>
              <a:buChar char="−"/>
              <a:defRPr sz="1200">
                <a:solidFill>
                  <a:schemeClr val="lt1"/>
                </a:solidFill>
              </a:defRPr>
            </a:lvl5pPr>
            <a:lvl6pPr marL="2743200" lvl="5" indent="-285750" algn="l">
              <a:spcBef>
                <a:spcPts val="0"/>
              </a:spcBef>
              <a:spcAft>
                <a:spcPts val="0"/>
              </a:spcAft>
              <a:buClr>
                <a:schemeClr val="dk1"/>
              </a:buClr>
              <a:buSzPts val="900"/>
              <a:buFont typeface="Verdana"/>
              <a:buChar char="−"/>
              <a:defRPr/>
            </a:lvl6pPr>
            <a:lvl7pPr marL="3200400" lvl="6" indent="-285750" algn="l">
              <a:spcBef>
                <a:spcPts val="0"/>
              </a:spcBef>
              <a:spcAft>
                <a:spcPts val="0"/>
              </a:spcAft>
              <a:buClr>
                <a:schemeClr val="dk1"/>
              </a:buClr>
              <a:buSzPts val="900"/>
              <a:buChar char="−"/>
              <a:defRPr/>
            </a:lvl7pPr>
            <a:lvl8pPr marL="3657600" lvl="7" indent="-285750" algn="l">
              <a:spcBef>
                <a:spcPts val="0"/>
              </a:spcBef>
              <a:spcAft>
                <a:spcPts val="0"/>
              </a:spcAft>
              <a:buClr>
                <a:schemeClr val="dk1"/>
              </a:buClr>
              <a:buSzPts val="900"/>
              <a:buChar char="−"/>
              <a:defRPr/>
            </a:lvl8pPr>
            <a:lvl9pPr marL="4114800" lvl="8" indent="-285750" algn="l">
              <a:spcBef>
                <a:spcPts val="0"/>
              </a:spcBef>
              <a:spcAft>
                <a:spcPts val="0"/>
              </a:spcAft>
              <a:buClr>
                <a:schemeClr val="dk1"/>
              </a:buClr>
              <a:buSzPts val="900"/>
              <a:buChar char="−"/>
              <a:defRPr/>
            </a:lvl9pPr>
          </a:lstStyle>
          <a:p>
            <a:endParaRPr/>
          </a:p>
        </p:txBody>
      </p:sp>
      <p:sp>
        <p:nvSpPr>
          <p:cNvPr id="338" name="Google Shape;338;p40"/>
          <p:cNvSpPr txBox="1">
            <a:spLocks noGrp="1"/>
          </p:cNvSpPr>
          <p:nvPr>
            <p:ph type="body" idx="4"/>
          </p:nvPr>
        </p:nvSpPr>
        <p:spPr>
          <a:xfrm>
            <a:off x="3330040" y="3124202"/>
            <a:ext cx="2712000" cy="3238499"/>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lt1"/>
              </a:buClr>
              <a:buSzPts val="1200"/>
              <a:buFont typeface="Calibri"/>
              <a:buNone/>
              <a:defRPr sz="1200" b="1">
                <a:solidFill>
                  <a:schemeClr val="lt1"/>
                </a:solidFill>
              </a:defRPr>
            </a:lvl1pPr>
            <a:lvl2pPr marL="914400" lvl="1" indent="-304800" algn="l">
              <a:spcBef>
                <a:spcPts val="750"/>
              </a:spcBef>
              <a:spcAft>
                <a:spcPts val="0"/>
              </a:spcAft>
              <a:buClr>
                <a:schemeClr val="lt1"/>
              </a:buClr>
              <a:buSzPts val="1200"/>
              <a:buFont typeface="Arial"/>
              <a:buChar char="•"/>
              <a:defRPr sz="1200">
                <a:solidFill>
                  <a:schemeClr val="lt1"/>
                </a:solidFill>
              </a:defRPr>
            </a:lvl2pPr>
            <a:lvl3pPr marL="1371600" lvl="2" indent="-304800" algn="l">
              <a:spcBef>
                <a:spcPts val="0"/>
              </a:spcBef>
              <a:spcAft>
                <a:spcPts val="0"/>
              </a:spcAft>
              <a:buClr>
                <a:schemeClr val="lt1"/>
              </a:buClr>
              <a:buSzPts val="1200"/>
              <a:buFont typeface="Arial"/>
              <a:buChar char="−"/>
              <a:defRPr sz="1200">
                <a:solidFill>
                  <a:schemeClr val="lt1"/>
                </a:solidFill>
              </a:defRPr>
            </a:lvl3pPr>
            <a:lvl4pPr marL="1828800" lvl="3" indent="-304800" algn="l">
              <a:spcBef>
                <a:spcPts val="0"/>
              </a:spcBef>
              <a:spcAft>
                <a:spcPts val="0"/>
              </a:spcAft>
              <a:buClr>
                <a:schemeClr val="lt1"/>
              </a:buClr>
              <a:buSzPts val="1200"/>
              <a:buFont typeface="Arial"/>
              <a:buChar char="◦"/>
              <a:defRPr sz="1200">
                <a:solidFill>
                  <a:schemeClr val="lt1"/>
                </a:solidFill>
              </a:defRPr>
            </a:lvl4pPr>
            <a:lvl5pPr marL="2286000" lvl="4" indent="-304800" algn="l">
              <a:spcBef>
                <a:spcPts val="0"/>
              </a:spcBef>
              <a:spcAft>
                <a:spcPts val="0"/>
              </a:spcAft>
              <a:buClr>
                <a:schemeClr val="lt1"/>
              </a:buClr>
              <a:buSzPts val="1200"/>
              <a:buFont typeface="Arial"/>
              <a:buChar char="−"/>
              <a:defRPr sz="1200">
                <a:solidFill>
                  <a:schemeClr val="lt1"/>
                </a:solidFill>
              </a:defRPr>
            </a:lvl5pPr>
            <a:lvl6pPr marL="2743200" lvl="5" indent="-285750" algn="l">
              <a:spcBef>
                <a:spcPts val="0"/>
              </a:spcBef>
              <a:spcAft>
                <a:spcPts val="0"/>
              </a:spcAft>
              <a:buClr>
                <a:schemeClr val="dk1"/>
              </a:buClr>
              <a:buSzPts val="900"/>
              <a:buFont typeface="Verdana"/>
              <a:buChar char="−"/>
              <a:defRPr/>
            </a:lvl6pPr>
            <a:lvl7pPr marL="3200400" lvl="6" indent="-285750" algn="l">
              <a:spcBef>
                <a:spcPts val="0"/>
              </a:spcBef>
              <a:spcAft>
                <a:spcPts val="0"/>
              </a:spcAft>
              <a:buClr>
                <a:schemeClr val="dk1"/>
              </a:buClr>
              <a:buSzPts val="900"/>
              <a:buChar char="−"/>
              <a:defRPr/>
            </a:lvl7pPr>
            <a:lvl8pPr marL="3657600" lvl="7" indent="-285750" algn="l">
              <a:spcBef>
                <a:spcPts val="0"/>
              </a:spcBef>
              <a:spcAft>
                <a:spcPts val="0"/>
              </a:spcAft>
              <a:buClr>
                <a:schemeClr val="dk1"/>
              </a:buClr>
              <a:buSzPts val="900"/>
              <a:buChar char="−"/>
              <a:defRPr/>
            </a:lvl8pPr>
            <a:lvl9pPr marL="4114800" lvl="8" indent="-285750" algn="l">
              <a:spcBef>
                <a:spcPts val="0"/>
              </a:spcBef>
              <a:spcAft>
                <a:spcPts val="0"/>
              </a:spcAft>
              <a:buClr>
                <a:schemeClr val="dk1"/>
              </a:buClr>
              <a:buSzPts val="900"/>
              <a:buChar char="−"/>
              <a:defRPr/>
            </a:lvl9pPr>
          </a:lstStyle>
          <a:p>
            <a:endParaRPr/>
          </a:p>
        </p:txBody>
      </p:sp>
      <p:sp>
        <p:nvSpPr>
          <p:cNvPr id="339" name="Google Shape;339;p40"/>
          <p:cNvSpPr txBox="1">
            <a:spLocks noGrp="1"/>
          </p:cNvSpPr>
          <p:nvPr>
            <p:ph type="body" idx="5"/>
          </p:nvPr>
        </p:nvSpPr>
        <p:spPr>
          <a:xfrm>
            <a:off x="9035701" y="3108508"/>
            <a:ext cx="2697183" cy="3254192"/>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lt1"/>
              </a:buClr>
              <a:buSzPts val="1200"/>
              <a:buFont typeface="Calibri"/>
              <a:buNone/>
              <a:defRPr sz="1200" b="1">
                <a:solidFill>
                  <a:schemeClr val="lt1"/>
                </a:solidFill>
              </a:defRPr>
            </a:lvl1pPr>
            <a:lvl2pPr marL="914400" lvl="1" indent="-304800" algn="l">
              <a:spcBef>
                <a:spcPts val="750"/>
              </a:spcBef>
              <a:spcAft>
                <a:spcPts val="0"/>
              </a:spcAft>
              <a:buClr>
                <a:schemeClr val="lt1"/>
              </a:buClr>
              <a:buSzPts val="1200"/>
              <a:buFont typeface="Arial"/>
              <a:buChar char="•"/>
              <a:defRPr sz="1200">
                <a:solidFill>
                  <a:schemeClr val="lt1"/>
                </a:solidFill>
              </a:defRPr>
            </a:lvl2pPr>
            <a:lvl3pPr marL="1371600" lvl="2" indent="-304800" algn="l">
              <a:spcBef>
                <a:spcPts val="0"/>
              </a:spcBef>
              <a:spcAft>
                <a:spcPts val="0"/>
              </a:spcAft>
              <a:buClr>
                <a:schemeClr val="lt1"/>
              </a:buClr>
              <a:buSzPts val="1200"/>
              <a:buFont typeface="Arial"/>
              <a:buChar char="−"/>
              <a:defRPr sz="1200">
                <a:solidFill>
                  <a:schemeClr val="lt1"/>
                </a:solidFill>
              </a:defRPr>
            </a:lvl3pPr>
            <a:lvl4pPr marL="1828800" lvl="3" indent="-304800" algn="l">
              <a:spcBef>
                <a:spcPts val="0"/>
              </a:spcBef>
              <a:spcAft>
                <a:spcPts val="0"/>
              </a:spcAft>
              <a:buClr>
                <a:schemeClr val="lt1"/>
              </a:buClr>
              <a:buSzPts val="1200"/>
              <a:buFont typeface="Arial"/>
              <a:buChar char="◦"/>
              <a:defRPr sz="1200">
                <a:solidFill>
                  <a:schemeClr val="lt1"/>
                </a:solidFill>
              </a:defRPr>
            </a:lvl4pPr>
            <a:lvl5pPr marL="2286000" lvl="4" indent="-304800" algn="l">
              <a:spcBef>
                <a:spcPts val="0"/>
              </a:spcBef>
              <a:spcAft>
                <a:spcPts val="0"/>
              </a:spcAft>
              <a:buClr>
                <a:schemeClr val="lt1"/>
              </a:buClr>
              <a:buSzPts val="1200"/>
              <a:buFont typeface="Arial"/>
              <a:buChar char="−"/>
              <a:defRPr sz="1200">
                <a:solidFill>
                  <a:schemeClr val="lt1"/>
                </a:solidFill>
              </a:defRPr>
            </a:lvl5pPr>
            <a:lvl6pPr marL="2743200" lvl="5" indent="-285750" algn="l">
              <a:spcBef>
                <a:spcPts val="0"/>
              </a:spcBef>
              <a:spcAft>
                <a:spcPts val="0"/>
              </a:spcAft>
              <a:buClr>
                <a:schemeClr val="dk1"/>
              </a:buClr>
              <a:buSzPts val="900"/>
              <a:buFont typeface="Verdana"/>
              <a:buChar char="−"/>
              <a:defRPr/>
            </a:lvl6pPr>
            <a:lvl7pPr marL="3200400" lvl="6" indent="-285750" algn="l">
              <a:spcBef>
                <a:spcPts val="0"/>
              </a:spcBef>
              <a:spcAft>
                <a:spcPts val="0"/>
              </a:spcAft>
              <a:buClr>
                <a:schemeClr val="dk1"/>
              </a:buClr>
              <a:buSzPts val="900"/>
              <a:buChar char="−"/>
              <a:defRPr/>
            </a:lvl7pPr>
            <a:lvl8pPr marL="3657600" lvl="7" indent="-285750" algn="l">
              <a:spcBef>
                <a:spcPts val="0"/>
              </a:spcBef>
              <a:spcAft>
                <a:spcPts val="0"/>
              </a:spcAft>
              <a:buClr>
                <a:schemeClr val="dk1"/>
              </a:buClr>
              <a:buSzPts val="900"/>
              <a:buChar char="−"/>
              <a:defRPr/>
            </a:lvl8pPr>
            <a:lvl9pPr marL="4114800" lvl="8" indent="-285750" algn="l">
              <a:spcBef>
                <a:spcPts val="0"/>
              </a:spcBef>
              <a:spcAft>
                <a:spcPts val="0"/>
              </a:spcAft>
              <a:buClr>
                <a:schemeClr val="dk1"/>
              </a:buClr>
              <a:buSzPts val="900"/>
              <a:buChar char="−"/>
              <a:defRPr/>
            </a:lvl9pPr>
          </a:lstStyle>
          <a:p>
            <a:endParaRPr/>
          </a:p>
        </p:txBody>
      </p:sp>
    </p:spTree>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Qualifications 2 x 2">
  <p:cSld name="Qualifications 2 x 2">
    <p:spTree>
      <p:nvGrpSpPr>
        <p:cNvPr id="1" name="Shape 340"/>
        <p:cNvGrpSpPr/>
        <p:nvPr/>
      </p:nvGrpSpPr>
      <p:grpSpPr>
        <a:xfrm>
          <a:off x="0" y="0"/>
          <a:ext cx="0" cy="0"/>
          <a:chOff x="0" y="0"/>
          <a:chExt cx="0" cy="0"/>
        </a:xfrm>
      </p:grpSpPr>
      <p:pic>
        <p:nvPicPr>
          <p:cNvPr id="341" name="Google Shape;341;p41"/>
          <p:cNvPicPr preferRelativeResize="0"/>
          <p:nvPr/>
        </p:nvPicPr>
        <p:blipFill rotWithShape="1">
          <a:blip r:embed="rId2">
            <a:alphaModFix/>
          </a:blip>
          <a:srcRect/>
          <a:stretch/>
        </p:blipFill>
        <p:spPr>
          <a:xfrm>
            <a:off x="1588" y="1588"/>
            <a:ext cx="3175" cy="1587"/>
          </a:xfrm>
          <a:prstGeom prst="rect">
            <a:avLst/>
          </a:prstGeom>
          <a:noFill/>
          <a:ln>
            <a:noFill/>
          </a:ln>
        </p:spPr>
      </p:pic>
      <p:sp>
        <p:nvSpPr>
          <p:cNvPr id="342" name="Google Shape;342;p41"/>
          <p:cNvSpPr txBox="1"/>
          <p:nvPr/>
        </p:nvSpPr>
        <p:spPr>
          <a:xfrm>
            <a:off x="6335713" y="6519863"/>
            <a:ext cx="4895850" cy="12223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dk1"/>
              </a:buClr>
              <a:buSzPts val="800"/>
              <a:buFont typeface="Arial"/>
              <a:buNone/>
            </a:pPr>
            <a:r>
              <a:rPr lang="en-IN" sz="800" b="0" i="0" u="none" strike="noStrike" cap="none">
                <a:solidFill>
                  <a:schemeClr val="dk1"/>
                </a:solidFill>
                <a:latin typeface="Calibri"/>
                <a:ea typeface="Calibri"/>
                <a:cs typeface="Calibri"/>
                <a:sym typeface="Calibri"/>
              </a:rPr>
              <a:t>CTD Review Meeting</a:t>
            </a:r>
            <a:endParaRPr/>
          </a:p>
        </p:txBody>
      </p:sp>
      <p:sp>
        <p:nvSpPr>
          <p:cNvPr id="343" name="Google Shape;343;p41"/>
          <p:cNvSpPr txBox="1"/>
          <p:nvPr/>
        </p:nvSpPr>
        <p:spPr>
          <a:xfrm>
            <a:off x="11426825" y="6519863"/>
            <a:ext cx="307975" cy="12223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dk1"/>
              </a:buClr>
              <a:buSzPts val="800"/>
              <a:buFont typeface="Arial"/>
              <a:buNone/>
            </a:pPr>
            <a:fld id="{00000000-1234-1234-1234-123412341234}" type="slidenum">
              <a:rPr lang="en-IN" sz="800" b="0" i="0" u="none" strike="noStrike" cap="none">
                <a:solidFill>
                  <a:schemeClr val="dk1"/>
                </a:solidFill>
                <a:latin typeface="Calibri"/>
                <a:ea typeface="Calibri"/>
                <a:cs typeface="Calibri"/>
                <a:sym typeface="Calibri"/>
              </a:rPr>
              <a:t>‹#›</a:t>
            </a:fld>
            <a:endParaRPr sz="800" b="0" i="0" u="none" strike="noStrike" cap="none">
              <a:solidFill>
                <a:schemeClr val="dk1"/>
              </a:solidFill>
              <a:latin typeface="Calibri"/>
              <a:ea typeface="Calibri"/>
              <a:cs typeface="Calibri"/>
              <a:sym typeface="Calibri"/>
            </a:endParaRPr>
          </a:p>
        </p:txBody>
      </p:sp>
      <p:sp>
        <p:nvSpPr>
          <p:cNvPr id="344" name="Google Shape;344;p41"/>
          <p:cNvSpPr txBox="1"/>
          <p:nvPr/>
        </p:nvSpPr>
        <p:spPr>
          <a:xfrm>
            <a:off x="4065588" y="700088"/>
            <a:ext cx="254000"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345" name="Google Shape;345;p41"/>
          <p:cNvSpPr txBox="1"/>
          <p:nvPr/>
        </p:nvSpPr>
        <p:spPr>
          <a:xfrm>
            <a:off x="4321175" y="803275"/>
            <a:ext cx="1673225"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346" name="Google Shape;346;p41"/>
          <p:cNvSpPr txBox="1"/>
          <p:nvPr/>
        </p:nvSpPr>
        <p:spPr>
          <a:xfrm>
            <a:off x="5970588" y="803275"/>
            <a:ext cx="249237"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347" name="Google Shape;347;p41"/>
          <p:cNvSpPr txBox="1"/>
          <p:nvPr/>
        </p:nvSpPr>
        <p:spPr>
          <a:xfrm>
            <a:off x="4321175" y="801688"/>
            <a:ext cx="1673225"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348" name="Google Shape;348;p41"/>
          <p:cNvSpPr/>
          <p:nvPr/>
        </p:nvSpPr>
        <p:spPr>
          <a:xfrm>
            <a:off x="469900" y="1716088"/>
            <a:ext cx="5486400" cy="52387"/>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825" b="0" i="0" u="none" strike="noStrike" cap="none">
              <a:solidFill>
                <a:schemeClr val="lt1"/>
              </a:solidFill>
              <a:latin typeface="Calibri"/>
              <a:ea typeface="Calibri"/>
              <a:cs typeface="Calibri"/>
              <a:sym typeface="Calibri"/>
            </a:endParaRPr>
          </a:p>
        </p:txBody>
      </p:sp>
      <p:sp>
        <p:nvSpPr>
          <p:cNvPr id="349" name="Google Shape;349;p41"/>
          <p:cNvSpPr/>
          <p:nvPr/>
        </p:nvSpPr>
        <p:spPr>
          <a:xfrm>
            <a:off x="6246813" y="1719263"/>
            <a:ext cx="5486400" cy="52387"/>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825" b="0" i="0" u="none" strike="noStrike" cap="none">
              <a:solidFill>
                <a:schemeClr val="lt1"/>
              </a:solidFill>
              <a:latin typeface="Calibri"/>
              <a:ea typeface="Calibri"/>
              <a:cs typeface="Calibri"/>
              <a:sym typeface="Calibri"/>
            </a:endParaRPr>
          </a:p>
        </p:txBody>
      </p:sp>
      <p:sp>
        <p:nvSpPr>
          <p:cNvPr id="350" name="Google Shape;350;p41"/>
          <p:cNvSpPr/>
          <p:nvPr/>
        </p:nvSpPr>
        <p:spPr>
          <a:xfrm>
            <a:off x="469900" y="4127500"/>
            <a:ext cx="5486400" cy="52388"/>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825" b="0" i="0" u="none" strike="noStrike" cap="none">
              <a:solidFill>
                <a:schemeClr val="lt1"/>
              </a:solidFill>
              <a:latin typeface="Calibri"/>
              <a:ea typeface="Calibri"/>
              <a:cs typeface="Calibri"/>
              <a:sym typeface="Calibri"/>
            </a:endParaRPr>
          </a:p>
        </p:txBody>
      </p:sp>
      <p:sp>
        <p:nvSpPr>
          <p:cNvPr id="351" name="Google Shape;351;p41"/>
          <p:cNvSpPr/>
          <p:nvPr/>
        </p:nvSpPr>
        <p:spPr>
          <a:xfrm>
            <a:off x="6246813" y="4130675"/>
            <a:ext cx="5486400" cy="52388"/>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825" b="0" i="0" u="none" strike="noStrike" cap="none">
              <a:solidFill>
                <a:schemeClr val="lt1"/>
              </a:solidFill>
              <a:latin typeface="Calibri"/>
              <a:ea typeface="Calibri"/>
              <a:cs typeface="Calibri"/>
              <a:sym typeface="Calibri"/>
            </a:endParaRPr>
          </a:p>
        </p:txBody>
      </p:sp>
      <p:sp>
        <p:nvSpPr>
          <p:cNvPr id="352" name="Google Shape;352;p41"/>
          <p:cNvSpPr>
            <a:spLocks noGrp="1"/>
          </p:cNvSpPr>
          <p:nvPr>
            <p:ph type="pic" idx="2"/>
          </p:nvPr>
        </p:nvSpPr>
        <p:spPr>
          <a:xfrm>
            <a:off x="10485324" y="1853601"/>
            <a:ext cx="1244161" cy="549275"/>
          </a:xfrm>
          <a:prstGeom prst="rect">
            <a:avLst/>
          </a:prstGeom>
          <a:noFill/>
          <a:ln>
            <a:noFill/>
          </a:ln>
        </p:spPr>
      </p:sp>
      <p:sp>
        <p:nvSpPr>
          <p:cNvPr id="353" name="Google Shape;353;p41"/>
          <p:cNvSpPr>
            <a:spLocks noGrp="1"/>
          </p:cNvSpPr>
          <p:nvPr>
            <p:ph type="pic" idx="3"/>
          </p:nvPr>
        </p:nvSpPr>
        <p:spPr>
          <a:xfrm>
            <a:off x="4702979" y="4258270"/>
            <a:ext cx="1239381" cy="549275"/>
          </a:xfrm>
          <a:prstGeom prst="rect">
            <a:avLst/>
          </a:prstGeom>
          <a:noFill/>
          <a:ln>
            <a:noFill/>
          </a:ln>
        </p:spPr>
      </p:sp>
      <p:sp>
        <p:nvSpPr>
          <p:cNvPr id="354" name="Google Shape;354;p41"/>
          <p:cNvSpPr>
            <a:spLocks noGrp="1"/>
          </p:cNvSpPr>
          <p:nvPr>
            <p:ph type="pic" idx="4"/>
          </p:nvPr>
        </p:nvSpPr>
        <p:spPr>
          <a:xfrm>
            <a:off x="10500785" y="4258270"/>
            <a:ext cx="1244160" cy="549275"/>
          </a:xfrm>
          <a:prstGeom prst="rect">
            <a:avLst/>
          </a:prstGeom>
          <a:noFill/>
          <a:ln>
            <a:noFill/>
          </a:ln>
        </p:spPr>
      </p:sp>
      <p:sp>
        <p:nvSpPr>
          <p:cNvPr id="355" name="Google Shape;355;p41"/>
          <p:cNvSpPr>
            <a:spLocks noGrp="1"/>
          </p:cNvSpPr>
          <p:nvPr>
            <p:ph type="pic" idx="5"/>
          </p:nvPr>
        </p:nvSpPr>
        <p:spPr>
          <a:xfrm>
            <a:off x="4735149" y="1857894"/>
            <a:ext cx="1210207" cy="549275"/>
          </a:xfrm>
          <a:prstGeom prst="rect">
            <a:avLst/>
          </a:prstGeom>
          <a:noFill/>
          <a:ln>
            <a:noFill/>
          </a:ln>
        </p:spPr>
      </p:sp>
      <p:sp>
        <p:nvSpPr>
          <p:cNvPr id="356" name="Google Shape;356;p41"/>
          <p:cNvSpPr txBox="1">
            <a:spLocks noGrp="1"/>
          </p:cNvSpPr>
          <p:nvPr>
            <p:ph type="body" idx="1"/>
          </p:nvPr>
        </p:nvSpPr>
        <p:spPr>
          <a:xfrm>
            <a:off x="470344" y="1856232"/>
            <a:ext cx="5473257" cy="169545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Font typeface="Calibri"/>
              <a:buNone/>
              <a:defRPr sz="1200" b="1">
                <a:solidFill>
                  <a:schemeClr val="accent1"/>
                </a:solidFill>
              </a:defRPr>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750"/>
              </a:spcBef>
              <a:spcAft>
                <a:spcPts val="0"/>
              </a:spcAft>
              <a:buClr>
                <a:schemeClr val="dk1"/>
              </a:buClr>
              <a:buSzPts val="1200"/>
              <a:buFont typeface="Arial"/>
              <a:buChar char="−"/>
              <a:defRPr sz="1200"/>
            </a:lvl3pPr>
            <a:lvl4pPr marL="1828800" lvl="3" indent="-304800" algn="l">
              <a:spcBef>
                <a:spcPts val="750"/>
              </a:spcBef>
              <a:spcAft>
                <a:spcPts val="0"/>
              </a:spcAft>
              <a:buClr>
                <a:schemeClr val="dk1"/>
              </a:buClr>
              <a:buSzPts val="1200"/>
              <a:buFont typeface="Arial"/>
              <a:buChar char="◦"/>
              <a:defRPr sz="1200"/>
            </a:lvl4pPr>
            <a:lvl5pPr marL="2286000" lvl="4" indent="-304800" algn="l">
              <a:spcBef>
                <a:spcPts val="750"/>
              </a:spcBef>
              <a:spcAft>
                <a:spcPts val="0"/>
              </a:spcAft>
              <a:buClr>
                <a:schemeClr val="dk1"/>
              </a:buClr>
              <a:buSzPts val="1200"/>
              <a:buFont typeface="Arial"/>
              <a:buChar char="−"/>
              <a:defRPr sz="1200"/>
            </a:lvl5pPr>
            <a:lvl6pPr marL="2743200" lvl="5" indent="-285750" algn="l">
              <a:spcBef>
                <a:spcPts val="750"/>
              </a:spcBef>
              <a:spcAft>
                <a:spcPts val="0"/>
              </a:spcAft>
              <a:buClr>
                <a:schemeClr val="dk1"/>
              </a:buClr>
              <a:buSzPts val="900"/>
              <a:buFont typeface="Verdana"/>
              <a:buChar char="−"/>
              <a:defRPr/>
            </a:lvl6pPr>
            <a:lvl7pPr marL="3200400" lvl="6" indent="-285750" algn="l">
              <a:spcBef>
                <a:spcPts val="750"/>
              </a:spcBef>
              <a:spcAft>
                <a:spcPts val="0"/>
              </a:spcAft>
              <a:buClr>
                <a:schemeClr val="dk1"/>
              </a:buClr>
              <a:buSzPts val="900"/>
              <a:buChar char="−"/>
              <a:defRPr/>
            </a:lvl7pPr>
            <a:lvl8pPr marL="3657600" lvl="7" indent="-285750" algn="l">
              <a:spcBef>
                <a:spcPts val="750"/>
              </a:spcBef>
              <a:spcAft>
                <a:spcPts val="0"/>
              </a:spcAft>
              <a:buClr>
                <a:schemeClr val="dk1"/>
              </a:buClr>
              <a:buSzPts val="900"/>
              <a:buChar char="−"/>
              <a:defRPr/>
            </a:lvl8pPr>
            <a:lvl9pPr marL="4114800" lvl="8" indent="-285750" algn="l">
              <a:spcBef>
                <a:spcPts val="750"/>
              </a:spcBef>
              <a:spcAft>
                <a:spcPts val="750"/>
              </a:spcAft>
              <a:buClr>
                <a:schemeClr val="dk1"/>
              </a:buClr>
              <a:buSzPts val="900"/>
              <a:buChar char="−"/>
              <a:defRPr/>
            </a:lvl9pPr>
          </a:lstStyle>
          <a:p>
            <a:endParaRPr/>
          </a:p>
        </p:txBody>
      </p:sp>
      <p:sp>
        <p:nvSpPr>
          <p:cNvPr id="357" name="Google Shape;357;p41"/>
          <p:cNvSpPr txBox="1">
            <a:spLocks noGrp="1"/>
          </p:cNvSpPr>
          <p:nvPr>
            <p:ph type="body" idx="6"/>
          </p:nvPr>
        </p:nvSpPr>
        <p:spPr>
          <a:xfrm>
            <a:off x="6257042" y="1847618"/>
            <a:ext cx="5464615" cy="169545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Font typeface="Calibri"/>
              <a:buNone/>
              <a:defRPr sz="1200" b="1">
                <a:solidFill>
                  <a:schemeClr val="accent1"/>
                </a:solidFill>
              </a:defRPr>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750"/>
              </a:spcBef>
              <a:spcAft>
                <a:spcPts val="0"/>
              </a:spcAft>
              <a:buClr>
                <a:schemeClr val="dk1"/>
              </a:buClr>
              <a:buSzPts val="1200"/>
              <a:buFont typeface="Arial"/>
              <a:buChar char="−"/>
              <a:defRPr sz="1200"/>
            </a:lvl3pPr>
            <a:lvl4pPr marL="1828800" lvl="3" indent="-304800" algn="l">
              <a:spcBef>
                <a:spcPts val="750"/>
              </a:spcBef>
              <a:spcAft>
                <a:spcPts val="0"/>
              </a:spcAft>
              <a:buClr>
                <a:schemeClr val="dk1"/>
              </a:buClr>
              <a:buSzPts val="1200"/>
              <a:buFont typeface="Arial"/>
              <a:buChar char="◦"/>
              <a:defRPr sz="1200"/>
            </a:lvl4pPr>
            <a:lvl5pPr marL="2286000" lvl="4" indent="-304800" algn="l">
              <a:spcBef>
                <a:spcPts val="750"/>
              </a:spcBef>
              <a:spcAft>
                <a:spcPts val="0"/>
              </a:spcAft>
              <a:buClr>
                <a:schemeClr val="dk1"/>
              </a:buClr>
              <a:buSzPts val="1200"/>
              <a:buFont typeface="Arial"/>
              <a:buChar char="−"/>
              <a:defRPr sz="1200"/>
            </a:lvl5pPr>
            <a:lvl6pPr marL="2743200" lvl="5" indent="-285750" algn="l">
              <a:spcBef>
                <a:spcPts val="750"/>
              </a:spcBef>
              <a:spcAft>
                <a:spcPts val="0"/>
              </a:spcAft>
              <a:buClr>
                <a:schemeClr val="dk1"/>
              </a:buClr>
              <a:buSzPts val="900"/>
              <a:buFont typeface="Verdana"/>
              <a:buChar char="−"/>
              <a:defRPr/>
            </a:lvl6pPr>
            <a:lvl7pPr marL="3200400" lvl="6" indent="-285750" algn="l">
              <a:spcBef>
                <a:spcPts val="750"/>
              </a:spcBef>
              <a:spcAft>
                <a:spcPts val="0"/>
              </a:spcAft>
              <a:buClr>
                <a:schemeClr val="dk1"/>
              </a:buClr>
              <a:buSzPts val="900"/>
              <a:buChar char="−"/>
              <a:defRPr/>
            </a:lvl7pPr>
            <a:lvl8pPr marL="3657600" lvl="7" indent="-285750" algn="l">
              <a:spcBef>
                <a:spcPts val="750"/>
              </a:spcBef>
              <a:spcAft>
                <a:spcPts val="0"/>
              </a:spcAft>
              <a:buClr>
                <a:schemeClr val="dk1"/>
              </a:buClr>
              <a:buSzPts val="900"/>
              <a:buChar char="−"/>
              <a:defRPr/>
            </a:lvl8pPr>
            <a:lvl9pPr marL="4114800" lvl="8" indent="-285750" algn="l">
              <a:spcBef>
                <a:spcPts val="750"/>
              </a:spcBef>
              <a:spcAft>
                <a:spcPts val="750"/>
              </a:spcAft>
              <a:buClr>
                <a:schemeClr val="dk1"/>
              </a:buClr>
              <a:buSzPts val="900"/>
              <a:buChar char="−"/>
              <a:defRPr/>
            </a:lvl9pPr>
          </a:lstStyle>
          <a:p>
            <a:endParaRPr/>
          </a:p>
        </p:txBody>
      </p:sp>
      <p:sp>
        <p:nvSpPr>
          <p:cNvPr id="358" name="Google Shape;358;p41"/>
          <p:cNvSpPr txBox="1">
            <a:spLocks noGrp="1"/>
          </p:cNvSpPr>
          <p:nvPr>
            <p:ph type="body" idx="7"/>
          </p:nvPr>
        </p:nvSpPr>
        <p:spPr>
          <a:xfrm>
            <a:off x="470344" y="4256623"/>
            <a:ext cx="5473257" cy="169545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Font typeface="Calibri"/>
              <a:buNone/>
              <a:defRPr sz="1200" b="1">
                <a:solidFill>
                  <a:schemeClr val="accent1"/>
                </a:solidFill>
              </a:defRPr>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750"/>
              </a:spcBef>
              <a:spcAft>
                <a:spcPts val="0"/>
              </a:spcAft>
              <a:buClr>
                <a:schemeClr val="dk1"/>
              </a:buClr>
              <a:buSzPts val="1200"/>
              <a:buFont typeface="Arial"/>
              <a:buChar char="−"/>
              <a:defRPr sz="1200"/>
            </a:lvl3pPr>
            <a:lvl4pPr marL="1828800" lvl="3" indent="-304800" algn="l">
              <a:spcBef>
                <a:spcPts val="750"/>
              </a:spcBef>
              <a:spcAft>
                <a:spcPts val="0"/>
              </a:spcAft>
              <a:buClr>
                <a:schemeClr val="dk1"/>
              </a:buClr>
              <a:buSzPts val="1200"/>
              <a:buFont typeface="Arial"/>
              <a:buChar char="◦"/>
              <a:defRPr sz="1200"/>
            </a:lvl4pPr>
            <a:lvl5pPr marL="2286000" lvl="4" indent="-304800" algn="l">
              <a:spcBef>
                <a:spcPts val="750"/>
              </a:spcBef>
              <a:spcAft>
                <a:spcPts val="0"/>
              </a:spcAft>
              <a:buClr>
                <a:schemeClr val="dk1"/>
              </a:buClr>
              <a:buSzPts val="1200"/>
              <a:buFont typeface="Arial"/>
              <a:buChar char="−"/>
              <a:defRPr sz="1200"/>
            </a:lvl5pPr>
            <a:lvl6pPr marL="2743200" lvl="5" indent="-285750" algn="l">
              <a:spcBef>
                <a:spcPts val="750"/>
              </a:spcBef>
              <a:spcAft>
                <a:spcPts val="0"/>
              </a:spcAft>
              <a:buClr>
                <a:schemeClr val="dk1"/>
              </a:buClr>
              <a:buSzPts val="900"/>
              <a:buFont typeface="Verdana"/>
              <a:buChar char="−"/>
              <a:defRPr/>
            </a:lvl6pPr>
            <a:lvl7pPr marL="3200400" lvl="6" indent="-285750" algn="l">
              <a:spcBef>
                <a:spcPts val="750"/>
              </a:spcBef>
              <a:spcAft>
                <a:spcPts val="0"/>
              </a:spcAft>
              <a:buClr>
                <a:schemeClr val="dk1"/>
              </a:buClr>
              <a:buSzPts val="900"/>
              <a:buChar char="−"/>
              <a:defRPr/>
            </a:lvl7pPr>
            <a:lvl8pPr marL="3657600" lvl="7" indent="-285750" algn="l">
              <a:spcBef>
                <a:spcPts val="750"/>
              </a:spcBef>
              <a:spcAft>
                <a:spcPts val="0"/>
              </a:spcAft>
              <a:buClr>
                <a:schemeClr val="dk1"/>
              </a:buClr>
              <a:buSzPts val="900"/>
              <a:buChar char="−"/>
              <a:defRPr/>
            </a:lvl8pPr>
            <a:lvl9pPr marL="4114800" lvl="8" indent="-285750" algn="l">
              <a:spcBef>
                <a:spcPts val="750"/>
              </a:spcBef>
              <a:spcAft>
                <a:spcPts val="750"/>
              </a:spcAft>
              <a:buClr>
                <a:schemeClr val="dk1"/>
              </a:buClr>
              <a:buSzPts val="900"/>
              <a:buChar char="−"/>
              <a:defRPr/>
            </a:lvl9pPr>
          </a:lstStyle>
          <a:p>
            <a:endParaRPr/>
          </a:p>
        </p:txBody>
      </p:sp>
      <p:sp>
        <p:nvSpPr>
          <p:cNvPr id="359" name="Google Shape;359;p41"/>
          <p:cNvSpPr txBox="1">
            <a:spLocks noGrp="1"/>
          </p:cNvSpPr>
          <p:nvPr>
            <p:ph type="body" idx="8"/>
          </p:nvPr>
        </p:nvSpPr>
        <p:spPr>
          <a:xfrm>
            <a:off x="6257043" y="4256623"/>
            <a:ext cx="5483852" cy="169545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Font typeface="Calibri"/>
              <a:buNone/>
              <a:defRPr sz="1200" b="1">
                <a:solidFill>
                  <a:schemeClr val="accent1"/>
                </a:solidFill>
              </a:defRPr>
            </a:lvl1pPr>
            <a:lvl2pPr marL="914400" lvl="1" indent="-304800" algn="l">
              <a:spcBef>
                <a:spcPts val="750"/>
              </a:spcBef>
              <a:spcAft>
                <a:spcPts val="0"/>
              </a:spcAft>
              <a:buClr>
                <a:schemeClr val="dk1"/>
              </a:buClr>
              <a:buSzPts val="1200"/>
              <a:buFont typeface="Arial"/>
              <a:buChar char="•"/>
              <a:defRPr sz="1200"/>
            </a:lvl2pPr>
            <a:lvl3pPr marL="1371600" lvl="2" indent="-304800" algn="l">
              <a:spcBef>
                <a:spcPts val="750"/>
              </a:spcBef>
              <a:spcAft>
                <a:spcPts val="0"/>
              </a:spcAft>
              <a:buClr>
                <a:schemeClr val="dk1"/>
              </a:buClr>
              <a:buSzPts val="1200"/>
              <a:buFont typeface="Arial"/>
              <a:buChar char="−"/>
              <a:defRPr sz="1200"/>
            </a:lvl3pPr>
            <a:lvl4pPr marL="1828800" lvl="3" indent="-304800" algn="l">
              <a:spcBef>
                <a:spcPts val="750"/>
              </a:spcBef>
              <a:spcAft>
                <a:spcPts val="0"/>
              </a:spcAft>
              <a:buClr>
                <a:schemeClr val="dk1"/>
              </a:buClr>
              <a:buSzPts val="1200"/>
              <a:buFont typeface="Arial"/>
              <a:buChar char="◦"/>
              <a:defRPr sz="1200"/>
            </a:lvl4pPr>
            <a:lvl5pPr marL="2286000" lvl="4" indent="-304800" algn="l">
              <a:spcBef>
                <a:spcPts val="750"/>
              </a:spcBef>
              <a:spcAft>
                <a:spcPts val="0"/>
              </a:spcAft>
              <a:buClr>
                <a:schemeClr val="dk1"/>
              </a:buClr>
              <a:buSzPts val="1200"/>
              <a:buFont typeface="Arial"/>
              <a:buChar char="−"/>
              <a:defRPr sz="1200"/>
            </a:lvl5pPr>
            <a:lvl6pPr marL="2743200" lvl="5" indent="-285750" algn="l">
              <a:spcBef>
                <a:spcPts val="750"/>
              </a:spcBef>
              <a:spcAft>
                <a:spcPts val="0"/>
              </a:spcAft>
              <a:buClr>
                <a:schemeClr val="dk1"/>
              </a:buClr>
              <a:buSzPts val="900"/>
              <a:buFont typeface="Verdana"/>
              <a:buChar char="−"/>
              <a:defRPr/>
            </a:lvl6pPr>
            <a:lvl7pPr marL="3200400" lvl="6" indent="-285750" algn="l">
              <a:spcBef>
                <a:spcPts val="750"/>
              </a:spcBef>
              <a:spcAft>
                <a:spcPts val="0"/>
              </a:spcAft>
              <a:buClr>
                <a:schemeClr val="dk1"/>
              </a:buClr>
              <a:buSzPts val="900"/>
              <a:buChar char="−"/>
              <a:defRPr/>
            </a:lvl7pPr>
            <a:lvl8pPr marL="3657600" lvl="7" indent="-285750" algn="l">
              <a:spcBef>
                <a:spcPts val="750"/>
              </a:spcBef>
              <a:spcAft>
                <a:spcPts val="0"/>
              </a:spcAft>
              <a:buClr>
                <a:schemeClr val="dk1"/>
              </a:buClr>
              <a:buSzPts val="900"/>
              <a:buChar char="−"/>
              <a:defRPr/>
            </a:lvl8pPr>
            <a:lvl9pPr marL="4114800" lvl="8" indent="-285750" algn="l">
              <a:spcBef>
                <a:spcPts val="750"/>
              </a:spcBef>
              <a:spcAft>
                <a:spcPts val="750"/>
              </a:spcAft>
              <a:buClr>
                <a:schemeClr val="dk1"/>
              </a:buClr>
              <a:buSzPts val="900"/>
              <a:buChar char="−"/>
              <a:defRPr/>
            </a:lvl9pPr>
          </a:lstStyle>
          <a:p>
            <a:endParaRPr/>
          </a:p>
        </p:txBody>
      </p:sp>
      <p:sp>
        <p:nvSpPr>
          <p:cNvPr id="360" name="Google Shape;360;p41"/>
          <p:cNvSpPr txBox="1">
            <a:spLocks noGrp="1"/>
          </p:cNvSpPr>
          <p:nvPr>
            <p:ph type="body" idx="9"/>
          </p:nvPr>
        </p:nvSpPr>
        <p:spPr>
          <a:xfrm>
            <a:off x="463295" y="682940"/>
            <a:ext cx="11277600" cy="757255"/>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dk2"/>
              </a:buClr>
              <a:buSzPts val="1800"/>
              <a:buFont typeface="Calibri"/>
              <a:buNone/>
              <a:defRPr sz="1800" b="0">
                <a:solidFill>
                  <a:schemeClr val="dk2"/>
                </a:solidFill>
              </a:defRPr>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361" name="Google Shape;361;p41"/>
          <p:cNvSpPr txBox="1">
            <a:spLocks noGrp="1"/>
          </p:cNvSpPr>
          <p:nvPr>
            <p:ph type="title"/>
          </p:nvPr>
        </p:nvSpPr>
        <p:spPr>
          <a:xfrm>
            <a:off x="463295" y="345992"/>
            <a:ext cx="11277600" cy="334099"/>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sz="21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End slide">
  <p:cSld name="End slide">
    <p:spTree>
      <p:nvGrpSpPr>
        <p:cNvPr id="1" name="Shape 362"/>
        <p:cNvGrpSpPr/>
        <p:nvPr/>
      </p:nvGrpSpPr>
      <p:grpSpPr>
        <a:xfrm>
          <a:off x="0" y="0"/>
          <a:ext cx="0" cy="0"/>
          <a:chOff x="0" y="0"/>
          <a:chExt cx="0" cy="0"/>
        </a:xfrm>
      </p:grpSpPr>
      <p:grpSp>
        <p:nvGrpSpPr>
          <p:cNvPr id="363" name="Google Shape;363;p42"/>
          <p:cNvGrpSpPr/>
          <p:nvPr/>
        </p:nvGrpSpPr>
        <p:grpSpPr>
          <a:xfrm>
            <a:off x="460541" y="344137"/>
            <a:ext cx="1819109" cy="345828"/>
            <a:chOff x="398463" y="404813"/>
            <a:chExt cx="1627187" cy="307976"/>
          </a:xfrm>
        </p:grpSpPr>
        <p:sp>
          <p:nvSpPr>
            <p:cNvPr id="364" name="Google Shape;364;p42"/>
            <p:cNvSpPr/>
            <p:nvPr/>
          </p:nvSpPr>
          <p:spPr>
            <a:xfrm>
              <a:off x="1938338" y="625476"/>
              <a:ext cx="87312" cy="87313"/>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65" name="Google Shape;365;p42"/>
            <p:cNvSpPr/>
            <p:nvPr/>
          </p:nvSpPr>
          <p:spPr>
            <a:xfrm>
              <a:off x="398463" y="406401"/>
              <a:ext cx="247650" cy="301625"/>
            </a:xfrm>
            <a:custGeom>
              <a:avLst/>
              <a:gdLst/>
              <a:ahLst/>
              <a:cxnLst/>
              <a:rect l="l" t="t" r="r" b="b"/>
              <a:pathLst>
                <a:path w="287" h="347" extrusionOk="0">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66" name="Google Shape;366;p42"/>
            <p:cNvSpPr/>
            <p:nvPr/>
          </p:nvSpPr>
          <p:spPr>
            <a:xfrm>
              <a:off x="906463" y="404813"/>
              <a:ext cx="74612" cy="303213"/>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67" name="Google Shape;367;p42"/>
            <p:cNvSpPr/>
            <p:nvPr/>
          </p:nvSpPr>
          <p:spPr>
            <a:xfrm>
              <a:off x="1011238" y="479426"/>
              <a:ext cx="215900" cy="231775"/>
            </a:xfrm>
            <a:custGeom>
              <a:avLst/>
              <a:gdLst/>
              <a:ahLst/>
              <a:cxnLst/>
              <a:rect l="l" t="t" r="r" b="b"/>
              <a:pathLst>
                <a:path w="252" h="267" extrusionOk="0">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68" name="Google Shape;368;p42"/>
            <p:cNvSpPr/>
            <p:nvPr/>
          </p:nvSpPr>
          <p:spPr>
            <a:xfrm>
              <a:off x="1257300" y="482601"/>
              <a:ext cx="74612" cy="225425"/>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69" name="Google Shape;369;p42"/>
            <p:cNvSpPr/>
            <p:nvPr/>
          </p:nvSpPr>
          <p:spPr>
            <a:xfrm>
              <a:off x="1257300" y="404813"/>
              <a:ext cx="74612" cy="508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70" name="Google Shape;370;p42"/>
            <p:cNvSpPr/>
            <p:nvPr/>
          </p:nvSpPr>
          <p:spPr>
            <a:xfrm>
              <a:off x="1362075" y="411163"/>
              <a:ext cx="158750" cy="300038"/>
            </a:xfrm>
            <a:custGeom>
              <a:avLst/>
              <a:gdLst/>
              <a:ahLst/>
              <a:cxnLst/>
              <a:rect l="l" t="t" r="r" b="b"/>
              <a:pathLst>
                <a:path w="184" h="344" extrusionOk="0">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71" name="Google Shape;371;p42"/>
            <p:cNvSpPr/>
            <p:nvPr/>
          </p:nvSpPr>
          <p:spPr>
            <a:xfrm>
              <a:off x="1535113" y="411163"/>
              <a:ext cx="158750" cy="300038"/>
            </a:xfrm>
            <a:custGeom>
              <a:avLst/>
              <a:gdLst/>
              <a:ahLst/>
              <a:cxnLst/>
              <a:rect l="l" t="t" r="r" b="b"/>
              <a:pathLst>
                <a:path w="184" h="344" extrusionOk="0">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72" name="Google Shape;372;p42"/>
            <p:cNvSpPr/>
            <p:nvPr/>
          </p:nvSpPr>
          <p:spPr>
            <a:xfrm>
              <a:off x="1709738" y="479426"/>
              <a:ext cx="211137" cy="231775"/>
            </a:xfrm>
            <a:custGeom>
              <a:avLst/>
              <a:gdLst/>
              <a:ahLst/>
              <a:cxnLst/>
              <a:rect l="l" t="t" r="r" b="b"/>
              <a:pathLst>
                <a:path w="244" h="267" extrusionOk="0">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73" name="Google Shape;373;p42"/>
            <p:cNvSpPr/>
            <p:nvPr/>
          </p:nvSpPr>
          <p:spPr>
            <a:xfrm>
              <a:off x="668338" y="479426"/>
              <a:ext cx="209550" cy="231775"/>
            </a:xfrm>
            <a:custGeom>
              <a:avLst/>
              <a:gdLst/>
              <a:ahLst/>
              <a:cxnLst/>
              <a:rect l="l" t="t" r="r" b="b"/>
              <a:pathLst>
                <a:path w="243" h="267" extrusionOk="0">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374" name="Google Shape;374;p42"/>
          <p:cNvSpPr txBox="1">
            <a:spLocks noGrp="1"/>
          </p:cNvSpPr>
          <p:nvPr>
            <p:ph type="body" idx="1"/>
          </p:nvPr>
        </p:nvSpPr>
        <p:spPr>
          <a:xfrm>
            <a:off x="464481" y="4189870"/>
            <a:ext cx="8566108" cy="2169796"/>
          </a:xfrm>
          <a:prstGeom prst="rect">
            <a:avLst/>
          </a:prstGeom>
          <a:noFill/>
          <a:ln>
            <a:noFill/>
          </a:ln>
        </p:spPr>
        <p:txBody>
          <a:bodyPr spcFirstLastPara="1" wrap="square" lIns="0" tIns="0" rIns="0" bIns="0" anchor="b" anchorCtr="0">
            <a:normAutofit/>
          </a:bodyPr>
          <a:lstStyle>
            <a:lvl1pPr marL="457200" lvl="0" indent="-279400" algn="l">
              <a:lnSpc>
                <a:spcPct val="100000"/>
              </a:lnSpc>
              <a:spcBef>
                <a:spcPts val="0"/>
              </a:spcBef>
              <a:spcAft>
                <a:spcPts val="0"/>
              </a:spcAft>
              <a:buClr>
                <a:schemeClr val="dk1"/>
              </a:buClr>
              <a:buSzPts val="800"/>
              <a:buFont typeface="Calibri"/>
              <a:buChar char="•"/>
              <a:defRPr sz="800"/>
            </a:lvl1pPr>
            <a:lvl2pPr marL="914400" lvl="1" indent="-342900" algn="l">
              <a:spcBef>
                <a:spcPts val="4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375" name="Google Shape;375;p42"/>
          <p:cNvSpPr>
            <a:spLocks noGrp="1"/>
          </p:cNvSpPr>
          <p:nvPr>
            <p:ph type="pic" idx="2"/>
          </p:nvPr>
        </p:nvSpPr>
        <p:spPr>
          <a:xfrm>
            <a:off x="9406185" y="4189870"/>
            <a:ext cx="2319503" cy="1725448"/>
          </a:xfrm>
          <a:prstGeom prst="rect">
            <a:avLst/>
          </a:prstGeom>
          <a:noFill/>
          <a:ln>
            <a:noFill/>
          </a:ln>
        </p:spPr>
      </p:sp>
      <p:sp>
        <p:nvSpPr>
          <p:cNvPr id="376" name="Google Shape;376;p42"/>
          <p:cNvSpPr txBox="1">
            <a:spLocks noGrp="1"/>
          </p:cNvSpPr>
          <p:nvPr>
            <p:ph type="body" idx="3"/>
          </p:nvPr>
        </p:nvSpPr>
        <p:spPr>
          <a:xfrm>
            <a:off x="9406187" y="5995943"/>
            <a:ext cx="2319501" cy="363722"/>
          </a:xfrm>
          <a:prstGeom prst="rect">
            <a:avLst/>
          </a:prstGeom>
          <a:noFill/>
          <a:ln>
            <a:noFill/>
          </a:ln>
        </p:spPr>
        <p:txBody>
          <a:bodyPr spcFirstLastPara="1" wrap="square" lIns="0" tIns="0" rIns="0" bIns="0" anchor="b" anchorCtr="0">
            <a:normAutofit/>
          </a:bodyPr>
          <a:lstStyle>
            <a:lvl1pPr marL="457200" lvl="0" indent="-279400" algn="l">
              <a:lnSpc>
                <a:spcPct val="100000"/>
              </a:lnSpc>
              <a:spcBef>
                <a:spcPts val="0"/>
              </a:spcBef>
              <a:spcAft>
                <a:spcPts val="0"/>
              </a:spcAft>
              <a:buClr>
                <a:schemeClr val="dk1"/>
              </a:buClr>
              <a:buSzPts val="800"/>
              <a:buFont typeface="Calibri"/>
              <a:buChar char="•"/>
              <a:defRPr sz="800"/>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matchingName="End slide Black">
  <p:cSld name="End slide Black">
    <p:bg>
      <p:bgPr>
        <a:solidFill>
          <a:schemeClr val="dk1"/>
        </a:solidFill>
        <a:effectLst/>
      </p:bgPr>
    </p:bg>
    <p:spTree>
      <p:nvGrpSpPr>
        <p:cNvPr id="1" name="Shape 377"/>
        <p:cNvGrpSpPr/>
        <p:nvPr/>
      </p:nvGrpSpPr>
      <p:grpSpPr>
        <a:xfrm>
          <a:off x="0" y="0"/>
          <a:ext cx="0" cy="0"/>
          <a:chOff x="0" y="0"/>
          <a:chExt cx="0" cy="0"/>
        </a:xfrm>
      </p:grpSpPr>
      <p:grpSp>
        <p:nvGrpSpPr>
          <p:cNvPr id="378" name="Google Shape;378;p43"/>
          <p:cNvGrpSpPr/>
          <p:nvPr/>
        </p:nvGrpSpPr>
        <p:grpSpPr>
          <a:xfrm>
            <a:off x="463296" y="341312"/>
            <a:ext cx="1819656" cy="347472"/>
            <a:chOff x="398463" y="404813"/>
            <a:chExt cx="1627187" cy="307976"/>
          </a:xfrm>
        </p:grpSpPr>
        <p:sp>
          <p:nvSpPr>
            <p:cNvPr id="379" name="Google Shape;379;p43"/>
            <p:cNvSpPr/>
            <p:nvPr/>
          </p:nvSpPr>
          <p:spPr>
            <a:xfrm>
              <a:off x="1938338" y="625476"/>
              <a:ext cx="87312" cy="87313"/>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80" name="Google Shape;380;p43"/>
            <p:cNvSpPr/>
            <p:nvPr/>
          </p:nvSpPr>
          <p:spPr>
            <a:xfrm>
              <a:off x="398463" y="406401"/>
              <a:ext cx="247650" cy="301625"/>
            </a:xfrm>
            <a:custGeom>
              <a:avLst/>
              <a:gdLst/>
              <a:ahLst/>
              <a:cxnLst/>
              <a:rect l="l" t="t" r="r" b="b"/>
              <a:pathLst>
                <a:path w="287" h="347" extrusionOk="0">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81" name="Google Shape;381;p43"/>
            <p:cNvSpPr/>
            <p:nvPr/>
          </p:nvSpPr>
          <p:spPr>
            <a:xfrm>
              <a:off x="906463" y="404813"/>
              <a:ext cx="74612" cy="303213"/>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82" name="Google Shape;382;p43"/>
            <p:cNvSpPr/>
            <p:nvPr/>
          </p:nvSpPr>
          <p:spPr>
            <a:xfrm>
              <a:off x="1011238" y="479426"/>
              <a:ext cx="215900" cy="231775"/>
            </a:xfrm>
            <a:custGeom>
              <a:avLst/>
              <a:gdLst/>
              <a:ahLst/>
              <a:cxnLst/>
              <a:rect l="l" t="t" r="r" b="b"/>
              <a:pathLst>
                <a:path w="252" h="267" extrusionOk="0">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83" name="Google Shape;383;p43"/>
            <p:cNvSpPr/>
            <p:nvPr/>
          </p:nvSpPr>
          <p:spPr>
            <a:xfrm>
              <a:off x="1257300" y="482601"/>
              <a:ext cx="74612" cy="225425"/>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84" name="Google Shape;384;p43"/>
            <p:cNvSpPr/>
            <p:nvPr/>
          </p:nvSpPr>
          <p:spPr>
            <a:xfrm>
              <a:off x="1257300" y="404813"/>
              <a:ext cx="74612" cy="508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85" name="Google Shape;385;p43"/>
            <p:cNvSpPr/>
            <p:nvPr/>
          </p:nvSpPr>
          <p:spPr>
            <a:xfrm>
              <a:off x="1362075" y="411163"/>
              <a:ext cx="158750" cy="300038"/>
            </a:xfrm>
            <a:custGeom>
              <a:avLst/>
              <a:gdLst/>
              <a:ahLst/>
              <a:cxnLst/>
              <a:rect l="l" t="t" r="r" b="b"/>
              <a:pathLst>
                <a:path w="184" h="344" extrusionOk="0">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86" name="Google Shape;386;p43"/>
            <p:cNvSpPr/>
            <p:nvPr/>
          </p:nvSpPr>
          <p:spPr>
            <a:xfrm>
              <a:off x="1535113" y="411163"/>
              <a:ext cx="158750" cy="300038"/>
            </a:xfrm>
            <a:custGeom>
              <a:avLst/>
              <a:gdLst/>
              <a:ahLst/>
              <a:cxnLst/>
              <a:rect l="l" t="t" r="r" b="b"/>
              <a:pathLst>
                <a:path w="184" h="344" extrusionOk="0">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87" name="Google Shape;387;p43"/>
            <p:cNvSpPr/>
            <p:nvPr/>
          </p:nvSpPr>
          <p:spPr>
            <a:xfrm>
              <a:off x="1709738" y="479426"/>
              <a:ext cx="211137" cy="231775"/>
            </a:xfrm>
            <a:custGeom>
              <a:avLst/>
              <a:gdLst/>
              <a:ahLst/>
              <a:cxnLst/>
              <a:rect l="l" t="t" r="r" b="b"/>
              <a:pathLst>
                <a:path w="244" h="267" extrusionOk="0">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88" name="Google Shape;388;p43"/>
            <p:cNvSpPr/>
            <p:nvPr/>
          </p:nvSpPr>
          <p:spPr>
            <a:xfrm>
              <a:off x="668338" y="479426"/>
              <a:ext cx="209550" cy="231775"/>
            </a:xfrm>
            <a:custGeom>
              <a:avLst/>
              <a:gdLst/>
              <a:ahLst/>
              <a:cxnLst/>
              <a:rect l="l" t="t" r="r" b="b"/>
              <a:pathLst>
                <a:path w="243" h="267" extrusionOk="0">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389" name="Google Shape;389;p43"/>
          <p:cNvSpPr txBox="1">
            <a:spLocks noGrp="1"/>
          </p:cNvSpPr>
          <p:nvPr>
            <p:ph type="body" idx="1"/>
          </p:nvPr>
        </p:nvSpPr>
        <p:spPr>
          <a:xfrm>
            <a:off x="466316" y="4194287"/>
            <a:ext cx="8528936" cy="2169796"/>
          </a:xfrm>
          <a:prstGeom prst="rect">
            <a:avLst/>
          </a:prstGeom>
          <a:noFill/>
          <a:ln>
            <a:noFill/>
          </a:ln>
        </p:spPr>
        <p:txBody>
          <a:bodyPr spcFirstLastPara="1" wrap="square" lIns="0" tIns="0" rIns="0" bIns="0" anchor="b" anchorCtr="0">
            <a:noAutofit/>
          </a:bodyPr>
          <a:lstStyle>
            <a:lvl1pPr marL="457200" lvl="0" indent="-279400" algn="l">
              <a:lnSpc>
                <a:spcPct val="100000"/>
              </a:lnSpc>
              <a:spcBef>
                <a:spcPts val="0"/>
              </a:spcBef>
              <a:spcAft>
                <a:spcPts val="0"/>
              </a:spcAft>
              <a:buClr>
                <a:schemeClr val="lt1"/>
              </a:buClr>
              <a:buSzPts val="800"/>
              <a:buFont typeface="Calibri"/>
              <a:buChar char="•"/>
              <a:defRPr sz="800">
                <a:solidFill>
                  <a:schemeClr val="lt1"/>
                </a:solidFill>
              </a:defRPr>
            </a:lvl1pPr>
            <a:lvl2pPr marL="914400" lvl="1" indent="-342900" algn="l">
              <a:spcBef>
                <a:spcPts val="4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390" name="Google Shape;390;p43"/>
          <p:cNvSpPr>
            <a:spLocks noGrp="1"/>
          </p:cNvSpPr>
          <p:nvPr>
            <p:ph type="pic" idx="2"/>
          </p:nvPr>
        </p:nvSpPr>
        <p:spPr>
          <a:xfrm>
            <a:off x="9412074" y="4189870"/>
            <a:ext cx="2319503" cy="1725448"/>
          </a:xfrm>
          <a:prstGeom prst="rect">
            <a:avLst/>
          </a:prstGeom>
          <a:noFill/>
          <a:ln>
            <a:noFill/>
          </a:ln>
        </p:spPr>
      </p:sp>
      <p:sp>
        <p:nvSpPr>
          <p:cNvPr id="391" name="Google Shape;391;p43"/>
          <p:cNvSpPr txBox="1">
            <a:spLocks noGrp="1"/>
          </p:cNvSpPr>
          <p:nvPr>
            <p:ph type="body" idx="3"/>
          </p:nvPr>
        </p:nvSpPr>
        <p:spPr>
          <a:xfrm>
            <a:off x="9412076" y="5995943"/>
            <a:ext cx="2319501" cy="363722"/>
          </a:xfrm>
          <a:prstGeom prst="rect">
            <a:avLst/>
          </a:prstGeom>
          <a:noFill/>
          <a:ln>
            <a:noFill/>
          </a:ln>
        </p:spPr>
        <p:txBody>
          <a:bodyPr spcFirstLastPara="1" wrap="square" lIns="0" tIns="0" rIns="0" bIns="0" anchor="b" anchorCtr="0">
            <a:noAutofit/>
          </a:bodyPr>
          <a:lstStyle>
            <a:lvl1pPr marL="457200" lvl="0" indent="-279400" algn="l">
              <a:lnSpc>
                <a:spcPct val="100000"/>
              </a:lnSpc>
              <a:spcBef>
                <a:spcPts val="0"/>
              </a:spcBef>
              <a:spcAft>
                <a:spcPts val="0"/>
              </a:spcAft>
              <a:buClr>
                <a:schemeClr val="lt1"/>
              </a:buClr>
              <a:buSzPts val="800"/>
              <a:buFont typeface="Calibri"/>
              <a:buChar char="•"/>
              <a:defRPr sz="800">
                <a:solidFill>
                  <a:schemeClr val="lt1"/>
                </a:solidFill>
              </a:defRPr>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392"/>
        <p:cNvGrpSpPr/>
        <p:nvPr/>
      </p:nvGrpSpPr>
      <p:grpSpPr>
        <a:xfrm>
          <a:off x="0" y="0"/>
          <a:ext cx="0" cy="0"/>
          <a:chOff x="0" y="0"/>
          <a:chExt cx="0" cy="0"/>
        </a:xfrm>
      </p:grpSpPr>
      <p:pic>
        <p:nvPicPr>
          <p:cNvPr id="393" name="Google Shape;393;p44"/>
          <p:cNvPicPr preferRelativeResize="0"/>
          <p:nvPr/>
        </p:nvPicPr>
        <p:blipFill rotWithShape="1">
          <a:blip r:embed="rId2">
            <a:alphaModFix/>
          </a:blip>
          <a:srcRect/>
          <a:stretch/>
        </p:blipFill>
        <p:spPr>
          <a:xfrm>
            <a:off x="1588" y="1588"/>
            <a:ext cx="3175" cy="1587"/>
          </a:xfrm>
          <a:prstGeom prst="rect">
            <a:avLst/>
          </a:prstGeom>
          <a:noFill/>
          <a:ln>
            <a:noFill/>
          </a:ln>
        </p:spPr>
      </p:pic>
      <p:sp>
        <p:nvSpPr>
          <p:cNvPr id="394" name="Google Shape;394;p44"/>
          <p:cNvSpPr txBox="1"/>
          <p:nvPr/>
        </p:nvSpPr>
        <p:spPr>
          <a:xfrm>
            <a:off x="6335713" y="6519863"/>
            <a:ext cx="4895850" cy="12223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dk1"/>
              </a:buClr>
              <a:buSzPts val="800"/>
              <a:buFont typeface="Arial"/>
              <a:buNone/>
            </a:pPr>
            <a:r>
              <a:rPr lang="en-IN" sz="800" b="0" i="0" u="none" strike="noStrike" cap="none">
                <a:solidFill>
                  <a:schemeClr val="dk1"/>
                </a:solidFill>
                <a:latin typeface="Calibri"/>
                <a:ea typeface="Calibri"/>
                <a:cs typeface="Calibri"/>
                <a:sym typeface="Calibri"/>
              </a:rPr>
              <a:t>CTD Review Meeting</a:t>
            </a:r>
            <a:endParaRPr/>
          </a:p>
        </p:txBody>
      </p:sp>
      <p:sp>
        <p:nvSpPr>
          <p:cNvPr id="395" name="Google Shape;395;p44"/>
          <p:cNvSpPr txBox="1"/>
          <p:nvPr/>
        </p:nvSpPr>
        <p:spPr>
          <a:xfrm>
            <a:off x="11426825" y="6519863"/>
            <a:ext cx="307975" cy="12223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dk1"/>
              </a:buClr>
              <a:buSzPts val="800"/>
              <a:buFont typeface="Arial"/>
              <a:buNone/>
            </a:pPr>
            <a:fld id="{00000000-1234-1234-1234-123412341234}" type="slidenum">
              <a:rPr lang="en-IN" sz="800" b="0" i="0" u="none" strike="noStrike" cap="none">
                <a:solidFill>
                  <a:schemeClr val="dk1"/>
                </a:solidFill>
                <a:latin typeface="Calibri"/>
                <a:ea typeface="Calibri"/>
                <a:cs typeface="Calibri"/>
                <a:sym typeface="Calibri"/>
              </a:rPr>
              <a:t>‹#›</a:t>
            </a:fld>
            <a:endParaRPr sz="800" b="0" i="0" u="none" strike="noStrike" cap="none">
              <a:solidFill>
                <a:schemeClr val="dk1"/>
              </a:solidFill>
              <a:latin typeface="Calibri"/>
              <a:ea typeface="Calibri"/>
              <a:cs typeface="Calibri"/>
              <a:sym typeface="Calibri"/>
            </a:endParaRPr>
          </a:p>
        </p:txBody>
      </p:sp>
      <p:sp>
        <p:nvSpPr>
          <p:cNvPr id="396" name="Google Shape;396;p44"/>
          <p:cNvSpPr txBox="1"/>
          <p:nvPr/>
        </p:nvSpPr>
        <p:spPr>
          <a:xfrm>
            <a:off x="4065588" y="700088"/>
            <a:ext cx="254000"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397" name="Google Shape;397;p44"/>
          <p:cNvSpPr txBox="1"/>
          <p:nvPr/>
        </p:nvSpPr>
        <p:spPr>
          <a:xfrm>
            <a:off x="4321175" y="803275"/>
            <a:ext cx="1673225"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398" name="Google Shape;398;p44"/>
          <p:cNvSpPr txBox="1"/>
          <p:nvPr/>
        </p:nvSpPr>
        <p:spPr>
          <a:xfrm>
            <a:off x="5970588" y="803275"/>
            <a:ext cx="249237"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399" name="Google Shape;399;p44"/>
          <p:cNvSpPr txBox="1"/>
          <p:nvPr/>
        </p:nvSpPr>
        <p:spPr>
          <a:xfrm>
            <a:off x="4321175" y="801688"/>
            <a:ext cx="1673225"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400" name="Google Shape;400;p44"/>
          <p:cNvSpPr txBox="1">
            <a:spLocks noGrp="1"/>
          </p:cNvSpPr>
          <p:nvPr>
            <p:ph type="title"/>
          </p:nvPr>
        </p:nvSpPr>
        <p:spPr>
          <a:xfrm>
            <a:off x="457200" y="346075"/>
            <a:ext cx="11280775" cy="339725"/>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1" name="Google Shape;401;p44"/>
          <p:cNvSpPr txBox="1">
            <a:spLocks noGrp="1"/>
          </p:cNvSpPr>
          <p:nvPr>
            <p:ph type="body" idx="1"/>
          </p:nvPr>
        </p:nvSpPr>
        <p:spPr>
          <a:xfrm>
            <a:off x="460375" y="1714500"/>
            <a:ext cx="11277600" cy="4648200"/>
          </a:xfrm>
          <a:prstGeom prst="rect">
            <a:avLst/>
          </a:prstGeom>
          <a:noFill/>
          <a:ln>
            <a:noFill/>
          </a:ln>
        </p:spPr>
        <p:txBody>
          <a:bodyPr spcFirstLastPara="1" wrap="square" lIns="0" tIns="0" rIns="0" bIns="0" anchor="t" anchorCtr="0">
            <a:noAutofit/>
          </a:bodyPr>
          <a:lstStyle>
            <a:lvl1pPr marL="457200" lvl="0" indent="-342900" algn="l">
              <a:spcBef>
                <a:spcPts val="0"/>
              </a:spcBef>
              <a:spcAft>
                <a:spcPts val="0"/>
              </a:spcAft>
              <a:buClr>
                <a:schemeClr val="dk1"/>
              </a:buClr>
              <a:buSzPts val="1800"/>
              <a:buChar char="•"/>
              <a:defRPr/>
            </a:lvl1pPr>
            <a:lvl2pPr marL="914400" lvl="1" indent="-342900" algn="l">
              <a:spcBef>
                <a:spcPts val="750"/>
              </a:spcBef>
              <a:spcAft>
                <a:spcPts val="0"/>
              </a:spcAft>
              <a:buClr>
                <a:schemeClr val="dk1"/>
              </a:buClr>
              <a:buSzPts val="1800"/>
              <a:buChar char="•"/>
              <a:defRPr/>
            </a:lvl2pPr>
            <a:lvl3pPr marL="1371600" lvl="2" indent="-342900" algn="l">
              <a:spcBef>
                <a:spcPts val="750"/>
              </a:spcBef>
              <a:spcAft>
                <a:spcPts val="0"/>
              </a:spcAft>
              <a:buClr>
                <a:schemeClr val="dk1"/>
              </a:buClr>
              <a:buSzPts val="1800"/>
              <a:buChar char="−"/>
              <a:defRPr/>
            </a:lvl3pPr>
            <a:lvl4pPr marL="1828800" lvl="3" indent="-342900" algn="l">
              <a:spcBef>
                <a:spcPts val="750"/>
              </a:spcBef>
              <a:spcAft>
                <a:spcPts val="0"/>
              </a:spcAft>
              <a:buClr>
                <a:schemeClr val="dk1"/>
              </a:buClr>
              <a:buSzPts val="1800"/>
              <a:buChar char="◦"/>
              <a:defRPr/>
            </a:lvl4pPr>
            <a:lvl5pPr marL="2286000" lvl="4" indent="-342900" algn="l">
              <a:spcBef>
                <a:spcPts val="750"/>
              </a:spcBef>
              <a:spcAft>
                <a:spcPts val="0"/>
              </a:spcAft>
              <a:buClr>
                <a:schemeClr val="dk1"/>
              </a:buClr>
              <a:buSzPts val="1800"/>
              <a:buChar char="−"/>
              <a:defRPr/>
            </a:lvl5pPr>
            <a:lvl6pPr marL="2743200" lvl="5" indent="-342900" algn="l">
              <a:spcBef>
                <a:spcPts val="750"/>
              </a:spcBef>
              <a:spcAft>
                <a:spcPts val="0"/>
              </a:spcAft>
              <a:buClr>
                <a:schemeClr val="dk1"/>
              </a:buClr>
              <a:buSzPts val="1800"/>
              <a:buChar char="−"/>
              <a:defRPr/>
            </a:lvl6pPr>
            <a:lvl7pPr marL="3200400" lvl="6" indent="-342900" algn="l">
              <a:spcBef>
                <a:spcPts val="750"/>
              </a:spcBef>
              <a:spcAft>
                <a:spcPts val="0"/>
              </a:spcAft>
              <a:buClr>
                <a:schemeClr val="dk1"/>
              </a:buClr>
              <a:buSzPts val="1800"/>
              <a:buChar char="−"/>
              <a:defRPr/>
            </a:lvl7pPr>
            <a:lvl8pPr marL="3657600" lvl="7" indent="-342900" algn="l">
              <a:spcBef>
                <a:spcPts val="750"/>
              </a:spcBef>
              <a:spcAft>
                <a:spcPts val="0"/>
              </a:spcAft>
              <a:buClr>
                <a:schemeClr val="dk1"/>
              </a:buClr>
              <a:buSzPts val="1800"/>
              <a:buChar char="−"/>
              <a:defRPr/>
            </a:lvl8pPr>
            <a:lvl9pPr marL="4114800" lvl="8" indent="-342900" algn="l">
              <a:spcBef>
                <a:spcPts val="750"/>
              </a:spcBef>
              <a:spcAft>
                <a:spcPts val="750"/>
              </a:spcAft>
              <a:buClr>
                <a:schemeClr val="dk1"/>
              </a:buClr>
              <a:buSzPts val="1800"/>
              <a:buChar char="−"/>
              <a:defRPr/>
            </a:lvl9pPr>
          </a:lstStyle>
          <a:p>
            <a:endParaRPr/>
          </a:p>
        </p:txBody>
      </p:sp>
      <p:sp>
        <p:nvSpPr>
          <p:cNvPr id="402" name="Google Shape;402;p44"/>
          <p:cNvSpPr txBox="1">
            <a:spLocks noGrp="1"/>
          </p:cNvSpPr>
          <p:nvPr>
            <p:ph type="dt" idx="10"/>
          </p:nvPr>
        </p:nvSpPr>
        <p:spPr>
          <a:xfrm>
            <a:off x="0" y="0"/>
            <a:ext cx="0" cy="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03" name="Google Shape;403;p44"/>
          <p:cNvSpPr txBox="1">
            <a:spLocks noGrp="1"/>
          </p:cNvSpPr>
          <p:nvPr>
            <p:ph type="ftr" idx="11"/>
          </p:nvPr>
        </p:nvSpPr>
        <p:spPr>
          <a:xfrm>
            <a:off x="0" y="0"/>
            <a:ext cx="0" cy="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04" name="Google Shape;404;p44"/>
          <p:cNvSpPr txBox="1">
            <a:spLocks noGrp="1"/>
          </p:cNvSpPr>
          <p:nvPr>
            <p:ph type="sldNum" idx="12"/>
          </p:nvPr>
        </p:nvSpPr>
        <p:spPr>
          <a:xfrm>
            <a:off x="0" y="0"/>
            <a:ext cx="0" cy="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Calibri"/>
                <a:ea typeface="Calibri"/>
                <a:cs typeface="Calibri"/>
                <a:sym typeface="Calibri"/>
              </a:defRPr>
            </a:lvl1pPr>
            <a:lvl2pPr marL="0" marR="0" lvl="1" indent="0" algn="l" rtl="0">
              <a:spcBef>
                <a:spcPts val="0"/>
              </a:spcBef>
              <a:buNone/>
              <a:defRPr sz="1800" b="0" i="0" u="none" strike="noStrike" cap="none">
                <a:solidFill>
                  <a:schemeClr val="dk1"/>
                </a:solidFill>
                <a:latin typeface="Calibri"/>
                <a:ea typeface="Calibri"/>
                <a:cs typeface="Calibri"/>
                <a:sym typeface="Calibri"/>
              </a:defRPr>
            </a:lvl2pPr>
            <a:lvl3pPr marL="0" marR="0" lvl="2" indent="0" algn="l" rtl="0">
              <a:spcBef>
                <a:spcPts val="0"/>
              </a:spcBef>
              <a:buNone/>
              <a:defRPr sz="1800" b="0" i="0" u="none" strike="noStrike" cap="none">
                <a:solidFill>
                  <a:schemeClr val="dk1"/>
                </a:solidFill>
                <a:latin typeface="Calibri"/>
                <a:ea typeface="Calibri"/>
                <a:cs typeface="Calibri"/>
                <a:sym typeface="Calibri"/>
              </a:defRPr>
            </a:lvl3pPr>
            <a:lvl4pPr marL="0" marR="0" lvl="3" indent="0" algn="l" rtl="0">
              <a:spcBef>
                <a:spcPts val="0"/>
              </a:spcBef>
              <a:buNone/>
              <a:defRPr sz="1800" b="0" i="0" u="none" strike="noStrike" cap="none">
                <a:solidFill>
                  <a:schemeClr val="dk1"/>
                </a:solidFill>
                <a:latin typeface="Calibri"/>
                <a:ea typeface="Calibri"/>
                <a:cs typeface="Calibri"/>
                <a:sym typeface="Calibri"/>
              </a:defRPr>
            </a:lvl4pPr>
            <a:lvl5pPr marL="0" marR="0" lvl="4" indent="0" algn="l" rtl="0">
              <a:spcBef>
                <a:spcPts val="0"/>
              </a:spcBef>
              <a:buNone/>
              <a:defRPr sz="1800" b="0" i="0" u="none" strike="noStrike" cap="none">
                <a:solidFill>
                  <a:schemeClr val="dk1"/>
                </a:solidFill>
                <a:latin typeface="Calibri"/>
                <a:ea typeface="Calibri"/>
                <a:cs typeface="Calibri"/>
                <a:sym typeface="Calibri"/>
              </a:defRPr>
            </a:lvl5pPr>
            <a:lvl6pPr marL="0" marR="0" lvl="5" indent="0" algn="l" rtl="0">
              <a:spcBef>
                <a:spcPts val="0"/>
              </a:spcBef>
              <a:buNone/>
              <a:defRPr sz="1800" b="0" i="0" u="none" strike="noStrike" cap="none">
                <a:solidFill>
                  <a:schemeClr val="dk1"/>
                </a:solidFill>
                <a:latin typeface="Calibri"/>
                <a:ea typeface="Calibri"/>
                <a:cs typeface="Calibri"/>
                <a:sym typeface="Calibri"/>
              </a:defRPr>
            </a:lvl6pPr>
            <a:lvl7pPr marL="0" marR="0" lvl="6" indent="0" algn="l" rtl="0">
              <a:spcBef>
                <a:spcPts val="0"/>
              </a:spcBef>
              <a:buNone/>
              <a:defRPr sz="1800" b="0" i="0" u="none" strike="noStrike" cap="none">
                <a:solidFill>
                  <a:schemeClr val="dk1"/>
                </a:solidFill>
                <a:latin typeface="Calibri"/>
                <a:ea typeface="Calibri"/>
                <a:cs typeface="Calibri"/>
                <a:sym typeface="Calibri"/>
              </a:defRPr>
            </a:lvl7pPr>
            <a:lvl8pPr marL="0" marR="0" lvl="7" indent="0" algn="l" rtl="0">
              <a:spcBef>
                <a:spcPts val="0"/>
              </a:spcBef>
              <a:buNone/>
              <a:defRPr sz="1800" b="0" i="0" u="none" strike="noStrike" cap="none">
                <a:solidFill>
                  <a:schemeClr val="dk1"/>
                </a:solidFill>
                <a:latin typeface="Calibri"/>
                <a:ea typeface="Calibri"/>
                <a:cs typeface="Calibri"/>
                <a:sym typeface="Calibri"/>
              </a:defRPr>
            </a:lvl8pPr>
            <a:lvl9pPr marL="0" marR="0" lvl="8" indent="0" algn="l" rtl="0">
              <a:spcBef>
                <a:spcPts val="0"/>
              </a:spcBef>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45">
            <a:alphaModFix/>
          </a:blip>
          <a:srcRect/>
          <a:stretch/>
        </p:blipFill>
        <p:spPr>
          <a:xfrm>
            <a:off x="1588" y="1588"/>
            <a:ext cx="3175" cy="1587"/>
          </a:xfrm>
          <a:prstGeom prst="rect">
            <a:avLst/>
          </a:prstGeom>
          <a:noFill/>
          <a:ln>
            <a:noFill/>
          </a:ln>
        </p:spPr>
      </p:pic>
      <p:sp>
        <p:nvSpPr>
          <p:cNvPr id="11" name="Google Shape;11;p1"/>
          <p:cNvSpPr txBox="1">
            <a:spLocks noGrp="1"/>
          </p:cNvSpPr>
          <p:nvPr>
            <p:ph type="title"/>
          </p:nvPr>
        </p:nvSpPr>
        <p:spPr>
          <a:xfrm>
            <a:off x="457200" y="346075"/>
            <a:ext cx="11280775" cy="339725"/>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2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1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1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1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1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1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1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1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1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p:nvPr/>
        </p:nvSpPr>
        <p:spPr>
          <a:xfrm>
            <a:off x="6335713" y="6519863"/>
            <a:ext cx="4895850" cy="12223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dk1"/>
              </a:buClr>
              <a:buSzPts val="800"/>
              <a:buFont typeface="Arial"/>
              <a:buNone/>
            </a:pPr>
            <a:r>
              <a:rPr lang="en-IN" sz="800" b="0" i="0" u="none" strike="noStrike" cap="none">
                <a:solidFill>
                  <a:schemeClr val="dk1"/>
                </a:solidFill>
                <a:latin typeface="Calibri"/>
                <a:ea typeface="Calibri"/>
                <a:cs typeface="Calibri"/>
                <a:sym typeface="Calibri"/>
              </a:rPr>
              <a:t>CTD Review Meeting</a:t>
            </a:r>
            <a:endParaRPr/>
          </a:p>
        </p:txBody>
      </p:sp>
      <p:sp>
        <p:nvSpPr>
          <p:cNvPr id="13" name="Google Shape;13;p1"/>
          <p:cNvSpPr txBox="1">
            <a:spLocks noGrp="1"/>
          </p:cNvSpPr>
          <p:nvPr>
            <p:ph type="body" idx="1"/>
          </p:nvPr>
        </p:nvSpPr>
        <p:spPr>
          <a:xfrm>
            <a:off x="460375" y="1714500"/>
            <a:ext cx="11277600" cy="4648200"/>
          </a:xfrm>
          <a:prstGeom prst="rect">
            <a:avLst/>
          </a:prstGeom>
          <a:noFill/>
          <a:ln>
            <a:noFill/>
          </a:ln>
        </p:spPr>
        <p:txBody>
          <a:bodyPr spcFirstLastPara="1" wrap="square" lIns="0" tIns="0" rIns="0" bIns="0" anchor="t" anchorCtr="0">
            <a:noAutofit/>
          </a:bodyPr>
          <a:lstStyle>
            <a:lvl1pPr marL="457200" marR="0" lvl="0" indent="-304800" algn="l" rtl="0">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1pPr>
            <a:lvl2pPr marL="914400" marR="0" lvl="1" indent="-304800" algn="l" rtl="0">
              <a:spcBef>
                <a:spcPts val="750"/>
              </a:spcBef>
              <a:spcAft>
                <a:spcPts val="0"/>
              </a:spcAft>
              <a:buClr>
                <a:schemeClr val="dk1"/>
              </a:buClr>
              <a:buSzPts val="1200"/>
              <a:buFont typeface="Arial"/>
              <a:buChar char="•"/>
              <a:defRPr sz="1200" b="1" i="0" u="none" strike="noStrike" cap="none">
                <a:solidFill>
                  <a:schemeClr val="dk1"/>
                </a:solidFill>
                <a:latin typeface="Calibri"/>
                <a:ea typeface="Calibri"/>
                <a:cs typeface="Calibri"/>
                <a:sym typeface="Calibri"/>
              </a:defRPr>
            </a:lvl2pPr>
            <a:lvl3pPr marL="1371600" marR="0" lvl="2" indent="-304800"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304800"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spcBef>
                <a:spcPts val="75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285750"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6pPr>
            <a:lvl7pPr marL="3200400" marR="0" lvl="6" indent="-285750"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7pPr>
            <a:lvl8pPr marL="3657600" marR="0" lvl="7" indent="-285750" algn="l" rtl="0">
              <a:spcBef>
                <a:spcPts val="750"/>
              </a:spcBef>
              <a:spcAft>
                <a:spcPts val="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8pPr>
            <a:lvl9pPr marL="4114800" marR="0" lvl="8" indent="-285750" algn="l" rtl="0">
              <a:spcBef>
                <a:spcPts val="750"/>
              </a:spcBef>
              <a:spcAft>
                <a:spcPts val="750"/>
              </a:spcAft>
              <a:buClr>
                <a:schemeClr val="dk1"/>
              </a:buClr>
              <a:buSzPts val="900"/>
              <a:buFont typeface="Verdana"/>
              <a:buChar char="−"/>
              <a:defRPr sz="9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p:nvPr/>
        </p:nvSpPr>
        <p:spPr>
          <a:xfrm>
            <a:off x="11426825" y="6519863"/>
            <a:ext cx="307975" cy="122237"/>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chemeClr val="dk1"/>
              </a:buClr>
              <a:buSzPts val="800"/>
              <a:buFont typeface="Arial"/>
              <a:buNone/>
            </a:pPr>
            <a:fld id="{00000000-1234-1234-1234-123412341234}" type="slidenum">
              <a:rPr lang="en-IN" sz="800" b="0" i="0" u="none" strike="noStrike" cap="none">
                <a:solidFill>
                  <a:schemeClr val="dk1"/>
                </a:solidFill>
                <a:latin typeface="Calibri"/>
                <a:ea typeface="Calibri"/>
                <a:cs typeface="Calibri"/>
                <a:sym typeface="Calibri"/>
              </a:rPr>
              <a:t>‹#›</a:t>
            </a:fld>
            <a:endParaRPr sz="800" b="0" i="0" u="none" strike="noStrike" cap="none">
              <a:solidFill>
                <a:schemeClr val="dk1"/>
              </a:solidFill>
              <a:latin typeface="Calibri"/>
              <a:ea typeface="Calibri"/>
              <a:cs typeface="Calibri"/>
              <a:sym typeface="Calibri"/>
            </a:endParaRPr>
          </a:p>
        </p:txBody>
      </p:sp>
      <p:sp>
        <p:nvSpPr>
          <p:cNvPr id="15" name="Google Shape;15;p1"/>
          <p:cNvSpPr txBox="1"/>
          <p:nvPr/>
        </p:nvSpPr>
        <p:spPr>
          <a:xfrm>
            <a:off x="4065588" y="700088"/>
            <a:ext cx="254000"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16" name="Google Shape;16;p1"/>
          <p:cNvSpPr txBox="1"/>
          <p:nvPr/>
        </p:nvSpPr>
        <p:spPr>
          <a:xfrm>
            <a:off x="4321175" y="803275"/>
            <a:ext cx="1673225"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17" name="Google Shape;17;p1"/>
          <p:cNvSpPr txBox="1"/>
          <p:nvPr/>
        </p:nvSpPr>
        <p:spPr>
          <a:xfrm>
            <a:off x="5970588" y="803275"/>
            <a:ext cx="249237"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
        <p:nvSpPr>
          <p:cNvPr id="18" name="Google Shape;18;p1"/>
          <p:cNvSpPr txBox="1"/>
          <p:nvPr/>
        </p:nvSpPr>
        <p:spPr>
          <a:xfrm>
            <a:off x="4321175" y="801688"/>
            <a:ext cx="1673225" cy="276225"/>
          </a:xfrm>
          <a:prstGeom prst="rect">
            <a:avLst/>
          </a:prstGeom>
          <a:noFill/>
          <a:ln>
            <a:noFill/>
          </a:ln>
        </p:spPr>
        <p:txBody>
          <a:bodyPr spcFirstLastPara="1" wrap="square" lIns="0" tIns="0" rIns="0" bIns="0" anchor="t" anchorCtr="0">
            <a:spAutoFit/>
          </a:bodyPr>
          <a:lstStyle/>
          <a:p>
            <a:pPr marL="203200" marR="0" lvl="0" indent="-88900" algn="l" rtl="0">
              <a:spcBef>
                <a:spcPts val="0"/>
              </a:spcBef>
              <a:spcAft>
                <a:spcPts val="0"/>
              </a:spcAft>
              <a:buClr>
                <a:schemeClr val="dk1"/>
              </a:buClr>
              <a:buSzPts val="1800"/>
              <a:buFont typeface="Arial"/>
              <a:buNone/>
            </a:pPr>
            <a:endParaRPr sz="1800" b="0" i="0" u="none" strike="noStrike" cap="none">
              <a:solidFill>
                <a:srgbClr val="31313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Lst>
  <p:transition>
    <p:fade/>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slide" Target="slide14.xml"/><Relationship Id="rId18" Type="http://schemas.openxmlformats.org/officeDocument/2006/relationships/slide" Target="slide19.xml"/><Relationship Id="rId3" Type="http://schemas.openxmlformats.org/officeDocument/2006/relationships/slide" Target="slide4.xml"/><Relationship Id="rId21" Type="http://schemas.openxmlformats.org/officeDocument/2006/relationships/slide" Target="slide22.xml"/><Relationship Id="rId7" Type="http://schemas.openxmlformats.org/officeDocument/2006/relationships/slide" Target="slide8.xml"/><Relationship Id="rId12" Type="http://schemas.openxmlformats.org/officeDocument/2006/relationships/slide" Target="slide13.xml"/><Relationship Id="rId17" Type="http://schemas.openxmlformats.org/officeDocument/2006/relationships/slide" Target="slide18.xml"/><Relationship Id="rId2" Type="http://schemas.openxmlformats.org/officeDocument/2006/relationships/notesSlide" Target="../notesSlides/notesSlide2.xml"/><Relationship Id="rId16" Type="http://schemas.openxmlformats.org/officeDocument/2006/relationships/slide" Target="slide17.xml"/><Relationship Id="rId20" Type="http://schemas.openxmlformats.org/officeDocument/2006/relationships/slide" Target="slide21.xml"/><Relationship Id="rId1" Type="http://schemas.openxmlformats.org/officeDocument/2006/relationships/slideLayout" Target="../slideLayouts/slideLayout2.xml"/><Relationship Id="rId6" Type="http://schemas.openxmlformats.org/officeDocument/2006/relationships/slide" Target="slide7.xml"/><Relationship Id="rId11" Type="http://schemas.openxmlformats.org/officeDocument/2006/relationships/slide" Target="slide12.xml"/><Relationship Id="rId5" Type="http://schemas.openxmlformats.org/officeDocument/2006/relationships/slide" Target="slide6.xml"/><Relationship Id="rId15" Type="http://schemas.openxmlformats.org/officeDocument/2006/relationships/slide" Target="slide16.xml"/><Relationship Id="rId10" Type="http://schemas.openxmlformats.org/officeDocument/2006/relationships/slide" Target="slide11.xml"/><Relationship Id="rId19" Type="http://schemas.openxmlformats.org/officeDocument/2006/relationships/slide" Target="slide20.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5.xml"/><Relationship Id="rId22" Type="http://schemas.openxmlformats.org/officeDocument/2006/relationships/slide" Target="slide23.xml"/></Relationships>
</file>

<file path=ppt/slides/_rels/slide3.xml.rels><?xml version="1.0" encoding="UTF-8" standalone="yes"?>
<Relationships xmlns="http://schemas.openxmlformats.org/package/2006/relationships"><Relationship Id="rId8" Type="http://schemas.openxmlformats.org/officeDocument/2006/relationships/slide" Target="slide30.xml"/><Relationship Id="rId3" Type="http://schemas.openxmlformats.org/officeDocument/2006/relationships/slide" Target="slide25.xml"/><Relationship Id="rId7" Type="http://schemas.openxmlformats.org/officeDocument/2006/relationships/slide" Target="slide29.xml"/><Relationship Id="rId12" Type="http://schemas.openxmlformats.org/officeDocument/2006/relationships/slide" Target="slide3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slide" Target="slide28.xml"/><Relationship Id="rId11" Type="http://schemas.openxmlformats.org/officeDocument/2006/relationships/slide" Target="slide33.xml"/><Relationship Id="rId5" Type="http://schemas.openxmlformats.org/officeDocument/2006/relationships/slide" Target="slide27.xml"/><Relationship Id="rId10" Type="http://schemas.openxmlformats.org/officeDocument/2006/relationships/slide" Target="slide32.xml"/><Relationship Id="rId4" Type="http://schemas.openxmlformats.org/officeDocument/2006/relationships/slide" Target="slide26.xml"/><Relationship Id="rId9" Type="http://schemas.openxmlformats.org/officeDocument/2006/relationships/slide" Target="slide3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slide" Target="slide30.xml"/><Relationship Id="rId3" Type="http://schemas.openxmlformats.org/officeDocument/2006/relationships/slide" Target="slide25.xml"/><Relationship Id="rId7" Type="http://schemas.openxmlformats.org/officeDocument/2006/relationships/slide" Target="slide29.xml"/><Relationship Id="rId12" Type="http://schemas.openxmlformats.org/officeDocument/2006/relationships/slide" Target="slide34.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slide" Target="slide28.xml"/><Relationship Id="rId11" Type="http://schemas.openxmlformats.org/officeDocument/2006/relationships/slide" Target="slide33.xml"/><Relationship Id="rId5" Type="http://schemas.openxmlformats.org/officeDocument/2006/relationships/slide" Target="slide27.xml"/><Relationship Id="rId10" Type="http://schemas.openxmlformats.org/officeDocument/2006/relationships/slide" Target="slide32.xml"/><Relationship Id="rId4" Type="http://schemas.openxmlformats.org/officeDocument/2006/relationships/slide" Target="slide26.xml"/><Relationship Id="rId9" Type="http://schemas.openxmlformats.org/officeDocument/2006/relationships/slide" Target="slide3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45"/>
          <p:cNvSpPr txBox="1"/>
          <p:nvPr/>
        </p:nvSpPr>
        <p:spPr>
          <a:xfrm>
            <a:off x="1241595" y="2863852"/>
            <a:ext cx="9708809" cy="2901491"/>
          </a:xfrm>
          <a:prstGeom prst="rect">
            <a:avLst/>
          </a:prstGeom>
          <a:noFill/>
          <a:ln>
            <a:noFill/>
          </a:ln>
        </p:spPr>
        <p:txBody>
          <a:bodyPr spcFirstLastPara="1" wrap="square" lIns="0" tIns="28925" rIns="57850" bIns="0" anchor="b" anchorCtr="0">
            <a:normAutofit/>
          </a:bodyPr>
          <a:lstStyle/>
          <a:p>
            <a:pPr marL="0" marR="0" lvl="0" indent="0" algn="ctr" rtl="0">
              <a:lnSpc>
                <a:spcPct val="85000"/>
              </a:lnSpc>
              <a:spcBef>
                <a:spcPts val="0"/>
              </a:spcBef>
              <a:spcAft>
                <a:spcPts val="0"/>
              </a:spcAft>
              <a:buClr>
                <a:srgbClr val="02A674"/>
              </a:buClr>
              <a:buSzPts val="1600"/>
              <a:buFont typeface="Calibri"/>
              <a:buNone/>
            </a:pPr>
            <a:endParaRPr sz="1600" b="0" i="0" u="none" strike="noStrike" cap="none">
              <a:solidFill>
                <a:srgbClr val="FFFFFF"/>
              </a:solidFill>
              <a:latin typeface="Verdana"/>
              <a:ea typeface="Verdana"/>
              <a:cs typeface="Verdana"/>
              <a:sym typeface="Verdana"/>
            </a:endParaRPr>
          </a:p>
          <a:p>
            <a:pPr marL="0" marR="0" lvl="0" indent="0" algn="ctr" rtl="0">
              <a:lnSpc>
                <a:spcPct val="49843"/>
              </a:lnSpc>
              <a:spcBef>
                <a:spcPts val="0"/>
              </a:spcBef>
              <a:spcAft>
                <a:spcPts val="0"/>
              </a:spcAft>
              <a:buClr>
                <a:srgbClr val="32E8FE"/>
              </a:buClr>
              <a:buSzPts val="3200"/>
              <a:buFont typeface="Verdana"/>
              <a:buNone/>
            </a:pPr>
            <a:r>
              <a:rPr lang="en-IN" sz="3200" b="1" i="0" u="none" strike="noStrike" cap="none">
                <a:solidFill>
                  <a:srgbClr val="32E8FE"/>
                </a:solidFill>
                <a:latin typeface="Verdana"/>
                <a:ea typeface="Verdana"/>
                <a:cs typeface="Verdana"/>
                <a:sym typeface="Verdana"/>
              </a:rPr>
              <a:t>Commercial Tax Department,</a:t>
            </a:r>
            <a:endParaRPr/>
          </a:p>
          <a:p>
            <a:pPr marL="0" marR="0" lvl="0" indent="0" algn="ctr" rtl="0">
              <a:lnSpc>
                <a:spcPct val="49843"/>
              </a:lnSpc>
              <a:spcBef>
                <a:spcPts val="0"/>
              </a:spcBef>
              <a:spcAft>
                <a:spcPts val="0"/>
              </a:spcAft>
              <a:buClr>
                <a:srgbClr val="02A674"/>
              </a:buClr>
              <a:buSzPts val="3200"/>
              <a:buFont typeface="Calibri"/>
              <a:buNone/>
            </a:pPr>
            <a:endParaRPr sz="3200" b="1" i="0" u="none" strike="noStrike" cap="none">
              <a:solidFill>
                <a:srgbClr val="32E8FE"/>
              </a:solidFill>
              <a:latin typeface="Verdana"/>
              <a:ea typeface="Verdana"/>
              <a:cs typeface="Verdana"/>
              <a:sym typeface="Verdana"/>
            </a:endParaRPr>
          </a:p>
          <a:p>
            <a:pPr marL="0" marR="0" lvl="0" indent="0" algn="ctr" rtl="0">
              <a:lnSpc>
                <a:spcPct val="49843"/>
              </a:lnSpc>
              <a:spcBef>
                <a:spcPts val="0"/>
              </a:spcBef>
              <a:spcAft>
                <a:spcPts val="0"/>
              </a:spcAft>
              <a:buClr>
                <a:srgbClr val="32E8FE"/>
              </a:buClr>
              <a:buSzPts val="3200"/>
              <a:buFont typeface="Verdana"/>
              <a:buNone/>
            </a:pPr>
            <a:r>
              <a:rPr lang="en-IN" sz="3200" b="1" i="0" u="none" strike="noStrike" cap="none">
                <a:solidFill>
                  <a:srgbClr val="32E8FE"/>
                </a:solidFill>
                <a:latin typeface="Verdana"/>
                <a:ea typeface="Verdana"/>
                <a:cs typeface="Verdana"/>
                <a:sym typeface="Verdana"/>
              </a:rPr>
              <a:t>Government of Rajasthan </a:t>
            </a:r>
            <a:endParaRPr/>
          </a:p>
          <a:p>
            <a:pPr marL="0" marR="0" lvl="0" indent="0" algn="ctr" rtl="0">
              <a:lnSpc>
                <a:spcPct val="49843"/>
              </a:lnSpc>
              <a:spcBef>
                <a:spcPts val="0"/>
              </a:spcBef>
              <a:spcAft>
                <a:spcPts val="0"/>
              </a:spcAft>
              <a:buClr>
                <a:srgbClr val="02A674"/>
              </a:buClr>
              <a:buSzPts val="3200"/>
              <a:buFont typeface="Calibri"/>
              <a:buNone/>
            </a:pPr>
            <a:endParaRPr sz="3200" b="1" i="0" u="none" strike="noStrike" cap="none">
              <a:solidFill>
                <a:srgbClr val="32E8FE"/>
              </a:solidFill>
              <a:latin typeface="Verdana"/>
              <a:ea typeface="Verdana"/>
              <a:cs typeface="Verdana"/>
              <a:sym typeface="Verdana"/>
            </a:endParaRPr>
          </a:p>
          <a:p>
            <a:pPr marL="0" marR="0" lvl="0" indent="0" algn="ctr" rtl="0">
              <a:lnSpc>
                <a:spcPct val="85000"/>
              </a:lnSpc>
              <a:spcBef>
                <a:spcPts val="0"/>
              </a:spcBef>
              <a:spcAft>
                <a:spcPts val="0"/>
              </a:spcAft>
              <a:buClr>
                <a:srgbClr val="FFFFFF"/>
              </a:buClr>
              <a:buSzPts val="3200"/>
              <a:buFont typeface="Verdana"/>
              <a:buNone/>
            </a:pPr>
            <a:r>
              <a:rPr lang="en-IN" sz="3200" b="0" i="0" u="none" strike="noStrike" cap="none">
                <a:solidFill>
                  <a:srgbClr val="FFFFFF"/>
                </a:solidFill>
                <a:latin typeface="Verdana"/>
                <a:ea typeface="Verdana"/>
                <a:cs typeface="Verdana"/>
                <a:sym typeface="Verdana"/>
              </a:rPr>
              <a:t>Review Meeting</a:t>
            </a:r>
            <a:endParaRPr sz="3200" b="0" i="0" u="none" strike="noStrike" cap="none">
              <a:solidFill>
                <a:srgbClr val="FFCD00"/>
              </a:solidFill>
              <a:latin typeface="Verdana"/>
              <a:ea typeface="Verdana"/>
              <a:cs typeface="Verdana"/>
              <a:sym typeface="Verdana"/>
            </a:endParaRPr>
          </a:p>
          <a:p>
            <a:pPr marL="0" marR="0" lvl="0" indent="0" algn="ctr" rtl="0">
              <a:lnSpc>
                <a:spcPct val="85000"/>
              </a:lnSpc>
              <a:spcBef>
                <a:spcPts val="0"/>
              </a:spcBef>
              <a:spcAft>
                <a:spcPts val="0"/>
              </a:spcAft>
              <a:buClr>
                <a:srgbClr val="02A674"/>
              </a:buClr>
              <a:buSzPts val="3200"/>
              <a:buFont typeface="Calibri"/>
              <a:buNone/>
            </a:pPr>
            <a:endParaRPr sz="3200" b="0" i="0" u="none" strike="noStrike" cap="none">
              <a:solidFill>
                <a:srgbClr val="FFCD00"/>
              </a:solidFill>
              <a:latin typeface="Verdana"/>
              <a:ea typeface="Verdana"/>
              <a:cs typeface="Verdana"/>
              <a:sym typeface="Verdana"/>
            </a:endParaRPr>
          </a:p>
          <a:p>
            <a:pPr marL="0" marR="0" lvl="0" indent="0" algn="ctr" rtl="0">
              <a:lnSpc>
                <a:spcPct val="85000"/>
              </a:lnSpc>
              <a:spcBef>
                <a:spcPts val="0"/>
              </a:spcBef>
              <a:spcAft>
                <a:spcPts val="0"/>
              </a:spcAft>
              <a:buClr>
                <a:srgbClr val="FFCD00"/>
              </a:buClr>
              <a:buSzPts val="3200"/>
              <a:buFont typeface="Verdana"/>
              <a:buNone/>
            </a:pPr>
            <a:r>
              <a:rPr lang="en-IN" sz="3200" b="0" i="0" u="none" strike="noStrike" cap="none">
                <a:solidFill>
                  <a:srgbClr val="FFCD00"/>
                </a:solidFill>
                <a:latin typeface="Verdana"/>
                <a:ea typeface="Verdana"/>
                <a:cs typeface="Verdana"/>
                <a:sym typeface="Verdana"/>
              </a:rPr>
              <a:t>17</a:t>
            </a:r>
            <a:r>
              <a:rPr lang="en-IN" sz="3200" b="0" i="0" u="none" strike="noStrike" cap="none" baseline="30000">
                <a:solidFill>
                  <a:srgbClr val="FFCD00"/>
                </a:solidFill>
                <a:latin typeface="Verdana"/>
                <a:ea typeface="Verdana"/>
                <a:cs typeface="Verdana"/>
                <a:sym typeface="Verdana"/>
              </a:rPr>
              <a:t>th</a:t>
            </a:r>
            <a:r>
              <a:rPr lang="en-IN" sz="3200" b="0" i="0" u="none" strike="noStrike" cap="none">
                <a:solidFill>
                  <a:srgbClr val="FFCD00"/>
                </a:solidFill>
                <a:latin typeface="Verdana"/>
                <a:ea typeface="Verdana"/>
                <a:cs typeface="Verdana"/>
                <a:sym typeface="Verdana"/>
              </a:rPr>
              <a:t> February, 2025</a:t>
            </a:r>
            <a:endParaRPr/>
          </a:p>
        </p:txBody>
      </p:sp>
      <p:sp>
        <p:nvSpPr>
          <p:cNvPr id="411" name="Google Shape;411;p45"/>
          <p:cNvSpPr txBox="1"/>
          <p:nvPr/>
        </p:nvSpPr>
        <p:spPr>
          <a:xfrm>
            <a:off x="1525247" y="4030504"/>
            <a:ext cx="3852152" cy="568188"/>
          </a:xfrm>
          <a:prstGeom prst="rect">
            <a:avLst/>
          </a:prstGeom>
          <a:noFill/>
          <a:ln>
            <a:noFill/>
          </a:ln>
        </p:spPr>
        <p:txBody>
          <a:bodyPr spcFirstLastPara="1" wrap="square" lIns="0" tIns="28925" rIns="57850" bIns="0" anchor="b" anchorCtr="0">
            <a:noAutofit/>
          </a:bodyPr>
          <a:lstStyle/>
          <a:p>
            <a:pPr marL="0" marR="0" lvl="0" indent="0" algn="l" rtl="0">
              <a:lnSpc>
                <a:spcPct val="100251"/>
              </a:lnSpc>
              <a:spcBef>
                <a:spcPts val="0"/>
              </a:spcBef>
              <a:spcAft>
                <a:spcPts val="0"/>
              </a:spcAft>
              <a:buClr>
                <a:srgbClr val="02A674"/>
              </a:buClr>
              <a:buSzPts val="1591"/>
              <a:buFont typeface="Calibri"/>
              <a:buNone/>
            </a:pPr>
            <a:endParaRPr sz="1591" b="1" i="0" u="none" strike="noStrike" cap="none">
              <a:solidFill>
                <a:srgbClr val="32E8FE"/>
              </a:solidFill>
              <a:latin typeface="Verdana"/>
              <a:ea typeface="Verdana"/>
              <a:cs typeface="Verdana"/>
              <a:sym typeface="Verdana"/>
            </a:endParaRPr>
          </a:p>
        </p:txBody>
      </p:sp>
      <p:pic>
        <p:nvPicPr>
          <p:cNvPr id="412" name="Google Shape;412;p45"/>
          <p:cNvPicPr preferRelativeResize="0"/>
          <p:nvPr/>
        </p:nvPicPr>
        <p:blipFill rotWithShape="1">
          <a:blip r:embed="rId3">
            <a:alphaModFix/>
          </a:blip>
          <a:srcRect/>
          <a:stretch/>
        </p:blipFill>
        <p:spPr>
          <a:xfrm>
            <a:off x="5207459" y="1050417"/>
            <a:ext cx="1777079" cy="177707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46"/>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Top 20 Circle with highest potential amount - IGST</a:t>
            </a:r>
            <a:endParaRPr/>
          </a:p>
        </p:txBody>
      </p:sp>
      <p:sp>
        <p:nvSpPr>
          <p:cNvPr id="419" name="Google Shape;419;p46"/>
          <p:cNvSpPr txBox="1"/>
          <p:nvPr/>
        </p:nvSpPr>
        <p:spPr>
          <a:xfrm>
            <a:off x="10902631" y="77738"/>
            <a:ext cx="10125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420" name="Google Shape;420;p46"/>
          <p:cNvGraphicFramePr/>
          <p:nvPr/>
        </p:nvGraphicFramePr>
        <p:xfrm>
          <a:off x="167830" y="550898"/>
          <a:ext cx="11965150" cy="6248550"/>
        </p:xfrm>
        <a:graphic>
          <a:graphicData uri="http://schemas.openxmlformats.org/drawingml/2006/table">
            <a:tbl>
              <a:tblPr>
                <a:noFill/>
                <a:tableStyleId>{ED13AFB8-4CE9-44F5-8004-2B2D446919A9}</a:tableStyleId>
              </a:tblPr>
              <a:tblGrid>
                <a:gridCol w="2102475">
                  <a:extLst>
                    <a:ext uri="{9D8B030D-6E8A-4147-A177-3AD203B41FA5}">
                      <a16:colId xmlns:a16="http://schemas.microsoft.com/office/drawing/2014/main" val="20000"/>
                    </a:ext>
                  </a:extLst>
                </a:gridCol>
                <a:gridCol w="984825">
                  <a:extLst>
                    <a:ext uri="{9D8B030D-6E8A-4147-A177-3AD203B41FA5}">
                      <a16:colId xmlns:a16="http://schemas.microsoft.com/office/drawing/2014/main" val="20001"/>
                    </a:ext>
                  </a:extLst>
                </a:gridCol>
                <a:gridCol w="1302150">
                  <a:extLst>
                    <a:ext uri="{9D8B030D-6E8A-4147-A177-3AD203B41FA5}">
                      <a16:colId xmlns:a16="http://schemas.microsoft.com/office/drawing/2014/main" val="20002"/>
                    </a:ext>
                  </a:extLst>
                </a:gridCol>
                <a:gridCol w="1051975">
                  <a:extLst>
                    <a:ext uri="{9D8B030D-6E8A-4147-A177-3AD203B41FA5}">
                      <a16:colId xmlns:a16="http://schemas.microsoft.com/office/drawing/2014/main" val="20003"/>
                    </a:ext>
                  </a:extLst>
                </a:gridCol>
                <a:gridCol w="1475725">
                  <a:extLst>
                    <a:ext uri="{9D8B030D-6E8A-4147-A177-3AD203B41FA5}">
                      <a16:colId xmlns:a16="http://schemas.microsoft.com/office/drawing/2014/main" val="20004"/>
                    </a:ext>
                  </a:extLst>
                </a:gridCol>
                <a:gridCol w="1133775">
                  <a:extLst>
                    <a:ext uri="{9D8B030D-6E8A-4147-A177-3AD203B41FA5}">
                      <a16:colId xmlns:a16="http://schemas.microsoft.com/office/drawing/2014/main" val="20005"/>
                    </a:ext>
                  </a:extLst>
                </a:gridCol>
                <a:gridCol w="1590875">
                  <a:extLst>
                    <a:ext uri="{9D8B030D-6E8A-4147-A177-3AD203B41FA5}">
                      <a16:colId xmlns:a16="http://schemas.microsoft.com/office/drawing/2014/main" val="20006"/>
                    </a:ext>
                  </a:extLst>
                </a:gridCol>
                <a:gridCol w="1018600">
                  <a:extLst>
                    <a:ext uri="{9D8B030D-6E8A-4147-A177-3AD203B41FA5}">
                      <a16:colId xmlns:a16="http://schemas.microsoft.com/office/drawing/2014/main" val="20007"/>
                    </a:ext>
                  </a:extLst>
                </a:gridCol>
                <a:gridCol w="1304750">
                  <a:extLst>
                    <a:ext uri="{9D8B030D-6E8A-4147-A177-3AD203B41FA5}">
                      <a16:colId xmlns:a16="http://schemas.microsoft.com/office/drawing/2014/main" val="20008"/>
                    </a:ext>
                  </a:extLst>
                </a:gridCol>
              </a:tblGrid>
              <a:tr h="475875">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 </a:t>
                      </a:r>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gridSpan="2">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Cambria"/>
                          <a:ea typeface="Cambria"/>
                          <a:cs typeface="Cambria"/>
                          <a:sym typeface="Cambria"/>
                        </a:rPr>
                        <a:t>I6 C_High_Reclaim LEDGER_BALANCE_DEC</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hMerge="1">
                  <a:txBody>
                    <a:bodyPr/>
                    <a:lstStyle/>
                    <a:p>
                      <a:endParaRPr lang="en-US"/>
                    </a:p>
                  </a:txBody>
                  <a:tcPr/>
                </a:tc>
                <a:tc gridSpan="2">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Cambria"/>
                          <a:ea typeface="Cambria"/>
                          <a:cs typeface="Cambria"/>
                          <a:sym typeface="Cambria"/>
                        </a:rPr>
                        <a:t>I16 Taxpayers with high ITC in 2B but claimed less in 3B</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hMerge="1">
                  <a:txBody>
                    <a:bodyPr/>
                    <a:lstStyle/>
                    <a:p>
                      <a:endParaRPr lang="en-US"/>
                    </a:p>
                  </a:txBody>
                  <a:tcPr/>
                </a:tc>
                <a:tc gridSpan="2">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Cambria"/>
                          <a:ea typeface="Cambria"/>
                          <a:cs typeface="Cambria"/>
                          <a:sym typeface="Cambria"/>
                        </a:rPr>
                        <a:t>I17_Suo Moto Cancelled Taxpayers having IGST Ledger Balance</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hMerge="1">
                  <a:txBody>
                    <a:bodyPr/>
                    <a:lstStyle/>
                    <a:p>
                      <a:endParaRPr lang="en-US"/>
                    </a:p>
                  </a:txBody>
                  <a:tcPr/>
                </a:tc>
                <a:tc gridSpan="2">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Cambria"/>
                          <a:ea typeface="Cambria"/>
                          <a:cs typeface="Cambria"/>
                          <a:sym typeface="Cambria"/>
                        </a:rPr>
                        <a:t>ISGT Total</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hMerge="1">
                  <a:txBody>
                    <a:bodyPr/>
                    <a:lstStyle/>
                    <a:p>
                      <a:endParaRPr lang="en-US"/>
                    </a:p>
                  </a:txBody>
                  <a:tcPr/>
                </a:tc>
                <a:extLst>
                  <a:ext uri="{0D108BD9-81ED-4DB2-BD59-A6C34878D82A}">
                    <a16:rowId xmlns:a16="http://schemas.microsoft.com/office/drawing/2014/main" val="10000"/>
                  </a:ext>
                </a:extLst>
              </a:tr>
              <a:tr h="363975">
                <a:tc>
                  <a:txBody>
                    <a:bodyPr/>
                    <a:lstStyle/>
                    <a:p>
                      <a:pPr marL="0" marR="0" lvl="0" indent="0" algn="ctr" rtl="0">
                        <a:spcBef>
                          <a:spcPts val="0"/>
                        </a:spcBef>
                        <a:spcAft>
                          <a:spcPts val="0"/>
                        </a:spcAft>
                        <a:buClr>
                          <a:srgbClr val="FFFFFF"/>
                        </a:buClr>
                        <a:buSzPts val="1400"/>
                        <a:buFont typeface="Arial"/>
                        <a:buNone/>
                      </a:pPr>
                      <a:r>
                        <a:rPr lang="en-IN" sz="1300" b="1" i="0" u="none" strike="noStrike" cap="none">
                          <a:solidFill>
                            <a:srgbClr val="FFFFFF"/>
                          </a:solidFill>
                          <a:latin typeface="Cambria"/>
                          <a:ea typeface="Cambria"/>
                          <a:cs typeface="Cambria"/>
                          <a:sym typeface="Cambria"/>
                        </a:rPr>
                        <a:t>Circle</a:t>
                      </a:r>
                      <a:endParaRPr sz="1300">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GSTIN</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Amount</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GSTIN</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Amount</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GSTIN</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Amount</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GSTIN</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Amount</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1"/>
                  </a:ext>
                </a:extLst>
              </a:tr>
              <a:tr h="239775">
                <a:tc>
                  <a:txBody>
                    <a:bodyPr/>
                    <a:lstStyle/>
                    <a:p>
                      <a:pPr marL="0" marR="0" lvl="0" indent="0" algn="ctr" rtl="0">
                        <a:spcBef>
                          <a:spcPts val="0"/>
                        </a:spcBef>
                        <a:spcAft>
                          <a:spcPts val="0"/>
                        </a:spcAft>
                        <a:buClr>
                          <a:srgbClr val="FF0000"/>
                        </a:buClr>
                        <a:buSzPts val="1400"/>
                        <a:buFont typeface="Arial"/>
                        <a:buNone/>
                      </a:pPr>
                      <a:r>
                        <a:rPr lang="en-IN" sz="1300" b="1" i="0" u="sng" strike="noStrike" cap="none" dirty="0">
                          <a:solidFill>
                            <a:srgbClr val="FF0000"/>
                          </a:solidFill>
                          <a:latin typeface="Cambria"/>
                          <a:ea typeface="Cambria"/>
                          <a:cs typeface="Cambria"/>
                          <a:sym typeface="Cambria"/>
                          <a:hlinkClick r:id="rId3" action="ppaction://hlinksldjump">
                            <a:extLst>
                              <a:ext uri="{A12FA001-AC4F-418D-AE19-62706E023703}">
                                <ahyp:hlinkClr xmlns:ahyp="http://schemas.microsoft.com/office/drawing/2018/hyperlinkcolor" val="tx"/>
                              </a:ext>
                            </a:extLst>
                          </a:hlinkClick>
                        </a:rPr>
                        <a:t>Circle-I Jaipur III</a:t>
                      </a:r>
                      <a:endParaRPr sz="1300" b="1" i="0" u="none" strike="noStrike" cap="none" dirty="0">
                        <a:solidFill>
                          <a:srgbClr val="FF0000"/>
                        </a:solidFill>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33</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161.60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16</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9.36</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9</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0.78</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58</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171.75</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2"/>
                  </a:ext>
                </a:extLst>
              </a:tr>
              <a:tr h="239775">
                <a:tc>
                  <a:txBody>
                    <a:bodyPr/>
                    <a:lstStyle/>
                    <a:p>
                      <a:pPr marL="0" marR="0" lvl="0" indent="0" algn="ctr" rtl="0">
                        <a:spcBef>
                          <a:spcPts val="0"/>
                        </a:spcBef>
                        <a:spcAft>
                          <a:spcPts val="0"/>
                        </a:spcAft>
                        <a:buClr>
                          <a:srgbClr val="FF0000"/>
                        </a:buClr>
                        <a:buSzPts val="1400"/>
                        <a:buFont typeface="Arial"/>
                        <a:buNone/>
                      </a:pPr>
                      <a:r>
                        <a:rPr lang="en-IN" sz="1300" b="1" i="0" u="sng" strike="noStrike" cap="none" dirty="0">
                          <a:solidFill>
                            <a:srgbClr val="FF0000"/>
                          </a:solidFill>
                          <a:latin typeface="Cambria"/>
                          <a:ea typeface="Cambria"/>
                          <a:cs typeface="Cambria"/>
                          <a:sym typeface="Cambria"/>
                          <a:hlinkClick r:id="rId4" action="ppaction://hlinksldjump">
                            <a:extLst>
                              <a:ext uri="{A12FA001-AC4F-418D-AE19-62706E023703}">
                                <ahyp:hlinkClr xmlns:ahyp="http://schemas.microsoft.com/office/drawing/2018/hyperlinkcolor" val="tx"/>
                              </a:ext>
                            </a:extLst>
                          </a:hlinkClick>
                        </a:rPr>
                        <a:t>Circle-C Jaipur II</a:t>
                      </a:r>
                      <a:endParaRPr sz="1300" b="1" i="0" u="none" strike="noStrike" cap="none" dirty="0">
                        <a:solidFill>
                          <a:srgbClr val="FF0000"/>
                        </a:solidFill>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15</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84.22</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0.88</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6</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0.34</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23</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85.44</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3"/>
                  </a:ext>
                </a:extLst>
              </a:tr>
              <a:tr h="239775">
                <a:tc>
                  <a:txBody>
                    <a:bodyPr/>
                    <a:lstStyle/>
                    <a:p>
                      <a:pPr marL="0" marR="0" lvl="0" indent="0" algn="ctr" rtl="0">
                        <a:spcBef>
                          <a:spcPts val="0"/>
                        </a:spcBef>
                        <a:spcAft>
                          <a:spcPts val="0"/>
                        </a:spcAft>
                        <a:buClr>
                          <a:srgbClr val="FF0000"/>
                        </a:buClr>
                        <a:buSzPts val="1400"/>
                        <a:buFont typeface="Arial"/>
                        <a:buNone/>
                      </a:pPr>
                      <a:r>
                        <a:rPr lang="en-IN" sz="1300" b="1" i="0" u="sng" strike="noStrike" cap="none" dirty="0">
                          <a:solidFill>
                            <a:srgbClr val="FF0000"/>
                          </a:solidFill>
                          <a:latin typeface="Cambria"/>
                          <a:ea typeface="Cambria"/>
                          <a:cs typeface="Cambria"/>
                          <a:sym typeface="Cambria"/>
                          <a:hlinkClick r:id="rId5" action="ppaction://hlinksldjump">
                            <a:extLst>
                              <a:ext uri="{A12FA001-AC4F-418D-AE19-62706E023703}">
                                <ahyp:hlinkClr xmlns:ahyp="http://schemas.microsoft.com/office/drawing/2018/hyperlinkcolor" val="tx"/>
                              </a:ext>
                            </a:extLst>
                          </a:hlinkClick>
                        </a:rPr>
                        <a:t>Circle-F Jaipur II</a:t>
                      </a:r>
                      <a:endParaRPr sz="1300" b="1" i="0" u="none" strike="noStrike" cap="none" dirty="0">
                        <a:solidFill>
                          <a:srgbClr val="FF0000"/>
                        </a:solidFill>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3</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63.26</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0.00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36</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5.76</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39</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69.01</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4"/>
                  </a:ext>
                </a:extLst>
              </a:tr>
              <a:tr h="239775">
                <a:tc>
                  <a:txBody>
                    <a:bodyPr/>
                    <a:lstStyle/>
                    <a:p>
                      <a:pPr marL="0" marR="0" lvl="0" indent="0" algn="ctr" rtl="0">
                        <a:spcBef>
                          <a:spcPts val="0"/>
                        </a:spcBef>
                        <a:spcAft>
                          <a:spcPts val="0"/>
                        </a:spcAft>
                        <a:buClr>
                          <a:srgbClr val="FF0000"/>
                        </a:buClr>
                        <a:buSzPts val="1400"/>
                        <a:buFont typeface="Arial"/>
                        <a:buNone/>
                      </a:pPr>
                      <a:r>
                        <a:rPr lang="en-IN" sz="1300" b="1" i="0" u="sng" strike="noStrike" cap="none" dirty="0">
                          <a:solidFill>
                            <a:srgbClr val="FF0000"/>
                          </a:solidFill>
                          <a:latin typeface="Cambria"/>
                          <a:ea typeface="Cambria"/>
                          <a:cs typeface="Cambria"/>
                          <a:sym typeface="Cambria"/>
                          <a:hlinkClick r:id="rId6" action="ppaction://hlinksldjump">
                            <a:extLst>
                              <a:ext uri="{A12FA001-AC4F-418D-AE19-62706E023703}">
                                <ahyp:hlinkClr xmlns:ahyp="http://schemas.microsoft.com/office/drawing/2018/hyperlinkcolor" val="tx"/>
                              </a:ext>
                            </a:extLst>
                          </a:hlinkClick>
                        </a:rPr>
                        <a:t>Circle-N Jaipur III</a:t>
                      </a:r>
                      <a:endParaRPr sz="1300" b="1" i="0" u="none" strike="noStrike" cap="none" dirty="0">
                        <a:solidFill>
                          <a:srgbClr val="FF0000"/>
                        </a:solidFill>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15</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63.53</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1.71</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0.39</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27</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65.63</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5"/>
                  </a:ext>
                </a:extLst>
              </a:tr>
              <a:tr h="239775">
                <a:tc>
                  <a:txBody>
                    <a:bodyPr/>
                    <a:lstStyle/>
                    <a:p>
                      <a:pPr marL="0" marR="0" lvl="0" indent="0" algn="ctr" rtl="0">
                        <a:spcBef>
                          <a:spcPts val="0"/>
                        </a:spcBef>
                        <a:spcAft>
                          <a:spcPts val="0"/>
                        </a:spcAft>
                        <a:buClr>
                          <a:srgbClr val="FF0000"/>
                        </a:buClr>
                        <a:buSzPts val="1400"/>
                        <a:buFont typeface="Arial"/>
                        <a:buNone/>
                      </a:pPr>
                      <a:r>
                        <a:rPr lang="en-IN" sz="1300" b="1" i="0" u="sng" strike="noStrike" cap="none">
                          <a:solidFill>
                            <a:srgbClr val="FF0000"/>
                          </a:solidFill>
                          <a:latin typeface="Cambria"/>
                          <a:ea typeface="Cambria"/>
                          <a:cs typeface="Cambria"/>
                          <a:sym typeface="Cambria"/>
                          <a:hlinkClick r:id="rId7" action="ppaction://hlinksldjump">
                            <a:extLst>
                              <a:ext uri="{A12FA001-AC4F-418D-AE19-62706E023703}">
                                <ahyp:hlinkClr xmlns:ahyp="http://schemas.microsoft.com/office/drawing/2018/hyperlinkcolor" val="tx"/>
                              </a:ext>
                            </a:extLst>
                          </a:hlinkClick>
                        </a:rPr>
                        <a:t>Circle-A Bhiwadi</a:t>
                      </a:r>
                      <a:endParaRPr sz="1300" b="1" i="0" u="none" strike="noStrike" cap="none">
                        <a:solidFill>
                          <a:srgbClr val="FF0000"/>
                        </a:solidFill>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17</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50.59</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8</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1.76</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29</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4.29</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54</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56.64</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6"/>
                  </a:ext>
                </a:extLst>
              </a:tr>
              <a:tr h="239775">
                <a:tc>
                  <a:txBody>
                    <a:bodyPr/>
                    <a:lstStyle/>
                    <a:p>
                      <a:pPr marL="0" marR="0" lvl="0" indent="0" algn="ctr" rtl="0">
                        <a:spcBef>
                          <a:spcPts val="0"/>
                        </a:spcBef>
                        <a:spcAft>
                          <a:spcPts val="0"/>
                        </a:spcAft>
                        <a:buClr>
                          <a:srgbClr val="FF0000"/>
                        </a:buClr>
                        <a:buSzPts val="1400"/>
                        <a:buFont typeface="Arial"/>
                        <a:buNone/>
                      </a:pPr>
                      <a:r>
                        <a:rPr lang="en-IN" sz="1300" b="1" i="0" u="sng" strike="noStrike" cap="none" dirty="0">
                          <a:solidFill>
                            <a:srgbClr val="FF0000"/>
                          </a:solidFill>
                          <a:latin typeface="Cambria"/>
                          <a:ea typeface="Cambria"/>
                          <a:cs typeface="Cambria"/>
                          <a:sym typeface="Cambria"/>
                          <a:hlinkClick r:id="rId8" action="ppaction://hlinksldjump">
                            <a:extLst>
                              <a:ext uri="{A12FA001-AC4F-418D-AE19-62706E023703}">
                                <ahyp:hlinkClr xmlns:ahyp="http://schemas.microsoft.com/office/drawing/2018/hyperlinkcolor" val="tx"/>
                              </a:ext>
                            </a:extLst>
                          </a:hlinkClick>
                        </a:rPr>
                        <a:t>Circle-C Alwar</a:t>
                      </a:r>
                      <a:endParaRPr sz="1300" b="1" i="0" u="none" strike="noStrike" cap="none" dirty="0">
                        <a:solidFill>
                          <a:srgbClr val="FF0000"/>
                        </a:solidFill>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4</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37.68</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0.00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16</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0.54</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38.22</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7"/>
                  </a:ext>
                </a:extLst>
              </a:tr>
              <a:tr h="239775">
                <a:tc>
                  <a:txBody>
                    <a:bodyPr/>
                    <a:lstStyle/>
                    <a:p>
                      <a:pPr marL="0" marR="0" lvl="0" indent="0" algn="ctr" rtl="0">
                        <a:spcBef>
                          <a:spcPts val="0"/>
                        </a:spcBef>
                        <a:spcAft>
                          <a:spcPts val="0"/>
                        </a:spcAft>
                        <a:buClr>
                          <a:srgbClr val="FF0000"/>
                        </a:buClr>
                        <a:buSzPts val="1400"/>
                        <a:buFont typeface="Arial"/>
                        <a:buNone/>
                      </a:pPr>
                      <a:r>
                        <a:rPr lang="en-IN" sz="1300" b="1" i="0" u="sng" strike="noStrike" cap="none">
                          <a:solidFill>
                            <a:srgbClr val="FF0000"/>
                          </a:solidFill>
                          <a:latin typeface="Cambria"/>
                          <a:ea typeface="Cambria"/>
                          <a:cs typeface="Cambria"/>
                          <a:sym typeface="Cambria"/>
                          <a:hlinkClick r:id="rId9" action="ppaction://hlinksldjump">
                            <a:extLst>
                              <a:ext uri="{A12FA001-AC4F-418D-AE19-62706E023703}">
                                <ahyp:hlinkClr xmlns:ahyp="http://schemas.microsoft.com/office/drawing/2018/hyperlinkcolor" val="tx"/>
                              </a:ext>
                            </a:extLst>
                          </a:hlinkClick>
                        </a:rPr>
                        <a:t>Circle-D Kota</a:t>
                      </a:r>
                      <a:endParaRPr sz="1300" b="1" i="0" u="none" strike="noStrike" cap="none">
                        <a:solidFill>
                          <a:srgbClr val="FF0000"/>
                        </a:solidFill>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3</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34.22</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0.00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11</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0.33</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14</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34.55</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8"/>
                  </a:ext>
                </a:extLst>
              </a:tr>
              <a:tr h="239775">
                <a:tc>
                  <a:txBody>
                    <a:bodyPr/>
                    <a:lstStyle/>
                    <a:p>
                      <a:pPr marL="0" marR="0" lvl="0" indent="0" algn="ctr" rtl="0">
                        <a:spcBef>
                          <a:spcPts val="0"/>
                        </a:spcBef>
                        <a:spcAft>
                          <a:spcPts val="0"/>
                        </a:spcAft>
                        <a:buClr>
                          <a:srgbClr val="FF0000"/>
                        </a:buClr>
                        <a:buSzPts val="1400"/>
                        <a:buFont typeface="Arial"/>
                        <a:buNone/>
                      </a:pPr>
                      <a:r>
                        <a:rPr lang="en-IN" sz="1300" b="1" i="0" u="sng" strike="noStrike" cap="none" dirty="0">
                          <a:solidFill>
                            <a:srgbClr val="FF0000"/>
                          </a:solidFill>
                          <a:latin typeface="Cambria"/>
                          <a:ea typeface="Cambria"/>
                          <a:cs typeface="Cambria"/>
                          <a:sym typeface="Cambria"/>
                          <a:hlinkClick r:id="rId10" action="ppaction://hlinksldjump">
                            <a:extLst>
                              <a:ext uri="{A12FA001-AC4F-418D-AE19-62706E023703}">
                                <ahyp:hlinkClr xmlns:ahyp="http://schemas.microsoft.com/office/drawing/2018/hyperlinkcolor" val="tx"/>
                              </a:ext>
                            </a:extLst>
                          </a:hlinkClick>
                        </a:rPr>
                        <a:t>Circle-B Barmer Jodhpur II</a:t>
                      </a:r>
                      <a:endParaRPr sz="1300" b="1" i="0" u="none" strike="noStrike" cap="none" dirty="0">
                        <a:solidFill>
                          <a:srgbClr val="FF0000"/>
                        </a:solidFill>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31.66</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0.00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23</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0.98</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24</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32.64</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9"/>
                  </a:ext>
                </a:extLst>
              </a:tr>
              <a:tr h="239775">
                <a:tc>
                  <a:txBody>
                    <a:bodyPr/>
                    <a:lstStyle/>
                    <a:p>
                      <a:pPr marL="0" marR="0" lvl="0" indent="0" algn="ctr" rtl="0">
                        <a:spcBef>
                          <a:spcPts val="0"/>
                        </a:spcBef>
                        <a:spcAft>
                          <a:spcPts val="0"/>
                        </a:spcAft>
                        <a:buClr>
                          <a:srgbClr val="FF0000"/>
                        </a:buClr>
                        <a:buSzPts val="1400"/>
                        <a:buFont typeface="Arial"/>
                        <a:buNone/>
                      </a:pPr>
                      <a:r>
                        <a:rPr lang="en-IN" sz="1300" b="1" i="0" u="sng" strike="noStrike" cap="none">
                          <a:solidFill>
                            <a:srgbClr val="FF0000"/>
                          </a:solidFill>
                          <a:latin typeface="Cambria"/>
                          <a:ea typeface="Cambria"/>
                          <a:cs typeface="Cambria"/>
                          <a:sym typeface="Cambria"/>
                          <a:hlinkClick r:id="rId11" action="ppaction://hlinksldjump">
                            <a:extLst>
                              <a:ext uri="{A12FA001-AC4F-418D-AE19-62706E023703}">
                                <ahyp:hlinkClr xmlns:ahyp="http://schemas.microsoft.com/office/drawing/2018/hyperlinkcolor" val="tx"/>
                              </a:ext>
                            </a:extLst>
                          </a:hlinkClick>
                        </a:rPr>
                        <a:t>Circle-Jaisalmer Jodhpur I</a:t>
                      </a:r>
                      <a:endParaRPr sz="1300" b="1" i="0" u="none" strike="noStrike" cap="none">
                        <a:solidFill>
                          <a:srgbClr val="FF0000"/>
                        </a:solidFill>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7</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28.94</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1.99</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14</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0.27</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22</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31.19</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10"/>
                  </a:ext>
                </a:extLst>
              </a:tr>
              <a:tr h="239775">
                <a:tc>
                  <a:txBody>
                    <a:bodyPr/>
                    <a:lstStyle/>
                    <a:p>
                      <a:pPr marL="0" marR="0" lvl="0" indent="0" algn="ctr" rtl="0">
                        <a:spcBef>
                          <a:spcPts val="0"/>
                        </a:spcBef>
                        <a:spcAft>
                          <a:spcPts val="0"/>
                        </a:spcAft>
                        <a:buClr>
                          <a:srgbClr val="FF0000"/>
                        </a:buClr>
                        <a:buSzPts val="1400"/>
                        <a:buFont typeface="Arial"/>
                        <a:buNone/>
                      </a:pPr>
                      <a:r>
                        <a:rPr lang="en-IN" sz="1300" b="1" i="0" u="sng" strike="noStrike" cap="none" dirty="0">
                          <a:solidFill>
                            <a:srgbClr val="FF0000"/>
                          </a:solidFill>
                          <a:latin typeface="Cambria"/>
                          <a:ea typeface="Cambria"/>
                          <a:cs typeface="Cambria"/>
                          <a:sym typeface="Cambria"/>
                          <a:hlinkClick r:id="rId12" action="ppaction://hlinksldjump">
                            <a:extLst>
                              <a:ext uri="{A12FA001-AC4F-418D-AE19-62706E023703}">
                                <ahyp:hlinkClr xmlns:ahyp="http://schemas.microsoft.com/office/drawing/2018/hyperlinkcolor" val="tx"/>
                              </a:ext>
                            </a:extLst>
                          </a:hlinkClick>
                        </a:rPr>
                        <a:t>Circle-E Jaipur II</a:t>
                      </a:r>
                      <a:endParaRPr sz="1300" b="1" i="0" u="none" strike="noStrike" cap="none" dirty="0">
                        <a:solidFill>
                          <a:srgbClr val="FF0000"/>
                        </a:solidFill>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4</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29.79</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0.13</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8</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1.15</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13</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31.08</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11"/>
                  </a:ext>
                </a:extLst>
              </a:tr>
              <a:tr h="239775">
                <a:tc>
                  <a:txBody>
                    <a:bodyPr/>
                    <a:lstStyle/>
                    <a:p>
                      <a:pPr marL="0" marR="0" lvl="0" indent="0" algn="ctr" rtl="0">
                        <a:spcBef>
                          <a:spcPts val="0"/>
                        </a:spcBef>
                        <a:spcAft>
                          <a:spcPts val="0"/>
                        </a:spcAft>
                        <a:buClr>
                          <a:srgbClr val="FF0000"/>
                        </a:buClr>
                        <a:buSzPts val="1400"/>
                        <a:buFont typeface="Arial"/>
                        <a:buNone/>
                      </a:pPr>
                      <a:r>
                        <a:rPr lang="en-IN" sz="1300" b="1" i="0" u="sng" strike="noStrike" cap="none">
                          <a:solidFill>
                            <a:srgbClr val="FF0000"/>
                          </a:solidFill>
                          <a:latin typeface="Cambria"/>
                          <a:ea typeface="Cambria"/>
                          <a:cs typeface="Cambria"/>
                          <a:sym typeface="Cambria"/>
                          <a:hlinkClick r:id="rId13" action="ppaction://hlinksldjump">
                            <a:extLst>
                              <a:ext uri="{A12FA001-AC4F-418D-AE19-62706E023703}">
                                <ahyp:hlinkClr xmlns:ahyp="http://schemas.microsoft.com/office/drawing/2018/hyperlinkcolor" val="tx"/>
                              </a:ext>
                            </a:extLst>
                          </a:hlinkClick>
                        </a:rPr>
                        <a:t>Circle-H Jaipur III</a:t>
                      </a:r>
                      <a:endParaRPr sz="1300" b="1" i="0" u="none" strike="noStrike" cap="none">
                        <a:solidFill>
                          <a:srgbClr val="FF0000"/>
                        </a:solidFill>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3</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28.65</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4</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0.62</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7</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0.95</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14</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30.21</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12"/>
                  </a:ext>
                </a:extLst>
              </a:tr>
              <a:tr h="239775">
                <a:tc>
                  <a:txBody>
                    <a:bodyPr/>
                    <a:lstStyle/>
                    <a:p>
                      <a:pPr marL="0" marR="0" lvl="0" indent="0" algn="ctr" rtl="0">
                        <a:spcBef>
                          <a:spcPts val="0"/>
                        </a:spcBef>
                        <a:spcAft>
                          <a:spcPts val="0"/>
                        </a:spcAft>
                        <a:buClr>
                          <a:srgbClr val="FF0000"/>
                        </a:buClr>
                        <a:buSzPts val="1400"/>
                        <a:buFont typeface="Arial"/>
                        <a:buNone/>
                      </a:pPr>
                      <a:r>
                        <a:rPr lang="en-IN" sz="1300" b="1" i="0" u="sng" strike="noStrike" cap="none" dirty="0">
                          <a:solidFill>
                            <a:srgbClr val="FF0000"/>
                          </a:solidFill>
                          <a:latin typeface="Cambria"/>
                          <a:ea typeface="Cambria"/>
                          <a:cs typeface="Cambria"/>
                          <a:sym typeface="Cambria"/>
                          <a:hlinkClick r:id="rId14" action="ppaction://hlinksldjump">
                            <a:extLst>
                              <a:ext uri="{A12FA001-AC4F-418D-AE19-62706E023703}">
                                <ahyp:hlinkClr xmlns:ahyp="http://schemas.microsoft.com/office/drawing/2018/hyperlinkcolor" val="tx"/>
                              </a:ext>
                            </a:extLst>
                          </a:hlinkClick>
                        </a:rPr>
                        <a:t>Circle-J Jaipur II</a:t>
                      </a:r>
                      <a:endParaRPr sz="1300" b="1" i="0" u="none" strike="noStrike" cap="none" dirty="0">
                        <a:solidFill>
                          <a:srgbClr val="FF0000"/>
                        </a:solidFill>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5</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9.46</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18.73</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13</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0.53</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28.72</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13"/>
                  </a:ext>
                </a:extLst>
              </a:tr>
              <a:tr h="239775">
                <a:tc>
                  <a:txBody>
                    <a:bodyPr/>
                    <a:lstStyle/>
                    <a:p>
                      <a:pPr marL="0" marR="0" lvl="0" indent="0" algn="ctr" rtl="0">
                        <a:spcBef>
                          <a:spcPts val="0"/>
                        </a:spcBef>
                        <a:spcAft>
                          <a:spcPts val="0"/>
                        </a:spcAft>
                        <a:buClr>
                          <a:srgbClr val="FF0000"/>
                        </a:buClr>
                        <a:buSzPts val="1400"/>
                        <a:buFont typeface="Arial"/>
                        <a:buNone/>
                      </a:pPr>
                      <a:r>
                        <a:rPr lang="en-IN" sz="1300" b="1" i="0" u="sng" strike="noStrike" cap="none">
                          <a:solidFill>
                            <a:srgbClr val="FF0000"/>
                          </a:solidFill>
                          <a:latin typeface="Cambria"/>
                          <a:ea typeface="Cambria"/>
                          <a:cs typeface="Cambria"/>
                          <a:sym typeface="Cambria"/>
                          <a:hlinkClick r:id="rId15" action="ppaction://hlinksldjump">
                            <a:extLst>
                              <a:ext uri="{A12FA001-AC4F-418D-AE19-62706E023703}">
                                <ahyp:hlinkClr xmlns:ahyp="http://schemas.microsoft.com/office/drawing/2018/hyperlinkcolor" val="tx"/>
                              </a:ext>
                            </a:extLst>
                          </a:hlinkClick>
                        </a:rPr>
                        <a:t>Circle-E Jaipur III</a:t>
                      </a:r>
                      <a:endParaRPr sz="1300" b="1" i="0" u="none" strike="noStrike" cap="none">
                        <a:solidFill>
                          <a:srgbClr val="FF0000"/>
                        </a:solidFill>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4</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17.14</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0.08</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6.14</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26</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23.37</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14"/>
                  </a:ext>
                </a:extLst>
              </a:tr>
              <a:tr h="239775">
                <a:tc>
                  <a:txBody>
                    <a:bodyPr/>
                    <a:lstStyle/>
                    <a:p>
                      <a:pPr marL="0" marR="0" lvl="0" indent="0" algn="ctr" rtl="0">
                        <a:spcBef>
                          <a:spcPts val="0"/>
                        </a:spcBef>
                        <a:spcAft>
                          <a:spcPts val="0"/>
                        </a:spcAft>
                        <a:buClr>
                          <a:srgbClr val="FF0000"/>
                        </a:buClr>
                        <a:buSzPts val="1400"/>
                        <a:buFont typeface="Arial"/>
                        <a:buNone/>
                      </a:pPr>
                      <a:r>
                        <a:rPr lang="en-IN" sz="1300" b="1" i="0" u="sng" strike="noStrike" cap="none" dirty="0">
                          <a:solidFill>
                            <a:srgbClr val="FF0000"/>
                          </a:solidFill>
                          <a:latin typeface="Cambria"/>
                          <a:ea typeface="Cambria"/>
                          <a:cs typeface="Cambria"/>
                          <a:sym typeface="Cambria"/>
                          <a:hlinkClick r:id="rId16" action="ppaction://hlinksldjump">
                            <a:extLst>
                              <a:ext uri="{A12FA001-AC4F-418D-AE19-62706E023703}">
                                <ahyp:hlinkClr xmlns:ahyp="http://schemas.microsoft.com/office/drawing/2018/hyperlinkcolor" val="tx"/>
                              </a:ext>
                            </a:extLst>
                          </a:hlinkClick>
                        </a:rPr>
                        <a:t>Circle-G Jaipur III</a:t>
                      </a:r>
                      <a:endParaRPr sz="1300" b="1" i="0" u="none" strike="noStrike" cap="none" dirty="0">
                        <a:solidFill>
                          <a:srgbClr val="FF0000"/>
                        </a:solidFill>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15.76</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1.22</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38</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5.30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41</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22.28</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15"/>
                  </a:ext>
                </a:extLst>
              </a:tr>
              <a:tr h="239775">
                <a:tc>
                  <a:txBody>
                    <a:bodyPr/>
                    <a:lstStyle/>
                    <a:p>
                      <a:pPr marL="0" marR="0" lvl="0" indent="0" algn="ctr" rtl="0">
                        <a:spcBef>
                          <a:spcPts val="0"/>
                        </a:spcBef>
                        <a:spcAft>
                          <a:spcPts val="0"/>
                        </a:spcAft>
                        <a:buClr>
                          <a:srgbClr val="FF0000"/>
                        </a:buClr>
                        <a:buSzPts val="1400"/>
                        <a:buFont typeface="Arial"/>
                        <a:buNone/>
                      </a:pPr>
                      <a:r>
                        <a:rPr lang="en-IN" sz="1300" b="1" i="0" u="sng" strike="noStrike" cap="none" dirty="0">
                          <a:solidFill>
                            <a:srgbClr val="FF0000"/>
                          </a:solidFill>
                          <a:latin typeface="Cambria"/>
                          <a:ea typeface="Cambria"/>
                          <a:cs typeface="Cambria"/>
                          <a:sym typeface="Cambria"/>
                          <a:hlinkClick r:id="rId17" action="ppaction://hlinksldjump">
                            <a:extLst>
                              <a:ext uri="{A12FA001-AC4F-418D-AE19-62706E023703}">
                                <ahyp:hlinkClr xmlns:ahyp="http://schemas.microsoft.com/office/drawing/2018/hyperlinkcolor" val="tx"/>
                              </a:ext>
                            </a:extLst>
                          </a:hlinkClick>
                        </a:rPr>
                        <a:t>Circle-B Kota</a:t>
                      </a:r>
                      <a:endParaRPr sz="1300" b="1" i="0" u="none" strike="noStrike" cap="none" dirty="0">
                        <a:solidFill>
                          <a:srgbClr val="FF0000"/>
                        </a:solidFill>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4</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17.12</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0.00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23</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1.19</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27</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18.31</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16"/>
                  </a:ext>
                </a:extLst>
              </a:tr>
              <a:tr h="239775">
                <a:tc>
                  <a:txBody>
                    <a:bodyPr/>
                    <a:lstStyle/>
                    <a:p>
                      <a:pPr marL="0" marR="0" lvl="0" indent="0" algn="ctr" rtl="0">
                        <a:spcBef>
                          <a:spcPts val="0"/>
                        </a:spcBef>
                        <a:spcAft>
                          <a:spcPts val="0"/>
                        </a:spcAft>
                        <a:buClr>
                          <a:srgbClr val="FF0000"/>
                        </a:buClr>
                        <a:buSzPts val="1400"/>
                        <a:buFont typeface="Arial"/>
                        <a:buNone/>
                      </a:pPr>
                      <a:r>
                        <a:rPr lang="en-IN" sz="1300" b="1" i="0" u="sng" strike="noStrike" cap="none" dirty="0">
                          <a:solidFill>
                            <a:srgbClr val="FF0000"/>
                          </a:solidFill>
                          <a:latin typeface="Cambria"/>
                          <a:ea typeface="Cambria"/>
                          <a:cs typeface="Cambria"/>
                          <a:sym typeface="Cambria"/>
                          <a:hlinkClick r:id="rId18" action="ppaction://hlinksldjump">
                            <a:extLst>
                              <a:ext uri="{A12FA001-AC4F-418D-AE19-62706E023703}">
                                <ahyp:hlinkClr xmlns:ahyp="http://schemas.microsoft.com/office/drawing/2018/hyperlinkcolor" val="tx"/>
                              </a:ext>
                            </a:extLst>
                          </a:hlinkClick>
                        </a:rPr>
                        <a:t>Circle </a:t>
                      </a:r>
                      <a:r>
                        <a:rPr lang="en-IN" sz="1300" b="1" i="0" u="sng" strike="noStrike" cap="none" dirty="0" err="1">
                          <a:solidFill>
                            <a:srgbClr val="FF0000"/>
                          </a:solidFill>
                          <a:latin typeface="Cambria"/>
                          <a:ea typeface="Cambria"/>
                          <a:cs typeface="Cambria"/>
                          <a:sym typeface="Cambria"/>
                          <a:hlinkClick r:id="rId18" action="ppaction://hlinksldjump">
                            <a:extLst>
                              <a:ext uri="{A12FA001-AC4F-418D-AE19-62706E023703}">
                                <ahyp:hlinkClr xmlns:ahyp="http://schemas.microsoft.com/office/drawing/2018/hyperlinkcolor" val="tx"/>
                              </a:ext>
                            </a:extLst>
                          </a:hlinkClick>
                        </a:rPr>
                        <a:t>Nimbahera</a:t>
                      </a:r>
                      <a:endParaRPr sz="1300" b="1" i="0" u="none" strike="noStrike" cap="none" dirty="0">
                        <a:solidFill>
                          <a:srgbClr val="FF0000"/>
                        </a:solidFill>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16.32</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0.00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8</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0.32</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9</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16.64</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17"/>
                  </a:ext>
                </a:extLst>
              </a:tr>
              <a:tr h="239775">
                <a:tc>
                  <a:txBody>
                    <a:bodyPr/>
                    <a:lstStyle/>
                    <a:p>
                      <a:pPr marL="0" marR="0" lvl="0" indent="0" algn="ctr" rtl="0">
                        <a:spcBef>
                          <a:spcPts val="0"/>
                        </a:spcBef>
                        <a:spcAft>
                          <a:spcPts val="0"/>
                        </a:spcAft>
                        <a:buClr>
                          <a:srgbClr val="FF0000"/>
                        </a:buClr>
                        <a:buSzPts val="1400"/>
                        <a:buFont typeface="Arial"/>
                        <a:buNone/>
                      </a:pPr>
                      <a:r>
                        <a:rPr lang="en-IN" sz="1300" b="1" i="0" u="sng" strike="noStrike" cap="none" dirty="0">
                          <a:solidFill>
                            <a:srgbClr val="FF0000"/>
                          </a:solidFill>
                          <a:latin typeface="Cambria"/>
                          <a:ea typeface="Cambria"/>
                          <a:cs typeface="Cambria"/>
                          <a:sym typeface="Cambria"/>
                          <a:hlinkClick r:id="rId19" action="ppaction://hlinksldjump">
                            <a:extLst>
                              <a:ext uri="{A12FA001-AC4F-418D-AE19-62706E023703}">
                                <ahyp:hlinkClr xmlns:ahyp="http://schemas.microsoft.com/office/drawing/2018/hyperlinkcolor" val="tx"/>
                              </a:ext>
                            </a:extLst>
                          </a:hlinkClick>
                        </a:rPr>
                        <a:t>Circle-J Jaipur I</a:t>
                      </a:r>
                      <a:endParaRPr sz="1300" b="1" i="0" u="none" strike="noStrike" cap="none" dirty="0">
                        <a:solidFill>
                          <a:srgbClr val="FF0000"/>
                        </a:solidFill>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6</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13.91</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0.14</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30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1.75</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37</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15.80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18"/>
                  </a:ext>
                </a:extLst>
              </a:tr>
              <a:tr h="239775">
                <a:tc>
                  <a:txBody>
                    <a:bodyPr/>
                    <a:lstStyle/>
                    <a:p>
                      <a:pPr marL="0" marR="0" lvl="0" indent="0" algn="ctr" rtl="0">
                        <a:spcBef>
                          <a:spcPts val="0"/>
                        </a:spcBef>
                        <a:spcAft>
                          <a:spcPts val="0"/>
                        </a:spcAft>
                        <a:buClr>
                          <a:srgbClr val="FF0000"/>
                        </a:buClr>
                        <a:buSzPts val="1400"/>
                        <a:buFont typeface="Arial"/>
                        <a:buNone/>
                      </a:pPr>
                      <a:r>
                        <a:rPr lang="en-IN" sz="1300" b="1" i="0" u="sng" strike="noStrike" cap="none" dirty="0">
                          <a:solidFill>
                            <a:srgbClr val="FF0000"/>
                          </a:solidFill>
                          <a:latin typeface="Cambria"/>
                          <a:ea typeface="Cambria"/>
                          <a:cs typeface="Cambria"/>
                          <a:sym typeface="Cambria"/>
                          <a:hlinkClick r:id="rId20" action="ppaction://hlinksldjump">
                            <a:extLst>
                              <a:ext uri="{A12FA001-AC4F-418D-AE19-62706E023703}">
                                <ahyp:hlinkClr xmlns:ahyp="http://schemas.microsoft.com/office/drawing/2018/hyperlinkcolor" val="tx"/>
                              </a:ext>
                            </a:extLst>
                          </a:hlinkClick>
                        </a:rPr>
                        <a:t>Circle-B </a:t>
                      </a:r>
                      <a:r>
                        <a:rPr lang="en-IN" sz="1300" b="1" i="0" u="sng" strike="noStrike" cap="none" dirty="0" err="1">
                          <a:solidFill>
                            <a:srgbClr val="FF0000"/>
                          </a:solidFill>
                          <a:latin typeface="Cambria"/>
                          <a:ea typeface="Cambria"/>
                          <a:cs typeface="Cambria"/>
                          <a:sym typeface="Cambria"/>
                          <a:hlinkClick r:id="rId20" action="ppaction://hlinksldjump">
                            <a:extLst>
                              <a:ext uri="{A12FA001-AC4F-418D-AE19-62706E023703}">
                                <ahyp:hlinkClr xmlns:ahyp="http://schemas.microsoft.com/office/drawing/2018/hyperlinkcolor" val="tx"/>
                              </a:ext>
                            </a:extLst>
                          </a:hlinkClick>
                        </a:rPr>
                        <a:t>Rajsamand</a:t>
                      </a:r>
                      <a:endParaRPr sz="1300" b="1" i="0" u="none" strike="noStrike" cap="none" dirty="0">
                        <a:solidFill>
                          <a:srgbClr val="FF0000"/>
                        </a:solidFill>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15.37</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0.00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11</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0.40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12</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15.77</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19"/>
                  </a:ext>
                </a:extLst>
              </a:tr>
              <a:tr h="239775">
                <a:tc>
                  <a:txBody>
                    <a:bodyPr/>
                    <a:lstStyle/>
                    <a:p>
                      <a:pPr marL="0" marR="0" lvl="0" indent="0" algn="ctr" rtl="0">
                        <a:spcBef>
                          <a:spcPts val="0"/>
                        </a:spcBef>
                        <a:spcAft>
                          <a:spcPts val="0"/>
                        </a:spcAft>
                        <a:buClr>
                          <a:srgbClr val="FF0000"/>
                        </a:buClr>
                        <a:buSzPts val="1400"/>
                        <a:buFont typeface="Arial"/>
                        <a:buNone/>
                      </a:pPr>
                      <a:r>
                        <a:rPr lang="en-IN" sz="1300" b="1" i="0" u="sng" strike="noStrike" cap="none" dirty="0">
                          <a:solidFill>
                            <a:srgbClr val="FF0000"/>
                          </a:solidFill>
                          <a:latin typeface="Cambria"/>
                          <a:ea typeface="Cambria"/>
                          <a:cs typeface="Cambria"/>
                          <a:sym typeface="Cambria"/>
                          <a:hlinkClick r:id="rId21" action="ppaction://hlinksldjump">
                            <a:extLst>
                              <a:ext uri="{A12FA001-AC4F-418D-AE19-62706E023703}">
                                <ahyp:hlinkClr xmlns:ahyp="http://schemas.microsoft.com/office/drawing/2018/hyperlinkcolor" val="tx"/>
                              </a:ext>
                            </a:extLst>
                          </a:hlinkClick>
                        </a:rPr>
                        <a:t>Circle-</a:t>
                      </a:r>
                      <a:r>
                        <a:rPr lang="en-IN" sz="1300" b="1" i="0" u="sng" strike="noStrike" cap="none" dirty="0" err="1">
                          <a:solidFill>
                            <a:srgbClr val="FF0000"/>
                          </a:solidFill>
                          <a:latin typeface="Cambria"/>
                          <a:ea typeface="Cambria"/>
                          <a:cs typeface="Cambria"/>
                          <a:sym typeface="Cambria"/>
                          <a:hlinkClick r:id="rId21" action="ppaction://hlinksldjump">
                            <a:extLst>
                              <a:ext uri="{A12FA001-AC4F-418D-AE19-62706E023703}">
                                <ahyp:hlinkClr xmlns:ahyp="http://schemas.microsoft.com/office/drawing/2018/hyperlinkcolor" val="tx"/>
                              </a:ext>
                            </a:extLst>
                          </a:hlinkClick>
                        </a:rPr>
                        <a:t>Balotara</a:t>
                      </a:r>
                      <a:r>
                        <a:rPr lang="en-IN" sz="1300" b="1" i="0" u="sng" strike="noStrike" cap="none" dirty="0">
                          <a:solidFill>
                            <a:srgbClr val="FF0000"/>
                          </a:solidFill>
                          <a:latin typeface="Cambria"/>
                          <a:ea typeface="Cambria"/>
                          <a:cs typeface="Cambria"/>
                          <a:sym typeface="Cambria"/>
                          <a:hlinkClick r:id="rId21" action="ppaction://hlinksldjump">
                            <a:extLst>
                              <a:ext uri="{A12FA001-AC4F-418D-AE19-62706E023703}">
                                <ahyp:hlinkClr xmlns:ahyp="http://schemas.microsoft.com/office/drawing/2018/hyperlinkcolor" val="tx"/>
                              </a:ext>
                            </a:extLst>
                          </a:hlinkClick>
                        </a:rPr>
                        <a:t> Jodhpur II</a:t>
                      </a:r>
                      <a:endParaRPr sz="1300" b="1" i="0" u="none" strike="noStrike" cap="none" dirty="0">
                        <a:solidFill>
                          <a:srgbClr val="FF0000"/>
                        </a:solidFill>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9.88</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0.41</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25</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4.56</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27</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14.85</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20"/>
                  </a:ext>
                </a:extLst>
              </a:tr>
              <a:tr h="210550">
                <a:tc>
                  <a:txBody>
                    <a:bodyPr/>
                    <a:lstStyle/>
                    <a:p>
                      <a:pPr marL="0" marR="0" lvl="0" indent="0" algn="ctr" rtl="0">
                        <a:spcBef>
                          <a:spcPts val="0"/>
                        </a:spcBef>
                        <a:spcAft>
                          <a:spcPts val="0"/>
                        </a:spcAft>
                        <a:buClr>
                          <a:srgbClr val="FF0000"/>
                        </a:buClr>
                        <a:buSzPts val="1400"/>
                        <a:buFont typeface="Arial"/>
                        <a:buNone/>
                      </a:pPr>
                      <a:r>
                        <a:rPr lang="en-IN" sz="1300" b="1" i="0" u="sng" strike="noStrike" cap="none" dirty="0">
                          <a:solidFill>
                            <a:srgbClr val="FF0000"/>
                          </a:solidFill>
                          <a:latin typeface="Cambria"/>
                          <a:ea typeface="Cambria"/>
                          <a:cs typeface="Cambria"/>
                          <a:sym typeface="Cambria"/>
                          <a:hlinkClick r:id="rId22" action="ppaction://hlinksldjump">
                            <a:extLst>
                              <a:ext uri="{A12FA001-AC4F-418D-AE19-62706E023703}">
                                <ahyp:hlinkClr xmlns:ahyp="http://schemas.microsoft.com/office/drawing/2018/hyperlinkcolor" val="tx"/>
                              </a:ext>
                            </a:extLst>
                          </a:hlinkClick>
                        </a:rPr>
                        <a:t>Circle-A </a:t>
                      </a:r>
                      <a:r>
                        <a:rPr lang="en-IN" sz="1300" b="1" i="0" u="sng" strike="noStrike" cap="none" dirty="0" err="1">
                          <a:solidFill>
                            <a:srgbClr val="FF0000"/>
                          </a:solidFill>
                          <a:latin typeface="Cambria"/>
                          <a:ea typeface="Cambria"/>
                          <a:cs typeface="Cambria"/>
                          <a:sym typeface="Cambria"/>
                          <a:hlinkClick r:id="rId22" action="ppaction://hlinksldjump">
                            <a:extLst>
                              <a:ext uri="{A12FA001-AC4F-418D-AE19-62706E023703}">
                                <ahyp:hlinkClr xmlns:ahyp="http://schemas.microsoft.com/office/drawing/2018/hyperlinkcolor" val="tx"/>
                              </a:ext>
                            </a:extLst>
                          </a:hlinkClick>
                        </a:rPr>
                        <a:t>Beawar</a:t>
                      </a:r>
                      <a:endParaRPr sz="1300" b="1" i="0" u="none" strike="noStrike" cap="none" dirty="0">
                        <a:solidFill>
                          <a:srgbClr val="FF0000"/>
                        </a:solidFill>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400"/>
                        <a:buFont typeface="Arial"/>
                        <a:buNone/>
                      </a:pPr>
                      <a:r>
                        <a:rPr lang="en-IN" sz="1400" i="0" u="none" strike="noStrike" cap="none">
                          <a:solidFill>
                            <a:srgbClr val="000000"/>
                          </a:solidFill>
                          <a:latin typeface="Cambria"/>
                          <a:ea typeface="Cambria"/>
                          <a:cs typeface="Cambria"/>
                          <a:sym typeface="Cambria"/>
                        </a:rPr>
                        <a:t>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400"/>
                        <a:buFont typeface="Arial"/>
                        <a:buNone/>
                      </a:pPr>
                      <a:r>
                        <a:rPr lang="en-IN" sz="1400" i="0" u="none" strike="noStrike" cap="none">
                          <a:solidFill>
                            <a:srgbClr val="000000"/>
                          </a:solidFill>
                          <a:latin typeface="Cambria"/>
                          <a:ea typeface="Cambria"/>
                          <a:cs typeface="Cambria"/>
                          <a:sym typeface="Cambria"/>
                        </a:rPr>
                        <a:t>0.00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400"/>
                        <a:buFont typeface="Arial"/>
                        <a:buNone/>
                      </a:pPr>
                      <a:r>
                        <a:rPr lang="en-IN" sz="1400" i="0" u="none" strike="noStrike" cap="none">
                          <a:solidFill>
                            <a:srgbClr val="000000"/>
                          </a:solidFill>
                          <a:latin typeface="Cambria"/>
                          <a:ea typeface="Cambria"/>
                          <a:cs typeface="Cambria"/>
                          <a:sym typeface="Cambria"/>
                        </a:rPr>
                        <a:t>1</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400"/>
                        <a:buFont typeface="Arial"/>
                        <a:buNone/>
                      </a:pPr>
                      <a:r>
                        <a:rPr lang="en-IN" sz="1400" i="0" u="none" strike="noStrike" cap="none">
                          <a:solidFill>
                            <a:srgbClr val="000000"/>
                          </a:solidFill>
                          <a:latin typeface="Cambria"/>
                          <a:ea typeface="Cambria"/>
                          <a:cs typeface="Cambria"/>
                          <a:sym typeface="Cambria"/>
                        </a:rPr>
                        <a:t>14.56</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400"/>
                        <a:buFont typeface="Arial"/>
                        <a:buNone/>
                      </a:pPr>
                      <a:r>
                        <a:rPr lang="en-IN" sz="1400" i="0" u="none" strike="noStrike" cap="none">
                          <a:solidFill>
                            <a:srgbClr val="000000"/>
                          </a:solidFill>
                          <a:latin typeface="Cambria"/>
                          <a:ea typeface="Cambria"/>
                          <a:cs typeface="Cambria"/>
                          <a:sym typeface="Cambria"/>
                        </a:rPr>
                        <a:t>8</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400"/>
                        <a:buFont typeface="Arial"/>
                        <a:buNone/>
                      </a:pPr>
                      <a:r>
                        <a:rPr lang="en-IN" sz="1400" i="0" u="none" strike="noStrike" cap="none">
                          <a:solidFill>
                            <a:srgbClr val="000000"/>
                          </a:solidFill>
                          <a:latin typeface="Cambria"/>
                          <a:ea typeface="Cambria"/>
                          <a:cs typeface="Cambria"/>
                          <a:sym typeface="Cambria"/>
                        </a:rPr>
                        <a:t>0.21</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400"/>
                        <a:buFont typeface="Arial"/>
                        <a:buNone/>
                      </a:pPr>
                      <a:r>
                        <a:rPr lang="en-IN" sz="1400" i="0" u="none" strike="noStrike" cap="none">
                          <a:solidFill>
                            <a:srgbClr val="000000"/>
                          </a:solidFill>
                          <a:latin typeface="Cambria"/>
                          <a:ea typeface="Cambria"/>
                          <a:cs typeface="Cambria"/>
                          <a:sym typeface="Cambria"/>
                        </a:rPr>
                        <a:t>9</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400"/>
                        <a:buFont typeface="Arial"/>
                        <a:buNone/>
                      </a:pPr>
                      <a:r>
                        <a:rPr lang="en-IN" sz="1400" i="0" u="none" strike="noStrike" cap="none">
                          <a:solidFill>
                            <a:srgbClr val="000000"/>
                          </a:solidFill>
                          <a:latin typeface="Cambria"/>
                          <a:ea typeface="Cambria"/>
                          <a:cs typeface="Cambria"/>
                          <a:sym typeface="Cambria"/>
                        </a:rPr>
                        <a:t>14.77</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21"/>
                  </a:ext>
                </a:extLst>
              </a:tr>
              <a:tr h="269025">
                <a:tc>
                  <a:txBody>
                    <a:bodyPr/>
                    <a:lstStyle/>
                    <a:p>
                      <a:pPr marL="0" marR="0" lvl="0" indent="0" algn="ctr" rtl="0">
                        <a:spcBef>
                          <a:spcPts val="0"/>
                        </a:spcBef>
                        <a:spcAft>
                          <a:spcPts val="0"/>
                        </a:spcAft>
                        <a:buClr>
                          <a:srgbClr val="FFFFFF"/>
                        </a:buClr>
                        <a:buSzPts val="1800"/>
                        <a:buFont typeface="Arial"/>
                        <a:buNone/>
                      </a:pPr>
                      <a:r>
                        <a:rPr lang="en-IN" sz="1700" b="1" i="0" u="none" strike="noStrike" cap="none">
                          <a:solidFill>
                            <a:srgbClr val="FFFFFF"/>
                          </a:solidFill>
                          <a:latin typeface="Cambria"/>
                          <a:ea typeface="Cambria"/>
                          <a:cs typeface="Cambria"/>
                          <a:sym typeface="Cambria"/>
                        </a:rPr>
                        <a:t>Grand Total</a:t>
                      </a:r>
                      <a:endParaRPr sz="1300">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128</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729.09</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43</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51.60</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345</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36.18</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516</a:t>
                      </a:r>
                      <a:endParaRPr>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dirty="0">
                          <a:solidFill>
                            <a:srgbClr val="FFFFFF"/>
                          </a:solidFill>
                          <a:latin typeface="Cambria"/>
                          <a:ea typeface="Cambria"/>
                          <a:cs typeface="Cambria"/>
                          <a:sym typeface="Cambria"/>
                        </a:rPr>
                        <a:t>816.87</a:t>
                      </a:r>
                      <a:endParaRPr dirty="0">
                        <a:latin typeface="Cambria"/>
                        <a:ea typeface="Cambria"/>
                        <a:cs typeface="Cambria"/>
                        <a:sym typeface="Cambria"/>
                      </a:endParaRPr>
                    </a:p>
                  </a:txBody>
                  <a:tcPr marL="6150" marR="6150" marT="6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2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47"/>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Top 10 Circle with highest potential amount - SGST</a:t>
            </a:r>
            <a:endParaRPr/>
          </a:p>
        </p:txBody>
      </p:sp>
      <p:sp>
        <p:nvSpPr>
          <p:cNvPr id="427" name="Google Shape;427;p47"/>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428" name="Google Shape;428;p47"/>
          <p:cNvGraphicFramePr/>
          <p:nvPr/>
        </p:nvGraphicFramePr>
        <p:xfrm>
          <a:off x="466338" y="749147"/>
          <a:ext cx="11398825" cy="6304075"/>
        </p:xfrm>
        <a:graphic>
          <a:graphicData uri="http://schemas.openxmlformats.org/drawingml/2006/table">
            <a:tbl>
              <a:tblPr>
                <a:noFill/>
                <a:tableStyleId>{ED13AFB8-4CE9-44F5-8004-2B2D446919A9}</a:tableStyleId>
              </a:tblPr>
              <a:tblGrid>
                <a:gridCol w="2542950">
                  <a:extLst>
                    <a:ext uri="{9D8B030D-6E8A-4147-A177-3AD203B41FA5}">
                      <a16:colId xmlns:a16="http://schemas.microsoft.com/office/drawing/2014/main" val="20000"/>
                    </a:ext>
                  </a:extLst>
                </a:gridCol>
                <a:gridCol w="1671250">
                  <a:extLst>
                    <a:ext uri="{9D8B030D-6E8A-4147-A177-3AD203B41FA5}">
                      <a16:colId xmlns:a16="http://schemas.microsoft.com/office/drawing/2014/main" val="20001"/>
                    </a:ext>
                  </a:extLst>
                </a:gridCol>
                <a:gridCol w="2114900">
                  <a:extLst>
                    <a:ext uri="{9D8B030D-6E8A-4147-A177-3AD203B41FA5}">
                      <a16:colId xmlns:a16="http://schemas.microsoft.com/office/drawing/2014/main" val="20002"/>
                    </a:ext>
                  </a:extLst>
                </a:gridCol>
                <a:gridCol w="1075025">
                  <a:extLst>
                    <a:ext uri="{9D8B030D-6E8A-4147-A177-3AD203B41FA5}">
                      <a16:colId xmlns:a16="http://schemas.microsoft.com/office/drawing/2014/main" val="20003"/>
                    </a:ext>
                  </a:extLst>
                </a:gridCol>
                <a:gridCol w="1887500">
                  <a:extLst>
                    <a:ext uri="{9D8B030D-6E8A-4147-A177-3AD203B41FA5}">
                      <a16:colId xmlns:a16="http://schemas.microsoft.com/office/drawing/2014/main" val="20004"/>
                    </a:ext>
                  </a:extLst>
                </a:gridCol>
                <a:gridCol w="658575">
                  <a:extLst>
                    <a:ext uri="{9D8B030D-6E8A-4147-A177-3AD203B41FA5}">
                      <a16:colId xmlns:a16="http://schemas.microsoft.com/office/drawing/2014/main" val="20005"/>
                    </a:ext>
                  </a:extLst>
                </a:gridCol>
                <a:gridCol w="1448625">
                  <a:extLst>
                    <a:ext uri="{9D8B030D-6E8A-4147-A177-3AD203B41FA5}">
                      <a16:colId xmlns:a16="http://schemas.microsoft.com/office/drawing/2014/main" val="20006"/>
                    </a:ext>
                  </a:extLst>
                </a:gridCol>
              </a:tblGrid>
              <a:tr h="698750">
                <a:tc rowSpan="2">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Circle</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gridSpan="2">
                  <a:txBody>
                    <a:bodyPr/>
                    <a:lstStyle/>
                    <a:p>
                      <a:pPr marL="0" marR="0" lvl="0" indent="0" algn="ctr" rtl="0">
                        <a:spcBef>
                          <a:spcPts val="0"/>
                        </a:spcBef>
                        <a:spcAft>
                          <a:spcPts val="0"/>
                        </a:spcAft>
                        <a:buClr>
                          <a:srgbClr val="000000"/>
                        </a:buClr>
                        <a:buSzPts val="1400"/>
                        <a:buFont typeface="Arial"/>
                        <a:buNone/>
                      </a:pPr>
                      <a:r>
                        <a:rPr lang="en-IN" b="1">
                          <a:latin typeface="Cambria"/>
                          <a:ea typeface="Cambria"/>
                          <a:cs typeface="Cambria"/>
                          <a:sym typeface="Cambria"/>
                        </a:rPr>
                        <a:t>S-10 - RCM Invoice sgst cash</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hMerge="1">
                  <a:txBody>
                    <a:bodyPr/>
                    <a:lstStyle/>
                    <a:p>
                      <a:endParaRPr lang="en-US"/>
                    </a:p>
                  </a:txBody>
                  <a:tcPr/>
                </a:tc>
                <a:tc gridSpan="2">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Cambria"/>
                          <a:ea typeface="Cambria"/>
                          <a:cs typeface="Cambria"/>
                          <a:sym typeface="Cambria"/>
                        </a:rPr>
                        <a:t>S-11 TDS deduction of Cancelled Taxpayers</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hMerge="1">
                  <a:txBody>
                    <a:bodyPr/>
                    <a:lstStyle/>
                    <a:p>
                      <a:endParaRPr lang="en-US"/>
                    </a:p>
                  </a:txBody>
                  <a:tcPr/>
                </a:tc>
                <a:tc gridSpan="2">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Cambria"/>
                          <a:ea typeface="Cambria"/>
                          <a:cs typeface="Cambria"/>
                          <a:sym typeface="Cambria"/>
                        </a:rPr>
                        <a:t>SGST Total</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hMerge="1">
                  <a:txBody>
                    <a:bodyPr/>
                    <a:lstStyle/>
                    <a:p>
                      <a:endParaRPr lang="en-US"/>
                    </a:p>
                  </a:txBody>
                  <a:tcPr/>
                </a:tc>
                <a:extLst>
                  <a:ext uri="{0D108BD9-81ED-4DB2-BD59-A6C34878D82A}">
                    <a16:rowId xmlns:a16="http://schemas.microsoft.com/office/drawing/2014/main" val="10000"/>
                  </a:ext>
                </a:extLst>
              </a:tr>
              <a:tr h="232925">
                <a:tc vMerge="1">
                  <a:txBody>
                    <a:bodyPr/>
                    <a:lstStyle/>
                    <a:p>
                      <a:endParaRPr lang="en-US"/>
                    </a:p>
                  </a:txBody>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GSTIN</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Amount</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GSTIN</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Amount</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GSTIN</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Amount</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1"/>
                  </a:ext>
                </a:extLst>
              </a:tr>
              <a:tr h="432100">
                <a:tc>
                  <a:txBody>
                    <a:bodyPr/>
                    <a:lstStyle/>
                    <a:p>
                      <a:pPr marL="0" marR="0" lvl="0" indent="0" algn="ctr" rtl="0">
                        <a:spcBef>
                          <a:spcPts val="0"/>
                        </a:spcBef>
                        <a:spcAft>
                          <a:spcPts val="0"/>
                        </a:spcAft>
                        <a:buClr>
                          <a:srgbClr val="FF0000"/>
                        </a:buClr>
                        <a:buSzPts val="1600"/>
                        <a:buFont typeface="Arial"/>
                        <a:buNone/>
                      </a:pPr>
                      <a:r>
                        <a:rPr lang="en-IN" sz="1600" b="1" i="0" u="sng" strike="noStrike" cap="none">
                          <a:solidFill>
                            <a:srgbClr val="FF0000"/>
                          </a:solidFill>
                          <a:latin typeface="Cambria"/>
                          <a:ea typeface="Cambria"/>
                          <a:cs typeface="Cambria"/>
                          <a:sym typeface="Cambria"/>
                          <a:hlinkClick r:id="rId3" action="ppaction://hlinksldjump">
                            <a:extLst>
                              <a:ext uri="{A12FA001-AC4F-418D-AE19-62706E023703}">
                                <ahyp:hlinkClr xmlns:ahyp="http://schemas.microsoft.com/office/drawing/2018/hyperlinkcolor" val="tx"/>
                              </a:ext>
                            </a:extLst>
                          </a:hlinkClick>
                        </a:rPr>
                        <a:t>Circle-Jaisalmer Jodhpur I</a:t>
                      </a:r>
                      <a:endParaRPr sz="1600" b="1" i="0" u="none" strike="noStrike" cap="none">
                        <a:solidFill>
                          <a:srgbClr val="FF0000"/>
                        </a:solidFill>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6</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0.32</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262</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20.37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268</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                      20.69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2"/>
                  </a:ext>
                </a:extLst>
              </a:tr>
              <a:tr h="432100">
                <a:tc>
                  <a:txBody>
                    <a:bodyPr/>
                    <a:lstStyle/>
                    <a:p>
                      <a:pPr marL="0" marR="0" lvl="0" indent="0" algn="ctr" rtl="0">
                        <a:spcBef>
                          <a:spcPts val="0"/>
                        </a:spcBef>
                        <a:spcAft>
                          <a:spcPts val="0"/>
                        </a:spcAft>
                        <a:buClr>
                          <a:srgbClr val="FF0000"/>
                        </a:buClr>
                        <a:buSzPts val="1600"/>
                        <a:buFont typeface="Arial"/>
                        <a:buNone/>
                      </a:pPr>
                      <a:r>
                        <a:rPr lang="en-IN" sz="1600" b="1" i="0" u="sng" strike="noStrike" cap="none">
                          <a:solidFill>
                            <a:srgbClr val="FF0000"/>
                          </a:solidFill>
                          <a:latin typeface="Cambria"/>
                          <a:ea typeface="Cambria"/>
                          <a:cs typeface="Cambria"/>
                          <a:sym typeface="Cambria"/>
                          <a:hlinkClick r:id="rId4" action="ppaction://hlinksldjump">
                            <a:extLst>
                              <a:ext uri="{A12FA001-AC4F-418D-AE19-62706E023703}">
                                <ahyp:hlinkClr xmlns:ahyp="http://schemas.microsoft.com/office/drawing/2018/hyperlinkcolor" val="tx"/>
                              </a:ext>
                            </a:extLst>
                          </a:hlinkClick>
                        </a:rPr>
                        <a:t>Circle-F Bikaner</a:t>
                      </a:r>
                      <a:endParaRPr sz="1600" b="1" i="0" u="none" strike="noStrike" cap="none">
                        <a:solidFill>
                          <a:srgbClr val="FF0000"/>
                        </a:solidFill>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47</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8.40</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95</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6.59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142</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                      15.00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3"/>
                  </a:ext>
                </a:extLst>
              </a:tr>
              <a:tr h="432100">
                <a:tc>
                  <a:txBody>
                    <a:bodyPr/>
                    <a:lstStyle/>
                    <a:p>
                      <a:pPr marL="0" marR="0" lvl="0" indent="0" algn="ctr" rtl="0">
                        <a:spcBef>
                          <a:spcPts val="0"/>
                        </a:spcBef>
                        <a:spcAft>
                          <a:spcPts val="0"/>
                        </a:spcAft>
                        <a:buClr>
                          <a:srgbClr val="FF0000"/>
                        </a:buClr>
                        <a:buSzPts val="1600"/>
                        <a:buFont typeface="Arial"/>
                        <a:buNone/>
                      </a:pPr>
                      <a:r>
                        <a:rPr lang="en-IN" sz="1600" b="1" i="0" u="sng" strike="noStrike" cap="none">
                          <a:solidFill>
                            <a:srgbClr val="FF0000"/>
                          </a:solidFill>
                          <a:latin typeface="Cambria"/>
                          <a:ea typeface="Cambria"/>
                          <a:cs typeface="Cambria"/>
                          <a:sym typeface="Cambria"/>
                          <a:hlinkClick r:id="rId5" action="ppaction://hlinksldjump">
                            <a:extLst>
                              <a:ext uri="{A12FA001-AC4F-418D-AE19-62706E023703}">
                                <ahyp:hlinkClr xmlns:ahyp="http://schemas.microsoft.com/office/drawing/2018/hyperlinkcolor" val="tx"/>
                              </a:ext>
                            </a:extLst>
                          </a:hlinkClick>
                        </a:rPr>
                        <a:t>Circle-Nagaur</a:t>
                      </a:r>
                      <a:endParaRPr sz="1600" b="1" i="0" u="none" strike="noStrike" cap="none">
                        <a:solidFill>
                          <a:srgbClr val="FF0000"/>
                        </a:solidFill>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12</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2.23</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165</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8.32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177</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                      10.55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4"/>
                  </a:ext>
                </a:extLst>
              </a:tr>
              <a:tr h="432100">
                <a:tc>
                  <a:txBody>
                    <a:bodyPr/>
                    <a:lstStyle/>
                    <a:p>
                      <a:pPr marL="0" marR="0" lvl="0" indent="0" algn="ctr" rtl="0">
                        <a:spcBef>
                          <a:spcPts val="0"/>
                        </a:spcBef>
                        <a:spcAft>
                          <a:spcPts val="0"/>
                        </a:spcAft>
                        <a:buClr>
                          <a:srgbClr val="FF0000"/>
                        </a:buClr>
                        <a:buSzPts val="1600"/>
                        <a:buFont typeface="Arial"/>
                        <a:buNone/>
                      </a:pPr>
                      <a:r>
                        <a:rPr lang="en-IN" sz="1600" b="1" i="0" u="sng" strike="noStrike" cap="none">
                          <a:solidFill>
                            <a:srgbClr val="FF0000"/>
                          </a:solidFill>
                          <a:latin typeface="Cambria"/>
                          <a:ea typeface="Cambria"/>
                          <a:cs typeface="Cambria"/>
                          <a:sym typeface="Cambria"/>
                          <a:hlinkClick r:id="rId6" action="ppaction://hlinksldjump">
                            <a:extLst>
                              <a:ext uri="{A12FA001-AC4F-418D-AE19-62706E023703}">
                                <ahyp:hlinkClr xmlns:ahyp="http://schemas.microsoft.com/office/drawing/2018/hyperlinkcolor" val="tx"/>
                              </a:ext>
                            </a:extLst>
                          </a:hlinkClick>
                        </a:rPr>
                        <a:t>Circle-Jhalawar</a:t>
                      </a:r>
                      <a:endParaRPr sz="1600" b="1" i="0" u="none" strike="noStrike" cap="none">
                        <a:solidFill>
                          <a:srgbClr val="FF0000"/>
                        </a:solidFill>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7</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1.53</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143</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8.32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150</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                        9.85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5"/>
                  </a:ext>
                </a:extLst>
              </a:tr>
              <a:tr h="432100">
                <a:tc>
                  <a:txBody>
                    <a:bodyPr/>
                    <a:lstStyle/>
                    <a:p>
                      <a:pPr marL="0" marR="0" lvl="0" indent="0" algn="ctr" rtl="0">
                        <a:spcBef>
                          <a:spcPts val="0"/>
                        </a:spcBef>
                        <a:spcAft>
                          <a:spcPts val="0"/>
                        </a:spcAft>
                        <a:buClr>
                          <a:srgbClr val="FF0000"/>
                        </a:buClr>
                        <a:buSzPts val="1600"/>
                        <a:buFont typeface="Arial"/>
                        <a:buNone/>
                      </a:pPr>
                      <a:r>
                        <a:rPr lang="en-IN" sz="1600" b="1" i="0" u="sng" strike="noStrike" cap="none">
                          <a:solidFill>
                            <a:srgbClr val="FF0000"/>
                          </a:solidFill>
                          <a:latin typeface="Cambria"/>
                          <a:ea typeface="Cambria"/>
                          <a:cs typeface="Cambria"/>
                          <a:sym typeface="Cambria"/>
                          <a:hlinkClick r:id="rId7" action="ppaction://hlinksldjump">
                            <a:extLst>
                              <a:ext uri="{A12FA001-AC4F-418D-AE19-62706E023703}">
                                <ahyp:hlinkClr xmlns:ahyp="http://schemas.microsoft.com/office/drawing/2018/hyperlinkcolor" val="tx"/>
                              </a:ext>
                            </a:extLst>
                          </a:hlinkClick>
                        </a:rPr>
                        <a:t>Circle-Sanchore</a:t>
                      </a:r>
                      <a:endParaRPr sz="1600" b="1" i="0" u="none" strike="noStrike" cap="none">
                        <a:solidFill>
                          <a:srgbClr val="FF0000"/>
                        </a:solidFill>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0.03</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69</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9.45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71</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                        9.48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6"/>
                  </a:ext>
                </a:extLst>
              </a:tr>
              <a:tr h="432100">
                <a:tc>
                  <a:txBody>
                    <a:bodyPr/>
                    <a:lstStyle/>
                    <a:p>
                      <a:pPr marL="0" marR="0" lvl="0" indent="0" algn="ctr" rtl="0">
                        <a:spcBef>
                          <a:spcPts val="0"/>
                        </a:spcBef>
                        <a:spcAft>
                          <a:spcPts val="0"/>
                        </a:spcAft>
                        <a:buClr>
                          <a:srgbClr val="FF0000"/>
                        </a:buClr>
                        <a:buSzPts val="1600"/>
                        <a:buFont typeface="Arial"/>
                        <a:buNone/>
                      </a:pPr>
                      <a:r>
                        <a:rPr lang="en-IN" sz="1600" b="1" i="0" u="sng" strike="noStrike" cap="none">
                          <a:solidFill>
                            <a:srgbClr val="FF0000"/>
                          </a:solidFill>
                          <a:latin typeface="Cambria"/>
                          <a:ea typeface="Cambria"/>
                          <a:cs typeface="Cambria"/>
                          <a:sym typeface="Cambria"/>
                          <a:hlinkClick r:id="rId8" action="ppaction://hlinksldjump">
                            <a:extLst>
                              <a:ext uri="{A12FA001-AC4F-418D-AE19-62706E023703}">
                                <ahyp:hlinkClr xmlns:ahyp="http://schemas.microsoft.com/office/drawing/2018/hyperlinkcolor" val="tx"/>
                              </a:ext>
                            </a:extLst>
                          </a:hlinkClick>
                        </a:rPr>
                        <a:t>Circle-A Bharatpur</a:t>
                      </a:r>
                      <a:endParaRPr sz="1600" b="1" i="0" u="none" strike="noStrike" cap="none">
                        <a:solidFill>
                          <a:srgbClr val="FF0000"/>
                        </a:solidFill>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57</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6.34</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92</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a:latin typeface="Cambria"/>
                          <a:ea typeface="Cambria"/>
                          <a:cs typeface="Cambria"/>
                          <a:sym typeface="Cambria"/>
                        </a:rPr>
                        <a:t>3.11</a:t>
                      </a:r>
                      <a:endParaRPr sz="1600">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149</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                        9.45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7"/>
                  </a:ext>
                </a:extLst>
              </a:tr>
              <a:tr h="432100">
                <a:tc>
                  <a:txBody>
                    <a:bodyPr/>
                    <a:lstStyle/>
                    <a:p>
                      <a:pPr marL="0" marR="0" lvl="0" indent="0" algn="ctr" rtl="0">
                        <a:spcBef>
                          <a:spcPts val="0"/>
                        </a:spcBef>
                        <a:spcAft>
                          <a:spcPts val="0"/>
                        </a:spcAft>
                        <a:buClr>
                          <a:srgbClr val="FF0000"/>
                        </a:buClr>
                        <a:buSzPts val="1600"/>
                        <a:buFont typeface="Arial"/>
                        <a:buNone/>
                      </a:pPr>
                      <a:r>
                        <a:rPr lang="en-IN" sz="1600" b="1" i="0" u="sng" strike="noStrike" cap="none">
                          <a:solidFill>
                            <a:srgbClr val="FF0000"/>
                          </a:solidFill>
                          <a:latin typeface="Cambria"/>
                          <a:ea typeface="Cambria"/>
                          <a:cs typeface="Cambria"/>
                          <a:sym typeface="Cambria"/>
                          <a:hlinkClick r:id="rId9" action="ppaction://hlinksldjump">
                            <a:extLst>
                              <a:ext uri="{A12FA001-AC4F-418D-AE19-62706E023703}">
                                <ahyp:hlinkClr xmlns:ahyp="http://schemas.microsoft.com/office/drawing/2018/hyperlinkcolor" val="tx"/>
                              </a:ext>
                            </a:extLst>
                          </a:hlinkClick>
                        </a:rPr>
                        <a:t>Circle-B Jaipur III</a:t>
                      </a:r>
                      <a:endParaRPr sz="1600" b="1" i="0" u="none" strike="noStrike" cap="none">
                        <a:solidFill>
                          <a:srgbClr val="FF0000"/>
                        </a:solidFill>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5</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0.19</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15</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8.40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20</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                        8.59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8"/>
                  </a:ext>
                </a:extLst>
              </a:tr>
              <a:tr h="432100">
                <a:tc>
                  <a:txBody>
                    <a:bodyPr/>
                    <a:lstStyle/>
                    <a:p>
                      <a:pPr marL="0" marR="0" lvl="0" indent="0" algn="ctr" rtl="0">
                        <a:spcBef>
                          <a:spcPts val="0"/>
                        </a:spcBef>
                        <a:spcAft>
                          <a:spcPts val="0"/>
                        </a:spcAft>
                        <a:buClr>
                          <a:srgbClr val="FF0000"/>
                        </a:buClr>
                        <a:buSzPts val="1600"/>
                        <a:buFont typeface="Arial"/>
                        <a:buNone/>
                      </a:pPr>
                      <a:r>
                        <a:rPr lang="en-IN" sz="1600" b="1" i="0" u="sng" strike="noStrike" cap="none">
                          <a:solidFill>
                            <a:srgbClr val="FF0000"/>
                          </a:solidFill>
                          <a:latin typeface="Cambria"/>
                          <a:ea typeface="Cambria"/>
                          <a:cs typeface="Cambria"/>
                          <a:sym typeface="Cambria"/>
                          <a:hlinkClick r:id="rId10" action="ppaction://hlinksldjump">
                            <a:extLst>
                              <a:ext uri="{A12FA001-AC4F-418D-AE19-62706E023703}">
                                <ahyp:hlinkClr xmlns:ahyp="http://schemas.microsoft.com/office/drawing/2018/hyperlinkcolor" val="tx"/>
                              </a:ext>
                            </a:extLst>
                          </a:hlinkClick>
                        </a:rPr>
                        <a:t>Circle-E Kota</a:t>
                      </a:r>
                      <a:endParaRPr sz="1600" b="1" i="0" u="none" strike="noStrike" cap="none">
                        <a:solidFill>
                          <a:srgbClr val="FF0000"/>
                        </a:solidFill>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3</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0.20</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84</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8.30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87</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                        8.50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9"/>
                  </a:ext>
                </a:extLst>
              </a:tr>
              <a:tr h="432100">
                <a:tc>
                  <a:txBody>
                    <a:bodyPr/>
                    <a:lstStyle/>
                    <a:p>
                      <a:pPr marL="0" marR="0" lvl="0" indent="0" algn="ctr" rtl="0">
                        <a:spcBef>
                          <a:spcPts val="0"/>
                        </a:spcBef>
                        <a:spcAft>
                          <a:spcPts val="0"/>
                        </a:spcAft>
                        <a:buClr>
                          <a:srgbClr val="FF0000"/>
                        </a:buClr>
                        <a:buSzPts val="1600"/>
                        <a:buFont typeface="Arial"/>
                        <a:buNone/>
                      </a:pPr>
                      <a:r>
                        <a:rPr lang="en-IN" sz="1600" b="1" i="0" u="sng" strike="noStrike" cap="none">
                          <a:solidFill>
                            <a:srgbClr val="FF0000"/>
                          </a:solidFill>
                          <a:latin typeface="Cambria"/>
                          <a:ea typeface="Cambria"/>
                          <a:cs typeface="Cambria"/>
                          <a:sym typeface="Cambria"/>
                          <a:hlinkClick r:id="rId11" action="ppaction://hlinksldjump">
                            <a:extLst>
                              <a:ext uri="{A12FA001-AC4F-418D-AE19-62706E023703}">
                                <ahyp:hlinkClr xmlns:ahyp="http://schemas.microsoft.com/office/drawing/2018/hyperlinkcolor" val="tx"/>
                              </a:ext>
                            </a:extLst>
                          </a:hlinkClick>
                        </a:rPr>
                        <a:t>Circle Pratapgarh</a:t>
                      </a:r>
                      <a:endParaRPr sz="1600" b="1" i="0" u="none" strike="noStrike" cap="none">
                        <a:solidFill>
                          <a:srgbClr val="FF0000"/>
                        </a:solidFill>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0.00</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169</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8.42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169</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                        8.42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10"/>
                  </a:ext>
                </a:extLst>
              </a:tr>
              <a:tr h="432100">
                <a:tc>
                  <a:txBody>
                    <a:bodyPr/>
                    <a:lstStyle/>
                    <a:p>
                      <a:pPr marL="0" marR="0" lvl="0" indent="0" algn="ctr" rtl="0">
                        <a:spcBef>
                          <a:spcPts val="0"/>
                        </a:spcBef>
                        <a:spcAft>
                          <a:spcPts val="0"/>
                        </a:spcAft>
                        <a:buClr>
                          <a:srgbClr val="FF0000"/>
                        </a:buClr>
                        <a:buSzPts val="1600"/>
                        <a:buFont typeface="Arial"/>
                        <a:buNone/>
                      </a:pPr>
                      <a:r>
                        <a:rPr lang="en-IN" sz="1600" b="1" i="0" u="sng" strike="noStrike" cap="none">
                          <a:solidFill>
                            <a:srgbClr val="FF0000"/>
                          </a:solidFill>
                          <a:latin typeface="Cambria"/>
                          <a:ea typeface="Cambria"/>
                          <a:cs typeface="Cambria"/>
                          <a:sym typeface="Cambria"/>
                          <a:hlinkClick r:id="rId12" action="ppaction://hlinksldjump">
                            <a:extLst>
                              <a:ext uri="{A12FA001-AC4F-418D-AE19-62706E023703}">
                                <ahyp:hlinkClr xmlns:ahyp="http://schemas.microsoft.com/office/drawing/2018/hyperlinkcolor" val="tx"/>
                              </a:ext>
                            </a:extLst>
                          </a:hlinkClick>
                        </a:rPr>
                        <a:t>Circle-Shahpura Jaipur I</a:t>
                      </a:r>
                      <a:endParaRPr sz="1600" b="1" i="0" u="none" strike="noStrike" cap="none">
                        <a:solidFill>
                          <a:srgbClr val="FF0000"/>
                        </a:solidFill>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37</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5.33</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74</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2.73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111</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i="0" u="none" strike="noStrike" cap="none">
                          <a:solidFill>
                            <a:srgbClr val="000000"/>
                          </a:solidFill>
                          <a:latin typeface="Cambria"/>
                          <a:ea typeface="Cambria"/>
                          <a:cs typeface="Cambria"/>
                          <a:sym typeface="Cambria"/>
                        </a:rPr>
                        <a:t>                        8.06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11"/>
                  </a:ext>
                </a:extLst>
              </a:tr>
              <a:tr h="432100">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Grand Total</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      176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24.58</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   1,168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84.01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   1,344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                   108.59 </a:t>
                      </a:r>
                      <a:endParaRPr>
                        <a:latin typeface="Cambria"/>
                        <a:ea typeface="Cambria"/>
                        <a:cs typeface="Cambria"/>
                        <a:sym typeface="Cambria"/>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48"/>
          <p:cNvSpPr txBox="1"/>
          <p:nvPr/>
        </p:nvSpPr>
        <p:spPr>
          <a:xfrm>
            <a:off x="310963" y="161293"/>
            <a:ext cx="11259300" cy="334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Circle-I Jaipur III - IGST</a:t>
            </a:r>
            <a:endParaRPr sz="2000" b="1" i="0" u="none" strike="noStrike" cap="none">
              <a:solidFill>
                <a:srgbClr val="000000"/>
              </a:solidFill>
              <a:latin typeface="Verdana"/>
              <a:ea typeface="Verdana"/>
              <a:cs typeface="Verdana"/>
              <a:sym typeface="Verdana"/>
            </a:endParaRPr>
          </a:p>
        </p:txBody>
      </p:sp>
      <p:sp>
        <p:nvSpPr>
          <p:cNvPr id="435" name="Google Shape;435;p48"/>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436" name="Google Shape;436;p48"/>
          <p:cNvGraphicFramePr/>
          <p:nvPr>
            <p:extLst>
              <p:ext uri="{D42A27DB-BD31-4B8C-83A1-F6EECF244321}">
                <p14:modId xmlns:p14="http://schemas.microsoft.com/office/powerpoint/2010/main" val="3431795317"/>
              </p:ext>
            </p:extLst>
          </p:nvPr>
        </p:nvGraphicFramePr>
        <p:xfrm>
          <a:off x="165083" y="684373"/>
          <a:ext cx="11835327" cy="10406160"/>
        </p:xfrm>
        <a:graphic>
          <a:graphicData uri="http://schemas.openxmlformats.org/drawingml/2006/table">
            <a:tbl>
              <a:tblPr>
                <a:noFill/>
                <a:tableStyleId>{ED13AFB8-4CE9-44F5-8004-2B2D446919A9}</a:tableStyleId>
              </a:tblPr>
              <a:tblGrid>
                <a:gridCol w="2507542">
                  <a:extLst>
                    <a:ext uri="{9D8B030D-6E8A-4147-A177-3AD203B41FA5}">
                      <a16:colId xmlns:a16="http://schemas.microsoft.com/office/drawing/2014/main" val="20000"/>
                    </a:ext>
                  </a:extLst>
                </a:gridCol>
                <a:gridCol w="768638">
                  <a:extLst>
                    <a:ext uri="{9D8B030D-6E8A-4147-A177-3AD203B41FA5}">
                      <a16:colId xmlns:a16="http://schemas.microsoft.com/office/drawing/2014/main" val="20001"/>
                    </a:ext>
                  </a:extLst>
                </a:gridCol>
                <a:gridCol w="1927899">
                  <a:extLst>
                    <a:ext uri="{9D8B030D-6E8A-4147-A177-3AD203B41FA5}">
                      <a16:colId xmlns:a16="http://schemas.microsoft.com/office/drawing/2014/main" val="20002"/>
                    </a:ext>
                  </a:extLst>
                </a:gridCol>
                <a:gridCol w="1134407">
                  <a:extLst>
                    <a:ext uri="{9D8B030D-6E8A-4147-A177-3AD203B41FA5}">
                      <a16:colId xmlns:a16="http://schemas.microsoft.com/office/drawing/2014/main" val="20003"/>
                    </a:ext>
                  </a:extLst>
                </a:gridCol>
                <a:gridCol w="1134407">
                  <a:extLst>
                    <a:ext uri="{9D8B030D-6E8A-4147-A177-3AD203B41FA5}">
                      <a16:colId xmlns:a16="http://schemas.microsoft.com/office/drawing/2014/main" val="234085997"/>
                    </a:ext>
                  </a:extLst>
                </a:gridCol>
                <a:gridCol w="4362434">
                  <a:extLst>
                    <a:ext uri="{9D8B030D-6E8A-4147-A177-3AD203B41FA5}">
                      <a16:colId xmlns:a16="http://schemas.microsoft.com/office/drawing/2014/main" val="20004"/>
                    </a:ext>
                  </a:extLst>
                </a:gridCol>
              </a:tblGrid>
              <a:tr h="524836">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Firm Name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 Remaining Amount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List Name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dirty="0">
                          <a:solidFill>
                            <a:srgbClr val="FFFFFF"/>
                          </a:solidFill>
                          <a:latin typeface="Arial"/>
                          <a:ea typeface="Arial"/>
                          <a:cs typeface="Arial"/>
                          <a:sym typeface="Arial"/>
                        </a:rPr>
                        <a:t>Expected Date of reversal/ Utilization</a:t>
                      </a:r>
                      <a:endParaRPr dirty="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endParaRPr dirty="0"/>
                    </a:p>
                  </a:txBody>
                  <a:tcPr marL="4850" marR="4850" marT="48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618027">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STATE BANK OF INDIA</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100"/>
                        <a:buFont typeface="Arial"/>
                        <a:buNone/>
                      </a:pPr>
                      <a:r>
                        <a:rPr lang="en-IN" sz="1100" b="1" i="0" u="none" strike="noStrike" cap="none">
                          <a:solidFill>
                            <a:srgbClr val="000000"/>
                          </a:solidFill>
                          <a:latin typeface="Arial"/>
                          <a:ea typeface="Arial"/>
                          <a:cs typeface="Arial"/>
                          <a:sym typeface="Arial"/>
                        </a:rPr>
                        <a:t>25.77</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None/>
                      </a:pPr>
                      <a:r>
                        <a:rPr lang="en-IN" sz="1050">
                          <a:solidFill>
                            <a:schemeClr val="dk1"/>
                          </a:solidFill>
                        </a:rPr>
                        <a:t>I6 C_High Reclaim Ledger</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The taxpayer deals in banking services. The taxpayer  regularly claiming ITC from Recredit/ reversal ledger. Taxpayer has reclaimed and utilized/reversed the ITC amounting Rs. 1.41 cr. in Table 4D(1) in GSTR-3B of  Nov 2025 and  Rs. 4.62 cr. in Table 4D(1) in GSTR-3B of Dec 2025. Taxpayer    will reclaim ITC amounting Rs. 5 Cr. in GSTR-3B of Jan 2026. </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18027">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ICICI PRUDENTIAL LIFE INSURANCE COMPANY LIMITED</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100"/>
                        <a:buFont typeface="Arial"/>
                        <a:buNone/>
                      </a:pPr>
                      <a:r>
                        <a:rPr lang="en-IN" sz="1100" b="1" i="0" u="none" strike="noStrike" cap="none">
                          <a:solidFill>
                            <a:srgbClr val="000000"/>
                          </a:solidFill>
                          <a:latin typeface="Arial"/>
                          <a:ea typeface="Arial"/>
                          <a:cs typeface="Arial"/>
                          <a:sym typeface="Arial"/>
                        </a:rPr>
                        <a:t>13.28</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None/>
                      </a:pPr>
                      <a:r>
                        <a:rPr lang="en-IN" sz="1050">
                          <a:solidFill>
                            <a:schemeClr val="dk1"/>
                          </a:solidFill>
                        </a:rPr>
                        <a:t>I6 C_High Reclaim Ledger</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Calibri"/>
                        <a:buNone/>
                      </a:pPr>
                      <a:r>
                        <a:rPr lang="en-IN" sz="1100">
                          <a:solidFill>
                            <a:schemeClr val="dk1"/>
                          </a:solidFill>
                        </a:rPr>
                        <a:t>The taxpayer deals in insurance services. The taxpayer  regularly claiming ITC from Recredit/ reversal ledger. Taxpayer has reclaimed and utilized/reversed the ITC amounting Rs. 0.01 cr. in Table 4D(1) in GSTR-3B of  Nov 2025 and  Rs. 0.04 cr. in Table 4D(1) in GSTR-3B of Dec 2025. Taxpayer will reclaim ITC amounting Rs. 3 Cr. in GSTR-3B of Jan 2026. </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18027">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Rajasthan Rajya Vidyut Prasaran Nigam Ltd.</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100"/>
                        <a:buFont typeface="Arial"/>
                        <a:buNone/>
                      </a:pPr>
                      <a:r>
                        <a:rPr lang="en-IN" sz="1100" b="1" i="0" u="none" strike="noStrike" cap="none">
                          <a:solidFill>
                            <a:srgbClr val="000000"/>
                          </a:solidFill>
                          <a:latin typeface="Arial"/>
                          <a:ea typeface="Arial"/>
                          <a:cs typeface="Arial"/>
                          <a:sym typeface="Arial"/>
                        </a:rPr>
                        <a:t>13.16</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None/>
                      </a:pPr>
                      <a:r>
                        <a:rPr lang="en-IN" sz="1050">
                          <a:solidFill>
                            <a:schemeClr val="dk1"/>
                          </a:solidFill>
                        </a:rPr>
                        <a:t>I6 C_High Reclaim Ledger</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Calibri"/>
                        <a:buNone/>
                      </a:pPr>
                      <a:r>
                        <a:rPr lang="en-IN" sz="1100">
                          <a:solidFill>
                            <a:schemeClr val="dk1"/>
                          </a:solidFill>
                        </a:rPr>
                        <a:t>The taxpayer deals in Electrical Energy and work contract services. The taxpayer  regularly claiming ITC from Recredit/ reversal ledger. Taxpayer has reclaimed and utilized/reversed the ITC amounting Rs. 4.02 cr. in Table 4D(1) in GSTR-3B of  Oct 2025 and  Rs. 0.14 cr. in Table 4D(1) in GSTR-3B of Dec 2025. Taxpayer will reclaim and reverse the ITC amounting Rs. 6 Cr. in GSTR-3B of Jan 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18027">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RAJCOMP INFO SERVICES LIMITED</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100"/>
                        <a:buFont typeface="Arial"/>
                        <a:buNone/>
                      </a:pPr>
                      <a:r>
                        <a:rPr lang="en-IN" sz="1100" b="1" i="0" u="none" strike="noStrike" cap="none">
                          <a:solidFill>
                            <a:srgbClr val="000000"/>
                          </a:solidFill>
                          <a:latin typeface="Arial"/>
                          <a:ea typeface="Arial"/>
                          <a:cs typeface="Arial"/>
                          <a:sym typeface="Arial"/>
                        </a:rPr>
                        <a:t>12.34</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None/>
                      </a:pPr>
                      <a:r>
                        <a:rPr lang="en-IN" sz="1050">
                          <a:solidFill>
                            <a:schemeClr val="dk1"/>
                          </a:solidFill>
                        </a:rPr>
                        <a:t>I6 C_High Reclaim Ledger</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Calibri"/>
                        <a:buNone/>
                      </a:pPr>
                      <a:r>
                        <a:rPr lang="en-IN" sz="1100">
                          <a:solidFill>
                            <a:schemeClr val="dk1"/>
                          </a:solidFill>
                        </a:rPr>
                        <a:t>The taxpayer deals in Information technology services. The taxpayer  regularly claiming ITC from Recredit/ reversal ledger. Taxpayer has reclaimed and utilized the ITC amounting Rs. 0.50 cr. in Table 4D(1) in GSTR-3B of  Nov 2025 and  Rs. 0.06 cr. in Table 4D(1) in GSTR-3B of Dec 2025. Taxpayer will reclaim and utilize ITC amounting Rs. 6 Cr. in GSTR-3B of Jan 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720537">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THE NEW INDIA ASSURANCE CO LIMITED</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100"/>
                        <a:buFont typeface="Arial"/>
                        <a:buNone/>
                      </a:pPr>
                      <a:r>
                        <a:rPr lang="en-IN" sz="1100" b="1" i="0" u="none" strike="noStrike" cap="none">
                          <a:solidFill>
                            <a:srgbClr val="000000"/>
                          </a:solidFill>
                          <a:latin typeface="Arial"/>
                          <a:ea typeface="Arial"/>
                          <a:cs typeface="Arial"/>
                          <a:sym typeface="Arial"/>
                        </a:rPr>
                        <a:t>10.92</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None/>
                      </a:pPr>
                      <a:r>
                        <a:rPr lang="en-IN" sz="1050">
                          <a:solidFill>
                            <a:schemeClr val="dk1"/>
                          </a:solidFill>
                        </a:rPr>
                        <a:t>I6 C_High Reclaim Ledger</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dirty="0">
                        <a:solidFill>
                          <a:srgbClr val="000000"/>
                        </a:solidFill>
                        <a:latin typeface="Arial"/>
                        <a:ea typeface="Arial"/>
                        <a:cs typeface="Arial"/>
                        <a:sym typeface="Arial"/>
                      </a:endParaRPr>
                    </a:p>
                  </a:txBody>
                  <a:tcPr marL="4850" marR="4850" marT="48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Calibri"/>
                        <a:buNone/>
                      </a:pPr>
                      <a:r>
                        <a:rPr lang="en-IN" sz="1100">
                          <a:solidFill>
                            <a:schemeClr val="dk1"/>
                          </a:solidFill>
                        </a:rPr>
                        <a:t>The taxpayer deals in insurance services. The taxpayer  regularly claiming ITC from Recredit/ reversal ledger. Taxpayer has reclaimed and utilized/reversed the ITC amounting Rs. 0.14 cr. in Table 4D(1) in GSTR-3B of  Nov 2025 and  Rs. 0.10 cr. in Table 4D(1) in GSTR-3B of Dec 2025. Taxpayer will reclaim ITC amounting Rs. 8.5 Cr. in GSTR-3B of Jan 2026. </a:t>
                      </a:r>
                      <a:endParaRPr sz="1100">
                        <a:solidFill>
                          <a:schemeClr val="dk1"/>
                        </a:solidFill>
                      </a:endParaRPr>
                    </a:p>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11676">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BAJAJ ELECTRICALS LTD.</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100"/>
                        <a:buFont typeface="Arial"/>
                        <a:buNone/>
                      </a:pPr>
                      <a:r>
                        <a:rPr lang="en-IN" sz="1100" b="1" i="0" u="none" strike="noStrike" cap="none">
                          <a:solidFill>
                            <a:srgbClr val="000000"/>
                          </a:solidFill>
                          <a:latin typeface="Arial"/>
                          <a:ea typeface="Arial"/>
                          <a:cs typeface="Arial"/>
                          <a:sym typeface="Arial"/>
                        </a:rPr>
                        <a:t>8.84</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None/>
                      </a:pPr>
                      <a:r>
                        <a:rPr lang="en-IN" sz="1050">
                          <a:solidFill>
                            <a:schemeClr val="dk1"/>
                          </a:solidFill>
                        </a:rPr>
                        <a:t>I6 C_High Reclaim Ledger</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solidFill>
                            <a:schemeClr val="dk1"/>
                          </a:solidFill>
                        </a:rPr>
                        <a:t>The taxpayer deals in electrical items.  Taxpayer will reclaim ITC amounting Rs. 2 Cr. in GSTR-3B of Jan 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11676">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RENEW SOLAR POWER PRIVATE LIMITED</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100"/>
                        <a:buFont typeface="Arial"/>
                        <a:buNone/>
                      </a:pPr>
                      <a:r>
                        <a:rPr lang="en-IN" sz="1100" b="1" i="0" u="none" strike="noStrike" cap="none">
                          <a:solidFill>
                            <a:srgbClr val="000000"/>
                          </a:solidFill>
                          <a:latin typeface="Arial"/>
                          <a:ea typeface="Arial"/>
                          <a:cs typeface="Arial"/>
                          <a:sym typeface="Arial"/>
                        </a:rPr>
                        <a:t>7.06</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None/>
                      </a:pPr>
                      <a:r>
                        <a:rPr lang="en-IN" sz="1050">
                          <a:solidFill>
                            <a:schemeClr val="dk1"/>
                          </a:solidFill>
                        </a:rPr>
                        <a:t>I6 C_High Reclaim Ledger</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solidFill>
                            <a:schemeClr val="dk1"/>
                          </a:solidFill>
                        </a:rPr>
                        <a:t>The taxpayer deals in solar equipment and solar services. Taxpayer will reclaim and utilise the ITC amounting Rs. 3 Cr. in GSTR-3B of Jan 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623368">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HDFC BANK LIMITED</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100"/>
                        <a:buFont typeface="Arial"/>
                        <a:buNone/>
                      </a:pPr>
                      <a:r>
                        <a:rPr lang="en-IN" sz="1100" b="1" i="0" u="none" strike="noStrike" cap="none">
                          <a:solidFill>
                            <a:srgbClr val="000000"/>
                          </a:solidFill>
                          <a:latin typeface="Arial"/>
                          <a:ea typeface="Arial"/>
                          <a:cs typeface="Arial"/>
                          <a:sym typeface="Arial"/>
                        </a:rPr>
                        <a:t>6.37</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None/>
                      </a:pPr>
                      <a:r>
                        <a:rPr lang="en-IN" sz="1050">
                          <a:solidFill>
                            <a:schemeClr val="dk1"/>
                          </a:solidFill>
                        </a:rPr>
                        <a:t>I6 C_High Reclaim Ledger</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solidFill>
                            <a:schemeClr val="dk1"/>
                          </a:solidFill>
                        </a:rPr>
                        <a:t>The taxpayer deals in banking services. The taxpayer  regularly claiming ITC from Recredit/ reversal ledger. Taxpayer has reclaimed and utilized the ITC amounting Rs. 1.20 cr. in Table 4D(1) in GSTR-3B of  Nov 2025 and  Rs. 1.68 cr. in Table 4D(1) in GSTR-3B of Dec 2025. Taxpayer will reclaim and utilize ITC amounting Rs. 2 Cr. in GSTR-3B of Jan 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720537">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JSW STEEL LIMITED</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100"/>
                        <a:buFont typeface="Arial"/>
                        <a:buNone/>
                      </a:pPr>
                      <a:r>
                        <a:rPr lang="en-IN" sz="1100" b="1" i="0" u="none" strike="noStrike" cap="none">
                          <a:solidFill>
                            <a:srgbClr val="000000"/>
                          </a:solidFill>
                          <a:latin typeface="Arial"/>
                          <a:ea typeface="Arial"/>
                          <a:cs typeface="Arial"/>
                          <a:sym typeface="Arial"/>
                        </a:rPr>
                        <a:t>6.26</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None/>
                      </a:pPr>
                      <a:r>
                        <a:rPr lang="en-IN" sz="1050">
                          <a:solidFill>
                            <a:schemeClr val="dk1"/>
                          </a:solidFill>
                        </a:rPr>
                        <a:t>I6 C_High Reclaim Ledger</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Calibri"/>
                        <a:buNone/>
                      </a:pPr>
                      <a:r>
                        <a:rPr lang="en-IN" sz="1100">
                          <a:solidFill>
                            <a:schemeClr val="dk1"/>
                          </a:solidFill>
                        </a:rPr>
                        <a:t>The taxpayer deals in iron and steel. The taxpayer  regularly claiming ITC from Recredit/ reversal ledger. Taxpayer has reclaimed and utilized the ITC amounting Rs. 2.20 cr. in Table 4D(1) in GSTR-3B of  Nov 2025 and  Rs. 0.10 cr. in Table 4D(1) in GSTR-3B of Dec 2025. Taxpayer will reclaim and utilize ITC amounting Rs. 1 Cr. in GSTR-3B of Jan 2026.</a:t>
                      </a:r>
                      <a:endParaRPr sz="1100">
                        <a:solidFill>
                          <a:schemeClr val="dk1"/>
                        </a:solidFill>
                      </a:endParaRPr>
                    </a:p>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618027">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STEEL AUTHORITY OF INDIA LTD</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100"/>
                        <a:buFont typeface="Arial"/>
                        <a:buNone/>
                      </a:pPr>
                      <a:r>
                        <a:rPr lang="en-IN" sz="1100" b="1" i="0" u="none" strike="noStrike" cap="none">
                          <a:solidFill>
                            <a:srgbClr val="000000"/>
                          </a:solidFill>
                          <a:latin typeface="Arial"/>
                          <a:ea typeface="Arial"/>
                          <a:cs typeface="Arial"/>
                          <a:sym typeface="Arial"/>
                        </a:rPr>
                        <a:t>6.11</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None/>
                      </a:pPr>
                      <a:r>
                        <a:rPr lang="en-IN" sz="1050">
                          <a:solidFill>
                            <a:schemeClr val="dk1"/>
                          </a:solidFill>
                        </a:rPr>
                        <a:t>I6 C_High Reclaim Ledger</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solidFill>
                            <a:schemeClr val="dk1"/>
                          </a:solidFill>
                        </a:rPr>
                        <a:t>The taxpayer deals in iron and steel. The taxpayer  regularly claiming ITC from Recredit/ reversal ledger. Taxpayer has reclaimed and utilized/reversed the ITC amounting Rs. 0.01 cr. in Table 4D(1) in GSTR-3B of  Nov 2025 and  Rs. 0.10 cr. in Table 4D(1) in GSTR-3B of Dec 2025. Taxpayer will reclaim ITC amounting Rs. 2.5 Cr. in GSTR-3B of Jan 2026. </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171309">
                <a:tc>
                  <a:txBody>
                    <a:bodyPr/>
                    <a:lstStyle/>
                    <a:p>
                      <a:pPr marL="0" marR="0" lvl="0" indent="0" algn="ctr" rtl="0">
                        <a:spcBef>
                          <a:spcPts val="0"/>
                        </a:spcBef>
                        <a:spcAft>
                          <a:spcPts val="0"/>
                        </a:spcAft>
                        <a:buClr>
                          <a:srgbClr val="FFFFFF"/>
                        </a:buClr>
                        <a:buSzPts val="1800"/>
                        <a:buFont typeface="Arial"/>
                        <a:buNone/>
                      </a:pPr>
                      <a:r>
                        <a:rPr lang="en-IN" sz="1800" b="1" i="0" u="none" strike="noStrike" cap="none">
                          <a:solidFill>
                            <a:srgbClr val="FFFFFF"/>
                          </a:solidFill>
                          <a:latin typeface="Arial"/>
                          <a:ea typeface="Arial"/>
                          <a:cs typeface="Arial"/>
                          <a:sym typeface="Arial"/>
                        </a:rPr>
                        <a:t>Total</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800"/>
                        <a:buFont typeface="Arial"/>
                        <a:buNone/>
                      </a:pPr>
                      <a:r>
                        <a:rPr lang="en-IN" sz="1800" b="1" i="0" u="none" strike="noStrike" cap="none">
                          <a:solidFill>
                            <a:srgbClr val="FFFFFF"/>
                          </a:solidFill>
                          <a:latin typeface="Arial"/>
                          <a:ea typeface="Arial"/>
                          <a:cs typeface="Arial"/>
                          <a:sym typeface="Arial"/>
                        </a:rPr>
                        <a:t>110.11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200"/>
                        <a:buFont typeface="Arial"/>
                        <a:buNone/>
                      </a:pPr>
                      <a:r>
                        <a:rPr lang="en-IN" sz="1200" b="1" i="0" u="none" strike="noStrike" cap="none">
                          <a:solidFill>
                            <a:srgbClr val="FFFFFF"/>
                          </a:solidFill>
                          <a:latin typeface="Arial"/>
                          <a:ea typeface="Arial"/>
                          <a:cs typeface="Arial"/>
                          <a:sym typeface="Arial"/>
                        </a:rPr>
                        <a: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200"/>
                        <a:buFont typeface="Arial"/>
                        <a:buNone/>
                      </a:pPr>
                      <a:r>
                        <a:rPr lang="en-IN" sz="1200" b="1" i="0" u="none" strike="noStrike" cap="none">
                          <a:solidFill>
                            <a:srgbClr val="FFFFFF"/>
                          </a:solidFill>
                          <a:latin typeface="Arial"/>
                          <a:ea typeface="Arial"/>
                          <a:cs typeface="Arial"/>
                          <a:sym typeface="Arial"/>
                        </a:rPr>
                        <a: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200"/>
                        <a:buFont typeface="Arial"/>
                        <a:buNone/>
                      </a:pPr>
                      <a:endParaRPr dirty="0"/>
                    </a:p>
                  </a:txBody>
                  <a:tcPr marL="4850" marR="4850" marT="48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200"/>
                        <a:buFont typeface="Arial"/>
                        <a:buNone/>
                      </a:pPr>
                      <a:r>
                        <a:rPr lang="en-IN" sz="1200" b="1" i="0" u="none" strike="noStrike" cap="none" dirty="0">
                          <a:solidFill>
                            <a:srgbClr val="FFFFFF"/>
                          </a:solidFill>
                          <a:latin typeface="Arial"/>
                          <a:ea typeface="Arial"/>
                          <a:cs typeface="Arial"/>
                          <a:sym typeface="Arial"/>
                        </a:rPr>
                        <a:t> </a:t>
                      </a:r>
                      <a:endParaRPr dirty="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49"/>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Circle-C Jaipur II - IGST</a:t>
            </a:r>
            <a:endParaRPr sz="2000" b="1" i="0" u="none" strike="noStrike" cap="none">
              <a:solidFill>
                <a:srgbClr val="000000"/>
              </a:solidFill>
              <a:latin typeface="Verdana"/>
              <a:ea typeface="Verdana"/>
              <a:cs typeface="Verdana"/>
              <a:sym typeface="Verdana"/>
            </a:endParaRPr>
          </a:p>
        </p:txBody>
      </p:sp>
      <p:sp>
        <p:nvSpPr>
          <p:cNvPr id="443" name="Google Shape;443;p49"/>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444" name="Google Shape;444;p49"/>
          <p:cNvGraphicFramePr/>
          <p:nvPr/>
        </p:nvGraphicFramePr>
        <p:xfrm>
          <a:off x="466338" y="791985"/>
          <a:ext cx="11146525" cy="8327715"/>
        </p:xfrm>
        <a:graphic>
          <a:graphicData uri="http://schemas.openxmlformats.org/drawingml/2006/table">
            <a:tbl>
              <a:tblPr>
                <a:noFill/>
                <a:tableStyleId>{ED13AFB8-4CE9-44F5-8004-2B2D446919A9}</a:tableStyleId>
              </a:tblPr>
              <a:tblGrid>
                <a:gridCol w="2628375">
                  <a:extLst>
                    <a:ext uri="{9D8B030D-6E8A-4147-A177-3AD203B41FA5}">
                      <a16:colId xmlns:a16="http://schemas.microsoft.com/office/drawing/2014/main" val="20000"/>
                    </a:ext>
                  </a:extLst>
                </a:gridCol>
                <a:gridCol w="839425">
                  <a:extLst>
                    <a:ext uri="{9D8B030D-6E8A-4147-A177-3AD203B41FA5}">
                      <a16:colId xmlns:a16="http://schemas.microsoft.com/office/drawing/2014/main" val="20001"/>
                    </a:ext>
                  </a:extLst>
                </a:gridCol>
                <a:gridCol w="2105450">
                  <a:extLst>
                    <a:ext uri="{9D8B030D-6E8A-4147-A177-3AD203B41FA5}">
                      <a16:colId xmlns:a16="http://schemas.microsoft.com/office/drawing/2014/main" val="20002"/>
                    </a:ext>
                  </a:extLst>
                </a:gridCol>
                <a:gridCol w="2631800">
                  <a:extLst>
                    <a:ext uri="{9D8B030D-6E8A-4147-A177-3AD203B41FA5}">
                      <a16:colId xmlns:a16="http://schemas.microsoft.com/office/drawing/2014/main" val="20003"/>
                    </a:ext>
                  </a:extLst>
                </a:gridCol>
                <a:gridCol w="2941475">
                  <a:extLst>
                    <a:ext uri="{9D8B030D-6E8A-4147-A177-3AD203B41FA5}">
                      <a16:colId xmlns:a16="http://schemas.microsoft.com/office/drawing/2014/main" val="20004"/>
                    </a:ext>
                  </a:extLst>
                </a:gridCol>
              </a:tblGrid>
              <a:tr h="924100">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Firm Name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 Remaining Amount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List Name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Expected Date of reversal/ Utilization</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773500">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INDIAN OIL CORPORATION LTD</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16.32</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20-02-2026</a:t>
                      </a:r>
                      <a:endParaRPr sz="1050" b="0" i="0" u="none" strike="noStrike" cap="none">
                        <a:solidFill>
                          <a:srgbClr val="000000"/>
                        </a:solidFill>
                        <a:latin typeface="Arial"/>
                        <a:ea typeface="Arial"/>
                        <a:cs typeface="Arial"/>
                        <a:sym typeface="Arial"/>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The taxpayer is an oil company. The taxpayer will reverse the ITC approx Rs. 8 cr in column 4B(1) of GSTR 3B as per the sec 49A and 49B of RGST Act 2017 in GSTR 3B of Jan 26 filed in Feb 26</a:t>
                      </a:r>
                      <a:endParaRPr sz="1050"/>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773500">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BHARTI HEXACOM LIMITED</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14.55</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20-02-2026</a:t>
                      </a:r>
                      <a:endParaRPr sz="1050" b="0" i="0" u="none" strike="noStrike" cap="none">
                        <a:solidFill>
                          <a:srgbClr val="000000"/>
                        </a:solidFill>
                        <a:latin typeface="Arial"/>
                        <a:ea typeface="Arial"/>
                        <a:cs typeface="Arial"/>
                        <a:sym typeface="Arial"/>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The taxpayer is a telecom company. The taxpayer will reclaim the ITC in 4D(1) and will use the ITC in GSTR 3B of Jan 26 filed in Feb 26</a:t>
                      </a:r>
                      <a:endParaRPr sz="1050" b="0" i="0" u="none" strike="noStrike" cap="none">
                        <a:solidFill>
                          <a:srgbClr val="000000"/>
                        </a:solidFill>
                        <a:latin typeface="Arial"/>
                        <a:ea typeface="Arial"/>
                        <a:cs typeface="Arial"/>
                        <a:sym typeface="Arial"/>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19650">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VODAFONE IDEA LIMITED</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10.28</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20-02-2026</a:t>
                      </a:r>
                      <a:endParaRPr sz="1050" b="0" i="0" u="none" strike="noStrike" cap="none">
                        <a:solidFill>
                          <a:srgbClr val="000000"/>
                        </a:solidFill>
                        <a:latin typeface="Arial"/>
                        <a:ea typeface="Arial"/>
                        <a:cs typeface="Arial"/>
                        <a:sym typeface="Arial"/>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The taxpayer is a telecom company. The taxpayer will reclaim the ITC in 4D(1) and will use the ITC in GSTR 3B of Jan 26 filed in Feb 26</a:t>
                      </a:r>
                      <a:endParaRPr sz="1050">
                        <a:solidFill>
                          <a:schemeClr val="dk1"/>
                        </a:solidFill>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773500">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HINDUSTAN PETROLEUM CORPORATION LIMITED</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8.78</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20-02-2026</a:t>
                      </a:r>
                      <a:endParaRPr sz="1050" b="0" i="0" u="none" strike="noStrike" cap="none">
                        <a:solidFill>
                          <a:srgbClr val="000000"/>
                        </a:solidFill>
                        <a:latin typeface="Arial"/>
                        <a:ea typeface="Arial"/>
                        <a:cs typeface="Arial"/>
                        <a:sym typeface="Arial"/>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The taxpayer is an oil company. The taxpayer will reverse the ITC approx  Rs 6 cr.  in column 4B(1) of GSTR 3B as per the sec 49A and 49B of RGST Act 2017 in GSTR 3B of Jan 26 filed in Feb 26</a:t>
                      </a:r>
                      <a:endParaRPr sz="1050" b="0" i="0" u="none" strike="noStrike" cap="none">
                        <a:solidFill>
                          <a:srgbClr val="000000"/>
                        </a:solidFill>
                        <a:latin typeface="Arial"/>
                        <a:ea typeface="Arial"/>
                        <a:cs typeface="Arial"/>
                        <a:sym typeface="Arial"/>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773500">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RELIANCE INDUSTRIES LIMITED</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6.70</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20-02-2026</a:t>
                      </a:r>
                      <a:endParaRPr sz="1050" b="0" i="0" u="none" strike="noStrike" cap="none">
                        <a:solidFill>
                          <a:srgbClr val="000000"/>
                        </a:solidFill>
                        <a:latin typeface="Arial"/>
                        <a:ea typeface="Arial"/>
                        <a:cs typeface="Arial"/>
                        <a:sym typeface="Arial"/>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The taxpayer is an oil company. The taxpayer will reverse the ITC approx Rs. 40 lacs  in column 4B(1) of GSTR 3B as per the sec 49A and 49B of RGST Act 2017 in GSTR 3B of Jan 26 filed in Feb 26</a:t>
                      </a:r>
                      <a:endParaRPr sz="1050" b="0" i="0" u="none" strike="noStrike" cap="none">
                        <a:solidFill>
                          <a:srgbClr val="000000"/>
                        </a:solidFill>
                        <a:latin typeface="Arial"/>
                        <a:ea typeface="Arial"/>
                        <a:cs typeface="Arial"/>
                        <a:sym typeface="Arial"/>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773500">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BHARAT PETROLEUM CORPORATION LIMITED</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6.50</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20-02-2026</a:t>
                      </a:r>
                      <a:endParaRPr sz="1050" b="0" i="0" u="none" strike="noStrike" cap="none">
                        <a:solidFill>
                          <a:srgbClr val="000000"/>
                        </a:solidFill>
                        <a:latin typeface="Arial"/>
                        <a:ea typeface="Arial"/>
                        <a:cs typeface="Arial"/>
                        <a:sym typeface="Arial"/>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The taxpayer is an oil company. The taxpayer will reverse the ITC approx Rs. 3 cr. in column 4B(1) of GSTR 3B as per the sec 49A and 49B of RGST Act 2017 in GSTR 3B of Jan 26 filed in Feb 26</a:t>
                      </a:r>
                      <a:endParaRPr sz="1050" b="0" i="0" u="none" strike="noStrike" cap="none">
                        <a:solidFill>
                          <a:srgbClr val="000000"/>
                        </a:solidFill>
                        <a:latin typeface="Arial"/>
                        <a:ea typeface="Arial"/>
                        <a:cs typeface="Arial"/>
                        <a:sym typeface="Arial"/>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500125">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SHOPPERS STOP LIMITED</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5.54</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20-02-2026</a:t>
                      </a:r>
                      <a:endParaRPr sz="1050" b="0" i="0" u="none" strike="noStrike" cap="none">
                        <a:solidFill>
                          <a:srgbClr val="000000"/>
                        </a:solidFill>
                        <a:latin typeface="Arial"/>
                        <a:ea typeface="Arial"/>
                        <a:cs typeface="Arial"/>
                        <a:sym typeface="Arial"/>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The taxpayer will reclaim the ITC in 4D(1) and will use the ITC in GSTR 3B of Jan 26 filed in Feb 26</a:t>
                      </a:r>
                      <a:endParaRPr sz="1050"/>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619650">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GODREJ &amp; BOYCE MANUFACTURING CO LTD</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5.27</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20-02-2026</a:t>
                      </a:r>
                      <a:endParaRPr sz="1050" b="0" i="0" u="none" strike="noStrike" cap="none">
                        <a:solidFill>
                          <a:srgbClr val="000000"/>
                        </a:solidFill>
                        <a:latin typeface="Arial"/>
                        <a:ea typeface="Arial"/>
                        <a:cs typeface="Arial"/>
                        <a:sym typeface="Arial"/>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The taxpayer will reclaim the ITC in 4D(1) and will use the ITC in GSTR 3B of Jan 26 filed in Feb 26</a:t>
                      </a:r>
                      <a:endParaRPr sz="1050">
                        <a:solidFill>
                          <a:schemeClr val="dk1"/>
                        </a:solidFill>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619650">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CROMA</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1.98</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20-02-2026</a:t>
                      </a:r>
                      <a:endParaRPr sz="1050" b="0" i="0" u="none" strike="noStrike" cap="none">
                        <a:solidFill>
                          <a:srgbClr val="000000"/>
                        </a:solidFill>
                        <a:latin typeface="Arial"/>
                        <a:ea typeface="Arial"/>
                        <a:cs typeface="Arial"/>
                        <a:sym typeface="Arial"/>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The taxpayer will reclaim the ITC in 4D(1) and will use the ITC in GSTR 3B of Jan 26 filed in Feb 26</a:t>
                      </a:r>
                      <a:endParaRPr sz="1050"/>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773500">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Reliance BP Mobility Limited</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1.72</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20-02-2026</a:t>
                      </a:r>
                      <a:endParaRPr sz="1050" b="0" i="0" u="none" strike="noStrike" cap="none">
                        <a:solidFill>
                          <a:srgbClr val="000000"/>
                        </a:solidFill>
                        <a:latin typeface="Arial"/>
                        <a:ea typeface="Arial"/>
                        <a:cs typeface="Arial"/>
                        <a:sym typeface="Arial"/>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The taxpayer is an oil company. The taxpayer will reverse the ITC approx Rs. 20 lacs in column 4B(1) of GSTR 3B as per the sec 49A and 49B of RGST Act 2017 in GSTR 3B of Jan 26 filed in Feb 26</a:t>
                      </a:r>
                      <a:endParaRPr sz="1050" b="0" i="0" u="none" strike="noStrike" cap="none">
                        <a:solidFill>
                          <a:srgbClr val="000000"/>
                        </a:solidFill>
                        <a:latin typeface="Arial"/>
                        <a:ea typeface="Arial"/>
                        <a:cs typeface="Arial"/>
                        <a:sym typeface="Arial"/>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38700">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Total</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77.63</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 </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 </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 </a:t>
                      </a:r>
                      <a:endParaRPr/>
                    </a:p>
                  </a:txBody>
                  <a:tcPr marL="4450" marR="4450" marT="44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50"/>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Circle-F Jaipur II - IGST</a:t>
            </a:r>
            <a:endParaRPr sz="2000" b="1" i="0" u="none" strike="noStrike" cap="none">
              <a:solidFill>
                <a:srgbClr val="000000"/>
              </a:solidFill>
              <a:latin typeface="Verdana"/>
              <a:ea typeface="Verdana"/>
              <a:cs typeface="Verdana"/>
              <a:sym typeface="Verdana"/>
            </a:endParaRPr>
          </a:p>
        </p:txBody>
      </p:sp>
      <p:sp>
        <p:nvSpPr>
          <p:cNvPr id="451" name="Google Shape;451;p50"/>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452" name="Google Shape;452;p50"/>
          <p:cNvGraphicFramePr/>
          <p:nvPr/>
        </p:nvGraphicFramePr>
        <p:xfrm>
          <a:off x="466339" y="802887"/>
          <a:ext cx="11243225" cy="7215460"/>
        </p:xfrm>
        <a:graphic>
          <a:graphicData uri="http://schemas.openxmlformats.org/drawingml/2006/table">
            <a:tbl>
              <a:tblPr>
                <a:noFill/>
                <a:tableStyleId>{ED13AFB8-4CE9-44F5-8004-2B2D446919A9}</a:tableStyleId>
              </a:tblPr>
              <a:tblGrid>
                <a:gridCol w="2261200">
                  <a:extLst>
                    <a:ext uri="{9D8B030D-6E8A-4147-A177-3AD203B41FA5}">
                      <a16:colId xmlns:a16="http://schemas.microsoft.com/office/drawing/2014/main" val="20000"/>
                    </a:ext>
                  </a:extLst>
                </a:gridCol>
                <a:gridCol w="1308050">
                  <a:extLst>
                    <a:ext uri="{9D8B030D-6E8A-4147-A177-3AD203B41FA5}">
                      <a16:colId xmlns:a16="http://schemas.microsoft.com/office/drawing/2014/main" val="20001"/>
                    </a:ext>
                  </a:extLst>
                </a:gridCol>
                <a:gridCol w="2801075">
                  <a:extLst>
                    <a:ext uri="{9D8B030D-6E8A-4147-A177-3AD203B41FA5}">
                      <a16:colId xmlns:a16="http://schemas.microsoft.com/office/drawing/2014/main" val="20002"/>
                    </a:ext>
                  </a:extLst>
                </a:gridCol>
                <a:gridCol w="1241975">
                  <a:extLst>
                    <a:ext uri="{9D8B030D-6E8A-4147-A177-3AD203B41FA5}">
                      <a16:colId xmlns:a16="http://schemas.microsoft.com/office/drawing/2014/main" val="20003"/>
                    </a:ext>
                  </a:extLst>
                </a:gridCol>
                <a:gridCol w="3630925">
                  <a:extLst>
                    <a:ext uri="{9D8B030D-6E8A-4147-A177-3AD203B41FA5}">
                      <a16:colId xmlns:a16="http://schemas.microsoft.com/office/drawing/2014/main" val="20004"/>
                    </a:ext>
                  </a:extLst>
                </a:gridCol>
              </a:tblGrid>
              <a:tr h="587525">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Firm Name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 Remaining Amount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List Name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Expected Date of reversal/ Utilization</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502850">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Ministry of Railways</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200"/>
                        <a:buFont typeface="Arial"/>
                        <a:buNone/>
                      </a:pPr>
                      <a:r>
                        <a:rPr lang="en-IN" sz="1000" b="1" i="0" u="none" strike="noStrike" cap="none">
                          <a:solidFill>
                            <a:srgbClr val="000000"/>
                          </a:solidFill>
                          <a:latin typeface="Arial"/>
                          <a:ea typeface="Arial"/>
                          <a:cs typeface="Arial"/>
                          <a:sym typeface="Arial"/>
                        </a:rPr>
                        <a:t>50.51</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800"/>
                        <a:t>I6 C_High Reclaim Ledger</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850"/>
                        <a:t>20-02-2026</a:t>
                      </a:r>
                      <a:endParaRPr sz="850" b="0" i="0" u="none" strike="noStrike" cap="none">
                        <a:solidFill>
                          <a:srgbClr val="000000"/>
                        </a:solidFill>
                        <a:latin typeface="Arial"/>
                        <a:ea typeface="Arial"/>
                        <a:cs typeface="Arial"/>
                        <a:sym typeface="Arial"/>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1000"/>
                        <a:buFont typeface="Calibri"/>
                        <a:buNone/>
                      </a:pPr>
                      <a:r>
                        <a:rPr lang="en-IN" sz="800"/>
                        <a:t>The taxpayer is a department of Central Government. IGST ITC of Rs 50.51  Cr  is available in  Electronic Credit Reversal and Re-claimed Ledger related to FY 2025-26. The taxpayer regularly make reversals of ineligible credit. It also uses IGST ITC in discharging its outward liability. Expected reversal is Rs 49 Cr approximately  in column 4B1 </a:t>
                      </a:r>
                      <a:r>
                        <a:rPr lang="en-IN" sz="800">
                          <a:solidFill>
                            <a:schemeClr val="dk1"/>
                          </a:solidFill>
                        </a:rPr>
                        <a:t>as per the sec 49A and 49B of RGST Act 2017 </a:t>
                      </a:r>
                      <a:r>
                        <a:rPr lang="en-IN" sz="800"/>
                        <a:t>of GSTR 3B of January 2026. Rest will be either utilized or reclaimed in upcoming months. </a:t>
                      </a:r>
                      <a:endParaRPr sz="800" b="0" i="0" u="none" strike="noStrike" cap="none">
                        <a:solidFill>
                          <a:srgbClr val="000000"/>
                        </a:solidFill>
                        <a:latin typeface="Arial"/>
                        <a:ea typeface="Arial"/>
                        <a:cs typeface="Arial"/>
                        <a:sym typeface="Arial"/>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02850">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JAIPUR INTERNATIONAL AIRPORT LIMITED</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200"/>
                        <a:buFont typeface="Arial"/>
                        <a:buNone/>
                      </a:pPr>
                      <a:r>
                        <a:rPr lang="en-IN" sz="1000" b="1" i="0" u="none" strike="noStrike" cap="none">
                          <a:solidFill>
                            <a:srgbClr val="000000"/>
                          </a:solidFill>
                          <a:latin typeface="Arial"/>
                          <a:ea typeface="Arial"/>
                          <a:cs typeface="Arial"/>
                          <a:sym typeface="Arial"/>
                        </a:rPr>
                        <a:t>11.28</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800"/>
                        <a:t>I6 C_High Reclaim Ledger</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850"/>
                        <a:t>NA</a:t>
                      </a:r>
                      <a:endParaRPr sz="850" b="0" i="0" u="none" strike="noStrike" cap="none">
                        <a:solidFill>
                          <a:srgbClr val="000000"/>
                        </a:solidFill>
                        <a:latin typeface="Arial"/>
                        <a:ea typeface="Arial"/>
                        <a:cs typeface="Arial"/>
                        <a:sym typeface="Arial"/>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1000"/>
                        <a:buFont typeface="Calibri"/>
                        <a:buNone/>
                      </a:pPr>
                      <a:r>
                        <a:rPr lang="en-IN" sz="800"/>
                        <a:t>Taxpayer is regularly reversing ITC in  4(B)(2), Taxpayer reclaim after reconciliation from invoices received, further taxpayer already  reversed IGST ITC of Rs 3,25,56,938( Related to FY 2024-25)  in GSTR3B of OCT 2025 Filled on 20/11/2025. As on date 17-02-2026 the amount available of IGST ITC in Electronic Credit Reversal and Re-claimed statement is 11,67,84,420.87. This ITC will be either utilized or reclaimed in upcoming months.Further a detailed clarification has been sought from the taxpayer situated at Ahemdabad. As of now there is no potential. </a:t>
                      </a:r>
                      <a:endParaRPr sz="800" b="0" i="0" u="none" strike="noStrike" cap="none">
                        <a:solidFill>
                          <a:srgbClr val="000000"/>
                        </a:solidFill>
                        <a:latin typeface="Arial"/>
                        <a:ea typeface="Arial"/>
                        <a:cs typeface="Arial"/>
                        <a:sym typeface="Arial"/>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02850">
                <a:tc>
                  <a:txBody>
                    <a:bodyPr/>
                    <a:lstStyle/>
                    <a:p>
                      <a:pPr marL="0" marR="0" lvl="0" indent="0" algn="ctr" rtl="0">
                        <a:spcBef>
                          <a:spcPts val="0"/>
                        </a:spcBef>
                        <a:spcAft>
                          <a:spcPts val="0"/>
                        </a:spcAft>
                        <a:buClr>
                          <a:srgbClr val="000000"/>
                        </a:buClr>
                        <a:buSzPts val="1200"/>
                        <a:buFont typeface="Arial"/>
                        <a:buNone/>
                      </a:pPr>
                      <a:r>
                        <a:rPr lang="en-IN" sz="1000" b="0" i="0" u="none" strike="noStrike" cap="none" dirty="0">
                          <a:solidFill>
                            <a:srgbClr val="000000"/>
                          </a:solidFill>
                          <a:latin typeface="Arial"/>
                          <a:ea typeface="Arial"/>
                          <a:cs typeface="Arial"/>
                          <a:sym typeface="Arial"/>
                        </a:rPr>
                        <a:t>INDIAN ENTERPRISES</a:t>
                      </a:r>
                      <a:endParaRPr sz="1200" dirty="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200"/>
                        <a:buFont typeface="Arial"/>
                        <a:buNone/>
                      </a:pPr>
                      <a:r>
                        <a:rPr lang="en-IN" sz="1000" b="1" i="0" u="none" strike="noStrike" cap="none">
                          <a:solidFill>
                            <a:srgbClr val="000000"/>
                          </a:solidFill>
                          <a:latin typeface="Arial"/>
                          <a:ea typeface="Arial"/>
                          <a:cs typeface="Arial"/>
                          <a:sym typeface="Arial"/>
                        </a:rPr>
                        <a:t>1.76</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800" b="0" i="0" u="none" strike="noStrike" cap="none">
                          <a:solidFill>
                            <a:srgbClr val="000000"/>
                          </a:solidFill>
                          <a:latin typeface="Arial"/>
                          <a:ea typeface="Arial"/>
                          <a:cs typeface="Arial"/>
                          <a:sym typeface="Arial"/>
                        </a:rPr>
                        <a:t>I17_Suo Moto Cancelled Taxpayers having IGST Ledger Balance</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850"/>
                        <a:t>NA</a:t>
                      </a:r>
                      <a:endParaRPr sz="850" b="0" i="0" u="none" strike="noStrike" cap="none">
                        <a:solidFill>
                          <a:srgbClr val="000000"/>
                        </a:solidFill>
                        <a:latin typeface="Arial"/>
                        <a:ea typeface="Arial"/>
                        <a:cs typeface="Arial"/>
                        <a:sym typeface="Arial"/>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1000"/>
                        <a:buFont typeface="Calibri"/>
                        <a:buNone/>
                      </a:pPr>
                      <a:r>
                        <a:rPr lang="en-IN" sz="800" dirty="0"/>
                        <a:t>The taxpayer pertains to the Central jurisdiction. Both the available mobile numbers on portal are found switched off. Further, the GST registration of the taxpayer has already been cancelled by the CGST authorities w.e.f. 25/01/2023 under Section 29(2)(e) of the CGST Act, on the grounds that the registration was obtained by means of fraud, wilful misstatement, or suppression of facts. Further a mail in this regard has been sent to respective CGST authorities for further action. Taxpayer ab-initio cancelled. There is no potential. </a:t>
                      </a:r>
                      <a:endParaRPr sz="800" b="0" i="0" u="none" strike="noStrike" cap="none" dirty="0">
                        <a:solidFill>
                          <a:srgbClr val="000000"/>
                        </a:solidFill>
                        <a:latin typeface="Arial"/>
                        <a:ea typeface="Arial"/>
                        <a:cs typeface="Arial"/>
                        <a:sym typeface="Arial"/>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2850">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GENPACT INDIA PRIVATE LIMITED</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200"/>
                        <a:buFont typeface="Arial"/>
                        <a:buNone/>
                      </a:pPr>
                      <a:r>
                        <a:rPr lang="en-IN" sz="1000" b="1" i="0" u="none" strike="noStrike" cap="none">
                          <a:solidFill>
                            <a:srgbClr val="000000"/>
                          </a:solidFill>
                          <a:latin typeface="Arial"/>
                          <a:ea typeface="Arial"/>
                          <a:cs typeface="Arial"/>
                          <a:sym typeface="Arial"/>
                        </a:rPr>
                        <a:t>1.47</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800"/>
                        <a:t>I6 C_High Reclaim Ledger</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850">
                          <a:solidFill>
                            <a:schemeClr val="dk1"/>
                          </a:solidFill>
                        </a:rPr>
                        <a:t>NA</a:t>
                      </a:r>
                      <a:endParaRPr sz="850" b="0" i="0" u="none" strike="noStrike" cap="none">
                        <a:solidFill>
                          <a:srgbClr val="000000"/>
                        </a:solidFill>
                        <a:latin typeface="Arial"/>
                        <a:ea typeface="Arial"/>
                        <a:cs typeface="Arial"/>
                        <a:sym typeface="Arial"/>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1000"/>
                        <a:buFont typeface="Calibri"/>
                        <a:buNone/>
                      </a:pPr>
                      <a:r>
                        <a:rPr lang="en-IN" sz="800"/>
                        <a:t>The IGST ITC available in the reversal ledger is related to FY 2025-26 and that will be either reversed or utilized after reconciliation. As on date 17-02-2026  IGST ITC of Rs. 88,53,441.81 available in Electronic Credit Reversal and Re-claimed statement which will be reclaimed in upcoming 6-7 months and will be utilized for claiming Export Refund Claim. There is no potential. </a:t>
                      </a:r>
                      <a:endParaRPr sz="800" b="0" i="0" u="none" strike="noStrike" cap="none">
                        <a:solidFill>
                          <a:srgbClr val="000000"/>
                        </a:solidFill>
                        <a:latin typeface="Arial"/>
                        <a:ea typeface="Arial"/>
                        <a:cs typeface="Arial"/>
                        <a:sym typeface="Arial"/>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02850">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Lala Ji Suppliers</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200"/>
                        <a:buFont typeface="Arial"/>
                        <a:buNone/>
                      </a:pPr>
                      <a:r>
                        <a:rPr lang="en-IN" sz="1000" b="1" i="0" u="none" strike="noStrike" cap="none">
                          <a:solidFill>
                            <a:srgbClr val="000000"/>
                          </a:solidFill>
                          <a:latin typeface="Arial"/>
                          <a:ea typeface="Arial"/>
                          <a:cs typeface="Arial"/>
                          <a:sym typeface="Arial"/>
                        </a:rPr>
                        <a:t>0.77</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800" b="0" i="0" u="none" strike="noStrike" cap="none">
                          <a:solidFill>
                            <a:srgbClr val="000000"/>
                          </a:solidFill>
                          <a:latin typeface="Arial"/>
                          <a:ea typeface="Arial"/>
                          <a:cs typeface="Arial"/>
                          <a:sym typeface="Arial"/>
                        </a:rPr>
                        <a:t>I17_Suo Moto Cancelled Taxpayers having IGST Ledger Balance</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850">
                          <a:solidFill>
                            <a:schemeClr val="dk1"/>
                          </a:solidFill>
                        </a:rPr>
                        <a:t>NA</a:t>
                      </a:r>
                      <a:endParaRPr sz="850" b="0" i="0" u="none" strike="noStrike" cap="none">
                        <a:solidFill>
                          <a:srgbClr val="000000"/>
                        </a:solidFill>
                        <a:latin typeface="Arial"/>
                        <a:ea typeface="Arial"/>
                        <a:cs typeface="Arial"/>
                        <a:sym typeface="Arial"/>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1000"/>
                        <a:buFont typeface="Calibri"/>
                        <a:buNone/>
                      </a:pPr>
                      <a:r>
                        <a:rPr lang="en-IN" sz="800"/>
                        <a:t>Taxpayer found Non-Functioning/Not Existing at the Principal Place of Business, so the taxpayer  is cancelled ab-initio. Taxpayer could not be contacted on provided number from the portal. Either not in use or not reachable. </a:t>
                      </a:r>
                      <a:r>
                        <a:rPr lang="en-IN" sz="800">
                          <a:solidFill>
                            <a:schemeClr val="dk1"/>
                          </a:solidFill>
                        </a:rPr>
                        <a:t>There is no potential.</a:t>
                      </a:r>
                      <a:endParaRPr sz="800" b="0" i="0" u="none" strike="noStrike" cap="none">
                        <a:solidFill>
                          <a:srgbClr val="000000"/>
                        </a:solidFill>
                        <a:latin typeface="Arial"/>
                        <a:ea typeface="Arial"/>
                        <a:cs typeface="Arial"/>
                        <a:sym typeface="Arial"/>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502850">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Tirupati Enterprise</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200"/>
                        <a:buFont typeface="Arial"/>
                        <a:buNone/>
                      </a:pPr>
                      <a:r>
                        <a:rPr lang="en-IN" sz="1000" b="1" i="0" u="none" strike="noStrike" cap="none">
                          <a:solidFill>
                            <a:srgbClr val="000000"/>
                          </a:solidFill>
                          <a:latin typeface="Arial"/>
                          <a:ea typeface="Arial"/>
                          <a:cs typeface="Arial"/>
                          <a:sym typeface="Arial"/>
                        </a:rPr>
                        <a:t>0.77</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800" b="0" i="0" u="none" strike="noStrike" cap="none">
                          <a:solidFill>
                            <a:srgbClr val="000000"/>
                          </a:solidFill>
                          <a:latin typeface="Arial"/>
                          <a:ea typeface="Arial"/>
                          <a:cs typeface="Arial"/>
                          <a:sym typeface="Arial"/>
                        </a:rPr>
                        <a:t>I17_Suo Moto Cancelled Taxpayers having IGST Ledger Balance</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850">
                          <a:solidFill>
                            <a:schemeClr val="dk1"/>
                          </a:solidFill>
                        </a:rPr>
                        <a:t>NA</a:t>
                      </a:r>
                      <a:endParaRPr sz="850" b="0" i="0" u="none" strike="noStrike" cap="none">
                        <a:solidFill>
                          <a:srgbClr val="000000"/>
                        </a:solidFill>
                        <a:latin typeface="Arial"/>
                        <a:ea typeface="Arial"/>
                        <a:cs typeface="Arial"/>
                        <a:sym typeface="Arial"/>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1000"/>
                        <a:buFont typeface="Calibri"/>
                        <a:buNone/>
                      </a:pPr>
                      <a:r>
                        <a:rPr lang="en-IN" sz="800"/>
                        <a:t>Taxpayer could not be contacted. Taxpayer belongs to Centre jurisdiction.</a:t>
                      </a:r>
                      <a:r>
                        <a:rPr lang="en-IN" sz="800">
                          <a:solidFill>
                            <a:schemeClr val="dk1"/>
                          </a:solidFill>
                        </a:rPr>
                        <a:t>Taxpayer’s registration has been cancelled on grounds of Section 29(2)(e)-registration obtained by means of fraud, wilful misstatement or suppression of facts. There is no potential. </a:t>
                      </a:r>
                      <a:endParaRPr sz="800" b="0" i="0" u="none" strike="noStrike" cap="none">
                        <a:solidFill>
                          <a:srgbClr val="000000"/>
                        </a:solidFill>
                        <a:latin typeface="Arial"/>
                        <a:ea typeface="Arial"/>
                        <a:cs typeface="Arial"/>
                        <a:sym typeface="Arial"/>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502850">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JET LITE (INDIA) LIMITED</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200"/>
                        <a:buFont typeface="Arial"/>
                        <a:buNone/>
                      </a:pPr>
                      <a:r>
                        <a:rPr lang="en-IN" sz="1000" b="1" i="0" u="none" strike="noStrike" cap="none">
                          <a:solidFill>
                            <a:srgbClr val="000000"/>
                          </a:solidFill>
                          <a:latin typeface="Arial"/>
                          <a:ea typeface="Arial"/>
                          <a:cs typeface="Arial"/>
                          <a:sym typeface="Arial"/>
                        </a:rPr>
                        <a:t>0.60</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800" b="0" i="0" u="none" strike="noStrike" cap="none">
                          <a:solidFill>
                            <a:srgbClr val="000000"/>
                          </a:solidFill>
                          <a:latin typeface="Arial"/>
                          <a:ea typeface="Arial"/>
                          <a:cs typeface="Arial"/>
                          <a:sym typeface="Arial"/>
                        </a:rPr>
                        <a:t>I17_Suo Moto Cancelled Taxpayers having IGST Ledger Balance</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850">
                          <a:solidFill>
                            <a:schemeClr val="dk1"/>
                          </a:solidFill>
                        </a:rPr>
                        <a:t>NA</a:t>
                      </a:r>
                      <a:endParaRPr sz="850" b="0" i="0" u="none" strike="noStrike" cap="none">
                        <a:solidFill>
                          <a:srgbClr val="000000"/>
                        </a:solidFill>
                        <a:latin typeface="Arial"/>
                        <a:ea typeface="Arial"/>
                        <a:cs typeface="Arial"/>
                        <a:sym typeface="Arial"/>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1000"/>
                        <a:buFont typeface="Calibri"/>
                        <a:buNone/>
                      </a:pPr>
                      <a:r>
                        <a:rPr lang="en-IN" sz="800">
                          <a:solidFill>
                            <a:schemeClr val="dk1"/>
                          </a:solidFill>
                        </a:rPr>
                        <a:t>Taxpayer could not be contacted</a:t>
                      </a:r>
                      <a:r>
                        <a:rPr lang="en-IN" sz="800"/>
                        <a:t>. Taxpayer belongs to Centre jurisdiction.</a:t>
                      </a:r>
                      <a:r>
                        <a:rPr lang="en-IN" sz="800">
                          <a:solidFill>
                            <a:schemeClr val="dk1"/>
                          </a:solidFill>
                        </a:rPr>
                        <a:t>.Intimation has been sent to proper jurisdictional centre authority. There is no potential</a:t>
                      </a:r>
                      <a:endParaRPr sz="800" b="0" i="0" u="none" strike="noStrike" cap="none">
                        <a:solidFill>
                          <a:srgbClr val="000000"/>
                        </a:solidFill>
                        <a:latin typeface="Arial"/>
                        <a:ea typeface="Arial"/>
                        <a:cs typeface="Arial"/>
                        <a:sym typeface="Arial"/>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502850">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GEMS</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200"/>
                        <a:buFont typeface="Arial"/>
                        <a:buNone/>
                      </a:pPr>
                      <a:r>
                        <a:rPr lang="en-IN" sz="1000" b="1" i="0" u="none" strike="noStrike" cap="none">
                          <a:solidFill>
                            <a:srgbClr val="000000"/>
                          </a:solidFill>
                          <a:latin typeface="Arial"/>
                          <a:ea typeface="Arial"/>
                          <a:cs typeface="Arial"/>
                          <a:sym typeface="Arial"/>
                        </a:rPr>
                        <a:t>0.59</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800" b="0" i="0" u="none" strike="noStrike" cap="none">
                          <a:solidFill>
                            <a:srgbClr val="000000"/>
                          </a:solidFill>
                          <a:latin typeface="Arial"/>
                          <a:ea typeface="Arial"/>
                          <a:cs typeface="Arial"/>
                          <a:sym typeface="Arial"/>
                        </a:rPr>
                        <a:t>I17_Suo Moto Cancelled Taxpayers having IGST Ledger Balance</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850">
                          <a:solidFill>
                            <a:schemeClr val="dk1"/>
                          </a:solidFill>
                        </a:rPr>
                        <a:t>NA</a:t>
                      </a:r>
                      <a:endParaRPr sz="850" b="0" i="0" u="none" strike="noStrike" cap="none">
                        <a:solidFill>
                          <a:srgbClr val="000000"/>
                        </a:solidFill>
                        <a:latin typeface="Arial"/>
                        <a:ea typeface="Arial"/>
                        <a:cs typeface="Arial"/>
                        <a:sym typeface="Arial"/>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1000"/>
                        <a:buFont typeface="Calibri"/>
                        <a:buNone/>
                      </a:pPr>
                      <a:r>
                        <a:rPr lang="en-IN" sz="800"/>
                        <a:t> Contacted to the accountant whose mobile number is available on the portal. He informed  that he left the company many years ago and is not aware of the firm’s current status. However, he assured  that he will arrange a call from the concerned person within the next few days. As of now there is no potential.</a:t>
                      </a:r>
                      <a:endParaRPr sz="800" b="0" i="0" u="none" strike="noStrike" cap="none">
                        <a:solidFill>
                          <a:srgbClr val="000000"/>
                        </a:solidFill>
                        <a:latin typeface="Arial"/>
                        <a:ea typeface="Arial"/>
                        <a:cs typeface="Arial"/>
                        <a:sym typeface="Arial"/>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502850">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Pradeep Traders</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200"/>
                        <a:buFont typeface="Arial"/>
                        <a:buNone/>
                      </a:pPr>
                      <a:r>
                        <a:rPr lang="en-IN" sz="1000" b="1" i="0" u="none" strike="noStrike" cap="none">
                          <a:solidFill>
                            <a:srgbClr val="000000"/>
                          </a:solidFill>
                          <a:latin typeface="Arial"/>
                          <a:ea typeface="Arial"/>
                          <a:cs typeface="Arial"/>
                          <a:sym typeface="Arial"/>
                        </a:rPr>
                        <a:t>0.24</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800" b="0" i="0" u="none" strike="noStrike" cap="none">
                          <a:solidFill>
                            <a:srgbClr val="000000"/>
                          </a:solidFill>
                          <a:latin typeface="Arial"/>
                          <a:ea typeface="Arial"/>
                          <a:cs typeface="Arial"/>
                          <a:sym typeface="Arial"/>
                        </a:rPr>
                        <a:t>I17_Suo Moto Cancelled Taxpayers having IGST Ledger Balance</a:t>
                      </a:r>
                      <a:endParaRPr sz="12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850">
                          <a:solidFill>
                            <a:schemeClr val="dk1"/>
                          </a:solidFill>
                        </a:rPr>
                        <a:t>NA</a:t>
                      </a:r>
                      <a:endParaRPr sz="850" b="0" i="0" u="none" strike="noStrike" cap="none">
                        <a:solidFill>
                          <a:srgbClr val="000000"/>
                        </a:solidFill>
                        <a:latin typeface="Arial"/>
                        <a:ea typeface="Arial"/>
                        <a:cs typeface="Arial"/>
                        <a:sym typeface="Arial"/>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1000"/>
                        <a:buFont typeface="Calibri"/>
                        <a:buNone/>
                      </a:pPr>
                      <a:r>
                        <a:rPr lang="en-IN" sz="800">
                          <a:solidFill>
                            <a:schemeClr val="dk1"/>
                          </a:solidFill>
                        </a:rPr>
                        <a:t>Taxpayer could not be contacted</a:t>
                      </a:r>
                      <a:r>
                        <a:rPr lang="en-IN" sz="800"/>
                        <a:t>. Taxpayer belongs to Centre jurisdiction. </a:t>
                      </a:r>
                      <a:r>
                        <a:rPr lang="en-IN" sz="800">
                          <a:solidFill>
                            <a:schemeClr val="dk1"/>
                          </a:solidFill>
                        </a:rPr>
                        <a:t>There is no potential. </a:t>
                      </a:r>
                      <a:endParaRPr sz="800" b="0" i="0" u="none" strike="noStrike" cap="none">
                        <a:solidFill>
                          <a:srgbClr val="000000"/>
                        </a:solidFill>
                        <a:latin typeface="Arial"/>
                        <a:ea typeface="Arial"/>
                        <a:cs typeface="Arial"/>
                        <a:sym typeface="Arial"/>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502850">
                <a:tc>
                  <a:txBody>
                    <a:bodyPr/>
                    <a:lstStyle/>
                    <a:p>
                      <a:pPr marL="0" marR="0" lvl="0" indent="0" algn="ctr" rtl="0">
                        <a:spcBef>
                          <a:spcPts val="0"/>
                        </a:spcBef>
                        <a:spcAft>
                          <a:spcPts val="0"/>
                        </a:spcAft>
                        <a:buClr>
                          <a:srgbClr val="000000"/>
                        </a:buClr>
                        <a:buSzPts val="1200"/>
                        <a:buFont typeface="Arial"/>
                        <a:buNone/>
                      </a:pPr>
                      <a:r>
                        <a:rPr lang="en-IN" sz="1100" b="0" i="0" u="none" strike="noStrike" cap="none">
                          <a:solidFill>
                            <a:srgbClr val="000000"/>
                          </a:solidFill>
                          <a:latin typeface="Arial"/>
                          <a:ea typeface="Arial"/>
                          <a:cs typeface="Arial"/>
                          <a:sym typeface="Arial"/>
                        </a:rPr>
                        <a:t>Kartar Traders</a:t>
                      </a:r>
                      <a:endParaRPr sz="13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200"/>
                        <a:buFont typeface="Arial"/>
                        <a:buNone/>
                      </a:pPr>
                      <a:r>
                        <a:rPr lang="en-IN" sz="1100" b="1" i="0" u="none" strike="noStrike" cap="none">
                          <a:solidFill>
                            <a:srgbClr val="000000"/>
                          </a:solidFill>
                          <a:latin typeface="Arial"/>
                          <a:ea typeface="Arial"/>
                          <a:cs typeface="Arial"/>
                          <a:sym typeface="Arial"/>
                        </a:rPr>
                        <a:t>0.15</a:t>
                      </a:r>
                      <a:endParaRPr sz="13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900" b="0" i="0" u="none" strike="noStrike" cap="none">
                          <a:solidFill>
                            <a:srgbClr val="000000"/>
                          </a:solidFill>
                          <a:latin typeface="Arial"/>
                          <a:ea typeface="Arial"/>
                          <a:cs typeface="Arial"/>
                          <a:sym typeface="Arial"/>
                        </a:rPr>
                        <a:t>I17_Suo Moto Cancelled Taxpayers having IGST Ledger Balance</a:t>
                      </a:r>
                      <a:endParaRPr sz="130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850">
                          <a:solidFill>
                            <a:schemeClr val="dk1"/>
                          </a:solidFill>
                        </a:rPr>
                        <a:t>NA</a:t>
                      </a:r>
                      <a:endParaRPr sz="950" b="0" i="0" u="none" strike="noStrike" cap="none">
                        <a:solidFill>
                          <a:srgbClr val="000000"/>
                        </a:solidFill>
                        <a:latin typeface="Arial"/>
                        <a:ea typeface="Arial"/>
                        <a:cs typeface="Arial"/>
                        <a:sym typeface="Arial"/>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1000"/>
                        <a:buFont typeface="Calibri"/>
                        <a:buNone/>
                      </a:pPr>
                      <a:r>
                        <a:rPr lang="en-IN" sz="800">
                          <a:solidFill>
                            <a:schemeClr val="dk1"/>
                          </a:solidFill>
                        </a:rPr>
                        <a:t>Taxpayer could not be contacted</a:t>
                      </a:r>
                      <a:r>
                        <a:rPr lang="en-IN" sz="900"/>
                        <a:t>. Taxpayer belongs to Centre jurisdiction. </a:t>
                      </a:r>
                      <a:r>
                        <a:rPr lang="en-IN" sz="800">
                          <a:solidFill>
                            <a:schemeClr val="dk1"/>
                          </a:solidFill>
                        </a:rPr>
                        <a:t>There is no potential. </a:t>
                      </a:r>
                      <a:endParaRPr sz="900" b="0" i="0" u="none" strike="noStrike" cap="none">
                        <a:solidFill>
                          <a:srgbClr val="000000"/>
                        </a:solidFill>
                        <a:latin typeface="Arial"/>
                        <a:ea typeface="Arial"/>
                        <a:cs typeface="Arial"/>
                        <a:sym typeface="Arial"/>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36400">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Total</a:t>
                      </a:r>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68.16</a:t>
                      </a:r>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00"/>
                        <a:buFont typeface="Arial"/>
                        <a:buNone/>
                      </a:pPr>
                      <a:r>
                        <a:rPr lang="en-IN" sz="1000" b="1" i="0" u="none" strike="noStrike" cap="none">
                          <a:solidFill>
                            <a:srgbClr val="FFFFFF"/>
                          </a:solidFill>
                          <a:latin typeface="Arial"/>
                          <a:ea typeface="Arial"/>
                          <a:cs typeface="Arial"/>
                          <a:sym typeface="Arial"/>
                        </a:rPr>
                        <a:t> </a:t>
                      </a:r>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00"/>
                        <a:buFont typeface="Arial"/>
                        <a:buNone/>
                      </a:pPr>
                      <a:r>
                        <a:rPr lang="en-IN" sz="1000" b="1" i="0" u="none" strike="noStrike" cap="none">
                          <a:solidFill>
                            <a:srgbClr val="FFFFFF"/>
                          </a:solidFill>
                          <a:latin typeface="Arial"/>
                          <a:ea typeface="Arial"/>
                          <a:cs typeface="Arial"/>
                          <a:sym typeface="Arial"/>
                        </a:rPr>
                        <a:t> </a:t>
                      </a:r>
                      <a:endParaRPr/>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00"/>
                        <a:buFont typeface="Arial"/>
                        <a:buNone/>
                      </a:pPr>
                      <a:r>
                        <a:rPr lang="en-IN" sz="1000" b="1" i="0" u="none" strike="noStrike" cap="none" dirty="0">
                          <a:solidFill>
                            <a:srgbClr val="FFFFFF"/>
                          </a:solidFill>
                          <a:latin typeface="Arial"/>
                          <a:ea typeface="Arial"/>
                          <a:cs typeface="Arial"/>
                          <a:sym typeface="Arial"/>
                        </a:rPr>
                        <a:t> </a:t>
                      </a:r>
                      <a:endParaRPr dirty="0"/>
                    </a:p>
                  </a:txBody>
                  <a:tcPr marL="3550" marR="3550" marT="35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51"/>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Circle-N Jaipur III - IGST</a:t>
            </a:r>
            <a:endParaRPr sz="2000" b="1" i="0" u="none" strike="noStrike" cap="none">
              <a:solidFill>
                <a:srgbClr val="000000"/>
              </a:solidFill>
              <a:latin typeface="Verdana"/>
              <a:ea typeface="Verdana"/>
              <a:cs typeface="Verdana"/>
              <a:sym typeface="Verdana"/>
            </a:endParaRPr>
          </a:p>
        </p:txBody>
      </p:sp>
      <p:sp>
        <p:nvSpPr>
          <p:cNvPr id="459" name="Google Shape;459;p51"/>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460" name="Google Shape;460;p51"/>
          <p:cNvGraphicFramePr/>
          <p:nvPr/>
        </p:nvGraphicFramePr>
        <p:xfrm>
          <a:off x="466337" y="602818"/>
          <a:ext cx="11259325" cy="6620520"/>
        </p:xfrm>
        <a:graphic>
          <a:graphicData uri="http://schemas.openxmlformats.org/drawingml/2006/table">
            <a:tbl>
              <a:tblPr>
                <a:noFill/>
                <a:tableStyleId>{ED13AFB8-4CE9-44F5-8004-2B2D446919A9}</a:tableStyleId>
              </a:tblPr>
              <a:tblGrid>
                <a:gridCol w="2261675">
                  <a:extLst>
                    <a:ext uri="{9D8B030D-6E8A-4147-A177-3AD203B41FA5}">
                      <a16:colId xmlns:a16="http://schemas.microsoft.com/office/drawing/2014/main" val="20000"/>
                    </a:ext>
                  </a:extLst>
                </a:gridCol>
                <a:gridCol w="953575">
                  <a:extLst>
                    <a:ext uri="{9D8B030D-6E8A-4147-A177-3AD203B41FA5}">
                      <a16:colId xmlns:a16="http://schemas.microsoft.com/office/drawing/2014/main" val="20001"/>
                    </a:ext>
                  </a:extLst>
                </a:gridCol>
                <a:gridCol w="1815700">
                  <a:extLst>
                    <a:ext uri="{9D8B030D-6E8A-4147-A177-3AD203B41FA5}">
                      <a16:colId xmlns:a16="http://schemas.microsoft.com/office/drawing/2014/main" val="20002"/>
                    </a:ext>
                  </a:extLst>
                </a:gridCol>
                <a:gridCol w="1300875">
                  <a:extLst>
                    <a:ext uri="{9D8B030D-6E8A-4147-A177-3AD203B41FA5}">
                      <a16:colId xmlns:a16="http://schemas.microsoft.com/office/drawing/2014/main" val="20003"/>
                    </a:ext>
                  </a:extLst>
                </a:gridCol>
                <a:gridCol w="4927500">
                  <a:extLst>
                    <a:ext uri="{9D8B030D-6E8A-4147-A177-3AD203B41FA5}">
                      <a16:colId xmlns:a16="http://schemas.microsoft.com/office/drawing/2014/main" val="20004"/>
                    </a:ext>
                  </a:extLst>
                </a:gridCol>
              </a:tblGrid>
              <a:tr h="685700">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Firm Name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 Remaining Amount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List Name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Expected Date of reversal/ Utilization</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5343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JCB INDIA LIMITED</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050"/>
                        <a:buFont typeface="Arial"/>
                        <a:buNone/>
                      </a:pPr>
                      <a:r>
                        <a:rPr lang="en-IN" sz="1050" b="1" i="0" u="none" strike="noStrike" cap="none">
                          <a:solidFill>
                            <a:srgbClr val="000000"/>
                          </a:solidFill>
                          <a:latin typeface="Arial"/>
                          <a:ea typeface="Arial"/>
                          <a:cs typeface="Arial"/>
                          <a:sym typeface="Arial"/>
                        </a:rPr>
                        <a:t>18.58</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20 feb 2026</a:t>
                      </a:r>
                      <a:endParaRPr sz="1050" b="0" i="0" u="none" strike="noStrike" cap="none">
                        <a:solidFill>
                          <a:srgbClr val="000000"/>
                        </a:solidFill>
                        <a:latin typeface="Arial"/>
                        <a:ea typeface="Arial"/>
                        <a:cs typeface="Arial"/>
                        <a:sym typeface="Arial"/>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Calibri"/>
                        <a:buNone/>
                      </a:pPr>
                      <a:r>
                        <a:rPr lang="en-IN" sz="900"/>
                        <a:t>taxpayer deals in JCB Machine. taxpayer reclaim/reverse regularly. TAXPAYER  RECLAIMED AMOUNT RS 91937438/-  IN TABLE 4D1 OF IGST IN DEC 25 GSTR 3B. Expected Reclaim in GSTR Jan 26 Is Rs 8 Cr</a:t>
                      </a:r>
                      <a:endParaRPr sz="900" b="0" i="0" u="none" strike="noStrike" cap="none">
                        <a:solidFill>
                          <a:srgbClr val="000000"/>
                        </a:solidFill>
                        <a:latin typeface="Arial"/>
                        <a:ea typeface="Arial"/>
                        <a:cs typeface="Arial"/>
                        <a:sym typeface="Arial"/>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343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RENEW PHOTOVOLTAICS PRIVATE LIMITED</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050"/>
                        <a:buFont typeface="Arial"/>
                        <a:buNone/>
                      </a:pPr>
                      <a:r>
                        <a:rPr lang="en-IN" sz="1050" b="1" i="0" u="none" strike="noStrike" cap="none">
                          <a:solidFill>
                            <a:srgbClr val="000000"/>
                          </a:solidFill>
                          <a:latin typeface="Arial"/>
                          <a:ea typeface="Arial"/>
                          <a:cs typeface="Arial"/>
                          <a:sym typeface="Arial"/>
                        </a:rPr>
                        <a:t>9.80</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20 feb 2026</a:t>
                      </a:r>
                      <a:endParaRPr sz="1050" b="0" i="0" u="none" strike="noStrike" cap="none">
                        <a:solidFill>
                          <a:srgbClr val="000000"/>
                        </a:solidFill>
                        <a:latin typeface="Arial"/>
                        <a:ea typeface="Arial"/>
                        <a:cs typeface="Arial"/>
                        <a:sym typeface="Arial"/>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Calibri"/>
                        <a:buNone/>
                      </a:pPr>
                      <a:r>
                        <a:rPr lang="en-IN" sz="900"/>
                        <a:t>taxpayer deals in solar modules. taxpayer reclaim/reverse regularly. TAXPAYER  RECLAIMED AMOUNT RS 1.89 cr/-  IN TABLE 4D1 OF IGST IN DEC 25 GSTR 3B. </a:t>
                      </a:r>
                      <a:r>
                        <a:rPr lang="en-IN" sz="900">
                          <a:solidFill>
                            <a:schemeClr val="dk1"/>
                          </a:solidFill>
                        </a:rPr>
                        <a:t>Expected Reclaim in GSTR Jan 26 Is Rs 2 Cr</a:t>
                      </a:r>
                      <a:endParaRPr sz="900">
                        <a:solidFill>
                          <a:schemeClr val="dk1"/>
                        </a:solidFill>
                      </a:endParaRPr>
                    </a:p>
                    <a:p>
                      <a:pPr marL="0" marR="0" lvl="0" indent="0" algn="ctr" rtl="0">
                        <a:spcBef>
                          <a:spcPts val="0"/>
                        </a:spcBef>
                        <a:spcAft>
                          <a:spcPts val="0"/>
                        </a:spcAft>
                        <a:buClr>
                          <a:schemeClr val="dk1"/>
                        </a:buClr>
                        <a:buSzPts val="900"/>
                        <a:buFont typeface="Calibri"/>
                        <a:buNone/>
                      </a:pPr>
                      <a:endParaRPr sz="900"/>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343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MAHINDRA AND MAHINDRA LTD.</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050"/>
                        <a:buFont typeface="Arial"/>
                        <a:buNone/>
                      </a:pPr>
                      <a:r>
                        <a:rPr lang="en-IN" sz="1050" b="1" i="0" u="none" strike="noStrike" cap="none">
                          <a:solidFill>
                            <a:srgbClr val="000000"/>
                          </a:solidFill>
                          <a:latin typeface="Arial"/>
                          <a:ea typeface="Arial"/>
                          <a:cs typeface="Arial"/>
                          <a:sym typeface="Arial"/>
                        </a:rPr>
                        <a:t>8.86</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20 feb 2026</a:t>
                      </a:r>
                      <a:endParaRPr sz="1050" b="0" i="0" u="none" strike="noStrike" cap="none">
                        <a:solidFill>
                          <a:srgbClr val="000000"/>
                        </a:solidFill>
                        <a:latin typeface="Arial"/>
                        <a:ea typeface="Arial"/>
                        <a:cs typeface="Arial"/>
                        <a:sym typeface="Arial"/>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Calibri"/>
                        <a:buNone/>
                      </a:pPr>
                      <a:r>
                        <a:rPr lang="en-IN" sz="900"/>
                        <a:t>taxpayer deals in commercial vehicle. taxpayer reclaim/reverse regularly. TAXPAYER  RECLAIMED AMOUNT RS 2206652/-  IN TABLE 4D1 OF IGST IN DEC 25 GSTR 3B. </a:t>
                      </a:r>
                      <a:r>
                        <a:rPr lang="en-IN" sz="900">
                          <a:solidFill>
                            <a:schemeClr val="dk1"/>
                          </a:solidFill>
                        </a:rPr>
                        <a:t>Expected Reclaim in GSTR Jan 26 Is Rs 2 Cr</a:t>
                      </a:r>
                      <a:endParaRPr sz="900">
                        <a:solidFill>
                          <a:schemeClr val="dk1"/>
                        </a:solidFill>
                      </a:endParaRPr>
                    </a:p>
                    <a:p>
                      <a:pPr marL="0" marR="0" lvl="0" indent="0" algn="ctr" rtl="0">
                        <a:spcBef>
                          <a:spcPts val="0"/>
                        </a:spcBef>
                        <a:spcAft>
                          <a:spcPts val="0"/>
                        </a:spcAft>
                        <a:buClr>
                          <a:schemeClr val="dk1"/>
                        </a:buClr>
                        <a:buSzPts val="900"/>
                        <a:buFont typeface="Calibri"/>
                        <a:buNone/>
                      </a:pPr>
                      <a:endParaRPr sz="900"/>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343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Instakart Services Private Limited</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050"/>
                        <a:buFont typeface="Arial"/>
                        <a:buNone/>
                      </a:pPr>
                      <a:r>
                        <a:rPr lang="en-IN" sz="1050" b="1" i="0" u="none" strike="noStrike" cap="none">
                          <a:solidFill>
                            <a:srgbClr val="000000"/>
                          </a:solidFill>
                          <a:latin typeface="Arial"/>
                          <a:ea typeface="Arial"/>
                          <a:cs typeface="Arial"/>
                          <a:sym typeface="Arial"/>
                        </a:rPr>
                        <a:t>6.09</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20 feb 2026</a:t>
                      </a:r>
                      <a:endParaRPr sz="1050" b="0" i="0" u="none" strike="noStrike" cap="none">
                        <a:solidFill>
                          <a:srgbClr val="000000"/>
                        </a:solidFill>
                        <a:latin typeface="Arial"/>
                        <a:ea typeface="Arial"/>
                        <a:cs typeface="Arial"/>
                        <a:sym typeface="Arial"/>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Calibri"/>
                        <a:buNone/>
                      </a:pPr>
                      <a:r>
                        <a:rPr lang="en-IN" sz="900"/>
                        <a:t>taxpayer deals in courier service. taxpayer reclaim/reverse regularly.TAXPAYER  RECLAIMED AMOUNT RS 1.08 cr/-  IN TABLE 4D1 OF IGST IN DEC 25 GSTR 3B</a:t>
                      </a:r>
                      <a:endParaRPr sz="900" b="0" i="0" u="none" strike="noStrike" cap="none">
                        <a:solidFill>
                          <a:srgbClr val="000000"/>
                        </a:solidFill>
                        <a:latin typeface="Arial"/>
                        <a:ea typeface="Arial"/>
                        <a:cs typeface="Arial"/>
                        <a:sym typeface="Arial"/>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343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MKU HOLDINGS PRIVATE LIMITED</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050"/>
                        <a:buFont typeface="Arial"/>
                        <a:buNone/>
                      </a:pPr>
                      <a:r>
                        <a:rPr lang="en-IN" sz="1050" b="1" i="0" u="none" strike="noStrike" cap="none">
                          <a:solidFill>
                            <a:srgbClr val="000000"/>
                          </a:solidFill>
                          <a:latin typeface="Arial"/>
                          <a:ea typeface="Arial"/>
                          <a:cs typeface="Arial"/>
                          <a:sym typeface="Arial"/>
                        </a:rPr>
                        <a:t>3.52</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20 feb 2026</a:t>
                      </a:r>
                      <a:endParaRPr sz="1050" b="0" i="0" u="none" strike="noStrike" cap="none">
                        <a:solidFill>
                          <a:srgbClr val="000000"/>
                        </a:solidFill>
                        <a:latin typeface="Arial"/>
                        <a:ea typeface="Arial"/>
                        <a:cs typeface="Arial"/>
                        <a:sym typeface="Arial"/>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Calibri"/>
                        <a:buNone/>
                      </a:pPr>
                      <a:r>
                        <a:rPr lang="en-IN" sz="900"/>
                        <a:t>taxpayer deals in solar modules. taxpayer reclaim/reverse regularly. TAXPAYER  RECLAIMED AMOUNT RS 4760257/-  IN TABLE 4D1 OF IGST IN DEC 25 GSTR 3B</a:t>
                      </a:r>
                      <a:endParaRPr sz="900" b="0" i="0" u="none" strike="noStrike" cap="none">
                        <a:solidFill>
                          <a:srgbClr val="000000"/>
                        </a:solidFill>
                        <a:latin typeface="Arial"/>
                        <a:ea typeface="Arial"/>
                        <a:cs typeface="Arial"/>
                        <a:sym typeface="Arial"/>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5343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INNVOLUTION HEALTHCARE PVT. LTD.</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050"/>
                        <a:buFont typeface="Arial"/>
                        <a:buNone/>
                      </a:pPr>
                      <a:r>
                        <a:rPr lang="en-IN" sz="1050" b="1" i="0" u="none" strike="noStrike" cap="none">
                          <a:solidFill>
                            <a:srgbClr val="000000"/>
                          </a:solidFill>
                          <a:latin typeface="Arial"/>
                          <a:ea typeface="Arial"/>
                          <a:cs typeface="Arial"/>
                          <a:sym typeface="Arial"/>
                        </a:rPr>
                        <a:t>3.04</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20 feb 2026</a:t>
                      </a:r>
                      <a:endParaRPr sz="1050" b="0" i="0" u="none" strike="noStrike" cap="none">
                        <a:solidFill>
                          <a:srgbClr val="000000"/>
                        </a:solidFill>
                        <a:latin typeface="Arial"/>
                        <a:ea typeface="Arial"/>
                        <a:cs typeface="Arial"/>
                        <a:sym typeface="Arial"/>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Calibri"/>
                        <a:buNone/>
                      </a:pPr>
                      <a:r>
                        <a:rPr lang="en-IN" sz="900"/>
                        <a:t>TAXPAYER DEALS IN MEDICAL EQUIPMENTS  STENTS AND SAID THAT ITC AMOUNT IS BEING REVERSED AND RECLAIMED IN TABLE 4B2/4B1 AND 4D1 REGULARLY AND PERMANENT REVERSAL IS BEING DONE IN TABLE NO 4 B1 OF GSTR 3B IF ANY. IN GSTR 3B OF MONTH DEC 25 TAXPAYER REVERESED AMOUNT RS 1.04 LACS /- IN TABLE 4B1 AND AMOUNT RS 11.86 LACS /- IN TABLE 4B2 AND RECLAIMED AMOUNT RS 5.02 LACS/-   IN TABLE 4D1 OF IGST ITC.</a:t>
                      </a:r>
                      <a:endParaRPr sz="900" b="0" i="0" u="none" strike="noStrike" cap="none">
                        <a:solidFill>
                          <a:srgbClr val="000000"/>
                        </a:solidFill>
                        <a:latin typeface="Arial"/>
                        <a:ea typeface="Arial"/>
                        <a:cs typeface="Arial"/>
                        <a:sym typeface="Arial"/>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5343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FLIPKART INDIA PRIVATE LIMITED</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050"/>
                        <a:buFont typeface="Arial"/>
                        <a:buNone/>
                      </a:pPr>
                      <a:r>
                        <a:rPr lang="en-IN" sz="1050" b="1" i="0" u="none" strike="noStrike" cap="none">
                          <a:solidFill>
                            <a:srgbClr val="000000"/>
                          </a:solidFill>
                          <a:latin typeface="Arial"/>
                          <a:ea typeface="Arial"/>
                          <a:cs typeface="Arial"/>
                          <a:sym typeface="Arial"/>
                        </a:rPr>
                        <a:t>2.84</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20 feb 2026</a:t>
                      </a:r>
                      <a:endParaRPr sz="1050" b="0" i="0" u="none" strike="noStrike" cap="none">
                        <a:solidFill>
                          <a:srgbClr val="000000"/>
                        </a:solidFill>
                        <a:latin typeface="Arial"/>
                        <a:ea typeface="Arial"/>
                        <a:cs typeface="Arial"/>
                        <a:sym typeface="Arial"/>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Calibri"/>
                        <a:buNone/>
                      </a:pPr>
                      <a:r>
                        <a:rPr lang="en-IN" sz="900"/>
                        <a:t>taxpayer deals in e-commerce business. taxpayer reclaim/reverse regularly. TAXPAYER  RECLAIMED AMOUNT RS 10354195/-  IN TABLE 4D1 OF IGST IN DEC 2025 GSTR 3B.</a:t>
                      </a:r>
                      <a:endParaRPr sz="900" b="0" i="0" u="none" strike="noStrike" cap="none">
                        <a:solidFill>
                          <a:srgbClr val="000000"/>
                        </a:solidFill>
                        <a:latin typeface="Arial"/>
                        <a:ea typeface="Arial"/>
                        <a:cs typeface="Arial"/>
                        <a:sym typeface="Arial"/>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5343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DELHI TRADING COMMERCIAL PRIVATE LIMITED</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050"/>
                        <a:buFont typeface="Arial"/>
                        <a:buNone/>
                      </a:pPr>
                      <a:r>
                        <a:rPr lang="en-IN" sz="1050" b="1" i="0" u="none" strike="noStrike" cap="none">
                          <a:solidFill>
                            <a:srgbClr val="000000"/>
                          </a:solidFill>
                          <a:latin typeface="Arial"/>
                          <a:ea typeface="Arial"/>
                          <a:cs typeface="Arial"/>
                          <a:sym typeface="Arial"/>
                        </a:rPr>
                        <a:t>2.04</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20 feb 2026</a:t>
                      </a:r>
                      <a:endParaRPr sz="1050" b="0" i="0" u="none" strike="noStrike" cap="none">
                        <a:solidFill>
                          <a:srgbClr val="000000"/>
                        </a:solidFill>
                        <a:latin typeface="Arial"/>
                        <a:ea typeface="Arial"/>
                        <a:cs typeface="Arial"/>
                        <a:sym typeface="Arial"/>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Calibri"/>
                        <a:buNone/>
                      </a:pPr>
                      <a:r>
                        <a:rPr lang="en-IN" sz="900"/>
                        <a:t>taxpayer reclaim/reverse regularly. TAXPAYER  RECLAIMED AMOUNT RS 2.48 CR/-  IN TABLE 4D1 OF IGST IN DEC 2025 GSTR 3B.</a:t>
                      </a:r>
                      <a:endParaRPr sz="900" b="0" i="0" u="none" strike="noStrike" cap="none">
                        <a:solidFill>
                          <a:srgbClr val="000000"/>
                        </a:solidFill>
                        <a:latin typeface="Arial"/>
                        <a:ea typeface="Arial"/>
                        <a:cs typeface="Arial"/>
                        <a:sym typeface="Arial"/>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5343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ADVANCE AGROLIFE LIMITED</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050"/>
                        <a:buFont typeface="Arial"/>
                        <a:buNone/>
                      </a:pPr>
                      <a:r>
                        <a:rPr lang="en-IN" sz="1050" b="1" i="0" u="none" strike="noStrike" cap="none">
                          <a:solidFill>
                            <a:srgbClr val="000000"/>
                          </a:solidFill>
                          <a:latin typeface="Arial"/>
                          <a:ea typeface="Arial"/>
                          <a:cs typeface="Arial"/>
                          <a:sym typeface="Arial"/>
                        </a:rPr>
                        <a:t>1.78</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20 feb 2026</a:t>
                      </a:r>
                      <a:endParaRPr sz="1050" b="0" i="0" u="none" strike="noStrike" cap="none">
                        <a:solidFill>
                          <a:srgbClr val="000000"/>
                        </a:solidFill>
                        <a:latin typeface="Arial"/>
                        <a:ea typeface="Arial"/>
                        <a:cs typeface="Arial"/>
                        <a:sym typeface="Arial"/>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Calibri"/>
                        <a:buNone/>
                      </a:pPr>
                      <a:r>
                        <a:rPr lang="en-IN" sz="900"/>
                        <a:t>taxpayer deals in pasticides .TAXPAYER  RECLAIMED AMOUNT RS 18151540/-  IN TABLE 4D1 OF IGST N DEC 25 GSTR 3B</a:t>
                      </a:r>
                      <a:endParaRPr sz="900" b="0" i="0" u="none" strike="noStrike" cap="none">
                        <a:solidFill>
                          <a:srgbClr val="000000"/>
                        </a:solidFill>
                        <a:latin typeface="Arial"/>
                        <a:ea typeface="Arial"/>
                        <a:cs typeface="Arial"/>
                        <a:sym typeface="Arial"/>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5343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Grasim Industries Limited</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050"/>
                        <a:buFont typeface="Arial"/>
                        <a:buNone/>
                      </a:pPr>
                      <a:r>
                        <a:rPr lang="en-IN" sz="1050" b="1" i="0" u="none" strike="noStrike" cap="none">
                          <a:solidFill>
                            <a:srgbClr val="000000"/>
                          </a:solidFill>
                          <a:latin typeface="Arial"/>
                          <a:ea typeface="Arial"/>
                          <a:cs typeface="Arial"/>
                          <a:sym typeface="Arial"/>
                        </a:rPr>
                        <a:t>1.43</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20 feb 2026</a:t>
                      </a:r>
                      <a:endParaRPr sz="1050" b="0" i="0" u="none" strike="noStrike" cap="none">
                        <a:solidFill>
                          <a:srgbClr val="000000"/>
                        </a:solidFill>
                        <a:latin typeface="Arial"/>
                        <a:ea typeface="Arial"/>
                        <a:cs typeface="Arial"/>
                        <a:sym typeface="Arial"/>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900"/>
                        <a:buFont typeface="Calibri"/>
                        <a:buNone/>
                      </a:pPr>
                      <a:r>
                        <a:rPr lang="en-IN" sz="900" dirty="0">
                          <a:solidFill>
                            <a:schemeClr val="dk1"/>
                          </a:solidFill>
                        </a:rPr>
                        <a:t>TAXPAYER DEALS IN BIRLA OPUS PAINT AND RUNS GODOWN FOR RAJASTHAN AND SAID THAT ITC WILL BE CLAIMED WITH IN TIME THROUGH RECONCILATION. TAXPAYER  RECLAIMED AMOUNT RS 6552827/-  IN TABLE 4D1 OF IGST IN DEC 25 GSTR 3B.</a:t>
                      </a:r>
                      <a:endParaRPr sz="900" dirty="0">
                        <a:solidFill>
                          <a:schemeClr val="dk1"/>
                        </a:solidFill>
                      </a:endParaRPr>
                    </a:p>
                    <a:p>
                      <a:pPr marL="0" marR="0" lvl="0" indent="0" algn="ctr" rtl="0">
                        <a:spcBef>
                          <a:spcPts val="0"/>
                        </a:spcBef>
                        <a:spcAft>
                          <a:spcPts val="0"/>
                        </a:spcAft>
                        <a:buClr>
                          <a:schemeClr val="dk1"/>
                        </a:buClr>
                        <a:buSzPts val="900"/>
                        <a:buFont typeface="Calibri"/>
                        <a:buNone/>
                      </a:pPr>
                      <a:endParaRPr sz="900" dirty="0"/>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38075">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Total</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57.97</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 </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700"/>
                        <a:buFont typeface="Arial"/>
                        <a:buNone/>
                      </a:pPr>
                      <a:r>
                        <a:rPr lang="en-IN" sz="700" b="1" i="0" u="none" strike="noStrike" cap="none">
                          <a:solidFill>
                            <a:srgbClr val="FFFFFF"/>
                          </a:solidFill>
                          <a:latin typeface="Arial"/>
                          <a:ea typeface="Arial"/>
                          <a:cs typeface="Arial"/>
                          <a:sym typeface="Arial"/>
                        </a:rPr>
                        <a:t> </a:t>
                      </a:r>
                      <a:endParaRPr/>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700"/>
                        <a:buFont typeface="Arial"/>
                        <a:buNone/>
                      </a:pPr>
                      <a:r>
                        <a:rPr lang="en-IN" sz="700" b="1" i="0" u="none" strike="noStrike" cap="none" dirty="0">
                          <a:solidFill>
                            <a:srgbClr val="FFFFFF"/>
                          </a:solidFill>
                          <a:latin typeface="Arial"/>
                          <a:ea typeface="Arial"/>
                          <a:cs typeface="Arial"/>
                          <a:sym typeface="Arial"/>
                        </a:rPr>
                        <a:t> </a:t>
                      </a:r>
                      <a:endParaRPr dirty="0"/>
                    </a:p>
                  </a:txBody>
                  <a:tcPr marL="3200" marR="3200" marT="32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
        <p:nvSpPr>
          <p:cNvPr id="461" name="Google Shape;461;p51"/>
          <p:cNvSpPr txBox="1"/>
          <p:nvPr/>
        </p:nvSpPr>
        <p:spPr>
          <a:xfrm>
            <a:off x="152400" y="152400"/>
            <a:ext cx="3000000" cy="346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IN" sz="1050">
                <a:solidFill>
                  <a:schemeClr val="dk1"/>
                </a:solidFill>
              </a:rPr>
              <a:t>20 feb 2026</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52"/>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Circle-A Bhiwadi - IGST</a:t>
            </a:r>
            <a:endParaRPr sz="2000" b="1" i="0" u="none" strike="noStrike" cap="none">
              <a:solidFill>
                <a:srgbClr val="000000"/>
              </a:solidFill>
              <a:latin typeface="Verdana"/>
              <a:ea typeface="Verdana"/>
              <a:cs typeface="Verdana"/>
              <a:sym typeface="Verdana"/>
            </a:endParaRPr>
          </a:p>
        </p:txBody>
      </p:sp>
      <p:sp>
        <p:nvSpPr>
          <p:cNvPr id="468" name="Google Shape;468;p52"/>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469" name="Google Shape;469;p52"/>
          <p:cNvGraphicFramePr/>
          <p:nvPr/>
        </p:nvGraphicFramePr>
        <p:xfrm>
          <a:off x="466336" y="956745"/>
          <a:ext cx="11259325" cy="9726365"/>
        </p:xfrm>
        <a:graphic>
          <a:graphicData uri="http://schemas.openxmlformats.org/drawingml/2006/table">
            <a:tbl>
              <a:tblPr>
                <a:noFill/>
                <a:tableStyleId>{ED13AFB8-4CE9-44F5-8004-2B2D446919A9}</a:tableStyleId>
              </a:tblPr>
              <a:tblGrid>
                <a:gridCol w="1834475">
                  <a:extLst>
                    <a:ext uri="{9D8B030D-6E8A-4147-A177-3AD203B41FA5}">
                      <a16:colId xmlns:a16="http://schemas.microsoft.com/office/drawing/2014/main" val="20000"/>
                    </a:ext>
                  </a:extLst>
                </a:gridCol>
                <a:gridCol w="895175">
                  <a:extLst>
                    <a:ext uri="{9D8B030D-6E8A-4147-A177-3AD203B41FA5}">
                      <a16:colId xmlns:a16="http://schemas.microsoft.com/office/drawing/2014/main" val="20001"/>
                    </a:ext>
                  </a:extLst>
                </a:gridCol>
                <a:gridCol w="934375">
                  <a:extLst>
                    <a:ext uri="{9D8B030D-6E8A-4147-A177-3AD203B41FA5}">
                      <a16:colId xmlns:a16="http://schemas.microsoft.com/office/drawing/2014/main" val="20002"/>
                    </a:ext>
                  </a:extLst>
                </a:gridCol>
                <a:gridCol w="1294800">
                  <a:extLst>
                    <a:ext uri="{9D8B030D-6E8A-4147-A177-3AD203B41FA5}">
                      <a16:colId xmlns:a16="http://schemas.microsoft.com/office/drawing/2014/main" val="20003"/>
                    </a:ext>
                  </a:extLst>
                </a:gridCol>
                <a:gridCol w="6300500">
                  <a:extLst>
                    <a:ext uri="{9D8B030D-6E8A-4147-A177-3AD203B41FA5}">
                      <a16:colId xmlns:a16="http://schemas.microsoft.com/office/drawing/2014/main" val="20004"/>
                    </a:ext>
                  </a:extLst>
                </a:gridCol>
              </a:tblGrid>
              <a:tr h="302175">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Firm Name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 Remaining Amount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List Name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Expected Date of reversal/ Utilization</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4972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JAQUAR AND COMPANY PRIVATE LIMITED</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6.28</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I6 C_High Reclaim Ledger</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19-02-2026</a:t>
                      </a:r>
                      <a:endParaRPr sz="1000" b="0" i="0" u="none" strike="noStrike" cap="none">
                        <a:solidFill>
                          <a:srgbClr val="000000"/>
                        </a:solidFill>
                        <a:latin typeface="Arial"/>
                        <a:ea typeface="Arial"/>
                        <a:cs typeface="Arial"/>
                        <a:sym typeface="Arial"/>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000"/>
                        <a:buFont typeface="Calibri"/>
                        <a:buNone/>
                      </a:pPr>
                      <a:r>
                        <a:rPr lang="en-IN" sz="1000"/>
                        <a:t> ITC remaining in reclaim/reversal ledger  is not related to permanent reversal as per rule 42/43. Taxpayer every month  regularly makes reversal in 4B(2) &amp; reclaims in 4D(1) after reconciliation of the invoices. Taxpayer has reclaimed ITC Rs.470.92 lakhs in 4D(1)  and reversed ITC amounting  to Rs.9.63 lakh in 4B(1) and Rs. 314.08 Lacs in 4B(2) in  Nov-25 returns &amp; Taxpayer reclaimed ITC Rs.412.78 lakhs in 4D(1)  and reversed ITC amounting Rs.11.77 lakh in 4B(1) and Rs.746.41 in 4B(2) in  Dec-25 returns. Now the credit reversal and reclaim ledger balance is Rs.805.66 lakh. (Expected reclaim in Jan-26 GSTR-3B will be of Rs.400.00 lakh) </a:t>
                      </a:r>
                      <a:endParaRPr sz="1000" b="0" i="0" u="none" strike="noStrike" cap="none">
                        <a:solidFill>
                          <a:srgbClr val="000000"/>
                        </a:solidFill>
                        <a:latin typeface="Arial"/>
                        <a:ea typeface="Arial"/>
                        <a:cs typeface="Arial"/>
                        <a:sym typeface="Arial"/>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972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RHI MAGNESITA INDIA LIMITED</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5.77</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I6 C_High Reclaim Ledger</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20-02-2026</a:t>
                      </a:r>
                      <a:endParaRPr sz="1000" b="0" i="0" u="none" strike="noStrike" cap="none">
                        <a:solidFill>
                          <a:srgbClr val="000000"/>
                        </a:solidFill>
                        <a:latin typeface="Arial"/>
                        <a:ea typeface="Arial"/>
                        <a:cs typeface="Arial"/>
                        <a:sym typeface="Arial"/>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000"/>
                        <a:buFont typeface="Calibri"/>
                        <a:buNone/>
                      </a:pPr>
                      <a:r>
                        <a:rPr lang="en-IN" sz="1000">
                          <a:solidFill>
                            <a:schemeClr val="dk1"/>
                          </a:solidFill>
                        </a:rPr>
                        <a:t>ITC remaining in reclaim/reversal ledger  is not related to permanent reversal as per rule 42/43. Taxpayer every month  regularly makes reversal in 4B(2) &amp; reclaims in 4D(1) after reconciliation of the invoices. </a:t>
                      </a:r>
                      <a:r>
                        <a:rPr lang="en-IN" sz="1000"/>
                        <a:t>Taxpayer reclaimed ITC Rs.176.12 lakhs in 4(D)(1)  and reversed ITC amounting Rs.0.29 lakh in 4B(1) and Rs.194.75 Lacs in 4B(2) in  Nov-25 returns &amp; Taxpayer reclaimed ITC Rs.217.51 lakhs in 4(D)(1)  and reversed ITC amounting Rs.3.46 lakh in 4B(1) and Rs.118.09 in 4B(2) in  Dec-25 returns. Now the credit reversal and reclaim ledger balance is Rs.495.32 lakh.  (Expected reclaim in Jan-26 GSTR-3B will be Rs.250.00 lakh).</a:t>
                      </a:r>
                      <a:endParaRPr sz="1000" b="0" i="0" u="none" strike="noStrike" cap="none">
                        <a:solidFill>
                          <a:srgbClr val="000000"/>
                        </a:solidFill>
                        <a:latin typeface="Arial"/>
                        <a:ea typeface="Arial"/>
                        <a:cs typeface="Arial"/>
                        <a:sym typeface="Arial"/>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972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SAINT - GOBAIN INDIA PRIVATE LIMITED</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4.59</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I6 C_High Reclaim Ledger</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20-02-2026</a:t>
                      </a:r>
                      <a:endParaRPr sz="1000"/>
                    </a:p>
                    <a:p>
                      <a:pPr marL="0" marR="0" lvl="0" indent="0" algn="ctr" rtl="0">
                        <a:spcBef>
                          <a:spcPts val="0"/>
                        </a:spcBef>
                        <a:spcAft>
                          <a:spcPts val="0"/>
                        </a:spcAft>
                        <a:buClr>
                          <a:schemeClr val="dk1"/>
                        </a:buClr>
                        <a:buSzPts val="1000"/>
                        <a:buFont typeface="Calibri"/>
                        <a:buNone/>
                      </a:pPr>
                      <a:endParaRPr sz="1000"/>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000"/>
                        <a:buFont typeface="Calibri"/>
                        <a:buNone/>
                      </a:pPr>
                      <a:r>
                        <a:rPr lang="en-IN" sz="1000">
                          <a:solidFill>
                            <a:schemeClr val="dk1"/>
                          </a:solidFill>
                        </a:rPr>
                        <a:t>ITC remaining in reclaim/reversal ledger  is not related to permanent reversal as per rule 42/43. Taxpayer every month  regularly makes reversal in 4B(2) &amp; reclaims in 4D(1) after reconciliation of the invoices. Taxpayer has reclaimed </a:t>
                      </a:r>
                      <a:r>
                        <a:rPr lang="en-IN" sz="1000"/>
                        <a:t>ITC Rs.278.38 lakh  and reversed ITC amounting Rs.9.21 lakh in 4B(1)  and Rs.262.08 in 4B(2) in  Nov-25 returns. Taxpayer reclaimed ITC Rs.346.20 lakhs in 4(D)(1) and reversed ITC amounting Rs.16.84 lakh in 4B(1) and Rs.248.73 in 4B(2) in  Dec-25 returns. Now the credit reversal and reclaim ledger balance is Rs.345.24 lakh. (Expected reclaim in Jan-26 GSTR-3B will be Rs.325.00 lakh)</a:t>
                      </a:r>
                      <a:endParaRPr sz="1000" b="0" i="0" u="none" strike="noStrike" cap="none">
                        <a:solidFill>
                          <a:srgbClr val="000000"/>
                        </a:solidFill>
                        <a:latin typeface="Arial"/>
                        <a:ea typeface="Arial"/>
                        <a:cs typeface="Arial"/>
                        <a:sym typeface="Arial"/>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972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Lenskart Solutions Limited</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3.97</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I6 C_High Reclaim Ledger</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20-02-2026</a:t>
                      </a:r>
                      <a:endParaRPr sz="1000" b="0" i="0" u="none" strike="noStrike" cap="none">
                        <a:solidFill>
                          <a:srgbClr val="000000"/>
                        </a:solidFill>
                        <a:latin typeface="Arial"/>
                        <a:ea typeface="Arial"/>
                        <a:cs typeface="Arial"/>
                        <a:sym typeface="Arial"/>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000"/>
                        <a:buFont typeface="Calibri"/>
                        <a:buNone/>
                      </a:pPr>
                      <a:r>
                        <a:rPr lang="en-IN" sz="1000">
                          <a:solidFill>
                            <a:schemeClr val="dk1"/>
                          </a:solidFill>
                        </a:rPr>
                        <a:t>ITC remaining in reclaim/reversal ledger  is not related to permanent reversal as per rule 42/43. Taxpayer every month  regularly makes reversal in 4B(2) &amp; reclaims in 4D(1) after reconciliation of the invoices. </a:t>
                      </a:r>
                      <a:r>
                        <a:rPr lang="en-IN" sz="1000"/>
                        <a:t>Taxpayer has reclaimed ITC Rs.202.02 lakhs in 4(D)(1) and reversed Rs.176.01 in 4B(2) in  Nov-25 returns. Taxpayer reclaimed ITC Rs.164.32 lakhs in 4(D)(1)  and reversed Rs.244.95 in 4B(2) in  Dec-25 returns. Now the credit reversal and reclaim ledger balance is Rs.451.21 lakh.  (Expected reclaim in Jan-26 GSTR-3B will be Rs.235.00 lakh)</a:t>
                      </a:r>
                      <a:endParaRPr sz="1000" b="0" i="0" u="none" strike="noStrike" cap="none">
                        <a:solidFill>
                          <a:srgbClr val="000000"/>
                        </a:solidFill>
                        <a:latin typeface="Arial"/>
                        <a:ea typeface="Arial"/>
                        <a:cs typeface="Arial"/>
                        <a:sym typeface="Arial"/>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972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BAXY LIMITED</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3.84</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I6 C_High Reclaim Ledger</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19-02-2026</a:t>
                      </a:r>
                      <a:endParaRPr sz="1000" b="0" i="0" u="none" strike="noStrike" cap="none">
                        <a:solidFill>
                          <a:srgbClr val="000000"/>
                        </a:solidFill>
                        <a:latin typeface="Arial"/>
                        <a:ea typeface="Arial"/>
                        <a:cs typeface="Arial"/>
                        <a:sym typeface="Arial"/>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000"/>
                        <a:buFont typeface="Calibri"/>
                        <a:buNone/>
                      </a:pPr>
                      <a:r>
                        <a:rPr lang="en-IN" sz="1000">
                          <a:solidFill>
                            <a:schemeClr val="dk1"/>
                          </a:solidFill>
                        </a:rPr>
                        <a:t>ITC remaining in reclaim/reversal ledger  is not related to permanent reversal as per rule 42/43. Taxpayer every month  regularly makes reversal in 4B(2) &amp; reclaims in 4D(1) after reconciliation of the invoices. </a:t>
                      </a:r>
                      <a:r>
                        <a:rPr lang="en-IN" sz="1000"/>
                        <a:t>Taxpayer has reclaimed ITC Rs.137.78 lakh in 4(D)(1) and reversed Rs.258.67 in 4B(2)  in Nov-25 GSTR-3B. Taxpayer reclaimed ITC Rs.336.20 lakhs in 4(D)(1)  and reversed Rs.179.88 in 4B(2)  in Dec-25 GSTR-3B. Now the credit reversal and reclaim ledger balance is Rs.348.90 lakh. (Expected reclaim in Jan-26 GSTR-3B will be Rs.250.00 lakh)</a:t>
                      </a:r>
                      <a:endParaRPr sz="1000" b="0" i="0" u="none" strike="noStrike" cap="none">
                        <a:solidFill>
                          <a:srgbClr val="000000"/>
                        </a:solidFill>
                        <a:latin typeface="Arial"/>
                        <a:ea typeface="Arial"/>
                        <a:cs typeface="Arial"/>
                        <a:sym typeface="Arial"/>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972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HINDWARE LIMITED</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3.66</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I6 C_High Reclaim Ledger</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20-02-2026</a:t>
                      </a:r>
                      <a:endParaRPr sz="1000" b="0" i="0" u="none" strike="noStrike" cap="none">
                        <a:solidFill>
                          <a:srgbClr val="000000"/>
                        </a:solidFill>
                        <a:latin typeface="Arial"/>
                        <a:ea typeface="Arial"/>
                        <a:cs typeface="Arial"/>
                        <a:sym typeface="Arial"/>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000"/>
                        <a:buFont typeface="Calibri"/>
                        <a:buNone/>
                      </a:pPr>
                      <a:r>
                        <a:rPr lang="en-IN" sz="1000">
                          <a:solidFill>
                            <a:schemeClr val="dk1"/>
                          </a:solidFill>
                        </a:rPr>
                        <a:t>ITC remaining in reclaim/reversal ledger  is not related to permanent reversal as per rule 42/43. Taxpayer every month  regularly makes reversal in 4B(2) &amp; reclaims in 4D(1) after reconciliation of the invoices. </a:t>
                      </a:r>
                      <a:r>
                        <a:rPr lang="en-IN" sz="1000"/>
                        <a:t> Taxpayer reclaimed ITC Rs.63.87 lakhs in 4(D)(1) and reversed ITC amounting Rs.0.23 lakh in 4B(1) and Rs.85.86 in 4B(2) in  Nov-25 returns. Taxpayer reclaimed ITC Rs.46.65 lakhs in 4(D)(1) and reversed ITC amounting Rs.0.28 lakh in 4B(1) and Rs.65.83 in 4B(2) in  Dec-25 returns. Now the credit reversal and reclaim ledger balance is Rs.407.46 lakh.  (Expected reclaim in Jan-26 GSTR-3B will be Rs.200.00 lakh)</a:t>
                      </a:r>
                      <a:endParaRPr sz="1000" b="0" i="0" u="none" strike="noStrike" cap="none">
                        <a:solidFill>
                          <a:srgbClr val="000000"/>
                        </a:solidFill>
                        <a:latin typeface="Arial"/>
                        <a:ea typeface="Arial"/>
                        <a:cs typeface="Arial"/>
                        <a:sym typeface="Arial"/>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972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SHRI TIRUPATI ENTERPRISES</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3.33</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I6 C_High Reclaim Ledger</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20-02-2026</a:t>
                      </a:r>
                      <a:endParaRPr sz="1000" b="0" i="0" u="none" strike="noStrike" cap="none">
                        <a:solidFill>
                          <a:srgbClr val="000000"/>
                        </a:solidFill>
                        <a:latin typeface="Arial"/>
                        <a:ea typeface="Arial"/>
                        <a:cs typeface="Arial"/>
                        <a:sym typeface="Arial"/>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000"/>
                        <a:buFont typeface="Calibri"/>
                        <a:buNone/>
                      </a:pPr>
                      <a:r>
                        <a:rPr lang="en-IN" sz="1000">
                          <a:solidFill>
                            <a:schemeClr val="dk1"/>
                          </a:solidFill>
                        </a:rPr>
                        <a:t>ITC remaining in reclaim/reversal ledger  is not related to permanent reversal as per rule 42/43. Taxpayer every month  regularly makes reversal in 4B(2) &amp; reclaims in 4D(1) after reconciliation of the invoices. </a:t>
                      </a:r>
                      <a:r>
                        <a:rPr lang="en-IN" sz="1000"/>
                        <a:t> Taxpayer reclaimed ITC Rs.331.39 lakhs in 4(D)(1)  and reversed Rs.340.41 in 4B(2)  in Nov-25 GSTR-3B. Taxpayer reclaimed ITC Rs.340.41 lakh and reversed Rs.173.09 in 4B(2)  in Dec-25 GSTR-3B. Now the credit reversal and reclaim ledger balance is Rs.174.74 lakh. </a:t>
                      </a:r>
                      <a:r>
                        <a:rPr lang="en-IN" sz="1000">
                          <a:solidFill>
                            <a:schemeClr val="dk1"/>
                          </a:solidFill>
                        </a:rPr>
                        <a:t>(Expected reclaim in Jan-26 GSTR-3B will be Rs.170.00 lakhs)</a:t>
                      </a:r>
                      <a:endParaRPr sz="1000" b="0" i="0" u="none" strike="noStrike" cap="none">
                        <a:solidFill>
                          <a:srgbClr val="000000"/>
                        </a:solidFill>
                        <a:latin typeface="Arial"/>
                        <a:ea typeface="Arial"/>
                        <a:cs typeface="Arial"/>
                        <a:sym typeface="Arial"/>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972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GEMSCAB INDUSTRIES LIMITED</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2.91</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I6 C_High Reclaim Ledger</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20-02-2026</a:t>
                      </a:r>
                      <a:endParaRPr sz="1000" b="0" i="0" u="none" strike="noStrike" cap="none">
                        <a:solidFill>
                          <a:srgbClr val="000000"/>
                        </a:solidFill>
                        <a:latin typeface="Arial"/>
                        <a:ea typeface="Arial"/>
                        <a:cs typeface="Arial"/>
                        <a:sym typeface="Arial"/>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000"/>
                        <a:buFont typeface="Calibri"/>
                        <a:buNone/>
                      </a:pPr>
                      <a:r>
                        <a:rPr lang="en-IN" sz="1000">
                          <a:solidFill>
                            <a:schemeClr val="dk1"/>
                          </a:solidFill>
                        </a:rPr>
                        <a:t>ITC remaining in reclaim/reversal ledger  is not related to permanent reversal as per rule 42/43. Taxpayer every month  regularly makes reversal in 4B(2) &amp; reclaims in 4D(1) after reconciliation of the invoices. </a:t>
                      </a:r>
                      <a:r>
                        <a:rPr lang="en-IN" sz="1000"/>
                        <a:t> Taxpayer has  reclaimed ITC Rs.238.57 lakhs in 4D(1) and reversed ITC amounting Rs.21.88 lakh in 4B(1) and Rs.154.63 in 4B(2) in  Nov-25 returns. Taxpayer reclaimed ITC Rs.151.71 lakhs in 4D(1) and reversed ITC amounting Rs.1.30 lakh in 4B(1) and Rs.223.98 in 4B(2) in  Dec-25 returns.  Now the credit reversal and reclaim ledger balance is Rs.278.86 lakh.  (Expected reclaim in Jan-26 GSTR-3B will be Rs.275.00 lakhs)</a:t>
                      </a:r>
                      <a:endParaRPr sz="1000" b="0" i="0" u="none" strike="noStrike" cap="none">
                        <a:solidFill>
                          <a:srgbClr val="000000"/>
                        </a:solidFill>
                        <a:latin typeface="Arial"/>
                        <a:ea typeface="Arial"/>
                        <a:cs typeface="Arial"/>
                        <a:sym typeface="Arial"/>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972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PG TECHNOPLAST PRIVATE LIMITED</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2.65</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I6 C_High Reclaim Ledger</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19-02-2026</a:t>
                      </a:r>
                      <a:endParaRPr sz="1000" b="0" i="0" u="none" strike="noStrike" cap="none">
                        <a:solidFill>
                          <a:srgbClr val="000000"/>
                        </a:solidFill>
                        <a:latin typeface="Arial"/>
                        <a:ea typeface="Arial"/>
                        <a:cs typeface="Arial"/>
                        <a:sym typeface="Arial"/>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000"/>
                        <a:buFont typeface="Calibri"/>
                        <a:buNone/>
                      </a:pPr>
                      <a:r>
                        <a:rPr lang="en-IN" sz="1000">
                          <a:solidFill>
                            <a:schemeClr val="dk1"/>
                          </a:solidFill>
                        </a:rPr>
                        <a:t>ITC remaining in reclaim/reversal ledger  is not related to permanent reversal as per rule 42/43. Taxpayer every month  regularly makes reversal in 4B(2) &amp; reclaims in 4D(1) after reconciliation of the invoices. </a:t>
                      </a:r>
                      <a:r>
                        <a:rPr lang="en-IN" sz="1000"/>
                        <a:t>Taxpayer has reclaimed ITC Rs.150.57 in 4D(1) lakhs and reversed Rs.964.70 lakhs  in 4B(2)  in Nov-25 GSTR-3B. Taxpayer reversed Rs.380.94 in 4B(2)  in Dec-25 GSTR-3B. Now the credit reversal and reclaim ledger balance is Rs.1459.77 lakh. (Expected reclaim in Jan-26 GSTR-3B will be Rs.1350.00lakh)</a:t>
                      </a:r>
                      <a:endParaRPr sz="1000" b="0" i="0" u="none" strike="noStrike" cap="none">
                        <a:solidFill>
                          <a:srgbClr val="000000"/>
                        </a:solidFill>
                        <a:latin typeface="Arial"/>
                        <a:ea typeface="Arial"/>
                        <a:cs typeface="Arial"/>
                        <a:sym typeface="Arial"/>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4972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FEDERAL MOGUL GOETZE (INDIA) LIMITED</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2.60</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I6 C_High Reclaim Ledger</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20-02-2026</a:t>
                      </a:r>
                      <a:endParaRPr sz="1000" b="0" i="0" u="none" strike="noStrike" cap="none">
                        <a:solidFill>
                          <a:srgbClr val="000000"/>
                        </a:solidFill>
                        <a:latin typeface="Arial"/>
                        <a:ea typeface="Arial"/>
                        <a:cs typeface="Arial"/>
                        <a:sym typeface="Arial"/>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000"/>
                        <a:buFont typeface="Calibri"/>
                        <a:buNone/>
                      </a:pPr>
                      <a:r>
                        <a:rPr lang="en-IN" sz="1000">
                          <a:solidFill>
                            <a:schemeClr val="dk1"/>
                          </a:solidFill>
                        </a:rPr>
                        <a:t>ITC remaining in reclaim/reversal ledger  is not related to permanent reversal as per rule 42/43. Taxpayer every month  regularly makes reversal in 4B(2) &amp; reclaims in 4D(1) after reconciliation of the invoices. </a:t>
                      </a:r>
                      <a:r>
                        <a:rPr lang="en-IN" sz="1000"/>
                        <a:t> Taxpayer has reclaimed ITC Rs.60.98 lakhs in 4D(1)  and reversed ITC amounting Rs.0.40 lakh in 4B(1) and Rs.77.20 in 4B(2) in  Nov-25 returns. Taxpayer reclaimed ITC Rs.65.90 lakh and reversed ITC amounting  Rs.108.13 in 4B(2) in  Dec-25 returns. Now the credit reversal and reclaim ledger balance is Rs.318.51 lakh. (Expected reclaim in Jan-26 GSTR-3B will be Rs.250.00 lakh)</a:t>
                      </a:r>
                      <a:endParaRPr sz="1000" b="0" i="0" u="none" strike="noStrike" cap="none">
                        <a:solidFill>
                          <a:srgbClr val="000000"/>
                        </a:solidFill>
                        <a:latin typeface="Arial"/>
                        <a:ea typeface="Arial"/>
                        <a:cs typeface="Arial"/>
                        <a:sym typeface="Arial"/>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191900">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Total</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39.60</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 </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500"/>
                        <a:buFont typeface="Arial"/>
                        <a:buNone/>
                      </a:pPr>
                      <a:r>
                        <a:rPr lang="en-IN" sz="500" b="1" i="0" u="none" strike="noStrike" cap="none">
                          <a:solidFill>
                            <a:srgbClr val="FFFFFF"/>
                          </a:solidFill>
                          <a:latin typeface="Arial"/>
                          <a:ea typeface="Arial"/>
                          <a:cs typeface="Arial"/>
                          <a:sym typeface="Arial"/>
                        </a:rPr>
                        <a:t> </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500"/>
                        <a:buFont typeface="Arial"/>
                        <a:buNone/>
                      </a:pPr>
                      <a:r>
                        <a:rPr lang="en-IN" sz="1000" b="1">
                          <a:solidFill>
                            <a:srgbClr val="FFFFFF"/>
                          </a:solidFill>
                        </a:rPr>
                        <a:t>Expected Total Reclaim amount in Feb.-2026 - 36.25 Cr.</a:t>
                      </a:r>
                      <a:r>
                        <a:rPr lang="en-IN" sz="500" b="1" i="0" u="none" strike="noStrike" cap="none">
                          <a:solidFill>
                            <a:srgbClr val="FFFFFF"/>
                          </a:solidFill>
                          <a:latin typeface="Arial"/>
                          <a:ea typeface="Arial"/>
                          <a:cs typeface="Arial"/>
                          <a:sym typeface="Arial"/>
                        </a:rPr>
                        <a:t> </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53"/>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Circle-C Alwar - IGST</a:t>
            </a:r>
            <a:endParaRPr sz="2000" b="1" i="0" u="none" strike="noStrike" cap="none">
              <a:solidFill>
                <a:srgbClr val="000000"/>
              </a:solidFill>
              <a:latin typeface="Verdana"/>
              <a:ea typeface="Verdana"/>
              <a:cs typeface="Verdana"/>
              <a:sym typeface="Verdana"/>
            </a:endParaRPr>
          </a:p>
        </p:txBody>
      </p:sp>
      <p:sp>
        <p:nvSpPr>
          <p:cNvPr id="476" name="Google Shape;476;p53"/>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477" name="Google Shape;477;p53"/>
          <p:cNvGraphicFramePr/>
          <p:nvPr/>
        </p:nvGraphicFramePr>
        <p:xfrm>
          <a:off x="466338" y="464374"/>
          <a:ext cx="11375125" cy="10135072"/>
        </p:xfrm>
        <a:graphic>
          <a:graphicData uri="http://schemas.openxmlformats.org/drawingml/2006/table">
            <a:tbl>
              <a:tblPr>
                <a:noFill/>
                <a:tableStyleId>{ED13AFB8-4CE9-44F5-8004-2B2D446919A9}</a:tableStyleId>
              </a:tblPr>
              <a:tblGrid>
                <a:gridCol w="1777125">
                  <a:extLst>
                    <a:ext uri="{9D8B030D-6E8A-4147-A177-3AD203B41FA5}">
                      <a16:colId xmlns:a16="http://schemas.microsoft.com/office/drawing/2014/main" val="20000"/>
                    </a:ext>
                  </a:extLst>
                </a:gridCol>
                <a:gridCol w="1019475">
                  <a:extLst>
                    <a:ext uri="{9D8B030D-6E8A-4147-A177-3AD203B41FA5}">
                      <a16:colId xmlns:a16="http://schemas.microsoft.com/office/drawing/2014/main" val="20001"/>
                    </a:ext>
                  </a:extLst>
                </a:gridCol>
                <a:gridCol w="1593100">
                  <a:extLst>
                    <a:ext uri="{9D8B030D-6E8A-4147-A177-3AD203B41FA5}">
                      <a16:colId xmlns:a16="http://schemas.microsoft.com/office/drawing/2014/main" val="20002"/>
                    </a:ext>
                  </a:extLst>
                </a:gridCol>
                <a:gridCol w="965350">
                  <a:extLst>
                    <a:ext uri="{9D8B030D-6E8A-4147-A177-3AD203B41FA5}">
                      <a16:colId xmlns:a16="http://schemas.microsoft.com/office/drawing/2014/main" val="20003"/>
                    </a:ext>
                  </a:extLst>
                </a:gridCol>
                <a:gridCol w="6020075">
                  <a:extLst>
                    <a:ext uri="{9D8B030D-6E8A-4147-A177-3AD203B41FA5}">
                      <a16:colId xmlns:a16="http://schemas.microsoft.com/office/drawing/2014/main" val="20004"/>
                    </a:ext>
                  </a:extLst>
                </a:gridCol>
              </a:tblGrid>
              <a:tr h="654550">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Firm Name</a:t>
                      </a:r>
                      <a:endParaRPr>
                        <a:latin typeface="Cambria"/>
                        <a:ea typeface="Cambria"/>
                        <a:cs typeface="Cambria"/>
                        <a:sym typeface="Cambria"/>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 Remaining Amount </a:t>
                      </a:r>
                      <a:endParaRPr>
                        <a:latin typeface="Cambria"/>
                        <a:ea typeface="Cambria"/>
                        <a:cs typeface="Cambria"/>
                        <a:sym typeface="Cambria"/>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List Name</a:t>
                      </a:r>
                      <a:endParaRPr>
                        <a:latin typeface="Cambria"/>
                        <a:ea typeface="Cambria"/>
                        <a:cs typeface="Cambria"/>
                        <a:sym typeface="Cambria"/>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Expected Date of reversal/ Utilization</a:t>
                      </a:r>
                      <a:endParaRPr>
                        <a:latin typeface="Cambria"/>
                        <a:ea typeface="Cambria"/>
                        <a:cs typeface="Cambria"/>
                        <a:sym typeface="Cambria"/>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Cambria"/>
                          <a:ea typeface="Cambria"/>
                          <a:cs typeface="Cambria"/>
                          <a:sym typeface="Cambria"/>
                        </a:rPr>
                        <a:t>Remarks</a:t>
                      </a:r>
                      <a:endParaRPr>
                        <a:latin typeface="Cambria"/>
                        <a:ea typeface="Cambria"/>
                        <a:cs typeface="Cambria"/>
                        <a:sym typeface="Cambria"/>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955475">
                <a:tc>
                  <a:txBody>
                    <a:bodyPr/>
                    <a:lstStyle/>
                    <a:p>
                      <a:pPr marL="0" marR="0" lvl="0" indent="0" algn="ctr" rtl="0">
                        <a:spcBef>
                          <a:spcPts val="0"/>
                        </a:spcBef>
                        <a:spcAft>
                          <a:spcPts val="0"/>
                        </a:spcAft>
                        <a:buClr>
                          <a:srgbClr val="000000"/>
                        </a:buClr>
                        <a:buSzPts val="1050"/>
                        <a:buFont typeface="Arial"/>
                        <a:buNone/>
                      </a:pPr>
                      <a:r>
                        <a:rPr lang="en-IN" sz="1050" i="0" u="none" strike="noStrike" cap="none">
                          <a:solidFill>
                            <a:srgbClr val="000000"/>
                          </a:solidFill>
                          <a:latin typeface="Cambria"/>
                          <a:ea typeface="Cambria"/>
                          <a:cs typeface="Cambria"/>
                          <a:sym typeface="Cambria"/>
                        </a:rPr>
                        <a:t>ASHOK LEYLAND LIMITED</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Cambria"/>
                          <a:ea typeface="Cambria"/>
                          <a:cs typeface="Cambria"/>
                          <a:sym typeface="Cambria"/>
                        </a:rPr>
                        <a:t>23.08</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900"/>
                        <a:buFont typeface="Arial"/>
                        <a:buNone/>
                      </a:pPr>
                      <a:r>
                        <a:rPr lang="en-IN" sz="900">
                          <a:latin typeface="Cambria"/>
                          <a:ea typeface="Cambria"/>
                          <a:cs typeface="Cambria"/>
                          <a:sym typeface="Cambria"/>
                        </a:rPr>
                        <a:t>I6 C_High Reclaim Ledger</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latin typeface="Cambria"/>
                          <a:ea typeface="Cambria"/>
                          <a:cs typeface="Cambria"/>
                          <a:sym typeface="Cambria"/>
                        </a:rPr>
                        <a:t>20-02-2026</a:t>
                      </a:r>
                      <a:endParaRPr sz="1000">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Clr>
                          <a:schemeClr val="dk1"/>
                        </a:buClr>
                        <a:buSzPts val="1100"/>
                        <a:buFont typeface="Arial"/>
                        <a:buNone/>
                      </a:pPr>
                      <a:r>
                        <a:rPr lang="en-IN" sz="1000">
                          <a:solidFill>
                            <a:srgbClr val="1F1F1F"/>
                          </a:solidFill>
                          <a:highlight>
                            <a:srgbClr val="FFFFFF"/>
                          </a:highlight>
                          <a:latin typeface="Cambria"/>
                          <a:ea typeface="Cambria"/>
                          <a:cs typeface="Cambria"/>
                          <a:sym typeface="Cambria"/>
                        </a:rPr>
                        <a:t>This ITC is related to 180 Days of Payment and Good in Movement. Dealer have Claimed the ITC of Amount Rs. 16,03,67,973.38 during the month Nov. 2025 and Rs. 16,19,11,123.99 during the month Dec. 2025 </a:t>
                      </a:r>
                      <a:r>
                        <a:rPr lang="en-IN" sz="1000" b="1">
                          <a:solidFill>
                            <a:srgbClr val="1F1F1F"/>
                          </a:solidFill>
                          <a:highlight>
                            <a:srgbClr val="FFFFFF"/>
                          </a:highlight>
                          <a:latin typeface="Cambria"/>
                          <a:ea typeface="Cambria"/>
                          <a:cs typeface="Cambria"/>
                          <a:sym typeface="Cambria"/>
                        </a:rPr>
                        <a:t>GSTR-3B</a:t>
                      </a:r>
                      <a:r>
                        <a:rPr lang="en-IN" sz="1000">
                          <a:solidFill>
                            <a:srgbClr val="1F1F1F"/>
                          </a:solidFill>
                          <a:highlight>
                            <a:srgbClr val="FFFFFF"/>
                          </a:highlight>
                          <a:latin typeface="Cambria"/>
                          <a:ea typeface="Cambria"/>
                          <a:cs typeface="Cambria"/>
                          <a:sym typeface="Cambria"/>
                        </a:rPr>
                        <a:t>. But Dealer also Reversed in Table-4B2 during the both month Nov. &amp; Dec. of Amount Rs. 16,86,24,128.33 and Rs. 17,69,96,501.23. So as on today the Opening Balance of IGST Reclaimed Ledger  is Rs. 25,46,89,955.70</a:t>
                      </a:r>
                      <a:endParaRPr sz="1000">
                        <a:solidFill>
                          <a:srgbClr val="1F1F1F"/>
                        </a:solidFill>
                        <a:highlight>
                          <a:srgbClr val="FFFFFF"/>
                        </a:highlight>
                        <a:latin typeface="Cambria"/>
                        <a:ea typeface="Cambria"/>
                        <a:cs typeface="Cambria"/>
                        <a:sym typeface="Cambria"/>
                      </a:endParaRPr>
                    </a:p>
                    <a:p>
                      <a:pPr marL="0" lvl="0" indent="0" algn="l" rtl="0">
                        <a:lnSpc>
                          <a:spcPct val="115000"/>
                        </a:lnSpc>
                        <a:spcBef>
                          <a:spcPts val="1200"/>
                        </a:spcBef>
                        <a:spcAft>
                          <a:spcPts val="1200"/>
                        </a:spcAft>
                        <a:buClr>
                          <a:schemeClr val="dk1"/>
                        </a:buClr>
                        <a:buSzPts val="1100"/>
                        <a:buFont typeface="Arial"/>
                        <a:buNone/>
                      </a:pPr>
                      <a:r>
                        <a:rPr lang="en-IN" sz="1000">
                          <a:solidFill>
                            <a:srgbClr val="1F1F1F"/>
                          </a:solidFill>
                          <a:highlight>
                            <a:srgbClr val="FFFFFF"/>
                          </a:highlight>
                          <a:latin typeface="Cambria"/>
                          <a:ea typeface="Cambria"/>
                          <a:cs typeface="Cambria"/>
                          <a:sym typeface="Cambria"/>
                        </a:rPr>
                        <a:t>Taxpayer also reversed IGST ITC in Table 4-B-1 </a:t>
                      </a:r>
                      <a:r>
                        <a:rPr lang="en-IN" sz="1000">
                          <a:solidFill>
                            <a:srgbClr val="1F1F1F"/>
                          </a:solidFill>
                          <a:highlight>
                            <a:schemeClr val="lt1"/>
                          </a:highlight>
                          <a:latin typeface="Cambria"/>
                          <a:ea typeface="Cambria"/>
                          <a:cs typeface="Cambria"/>
                          <a:sym typeface="Cambria"/>
                        </a:rPr>
                        <a:t>RS. 468728 in GSTR-3B of NOV-25 and RS. 94042 in GSTR-3B of Dec-25.  </a:t>
                      </a:r>
                      <a:r>
                        <a:rPr lang="en-IN" sz="1000">
                          <a:solidFill>
                            <a:srgbClr val="1F1F1F"/>
                          </a:solidFill>
                          <a:highlight>
                            <a:srgbClr val="FFFFFF"/>
                          </a:highlight>
                          <a:latin typeface="Cambria"/>
                          <a:ea typeface="Cambria"/>
                          <a:cs typeface="Cambria"/>
                          <a:sym typeface="Cambria"/>
                        </a:rPr>
                        <a:t>  </a:t>
                      </a:r>
                      <a:endParaRPr sz="1000">
                        <a:solidFill>
                          <a:srgbClr val="1F1F1F"/>
                        </a:solidFill>
                        <a:highlight>
                          <a:srgbClr val="FFFFFF"/>
                        </a:highlight>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930725">
                <a:tc>
                  <a:txBody>
                    <a:bodyPr/>
                    <a:lstStyle/>
                    <a:p>
                      <a:pPr marL="0" marR="0" lvl="0" indent="0" algn="ctr" rtl="0">
                        <a:spcBef>
                          <a:spcPts val="0"/>
                        </a:spcBef>
                        <a:spcAft>
                          <a:spcPts val="0"/>
                        </a:spcAft>
                        <a:buClr>
                          <a:srgbClr val="000000"/>
                        </a:buClr>
                        <a:buSzPts val="1050"/>
                        <a:buFont typeface="Arial"/>
                        <a:buNone/>
                      </a:pPr>
                      <a:r>
                        <a:rPr lang="en-IN" sz="1050" i="0" u="none" strike="noStrike" cap="none">
                          <a:solidFill>
                            <a:srgbClr val="000000"/>
                          </a:solidFill>
                          <a:latin typeface="Cambria"/>
                          <a:ea typeface="Cambria"/>
                          <a:cs typeface="Cambria"/>
                          <a:sym typeface="Cambria"/>
                        </a:rPr>
                        <a:t>HAVELLS INDIA LIMITED</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Cambria"/>
                          <a:ea typeface="Cambria"/>
                          <a:cs typeface="Cambria"/>
                          <a:sym typeface="Cambria"/>
                        </a:rPr>
                        <a:t>12.19</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900"/>
                        <a:buFont typeface="Arial"/>
                        <a:buNone/>
                      </a:pPr>
                      <a:r>
                        <a:rPr lang="en-IN" sz="900">
                          <a:latin typeface="Cambria"/>
                          <a:ea typeface="Cambria"/>
                          <a:cs typeface="Cambria"/>
                          <a:sym typeface="Cambria"/>
                        </a:rPr>
                        <a:t>I6 C_High Reclaim Ledger</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IN" sz="1000">
                          <a:solidFill>
                            <a:schemeClr val="dk1"/>
                          </a:solidFill>
                          <a:latin typeface="Cambria"/>
                          <a:ea typeface="Cambria"/>
                          <a:cs typeface="Cambria"/>
                          <a:sym typeface="Cambria"/>
                        </a:rPr>
                        <a:t>20-02-2026</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IN" sz="1100">
                          <a:solidFill>
                            <a:srgbClr val="1F1F1F"/>
                          </a:solidFill>
                          <a:highlight>
                            <a:srgbClr val="FFFFFF"/>
                          </a:highlight>
                          <a:latin typeface="Cambria"/>
                          <a:ea typeface="Cambria"/>
                          <a:cs typeface="Cambria"/>
                          <a:sym typeface="Cambria"/>
                        </a:rPr>
                        <a:t>This ITC is related to 180 Days of Payment and Good in Movement. Dealer have Claimed the ITC of Amount Rs. 11,80,12,086.00 during the month Nov. 2025 and Rs. 8,97,17,046.00 during the month Dec. 2025</a:t>
                      </a:r>
                      <a:r>
                        <a:rPr lang="en-IN" sz="1100" b="1">
                          <a:solidFill>
                            <a:srgbClr val="1F1F1F"/>
                          </a:solidFill>
                          <a:highlight>
                            <a:srgbClr val="FFFFFF"/>
                          </a:highlight>
                          <a:latin typeface="Cambria"/>
                          <a:ea typeface="Cambria"/>
                          <a:cs typeface="Cambria"/>
                          <a:sym typeface="Cambria"/>
                        </a:rPr>
                        <a:t> GSTR-3B</a:t>
                      </a:r>
                      <a:r>
                        <a:rPr lang="en-IN" sz="1100">
                          <a:solidFill>
                            <a:srgbClr val="1F1F1F"/>
                          </a:solidFill>
                          <a:highlight>
                            <a:srgbClr val="FFFFFF"/>
                          </a:highlight>
                          <a:latin typeface="Cambria"/>
                          <a:ea typeface="Cambria"/>
                          <a:cs typeface="Cambria"/>
                          <a:sym typeface="Cambria"/>
                        </a:rPr>
                        <a:t>. But Dealer also Reversed in Table-4B2 during the both month Nov. &amp; Dec. of Amount Rs. 8,68,34,084.00 and Rs. 22,22,67,407.00. So as on today the Opening Balance of IGST Reclaimed Ledger is Rs. 22,51,99,299.00</a:t>
                      </a:r>
                      <a:endParaRPr sz="1100">
                        <a:solidFill>
                          <a:srgbClr val="1F1F1F"/>
                        </a:solidFill>
                        <a:highlight>
                          <a:srgbClr val="FFFFFF"/>
                        </a:highlight>
                        <a:latin typeface="Cambria"/>
                        <a:ea typeface="Cambria"/>
                        <a:cs typeface="Cambria"/>
                        <a:sym typeface="Cambria"/>
                      </a:endParaRPr>
                    </a:p>
                    <a:p>
                      <a:pPr marL="0" lvl="0" indent="0" algn="l" rtl="0">
                        <a:lnSpc>
                          <a:spcPct val="115000"/>
                        </a:lnSpc>
                        <a:spcBef>
                          <a:spcPts val="1200"/>
                        </a:spcBef>
                        <a:spcAft>
                          <a:spcPts val="1200"/>
                        </a:spcAft>
                        <a:buClr>
                          <a:schemeClr val="dk1"/>
                        </a:buClr>
                        <a:buSzPts val="1100"/>
                        <a:buFont typeface="Arial"/>
                        <a:buNone/>
                      </a:pPr>
                      <a:r>
                        <a:rPr lang="en-IN" sz="1000">
                          <a:solidFill>
                            <a:srgbClr val="1F1F1F"/>
                          </a:solidFill>
                          <a:highlight>
                            <a:schemeClr val="lt1"/>
                          </a:highlight>
                          <a:latin typeface="Cambria"/>
                          <a:ea typeface="Cambria"/>
                          <a:cs typeface="Cambria"/>
                          <a:sym typeface="Cambria"/>
                        </a:rPr>
                        <a:t>Taxpayer also reversed IGST ITC in Table 4-B-1 RS. 590942 in GSTR-3B of NOV-25 and RS. 1304836 in GSTR-3B of Dec-25.</a:t>
                      </a:r>
                      <a:endParaRPr sz="1100">
                        <a:solidFill>
                          <a:srgbClr val="1F1F1F"/>
                        </a:solidFill>
                        <a:highlight>
                          <a:srgbClr val="FFFFFF"/>
                        </a:highlight>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930725">
                <a:tc>
                  <a:txBody>
                    <a:bodyPr/>
                    <a:lstStyle/>
                    <a:p>
                      <a:pPr marL="0" marR="0" lvl="0" indent="0" algn="ctr" rtl="0">
                        <a:spcBef>
                          <a:spcPts val="0"/>
                        </a:spcBef>
                        <a:spcAft>
                          <a:spcPts val="0"/>
                        </a:spcAft>
                        <a:buClr>
                          <a:srgbClr val="000000"/>
                        </a:buClr>
                        <a:buSzPts val="1050"/>
                        <a:buFont typeface="Arial"/>
                        <a:buNone/>
                      </a:pPr>
                      <a:r>
                        <a:rPr lang="en-IN" sz="1050" i="0" u="none" strike="noStrike" cap="none">
                          <a:solidFill>
                            <a:srgbClr val="000000"/>
                          </a:solidFill>
                          <a:latin typeface="Cambria"/>
                          <a:ea typeface="Cambria"/>
                          <a:cs typeface="Cambria"/>
                          <a:sym typeface="Cambria"/>
                        </a:rPr>
                        <a:t>RSPL LIMITED</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Cambria"/>
                          <a:ea typeface="Cambria"/>
                          <a:cs typeface="Cambria"/>
                          <a:sym typeface="Cambria"/>
                        </a:rPr>
                        <a:t>1.40</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900"/>
                        <a:buFont typeface="Arial"/>
                        <a:buNone/>
                      </a:pPr>
                      <a:r>
                        <a:rPr lang="en-IN" sz="900">
                          <a:latin typeface="Cambria"/>
                          <a:ea typeface="Cambria"/>
                          <a:cs typeface="Cambria"/>
                          <a:sym typeface="Cambria"/>
                        </a:rPr>
                        <a:t>I6 C_High Reclaim Ledger</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IN" sz="1000">
                          <a:solidFill>
                            <a:schemeClr val="dk1"/>
                          </a:solidFill>
                          <a:latin typeface="Cambria"/>
                          <a:ea typeface="Cambria"/>
                          <a:cs typeface="Cambria"/>
                          <a:sym typeface="Cambria"/>
                        </a:rPr>
                        <a:t>20-02-2026</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IN" sz="1100">
                          <a:solidFill>
                            <a:srgbClr val="1F1F1F"/>
                          </a:solidFill>
                          <a:highlight>
                            <a:srgbClr val="FFFFFF"/>
                          </a:highlight>
                          <a:latin typeface="Cambria"/>
                          <a:ea typeface="Cambria"/>
                          <a:cs typeface="Cambria"/>
                          <a:sym typeface="Cambria"/>
                        </a:rPr>
                        <a:t>This ITC is related to 180 Days of Payment and Good in Movement. Dealer have Claimed the ITC of Amount Rs. 77,27,836.40 during the month Nov. 2025 and Rs. 66,36,263.15 during the month Dec. 2025 </a:t>
                      </a:r>
                      <a:r>
                        <a:rPr lang="en-IN" sz="1100" b="1">
                          <a:solidFill>
                            <a:srgbClr val="1F1F1F"/>
                          </a:solidFill>
                          <a:highlight>
                            <a:srgbClr val="FFFFFF"/>
                          </a:highlight>
                          <a:latin typeface="Cambria"/>
                          <a:ea typeface="Cambria"/>
                          <a:cs typeface="Cambria"/>
                          <a:sym typeface="Cambria"/>
                        </a:rPr>
                        <a:t>GSTR-3B</a:t>
                      </a:r>
                      <a:r>
                        <a:rPr lang="en-IN" sz="1100">
                          <a:solidFill>
                            <a:srgbClr val="1F1F1F"/>
                          </a:solidFill>
                          <a:highlight>
                            <a:srgbClr val="FFFFFF"/>
                          </a:highlight>
                          <a:latin typeface="Cambria"/>
                          <a:ea typeface="Cambria"/>
                          <a:cs typeface="Cambria"/>
                          <a:sym typeface="Cambria"/>
                        </a:rPr>
                        <a:t>. But Dealer also Reversed in Table-4B2 during the both month Nov. &amp; Dec. of Amount Rs. 67,22,627.93 and Rs. 68,69,785.54. So as on today the Opening Balance of IGST Reclaimed Ledger is Rs. 1,36,55,117.40.</a:t>
                      </a:r>
                      <a:endParaRPr sz="1100">
                        <a:solidFill>
                          <a:srgbClr val="1F1F1F"/>
                        </a:solidFill>
                        <a:highlight>
                          <a:srgbClr val="FFFFFF"/>
                        </a:highlight>
                        <a:latin typeface="Cambria"/>
                        <a:ea typeface="Cambria"/>
                        <a:cs typeface="Cambria"/>
                        <a:sym typeface="Cambria"/>
                      </a:endParaRPr>
                    </a:p>
                    <a:p>
                      <a:pPr marL="0" lvl="0" indent="0" algn="l" rtl="0">
                        <a:lnSpc>
                          <a:spcPct val="115000"/>
                        </a:lnSpc>
                        <a:spcBef>
                          <a:spcPts val="1200"/>
                        </a:spcBef>
                        <a:spcAft>
                          <a:spcPts val="1200"/>
                        </a:spcAft>
                        <a:buClr>
                          <a:schemeClr val="dk1"/>
                        </a:buClr>
                        <a:buSzPts val="1100"/>
                        <a:buFont typeface="Arial"/>
                        <a:buNone/>
                      </a:pPr>
                      <a:r>
                        <a:rPr lang="en-IN" sz="1000">
                          <a:solidFill>
                            <a:srgbClr val="1F1F1F"/>
                          </a:solidFill>
                          <a:highlight>
                            <a:schemeClr val="lt1"/>
                          </a:highlight>
                          <a:latin typeface="Cambria"/>
                          <a:ea typeface="Cambria"/>
                          <a:cs typeface="Cambria"/>
                          <a:sym typeface="Cambria"/>
                        </a:rPr>
                        <a:t>Taxpayer also reversed IGST ITC in Table 4-B-1 RS. 202599 in GSTR-3B of NOV-25 and RS. 246539 in GSTR-3B of Dec-25.</a:t>
                      </a:r>
                      <a:endParaRPr sz="1100">
                        <a:solidFill>
                          <a:srgbClr val="1F1F1F"/>
                        </a:solidFill>
                        <a:highlight>
                          <a:srgbClr val="FFFFFF"/>
                        </a:highlight>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930725">
                <a:tc>
                  <a:txBody>
                    <a:bodyPr/>
                    <a:lstStyle/>
                    <a:p>
                      <a:pPr marL="0" marR="0" lvl="0" indent="0" algn="ctr" rtl="0">
                        <a:spcBef>
                          <a:spcPts val="0"/>
                        </a:spcBef>
                        <a:spcAft>
                          <a:spcPts val="0"/>
                        </a:spcAft>
                        <a:buClr>
                          <a:srgbClr val="000000"/>
                        </a:buClr>
                        <a:buSzPts val="1050"/>
                        <a:buFont typeface="Arial"/>
                        <a:buNone/>
                      </a:pPr>
                      <a:r>
                        <a:rPr lang="en-IN" sz="1050" i="0" u="none" strike="noStrike" cap="none">
                          <a:solidFill>
                            <a:srgbClr val="000000"/>
                          </a:solidFill>
                          <a:latin typeface="Cambria"/>
                          <a:ea typeface="Cambria"/>
                          <a:cs typeface="Cambria"/>
                          <a:sym typeface="Cambria"/>
                        </a:rPr>
                        <a:t>DABUR INDIA LIMITED</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Cambria"/>
                          <a:ea typeface="Cambria"/>
                          <a:cs typeface="Cambria"/>
                          <a:sym typeface="Cambria"/>
                        </a:rPr>
                        <a:t>1.01</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900"/>
                        <a:buFont typeface="Arial"/>
                        <a:buNone/>
                      </a:pPr>
                      <a:r>
                        <a:rPr lang="en-IN" sz="900">
                          <a:latin typeface="Cambria"/>
                          <a:ea typeface="Cambria"/>
                          <a:cs typeface="Cambria"/>
                          <a:sym typeface="Cambria"/>
                        </a:rPr>
                        <a:t>I6 C_High Reclaim Ledger</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IN" sz="1000">
                          <a:solidFill>
                            <a:schemeClr val="dk1"/>
                          </a:solidFill>
                          <a:latin typeface="Cambria"/>
                          <a:ea typeface="Cambria"/>
                          <a:cs typeface="Cambria"/>
                          <a:sym typeface="Cambria"/>
                        </a:rPr>
                        <a:t>20-02-2026</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IN" sz="1100">
                          <a:solidFill>
                            <a:srgbClr val="1F1F1F"/>
                          </a:solidFill>
                          <a:highlight>
                            <a:srgbClr val="FFFFFF"/>
                          </a:highlight>
                          <a:latin typeface="Cambria"/>
                          <a:ea typeface="Cambria"/>
                          <a:cs typeface="Cambria"/>
                          <a:sym typeface="Cambria"/>
                        </a:rPr>
                        <a:t>This ITC is related to 180 Days of Payment and Good in Movement. Dealer have Claimed the ITC of Amount Rs. 70,14,042.00 during the month Nov. 2025 and Rs. 86,15,584.00 during the month Dec. 2025 </a:t>
                      </a:r>
                      <a:r>
                        <a:rPr lang="en-IN" sz="1100" b="1">
                          <a:solidFill>
                            <a:srgbClr val="1F1F1F"/>
                          </a:solidFill>
                          <a:highlight>
                            <a:srgbClr val="FFFFFF"/>
                          </a:highlight>
                          <a:latin typeface="Cambria"/>
                          <a:ea typeface="Cambria"/>
                          <a:cs typeface="Cambria"/>
                          <a:sym typeface="Cambria"/>
                        </a:rPr>
                        <a:t>GSTR-3B</a:t>
                      </a:r>
                      <a:r>
                        <a:rPr lang="en-IN" sz="1100">
                          <a:solidFill>
                            <a:srgbClr val="1F1F1F"/>
                          </a:solidFill>
                          <a:highlight>
                            <a:srgbClr val="FFFFFF"/>
                          </a:highlight>
                          <a:latin typeface="Cambria"/>
                          <a:ea typeface="Cambria"/>
                          <a:cs typeface="Cambria"/>
                          <a:sym typeface="Cambria"/>
                        </a:rPr>
                        <a:t>. But Dealer also Reversed in Table-4B2 during the both month Nov. &amp; Dec. of Amount Rs. 78,96,130.00 and Rs. 87,85,594.00. So as on today the Opening Balance of IGST Reclaimed Ledger is Rs. 1,16,19,445.38</a:t>
                      </a:r>
                      <a:endParaRPr sz="1100">
                        <a:solidFill>
                          <a:srgbClr val="1F1F1F"/>
                        </a:solidFill>
                        <a:highlight>
                          <a:srgbClr val="FFFFFF"/>
                        </a:highlight>
                        <a:latin typeface="Cambria"/>
                        <a:ea typeface="Cambria"/>
                        <a:cs typeface="Cambria"/>
                        <a:sym typeface="Cambria"/>
                      </a:endParaRPr>
                    </a:p>
                    <a:p>
                      <a:pPr marL="0" lvl="0" indent="0" algn="l" rtl="0">
                        <a:lnSpc>
                          <a:spcPct val="115000"/>
                        </a:lnSpc>
                        <a:spcBef>
                          <a:spcPts val="1200"/>
                        </a:spcBef>
                        <a:spcAft>
                          <a:spcPts val="1200"/>
                        </a:spcAft>
                        <a:buClr>
                          <a:schemeClr val="dk1"/>
                        </a:buClr>
                        <a:buSzPts val="1100"/>
                        <a:buFont typeface="Arial"/>
                        <a:buNone/>
                      </a:pPr>
                      <a:r>
                        <a:rPr lang="en-IN" sz="1000">
                          <a:solidFill>
                            <a:srgbClr val="1F1F1F"/>
                          </a:solidFill>
                          <a:highlight>
                            <a:schemeClr val="lt1"/>
                          </a:highlight>
                          <a:latin typeface="Cambria"/>
                          <a:ea typeface="Cambria"/>
                          <a:cs typeface="Cambria"/>
                          <a:sym typeface="Cambria"/>
                        </a:rPr>
                        <a:t>Taxpayer also reversed IGST ITC in Table 4-B-1 RS. 229092 in GSTR-3B of NOV-25 and RS. 213056 in GSTR-3B of Dec-25.</a:t>
                      </a:r>
                      <a:endParaRPr sz="1100">
                        <a:solidFill>
                          <a:srgbClr val="1F1F1F"/>
                        </a:solidFill>
                        <a:highlight>
                          <a:srgbClr val="FFFFFF"/>
                        </a:highlight>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15100">
                <a:tc>
                  <a:txBody>
                    <a:bodyPr/>
                    <a:lstStyle/>
                    <a:p>
                      <a:pPr marL="0" marR="0" lvl="0" indent="0" algn="ctr" rtl="0">
                        <a:spcBef>
                          <a:spcPts val="0"/>
                        </a:spcBef>
                        <a:spcAft>
                          <a:spcPts val="0"/>
                        </a:spcAft>
                        <a:buClr>
                          <a:srgbClr val="000000"/>
                        </a:buClr>
                        <a:buSzPts val="1050"/>
                        <a:buFont typeface="Arial"/>
                        <a:buNone/>
                      </a:pPr>
                      <a:r>
                        <a:rPr lang="en-IN" sz="1050" i="0" u="none" strike="noStrike" cap="none">
                          <a:solidFill>
                            <a:srgbClr val="000000"/>
                          </a:solidFill>
                          <a:latin typeface="Cambria"/>
                          <a:ea typeface="Cambria"/>
                          <a:cs typeface="Cambria"/>
                          <a:sym typeface="Cambria"/>
                        </a:rPr>
                        <a:t>MANISH ENTERPRISES</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Cambria"/>
                          <a:ea typeface="Cambria"/>
                          <a:cs typeface="Cambria"/>
                          <a:sym typeface="Cambria"/>
                        </a:rPr>
                        <a:t>0.16</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800"/>
                        <a:buFont typeface="Arial"/>
                        <a:buNone/>
                      </a:pPr>
                      <a:r>
                        <a:rPr lang="en-IN" sz="800" i="0" u="none" strike="noStrike" cap="none">
                          <a:solidFill>
                            <a:srgbClr val="000000"/>
                          </a:solidFill>
                          <a:latin typeface="Cambria"/>
                          <a:ea typeface="Cambria"/>
                          <a:cs typeface="Cambria"/>
                          <a:sym typeface="Cambria"/>
                        </a:rPr>
                        <a:t>I17_Suo Moto Cancelled Taxpayers having IGST Ledger Balance</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latin typeface="Cambria"/>
                          <a:ea typeface="Cambria"/>
                          <a:cs typeface="Cambria"/>
                          <a:sym typeface="Cambria"/>
                        </a:rPr>
                        <a:t>27-02-2026</a:t>
                      </a:r>
                      <a:endParaRPr sz="1000" i="0" u="none" strike="noStrike" cap="none">
                        <a:solidFill>
                          <a:srgbClr val="000000"/>
                        </a:solidFill>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800"/>
                        <a:buFont typeface="Calibri"/>
                        <a:buNone/>
                      </a:pPr>
                      <a:r>
                        <a:rPr lang="en-IN" sz="1200">
                          <a:solidFill>
                            <a:srgbClr val="1F1F1F"/>
                          </a:solidFill>
                          <a:highlight>
                            <a:srgbClr val="FFFFFF"/>
                          </a:highlight>
                        </a:rPr>
                        <a:t>करदाता से संपर्क किया जा चुका है। करदाता द्वारा इसी माह में डीआरसी 03 के माध्यम से आईजीएसटी आईटीसी रिवर्स करवा दी जावेगी।</a:t>
                      </a:r>
                      <a:endParaRPr sz="800" i="0" u="none" strike="noStrike" cap="none">
                        <a:solidFill>
                          <a:srgbClr val="000000"/>
                        </a:solidFill>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515100">
                <a:tc>
                  <a:txBody>
                    <a:bodyPr/>
                    <a:lstStyle/>
                    <a:p>
                      <a:pPr marL="0" marR="0" lvl="0" indent="0" algn="ctr" rtl="0">
                        <a:spcBef>
                          <a:spcPts val="0"/>
                        </a:spcBef>
                        <a:spcAft>
                          <a:spcPts val="0"/>
                        </a:spcAft>
                        <a:buClr>
                          <a:srgbClr val="000000"/>
                        </a:buClr>
                        <a:buSzPts val="1050"/>
                        <a:buFont typeface="Arial"/>
                        <a:buNone/>
                      </a:pPr>
                      <a:r>
                        <a:rPr lang="en-IN" sz="1050" i="0" u="none" strike="noStrike" cap="none">
                          <a:solidFill>
                            <a:srgbClr val="000000"/>
                          </a:solidFill>
                          <a:latin typeface="Cambria"/>
                          <a:ea typeface="Cambria"/>
                          <a:cs typeface="Cambria"/>
                          <a:sym typeface="Cambria"/>
                        </a:rPr>
                        <a:t>SAHVAN KHAN BUILDING MATERIALS SUPPLIERS</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Cambria"/>
                          <a:ea typeface="Cambria"/>
                          <a:cs typeface="Cambria"/>
                          <a:sym typeface="Cambria"/>
                        </a:rPr>
                        <a:t>0.06</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800"/>
                        <a:buFont typeface="Arial"/>
                        <a:buNone/>
                      </a:pPr>
                      <a:r>
                        <a:rPr lang="en-IN" sz="800" i="0" u="none" strike="noStrike" cap="none">
                          <a:solidFill>
                            <a:srgbClr val="000000"/>
                          </a:solidFill>
                          <a:latin typeface="Cambria"/>
                          <a:ea typeface="Cambria"/>
                          <a:cs typeface="Cambria"/>
                          <a:sym typeface="Cambria"/>
                        </a:rPr>
                        <a:t>I17_Suo Moto Cancelled Taxpayers having IGST Ledger Balance</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latin typeface="Cambria"/>
                          <a:ea typeface="Cambria"/>
                          <a:cs typeface="Cambria"/>
                          <a:sym typeface="Cambria"/>
                        </a:rPr>
                        <a:t>27-02-2026</a:t>
                      </a:r>
                      <a:endParaRPr sz="1000" i="0" u="none" strike="noStrike" cap="none">
                        <a:solidFill>
                          <a:srgbClr val="000000"/>
                        </a:solidFill>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800"/>
                        <a:buFont typeface="Calibri"/>
                        <a:buNone/>
                      </a:pPr>
                      <a:r>
                        <a:rPr lang="en-IN" sz="1200">
                          <a:solidFill>
                            <a:srgbClr val="1F1F1F"/>
                          </a:solidFill>
                          <a:highlight>
                            <a:schemeClr val="lt1"/>
                          </a:highlight>
                        </a:rPr>
                        <a:t>करदाता से संपर्क किया जा चुका है। करदाता द्वारा इसी माह में डीआरसी 03 के माध्यम से आईजीएसटी आईटीसी रिवर्स करवा दी जावेगी।</a:t>
                      </a:r>
                      <a:endParaRPr sz="800" i="0" u="none" strike="noStrike" cap="none">
                        <a:solidFill>
                          <a:srgbClr val="000000"/>
                        </a:solidFill>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515100">
                <a:tc>
                  <a:txBody>
                    <a:bodyPr/>
                    <a:lstStyle/>
                    <a:p>
                      <a:pPr marL="0" marR="0" lvl="0" indent="0" algn="ctr" rtl="0">
                        <a:spcBef>
                          <a:spcPts val="0"/>
                        </a:spcBef>
                        <a:spcAft>
                          <a:spcPts val="0"/>
                        </a:spcAft>
                        <a:buClr>
                          <a:srgbClr val="000000"/>
                        </a:buClr>
                        <a:buSzPts val="1050"/>
                        <a:buFont typeface="Arial"/>
                        <a:buNone/>
                      </a:pPr>
                      <a:r>
                        <a:rPr lang="en-IN" sz="1050" i="0" u="none" strike="noStrike" cap="none">
                          <a:solidFill>
                            <a:srgbClr val="000000"/>
                          </a:solidFill>
                          <a:latin typeface="Cambria"/>
                          <a:ea typeface="Cambria"/>
                          <a:cs typeface="Cambria"/>
                          <a:sym typeface="Cambria"/>
                        </a:rPr>
                        <a:t>SUNSYSTEM INSTITUTE OF INFORMATION &amp; TECHNOLOGY PVT. LTD.</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Cambria"/>
                          <a:ea typeface="Cambria"/>
                          <a:cs typeface="Cambria"/>
                          <a:sym typeface="Cambria"/>
                        </a:rPr>
                        <a:t>0.04</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800"/>
                        <a:buFont typeface="Arial"/>
                        <a:buNone/>
                      </a:pPr>
                      <a:r>
                        <a:rPr lang="en-IN" sz="800" i="0" u="none" strike="noStrike" cap="none">
                          <a:solidFill>
                            <a:srgbClr val="000000"/>
                          </a:solidFill>
                          <a:latin typeface="Cambria"/>
                          <a:ea typeface="Cambria"/>
                          <a:cs typeface="Cambria"/>
                          <a:sym typeface="Cambria"/>
                        </a:rPr>
                        <a:t>I17_Suo Moto Cancelled Taxpayers having IGST Ledger Balance</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latin typeface="Cambria"/>
                          <a:ea typeface="Cambria"/>
                          <a:cs typeface="Cambria"/>
                          <a:sym typeface="Cambria"/>
                        </a:rPr>
                        <a:t>27-02-2026</a:t>
                      </a:r>
                      <a:endParaRPr sz="1000" i="0" u="none" strike="noStrike" cap="none">
                        <a:solidFill>
                          <a:srgbClr val="000000"/>
                        </a:solidFill>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800"/>
                        <a:buFont typeface="Calibri"/>
                        <a:buNone/>
                      </a:pPr>
                      <a:r>
                        <a:rPr lang="en-IN" sz="1200">
                          <a:solidFill>
                            <a:srgbClr val="1F1F1F"/>
                          </a:solidFill>
                          <a:highlight>
                            <a:schemeClr val="lt1"/>
                          </a:highlight>
                        </a:rPr>
                        <a:t>करदाता से संपर्क किया जा चुका है। करदाता द्वारा इसी माह में डीआरसी 03 के माध्यम से आईजीएसटी आईटीसी रिवर्स करवा दी जावेगी।</a:t>
                      </a:r>
                      <a:endParaRPr sz="800" i="0" u="none" strike="noStrike" cap="none">
                        <a:solidFill>
                          <a:srgbClr val="000000"/>
                        </a:solidFill>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1008050">
                <a:tc>
                  <a:txBody>
                    <a:bodyPr/>
                    <a:lstStyle/>
                    <a:p>
                      <a:pPr marL="0" marR="0" lvl="0" indent="0" algn="ctr" rtl="0">
                        <a:spcBef>
                          <a:spcPts val="0"/>
                        </a:spcBef>
                        <a:spcAft>
                          <a:spcPts val="0"/>
                        </a:spcAft>
                        <a:buClr>
                          <a:srgbClr val="000000"/>
                        </a:buClr>
                        <a:buSzPts val="1050"/>
                        <a:buFont typeface="Arial"/>
                        <a:buNone/>
                      </a:pPr>
                      <a:r>
                        <a:rPr lang="en-IN" sz="1050" i="0" u="none" strike="noStrike" cap="none">
                          <a:solidFill>
                            <a:srgbClr val="000000"/>
                          </a:solidFill>
                          <a:latin typeface="Cambria"/>
                          <a:ea typeface="Cambria"/>
                          <a:cs typeface="Cambria"/>
                          <a:sym typeface="Cambria"/>
                        </a:rPr>
                        <a:t>GILLCO CONSTRUCTION COMPANY</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Cambria"/>
                          <a:ea typeface="Cambria"/>
                          <a:cs typeface="Cambria"/>
                          <a:sym typeface="Cambria"/>
                        </a:rPr>
                        <a:t>0.04</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800"/>
                        <a:buFont typeface="Arial"/>
                        <a:buNone/>
                      </a:pPr>
                      <a:r>
                        <a:rPr lang="en-IN" sz="800" i="0" u="none" strike="noStrike" cap="none">
                          <a:solidFill>
                            <a:srgbClr val="000000"/>
                          </a:solidFill>
                          <a:latin typeface="Cambria"/>
                          <a:ea typeface="Cambria"/>
                          <a:cs typeface="Cambria"/>
                          <a:sym typeface="Cambria"/>
                        </a:rPr>
                        <a:t>I17_Suo Moto Cancelled Taxpayers having IGST Ledger Balance</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100">
                          <a:latin typeface="Cambria"/>
                          <a:ea typeface="Cambria"/>
                          <a:cs typeface="Cambria"/>
                          <a:sym typeface="Cambria"/>
                        </a:rPr>
                        <a:t>27-02-2026</a:t>
                      </a:r>
                      <a:endParaRPr sz="1100" i="0" u="none" strike="noStrike" cap="none">
                        <a:solidFill>
                          <a:srgbClr val="000000"/>
                        </a:solidFill>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800"/>
                        <a:buFont typeface="Calibri"/>
                        <a:buNone/>
                      </a:pPr>
                      <a:r>
                        <a:rPr lang="en-IN" sz="1300">
                          <a:latin typeface="Cambria"/>
                          <a:ea typeface="Cambria"/>
                          <a:cs typeface="Cambria"/>
                          <a:sym typeface="Cambria"/>
                        </a:rPr>
                        <a:t>करदाता का पंजीयन गत छह माह से अधिक समय से विवरणी नही दखिल करने के कारण 01.03.2025 से निरस्त किया गया है तथा करदाता का धारा 62 के तहत अधिनिर्णय आदेष पारित किया है। करदाता द्वारा पंजीयन  के रिवोकेषन हेतु आवेदन किया गया है। आवेदन स्वीकार होने के बाद करदाता के द्वारा उक्त आगत कर का समायोजन विवरणियों को दाखिल करते समय लिया जावेगा।</a:t>
                      </a:r>
                      <a:endParaRPr sz="1300" i="0" u="none" strike="noStrike" cap="none">
                        <a:solidFill>
                          <a:srgbClr val="000000"/>
                        </a:solidFill>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515100">
                <a:tc>
                  <a:txBody>
                    <a:bodyPr/>
                    <a:lstStyle/>
                    <a:p>
                      <a:pPr marL="0" marR="0" lvl="0" indent="0" algn="ctr" rtl="0">
                        <a:spcBef>
                          <a:spcPts val="0"/>
                        </a:spcBef>
                        <a:spcAft>
                          <a:spcPts val="0"/>
                        </a:spcAft>
                        <a:buClr>
                          <a:srgbClr val="000000"/>
                        </a:buClr>
                        <a:buSzPts val="1050"/>
                        <a:buFont typeface="Arial"/>
                        <a:buNone/>
                      </a:pPr>
                      <a:r>
                        <a:rPr lang="en-IN" sz="1050" i="0" u="none" strike="noStrike" cap="none">
                          <a:solidFill>
                            <a:srgbClr val="000000"/>
                          </a:solidFill>
                          <a:latin typeface="Cambria"/>
                          <a:ea typeface="Cambria"/>
                          <a:cs typeface="Cambria"/>
                          <a:sym typeface="Cambria"/>
                        </a:rPr>
                        <a:t>Dhaara Borewell Services</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Cambria"/>
                          <a:ea typeface="Cambria"/>
                          <a:cs typeface="Cambria"/>
                          <a:sym typeface="Cambria"/>
                        </a:rPr>
                        <a:t>0.04</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800"/>
                        <a:buFont typeface="Arial"/>
                        <a:buNone/>
                      </a:pPr>
                      <a:r>
                        <a:rPr lang="en-IN" sz="800" i="0" u="none" strike="noStrike" cap="none">
                          <a:solidFill>
                            <a:srgbClr val="000000"/>
                          </a:solidFill>
                          <a:latin typeface="Cambria"/>
                          <a:ea typeface="Cambria"/>
                          <a:cs typeface="Cambria"/>
                          <a:sym typeface="Cambria"/>
                        </a:rPr>
                        <a:t>I17_Suo Moto Cancelled Taxpayers having IGST Ledger Balance</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000"/>
                        <a:buFont typeface="Calibri"/>
                        <a:buNone/>
                      </a:pPr>
                      <a:r>
                        <a:rPr lang="en-IN" sz="1000">
                          <a:latin typeface="Cambria"/>
                          <a:ea typeface="Cambria"/>
                          <a:cs typeface="Cambria"/>
                          <a:sym typeface="Cambria"/>
                        </a:rPr>
                        <a:t>Reversal Done</a:t>
                      </a:r>
                      <a:endParaRPr sz="1000" i="0" u="none" strike="noStrike" cap="none">
                        <a:solidFill>
                          <a:srgbClr val="000000"/>
                        </a:solidFill>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800"/>
                        <a:buFont typeface="Calibri"/>
                        <a:buNone/>
                      </a:pPr>
                      <a:r>
                        <a:rPr lang="en-IN" sz="1300">
                          <a:solidFill>
                            <a:srgbClr val="1F1F1F"/>
                          </a:solidFill>
                          <a:highlight>
                            <a:srgbClr val="FFFFFF"/>
                          </a:highlight>
                          <a:latin typeface="Cambria"/>
                          <a:ea typeface="Cambria"/>
                          <a:cs typeface="Cambria"/>
                          <a:sym typeface="Cambria"/>
                        </a:rPr>
                        <a:t>Taxpayer Reversed IGST ITC Amount of Rs. 3,87,615.00/- through DRC-03 having ARN: AD080226010050V Dated 16.02.2026</a:t>
                      </a:r>
                      <a:endParaRPr sz="1200">
                        <a:solidFill>
                          <a:srgbClr val="1F1F1F"/>
                        </a:solidFill>
                        <a:highlight>
                          <a:srgbClr val="FFFFFF"/>
                        </a:highlight>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515100">
                <a:tc>
                  <a:txBody>
                    <a:bodyPr/>
                    <a:lstStyle/>
                    <a:p>
                      <a:pPr marL="0" marR="0" lvl="0" indent="0" algn="ctr" rtl="0">
                        <a:spcBef>
                          <a:spcPts val="0"/>
                        </a:spcBef>
                        <a:spcAft>
                          <a:spcPts val="0"/>
                        </a:spcAft>
                        <a:buClr>
                          <a:srgbClr val="000000"/>
                        </a:buClr>
                        <a:buSzPts val="1050"/>
                        <a:buFont typeface="Arial"/>
                        <a:buNone/>
                      </a:pPr>
                      <a:r>
                        <a:rPr lang="en-IN" sz="1050" i="0" u="none" strike="noStrike" cap="none">
                          <a:solidFill>
                            <a:srgbClr val="000000"/>
                          </a:solidFill>
                          <a:latin typeface="Cambria"/>
                          <a:ea typeface="Cambria"/>
                          <a:cs typeface="Cambria"/>
                          <a:sym typeface="Cambria"/>
                        </a:rPr>
                        <a:t>VANISTA NATURE PRIVATE LIMITED</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Cambria"/>
                          <a:ea typeface="Cambria"/>
                          <a:cs typeface="Cambria"/>
                          <a:sym typeface="Cambria"/>
                        </a:rPr>
                        <a:t>0.03</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800"/>
                        <a:buFont typeface="Arial"/>
                        <a:buNone/>
                      </a:pPr>
                      <a:r>
                        <a:rPr lang="en-IN" sz="800" i="0" u="none" strike="noStrike" cap="none">
                          <a:solidFill>
                            <a:srgbClr val="000000"/>
                          </a:solidFill>
                          <a:latin typeface="Cambria"/>
                          <a:ea typeface="Cambria"/>
                          <a:cs typeface="Cambria"/>
                          <a:sym typeface="Cambria"/>
                        </a:rPr>
                        <a:t>I17_Suo Moto Cancelled Taxpayers having IGST Ledger Balance</a:t>
                      </a:r>
                      <a:endParaRPr>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latin typeface="Cambria"/>
                          <a:ea typeface="Cambria"/>
                          <a:cs typeface="Cambria"/>
                          <a:sym typeface="Cambria"/>
                        </a:rPr>
                        <a:t>27-02-2026</a:t>
                      </a:r>
                      <a:endParaRPr sz="1000" i="0" u="none" strike="noStrike" cap="none">
                        <a:solidFill>
                          <a:srgbClr val="000000"/>
                        </a:solidFill>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800"/>
                        <a:buFont typeface="Calibri"/>
                        <a:buNone/>
                      </a:pPr>
                      <a:r>
                        <a:rPr lang="en-IN" sz="1200">
                          <a:solidFill>
                            <a:srgbClr val="1F1F1F"/>
                          </a:solidFill>
                          <a:highlight>
                            <a:schemeClr val="lt1"/>
                          </a:highlight>
                        </a:rPr>
                        <a:t>करदाता से संपर्क किया जा चुका है। करदाता द्वारा इसी माह में डीआरसी 03 के माध्यम से आईजीएसटी आईटीसी रिवर्स करवा दी जावेगी।</a:t>
                      </a:r>
                      <a:endParaRPr sz="800" i="0" u="none" strike="noStrike" cap="none">
                        <a:solidFill>
                          <a:srgbClr val="000000"/>
                        </a:solidFill>
                        <a:latin typeface="Cambria"/>
                        <a:ea typeface="Cambria"/>
                        <a:cs typeface="Cambria"/>
                        <a:sym typeface="Cambria"/>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515100">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Total</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38.06</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 </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500"/>
                        <a:buFont typeface="Arial"/>
                        <a:buNone/>
                      </a:pPr>
                      <a:r>
                        <a:rPr lang="en-IN" sz="500" b="1" i="0" u="none" strike="noStrike" cap="none">
                          <a:solidFill>
                            <a:srgbClr val="FFFFFF"/>
                          </a:solidFill>
                          <a:latin typeface="Arial"/>
                          <a:ea typeface="Arial"/>
                          <a:cs typeface="Arial"/>
                          <a:sym typeface="Arial"/>
                        </a:rPr>
                        <a:t> </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500"/>
                        <a:buFont typeface="Arial"/>
                        <a:buNone/>
                      </a:pPr>
                      <a:r>
                        <a:rPr lang="en-IN" sz="500" b="1" i="0" u="none" strike="noStrike" cap="none">
                          <a:solidFill>
                            <a:srgbClr val="FFFFFF"/>
                          </a:solidFill>
                          <a:latin typeface="Arial"/>
                          <a:ea typeface="Arial"/>
                          <a:cs typeface="Arial"/>
                          <a:sym typeface="Arial"/>
                        </a:rPr>
                        <a:t> </a:t>
                      </a:r>
                      <a:endParaRPr/>
                    </a:p>
                  </a:txBody>
                  <a:tcPr marL="2625" marR="2625" marT="2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54"/>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Circle-D Kota - IGST</a:t>
            </a:r>
            <a:endParaRPr sz="2000" b="1" i="0" u="none" strike="noStrike" cap="none">
              <a:solidFill>
                <a:srgbClr val="000000"/>
              </a:solidFill>
              <a:latin typeface="Verdana"/>
              <a:ea typeface="Verdana"/>
              <a:cs typeface="Verdana"/>
              <a:sym typeface="Verdana"/>
            </a:endParaRPr>
          </a:p>
        </p:txBody>
      </p:sp>
      <p:sp>
        <p:nvSpPr>
          <p:cNvPr id="484" name="Google Shape;484;p54"/>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485" name="Google Shape;485;p54"/>
          <p:cNvGraphicFramePr/>
          <p:nvPr/>
        </p:nvGraphicFramePr>
        <p:xfrm>
          <a:off x="466338" y="727113"/>
          <a:ext cx="11456225" cy="6060212"/>
        </p:xfrm>
        <a:graphic>
          <a:graphicData uri="http://schemas.openxmlformats.org/drawingml/2006/table">
            <a:tbl>
              <a:tblPr>
                <a:noFill/>
                <a:tableStyleId>{ED13AFB8-4CE9-44F5-8004-2B2D446919A9}</a:tableStyleId>
              </a:tblPr>
              <a:tblGrid>
                <a:gridCol w="2086400">
                  <a:extLst>
                    <a:ext uri="{9D8B030D-6E8A-4147-A177-3AD203B41FA5}">
                      <a16:colId xmlns:a16="http://schemas.microsoft.com/office/drawing/2014/main" val="20000"/>
                    </a:ext>
                  </a:extLst>
                </a:gridCol>
                <a:gridCol w="1109775">
                  <a:extLst>
                    <a:ext uri="{9D8B030D-6E8A-4147-A177-3AD203B41FA5}">
                      <a16:colId xmlns:a16="http://schemas.microsoft.com/office/drawing/2014/main" val="20001"/>
                    </a:ext>
                  </a:extLst>
                </a:gridCol>
                <a:gridCol w="2483850">
                  <a:extLst>
                    <a:ext uri="{9D8B030D-6E8A-4147-A177-3AD203B41FA5}">
                      <a16:colId xmlns:a16="http://schemas.microsoft.com/office/drawing/2014/main" val="20002"/>
                    </a:ext>
                  </a:extLst>
                </a:gridCol>
                <a:gridCol w="1416275">
                  <a:extLst>
                    <a:ext uri="{9D8B030D-6E8A-4147-A177-3AD203B41FA5}">
                      <a16:colId xmlns:a16="http://schemas.microsoft.com/office/drawing/2014/main" val="20003"/>
                    </a:ext>
                  </a:extLst>
                </a:gridCol>
                <a:gridCol w="4359925">
                  <a:extLst>
                    <a:ext uri="{9D8B030D-6E8A-4147-A177-3AD203B41FA5}">
                      <a16:colId xmlns:a16="http://schemas.microsoft.com/office/drawing/2014/main" val="20004"/>
                    </a:ext>
                  </a:extLst>
                </a:gridCol>
              </a:tblGrid>
              <a:tr h="641325">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Firm Name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 Remaining Amount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List Name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Expected Date of reversal/ Utilization</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497725">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ADANI GREEN ENERGY LIMITED</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500" b="1" i="0" u="none" strike="noStrike" cap="none">
                          <a:solidFill>
                            <a:srgbClr val="000000"/>
                          </a:solidFill>
                          <a:latin typeface="Arial"/>
                          <a:ea typeface="Arial"/>
                          <a:cs typeface="Arial"/>
                          <a:sym typeface="Arial"/>
                        </a:rPr>
                        <a:t>28.73</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100"/>
                        <a:t>I6 C_High Reclaim Ledger</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t>20.02.2026</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1200"/>
                        </a:spcBef>
                        <a:spcAft>
                          <a:spcPts val="1200"/>
                        </a:spcAft>
                        <a:buClr>
                          <a:srgbClr val="000000"/>
                        </a:buClr>
                        <a:buSzPts val="1100"/>
                        <a:buFont typeface="Arial"/>
                        <a:buNone/>
                      </a:pPr>
                      <a:r>
                        <a:rPr lang="en-IN" sz="1100">
                          <a:solidFill>
                            <a:srgbClr val="000000"/>
                          </a:solidFill>
                        </a:rPr>
                        <a:t>The TP reverses and reclaims IGST ITC on regular basis. The current balance of Electronic Re-claimed ledger in IGST head is Rs. 21.93Cr from which approx 07Cr may be reclaimed and approx 31Cr will be utilized for Jan-26 GSTR-3B return from available balance of IGST ITC ledger balance Rs. 69.68 Cr. </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97725">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ADANI INFRASTRUCTURE MANAGEMENT SERVICES LIMITED</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500" b="1" i="0" u="none" strike="noStrike" cap="none">
                          <a:solidFill>
                            <a:srgbClr val="000000"/>
                          </a:solidFill>
                          <a:latin typeface="Arial"/>
                          <a:ea typeface="Arial"/>
                          <a:cs typeface="Arial"/>
                          <a:sym typeface="Arial"/>
                        </a:rPr>
                        <a:t>3.00</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100"/>
                        <a:t>I6 C_High Reclaim Ledger</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t>20.02.2026</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1200"/>
                        </a:spcBef>
                        <a:spcAft>
                          <a:spcPts val="1200"/>
                        </a:spcAft>
                        <a:buClr>
                          <a:srgbClr val="000000"/>
                        </a:buClr>
                        <a:buSzPts val="1100"/>
                        <a:buFont typeface="Arial"/>
                        <a:buNone/>
                      </a:pPr>
                      <a:r>
                        <a:rPr lang="en-IN" sz="1100">
                          <a:solidFill>
                            <a:srgbClr val="000000"/>
                          </a:solidFill>
                        </a:rPr>
                        <a:t>The TP reverses and reclaims IGST ITC on regular basis. The current balance of Electronic Re-claimed ledger in IGST head is Rs. 1.93 Cr from which approx 1.00 Cr may be reclaimed </a:t>
                      </a:r>
                      <a:endParaRPr sz="9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97725">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LNV TECHNOLOGY PRIVATE LIMITED</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500" b="1" i="0" u="none" strike="noStrike" cap="none">
                          <a:solidFill>
                            <a:srgbClr val="000000"/>
                          </a:solidFill>
                          <a:latin typeface="Arial"/>
                          <a:ea typeface="Arial"/>
                          <a:cs typeface="Arial"/>
                          <a:sym typeface="Arial"/>
                        </a:rPr>
                        <a:t>2.49</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100"/>
                        <a:t>I6 C_High Reclaim Ledger</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t>20.02.2026</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1200"/>
                        </a:spcBef>
                        <a:spcAft>
                          <a:spcPts val="1200"/>
                        </a:spcAft>
                        <a:buClr>
                          <a:srgbClr val="000000"/>
                        </a:buClr>
                        <a:buSzPts val="1100"/>
                        <a:buFont typeface="Arial"/>
                        <a:buNone/>
                      </a:pPr>
                      <a:r>
                        <a:rPr lang="en-IN" sz="1100">
                          <a:solidFill>
                            <a:srgbClr val="000000"/>
                          </a:solidFill>
                        </a:rPr>
                        <a:t>The TP reverses and reclaims IGST ITC on regular basis. The current balance of Electronic Re-claimed ledger in IGST head is Rs. 15.51 lakh from which approx 10.00 lakh may be reclaimed </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97725">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BINDAS ELECTRICAL &amp; ELECTRONICS</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500" b="1" i="0" u="none" strike="noStrike" cap="none">
                          <a:solidFill>
                            <a:srgbClr val="000000"/>
                          </a:solidFill>
                          <a:latin typeface="Arial"/>
                          <a:ea typeface="Arial"/>
                          <a:cs typeface="Arial"/>
                          <a:sym typeface="Arial"/>
                        </a:rPr>
                        <a:t>0.09</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100" b="0" i="0" u="none" strike="noStrike" cap="none">
                          <a:solidFill>
                            <a:srgbClr val="000000"/>
                          </a:solidFill>
                          <a:latin typeface="Arial"/>
                          <a:ea typeface="Arial"/>
                          <a:cs typeface="Arial"/>
                          <a:sym typeface="Arial"/>
                        </a:rPr>
                        <a:t>I17_Suo Moto Cancelled Taxpayers having IGST Ledger Balance</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t>-</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100">
                          <a:solidFill>
                            <a:srgbClr val="000000"/>
                          </a:solidFill>
                        </a:rPr>
                        <a:t>TAXPAYER HAS BEEN INTIMATED, TAXPAYER IS UNDER CENTRE JURISDICTION.</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38100">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GEEGA TURTLES PRIVATE LIMITED</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500" b="1" i="0" u="none" strike="noStrike" cap="none">
                          <a:solidFill>
                            <a:srgbClr val="000000"/>
                          </a:solidFill>
                          <a:latin typeface="Arial"/>
                          <a:ea typeface="Arial"/>
                          <a:cs typeface="Arial"/>
                          <a:sym typeface="Arial"/>
                        </a:rPr>
                        <a:t>0.05</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100" b="0" i="0" u="none" strike="noStrike" cap="none">
                          <a:solidFill>
                            <a:srgbClr val="000000"/>
                          </a:solidFill>
                          <a:latin typeface="Arial"/>
                          <a:ea typeface="Arial"/>
                          <a:cs typeface="Arial"/>
                          <a:sym typeface="Arial"/>
                        </a:rPr>
                        <a:t>I17_Suo Moto Cancelled Taxpayers having IGST Ledger Balance</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200"/>
                        <a:buFont typeface="Calibri"/>
                        <a:buNone/>
                      </a:pPr>
                      <a:r>
                        <a:rPr lang="en-IN" sz="1200"/>
                        <a:t>         17-02-2026</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t> Taxpayer has reversed total excess ledger balance rs. 491628/-</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97725">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M/S RIDDHI SIDDHI ENTERPRISES</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500" b="1" i="0" u="none" strike="noStrike" cap="none">
                          <a:solidFill>
                            <a:srgbClr val="000000"/>
                          </a:solidFill>
                          <a:latin typeface="Arial"/>
                          <a:ea typeface="Arial"/>
                          <a:cs typeface="Arial"/>
                          <a:sym typeface="Arial"/>
                        </a:rPr>
                        <a:t>0.04</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100" b="0" i="0" u="none" strike="noStrike" cap="none">
                          <a:solidFill>
                            <a:srgbClr val="000000"/>
                          </a:solidFill>
                          <a:latin typeface="Arial"/>
                          <a:ea typeface="Arial"/>
                          <a:cs typeface="Arial"/>
                          <a:sym typeface="Arial"/>
                        </a:rPr>
                        <a:t>I17_Suo Moto Cancelled Taxpayers having IGST Ledger Balance</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t>17.02.2026</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solidFill>
                            <a:srgbClr val="000000"/>
                          </a:solidFill>
                        </a:rPr>
                        <a:t>IGST ITC RS. 4.19 lakh reversed through DRC03</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21050">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D SQUARE MOBILE POINT</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500" b="1" i="0" u="none" strike="noStrike" cap="none">
                          <a:solidFill>
                            <a:srgbClr val="000000"/>
                          </a:solidFill>
                          <a:latin typeface="Arial"/>
                          <a:ea typeface="Arial"/>
                          <a:cs typeface="Arial"/>
                          <a:sym typeface="Arial"/>
                        </a:rPr>
                        <a:t>0.04</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100" b="0" i="0" u="none" strike="noStrike" cap="none">
                          <a:solidFill>
                            <a:srgbClr val="000000"/>
                          </a:solidFill>
                          <a:latin typeface="Arial"/>
                          <a:ea typeface="Arial"/>
                          <a:cs typeface="Arial"/>
                          <a:sym typeface="Arial"/>
                        </a:rPr>
                        <a:t>I17_Suo Moto Cancelled Taxpayers having IGST Ledger Balance</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t>16-02-2026</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200"/>
                        <a:buFont typeface="Calibri"/>
                        <a:buNone/>
                      </a:pPr>
                      <a:r>
                        <a:rPr lang="en-IN" sz="1200">
                          <a:solidFill>
                            <a:srgbClr val="000000"/>
                          </a:solidFill>
                        </a:rPr>
                        <a:t>IGST ITC RS. 3.67 lakh reversed through DRC03</a:t>
                      </a:r>
                      <a:endParaRPr sz="1200">
                        <a:solidFill>
                          <a:srgbClr val="000000"/>
                        </a:solidFill>
                      </a:endParaRPr>
                    </a:p>
                    <a:p>
                      <a:pPr marL="0" marR="0" lvl="0" indent="0" algn="ctr" rtl="0">
                        <a:spcBef>
                          <a:spcPts val="0"/>
                        </a:spcBef>
                        <a:spcAft>
                          <a:spcPts val="0"/>
                        </a:spcAft>
                        <a:buClr>
                          <a:srgbClr val="000000"/>
                        </a:buClr>
                        <a:buSzPts val="1200"/>
                        <a:buFont typeface="Calibri"/>
                        <a:buNone/>
                      </a:pP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21050">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RADHEY TRAVELS</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500" b="1" i="0" u="none" strike="noStrike" cap="none">
                          <a:solidFill>
                            <a:srgbClr val="000000"/>
                          </a:solidFill>
                          <a:latin typeface="Arial"/>
                          <a:ea typeface="Arial"/>
                          <a:cs typeface="Arial"/>
                          <a:sym typeface="Arial"/>
                        </a:rPr>
                        <a:t>0.03</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100" b="0" i="0" u="none" strike="noStrike" cap="none">
                          <a:solidFill>
                            <a:srgbClr val="000000"/>
                          </a:solidFill>
                          <a:latin typeface="Arial"/>
                          <a:ea typeface="Arial"/>
                          <a:cs typeface="Arial"/>
                          <a:sym typeface="Arial"/>
                        </a:rPr>
                        <a:t>I17_Suo Moto Cancelled Taxpayers having IGST Ledger Balance</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t>-</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100">
                          <a:solidFill>
                            <a:srgbClr val="000000"/>
                          </a:solidFill>
                        </a:rPr>
                        <a:t>TAXPAYER HAS BEEN INTIMATED, TAXPAYER IS UNDER CENTRE JURISDICTIO</a:t>
                      </a:r>
                      <a:r>
                        <a:rPr lang="en-IN" sz="1200">
                          <a:solidFill>
                            <a:srgbClr val="000000"/>
                          </a:solidFill>
                        </a:rPr>
                        <a:t>N.</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395500">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ANSHUL ENTERPRISES</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500" b="1" i="0" u="none" strike="noStrike" cap="none">
                          <a:solidFill>
                            <a:srgbClr val="000000"/>
                          </a:solidFill>
                          <a:latin typeface="Arial"/>
                          <a:ea typeface="Arial"/>
                          <a:cs typeface="Arial"/>
                          <a:sym typeface="Arial"/>
                        </a:rPr>
                        <a:t>0.02</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100" b="0" i="0" u="none" strike="noStrike" cap="none">
                          <a:solidFill>
                            <a:srgbClr val="000000"/>
                          </a:solidFill>
                          <a:latin typeface="Arial"/>
                          <a:ea typeface="Arial"/>
                          <a:cs typeface="Arial"/>
                          <a:sym typeface="Arial"/>
                        </a:rPr>
                        <a:t>I17_Suo Moto Cancelled Taxpayers having IGST Ledger Balance</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t>17-02-2026</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solidFill>
                            <a:srgbClr val="000000"/>
                          </a:solidFill>
                        </a:rPr>
                        <a:t>IGST ITC RS. 2.23 lakh reversed. </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439875">
                <a:tc>
                  <a:txBody>
                    <a:bodyPr/>
                    <a:lstStyle/>
                    <a:p>
                      <a:pPr marL="0" marR="0" lvl="0" indent="0" algn="ctr" rtl="0">
                        <a:spcBef>
                          <a:spcPts val="0"/>
                        </a:spcBef>
                        <a:spcAft>
                          <a:spcPts val="0"/>
                        </a:spcAft>
                        <a:buClr>
                          <a:srgbClr val="000000"/>
                        </a:buClr>
                        <a:buSzPts val="1200"/>
                        <a:buFont typeface="Arial"/>
                        <a:buNone/>
                      </a:pPr>
                      <a:r>
                        <a:rPr lang="en-IN" sz="1100" b="0" i="0" u="none" strike="noStrike" cap="none">
                          <a:solidFill>
                            <a:srgbClr val="000000"/>
                          </a:solidFill>
                          <a:latin typeface="Arial"/>
                          <a:ea typeface="Arial"/>
                          <a:cs typeface="Arial"/>
                          <a:sym typeface="Arial"/>
                        </a:rPr>
                        <a:t>SAIFEE TRADERS</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500" b="1" i="0" u="none" strike="noStrike" cap="none">
                          <a:solidFill>
                            <a:srgbClr val="000000"/>
                          </a:solidFill>
                          <a:latin typeface="Arial"/>
                          <a:ea typeface="Arial"/>
                          <a:cs typeface="Arial"/>
                          <a:sym typeface="Arial"/>
                        </a:rPr>
                        <a:t>0.02</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100" b="0" i="0" u="none" strike="noStrike" cap="none">
                          <a:solidFill>
                            <a:srgbClr val="000000"/>
                          </a:solidFill>
                          <a:latin typeface="Arial"/>
                          <a:ea typeface="Arial"/>
                          <a:cs typeface="Arial"/>
                          <a:sym typeface="Arial"/>
                        </a:rPr>
                        <a:t>I17_Suo Moto Cancelled Taxpayers having IGST Ledger Balance</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solidFill>
                            <a:srgbClr val="000000"/>
                          </a:solidFill>
                        </a:rPr>
                        <a:t>16-02-2026</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200"/>
                        <a:buFont typeface="Calibri"/>
                        <a:buNone/>
                      </a:pPr>
                      <a:r>
                        <a:rPr lang="en-IN" sz="1200">
                          <a:solidFill>
                            <a:srgbClr val="000000"/>
                          </a:solidFill>
                        </a:rPr>
                        <a:t>IGST ITC RS. 2.09 lakh reversed through DRC03</a:t>
                      </a:r>
                      <a:endParaRPr sz="1200">
                        <a:solidFill>
                          <a:srgbClr val="000000"/>
                        </a:solidFill>
                      </a:endParaRPr>
                    </a:p>
                    <a:p>
                      <a:pPr marL="0" marR="0" lvl="0" indent="0" algn="ctr" rtl="0">
                        <a:spcBef>
                          <a:spcPts val="0"/>
                        </a:spcBef>
                        <a:spcAft>
                          <a:spcPts val="0"/>
                        </a:spcAft>
                        <a:buClr>
                          <a:srgbClr val="000000"/>
                        </a:buClr>
                        <a:buSzPts val="1200"/>
                        <a:buFont typeface="Calibri"/>
                        <a:buNone/>
                      </a:pP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07200">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Total</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34.50</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800"/>
                        <a:buFont typeface="Arial"/>
                        <a:buNone/>
                      </a:pPr>
                      <a:r>
                        <a:rPr lang="en-IN" sz="800" b="1" i="0" u="none" strike="noStrike" cap="none">
                          <a:solidFill>
                            <a:srgbClr val="FFFFFF"/>
                          </a:solidFill>
                          <a:latin typeface="Arial"/>
                          <a:ea typeface="Arial"/>
                          <a:cs typeface="Arial"/>
                          <a:sym typeface="Arial"/>
                        </a:rPr>
                        <a: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800"/>
                        <a:buFont typeface="Arial"/>
                        <a:buNone/>
                      </a:pPr>
                      <a:r>
                        <a:rPr lang="en-IN" sz="800" b="1" i="0" u="none" strike="noStrike" cap="none">
                          <a:solidFill>
                            <a:srgbClr val="FFFFFF"/>
                          </a:solidFill>
                          <a:latin typeface="Arial"/>
                          <a:ea typeface="Arial"/>
                          <a:cs typeface="Arial"/>
                          <a:sym typeface="Arial"/>
                        </a:rPr>
                        <a: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chemeClr val="dk1"/>
                        </a:buClr>
                        <a:buSzPts val="800"/>
                        <a:buFont typeface="Calibri"/>
                        <a:buNone/>
                      </a:pPr>
                      <a:endParaRPr sz="800" b="1" i="0" u="none" strike="noStrike" cap="none">
                        <a:solidFill>
                          <a:srgbClr val="FFFFFF"/>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55"/>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Circle-B Barmer, Jodhpur II - IGST</a:t>
            </a:r>
            <a:endParaRPr sz="2000" b="1" i="0" u="none" strike="noStrike" cap="none">
              <a:solidFill>
                <a:srgbClr val="000000"/>
              </a:solidFill>
              <a:latin typeface="Verdana"/>
              <a:ea typeface="Verdana"/>
              <a:cs typeface="Verdana"/>
              <a:sym typeface="Verdana"/>
            </a:endParaRPr>
          </a:p>
        </p:txBody>
      </p:sp>
      <p:sp>
        <p:nvSpPr>
          <p:cNvPr id="492" name="Google Shape;492;p55"/>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493" name="Google Shape;493;p55"/>
          <p:cNvGraphicFramePr/>
          <p:nvPr/>
        </p:nvGraphicFramePr>
        <p:xfrm>
          <a:off x="466338" y="804230"/>
          <a:ext cx="11158000" cy="5858205"/>
        </p:xfrm>
        <a:graphic>
          <a:graphicData uri="http://schemas.openxmlformats.org/drawingml/2006/table">
            <a:tbl>
              <a:tblPr>
                <a:noFill/>
                <a:tableStyleId>{ED13AFB8-4CE9-44F5-8004-2B2D446919A9}</a:tableStyleId>
              </a:tblPr>
              <a:tblGrid>
                <a:gridCol w="3135175">
                  <a:extLst>
                    <a:ext uri="{9D8B030D-6E8A-4147-A177-3AD203B41FA5}">
                      <a16:colId xmlns:a16="http://schemas.microsoft.com/office/drawing/2014/main" val="20000"/>
                    </a:ext>
                  </a:extLst>
                </a:gridCol>
                <a:gridCol w="980750">
                  <a:extLst>
                    <a:ext uri="{9D8B030D-6E8A-4147-A177-3AD203B41FA5}">
                      <a16:colId xmlns:a16="http://schemas.microsoft.com/office/drawing/2014/main" val="20001"/>
                    </a:ext>
                  </a:extLst>
                </a:gridCol>
                <a:gridCol w="2459900">
                  <a:extLst>
                    <a:ext uri="{9D8B030D-6E8A-4147-A177-3AD203B41FA5}">
                      <a16:colId xmlns:a16="http://schemas.microsoft.com/office/drawing/2014/main" val="20002"/>
                    </a:ext>
                  </a:extLst>
                </a:gridCol>
                <a:gridCol w="1157600">
                  <a:extLst>
                    <a:ext uri="{9D8B030D-6E8A-4147-A177-3AD203B41FA5}">
                      <a16:colId xmlns:a16="http://schemas.microsoft.com/office/drawing/2014/main" val="20003"/>
                    </a:ext>
                  </a:extLst>
                </a:gridCol>
                <a:gridCol w="3424575">
                  <a:extLst>
                    <a:ext uri="{9D8B030D-6E8A-4147-A177-3AD203B41FA5}">
                      <a16:colId xmlns:a16="http://schemas.microsoft.com/office/drawing/2014/main" val="20004"/>
                    </a:ext>
                  </a:extLst>
                </a:gridCol>
              </a:tblGrid>
              <a:tr h="489250">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Firm Name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 Remaining Amount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List Name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Expected Date of reversal/ Utilization</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50197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JUNIPER GREEN STELLAR PRIVATE LIMITED</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31.66</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950"/>
                        <a:t>20.02.2026</a:t>
                      </a:r>
                      <a:endParaRPr sz="95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950"/>
                        <a:t>taxpayer regularly reverses IGST ITC and  will reverse 25 Cr </a:t>
                      </a:r>
                      <a:r>
                        <a:rPr lang="en-IN" sz="950">
                          <a:solidFill>
                            <a:schemeClr val="dk1"/>
                          </a:solidFill>
                        </a:rPr>
                        <a:t>IGST ITC </a:t>
                      </a:r>
                      <a:r>
                        <a:rPr lang="en-IN" sz="950"/>
                        <a:t>in next return.</a:t>
                      </a:r>
                      <a:endParaRPr sz="950"/>
                    </a:p>
                    <a:p>
                      <a:pPr marL="0" marR="0" lvl="0" indent="0" algn="ctr" rtl="0">
                        <a:spcBef>
                          <a:spcPts val="0"/>
                        </a:spcBef>
                        <a:spcAft>
                          <a:spcPts val="0"/>
                        </a:spcAft>
                        <a:buClr>
                          <a:schemeClr val="dk1"/>
                        </a:buClr>
                        <a:buSzPts val="1050"/>
                        <a:buFont typeface="Calibri"/>
                        <a:buNone/>
                      </a:pPr>
                      <a:r>
                        <a:rPr lang="en-IN" sz="950"/>
                        <a:t> taxpayer has already reversed ITC of 30 Cr in DEC 2025 GSTR 3B</a:t>
                      </a:r>
                      <a:endParaRPr sz="95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0197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SNOWBELL TRADERS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0.23</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I17_Suo Moto Cancelled Taxpayers having IGST Ledger Balance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endParaRPr sz="105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Fake Firm</a:t>
                      </a:r>
                      <a:endParaRPr sz="105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0197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SHRI MALLINATH ENTERPRISES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0.16</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I17_Suo Moto Cancelled Taxpayers having IGST Ledger Balance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16.02.2026</a:t>
                      </a:r>
                      <a:endParaRPr sz="105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FULLY REVERSED THROUGH DRC03 VIDE ARN AD080226011038G DATED 16-02-2026</a:t>
                      </a:r>
                      <a:endParaRPr sz="105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197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E-SCOOT RENTAL SOLUTIONS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0.09</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I17_Suo Moto Cancelled Taxpayers having IGST Ledger Balance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endParaRPr sz="105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 Taxpayer belongs to Circle Balotra Jurisdiction and taxpayer is non traceable.</a:t>
                      </a:r>
                      <a:endParaRPr sz="105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0197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BIKAJI OIL INDUSTRIES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0.08</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I17_Suo Moto Cancelled Taxpayers having IGST Ledger Balance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17.02.2026</a:t>
                      </a:r>
                      <a:endParaRPr sz="105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FULLY REVERSED THROUGH DRC03 VIDE ARN AD080226011344H DATED 17-02-2026</a:t>
                      </a:r>
                      <a:endParaRPr sz="1050">
                        <a:solidFill>
                          <a:schemeClr val="dk1"/>
                        </a:solidFill>
                      </a:endParaRPr>
                    </a:p>
                    <a:p>
                      <a:pPr marL="0" lvl="0" indent="0" algn="ctr" rtl="0">
                        <a:spcBef>
                          <a:spcPts val="0"/>
                        </a:spcBef>
                        <a:spcAft>
                          <a:spcPts val="0"/>
                        </a:spcAft>
                        <a:buClr>
                          <a:schemeClr val="dk1"/>
                        </a:buClr>
                        <a:buSzPts val="1050"/>
                        <a:buFont typeface="Calibri"/>
                        <a:buNone/>
                      </a:pPr>
                      <a:endParaRPr sz="1050">
                        <a:solidFill>
                          <a:schemeClr val="dk1"/>
                        </a:solidFil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50197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M/S VIRATRA ENTERPRISES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0.05</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I17_Suo Moto Cancelled Taxpayers having IGST Ledger Balance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20.02.2026</a:t>
                      </a:r>
                      <a:endParaRPr sz="105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Contacted to taxpayer to reverse IGST amount and he will reverse IGST amount till 18.02.2026</a:t>
                      </a:r>
                      <a:endParaRPr sz="105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50197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GANESH ENTERPRISES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0.04</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I17_Suo Moto Cancelled Taxpayers having IGST Ledger Balance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endParaRPr sz="105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Fake Firm</a:t>
                      </a:r>
                      <a:endParaRPr sz="105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50197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MAA AAINATH CONSTRUCTION COMPANY</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0.03</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I17_Suo Moto Cancelled Taxpayers having IGST Ledger Balance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20.02.2026</a:t>
                      </a:r>
                      <a:endParaRPr sz="105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Contacted to taxpayer to reverse IGST amount</a:t>
                      </a:r>
                      <a:endParaRPr sz="105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50197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J R LEGHA ENTERPRISES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0.03</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I17_Suo Moto Cancelled Taxpayers having IGST Ledger Balance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18.02.2026</a:t>
                      </a:r>
                      <a:endParaRPr sz="105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Contacted to taxpayer to reverse IGST amount and he will reverse IGST amount till 18.02.2026</a:t>
                      </a:r>
                      <a:endParaRPr sz="105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50197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NAYDA MARBLE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0.03</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I17_Suo Moto Cancelled Taxpayers having IGST Ledger Balance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20.02.2026</a:t>
                      </a:r>
                      <a:endParaRPr sz="1050">
                        <a:solidFill>
                          <a:schemeClr val="dk1"/>
                        </a:solidFill>
                      </a:endParaRPr>
                    </a:p>
                    <a:p>
                      <a:pPr marL="0" marR="0" lvl="0" indent="0" algn="ctr" rtl="0">
                        <a:spcBef>
                          <a:spcPts val="0"/>
                        </a:spcBef>
                        <a:spcAft>
                          <a:spcPts val="0"/>
                        </a:spcAft>
                        <a:buClr>
                          <a:schemeClr val="dk1"/>
                        </a:buClr>
                        <a:buSzPts val="1050"/>
                        <a:buFont typeface="Calibri"/>
                        <a:buNone/>
                      </a:pPr>
                      <a:endParaRPr sz="105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FULLY REVERSED THROUGH DRC03 VIDE ARN AD080226011318C DATED 17-02-2026</a:t>
                      </a:r>
                      <a:endParaRPr sz="1050">
                        <a:solidFill>
                          <a:schemeClr val="dk1"/>
                        </a:solidFill>
                      </a:endParaRPr>
                    </a:p>
                    <a:p>
                      <a:pPr marL="0" lvl="0" indent="0" algn="ctr" rtl="0">
                        <a:spcBef>
                          <a:spcPts val="0"/>
                        </a:spcBef>
                        <a:spcAft>
                          <a:spcPts val="0"/>
                        </a:spcAft>
                        <a:buClr>
                          <a:schemeClr val="dk1"/>
                        </a:buClr>
                        <a:buSzPts val="1050"/>
                        <a:buFont typeface="Calibri"/>
                        <a:buNone/>
                      </a:pPr>
                      <a:endParaRPr sz="1050">
                        <a:solidFill>
                          <a:schemeClr val="dk1"/>
                        </a:solidFil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39625">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Total</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32.40</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800"/>
                        <a:buFont typeface="Arial"/>
                        <a:buNone/>
                      </a:pPr>
                      <a:r>
                        <a:rPr lang="en-IN" sz="800" b="1" i="0" u="none" strike="noStrike" cap="none">
                          <a:solidFill>
                            <a:srgbClr val="FFFFFF"/>
                          </a:solidFill>
                          <a:latin typeface="Arial"/>
                          <a:ea typeface="Arial"/>
                          <a:cs typeface="Arial"/>
                          <a:sym typeface="Arial"/>
                        </a:rPr>
                        <a: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800"/>
                        <a:buFont typeface="Arial"/>
                        <a:buNone/>
                      </a:pPr>
                      <a:r>
                        <a:rPr lang="en-IN" sz="800" b="1" i="0" u="none" strike="noStrike" cap="none">
                          <a:solidFill>
                            <a:srgbClr val="FFFFFF"/>
                          </a:solidFill>
                          <a:latin typeface="Arial"/>
                          <a:ea typeface="Arial"/>
                          <a:cs typeface="Arial"/>
                          <a:sym typeface="Arial"/>
                        </a:rPr>
                        <a: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800"/>
                        <a:buFont typeface="Arial"/>
                        <a:buNone/>
                      </a:pPr>
                      <a:r>
                        <a:rPr lang="en-IN" sz="800" b="1" i="0" u="none" strike="noStrike" cap="none">
                          <a:solidFill>
                            <a:srgbClr val="FFFFFF"/>
                          </a:solidFill>
                          <a:latin typeface="Arial"/>
                          <a:ea typeface="Arial"/>
                          <a:cs typeface="Arial"/>
                          <a:sym typeface="Arial"/>
                        </a:rPr>
                        <a: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56"/>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Circle-Jaisalmer, Jodhpur I - IGST</a:t>
            </a:r>
            <a:endParaRPr sz="2000" b="1" i="0" u="none" strike="noStrike" cap="none">
              <a:solidFill>
                <a:srgbClr val="000000"/>
              </a:solidFill>
              <a:latin typeface="Verdana"/>
              <a:ea typeface="Verdana"/>
              <a:cs typeface="Verdana"/>
              <a:sym typeface="Verdana"/>
            </a:endParaRPr>
          </a:p>
        </p:txBody>
      </p:sp>
      <p:sp>
        <p:nvSpPr>
          <p:cNvPr id="500" name="Google Shape;500;p56"/>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501" name="Google Shape;501;p56"/>
          <p:cNvGraphicFramePr/>
          <p:nvPr>
            <p:extLst>
              <p:ext uri="{D42A27DB-BD31-4B8C-83A1-F6EECF244321}">
                <p14:modId xmlns:p14="http://schemas.microsoft.com/office/powerpoint/2010/main" val="2443116702"/>
              </p:ext>
            </p:extLst>
          </p:nvPr>
        </p:nvGraphicFramePr>
        <p:xfrm>
          <a:off x="482434" y="662387"/>
          <a:ext cx="11227150" cy="8210320"/>
        </p:xfrm>
        <a:graphic>
          <a:graphicData uri="http://schemas.openxmlformats.org/drawingml/2006/table">
            <a:tbl>
              <a:tblPr>
                <a:noFill/>
                <a:tableStyleId>{ED13AFB8-4CE9-44F5-8004-2B2D446919A9}</a:tableStyleId>
              </a:tblPr>
              <a:tblGrid>
                <a:gridCol w="2197725">
                  <a:extLst>
                    <a:ext uri="{9D8B030D-6E8A-4147-A177-3AD203B41FA5}">
                      <a16:colId xmlns:a16="http://schemas.microsoft.com/office/drawing/2014/main" val="20000"/>
                    </a:ext>
                  </a:extLst>
                </a:gridCol>
                <a:gridCol w="885925">
                  <a:extLst>
                    <a:ext uri="{9D8B030D-6E8A-4147-A177-3AD203B41FA5}">
                      <a16:colId xmlns:a16="http://schemas.microsoft.com/office/drawing/2014/main" val="20001"/>
                    </a:ext>
                  </a:extLst>
                </a:gridCol>
                <a:gridCol w="2194950">
                  <a:extLst>
                    <a:ext uri="{9D8B030D-6E8A-4147-A177-3AD203B41FA5}">
                      <a16:colId xmlns:a16="http://schemas.microsoft.com/office/drawing/2014/main" val="20002"/>
                    </a:ext>
                  </a:extLst>
                </a:gridCol>
                <a:gridCol w="572654">
                  <a:extLst>
                    <a:ext uri="{9D8B030D-6E8A-4147-A177-3AD203B41FA5}">
                      <a16:colId xmlns:a16="http://schemas.microsoft.com/office/drawing/2014/main" val="20003"/>
                    </a:ext>
                  </a:extLst>
                </a:gridCol>
                <a:gridCol w="5375896">
                  <a:extLst>
                    <a:ext uri="{9D8B030D-6E8A-4147-A177-3AD203B41FA5}">
                      <a16:colId xmlns:a16="http://schemas.microsoft.com/office/drawing/2014/main" val="20004"/>
                    </a:ext>
                  </a:extLst>
                </a:gridCol>
              </a:tblGrid>
              <a:tr h="331225">
                <a:tc>
                  <a:txBody>
                    <a:bodyPr/>
                    <a:lstStyle/>
                    <a:p>
                      <a:pPr marL="0" marR="0" lvl="0" indent="0" algn="ctr" rtl="0">
                        <a:spcBef>
                          <a:spcPts val="0"/>
                        </a:spcBef>
                        <a:spcAft>
                          <a:spcPts val="0"/>
                        </a:spcAft>
                        <a:buClr>
                          <a:srgbClr val="FFFFFF"/>
                        </a:buClr>
                        <a:buSzPts val="700"/>
                        <a:buFont typeface="Arial"/>
                        <a:buNone/>
                      </a:pPr>
                      <a:r>
                        <a:rPr lang="en-IN" sz="700" b="1" i="0" u="none" strike="noStrike" cap="none">
                          <a:solidFill>
                            <a:srgbClr val="FFFFFF"/>
                          </a:solidFill>
                          <a:latin typeface="Arial"/>
                          <a:ea typeface="Arial"/>
                          <a:cs typeface="Arial"/>
                          <a:sym typeface="Arial"/>
                        </a:rPr>
                        <a:t>Firm Name</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700"/>
                        <a:buFont typeface="Arial"/>
                        <a:buNone/>
                      </a:pPr>
                      <a:r>
                        <a:rPr lang="en-IN" sz="700" b="1" i="0" u="none" strike="noStrike" cap="none">
                          <a:solidFill>
                            <a:srgbClr val="FFFFFF"/>
                          </a:solidFill>
                          <a:latin typeface="Arial"/>
                          <a:ea typeface="Arial"/>
                          <a:cs typeface="Arial"/>
                          <a:sym typeface="Arial"/>
                        </a:rPr>
                        <a:t> Remaining Amount </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700"/>
                        <a:buFont typeface="Arial"/>
                        <a:buNone/>
                      </a:pPr>
                      <a:r>
                        <a:rPr lang="en-IN" sz="700" b="1" i="0" u="none" strike="noStrike" cap="none">
                          <a:solidFill>
                            <a:srgbClr val="FFFFFF"/>
                          </a:solidFill>
                          <a:latin typeface="Arial"/>
                          <a:ea typeface="Arial"/>
                          <a:cs typeface="Arial"/>
                          <a:sym typeface="Arial"/>
                        </a:rPr>
                        <a:t>List Name</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Expected Date of reversal/ Utilization</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531800">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ADITYA BIRLA RENEWABLES SUBSIDIARY LIMITED</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15.58</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I6 C_High Reclaim Ledger</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a:t>
                      </a:r>
                      <a:endParaRPr sz="1000" b="0" i="0" u="none" strike="noStrike" cap="none">
                        <a:solidFill>
                          <a:srgbClr val="000000"/>
                        </a:solidFill>
                        <a:latin typeface="Arial"/>
                        <a:ea typeface="Arial"/>
                        <a:cs typeface="Arial"/>
                        <a:sym typeface="Arial"/>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dirty="0" err="1"/>
                        <a:t>यह</a:t>
                      </a:r>
                      <a:r>
                        <a:rPr lang="en-IN" sz="1000" dirty="0"/>
                        <a:t> </a:t>
                      </a:r>
                      <a:r>
                        <a:rPr lang="en-IN" sz="1000" dirty="0" err="1"/>
                        <a:t>कंपनी</a:t>
                      </a:r>
                      <a:r>
                        <a:rPr lang="en-IN" sz="1000" dirty="0"/>
                        <a:t> </a:t>
                      </a:r>
                      <a:r>
                        <a:rPr lang="en-IN" sz="1000" dirty="0" err="1"/>
                        <a:t>पूर्व</a:t>
                      </a:r>
                      <a:r>
                        <a:rPr lang="en-IN" sz="1000" dirty="0"/>
                        <a:t> </a:t>
                      </a:r>
                      <a:r>
                        <a:rPr lang="en-IN" sz="1000" dirty="0" err="1"/>
                        <a:t>में</a:t>
                      </a:r>
                      <a:r>
                        <a:rPr lang="en-IN" sz="1000" dirty="0"/>
                        <a:t> </a:t>
                      </a:r>
                      <a:r>
                        <a:rPr lang="en-IN" sz="1000" dirty="0" err="1"/>
                        <a:t>जयपुर</a:t>
                      </a:r>
                      <a:r>
                        <a:rPr lang="en-IN" sz="1000" dirty="0"/>
                        <a:t> </a:t>
                      </a:r>
                      <a:r>
                        <a:rPr lang="en-IN" sz="1000" dirty="0" err="1"/>
                        <a:t>जोन</a:t>
                      </a:r>
                      <a:r>
                        <a:rPr lang="en-IN" sz="1000" dirty="0"/>
                        <a:t> 3 </a:t>
                      </a:r>
                      <a:r>
                        <a:rPr lang="en-IN" sz="1000" dirty="0" err="1"/>
                        <a:t>सर्किल</a:t>
                      </a:r>
                      <a:r>
                        <a:rPr lang="en-IN" sz="1000" dirty="0"/>
                        <a:t> </a:t>
                      </a:r>
                      <a:r>
                        <a:rPr lang="en-IN" sz="1000" dirty="0" err="1"/>
                        <a:t>जी</a:t>
                      </a:r>
                      <a:r>
                        <a:rPr lang="en-IN" sz="1000" dirty="0"/>
                        <a:t> </a:t>
                      </a:r>
                      <a:r>
                        <a:rPr lang="en-IN" sz="1000" dirty="0" err="1"/>
                        <a:t>के</a:t>
                      </a:r>
                      <a:r>
                        <a:rPr lang="en-IN" sz="1000" dirty="0"/>
                        <a:t> </a:t>
                      </a:r>
                      <a:r>
                        <a:rPr lang="en-IN" sz="1000" dirty="0" err="1"/>
                        <a:t>तहत</a:t>
                      </a:r>
                      <a:r>
                        <a:rPr lang="en-IN" sz="1000" dirty="0"/>
                        <a:t> </a:t>
                      </a:r>
                      <a:r>
                        <a:rPr lang="en-IN" sz="1000" dirty="0" err="1"/>
                        <a:t>पंजीकृत</a:t>
                      </a:r>
                      <a:r>
                        <a:rPr lang="en-IN" sz="1000" dirty="0"/>
                        <a:t> </a:t>
                      </a:r>
                      <a:r>
                        <a:rPr lang="en-IN" sz="1000" dirty="0" err="1"/>
                        <a:t>थी</a:t>
                      </a:r>
                      <a:r>
                        <a:rPr lang="en-IN" sz="1000" dirty="0"/>
                        <a:t>। </a:t>
                      </a:r>
                      <a:r>
                        <a:rPr lang="en-IN" sz="1000" dirty="0" err="1"/>
                        <a:t>आईटीएमएस</a:t>
                      </a:r>
                      <a:r>
                        <a:rPr lang="en-IN" sz="1000" dirty="0"/>
                        <a:t> </a:t>
                      </a:r>
                      <a:r>
                        <a:rPr lang="en-IN" sz="1000" dirty="0" err="1"/>
                        <a:t>पोर्टल</a:t>
                      </a:r>
                      <a:r>
                        <a:rPr lang="en-IN" sz="1000" dirty="0"/>
                        <a:t> </a:t>
                      </a:r>
                      <a:r>
                        <a:rPr lang="en-IN" sz="1000" dirty="0" err="1"/>
                        <a:t>पर</a:t>
                      </a:r>
                      <a:r>
                        <a:rPr lang="en-IN" sz="1000" dirty="0"/>
                        <a:t> </a:t>
                      </a:r>
                      <a:r>
                        <a:rPr lang="en-IN" sz="1000" dirty="0" err="1"/>
                        <a:t>यह</a:t>
                      </a:r>
                      <a:r>
                        <a:rPr lang="en-IN" sz="1000" dirty="0"/>
                        <a:t> </a:t>
                      </a:r>
                      <a:r>
                        <a:rPr lang="en-IN" sz="1000" dirty="0" err="1"/>
                        <a:t>टास्क</a:t>
                      </a:r>
                      <a:r>
                        <a:rPr lang="en-IN" sz="1000" dirty="0"/>
                        <a:t> </a:t>
                      </a:r>
                      <a:r>
                        <a:rPr lang="en-IN" sz="1000" dirty="0" err="1"/>
                        <a:t>आज</a:t>
                      </a:r>
                      <a:r>
                        <a:rPr lang="en-IN" sz="1000" dirty="0"/>
                        <a:t> </a:t>
                      </a:r>
                      <a:r>
                        <a:rPr lang="en-IN" sz="1000" dirty="0" err="1"/>
                        <a:t>दिनांक</a:t>
                      </a:r>
                      <a:r>
                        <a:rPr lang="en-IN" sz="1000" dirty="0"/>
                        <a:t> 17.02.2026 </a:t>
                      </a:r>
                      <a:r>
                        <a:rPr lang="en-IN" sz="1000" dirty="0" err="1"/>
                        <a:t>से</a:t>
                      </a:r>
                      <a:r>
                        <a:rPr lang="en-IN" sz="1000" dirty="0"/>
                        <a:t>  </a:t>
                      </a:r>
                      <a:r>
                        <a:rPr lang="en-IN" sz="1000" dirty="0" err="1"/>
                        <a:t>ही</a:t>
                      </a:r>
                      <a:r>
                        <a:rPr lang="en-IN" sz="1000" dirty="0"/>
                        <a:t> </a:t>
                      </a:r>
                      <a:r>
                        <a:rPr lang="en-IN" sz="1000" dirty="0" err="1"/>
                        <a:t>वृत्त</a:t>
                      </a:r>
                      <a:r>
                        <a:rPr lang="en-IN" sz="1000" dirty="0"/>
                        <a:t> </a:t>
                      </a:r>
                      <a:r>
                        <a:rPr lang="en-IN" sz="1000" dirty="0" err="1"/>
                        <a:t>जैसलमेर</a:t>
                      </a:r>
                      <a:r>
                        <a:rPr lang="en-IN" sz="1000" dirty="0"/>
                        <a:t> </a:t>
                      </a:r>
                      <a:r>
                        <a:rPr lang="en-IN" sz="1000" dirty="0" err="1"/>
                        <a:t>की</a:t>
                      </a:r>
                      <a:r>
                        <a:rPr lang="en-IN" sz="1000" dirty="0"/>
                        <a:t> </a:t>
                      </a:r>
                      <a:r>
                        <a:rPr lang="en-IN" sz="1000" dirty="0" err="1"/>
                        <a:t>पालना</a:t>
                      </a:r>
                      <a:r>
                        <a:rPr lang="en-IN" sz="1000" dirty="0"/>
                        <a:t> </a:t>
                      </a:r>
                      <a:r>
                        <a:rPr lang="en-IN" sz="1000" dirty="0" err="1"/>
                        <a:t>के</a:t>
                      </a:r>
                      <a:r>
                        <a:rPr lang="en-IN" sz="1000" dirty="0"/>
                        <a:t> </a:t>
                      </a:r>
                      <a:r>
                        <a:rPr lang="en-IN" sz="1000" dirty="0" err="1"/>
                        <a:t>लिए</a:t>
                      </a:r>
                      <a:r>
                        <a:rPr lang="en-IN" sz="1000" dirty="0"/>
                        <a:t> </a:t>
                      </a:r>
                      <a:r>
                        <a:rPr lang="en-IN" sz="1000" dirty="0" err="1"/>
                        <a:t>वांछित</a:t>
                      </a:r>
                      <a:r>
                        <a:rPr lang="en-IN" sz="1000" dirty="0"/>
                        <a:t> </a:t>
                      </a:r>
                      <a:r>
                        <a:rPr lang="en-IN" sz="1000" dirty="0" err="1"/>
                        <a:t>है</a:t>
                      </a:r>
                      <a:r>
                        <a:rPr lang="en-IN" sz="1000" dirty="0"/>
                        <a:t> </a:t>
                      </a:r>
                      <a:r>
                        <a:rPr lang="en-IN" sz="1000" dirty="0" err="1"/>
                        <a:t>कल</a:t>
                      </a:r>
                      <a:r>
                        <a:rPr lang="en-IN" sz="1000" dirty="0"/>
                        <a:t> </a:t>
                      </a:r>
                      <a:r>
                        <a:rPr lang="en-IN" sz="1000" dirty="0" err="1"/>
                        <a:t>तक</a:t>
                      </a:r>
                      <a:r>
                        <a:rPr lang="en-IN" sz="1000" dirty="0"/>
                        <a:t> </a:t>
                      </a:r>
                      <a:r>
                        <a:rPr lang="en-IN" sz="1000" dirty="0" err="1"/>
                        <a:t>यह</a:t>
                      </a:r>
                      <a:r>
                        <a:rPr lang="en-IN" sz="1000" dirty="0"/>
                        <a:t> </a:t>
                      </a:r>
                      <a:r>
                        <a:rPr lang="en-IN" sz="1000" dirty="0" err="1"/>
                        <a:t>टास्क</a:t>
                      </a:r>
                      <a:r>
                        <a:rPr lang="en-IN" sz="1000" dirty="0"/>
                        <a:t> </a:t>
                      </a:r>
                      <a:r>
                        <a:rPr lang="en-IN" sz="1000" dirty="0" err="1"/>
                        <a:t>वृत्त</a:t>
                      </a:r>
                      <a:r>
                        <a:rPr lang="en-IN" sz="1000" dirty="0"/>
                        <a:t> </a:t>
                      </a:r>
                      <a:r>
                        <a:rPr lang="en-IN" sz="1000" dirty="0" err="1"/>
                        <a:t>जैसलमेर</a:t>
                      </a:r>
                      <a:r>
                        <a:rPr lang="en-IN" sz="1000" dirty="0"/>
                        <a:t> </a:t>
                      </a:r>
                      <a:r>
                        <a:rPr lang="en-IN" sz="1000" dirty="0" err="1"/>
                        <a:t>के</a:t>
                      </a:r>
                      <a:r>
                        <a:rPr lang="en-IN" sz="1000" dirty="0"/>
                        <a:t> </a:t>
                      </a:r>
                      <a:r>
                        <a:rPr lang="en-IN" sz="1000" dirty="0" err="1"/>
                        <a:t>लिए</a:t>
                      </a:r>
                      <a:r>
                        <a:rPr lang="en-IN" sz="1000" dirty="0"/>
                        <a:t> </a:t>
                      </a:r>
                      <a:r>
                        <a:rPr lang="en-IN" sz="1000" dirty="0" err="1"/>
                        <a:t>प्रदर्शित</a:t>
                      </a:r>
                      <a:r>
                        <a:rPr lang="en-IN" sz="1000" dirty="0"/>
                        <a:t> </a:t>
                      </a:r>
                      <a:r>
                        <a:rPr lang="en-IN" sz="1000" dirty="0" err="1"/>
                        <a:t>नहीं</a:t>
                      </a:r>
                      <a:r>
                        <a:rPr lang="en-IN" sz="1000" dirty="0"/>
                        <a:t> </a:t>
                      </a:r>
                      <a:r>
                        <a:rPr lang="en-IN" sz="1000" dirty="0" err="1"/>
                        <a:t>हो</a:t>
                      </a:r>
                      <a:r>
                        <a:rPr lang="en-IN" sz="1000" dirty="0"/>
                        <a:t> </a:t>
                      </a:r>
                      <a:r>
                        <a:rPr lang="en-IN" sz="1000" dirty="0" err="1"/>
                        <a:t>रहा</a:t>
                      </a:r>
                      <a:r>
                        <a:rPr lang="en-IN" sz="1000" dirty="0"/>
                        <a:t> </a:t>
                      </a:r>
                      <a:r>
                        <a:rPr lang="en-IN" sz="1000" dirty="0" err="1"/>
                        <a:t>था</a:t>
                      </a:r>
                      <a:r>
                        <a:rPr lang="en-IN" sz="1000" dirty="0"/>
                        <a:t>। </a:t>
                      </a:r>
                      <a:r>
                        <a:rPr lang="en-IN" sz="1000" dirty="0" err="1"/>
                        <a:t>किंतु</a:t>
                      </a:r>
                      <a:r>
                        <a:rPr lang="en-IN" sz="1000" dirty="0"/>
                        <a:t> </a:t>
                      </a:r>
                      <a:r>
                        <a:rPr lang="en-IN" sz="1000" dirty="0" err="1"/>
                        <a:t>आज</a:t>
                      </a:r>
                      <a:r>
                        <a:rPr lang="en-IN" sz="1000" dirty="0"/>
                        <a:t> </a:t>
                      </a:r>
                      <a:r>
                        <a:rPr lang="en-IN" sz="1000" dirty="0" err="1"/>
                        <a:t>ध्यान</a:t>
                      </a:r>
                      <a:r>
                        <a:rPr lang="en-IN" sz="1000" dirty="0"/>
                        <a:t> </a:t>
                      </a:r>
                      <a:r>
                        <a:rPr lang="en-IN" sz="1000" dirty="0" err="1"/>
                        <a:t>में</a:t>
                      </a:r>
                      <a:r>
                        <a:rPr lang="en-IN" sz="1000" dirty="0"/>
                        <a:t> </a:t>
                      </a:r>
                      <a:r>
                        <a:rPr lang="en-IN" sz="1000" dirty="0" err="1"/>
                        <a:t>आते</a:t>
                      </a:r>
                      <a:r>
                        <a:rPr lang="en-IN" sz="1000" dirty="0"/>
                        <a:t> </a:t>
                      </a:r>
                      <a:r>
                        <a:rPr lang="en-IN" sz="1000" dirty="0" err="1"/>
                        <a:t>ही</a:t>
                      </a:r>
                      <a:r>
                        <a:rPr lang="en-IN" sz="1000" dirty="0"/>
                        <a:t> </a:t>
                      </a:r>
                      <a:r>
                        <a:rPr lang="en-IN" sz="1000" dirty="0" err="1"/>
                        <a:t>कंपनी</a:t>
                      </a:r>
                      <a:r>
                        <a:rPr lang="en-IN" sz="1000" dirty="0"/>
                        <a:t> </a:t>
                      </a:r>
                      <a:r>
                        <a:rPr lang="en-IN" sz="1000" dirty="0" err="1"/>
                        <a:t>से</a:t>
                      </a:r>
                      <a:r>
                        <a:rPr lang="en-IN" sz="1000" dirty="0"/>
                        <a:t> </a:t>
                      </a:r>
                      <a:r>
                        <a:rPr lang="en-IN" sz="1000" dirty="0" err="1"/>
                        <a:t>दूरभाष</a:t>
                      </a:r>
                      <a:r>
                        <a:rPr lang="en-IN" sz="1000" dirty="0"/>
                        <a:t> </a:t>
                      </a:r>
                      <a:r>
                        <a:rPr lang="en-IN" sz="1000" dirty="0" err="1"/>
                        <a:t>पर</a:t>
                      </a:r>
                      <a:r>
                        <a:rPr lang="en-IN" sz="1000" dirty="0"/>
                        <a:t> </a:t>
                      </a:r>
                      <a:r>
                        <a:rPr lang="en-IN" sz="1000" dirty="0" err="1"/>
                        <a:t>संपर्क</a:t>
                      </a:r>
                      <a:r>
                        <a:rPr lang="en-IN" sz="1000" dirty="0"/>
                        <a:t> </a:t>
                      </a:r>
                      <a:r>
                        <a:rPr lang="en-IN" sz="1000" dirty="0" err="1"/>
                        <a:t>करने</a:t>
                      </a:r>
                      <a:r>
                        <a:rPr lang="en-IN" sz="1000" dirty="0"/>
                        <a:t> </a:t>
                      </a:r>
                      <a:r>
                        <a:rPr lang="en-IN" sz="1000" dirty="0" err="1"/>
                        <a:t>पर</a:t>
                      </a:r>
                      <a:r>
                        <a:rPr lang="en-IN" sz="1000" dirty="0"/>
                        <a:t> </a:t>
                      </a:r>
                      <a:r>
                        <a:rPr lang="en-IN" sz="1000" dirty="0" err="1"/>
                        <a:t>पता</a:t>
                      </a:r>
                      <a:r>
                        <a:rPr lang="en-IN" sz="1000" dirty="0"/>
                        <a:t> </a:t>
                      </a:r>
                      <a:r>
                        <a:rPr lang="en-IN" sz="1000" dirty="0" err="1"/>
                        <a:t>चला</a:t>
                      </a:r>
                      <a:r>
                        <a:rPr lang="en-IN" sz="1000" dirty="0"/>
                        <a:t> </a:t>
                      </a:r>
                      <a:r>
                        <a:rPr lang="en-IN" sz="1000" dirty="0" err="1"/>
                        <a:t>कि</a:t>
                      </a:r>
                      <a:r>
                        <a:rPr lang="en-IN" sz="1000" dirty="0"/>
                        <a:t> </a:t>
                      </a:r>
                      <a:r>
                        <a:rPr lang="en-IN" sz="1000" dirty="0" err="1"/>
                        <a:t>उन्हें</a:t>
                      </a:r>
                      <a:r>
                        <a:rPr lang="en-IN" sz="1000" dirty="0"/>
                        <a:t> </a:t>
                      </a:r>
                      <a:r>
                        <a:rPr lang="en-IN" sz="1000" dirty="0" err="1"/>
                        <a:t>इसके</a:t>
                      </a:r>
                      <a:r>
                        <a:rPr lang="en-IN" sz="1000" dirty="0"/>
                        <a:t> </a:t>
                      </a:r>
                      <a:r>
                        <a:rPr lang="en-IN" sz="1000" dirty="0" err="1"/>
                        <a:t>लिए</a:t>
                      </a:r>
                      <a:r>
                        <a:rPr lang="en-IN" sz="1000" dirty="0"/>
                        <a:t> </a:t>
                      </a:r>
                      <a:r>
                        <a:rPr lang="en-IN" sz="1000" dirty="0" err="1"/>
                        <a:t>पूर्व</a:t>
                      </a:r>
                      <a:r>
                        <a:rPr lang="en-IN" sz="1000" dirty="0"/>
                        <a:t> </a:t>
                      </a:r>
                      <a:r>
                        <a:rPr lang="en-IN" sz="1000" dirty="0" err="1"/>
                        <a:t>में</a:t>
                      </a:r>
                      <a:r>
                        <a:rPr lang="en-IN" sz="1000" dirty="0"/>
                        <a:t> </a:t>
                      </a:r>
                      <a:r>
                        <a:rPr lang="en-IN" sz="1000" dirty="0" err="1"/>
                        <a:t>राजस्थान</a:t>
                      </a:r>
                      <a:r>
                        <a:rPr lang="en-IN" sz="1000" dirty="0"/>
                        <a:t> </a:t>
                      </a:r>
                      <a:r>
                        <a:rPr lang="en-IN" sz="1000" dirty="0" err="1"/>
                        <a:t>एनफोर्समेंट</a:t>
                      </a:r>
                      <a:r>
                        <a:rPr lang="en-IN" sz="1000" dirty="0"/>
                        <a:t>, </a:t>
                      </a:r>
                      <a:r>
                        <a:rPr lang="en-IN" sz="1000" dirty="0" err="1"/>
                        <a:t>जयपुर</a:t>
                      </a:r>
                      <a:r>
                        <a:rPr lang="en-IN" sz="1000" dirty="0"/>
                        <a:t> 3, </a:t>
                      </a:r>
                      <a:r>
                        <a:rPr lang="en-IN" sz="1000" dirty="0" err="1"/>
                        <a:t>सर्किल</a:t>
                      </a:r>
                      <a:r>
                        <a:rPr lang="en-IN" sz="1000" dirty="0"/>
                        <a:t> </a:t>
                      </a:r>
                      <a:r>
                        <a:rPr lang="en-IN" sz="1000" dirty="0" err="1"/>
                        <a:t>सी</a:t>
                      </a:r>
                      <a:r>
                        <a:rPr lang="en-IN" sz="1000" dirty="0"/>
                        <a:t> </a:t>
                      </a:r>
                      <a:r>
                        <a:rPr lang="en-IN" sz="1000" dirty="0" err="1"/>
                        <a:t>की</a:t>
                      </a:r>
                      <a:r>
                        <a:rPr lang="en-IN" sz="1000" dirty="0"/>
                        <a:t> </a:t>
                      </a:r>
                      <a:r>
                        <a:rPr lang="en-IN" sz="1000" dirty="0" err="1"/>
                        <a:t>ओर</a:t>
                      </a:r>
                      <a:r>
                        <a:rPr lang="en-IN" sz="1000" dirty="0"/>
                        <a:t> </a:t>
                      </a:r>
                      <a:r>
                        <a:rPr lang="en-IN" sz="1000" dirty="0" err="1"/>
                        <a:t>से</a:t>
                      </a:r>
                      <a:r>
                        <a:rPr lang="en-IN" sz="1000" dirty="0"/>
                        <a:t> </a:t>
                      </a:r>
                      <a:r>
                        <a:rPr lang="en-IN" sz="1000" dirty="0" err="1"/>
                        <a:t>धारा</a:t>
                      </a:r>
                      <a:r>
                        <a:rPr lang="en-IN" sz="1000" dirty="0"/>
                        <a:t> 151 </a:t>
                      </a:r>
                      <a:r>
                        <a:rPr lang="en-IN" sz="1000" dirty="0" err="1"/>
                        <a:t>के</a:t>
                      </a:r>
                      <a:r>
                        <a:rPr lang="en-IN" sz="1000" dirty="0"/>
                        <a:t> </a:t>
                      </a:r>
                      <a:r>
                        <a:rPr lang="en-IN" sz="1000" dirty="0" err="1"/>
                        <a:t>तहत</a:t>
                      </a:r>
                      <a:r>
                        <a:rPr lang="en-IN" sz="1000" dirty="0"/>
                        <a:t> </a:t>
                      </a:r>
                      <a:r>
                        <a:rPr lang="en-IN" sz="1000" dirty="0" err="1"/>
                        <a:t>नोटिस</a:t>
                      </a:r>
                      <a:r>
                        <a:rPr lang="en-IN" sz="1000" dirty="0"/>
                        <a:t> </a:t>
                      </a:r>
                      <a:r>
                        <a:rPr lang="en-IN" sz="1000" dirty="0" err="1"/>
                        <a:t>जारी</a:t>
                      </a:r>
                      <a:r>
                        <a:rPr lang="en-IN" sz="1000" dirty="0"/>
                        <a:t> </a:t>
                      </a:r>
                      <a:r>
                        <a:rPr lang="en-IN" sz="1000" dirty="0" err="1"/>
                        <a:t>किया</a:t>
                      </a:r>
                      <a:r>
                        <a:rPr lang="en-IN" sz="1000" dirty="0"/>
                        <a:t> </a:t>
                      </a:r>
                      <a:r>
                        <a:rPr lang="en-IN" sz="1000" dirty="0" err="1"/>
                        <a:t>जा</a:t>
                      </a:r>
                      <a:r>
                        <a:rPr lang="en-IN" sz="1000" dirty="0"/>
                        <a:t> </a:t>
                      </a:r>
                      <a:r>
                        <a:rPr lang="en-IN" sz="1000" dirty="0" err="1"/>
                        <a:t>चुका</a:t>
                      </a:r>
                      <a:r>
                        <a:rPr lang="en-IN" sz="1000" dirty="0"/>
                        <a:t> </a:t>
                      </a:r>
                      <a:r>
                        <a:rPr lang="en-IN" sz="1000" dirty="0" err="1"/>
                        <a:t>है</a:t>
                      </a:r>
                      <a:r>
                        <a:rPr lang="en-IN" sz="1000" dirty="0"/>
                        <a:t>। </a:t>
                      </a:r>
                      <a:r>
                        <a:rPr lang="en-IN" sz="1000" dirty="0" err="1"/>
                        <a:t>दूरभाष</a:t>
                      </a:r>
                      <a:r>
                        <a:rPr lang="en-IN" sz="1000" dirty="0"/>
                        <a:t>  </a:t>
                      </a:r>
                      <a:r>
                        <a:rPr lang="en-IN" sz="1000" dirty="0" err="1"/>
                        <a:t>बताया</a:t>
                      </a:r>
                      <a:r>
                        <a:rPr lang="en-IN" sz="1000" dirty="0"/>
                        <a:t> </a:t>
                      </a:r>
                      <a:r>
                        <a:rPr lang="en-IN" sz="1000" dirty="0" err="1"/>
                        <a:t>कि</a:t>
                      </a:r>
                      <a:r>
                        <a:rPr lang="en-IN" sz="1000" dirty="0"/>
                        <a:t> </a:t>
                      </a:r>
                      <a:r>
                        <a:rPr lang="en-IN" sz="1000" dirty="0" err="1"/>
                        <a:t>अभी</a:t>
                      </a:r>
                      <a:r>
                        <a:rPr lang="en-IN" sz="1000" dirty="0"/>
                        <a:t> </a:t>
                      </a:r>
                      <a:r>
                        <a:rPr lang="en-IN" sz="1000" dirty="0" err="1"/>
                        <a:t>वर्तमान</a:t>
                      </a:r>
                      <a:r>
                        <a:rPr lang="en-IN" sz="1000" dirty="0"/>
                        <a:t> </a:t>
                      </a:r>
                      <a:r>
                        <a:rPr lang="en-IN" sz="1000" dirty="0" err="1"/>
                        <a:t>में</a:t>
                      </a:r>
                      <a:r>
                        <a:rPr lang="en-IN" sz="1000" dirty="0"/>
                        <a:t> </a:t>
                      </a:r>
                      <a:r>
                        <a:rPr lang="en-IN" sz="1000" dirty="0" err="1"/>
                        <a:t>फतेहगढ़</a:t>
                      </a:r>
                      <a:r>
                        <a:rPr lang="en-IN" sz="1000" dirty="0"/>
                        <a:t> </a:t>
                      </a:r>
                      <a:r>
                        <a:rPr lang="en-IN" sz="1000" dirty="0" err="1"/>
                        <a:t>स्थित</a:t>
                      </a:r>
                      <a:r>
                        <a:rPr lang="en-IN" sz="1000" dirty="0"/>
                        <a:t> </a:t>
                      </a:r>
                      <a:r>
                        <a:rPr lang="en-IN" sz="1000" dirty="0" err="1"/>
                        <a:t>प्लांट</a:t>
                      </a:r>
                      <a:r>
                        <a:rPr lang="en-IN" sz="1000" dirty="0"/>
                        <a:t> </a:t>
                      </a:r>
                      <a:r>
                        <a:rPr lang="en-IN" sz="1000" dirty="0" err="1"/>
                        <a:t>में</a:t>
                      </a:r>
                      <a:r>
                        <a:rPr lang="en-IN" sz="1000" dirty="0"/>
                        <a:t> </a:t>
                      </a:r>
                      <a:r>
                        <a:rPr lang="en-IN" sz="1000" dirty="0" err="1"/>
                        <a:t>कोई</a:t>
                      </a:r>
                      <a:r>
                        <a:rPr lang="en-IN" sz="1000" dirty="0"/>
                        <a:t> </a:t>
                      </a:r>
                      <a:r>
                        <a:rPr lang="en-IN" sz="1000" dirty="0" err="1"/>
                        <a:t>काम</a:t>
                      </a:r>
                      <a:r>
                        <a:rPr lang="en-IN" sz="1000" dirty="0"/>
                        <a:t> </a:t>
                      </a:r>
                      <a:r>
                        <a:rPr lang="en-IN" sz="1000" dirty="0" err="1"/>
                        <a:t>नहीं</a:t>
                      </a:r>
                      <a:r>
                        <a:rPr lang="en-IN" sz="1000" dirty="0"/>
                        <a:t> </a:t>
                      </a:r>
                      <a:r>
                        <a:rPr lang="en-IN" sz="1000" dirty="0" err="1"/>
                        <a:t>चल</a:t>
                      </a:r>
                      <a:r>
                        <a:rPr lang="en-IN" sz="1000" dirty="0"/>
                        <a:t> </a:t>
                      </a:r>
                      <a:r>
                        <a:rPr lang="en-IN" sz="1000" dirty="0" err="1"/>
                        <a:t>रहा</a:t>
                      </a:r>
                      <a:r>
                        <a:rPr lang="en-IN" sz="1000" dirty="0"/>
                        <a:t> </a:t>
                      </a:r>
                      <a:r>
                        <a:rPr lang="en-IN" sz="1000" dirty="0" err="1"/>
                        <a:t>है</a:t>
                      </a:r>
                      <a:r>
                        <a:rPr lang="en-IN" sz="1000" dirty="0"/>
                        <a:t>। </a:t>
                      </a:r>
                      <a:r>
                        <a:rPr lang="en-IN" sz="1000" dirty="0" err="1"/>
                        <a:t>जून</a:t>
                      </a:r>
                      <a:r>
                        <a:rPr lang="en-IN" sz="1000" dirty="0"/>
                        <a:t> 2026 </a:t>
                      </a:r>
                      <a:r>
                        <a:rPr lang="en-IN" sz="1000" dirty="0" err="1"/>
                        <a:t>में</a:t>
                      </a:r>
                      <a:r>
                        <a:rPr lang="en-IN" sz="1000" dirty="0"/>
                        <a:t> </a:t>
                      </a:r>
                      <a:r>
                        <a:rPr lang="en-IN" sz="1000" dirty="0" err="1"/>
                        <a:t>इसके</a:t>
                      </a:r>
                      <a:r>
                        <a:rPr lang="en-IN" sz="1000" dirty="0"/>
                        <a:t> </a:t>
                      </a:r>
                      <a:r>
                        <a:rPr lang="en-IN" sz="1000" dirty="0" err="1"/>
                        <a:t>शुरू</a:t>
                      </a:r>
                      <a:r>
                        <a:rPr lang="en-IN" sz="1000" dirty="0"/>
                        <a:t> </a:t>
                      </a:r>
                      <a:r>
                        <a:rPr lang="en-IN" sz="1000" dirty="0" err="1"/>
                        <a:t>होने</a:t>
                      </a:r>
                      <a:r>
                        <a:rPr lang="en-IN" sz="1000" dirty="0"/>
                        <a:t> </a:t>
                      </a:r>
                      <a:r>
                        <a:rPr lang="en-IN" sz="1000" dirty="0" err="1"/>
                        <a:t>की</a:t>
                      </a:r>
                      <a:r>
                        <a:rPr lang="en-IN" sz="1000" dirty="0"/>
                        <a:t> </a:t>
                      </a:r>
                      <a:r>
                        <a:rPr lang="en-IN" sz="1000" dirty="0" err="1"/>
                        <a:t>संभावना</a:t>
                      </a:r>
                      <a:r>
                        <a:rPr lang="en-IN" sz="1000" dirty="0"/>
                        <a:t> </a:t>
                      </a:r>
                      <a:r>
                        <a:rPr lang="en-IN" sz="1000" dirty="0" err="1"/>
                        <a:t>है</a:t>
                      </a:r>
                      <a:r>
                        <a:rPr lang="en-IN" sz="1000" dirty="0"/>
                        <a:t>। </a:t>
                      </a:r>
                      <a:r>
                        <a:rPr lang="en-IN" sz="1000" dirty="0" err="1"/>
                        <a:t>यदि</a:t>
                      </a:r>
                      <a:r>
                        <a:rPr lang="en-IN" sz="1000" dirty="0"/>
                        <a:t> </a:t>
                      </a:r>
                      <a:r>
                        <a:rPr lang="en-IN" sz="1000" dirty="0" err="1"/>
                        <a:t>ये</a:t>
                      </a:r>
                      <a:r>
                        <a:rPr lang="en-IN" sz="1000" dirty="0"/>
                        <a:t> </a:t>
                      </a:r>
                      <a:r>
                        <a:rPr lang="en-IN" sz="1000" dirty="0" err="1"/>
                        <a:t>प्लांट</a:t>
                      </a:r>
                      <a:r>
                        <a:rPr lang="en-IN" sz="1000" dirty="0"/>
                        <a:t> </a:t>
                      </a:r>
                      <a:r>
                        <a:rPr lang="en-IN" sz="1000" dirty="0" err="1"/>
                        <a:t>कंपनी</a:t>
                      </a:r>
                      <a:r>
                        <a:rPr lang="en-IN" sz="1000" dirty="0"/>
                        <a:t> </a:t>
                      </a:r>
                      <a:r>
                        <a:rPr lang="en-IN" sz="1000" dirty="0" err="1"/>
                        <a:t>खुद</a:t>
                      </a:r>
                      <a:r>
                        <a:rPr lang="en-IN" sz="1000" dirty="0"/>
                        <a:t> </a:t>
                      </a:r>
                      <a:r>
                        <a:rPr lang="en-IN" sz="1000" dirty="0" err="1"/>
                        <a:t>ऑपरेट</a:t>
                      </a:r>
                      <a:r>
                        <a:rPr lang="en-IN" sz="1000" dirty="0"/>
                        <a:t> </a:t>
                      </a:r>
                      <a:r>
                        <a:rPr lang="en-IN" sz="1000" dirty="0" err="1"/>
                        <a:t>करेगी</a:t>
                      </a:r>
                      <a:r>
                        <a:rPr lang="en-IN" sz="1000" dirty="0"/>
                        <a:t> </a:t>
                      </a:r>
                      <a:r>
                        <a:rPr lang="en-IN" sz="1000" dirty="0" err="1"/>
                        <a:t>तो</a:t>
                      </a:r>
                      <a:r>
                        <a:rPr lang="en-IN" sz="1000" dirty="0"/>
                        <a:t> </a:t>
                      </a:r>
                      <a:r>
                        <a:rPr lang="en-IN" sz="1000" dirty="0" err="1"/>
                        <a:t>सप्लाई</a:t>
                      </a:r>
                      <a:r>
                        <a:rPr lang="en-IN" sz="1000" dirty="0"/>
                        <a:t> </a:t>
                      </a:r>
                      <a:r>
                        <a:rPr lang="en-IN" sz="1000" dirty="0" err="1"/>
                        <a:t>करमुक्त</a:t>
                      </a:r>
                      <a:r>
                        <a:rPr lang="en-IN" sz="1000" dirty="0"/>
                        <a:t> </a:t>
                      </a:r>
                      <a:r>
                        <a:rPr lang="en-IN" sz="1000" dirty="0" err="1"/>
                        <a:t>होने</a:t>
                      </a:r>
                      <a:r>
                        <a:rPr lang="en-IN" sz="1000" dirty="0"/>
                        <a:t> </a:t>
                      </a:r>
                      <a:r>
                        <a:rPr lang="en-IN" sz="1000" dirty="0" err="1"/>
                        <a:t>के</a:t>
                      </a:r>
                      <a:r>
                        <a:rPr lang="en-IN" sz="1000" dirty="0"/>
                        <a:t> </a:t>
                      </a:r>
                      <a:r>
                        <a:rPr lang="en-IN" sz="1000" dirty="0" err="1"/>
                        <a:t>कारण</a:t>
                      </a:r>
                      <a:r>
                        <a:rPr lang="en-IN" sz="1000" dirty="0"/>
                        <a:t> </a:t>
                      </a:r>
                      <a:r>
                        <a:rPr lang="en-IN" sz="1000" dirty="0" err="1"/>
                        <a:t>आईटीसी</a:t>
                      </a:r>
                      <a:r>
                        <a:rPr lang="en-IN" sz="1000" dirty="0"/>
                        <a:t> </a:t>
                      </a:r>
                      <a:r>
                        <a:rPr lang="en-IN" sz="1000" dirty="0" err="1"/>
                        <a:t>रिवर्सल</a:t>
                      </a:r>
                      <a:r>
                        <a:rPr lang="en-IN" sz="1000" dirty="0"/>
                        <a:t> </a:t>
                      </a:r>
                      <a:r>
                        <a:rPr lang="en-IN" sz="1000" dirty="0" err="1"/>
                        <a:t>कर</a:t>
                      </a:r>
                      <a:r>
                        <a:rPr lang="en-IN" sz="1000" dirty="0"/>
                        <a:t> </a:t>
                      </a:r>
                      <a:r>
                        <a:rPr lang="en-IN" sz="1000" dirty="0" err="1"/>
                        <a:t>दिया</a:t>
                      </a:r>
                      <a:r>
                        <a:rPr lang="en-IN" sz="1000" dirty="0"/>
                        <a:t> </a:t>
                      </a:r>
                      <a:r>
                        <a:rPr lang="en-IN" sz="1000" dirty="0" err="1"/>
                        <a:t>जायेगा</a:t>
                      </a:r>
                      <a:r>
                        <a:rPr lang="en-IN" sz="1000" dirty="0"/>
                        <a:t>। </a:t>
                      </a:r>
                      <a:r>
                        <a:rPr lang="en-IN" sz="1000" dirty="0" err="1"/>
                        <a:t>यदि</a:t>
                      </a:r>
                      <a:r>
                        <a:rPr lang="en-IN" sz="1000" dirty="0"/>
                        <a:t> </a:t>
                      </a:r>
                      <a:r>
                        <a:rPr lang="en-IN" sz="1000" dirty="0" err="1"/>
                        <a:t>इसे</a:t>
                      </a:r>
                      <a:r>
                        <a:rPr lang="en-IN" sz="1000" dirty="0"/>
                        <a:t> </a:t>
                      </a:r>
                      <a:r>
                        <a:rPr lang="en-IN" sz="1000" dirty="0" err="1"/>
                        <a:t>लीज</a:t>
                      </a:r>
                      <a:r>
                        <a:rPr lang="en-IN" sz="1000" dirty="0"/>
                        <a:t> </a:t>
                      </a:r>
                      <a:r>
                        <a:rPr lang="en-IN" sz="1000" dirty="0" err="1"/>
                        <a:t>पर</a:t>
                      </a:r>
                      <a:r>
                        <a:rPr lang="en-IN" sz="1000" dirty="0"/>
                        <a:t> </a:t>
                      </a:r>
                      <a:r>
                        <a:rPr lang="en-IN" sz="1000" dirty="0" err="1"/>
                        <a:t>दिया</a:t>
                      </a:r>
                      <a:r>
                        <a:rPr lang="en-IN" sz="1000" dirty="0"/>
                        <a:t> </a:t>
                      </a:r>
                      <a:r>
                        <a:rPr lang="en-IN" sz="1000" dirty="0" err="1"/>
                        <a:t>जायेगा</a:t>
                      </a:r>
                      <a:r>
                        <a:rPr lang="en-IN" sz="1000" dirty="0"/>
                        <a:t> </a:t>
                      </a:r>
                      <a:r>
                        <a:rPr lang="en-IN" sz="1000" dirty="0" err="1"/>
                        <a:t>तो</a:t>
                      </a:r>
                      <a:r>
                        <a:rPr lang="en-IN" sz="1000" dirty="0"/>
                        <a:t> </a:t>
                      </a:r>
                      <a:r>
                        <a:rPr lang="en-IN" sz="1000" dirty="0" err="1"/>
                        <a:t>वह</a:t>
                      </a:r>
                      <a:r>
                        <a:rPr lang="en-IN" sz="1000" dirty="0"/>
                        <a:t> </a:t>
                      </a:r>
                      <a:r>
                        <a:rPr lang="en-IN" sz="1000" dirty="0" err="1"/>
                        <a:t>सप्लाई</a:t>
                      </a:r>
                      <a:r>
                        <a:rPr lang="en-IN" sz="1000" dirty="0"/>
                        <a:t> </a:t>
                      </a:r>
                      <a:r>
                        <a:rPr lang="en-IN" sz="1000" dirty="0" err="1"/>
                        <a:t>करयोग्य</a:t>
                      </a:r>
                      <a:r>
                        <a:rPr lang="en-IN" sz="1000" dirty="0"/>
                        <a:t> </a:t>
                      </a:r>
                      <a:r>
                        <a:rPr lang="en-IN" sz="1000" dirty="0" err="1"/>
                        <a:t>होने</a:t>
                      </a:r>
                      <a:r>
                        <a:rPr lang="en-IN" sz="1000" dirty="0"/>
                        <a:t> </a:t>
                      </a:r>
                      <a:r>
                        <a:rPr lang="en-IN" sz="1000" dirty="0" err="1"/>
                        <a:t>के</a:t>
                      </a:r>
                      <a:r>
                        <a:rPr lang="en-IN" sz="1000" dirty="0"/>
                        <a:t> </a:t>
                      </a:r>
                      <a:r>
                        <a:rPr lang="en-IN" sz="1000" dirty="0" err="1"/>
                        <a:t>कारण</a:t>
                      </a:r>
                      <a:r>
                        <a:rPr lang="en-IN" sz="1000" dirty="0"/>
                        <a:t> </a:t>
                      </a:r>
                      <a:r>
                        <a:rPr lang="en-IN" sz="1000" dirty="0" err="1"/>
                        <a:t>आईटीसी</a:t>
                      </a:r>
                      <a:r>
                        <a:rPr lang="en-IN" sz="1000" dirty="0"/>
                        <a:t> </a:t>
                      </a:r>
                      <a:r>
                        <a:rPr lang="en-IN" sz="1000" dirty="0" err="1"/>
                        <a:t>का</a:t>
                      </a:r>
                      <a:r>
                        <a:rPr lang="en-IN" sz="1000" dirty="0"/>
                        <a:t> </a:t>
                      </a:r>
                      <a:r>
                        <a:rPr lang="en-IN" sz="1000" dirty="0" err="1"/>
                        <a:t>उपयोग</a:t>
                      </a:r>
                      <a:r>
                        <a:rPr lang="en-IN" sz="1000" dirty="0"/>
                        <a:t> </a:t>
                      </a:r>
                      <a:r>
                        <a:rPr lang="en-IN" sz="1000" dirty="0" err="1"/>
                        <a:t>कर</a:t>
                      </a:r>
                      <a:r>
                        <a:rPr lang="en-IN" sz="1000" dirty="0"/>
                        <a:t> </a:t>
                      </a:r>
                      <a:r>
                        <a:rPr lang="en-IN" sz="1000" dirty="0" err="1"/>
                        <a:t>भुगतान</a:t>
                      </a:r>
                      <a:r>
                        <a:rPr lang="en-IN" sz="1000" dirty="0"/>
                        <a:t> </a:t>
                      </a:r>
                      <a:r>
                        <a:rPr lang="en-IN" sz="1000" dirty="0" err="1"/>
                        <a:t>में</a:t>
                      </a:r>
                      <a:r>
                        <a:rPr lang="en-IN" sz="1000" dirty="0"/>
                        <a:t> </a:t>
                      </a:r>
                      <a:r>
                        <a:rPr lang="en-IN" sz="1000" dirty="0" err="1"/>
                        <a:t>किया</a:t>
                      </a:r>
                      <a:r>
                        <a:rPr lang="en-IN" sz="1000" dirty="0"/>
                        <a:t> </a:t>
                      </a:r>
                      <a:r>
                        <a:rPr lang="en-IN" sz="1000" dirty="0" err="1"/>
                        <a:t>जायेगा</a:t>
                      </a:r>
                      <a:r>
                        <a:rPr lang="en-IN" sz="1000" dirty="0"/>
                        <a:t>। </a:t>
                      </a:r>
                      <a:r>
                        <a:rPr lang="en-IN" sz="1000" dirty="0" err="1"/>
                        <a:t>कंपनी</a:t>
                      </a:r>
                      <a:r>
                        <a:rPr lang="en-IN" sz="1000" dirty="0"/>
                        <a:t> </a:t>
                      </a:r>
                      <a:r>
                        <a:rPr lang="en-IN" sz="1000" dirty="0" err="1"/>
                        <a:t>से</a:t>
                      </a:r>
                      <a:r>
                        <a:rPr lang="en-IN" sz="1000" dirty="0"/>
                        <a:t> </a:t>
                      </a:r>
                      <a:r>
                        <a:rPr lang="en-IN" sz="1000" dirty="0" err="1"/>
                        <a:t>अभी</a:t>
                      </a:r>
                      <a:r>
                        <a:rPr lang="en-IN" sz="1000" dirty="0"/>
                        <a:t> 90 </a:t>
                      </a:r>
                      <a:r>
                        <a:rPr lang="en-IN" sz="1000" dirty="0" err="1"/>
                        <a:t>प्रतिशत</a:t>
                      </a:r>
                      <a:r>
                        <a:rPr lang="en-IN" sz="1000" dirty="0"/>
                        <a:t> </a:t>
                      </a:r>
                      <a:r>
                        <a:rPr lang="en-IN" sz="1000" dirty="0" err="1"/>
                        <a:t>तक</a:t>
                      </a:r>
                      <a:r>
                        <a:rPr lang="en-IN" sz="1000" dirty="0"/>
                        <a:t> </a:t>
                      </a:r>
                      <a:r>
                        <a:rPr lang="en-IN" sz="1000" dirty="0" err="1"/>
                        <a:t>आईटीसी</a:t>
                      </a:r>
                      <a:r>
                        <a:rPr lang="en-IN" sz="1000" dirty="0"/>
                        <a:t> </a:t>
                      </a:r>
                      <a:r>
                        <a:rPr lang="en-IN" sz="1000" dirty="0" err="1"/>
                        <a:t>रिवर्सल</a:t>
                      </a:r>
                      <a:r>
                        <a:rPr lang="en-IN" sz="1000" dirty="0"/>
                        <a:t> </a:t>
                      </a:r>
                      <a:r>
                        <a:rPr lang="en-IN" sz="1000" dirty="0" err="1"/>
                        <a:t>हेतु</a:t>
                      </a:r>
                      <a:r>
                        <a:rPr lang="en-IN" sz="1000" dirty="0"/>
                        <a:t> </a:t>
                      </a:r>
                      <a:r>
                        <a:rPr lang="en-IN" sz="1000" dirty="0" err="1"/>
                        <a:t>समझाइश</a:t>
                      </a:r>
                      <a:r>
                        <a:rPr lang="en-IN" sz="1000" dirty="0"/>
                        <a:t> </a:t>
                      </a:r>
                      <a:r>
                        <a:rPr lang="en-IN" sz="1000" dirty="0" err="1"/>
                        <a:t>की</a:t>
                      </a:r>
                      <a:r>
                        <a:rPr lang="en-IN" sz="1000" dirty="0"/>
                        <a:t> </a:t>
                      </a:r>
                      <a:r>
                        <a:rPr lang="en-IN" sz="1000" dirty="0" err="1"/>
                        <a:t>गई</a:t>
                      </a:r>
                      <a:r>
                        <a:rPr lang="en-IN" sz="1000" dirty="0"/>
                        <a:t> </a:t>
                      </a:r>
                      <a:r>
                        <a:rPr lang="en-IN" sz="1000" dirty="0" err="1"/>
                        <a:t>किन्तु</a:t>
                      </a:r>
                      <a:r>
                        <a:rPr lang="en-IN" sz="1000" dirty="0"/>
                        <a:t> </a:t>
                      </a:r>
                      <a:r>
                        <a:rPr lang="en-IN" sz="1000" dirty="0" err="1"/>
                        <a:t>कंपनी</a:t>
                      </a:r>
                      <a:r>
                        <a:rPr lang="en-IN" sz="1000" dirty="0"/>
                        <a:t> </a:t>
                      </a:r>
                      <a:r>
                        <a:rPr lang="en-IN" sz="1000" dirty="0" err="1"/>
                        <a:t>आउटवर्ड</a:t>
                      </a:r>
                      <a:r>
                        <a:rPr lang="en-IN" sz="1000" dirty="0"/>
                        <a:t> </a:t>
                      </a:r>
                      <a:r>
                        <a:rPr lang="en-IN" sz="1000" dirty="0" err="1"/>
                        <a:t>सप्लाई</a:t>
                      </a:r>
                      <a:r>
                        <a:rPr lang="en-IN" sz="1000" dirty="0"/>
                        <a:t> </a:t>
                      </a:r>
                      <a:r>
                        <a:rPr lang="en-IN" sz="1000" dirty="0" err="1"/>
                        <a:t>शुरू</a:t>
                      </a:r>
                      <a:r>
                        <a:rPr lang="en-IN" sz="1000" dirty="0"/>
                        <a:t> </a:t>
                      </a:r>
                      <a:r>
                        <a:rPr lang="en-IN" sz="1000" dirty="0" err="1"/>
                        <a:t>होने</a:t>
                      </a:r>
                      <a:r>
                        <a:rPr lang="en-IN" sz="1000" dirty="0"/>
                        <a:t> </a:t>
                      </a:r>
                      <a:r>
                        <a:rPr lang="en-IN" sz="1000" dirty="0" err="1"/>
                        <a:t>से</a:t>
                      </a:r>
                      <a:r>
                        <a:rPr lang="en-IN" sz="1000" dirty="0"/>
                        <a:t> </a:t>
                      </a:r>
                      <a:r>
                        <a:rPr lang="en-IN" sz="1000" dirty="0" err="1"/>
                        <a:t>पहले</a:t>
                      </a:r>
                      <a:r>
                        <a:rPr lang="en-IN" sz="1000" dirty="0"/>
                        <a:t> </a:t>
                      </a:r>
                      <a:r>
                        <a:rPr lang="en-IN" sz="1000" dirty="0" err="1"/>
                        <a:t>तक</a:t>
                      </a:r>
                      <a:r>
                        <a:rPr lang="en-IN" sz="1000" dirty="0"/>
                        <a:t> </a:t>
                      </a:r>
                      <a:r>
                        <a:rPr lang="en-IN" sz="1000" dirty="0" err="1"/>
                        <a:t>रिवर्सल</a:t>
                      </a:r>
                      <a:r>
                        <a:rPr lang="en-IN" sz="1000" dirty="0"/>
                        <a:t> </a:t>
                      </a:r>
                      <a:r>
                        <a:rPr lang="en-IN" sz="1000" dirty="0" err="1"/>
                        <a:t>के</a:t>
                      </a:r>
                      <a:r>
                        <a:rPr lang="en-IN" sz="1000" dirty="0"/>
                        <a:t> </a:t>
                      </a:r>
                      <a:r>
                        <a:rPr lang="en-IN" sz="1000" dirty="0" err="1"/>
                        <a:t>लिए</a:t>
                      </a:r>
                      <a:r>
                        <a:rPr lang="en-IN" sz="1000" dirty="0"/>
                        <a:t> </a:t>
                      </a:r>
                      <a:r>
                        <a:rPr lang="en-IN" sz="1000" dirty="0" err="1"/>
                        <a:t>तैयार</a:t>
                      </a:r>
                      <a:r>
                        <a:rPr lang="en-IN" sz="1000" dirty="0"/>
                        <a:t> </a:t>
                      </a:r>
                      <a:r>
                        <a:rPr lang="en-IN" sz="1000" dirty="0" err="1"/>
                        <a:t>नहीं</a:t>
                      </a:r>
                      <a:r>
                        <a:rPr lang="en-IN" sz="1000" dirty="0"/>
                        <a:t> </a:t>
                      </a:r>
                      <a:r>
                        <a:rPr lang="en-IN" sz="1000" dirty="0" err="1"/>
                        <a:t>है</a:t>
                      </a:r>
                      <a:r>
                        <a:rPr lang="en-IN" sz="1000" dirty="0"/>
                        <a:t>।</a:t>
                      </a:r>
                      <a:endParaRPr sz="1000" b="0" i="0" u="none" strike="noStrike" cap="none" dirty="0">
                        <a:solidFill>
                          <a:srgbClr val="000000"/>
                        </a:solidFill>
                        <a:latin typeface="Arial"/>
                        <a:ea typeface="Arial"/>
                        <a:cs typeface="Arial"/>
                        <a:sym typeface="Arial"/>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31800">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SIEMENS GAMESA RENEWABLE POWER PRIVATE LIMITED</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3.80</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I6 C_High Reclaim Ledger</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a:solidFill>
                            <a:schemeClr val="dk1"/>
                          </a:solidFill>
                        </a:rPr>
                        <a:t>No Potential</a:t>
                      </a:r>
                      <a:endParaRPr sz="1000" b="0" i="0" u="none" strike="noStrike" cap="none">
                        <a:solidFill>
                          <a:srgbClr val="000000"/>
                        </a:solidFill>
                        <a:latin typeface="Arial"/>
                        <a:ea typeface="Arial"/>
                        <a:cs typeface="Arial"/>
                        <a:sym typeface="Arial"/>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कंपनी की सम्पूर्ण सप्लाई करयोग्य है। कंपनी के रिक्लेम लेजर में उपलब्ध आईटीसी कंपनी के उस खरीद की है जिसकी भौतिक रूप से प्राप्ति नहीं हुई है। खरीद की भौतिक रूप से प्राप्ति होते ही कंपनी द्वारा यह आईटीसी रिक्लेम कर अपनी करयोग्य सप्लाई के विरूद्ध समायोजन नियमित रूप से किया जाता है। अतः इसमें रिवर्सल का कोई प्रकरण नहीं बनता है।</a:t>
                      </a:r>
                      <a:endParaRPr sz="1000" b="0" i="0" u="none" strike="noStrike" cap="none">
                        <a:solidFill>
                          <a:srgbClr val="000000"/>
                        </a:solidFill>
                        <a:latin typeface="Arial"/>
                        <a:ea typeface="Arial"/>
                        <a:cs typeface="Arial"/>
                        <a:sym typeface="Arial"/>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82400">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FOCUS ENERGY LIMITED</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2.53</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I6 C_High Reclaim Ledger</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20-02-2026</a:t>
                      </a:r>
                      <a:endParaRPr sz="1000" b="0" i="0" u="none" strike="noStrike" cap="none">
                        <a:solidFill>
                          <a:srgbClr val="000000"/>
                        </a:solidFill>
                        <a:latin typeface="Arial"/>
                        <a:ea typeface="Arial"/>
                        <a:cs typeface="Arial"/>
                        <a:sym typeface="Arial"/>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dirty="0" err="1"/>
                        <a:t>कंपनी</a:t>
                      </a:r>
                      <a:r>
                        <a:rPr lang="en-IN" sz="1000" dirty="0"/>
                        <a:t> </a:t>
                      </a:r>
                      <a:r>
                        <a:rPr lang="en-IN" sz="1000" dirty="0" err="1"/>
                        <a:t>द्वारा</a:t>
                      </a:r>
                      <a:r>
                        <a:rPr lang="en-IN" sz="1000" dirty="0"/>
                        <a:t> </a:t>
                      </a:r>
                      <a:r>
                        <a:rPr lang="en-IN" sz="1000" dirty="0" err="1"/>
                        <a:t>करयोग्य</a:t>
                      </a:r>
                      <a:r>
                        <a:rPr lang="en-IN" sz="1000" dirty="0"/>
                        <a:t> व </a:t>
                      </a:r>
                      <a:r>
                        <a:rPr lang="en-IN" sz="1000" dirty="0" err="1"/>
                        <a:t>करमुक्त</a:t>
                      </a:r>
                      <a:r>
                        <a:rPr lang="en-IN" sz="1000" dirty="0"/>
                        <a:t> </a:t>
                      </a:r>
                      <a:r>
                        <a:rPr lang="en-IN" sz="1000" dirty="0" err="1"/>
                        <a:t>दोनों</a:t>
                      </a:r>
                      <a:r>
                        <a:rPr lang="en-IN" sz="1000" dirty="0"/>
                        <a:t> </a:t>
                      </a:r>
                      <a:r>
                        <a:rPr lang="en-IN" sz="1000" dirty="0" err="1"/>
                        <a:t>प्रकार</a:t>
                      </a:r>
                      <a:r>
                        <a:rPr lang="en-IN" sz="1000" dirty="0"/>
                        <a:t> </a:t>
                      </a:r>
                      <a:r>
                        <a:rPr lang="en-IN" sz="1000" dirty="0" err="1"/>
                        <a:t>की</a:t>
                      </a:r>
                      <a:r>
                        <a:rPr lang="en-IN" sz="1000" dirty="0"/>
                        <a:t> </a:t>
                      </a:r>
                      <a:r>
                        <a:rPr lang="en-IN" sz="1000" dirty="0" err="1"/>
                        <a:t>सप्लाई</a:t>
                      </a:r>
                      <a:r>
                        <a:rPr lang="en-IN" sz="1000" dirty="0"/>
                        <a:t> </a:t>
                      </a:r>
                      <a:r>
                        <a:rPr lang="en-IN" sz="1000" dirty="0" err="1"/>
                        <a:t>की</a:t>
                      </a:r>
                      <a:r>
                        <a:rPr lang="en-IN" sz="1000" dirty="0"/>
                        <a:t> </a:t>
                      </a:r>
                      <a:r>
                        <a:rPr lang="en-IN" sz="1000" dirty="0" err="1"/>
                        <a:t>जाती</a:t>
                      </a:r>
                      <a:r>
                        <a:rPr lang="en-IN" sz="1000" dirty="0"/>
                        <a:t> </a:t>
                      </a:r>
                      <a:r>
                        <a:rPr lang="en-IN" sz="1000" dirty="0" err="1"/>
                        <a:t>है</a:t>
                      </a:r>
                      <a:r>
                        <a:rPr lang="en-IN" sz="1000" dirty="0"/>
                        <a:t> </a:t>
                      </a:r>
                      <a:r>
                        <a:rPr lang="en-IN" sz="1000" dirty="0" err="1"/>
                        <a:t>जिसमें</a:t>
                      </a:r>
                      <a:r>
                        <a:rPr lang="en-IN" sz="1000" dirty="0"/>
                        <a:t> </a:t>
                      </a:r>
                      <a:r>
                        <a:rPr lang="en-IN" sz="1000" dirty="0" err="1"/>
                        <a:t>करयोग्य</a:t>
                      </a:r>
                      <a:r>
                        <a:rPr lang="en-IN" sz="1000" dirty="0"/>
                        <a:t> </a:t>
                      </a:r>
                      <a:r>
                        <a:rPr lang="en-IN" sz="1000" dirty="0" err="1"/>
                        <a:t>सल्पाई</a:t>
                      </a:r>
                      <a:r>
                        <a:rPr lang="en-IN" sz="1000" dirty="0"/>
                        <a:t> </a:t>
                      </a:r>
                      <a:r>
                        <a:rPr lang="en-IN" sz="1000" dirty="0" err="1"/>
                        <a:t>का</a:t>
                      </a:r>
                      <a:r>
                        <a:rPr lang="en-IN" sz="1000" dirty="0"/>
                        <a:t> 15 </a:t>
                      </a:r>
                      <a:r>
                        <a:rPr lang="en-IN" sz="1000" dirty="0" err="1"/>
                        <a:t>प्रतिशत</a:t>
                      </a:r>
                      <a:r>
                        <a:rPr lang="en-IN" sz="1000" dirty="0"/>
                        <a:t> </a:t>
                      </a:r>
                      <a:r>
                        <a:rPr lang="en-IN" sz="1000" dirty="0" err="1"/>
                        <a:t>हिस्सा</a:t>
                      </a:r>
                      <a:r>
                        <a:rPr lang="en-IN" sz="1000" dirty="0"/>
                        <a:t> </a:t>
                      </a:r>
                      <a:r>
                        <a:rPr lang="en-IN" sz="1000" dirty="0" err="1"/>
                        <a:t>है</a:t>
                      </a:r>
                      <a:r>
                        <a:rPr lang="en-IN" sz="1000" dirty="0"/>
                        <a:t> </a:t>
                      </a:r>
                      <a:r>
                        <a:rPr lang="en-IN" sz="1000" dirty="0" err="1"/>
                        <a:t>और</a:t>
                      </a:r>
                      <a:r>
                        <a:rPr lang="en-IN" sz="1000" dirty="0"/>
                        <a:t> </a:t>
                      </a:r>
                      <a:r>
                        <a:rPr lang="en-IN" sz="1000" dirty="0" err="1"/>
                        <a:t>करमुक्त</a:t>
                      </a:r>
                      <a:r>
                        <a:rPr lang="en-IN" sz="1000" dirty="0"/>
                        <a:t> </a:t>
                      </a:r>
                      <a:r>
                        <a:rPr lang="en-IN" sz="1000" dirty="0" err="1"/>
                        <a:t>सप्लाई</a:t>
                      </a:r>
                      <a:r>
                        <a:rPr lang="en-IN" sz="1000" dirty="0"/>
                        <a:t> </a:t>
                      </a:r>
                      <a:r>
                        <a:rPr lang="en-IN" sz="1000" dirty="0" err="1"/>
                        <a:t>का</a:t>
                      </a:r>
                      <a:r>
                        <a:rPr lang="en-IN" sz="1000" dirty="0"/>
                        <a:t> 85 </a:t>
                      </a:r>
                      <a:r>
                        <a:rPr lang="en-IN" sz="1000" dirty="0" err="1"/>
                        <a:t>प्रतिशत</a:t>
                      </a:r>
                      <a:r>
                        <a:rPr lang="en-IN" sz="1000" dirty="0"/>
                        <a:t> </a:t>
                      </a:r>
                      <a:r>
                        <a:rPr lang="en-IN" sz="1000" dirty="0" err="1"/>
                        <a:t>हिस्सा</a:t>
                      </a:r>
                      <a:r>
                        <a:rPr lang="en-IN" sz="1000" dirty="0"/>
                        <a:t> </a:t>
                      </a:r>
                      <a:r>
                        <a:rPr lang="en-IN" sz="1000" dirty="0" err="1"/>
                        <a:t>है</a:t>
                      </a:r>
                      <a:r>
                        <a:rPr lang="en-IN" sz="1000" dirty="0"/>
                        <a:t> </a:t>
                      </a:r>
                      <a:r>
                        <a:rPr lang="en-IN" sz="1000" dirty="0" err="1"/>
                        <a:t>कंपनी</a:t>
                      </a:r>
                      <a:r>
                        <a:rPr lang="en-IN" sz="1000" dirty="0"/>
                        <a:t> </a:t>
                      </a:r>
                      <a:r>
                        <a:rPr lang="en-IN" sz="1000" dirty="0" err="1"/>
                        <a:t>के</a:t>
                      </a:r>
                      <a:r>
                        <a:rPr lang="en-IN" sz="1000" dirty="0"/>
                        <a:t> </a:t>
                      </a:r>
                      <a:r>
                        <a:rPr lang="en-IN" sz="1000" dirty="0" err="1"/>
                        <a:t>रिक्लेम</a:t>
                      </a:r>
                      <a:r>
                        <a:rPr lang="en-IN" sz="1000" dirty="0"/>
                        <a:t> </a:t>
                      </a:r>
                      <a:r>
                        <a:rPr lang="en-IN" sz="1000" dirty="0" err="1"/>
                        <a:t>लेजर</a:t>
                      </a:r>
                      <a:r>
                        <a:rPr lang="en-IN" sz="1000" dirty="0"/>
                        <a:t> </a:t>
                      </a:r>
                      <a:r>
                        <a:rPr lang="en-IN" sz="1000" dirty="0" err="1"/>
                        <a:t>में</a:t>
                      </a:r>
                      <a:r>
                        <a:rPr lang="en-IN" sz="1000" dirty="0"/>
                        <a:t> </a:t>
                      </a:r>
                      <a:r>
                        <a:rPr lang="en-IN" sz="1000" dirty="0" err="1"/>
                        <a:t>उपलब्ध</a:t>
                      </a:r>
                      <a:r>
                        <a:rPr lang="en-IN" sz="1000" dirty="0"/>
                        <a:t> </a:t>
                      </a:r>
                      <a:r>
                        <a:rPr lang="en-IN" sz="1000" dirty="0" err="1"/>
                        <a:t>आईटीसी</a:t>
                      </a:r>
                      <a:r>
                        <a:rPr lang="en-IN" sz="1000" dirty="0"/>
                        <a:t> </a:t>
                      </a:r>
                      <a:r>
                        <a:rPr lang="en-IN" sz="1000" dirty="0" err="1"/>
                        <a:t>करदाता</a:t>
                      </a:r>
                      <a:r>
                        <a:rPr lang="en-IN" sz="1000" dirty="0"/>
                        <a:t> </a:t>
                      </a:r>
                      <a:r>
                        <a:rPr lang="en-IN" sz="1000" dirty="0" err="1"/>
                        <a:t>द्वारा</a:t>
                      </a:r>
                      <a:r>
                        <a:rPr lang="en-IN" sz="1000" dirty="0"/>
                        <a:t> </a:t>
                      </a:r>
                      <a:r>
                        <a:rPr lang="en-IN" sz="1000" dirty="0" err="1"/>
                        <a:t>वित्त</a:t>
                      </a:r>
                      <a:r>
                        <a:rPr lang="en-IN" sz="1000" dirty="0"/>
                        <a:t> </a:t>
                      </a:r>
                      <a:r>
                        <a:rPr lang="en-IN" sz="1000" dirty="0" err="1"/>
                        <a:t>वर्ष</a:t>
                      </a:r>
                      <a:r>
                        <a:rPr lang="en-IN" sz="1000" dirty="0"/>
                        <a:t> </a:t>
                      </a:r>
                      <a:r>
                        <a:rPr lang="en-IN" sz="1000" dirty="0" err="1"/>
                        <a:t>के</a:t>
                      </a:r>
                      <a:r>
                        <a:rPr lang="en-IN" sz="1000" dirty="0"/>
                        <a:t> </a:t>
                      </a:r>
                      <a:r>
                        <a:rPr lang="en-IN" sz="1000" dirty="0" err="1"/>
                        <a:t>आखिरी</a:t>
                      </a:r>
                      <a:r>
                        <a:rPr lang="en-IN" sz="1000" dirty="0"/>
                        <a:t> </a:t>
                      </a:r>
                      <a:r>
                        <a:rPr lang="en-IN" sz="1000" dirty="0" err="1"/>
                        <a:t>माह</a:t>
                      </a:r>
                      <a:r>
                        <a:rPr lang="en-IN" sz="1000" dirty="0"/>
                        <a:t> </a:t>
                      </a:r>
                      <a:r>
                        <a:rPr lang="en-IN" sz="1000" dirty="0" err="1"/>
                        <a:t>में</a:t>
                      </a:r>
                      <a:r>
                        <a:rPr lang="en-IN" sz="1000" dirty="0"/>
                        <a:t> </a:t>
                      </a:r>
                      <a:r>
                        <a:rPr lang="en-IN" sz="1000" dirty="0" err="1"/>
                        <a:t>करमुक्त</a:t>
                      </a:r>
                      <a:r>
                        <a:rPr lang="en-IN" sz="1000" dirty="0"/>
                        <a:t> </a:t>
                      </a:r>
                      <a:r>
                        <a:rPr lang="en-IN" sz="1000" dirty="0" err="1"/>
                        <a:t>सप्लाई</a:t>
                      </a:r>
                      <a:r>
                        <a:rPr lang="en-IN" sz="1000" dirty="0"/>
                        <a:t> </a:t>
                      </a:r>
                      <a:r>
                        <a:rPr lang="en-IN" sz="1000" dirty="0" err="1"/>
                        <a:t>के</a:t>
                      </a:r>
                      <a:r>
                        <a:rPr lang="en-IN" sz="1000" dirty="0"/>
                        <a:t> </a:t>
                      </a:r>
                      <a:r>
                        <a:rPr lang="en-IN" sz="1000" dirty="0" err="1"/>
                        <a:t>अनुपात</a:t>
                      </a:r>
                      <a:r>
                        <a:rPr lang="en-IN" sz="1000" dirty="0"/>
                        <a:t> </a:t>
                      </a:r>
                      <a:r>
                        <a:rPr lang="en-IN" sz="1000" dirty="0" err="1"/>
                        <a:t>में</a:t>
                      </a:r>
                      <a:r>
                        <a:rPr lang="en-IN" sz="1000" dirty="0"/>
                        <a:t> 4बी1 </a:t>
                      </a:r>
                      <a:r>
                        <a:rPr lang="en-IN" sz="1000" dirty="0" err="1"/>
                        <a:t>में</a:t>
                      </a:r>
                      <a:r>
                        <a:rPr lang="en-IN" sz="1000" dirty="0"/>
                        <a:t> </a:t>
                      </a:r>
                      <a:r>
                        <a:rPr lang="en-IN" sz="1000" dirty="0" err="1"/>
                        <a:t>रिवर्स</a:t>
                      </a:r>
                      <a:r>
                        <a:rPr lang="en-IN" sz="1000" dirty="0"/>
                        <a:t> </a:t>
                      </a:r>
                      <a:r>
                        <a:rPr lang="en-IN" sz="1000" dirty="0" err="1"/>
                        <a:t>कर</a:t>
                      </a:r>
                      <a:r>
                        <a:rPr lang="en-IN" sz="1000" dirty="0"/>
                        <a:t> </a:t>
                      </a:r>
                      <a:r>
                        <a:rPr lang="en-IN" sz="1000" dirty="0" err="1"/>
                        <a:t>दी</a:t>
                      </a:r>
                      <a:r>
                        <a:rPr lang="en-IN" sz="1000" dirty="0"/>
                        <a:t> </a:t>
                      </a:r>
                      <a:r>
                        <a:rPr lang="en-IN" sz="1000" dirty="0" err="1"/>
                        <a:t>जाती</a:t>
                      </a:r>
                      <a:r>
                        <a:rPr lang="en-IN" sz="1000" dirty="0"/>
                        <a:t> </a:t>
                      </a:r>
                      <a:r>
                        <a:rPr lang="en-IN" sz="1000" dirty="0" err="1"/>
                        <a:t>है</a:t>
                      </a:r>
                      <a:r>
                        <a:rPr lang="en-IN" sz="1000" dirty="0"/>
                        <a:t> </a:t>
                      </a:r>
                      <a:r>
                        <a:rPr lang="en-IN" sz="1000" dirty="0" err="1"/>
                        <a:t>करदाता</a:t>
                      </a:r>
                      <a:r>
                        <a:rPr lang="en-IN" sz="1000" dirty="0"/>
                        <a:t> </a:t>
                      </a:r>
                      <a:r>
                        <a:rPr lang="en-IN" sz="1000" dirty="0" err="1"/>
                        <a:t>कंपनी</a:t>
                      </a:r>
                      <a:r>
                        <a:rPr lang="en-IN" sz="1000" dirty="0"/>
                        <a:t> </a:t>
                      </a:r>
                      <a:r>
                        <a:rPr lang="en-IN" sz="1000" dirty="0" err="1"/>
                        <a:t>को</a:t>
                      </a:r>
                      <a:r>
                        <a:rPr lang="en-IN" sz="1000" dirty="0"/>
                        <a:t> </a:t>
                      </a:r>
                      <a:r>
                        <a:rPr lang="en-IN" sz="1000" dirty="0" err="1"/>
                        <a:t>माह</a:t>
                      </a:r>
                      <a:r>
                        <a:rPr lang="en-IN" sz="1000" dirty="0"/>
                        <a:t> </a:t>
                      </a:r>
                      <a:r>
                        <a:rPr lang="en-IN" sz="1000" dirty="0" err="1"/>
                        <a:t>जनवरी</a:t>
                      </a:r>
                      <a:r>
                        <a:rPr lang="en-IN" sz="1000" dirty="0"/>
                        <a:t> 26 </a:t>
                      </a:r>
                      <a:r>
                        <a:rPr lang="en-IN" sz="1000" dirty="0" err="1"/>
                        <a:t>के</a:t>
                      </a:r>
                      <a:r>
                        <a:rPr lang="en-IN" sz="1000" dirty="0"/>
                        <a:t> </a:t>
                      </a:r>
                      <a:r>
                        <a:rPr lang="en-IN" sz="1000" dirty="0" err="1"/>
                        <a:t>जीएसटीआर</a:t>
                      </a:r>
                      <a:r>
                        <a:rPr lang="en-IN" sz="1000" dirty="0"/>
                        <a:t> 3बी </a:t>
                      </a:r>
                      <a:r>
                        <a:rPr lang="en-IN" sz="1000" dirty="0" err="1"/>
                        <a:t>रिटर्न</a:t>
                      </a:r>
                      <a:r>
                        <a:rPr lang="en-IN" sz="1000" dirty="0"/>
                        <a:t> </a:t>
                      </a:r>
                      <a:r>
                        <a:rPr lang="en-IN" sz="1000" dirty="0" err="1"/>
                        <a:t>में</a:t>
                      </a:r>
                      <a:r>
                        <a:rPr lang="en-IN" sz="1000" dirty="0"/>
                        <a:t> </a:t>
                      </a:r>
                      <a:r>
                        <a:rPr lang="en-IN" sz="1000" dirty="0" err="1"/>
                        <a:t>ही</a:t>
                      </a:r>
                      <a:r>
                        <a:rPr lang="en-IN" sz="1000" dirty="0"/>
                        <a:t> </a:t>
                      </a:r>
                      <a:r>
                        <a:rPr lang="en-IN" sz="1000" dirty="0" err="1"/>
                        <a:t>यह</a:t>
                      </a:r>
                      <a:r>
                        <a:rPr lang="en-IN" sz="1000" dirty="0"/>
                        <a:t> </a:t>
                      </a:r>
                      <a:r>
                        <a:rPr lang="en-IN" sz="1000" dirty="0" err="1"/>
                        <a:t>आईजीएसटी</a:t>
                      </a:r>
                      <a:r>
                        <a:rPr lang="en-IN" sz="1000" dirty="0"/>
                        <a:t> </a:t>
                      </a:r>
                      <a:r>
                        <a:rPr lang="en-IN" sz="1000" dirty="0" err="1"/>
                        <a:t>आईटीसी</a:t>
                      </a:r>
                      <a:r>
                        <a:rPr lang="en-IN" sz="1000" dirty="0"/>
                        <a:t> </a:t>
                      </a:r>
                      <a:r>
                        <a:rPr lang="en-IN" sz="1000" dirty="0" err="1"/>
                        <a:t>का</a:t>
                      </a:r>
                      <a:r>
                        <a:rPr lang="en-IN" sz="1000" dirty="0"/>
                        <a:t> 4बी1 </a:t>
                      </a:r>
                      <a:r>
                        <a:rPr lang="en-IN" sz="1000" dirty="0" err="1"/>
                        <a:t>में</a:t>
                      </a:r>
                      <a:r>
                        <a:rPr lang="en-IN" sz="1000" dirty="0"/>
                        <a:t> </a:t>
                      </a:r>
                      <a:r>
                        <a:rPr lang="en-IN" sz="1000" dirty="0" err="1"/>
                        <a:t>रिवर्सल</a:t>
                      </a:r>
                      <a:r>
                        <a:rPr lang="en-IN" sz="1000" dirty="0"/>
                        <a:t> </a:t>
                      </a:r>
                      <a:r>
                        <a:rPr lang="en-IN" sz="1000" dirty="0" err="1"/>
                        <a:t>करने</a:t>
                      </a:r>
                      <a:r>
                        <a:rPr lang="en-IN" sz="1000" dirty="0"/>
                        <a:t> </a:t>
                      </a:r>
                      <a:r>
                        <a:rPr lang="en-IN" sz="1000" dirty="0" err="1"/>
                        <a:t>हेतु</a:t>
                      </a:r>
                      <a:r>
                        <a:rPr lang="en-IN" sz="1000" dirty="0"/>
                        <a:t> </a:t>
                      </a:r>
                      <a:r>
                        <a:rPr lang="en-IN" sz="1000" dirty="0" err="1"/>
                        <a:t>समझाइश</a:t>
                      </a:r>
                      <a:r>
                        <a:rPr lang="en-IN" sz="1000" dirty="0"/>
                        <a:t> </a:t>
                      </a:r>
                      <a:r>
                        <a:rPr lang="en-IN" sz="1000" dirty="0" err="1"/>
                        <a:t>की</a:t>
                      </a:r>
                      <a:r>
                        <a:rPr lang="en-IN" sz="1000" dirty="0"/>
                        <a:t> </a:t>
                      </a:r>
                      <a:r>
                        <a:rPr lang="en-IN" sz="1000" dirty="0" err="1"/>
                        <a:t>गई</a:t>
                      </a:r>
                      <a:r>
                        <a:rPr lang="en-IN" sz="1000" dirty="0"/>
                        <a:t>। </a:t>
                      </a:r>
                      <a:r>
                        <a:rPr lang="en-IN" sz="1000" dirty="0" err="1"/>
                        <a:t>कंपनी</a:t>
                      </a:r>
                      <a:r>
                        <a:rPr lang="en-IN" sz="1000" dirty="0"/>
                        <a:t> </a:t>
                      </a:r>
                      <a:r>
                        <a:rPr lang="en-IN" sz="1000" dirty="0" err="1"/>
                        <a:t>के</a:t>
                      </a:r>
                      <a:r>
                        <a:rPr lang="en-IN" sz="1000" dirty="0"/>
                        <a:t> </a:t>
                      </a:r>
                      <a:r>
                        <a:rPr lang="en-IN" sz="1000" dirty="0" err="1"/>
                        <a:t>कर</a:t>
                      </a:r>
                      <a:r>
                        <a:rPr lang="en-IN" sz="1000" dirty="0"/>
                        <a:t> </a:t>
                      </a:r>
                      <a:r>
                        <a:rPr lang="en-IN" sz="1000" dirty="0" err="1"/>
                        <a:t>सलाहकार</a:t>
                      </a:r>
                      <a:r>
                        <a:rPr lang="en-IN" sz="1000" dirty="0"/>
                        <a:t> </a:t>
                      </a:r>
                      <a:r>
                        <a:rPr lang="en-IN" sz="1000" dirty="0" err="1"/>
                        <a:t>ने</a:t>
                      </a:r>
                      <a:r>
                        <a:rPr lang="en-IN" sz="1000" dirty="0"/>
                        <a:t>  </a:t>
                      </a:r>
                      <a:r>
                        <a:rPr lang="en-IN" sz="1000" dirty="0" err="1"/>
                        <a:t>जनवरी</a:t>
                      </a:r>
                      <a:r>
                        <a:rPr lang="en-IN" sz="1000" dirty="0"/>
                        <a:t> 26 </a:t>
                      </a:r>
                      <a:r>
                        <a:rPr lang="en-IN" sz="1000" dirty="0" err="1"/>
                        <a:t>के</a:t>
                      </a:r>
                      <a:r>
                        <a:rPr lang="en-IN" sz="1000" dirty="0"/>
                        <a:t> </a:t>
                      </a:r>
                      <a:r>
                        <a:rPr lang="en-IN" sz="1000" dirty="0" err="1"/>
                        <a:t>जीएसटीआर</a:t>
                      </a:r>
                      <a:r>
                        <a:rPr lang="en-IN" sz="1000" dirty="0"/>
                        <a:t> 3बी </a:t>
                      </a:r>
                      <a:r>
                        <a:rPr lang="en-IN" sz="1000" dirty="0" err="1"/>
                        <a:t>में</a:t>
                      </a:r>
                      <a:r>
                        <a:rPr lang="en-IN" sz="1000" dirty="0"/>
                        <a:t> 2 </a:t>
                      </a:r>
                      <a:r>
                        <a:rPr lang="en-IN" sz="1000" dirty="0" err="1"/>
                        <a:t>करोड़</a:t>
                      </a:r>
                      <a:r>
                        <a:rPr lang="en-IN" sz="1000" dirty="0"/>
                        <a:t> </a:t>
                      </a:r>
                      <a:r>
                        <a:rPr lang="en-IN" sz="1000" dirty="0" err="1"/>
                        <a:t>आईजीएसटी</a:t>
                      </a:r>
                      <a:r>
                        <a:rPr lang="en-IN" sz="1000" dirty="0"/>
                        <a:t> </a:t>
                      </a:r>
                      <a:r>
                        <a:rPr lang="en-IN" sz="1000" dirty="0" err="1"/>
                        <a:t>आईटीसी</a:t>
                      </a:r>
                      <a:r>
                        <a:rPr lang="en-IN" sz="1000" dirty="0"/>
                        <a:t> </a:t>
                      </a:r>
                      <a:r>
                        <a:rPr lang="en-IN" sz="1000" dirty="0" err="1"/>
                        <a:t>का</a:t>
                      </a:r>
                      <a:r>
                        <a:rPr lang="en-IN" sz="1000" dirty="0"/>
                        <a:t> </a:t>
                      </a:r>
                      <a:r>
                        <a:rPr lang="en-IN" sz="1000" dirty="0" err="1"/>
                        <a:t>रिवर्सल</a:t>
                      </a:r>
                      <a:r>
                        <a:rPr lang="en-IN" sz="1000" dirty="0"/>
                        <a:t> 4बी1 </a:t>
                      </a:r>
                      <a:r>
                        <a:rPr lang="en-IN" sz="1000" dirty="0" err="1"/>
                        <a:t>में</a:t>
                      </a:r>
                      <a:r>
                        <a:rPr lang="en-IN" sz="1000" dirty="0"/>
                        <a:t> </a:t>
                      </a:r>
                      <a:r>
                        <a:rPr lang="en-IN" sz="1000" dirty="0" err="1"/>
                        <a:t>करने</a:t>
                      </a:r>
                      <a:r>
                        <a:rPr lang="en-IN" sz="1000" dirty="0"/>
                        <a:t> </a:t>
                      </a:r>
                      <a:r>
                        <a:rPr lang="en-IN" sz="1000" dirty="0" err="1"/>
                        <a:t>का</a:t>
                      </a:r>
                      <a:r>
                        <a:rPr lang="en-IN" sz="1000" dirty="0"/>
                        <a:t> </a:t>
                      </a:r>
                      <a:r>
                        <a:rPr lang="en-IN" sz="1000" dirty="0" err="1"/>
                        <a:t>विश्वास</a:t>
                      </a:r>
                      <a:r>
                        <a:rPr lang="en-IN" sz="1000" dirty="0"/>
                        <a:t> </a:t>
                      </a:r>
                      <a:r>
                        <a:rPr lang="en-IN" sz="1000" dirty="0" err="1"/>
                        <a:t>दिलाया</a:t>
                      </a:r>
                      <a:r>
                        <a:rPr lang="en-IN" sz="1000" dirty="0"/>
                        <a:t> </a:t>
                      </a:r>
                      <a:r>
                        <a:rPr lang="en-IN" sz="1000" dirty="0" err="1"/>
                        <a:t>है</a:t>
                      </a:r>
                      <a:r>
                        <a:rPr lang="en-IN" sz="1000" dirty="0"/>
                        <a:t>।</a:t>
                      </a:r>
                      <a:endParaRPr sz="1000" b="0" i="0" u="none" strike="noStrike" cap="none" dirty="0">
                        <a:solidFill>
                          <a:srgbClr val="000000"/>
                        </a:solidFill>
                        <a:latin typeface="Arial"/>
                        <a:ea typeface="Arial"/>
                        <a:cs typeface="Arial"/>
                        <a:sym typeface="Arial"/>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86900">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ADANI SOLAR ENERGY JAISALMER ONE PRIVATE LIMITED</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2.53</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I6 C_High Reclaim Ledger</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a:t>
                      </a:r>
                      <a:endParaRPr sz="1000" b="0" i="0" u="none" strike="noStrike" cap="none">
                        <a:solidFill>
                          <a:srgbClr val="000000"/>
                        </a:solidFill>
                        <a:latin typeface="Arial"/>
                        <a:ea typeface="Arial"/>
                        <a:cs typeface="Arial"/>
                        <a:sym typeface="Arial"/>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Intimation given  on date 11-02-2026, No reply till date.</a:t>
                      </a:r>
                      <a:endParaRPr sz="1000" b="0" i="0" u="none" strike="noStrike" cap="none">
                        <a:solidFill>
                          <a:srgbClr val="000000"/>
                        </a:solidFill>
                        <a:latin typeface="Arial"/>
                        <a:ea typeface="Arial"/>
                        <a:cs typeface="Arial"/>
                        <a:sym typeface="Arial"/>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31800">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ADANI SOLAR ENERGY RJ ONE LIMITED</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2.06</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I6 C_High Reclaim Ledger</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a:t>
                      </a:r>
                      <a:endParaRPr sz="1000" b="0" i="0" u="none" strike="noStrike" cap="none">
                        <a:solidFill>
                          <a:srgbClr val="000000"/>
                        </a:solidFill>
                        <a:latin typeface="Arial"/>
                        <a:ea typeface="Arial"/>
                        <a:cs typeface="Arial"/>
                        <a:sym typeface="Arial"/>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dirty="0">
                          <a:solidFill>
                            <a:schemeClr val="dk1"/>
                          </a:solidFill>
                        </a:rPr>
                        <a:t>Intimation given  on date 11-02-2026, No reply till date.</a:t>
                      </a:r>
                      <a:endParaRPr sz="1000" dirty="0">
                        <a:solidFill>
                          <a:schemeClr val="dk1"/>
                        </a:solidFill>
                      </a:endParaRPr>
                    </a:p>
                    <a:p>
                      <a:pPr marL="0" marR="0" lvl="0" indent="0" algn="ctr" rtl="0">
                        <a:spcBef>
                          <a:spcPts val="0"/>
                        </a:spcBef>
                        <a:spcAft>
                          <a:spcPts val="0"/>
                        </a:spcAft>
                        <a:buClr>
                          <a:schemeClr val="dk1"/>
                        </a:buClr>
                        <a:buSzPts val="1000"/>
                        <a:buFont typeface="Calibri"/>
                        <a:buNone/>
                      </a:pPr>
                      <a:endParaRPr sz="1000" dirty="0"/>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531800">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CGE II HYBRID ENERGY PRIVATE LIMITED</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1.99</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I16 Taxpayers with high ITC in 2B but claimed less in 3B (1) 1</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a:solidFill>
                            <a:schemeClr val="dk1"/>
                          </a:solidFill>
                        </a:rPr>
                        <a:t>20-02-2026</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dirty="0" err="1">
                          <a:solidFill>
                            <a:schemeClr val="dk1"/>
                          </a:solidFill>
                        </a:rPr>
                        <a:t>करदाता</a:t>
                      </a:r>
                      <a:r>
                        <a:rPr lang="en-IN" sz="1000" dirty="0">
                          <a:solidFill>
                            <a:schemeClr val="dk1"/>
                          </a:solidFill>
                        </a:rPr>
                        <a:t> </a:t>
                      </a:r>
                      <a:r>
                        <a:rPr lang="en-IN" sz="1000" dirty="0" err="1">
                          <a:solidFill>
                            <a:schemeClr val="dk1"/>
                          </a:solidFill>
                        </a:rPr>
                        <a:t>द्वारा</a:t>
                      </a:r>
                      <a:r>
                        <a:rPr lang="en-IN" sz="1000" dirty="0">
                          <a:solidFill>
                            <a:schemeClr val="dk1"/>
                          </a:solidFill>
                        </a:rPr>
                        <a:t> </a:t>
                      </a:r>
                      <a:r>
                        <a:rPr lang="en-IN" sz="1000" dirty="0" err="1">
                          <a:solidFill>
                            <a:schemeClr val="dk1"/>
                          </a:solidFill>
                        </a:rPr>
                        <a:t>माह</a:t>
                      </a:r>
                      <a:r>
                        <a:rPr lang="en-IN" sz="1000" dirty="0">
                          <a:solidFill>
                            <a:schemeClr val="dk1"/>
                          </a:solidFill>
                        </a:rPr>
                        <a:t> </a:t>
                      </a:r>
                      <a:r>
                        <a:rPr lang="en-IN" sz="1000" dirty="0" err="1">
                          <a:solidFill>
                            <a:schemeClr val="dk1"/>
                          </a:solidFill>
                        </a:rPr>
                        <a:t>सितंबर</a:t>
                      </a:r>
                      <a:r>
                        <a:rPr lang="en-IN" sz="1000" dirty="0">
                          <a:solidFill>
                            <a:schemeClr val="dk1"/>
                          </a:solidFill>
                        </a:rPr>
                        <a:t> 25 </a:t>
                      </a:r>
                      <a:r>
                        <a:rPr lang="en-IN" sz="1000" dirty="0" err="1">
                          <a:solidFill>
                            <a:schemeClr val="dk1"/>
                          </a:solidFill>
                        </a:rPr>
                        <a:t>के</a:t>
                      </a:r>
                      <a:r>
                        <a:rPr lang="en-IN" sz="1000" dirty="0">
                          <a:solidFill>
                            <a:schemeClr val="dk1"/>
                          </a:solidFill>
                        </a:rPr>
                        <a:t> </a:t>
                      </a:r>
                      <a:r>
                        <a:rPr lang="en-IN" sz="1000" dirty="0" err="1">
                          <a:solidFill>
                            <a:schemeClr val="dk1"/>
                          </a:solidFill>
                        </a:rPr>
                        <a:t>जीएसटीआर</a:t>
                      </a:r>
                      <a:r>
                        <a:rPr lang="en-IN" sz="1000" dirty="0">
                          <a:solidFill>
                            <a:schemeClr val="dk1"/>
                          </a:solidFill>
                        </a:rPr>
                        <a:t> 3बी </a:t>
                      </a:r>
                      <a:r>
                        <a:rPr lang="en-IN" sz="1000" dirty="0" err="1">
                          <a:solidFill>
                            <a:schemeClr val="dk1"/>
                          </a:solidFill>
                        </a:rPr>
                        <a:t>में</a:t>
                      </a:r>
                      <a:r>
                        <a:rPr lang="en-IN" sz="1000" dirty="0">
                          <a:solidFill>
                            <a:schemeClr val="dk1"/>
                          </a:solidFill>
                        </a:rPr>
                        <a:t> </a:t>
                      </a:r>
                      <a:r>
                        <a:rPr lang="en-IN" sz="1000" dirty="0" err="1">
                          <a:solidFill>
                            <a:schemeClr val="dk1"/>
                          </a:solidFill>
                        </a:rPr>
                        <a:t>यह</a:t>
                      </a:r>
                      <a:r>
                        <a:rPr lang="en-IN" sz="1000" dirty="0">
                          <a:solidFill>
                            <a:schemeClr val="dk1"/>
                          </a:solidFill>
                        </a:rPr>
                        <a:t> </a:t>
                      </a:r>
                      <a:r>
                        <a:rPr lang="en-IN" sz="1000" dirty="0" err="1">
                          <a:solidFill>
                            <a:schemeClr val="dk1"/>
                          </a:solidFill>
                        </a:rPr>
                        <a:t>आईजीएसटी</a:t>
                      </a:r>
                      <a:r>
                        <a:rPr lang="en-IN" sz="1000" dirty="0">
                          <a:solidFill>
                            <a:schemeClr val="dk1"/>
                          </a:solidFill>
                        </a:rPr>
                        <a:t> </a:t>
                      </a:r>
                      <a:r>
                        <a:rPr lang="en-IN" sz="1000" dirty="0" err="1">
                          <a:solidFill>
                            <a:schemeClr val="dk1"/>
                          </a:solidFill>
                        </a:rPr>
                        <a:t>आईटीसी</a:t>
                      </a:r>
                      <a:r>
                        <a:rPr lang="en-IN" sz="1000" dirty="0">
                          <a:solidFill>
                            <a:schemeClr val="dk1"/>
                          </a:solidFill>
                        </a:rPr>
                        <a:t> </a:t>
                      </a:r>
                      <a:r>
                        <a:rPr lang="en-IN" sz="1000" dirty="0" err="1">
                          <a:solidFill>
                            <a:schemeClr val="dk1"/>
                          </a:solidFill>
                        </a:rPr>
                        <a:t>क्लेम</a:t>
                      </a:r>
                      <a:r>
                        <a:rPr lang="en-IN" sz="1000" dirty="0">
                          <a:solidFill>
                            <a:schemeClr val="dk1"/>
                          </a:solidFill>
                        </a:rPr>
                        <a:t> </a:t>
                      </a:r>
                      <a:r>
                        <a:rPr lang="en-IN" sz="1000" dirty="0" err="1">
                          <a:solidFill>
                            <a:schemeClr val="dk1"/>
                          </a:solidFill>
                        </a:rPr>
                        <a:t>की</a:t>
                      </a:r>
                      <a:r>
                        <a:rPr lang="en-IN" sz="1000" dirty="0">
                          <a:solidFill>
                            <a:schemeClr val="dk1"/>
                          </a:solidFill>
                        </a:rPr>
                        <a:t> </a:t>
                      </a:r>
                      <a:r>
                        <a:rPr lang="en-IN" sz="1000" dirty="0" err="1">
                          <a:solidFill>
                            <a:schemeClr val="dk1"/>
                          </a:solidFill>
                        </a:rPr>
                        <a:t>जा</a:t>
                      </a:r>
                      <a:r>
                        <a:rPr lang="en-IN" sz="1000" dirty="0">
                          <a:solidFill>
                            <a:schemeClr val="dk1"/>
                          </a:solidFill>
                        </a:rPr>
                        <a:t> </a:t>
                      </a:r>
                      <a:r>
                        <a:rPr lang="en-IN" sz="1000" dirty="0" err="1">
                          <a:solidFill>
                            <a:schemeClr val="dk1"/>
                          </a:solidFill>
                        </a:rPr>
                        <a:t>चुकी</a:t>
                      </a:r>
                      <a:r>
                        <a:rPr lang="en-IN" sz="1000" dirty="0">
                          <a:solidFill>
                            <a:schemeClr val="dk1"/>
                          </a:solidFill>
                        </a:rPr>
                        <a:t> </a:t>
                      </a:r>
                      <a:r>
                        <a:rPr lang="en-IN" sz="1000" dirty="0" err="1">
                          <a:solidFill>
                            <a:schemeClr val="dk1"/>
                          </a:solidFill>
                        </a:rPr>
                        <a:t>है</a:t>
                      </a:r>
                      <a:r>
                        <a:rPr lang="en-IN" sz="1000" dirty="0">
                          <a:solidFill>
                            <a:schemeClr val="dk1"/>
                          </a:solidFill>
                        </a:rPr>
                        <a:t> </a:t>
                      </a:r>
                      <a:r>
                        <a:rPr lang="en-IN" sz="1000" dirty="0" err="1">
                          <a:solidFill>
                            <a:schemeClr val="dk1"/>
                          </a:solidFill>
                        </a:rPr>
                        <a:t>और</a:t>
                      </a:r>
                      <a:r>
                        <a:rPr lang="en-IN" sz="1000" dirty="0">
                          <a:solidFill>
                            <a:schemeClr val="dk1"/>
                          </a:solidFill>
                        </a:rPr>
                        <a:t> </a:t>
                      </a:r>
                      <a:r>
                        <a:rPr lang="en-IN" sz="1000" dirty="0" err="1">
                          <a:solidFill>
                            <a:schemeClr val="dk1"/>
                          </a:solidFill>
                        </a:rPr>
                        <a:t>राशि</a:t>
                      </a:r>
                      <a:r>
                        <a:rPr lang="en-IN" sz="1000" dirty="0">
                          <a:solidFill>
                            <a:schemeClr val="dk1"/>
                          </a:solidFill>
                        </a:rPr>
                        <a:t> </a:t>
                      </a:r>
                      <a:r>
                        <a:rPr lang="en-IN" sz="1000" dirty="0" err="1">
                          <a:solidFill>
                            <a:schemeClr val="dk1"/>
                          </a:solidFill>
                        </a:rPr>
                        <a:t>रूपये</a:t>
                      </a:r>
                      <a:r>
                        <a:rPr lang="en-IN" sz="1000" dirty="0">
                          <a:solidFill>
                            <a:schemeClr val="dk1"/>
                          </a:solidFill>
                        </a:rPr>
                        <a:t> 9,93,64,409 </a:t>
                      </a:r>
                      <a:r>
                        <a:rPr lang="en-IN" sz="1000" dirty="0" err="1">
                          <a:solidFill>
                            <a:schemeClr val="dk1"/>
                          </a:solidFill>
                        </a:rPr>
                        <a:t>का</a:t>
                      </a:r>
                      <a:r>
                        <a:rPr lang="en-IN" sz="1000" dirty="0">
                          <a:solidFill>
                            <a:schemeClr val="dk1"/>
                          </a:solidFill>
                        </a:rPr>
                        <a:t> </a:t>
                      </a:r>
                      <a:r>
                        <a:rPr lang="en-IN" sz="1000" dirty="0" err="1">
                          <a:solidFill>
                            <a:schemeClr val="dk1"/>
                          </a:solidFill>
                        </a:rPr>
                        <a:t>रिवर्सल</a:t>
                      </a:r>
                      <a:r>
                        <a:rPr lang="en-IN" sz="1000" dirty="0">
                          <a:solidFill>
                            <a:schemeClr val="dk1"/>
                          </a:solidFill>
                        </a:rPr>
                        <a:t> 4बी1 </a:t>
                      </a:r>
                      <a:r>
                        <a:rPr lang="en-IN" sz="1000" dirty="0" err="1">
                          <a:solidFill>
                            <a:schemeClr val="dk1"/>
                          </a:solidFill>
                        </a:rPr>
                        <a:t>में</a:t>
                      </a:r>
                      <a:r>
                        <a:rPr lang="en-IN" sz="1000" dirty="0">
                          <a:solidFill>
                            <a:schemeClr val="dk1"/>
                          </a:solidFill>
                        </a:rPr>
                        <a:t> </a:t>
                      </a:r>
                      <a:r>
                        <a:rPr lang="en-IN" sz="1000" dirty="0" err="1">
                          <a:solidFill>
                            <a:schemeClr val="dk1"/>
                          </a:solidFill>
                        </a:rPr>
                        <a:t>किया</a:t>
                      </a:r>
                      <a:r>
                        <a:rPr lang="en-IN" sz="1000" dirty="0">
                          <a:solidFill>
                            <a:schemeClr val="dk1"/>
                          </a:solidFill>
                        </a:rPr>
                        <a:t> </a:t>
                      </a:r>
                      <a:r>
                        <a:rPr lang="en-IN" sz="1000" dirty="0" err="1">
                          <a:solidFill>
                            <a:schemeClr val="dk1"/>
                          </a:solidFill>
                        </a:rPr>
                        <a:t>जा</a:t>
                      </a:r>
                      <a:r>
                        <a:rPr lang="en-IN" sz="1000" dirty="0">
                          <a:solidFill>
                            <a:schemeClr val="dk1"/>
                          </a:solidFill>
                        </a:rPr>
                        <a:t> </a:t>
                      </a:r>
                      <a:r>
                        <a:rPr lang="en-IN" sz="1000" dirty="0" err="1">
                          <a:solidFill>
                            <a:schemeClr val="dk1"/>
                          </a:solidFill>
                        </a:rPr>
                        <a:t>चुका</a:t>
                      </a:r>
                      <a:r>
                        <a:rPr lang="en-IN" sz="1000" dirty="0">
                          <a:solidFill>
                            <a:schemeClr val="dk1"/>
                          </a:solidFill>
                        </a:rPr>
                        <a:t> </a:t>
                      </a:r>
                      <a:r>
                        <a:rPr lang="en-IN" sz="1000" dirty="0" err="1">
                          <a:solidFill>
                            <a:schemeClr val="dk1"/>
                          </a:solidFill>
                        </a:rPr>
                        <a:t>है</a:t>
                      </a:r>
                      <a:r>
                        <a:rPr lang="en-IN" sz="1000" dirty="0">
                          <a:solidFill>
                            <a:schemeClr val="dk1"/>
                          </a:solidFill>
                        </a:rPr>
                        <a:t>।</a:t>
                      </a:r>
                      <a:endParaRPr sz="1000" dirty="0">
                        <a:solidFill>
                          <a:schemeClr val="dk1"/>
                        </a:solidFill>
                      </a:endParaRPr>
                    </a:p>
                    <a:p>
                      <a:pPr marL="0" lvl="0" indent="0" algn="l" rtl="0">
                        <a:spcBef>
                          <a:spcPts val="0"/>
                        </a:spcBef>
                        <a:spcAft>
                          <a:spcPts val="0"/>
                        </a:spcAft>
                        <a:buNone/>
                      </a:pPr>
                      <a:endParaRPr dirty="0"/>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531800">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SPRNG SOLAR PLUS PRIVATE LIMITED</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1.31</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I6 C_High Reclaim Ledger</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a:solidFill>
                            <a:schemeClr val="dk1"/>
                          </a:solidFill>
                        </a:rPr>
                        <a:t>20-02-2026</a:t>
                      </a:r>
                      <a:endParaRPr sz="1000">
                        <a:solidFill>
                          <a:schemeClr val="dk1"/>
                        </a:solidFill>
                      </a:endParaRPr>
                    </a:p>
                    <a:p>
                      <a:pPr marL="0" marR="0" lvl="0" indent="0" algn="ctr" rtl="0">
                        <a:spcBef>
                          <a:spcPts val="0"/>
                        </a:spcBef>
                        <a:spcAft>
                          <a:spcPts val="0"/>
                        </a:spcAft>
                        <a:buClr>
                          <a:schemeClr val="dk1"/>
                        </a:buClr>
                        <a:buSzPts val="1000"/>
                        <a:buFont typeface="Calibri"/>
                        <a:buNone/>
                      </a:pPr>
                      <a:endParaRPr sz="1000" b="0" i="0" u="none" strike="noStrike" cap="none">
                        <a:solidFill>
                          <a:srgbClr val="000000"/>
                        </a:solidFill>
                        <a:latin typeface="Arial"/>
                        <a:ea typeface="Arial"/>
                        <a:cs typeface="Arial"/>
                        <a:sym typeface="Arial"/>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a:solidFill>
                            <a:schemeClr val="dk1"/>
                          </a:solidFill>
                        </a:rPr>
                        <a:t>करदाता कंपनी को माह जनवरी 26 के जीएसटीआर 3बी रिटर्न में ही यह आईजीएसटी आईटीसी का 4बी1 में रिवर्सल करने हेतु समझाइश की गई। कंपनी के कर सलाहकार ने  जनवरी 26 के जीएसटीआर 3बी में 1.20 करोड़ आईजीएसटी आईटीसी का रिवर्सल 4बी1 में करने का विश्वास दिलाया है।</a:t>
                      </a:r>
                      <a:endParaRPr sz="1000">
                        <a:solidFill>
                          <a:schemeClr val="dk1"/>
                        </a:solidFill>
                      </a:endParaRPr>
                    </a:p>
                    <a:p>
                      <a:pPr marL="0" marR="0" lvl="0" indent="0" algn="ctr" rtl="0">
                        <a:spcBef>
                          <a:spcPts val="0"/>
                        </a:spcBef>
                        <a:spcAft>
                          <a:spcPts val="0"/>
                        </a:spcAft>
                        <a:buClr>
                          <a:schemeClr val="dk1"/>
                        </a:buClr>
                        <a:buSzPts val="1000"/>
                        <a:buFont typeface="Calibri"/>
                        <a:buNone/>
                      </a:pPr>
                      <a:endParaRPr sz="1000" b="0" i="0" u="none" strike="noStrike" cap="none">
                        <a:solidFill>
                          <a:srgbClr val="000000"/>
                        </a:solidFill>
                        <a:latin typeface="Arial"/>
                        <a:ea typeface="Arial"/>
                        <a:cs typeface="Arial"/>
                        <a:sym typeface="Arial"/>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55962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CGE II HYBRID ENERGY PRIVATE LIMITED</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1.12</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I6 C_High Reclaim Ledger</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a:solidFill>
                            <a:schemeClr val="dk1"/>
                          </a:solidFill>
                        </a:rPr>
                        <a:t>20-02-2026</a:t>
                      </a:r>
                      <a:endParaRPr sz="1000">
                        <a:solidFill>
                          <a:schemeClr val="dk1"/>
                        </a:solidFill>
                      </a:endParaRPr>
                    </a:p>
                    <a:p>
                      <a:pPr marL="0" marR="0" lvl="0" indent="0" algn="ctr" rtl="0">
                        <a:spcBef>
                          <a:spcPts val="0"/>
                        </a:spcBef>
                        <a:spcAft>
                          <a:spcPts val="0"/>
                        </a:spcAft>
                        <a:buClr>
                          <a:schemeClr val="dk1"/>
                        </a:buClr>
                        <a:buSzPts val="1000"/>
                        <a:buFont typeface="Calibri"/>
                        <a:buNone/>
                      </a:pPr>
                      <a:endParaRPr sz="1000"/>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IN" sz="1000">
                          <a:solidFill>
                            <a:schemeClr val="dk1"/>
                          </a:solidFill>
                        </a:rPr>
                        <a:t>करदाता कंपनी को माह जनवरी 26 के जीएसटीआर 3बी रिटर्न में ही यह आईजीएसटी आईटीसी का 4बी1 में रिवर्सल करने हेतु समझाइश की गई। कंपनी के कर सलाहकार ने </a:t>
                      </a:r>
                      <a:r>
                        <a:rPr lang="en-IN" sz="1000"/>
                        <a:t>माह जनवरी 26 के जीएसटीआर 3बी में 1.12 करोड़ आईजीएसटी आईटीसी का रिवर्सल 4बी1 में करने का विश्वास दिलाया है।</a:t>
                      </a:r>
                      <a:endParaRPr sz="1000"/>
                    </a:p>
                    <a:p>
                      <a:pPr marL="0" lvl="0" indent="0" algn="ctr" rtl="0">
                        <a:spcBef>
                          <a:spcPts val="0"/>
                        </a:spcBef>
                        <a:spcAft>
                          <a:spcPts val="0"/>
                        </a:spcAft>
                        <a:buClr>
                          <a:schemeClr val="dk1"/>
                        </a:buClr>
                        <a:buSzPts val="1100"/>
                        <a:buFont typeface="Arial"/>
                        <a:buNone/>
                      </a:pPr>
                      <a:endParaRPr sz="1000"/>
                    </a:p>
                    <a:p>
                      <a:pPr marL="0" marR="0" lvl="0" indent="0" algn="ctr" rtl="0">
                        <a:spcBef>
                          <a:spcPts val="0"/>
                        </a:spcBef>
                        <a:spcAft>
                          <a:spcPts val="0"/>
                        </a:spcAft>
                        <a:buClr>
                          <a:schemeClr val="dk1"/>
                        </a:buClr>
                        <a:buSzPts val="1000"/>
                        <a:buFont typeface="Calibri"/>
                        <a:buNone/>
                      </a:pPr>
                      <a:endParaRPr sz="1000"/>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15100">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BABA RAMDEV TRADING COMPANY</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0.04</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17-02-2026</a:t>
                      </a:r>
                      <a:endParaRPr sz="1000" b="0" i="0" u="none" strike="noStrike" cap="none">
                        <a:solidFill>
                          <a:srgbClr val="000000"/>
                        </a:solidFill>
                        <a:latin typeface="Arial"/>
                        <a:ea typeface="Arial"/>
                        <a:cs typeface="Arial"/>
                        <a:sym typeface="Arial"/>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dirty="0"/>
                        <a:t>RTP REVERSED IGST 445081/- THROUGH DRC-03 ON 17-02-2026. NOW NO POTENTIAL REMAINING.</a:t>
                      </a:r>
                      <a:endParaRPr sz="1000" b="0" i="0" u="none" strike="noStrike" cap="none" dirty="0">
                        <a:solidFill>
                          <a:srgbClr val="000000"/>
                        </a:solidFill>
                        <a:latin typeface="Arial"/>
                        <a:ea typeface="Arial"/>
                        <a:cs typeface="Arial"/>
                        <a:sym typeface="Arial"/>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531800">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DEV CONSTRUCTION COMPANY</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0.03</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17-02-2026</a:t>
                      </a:r>
                      <a:endParaRPr sz="1000" b="0" i="0" u="none" strike="noStrike" cap="none">
                        <a:solidFill>
                          <a:srgbClr val="000000"/>
                        </a:solidFill>
                        <a:latin typeface="Arial"/>
                        <a:ea typeface="Arial"/>
                        <a:cs typeface="Arial"/>
                        <a:sym typeface="Arial"/>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dirty="0">
                          <a:solidFill>
                            <a:schemeClr val="dk1"/>
                          </a:solidFill>
                        </a:rPr>
                        <a:t>RTP REVERSED IGST 285882/- THROUGH DRC-03 ON 17-02-2026. NOW NO POTENTIAL REMAINING.</a:t>
                      </a:r>
                      <a:endParaRPr sz="1000" dirty="0">
                        <a:solidFill>
                          <a:schemeClr val="dk1"/>
                        </a:solidFill>
                      </a:endParaRPr>
                    </a:p>
                    <a:p>
                      <a:pPr marL="0" lvl="0" indent="0" algn="ctr" rtl="0">
                        <a:spcBef>
                          <a:spcPts val="0"/>
                        </a:spcBef>
                        <a:spcAft>
                          <a:spcPts val="0"/>
                        </a:spcAft>
                        <a:buClr>
                          <a:schemeClr val="dk1"/>
                        </a:buClr>
                        <a:buSzPts val="1000"/>
                        <a:buFont typeface="Calibri"/>
                        <a:buNone/>
                      </a:pPr>
                      <a:endParaRPr sz="1000" dirty="0"/>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41300">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Total</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31.00</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 </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700"/>
                        <a:buFont typeface="Arial"/>
                        <a:buNone/>
                      </a:pPr>
                      <a:r>
                        <a:rPr lang="en-IN" sz="700" b="1" i="0" u="none" strike="noStrike" cap="none">
                          <a:solidFill>
                            <a:srgbClr val="FFFFFF"/>
                          </a:solidFill>
                          <a:latin typeface="Arial"/>
                          <a:ea typeface="Arial"/>
                          <a:cs typeface="Arial"/>
                          <a:sym typeface="Arial"/>
                        </a:rPr>
                        <a:t> </a:t>
                      </a:r>
                      <a:endParaRPr/>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700"/>
                        <a:buFont typeface="Arial"/>
                        <a:buNone/>
                      </a:pPr>
                      <a:r>
                        <a:rPr lang="en-IN" sz="700" b="1" i="0" u="none" strike="noStrike" cap="none" dirty="0">
                          <a:solidFill>
                            <a:srgbClr val="FFFFFF"/>
                          </a:solidFill>
                          <a:latin typeface="Arial"/>
                          <a:ea typeface="Arial"/>
                          <a:cs typeface="Arial"/>
                          <a:sym typeface="Arial"/>
                        </a:rPr>
                        <a:t> </a:t>
                      </a:r>
                      <a:endParaRPr dirty="0"/>
                    </a:p>
                  </a:txBody>
                  <a:tcPr marL="3925" marR="3925" marT="39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57"/>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Circle-E, Jaipur II - IGST</a:t>
            </a:r>
            <a:endParaRPr sz="2000" b="1" i="0" u="none" strike="noStrike" cap="none">
              <a:solidFill>
                <a:srgbClr val="000000"/>
              </a:solidFill>
              <a:latin typeface="Verdana"/>
              <a:ea typeface="Verdana"/>
              <a:cs typeface="Verdana"/>
              <a:sym typeface="Verdana"/>
            </a:endParaRPr>
          </a:p>
        </p:txBody>
      </p:sp>
      <p:sp>
        <p:nvSpPr>
          <p:cNvPr id="508" name="Google Shape;508;p57"/>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509" name="Google Shape;509;p57"/>
          <p:cNvGraphicFramePr/>
          <p:nvPr>
            <p:extLst>
              <p:ext uri="{D42A27DB-BD31-4B8C-83A1-F6EECF244321}">
                <p14:modId xmlns:p14="http://schemas.microsoft.com/office/powerpoint/2010/main" val="3119484663"/>
              </p:ext>
            </p:extLst>
          </p:nvPr>
        </p:nvGraphicFramePr>
        <p:xfrm>
          <a:off x="482434" y="643593"/>
          <a:ext cx="11227150" cy="6721060"/>
        </p:xfrm>
        <a:graphic>
          <a:graphicData uri="http://schemas.openxmlformats.org/drawingml/2006/table">
            <a:tbl>
              <a:tblPr>
                <a:noFill/>
                <a:tableStyleId>{ED13AFB8-4CE9-44F5-8004-2B2D446919A9}</a:tableStyleId>
              </a:tblPr>
              <a:tblGrid>
                <a:gridCol w="2186250">
                  <a:extLst>
                    <a:ext uri="{9D8B030D-6E8A-4147-A177-3AD203B41FA5}">
                      <a16:colId xmlns:a16="http://schemas.microsoft.com/office/drawing/2014/main" val="20000"/>
                    </a:ext>
                  </a:extLst>
                </a:gridCol>
                <a:gridCol w="1144350">
                  <a:extLst>
                    <a:ext uri="{9D8B030D-6E8A-4147-A177-3AD203B41FA5}">
                      <a16:colId xmlns:a16="http://schemas.microsoft.com/office/drawing/2014/main" val="20001"/>
                    </a:ext>
                  </a:extLst>
                </a:gridCol>
                <a:gridCol w="2288700">
                  <a:extLst>
                    <a:ext uri="{9D8B030D-6E8A-4147-A177-3AD203B41FA5}">
                      <a16:colId xmlns:a16="http://schemas.microsoft.com/office/drawing/2014/main" val="20002"/>
                    </a:ext>
                  </a:extLst>
                </a:gridCol>
                <a:gridCol w="810794">
                  <a:extLst>
                    <a:ext uri="{9D8B030D-6E8A-4147-A177-3AD203B41FA5}">
                      <a16:colId xmlns:a16="http://schemas.microsoft.com/office/drawing/2014/main" val="20003"/>
                    </a:ext>
                  </a:extLst>
                </a:gridCol>
                <a:gridCol w="4797056">
                  <a:extLst>
                    <a:ext uri="{9D8B030D-6E8A-4147-A177-3AD203B41FA5}">
                      <a16:colId xmlns:a16="http://schemas.microsoft.com/office/drawing/2014/main" val="20004"/>
                    </a:ext>
                  </a:extLst>
                </a:gridCol>
              </a:tblGrid>
              <a:tr h="359675">
                <a:tc>
                  <a:txBody>
                    <a:bodyPr/>
                    <a:lstStyle/>
                    <a:p>
                      <a:pPr marL="0" marR="0" lvl="0" indent="0" algn="ctr" rtl="0">
                        <a:spcBef>
                          <a:spcPts val="0"/>
                        </a:spcBef>
                        <a:spcAft>
                          <a:spcPts val="0"/>
                        </a:spcAft>
                        <a:buClr>
                          <a:srgbClr val="FFFFFF"/>
                        </a:buClr>
                        <a:buSzPts val="1200"/>
                        <a:buFont typeface="Arial"/>
                        <a:buNone/>
                      </a:pPr>
                      <a:r>
                        <a:rPr lang="en-IN" sz="1200" b="1" i="0" u="none" strike="noStrike" cap="none">
                          <a:solidFill>
                            <a:srgbClr val="FFFFFF"/>
                          </a:solidFill>
                          <a:latin typeface="Arial"/>
                          <a:ea typeface="Arial"/>
                          <a:cs typeface="Arial"/>
                          <a:sym typeface="Arial"/>
                        </a:rPr>
                        <a:t>Firm Name</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200"/>
                        <a:buFont typeface="Arial"/>
                        <a:buNone/>
                      </a:pPr>
                      <a:r>
                        <a:rPr lang="en-IN" sz="1200" b="1" i="0" u="none" strike="noStrike" cap="none">
                          <a:solidFill>
                            <a:srgbClr val="FFFFFF"/>
                          </a:solidFill>
                          <a:latin typeface="Arial"/>
                          <a:ea typeface="Arial"/>
                          <a:cs typeface="Arial"/>
                          <a:sym typeface="Arial"/>
                        </a:rPr>
                        <a:t> Remaining Amount </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200"/>
                        <a:buFont typeface="Arial"/>
                        <a:buNone/>
                      </a:pPr>
                      <a:r>
                        <a:rPr lang="en-IN" sz="1200" b="1" i="0" u="none" strike="noStrike" cap="none">
                          <a:solidFill>
                            <a:srgbClr val="FFFFFF"/>
                          </a:solidFill>
                          <a:latin typeface="Arial"/>
                          <a:ea typeface="Arial"/>
                          <a:cs typeface="Arial"/>
                          <a:sym typeface="Arial"/>
                        </a:rPr>
                        <a:t>List Name</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Expected Date of reversal/ Utilization</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5338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POWER GRID CORPORATION OF INDIA LTD</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13.85</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6.5</a:t>
                      </a:r>
                      <a:endParaRPr sz="105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1050"/>
                        <a:buFont typeface="Calibri"/>
                        <a:buNone/>
                      </a:pPr>
                      <a:r>
                        <a:rPr lang="en-IN" sz="1050"/>
                        <a:t>The potential amount is reflected in GSTR2A after  generation of invoices, but the taxpayer reversed ITC after verification of invoices and goods. The taxpayer reversed IGST ITC of rupees 7.45 Cr in Dec 2025 GSTR 3B return. The taxpayer assured to reverse approx 6.5 Cr in GSTR 3B of Jan 2026. </a:t>
                      </a:r>
                      <a:endParaRPr sz="105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338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Powergrid Ramgarh Transmission Limited</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8.88</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4.5</a:t>
                      </a:r>
                      <a:endParaRPr sz="105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1050"/>
                        <a:buFont typeface="Calibri"/>
                        <a:buNone/>
                      </a:pPr>
                      <a:r>
                        <a:rPr lang="en-IN" sz="1050"/>
                        <a:t>The potential amount is reflected in GSTR2A after  generation of invoices, but the taxpayer reversed ITC after verification of invoices and goods. </a:t>
                      </a:r>
                      <a:r>
                        <a:rPr lang="en-IN" sz="1050">
                          <a:solidFill>
                            <a:schemeClr val="dk1"/>
                          </a:solidFill>
                        </a:rPr>
                        <a:t>The taxpayer reversed IGST ITC of rupees 12.19 Cr in Dec 2025 GSTR 3B return.The taxpayer assured to reverse approx 4.5 Cr in GSTR 3B of Jan 2026.</a:t>
                      </a:r>
                      <a:endParaRPr sz="105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33850">
                <a:tc>
                  <a:txBody>
                    <a:bodyPr/>
                    <a:lstStyle/>
                    <a:p>
                      <a:pPr marL="0" marR="0" lvl="0" indent="0" algn="ctr" rtl="0">
                        <a:spcBef>
                          <a:spcPts val="0"/>
                        </a:spcBef>
                        <a:spcAft>
                          <a:spcPts val="0"/>
                        </a:spcAft>
                        <a:buClr>
                          <a:srgbClr val="000000"/>
                        </a:buClr>
                        <a:buSzPts val="1050"/>
                        <a:buFont typeface="Arial"/>
                        <a:buNone/>
                      </a:pPr>
                      <a:r>
                        <a:rPr lang="en-IN" sz="1050"/>
                        <a:t>. </a:t>
                      </a:r>
                      <a:r>
                        <a:rPr lang="en-IN" sz="1050" b="0" i="0" u="none" strike="noStrike" cap="none">
                          <a:solidFill>
                            <a:srgbClr val="000000"/>
                          </a:solidFill>
                          <a:latin typeface="Arial"/>
                          <a:ea typeface="Arial"/>
                          <a:cs typeface="Arial"/>
                          <a:sym typeface="Arial"/>
                        </a:rPr>
                        <a:t>POWERGRID BEAWAR DAUSA TRANSMISSION LIMITED</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4.51</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2.5</a:t>
                      </a:r>
                      <a:endParaRPr sz="105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1050"/>
                        <a:buFont typeface="Calibri"/>
                        <a:buNone/>
                      </a:pPr>
                      <a:r>
                        <a:rPr lang="en-IN" sz="1050"/>
                        <a:t>The potential amount is reflected in GSTR2A after  generation of invoices, but the taxpayer reversed ITC after verification of invoices and goods. </a:t>
                      </a:r>
                      <a:r>
                        <a:rPr lang="en-IN" sz="1050">
                          <a:solidFill>
                            <a:schemeClr val="dk1"/>
                          </a:solidFill>
                        </a:rPr>
                        <a:t>The taxpayer reversed IGST ITC of rupees 8.18 Cr in Dec 2025 GSTR 3B return.The taxpayer assured to reverse approx 2.5 Cr in GSTR 3B of Jan 2026.</a:t>
                      </a:r>
                      <a:endParaRPr sz="105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940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BANASKANTHA DIST CO OP MILK PRODUCERS UNION LTD</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2.55</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0.30</a:t>
                      </a:r>
                      <a:endParaRPr sz="105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1050"/>
                        <a:buFont typeface="Calibri"/>
                        <a:buNone/>
                      </a:pPr>
                      <a:r>
                        <a:rPr lang="en-IN" sz="1050"/>
                        <a:t>The taxpayer will utilise some ITC in GSTR 3B return and remaining ITC will reversed after verification of invoices. </a:t>
                      </a:r>
                      <a:r>
                        <a:rPr lang="en-IN" sz="1050">
                          <a:solidFill>
                            <a:schemeClr val="dk1"/>
                          </a:solidFill>
                        </a:rPr>
                        <a:t>The taxpayer reversed IGST ITC of rupees 0.53 Cr in Dec 2025 GSTR 3B return. The taxpayer assured to reverse approx 30 lacs in GSTR 3B of Jan 2026.</a:t>
                      </a:r>
                      <a:r>
                        <a:rPr lang="en-IN" sz="1050"/>
                        <a:t> </a:t>
                      </a:r>
                      <a:endParaRPr sz="105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338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Balaji Enterprise</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0.77</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I17_Suo Moto Cancelled Taxpayers having IGST Ledger Balance</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0</a:t>
                      </a:r>
                      <a:endParaRPr sz="105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Taxpayer belongs to Centre Jurisdiction. </a:t>
                      </a:r>
                      <a:r>
                        <a:rPr lang="en-IN" sz="1050">
                          <a:solidFill>
                            <a:schemeClr val="dk1"/>
                          </a:solidFill>
                        </a:rPr>
                        <a:t>Contact number found switch off. </a:t>
                      </a:r>
                      <a:endParaRPr sz="1050"/>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5338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Deepak Enterprises</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0.21</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I17_Suo Moto Cancelled Taxpayers having IGST Ledger Balance</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0</a:t>
                      </a:r>
                      <a:endParaRPr sz="105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Taxpayer belongs to Centre Jurisdiction. Contact number found out of service. </a:t>
                      </a:r>
                      <a:endParaRPr sz="105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5338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OM CONSTRUCTION COMPANY</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0.13</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I16 Taxpayers with high ITC in 2B but claimed less in 3B (1) 1</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0</a:t>
                      </a:r>
                      <a:endParaRPr sz="105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The taxpayer already utilised this excess itc in GSTR 3B return.</a:t>
                      </a:r>
                      <a:endParaRPr sz="105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5338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NEELKANTH UDYOG</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0.05</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I17_Suo Moto Cancelled Taxpayers having IGST Ledger Balance</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0</a:t>
                      </a:r>
                      <a:endParaRPr sz="105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Intimated to taxpayer. ITC amount blocked. </a:t>
                      </a:r>
                      <a:endParaRPr sz="105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5338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SPARK INDIA</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0.03</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I17_Suo Moto Cancelled Taxpayers having IGST Ledger Balance</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0</a:t>
                      </a:r>
                      <a:endParaRPr sz="105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Taxpayer belongs to Centre Jurisdiction..Intimated to taxpayer. Taxpayer will consult with CA and then will reply. </a:t>
                      </a:r>
                      <a:endParaRPr sz="1050">
                        <a:solidFill>
                          <a:schemeClr val="dk1"/>
                        </a:solidFill>
                      </a:endParaRPr>
                    </a:p>
                    <a:p>
                      <a:pPr marL="0" marR="0" lvl="0" indent="0" algn="ctr" rtl="0">
                        <a:spcBef>
                          <a:spcPts val="0"/>
                        </a:spcBef>
                        <a:spcAft>
                          <a:spcPts val="0"/>
                        </a:spcAft>
                        <a:buClr>
                          <a:schemeClr val="dk1"/>
                        </a:buClr>
                        <a:buSzPts val="1050"/>
                        <a:buFont typeface="Calibri"/>
                        <a:buNone/>
                      </a:pPr>
                      <a:endParaRPr sz="1050"/>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5338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TRWENI SPICES</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0.03</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I17_Suo Moto Cancelled Taxpayers having IGST Ledger Balance</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0</a:t>
                      </a:r>
                      <a:endParaRPr sz="105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Taxpayer belongs to Centre Jurisdiction. </a:t>
                      </a:r>
                      <a:r>
                        <a:rPr lang="en-IN" sz="1050">
                          <a:solidFill>
                            <a:schemeClr val="dk1"/>
                          </a:solidFill>
                        </a:rPr>
                        <a:t>Intimated to authorised representative. He will ask to taxpayer and then will reply accordingly..</a:t>
                      </a:r>
                      <a:endParaRPr sz="105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11325">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Total</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31.03</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700"/>
                        <a:buFont typeface="Arial"/>
                        <a:buNone/>
                      </a:pPr>
                      <a:r>
                        <a:rPr lang="en-IN" sz="700" b="1" i="0" u="none" strike="noStrike" cap="none">
                          <a:solidFill>
                            <a:srgbClr val="FFFFFF"/>
                          </a:solidFill>
                          <a:latin typeface="Arial"/>
                          <a:ea typeface="Arial"/>
                          <a:cs typeface="Arial"/>
                          <a:sym typeface="Arial"/>
                        </a:rPr>
                        <a:t> </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700"/>
                        <a:buFont typeface="Arial"/>
                        <a:buNone/>
                      </a:pPr>
                      <a:r>
                        <a:rPr lang="en-IN" sz="700" b="1" i="0" u="none" strike="noStrike" cap="none">
                          <a:solidFill>
                            <a:srgbClr val="FFFFFF"/>
                          </a:solidFill>
                          <a:latin typeface="Arial"/>
                          <a:ea typeface="Arial"/>
                          <a:cs typeface="Arial"/>
                          <a:sym typeface="Arial"/>
                        </a:rPr>
                        <a:t> </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700"/>
                        <a:buFont typeface="Arial"/>
                        <a:buNone/>
                      </a:pPr>
                      <a:r>
                        <a:rPr lang="en-IN" sz="700" b="1" i="0" u="none" strike="noStrike" cap="none" dirty="0">
                          <a:solidFill>
                            <a:srgbClr val="FFFFFF"/>
                          </a:solidFill>
                          <a:latin typeface="Arial"/>
                          <a:ea typeface="Arial"/>
                          <a:cs typeface="Arial"/>
                          <a:sym typeface="Arial"/>
                        </a:rPr>
                        <a:t> </a:t>
                      </a:r>
                      <a:endParaRPr dirty="0"/>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58"/>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Circle-H, Jaipur III - IGST</a:t>
            </a:r>
            <a:endParaRPr sz="2000" b="1" i="0" u="none" strike="noStrike" cap="none">
              <a:solidFill>
                <a:srgbClr val="000000"/>
              </a:solidFill>
              <a:latin typeface="Verdana"/>
              <a:ea typeface="Verdana"/>
              <a:cs typeface="Verdana"/>
              <a:sym typeface="Verdana"/>
            </a:endParaRPr>
          </a:p>
        </p:txBody>
      </p:sp>
      <p:sp>
        <p:nvSpPr>
          <p:cNvPr id="516" name="Google Shape;516;p58"/>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517" name="Google Shape;517;p58"/>
          <p:cNvGraphicFramePr/>
          <p:nvPr/>
        </p:nvGraphicFramePr>
        <p:xfrm>
          <a:off x="320459" y="643612"/>
          <a:ext cx="11259300" cy="7858400"/>
        </p:xfrm>
        <a:graphic>
          <a:graphicData uri="http://schemas.openxmlformats.org/drawingml/2006/table">
            <a:tbl>
              <a:tblPr>
                <a:noFill/>
                <a:tableStyleId>{ED13AFB8-4CE9-44F5-8004-2B2D446919A9}</a:tableStyleId>
              </a:tblPr>
              <a:tblGrid>
                <a:gridCol w="2409800">
                  <a:extLst>
                    <a:ext uri="{9D8B030D-6E8A-4147-A177-3AD203B41FA5}">
                      <a16:colId xmlns:a16="http://schemas.microsoft.com/office/drawing/2014/main" val="20000"/>
                    </a:ext>
                  </a:extLst>
                </a:gridCol>
                <a:gridCol w="1168950">
                  <a:extLst>
                    <a:ext uri="{9D8B030D-6E8A-4147-A177-3AD203B41FA5}">
                      <a16:colId xmlns:a16="http://schemas.microsoft.com/office/drawing/2014/main" val="20001"/>
                    </a:ext>
                  </a:extLst>
                </a:gridCol>
                <a:gridCol w="2105950">
                  <a:extLst>
                    <a:ext uri="{9D8B030D-6E8A-4147-A177-3AD203B41FA5}">
                      <a16:colId xmlns:a16="http://schemas.microsoft.com/office/drawing/2014/main" val="20002"/>
                    </a:ext>
                  </a:extLst>
                </a:gridCol>
                <a:gridCol w="1306050">
                  <a:extLst>
                    <a:ext uri="{9D8B030D-6E8A-4147-A177-3AD203B41FA5}">
                      <a16:colId xmlns:a16="http://schemas.microsoft.com/office/drawing/2014/main" val="20003"/>
                    </a:ext>
                  </a:extLst>
                </a:gridCol>
                <a:gridCol w="4268550">
                  <a:extLst>
                    <a:ext uri="{9D8B030D-6E8A-4147-A177-3AD203B41FA5}">
                      <a16:colId xmlns:a16="http://schemas.microsoft.com/office/drawing/2014/main" val="20004"/>
                    </a:ext>
                  </a:extLst>
                </a:gridCol>
              </a:tblGrid>
              <a:tr h="357375">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Firm Name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 Remaining Amount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List Name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Expected Date of reversal/ Utilization</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509700">
                <a:tc>
                  <a:txBody>
                    <a:bodyPr/>
                    <a:lstStyle/>
                    <a:p>
                      <a:pPr marL="0" lvl="0" indent="0" algn="ctr" rtl="0">
                        <a:spcBef>
                          <a:spcPts val="0"/>
                        </a:spcBef>
                        <a:spcAft>
                          <a:spcPts val="0"/>
                        </a:spcAft>
                        <a:buNone/>
                      </a:pPr>
                      <a:r>
                        <a:rPr lang="en-IN" sz="1200"/>
                        <a:t>BANK OF BARODA</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lvl="0" indent="0" algn="ctr" rtl="0">
                        <a:spcBef>
                          <a:spcPts val="0"/>
                        </a:spcBef>
                        <a:spcAft>
                          <a:spcPts val="0"/>
                        </a:spcAft>
                        <a:buNone/>
                      </a:pPr>
                      <a:r>
                        <a:rPr lang="en-IN"/>
                        <a:t>26.66</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None/>
                      </a:pPr>
                      <a:r>
                        <a:rPr lang="en-IN" sz="1050">
                          <a:solidFill>
                            <a:schemeClr val="dk1"/>
                          </a:solidFill>
                        </a:rPr>
                        <a:t>I6 C_High Reclaim Ledger</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Taxpayer is engaged in supply of banking services. They regularly reverse the ITC in table 4B2 and reclaim it in Table 4D(1) . Taxpayer claim the ITC of total purchase invoices but ITC amount which remains unmatched at the time of return filing they reverse the same in Table 4B2 further after verification and payment they reclaim it in next month. Taxpayer has reclaimed in table 4D1 ITC IGST Rs 8471328/- in Jan-26, they will reclaim approx 1 cr in Feb26</a:t>
                      </a:r>
                      <a:endParaRPr sz="1100" b="1" i="0" u="none" strike="noStrike" cap="none">
                        <a:solidFill>
                          <a:srgbClr val="000000"/>
                        </a:solidFil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09700">
                <a:tc>
                  <a:txBody>
                    <a:bodyPr/>
                    <a:lstStyle/>
                    <a:p>
                      <a:pPr marL="0" lvl="0" indent="0" algn="ctr" rtl="0">
                        <a:spcBef>
                          <a:spcPts val="0"/>
                        </a:spcBef>
                        <a:spcAft>
                          <a:spcPts val="0"/>
                        </a:spcAft>
                        <a:buNone/>
                      </a:pPr>
                      <a:r>
                        <a:rPr lang="en-IN" sz="1200"/>
                        <a:t>TPL-SUCG CONSORTIUM</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lvl="0" indent="0" algn="ctr" rtl="0">
                        <a:spcBef>
                          <a:spcPts val="0"/>
                        </a:spcBef>
                        <a:spcAft>
                          <a:spcPts val="0"/>
                        </a:spcAft>
                        <a:buNone/>
                      </a:pPr>
                      <a:r>
                        <a:rPr lang="en-IN"/>
                        <a:t>1.99</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None/>
                      </a:pPr>
                      <a:r>
                        <a:rPr lang="en-IN" sz="1050">
                          <a:solidFill>
                            <a:schemeClr val="dk1"/>
                          </a:solidFill>
                        </a:rPr>
                        <a:t>I6 C_High Reclaim Ledger</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Calibri"/>
                        <a:buNone/>
                      </a:pPr>
                      <a:r>
                        <a:rPr lang="en-IN" sz="1100">
                          <a:solidFill>
                            <a:schemeClr val="dk1"/>
                          </a:solidFill>
                        </a:rPr>
                        <a:t>Taxpayer claim the ITC of total purchase invoices but ITC amount which remains unmatched at the time of return filing they reverse the same in Table 4B2 further after verification and payment they reclaim it in next month. Taxpayer has reclaimed in table 4D1 ITC IGST Rs 2382516/- after Aug-25.</a:t>
                      </a:r>
                      <a:endParaRPr sz="1100">
                        <a:solidFill>
                          <a:schemeClr val="dk1"/>
                        </a:solidFill>
                      </a:endParaRPr>
                    </a:p>
                    <a:p>
                      <a:pPr marL="0" lvl="0" indent="0" algn="ctr" rtl="0">
                        <a:spcBef>
                          <a:spcPts val="0"/>
                        </a:spcBef>
                        <a:spcAft>
                          <a:spcPts val="0"/>
                        </a:spcAft>
                        <a:buClr>
                          <a:schemeClr val="dk1"/>
                        </a:buClr>
                        <a:buSzPts val="1100"/>
                        <a:buFont typeface="Calibri"/>
                        <a:buNone/>
                      </a:pPr>
                      <a:r>
                        <a:rPr lang="en-IN" sz="1100">
                          <a:solidFill>
                            <a:schemeClr val="dk1"/>
                          </a:solidFill>
                        </a:rPr>
                        <a:t>After discussion, the taxpayer has been agreed to calculate the itc amount which will not be utilized by them and reverse the same in GSTR  3B of Jan 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09700">
                <a:tc>
                  <a:txBody>
                    <a:bodyPr/>
                    <a:lstStyle/>
                    <a:p>
                      <a:pPr marL="0" lvl="0" indent="0" algn="ctr" rtl="0">
                        <a:spcBef>
                          <a:spcPts val="0"/>
                        </a:spcBef>
                        <a:spcAft>
                          <a:spcPts val="0"/>
                        </a:spcAft>
                        <a:buNone/>
                      </a:pPr>
                      <a:r>
                        <a:rPr lang="en-IN" sz="1200"/>
                        <a:t>SHREE RAM IMPEX</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lvl="0" indent="0" algn="ctr" rtl="0">
                        <a:spcBef>
                          <a:spcPts val="0"/>
                        </a:spcBef>
                        <a:spcAft>
                          <a:spcPts val="0"/>
                        </a:spcAft>
                        <a:buNone/>
                      </a:pPr>
                      <a:r>
                        <a:rPr lang="en-IN"/>
                        <a:t>0.77</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Clr>
                          <a:schemeClr val="dk1"/>
                        </a:buClr>
                        <a:buSzPts val="1050"/>
                        <a:buFont typeface="Arial"/>
                        <a:buNone/>
                      </a:pPr>
                      <a:r>
                        <a:rPr lang="en-IN" sz="1050">
                          <a:solidFill>
                            <a:schemeClr val="dk1"/>
                          </a:solidFill>
                        </a:rPr>
                        <a:t>I17_Suo Moto Cancelled Taxpayers having IGST Ledger Balance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Calibri"/>
                        <a:buNone/>
                      </a:pPr>
                      <a:r>
                        <a:rPr lang="en-IN" sz="1100">
                          <a:solidFill>
                            <a:schemeClr val="dk1"/>
                          </a:solidFill>
                        </a:rPr>
                        <a:t>Taxpayer belongs to center jurisdiction. Firm has been found fake and remaining amount of ITC in Cr. Ledger is related to fake and bogus transactions. Demand against the taxpayer has been created on account of paperless, bogus transactions by the authorities.</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9700">
                <a:tc>
                  <a:txBody>
                    <a:bodyPr/>
                    <a:lstStyle/>
                    <a:p>
                      <a:pPr marL="0" lvl="0" indent="0" algn="ctr" rtl="0">
                        <a:spcBef>
                          <a:spcPts val="0"/>
                        </a:spcBef>
                        <a:spcAft>
                          <a:spcPts val="0"/>
                        </a:spcAft>
                        <a:buNone/>
                      </a:pPr>
                      <a:r>
                        <a:rPr lang="en-IN" sz="1200"/>
                        <a:t>JAIPUR RUGS COMPANY</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lvl="0" indent="0" algn="ctr" rtl="0">
                        <a:spcBef>
                          <a:spcPts val="0"/>
                        </a:spcBef>
                        <a:spcAft>
                          <a:spcPts val="0"/>
                        </a:spcAft>
                        <a:buNone/>
                      </a:pPr>
                      <a:r>
                        <a:rPr lang="en-IN"/>
                        <a:t>0.26</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None/>
                      </a:pPr>
                      <a:r>
                        <a:rPr lang="en-IN" sz="1050">
                          <a:solidFill>
                            <a:schemeClr val="dk1"/>
                          </a:solidFill>
                        </a:rPr>
                        <a:t>I16 Taxpayers with high ITC in 2B but claimed less in 3B (1) 1</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Calibri"/>
                        <a:buNone/>
                      </a:pPr>
                      <a:r>
                        <a:rPr lang="en-IN" sz="1100">
                          <a:solidFill>
                            <a:schemeClr val="dk1"/>
                          </a:solidFill>
                        </a:rPr>
                        <a:t>Taxpayer replied that remaining amount is related to FY 2025-26, they will reconcile the data and accordingly claim the amount within time limit.</a:t>
                      </a:r>
                      <a:endParaRPr sz="1100">
                        <a:solidFill>
                          <a:schemeClr val="dk1"/>
                        </a:solidFil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09700">
                <a:tc>
                  <a:txBody>
                    <a:bodyPr/>
                    <a:lstStyle/>
                    <a:p>
                      <a:pPr marL="0" lvl="0" indent="0" algn="ctr" rtl="0">
                        <a:spcBef>
                          <a:spcPts val="0"/>
                        </a:spcBef>
                        <a:spcAft>
                          <a:spcPts val="0"/>
                        </a:spcAft>
                        <a:buNone/>
                      </a:pPr>
                      <a:r>
                        <a:rPr lang="en-IN" sz="1200"/>
                        <a:t>Dollinger Filtration Private Limited</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lvl="0" indent="0" algn="ctr" rtl="0">
                        <a:spcBef>
                          <a:spcPts val="0"/>
                        </a:spcBef>
                        <a:spcAft>
                          <a:spcPts val="0"/>
                        </a:spcAft>
                        <a:buNone/>
                      </a:pPr>
                      <a:r>
                        <a:rPr lang="en-IN"/>
                        <a:t>0.21</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None/>
                      </a:pPr>
                      <a:r>
                        <a:rPr lang="en-IN" sz="1050">
                          <a:solidFill>
                            <a:schemeClr val="dk1"/>
                          </a:solidFill>
                        </a:rPr>
                        <a:t>I16 Taxpayers with high ITC in 2B but claimed less in 3B (1) 1</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Calibri"/>
                        <a:buNone/>
                      </a:pPr>
                      <a:r>
                        <a:rPr lang="en-IN" sz="1100">
                          <a:solidFill>
                            <a:schemeClr val="dk1"/>
                          </a:solidFill>
                        </a:rPr>
                        <a:t>Taxpayer replied that amount remaining related to FY 2025-26 is </a:t>
                      </a:r>
                      <a:r>
                        <a:rPr lang="en-IN" sz="1100" b="1">
                          <a:solidFill>
                            <a:schemeClr val="dk1"/>
                          </a:solidFill>
                        </a:rPr>
                        <a:t>12.42 Lakh </a:t>
                      </a:r>
                      <a:r>
                        <a:rPr lang="en-IN" sz="1100">
                          <a:solidFill>
                            <a:schemeClr val="dk1"/>
                          </a:solidFill>
                        </a:rPr>
                        <a:t> and  they will reconcile the data and accordingly claim the amount within time limit.</a:t>
                      </a:r>
                      <a:endParaRPr sz="1100">
                        <a:solidFill>
                          <a:schemeClr val="dk1"/>
                        </a:solidFil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509700">
                <a:tc>
                  <a:txBody>
                    <a:bodyPr/>
                    <a:lstStyle/>
                    <a:p>
                      <a:pPr marL="0" lvl="0" indent="0" algn="ctr" rtl="0">
                        <a:spcBef>
                          <a:spcPts val="0"/>
                        </a:spcBef>
                        <a:spcAft>
                          <a:spcPts val="0"/>
                        </a:spcAft>
                        <a:buClr>
                          <a:schemeClr val="dk1"/>
                        </a:buClr>
                        <a:buSzPts val="1100"/>
                        <a:buFont typeface="Arial"/>
                        <a:buNone/>
                      </a:pPr>
                      <a:r>
                        <a:rPr lang="en-IN" sz="1200">
                          <a:solidFill>
                            <a:schemeClr val="dk1"/>
                          </a:solidFill>
                        </a:rPr>
                        <a:t>FEXLE SERVICES PRIVATE LIMITED</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lvl="0" indent="0" algn="ctr" rtl="0">
                        <a:spcBef>
                          <a:spcPts val="0"/>
                        </a:spcBef>
                        <a:spcAft>
                          <a:spcPts val="0"/>
                        </a:spcAft>
                        <a:buNone/>
                      </a:pPr>
                      <a:r>
                        <a:rPr lang="en-IN"/>
                        <a:t>0.11</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None/>
                      </a:pPr>
                      <a:r>
                        <a:rPr lang="en-IN" sz="1050">
                          <a:solidFill>
                            <a:schemeClr val="dk1"/>
                          </a:solidFill>
                        </a:rPr>
                        <a:t>I16 Taxpayers with high ITC in 2B but claimed less in 3B (1) 1</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Calibri"/>
                        <a:buNone/>
                      </a:pPr>
                      <a:r>
                        <a:rPr lang="en-IN" sz="1100">
                          <a:solidFill>
                            <a:schemeClr val="dk1"/>
                          </a:solidFill>
                        </a:rPr>
                        <a:t>The potential  amount is related to FY 2024-25. There is no difference amount left in FY 2025-26 </a:t>
                      </a:r>
                      <a:endParaRPr sz="1100">
                        <a:solidFill>
                          <a:schemeClr val="dk1"/>
                        </a:solidFil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509700">
                <a:tc>
                  <a:txBody>
                    <a:bodyPr/>
                    <a:lstStyle/>
                    <a:p>
                      <a:pPr marL="0" lvl="0" indent="0" algn="ctr" rtl="0">
                        <a:spcBef>
                          <a:spcPts val="0"/>
                        </a:spcBef>
                        <a:spcAft>
                          <a:spcPts val="0"/>
                        </a:spcAft>
                        <a:buNone/>
                      </a:pPr>
                      <a:r>
                        <a:rPr lang="en-IN" sz="1200"/>
                        <a:t>GARG TRADING COMPANY</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lvl="0" indent="0" algn="ctr" rtl="0">
                        <a:spcBef>
                          <a:spcPts val="0"/>
                        </a:spcBef>
                        <a:spcAft>
                          <a:spcPts val="0"/>
                        </a:spcAft>
                        <a:buNone/>
                      </a:pPr>
                      <a:r>
                        <a:rPr lang="en-IN"/>
                        <a:t>0.06</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Clr>
                          <a:schemeClr val="dk1"/>
                        </a:buClr>
                        <a:buSzPts val="1050"/>
                        <a:buFont typeface="Arial"/>
                        <a:buNone/>
                      </a:pPr>
                      <a:r>
                        <a:rPr lang="en-IN" sz="1050">
                          <a:solidFill>
                            <a:schemeClr val="dk1"/>
                          </a:solidFill>
                        </a:rPr>
                        <a:t>I17_Suo Moto Cancelled Taxpayers having IGST Ledger Balance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Calibri"/>
                        <a:buNone/>
                      </a:pPr>
                      <a:r>
                        <a:rPr lang="en-IN" sz="1100">
                          <a:solidFill>
                            <a:schemeClr val="dk1"/>
                          </a:solidFill>
                        </a:rPr>
                        <a:t>Taxpayer belongs to center jurisdiction. Firm has been found fake and remaining amount of ITC in Credit Ledger is related to fake and bogus transactions. Demand against the taxpayer has been created on account of paperless, bogus transactions by the authorities..</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509700">
                <a:tc>
                  <a:txBody>
                    <a:bodyPr/>
                    <a:lstStyle/>
                    <a:p>
                      <a:pPr marL="0" lvl="0" indent="0" algn="ctr" rtl="0">
                        <a:spcBef>
                          <a:spcPts val="0"/>
                        </a:spcBef>
                        <a:spcAft>
                          <a:spcPts val="0"/>
                        </a:spcAft>
                        <a:buNone/>
                      </a:pPr>
                      <a:r>
                        <a:rPr lang="en-IN" sz="1200"/>
                        <a:t>TIMES PROJECTS</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lvl="0" indent="0" algn="ctr" rtl="0">
                        <a:spcBef>
                          <a:spcPts val="0"/>
                        </a:spcBef>
                        <a:spcAft>
                          <a:spcPts val="0"/>
                        </a:spcAft>
                        <a:buNone/>
                      </a:pPr>
                      <a:r>
                        <a:rPr lang="en-IN"/>
                        <a:t>0.04</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Clr>
                          <a:schemeClr val="dk1"/>
                        </a:buClr>
                        <a:buSzPts val="1050"/>
                        <a:buFont typeface="Arial"/>
                        <a:buNone/>
                      </a:pPr>
                      <a:r>
                        <a:rPr lang="en-IN" sz="1050">
                          <a:solidFill>
                            <a:schemeClr val="dk1"/>
                          </a:solidFill>
                        </a:rPr>
                        <a:t>I17_Suo Moto Cancelled Taxpayers having IGST Ledger Balance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solidFill>
                            <a:schemeClr val="dk1"/>
                          </a:solidFill>
                        </a:rPr>
                        <a:t>Taxpayer has agreed to reverse the balance IGST through DRC-03</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509700">
                <a:tc>
                  <a:txBody>
                    <a:bodyPr/>
                    <a:lstStyle/>
                    <a:p>
                      <a:pPr marL="0" lvl="0" indent="0" algn="ctr" rtl="0">
                        <a:spcBef>
                          <a:spcPts val="0"/>
                        </a:spcBef>
                        <a:spcAft>
                          <a:spcPts val="0"/>
                        </a:spcAft>
                        <a:buNone/>
                      </a:pPr>
                      <a:r>
                        <a:rPr lang="en-IN" sz="1200"/>
                        <a:t>DHAMANI TRADE LINKS PRIVATE LTD</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lvl="0" indent="0" algn="ctr" rtl="0">
                        <a:spcBef>
                          <a:spcPts val="0"/>
                        </a:spcBef>
                        <a:spcAft>
                          <a:spcPts val="0"/>
                        </a:spcAft>
                        <a:buNone/>
                      </a:pPr>
                      <a:r>
                        <a:rPr lang="en-IN"/>
                        <a:t>0.04</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None/>
                      </a:pPr>
                      <a:r>
                        <a:rPr lang="en-IN" sz="1050">
                          <a:solidFill>
                            <a:schemeClr val="dk1"/>
                          </a:solidFill>
                        </a:rPr>
                        <a:t>I16 Taxpayers with high ITC in 2B but claimed less in 3B (1) 1</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Calibri"/>
                        <a:buNone/>
                      </a:pPr>
                      <a:r>
                        <a:rPr lang="en-IN" sz="1100">
                          <a:solidFill>
                            <a:schemeClr val="dk1"/>
                          </a:solidFill>
                        </a:rPr>
                        <a:t>Taxpayer replied that amount remaining related to FY 2025-26 is only </a:t>
                      </a:r>
                      <a:r>
                        <a:rPr lang="en-IN" sz="1100" b="1">
                          <a:solidFill>
                            <a:schemeClr val="dk1"/>
                          </a:solidFill>
                        </a:rPr>
                        <a:t>6721/</a:t>
                      </a:r>
                      <a:r>
                        <a:rPr lang="en-IN" sz="1100">
                          <a:solidFill>
                            <a:schemeClr val="dk1"/>
                          </a:solidFill>
                        </a:rPr>
                        <a:t>-  and  they will claim the amount within time limit.</a:t>
                      </a:r>
                      <a:endParaRPr sz="1100">
                        <a:solidFill>
                          <a:schemeClr val="dk1"/>
                        </a:solidFill>
                      </a:endParaRPr>
                    </a:p>
                    <a:p>
                      <a:pPr marL="0" marR="0" lvl="0" indent="0" algn="ctr" rtl="0">
                        <a:spcBef>
                          <a:spcPts val="0"/>
                        </a:spcBef>
                        <a:spcAft>
                          <a:spcPts val="0"/>
                        </a:spcAft>
                        <a:buClr>
                          <a:schemeClr val="dk1"/>
                        </a:buClr>
                        <a:buSzPts val="1100"/>
                        <a:buFont typeface="Calibri"/>
                        <a:buNone/>
                      </a:pPr>
                      <a:endParaRPr sz="1100">
                        <a:solidFill>
                          <a:schemeClr val="dk1"/>
                        </a:solidFil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509700">
                <a:tc>
                  <a:txBody>
                    <a:bodyPr/>
                    <a:lstStyle/>
                    <a:p>
                      <a:pPr marL="0" lvl="0" indent="0" algn="ctr" rtl="0">
                        <a:spcBef>
                          <a:spcPts val="0"/>
                        </a:spcBef>
                        <a:spcAft>
                          <a:spcPts val="0"/>
                        </a:spcAft>
                        <a:buNone/>
                      </a:pPr>
                      <a:r>
                        <a:rPr lang="en-IN" sz="1200"/>
                        <a:t>CLOUD INTERNET</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lvl="0" indent="0" algn="ctr" rtl="0">
                        <a:spcBef>
                          <a:spcPts val="0"/>
                        </a:spcBef>
                        <a:spcAft>
                          <a:spcPts val="0"/>
                        </a:spcAft>
                        <a:buNone/>
                      </a:pPr>
                      <a:r>
                        <a:rPr lang="en-IN"/>
                        <a:t>0.02</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Clr>
                          <a:schemeClr val="dk1"/>
                        </a:buClr>
                        <a:buSzPts val="1050"/>
                        <a:buFont typeface="Arial"/>
                        <a:buNone/>
                      </a:pPr>
                      <a:r>
                        <a:rPr lang="en-IN" sz="1050">
                          <a:solidFill>
                            <a:schemeClr val="dk1"/>
                          </a:solidFill>
                        </a:rPr>
                        <a:t>I17_Suo Moto Cancelled Taxpayers having IGST Ledger Balance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solidFill>
                            <a:schemeClr val="dk1"/>
                          </a:solidFill>
                        </a:rPr>
                        <a:t>Taxpayer belong to center jurisdiction and intimation has been sent to concern authority </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80150">
                <a:tc>
                  <a:txBody>
                    <a:bodyPr/>
                    <a:lstStyle/>
                    <a:p>
                      <a:pPr marL="0" marR="0" lvl="0" indent="0" algn="ctr" rtl="0">
                        <a:spcBef>
                          <a:spcPts val="0"/>
                        </a:spcBef>
                        <a:spcAft>
                          <a:spcPts val="0"/>
                        </a:spcAft>
                        <a:buClr>
                          <a:srgbClr val="FFFFFF"/>
                        </a:buClr>
                        <a:buSzPts val="1800"/>
                        <a:buFont typeface="Arial"/>
                        <a:buNone/>
                      </a:pPr>
                      <a:r>
                        <a:rPr lang="en-IN" sz="1800" b="1" i="0" u="none" strike="noStrike" cap="none">
                          <a:solidFill>
                            <a:srgbClr val="FFFFFF"/>
                          </a:solidFill>
                          <a:latin typeface="Arial"/>
                          <a:ea typeface="Arial"/>
                          <a:cs typeface="Arial"/>
                          <a:sym typeface="Arial"/>
                        </a:rPr>
                        <a:t>Total</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800"/>
                        <a:buFont typeface="Arial"/>
                        <a:buNone/>
                      </a:pPr>
                      <a:r>
                        <a:rPr lang="en-IN" sz="1800" b="1">
                          <a:solidFill>
                            <a:srgbClr val="FFFFFF"/>
                          </a:solidFill>
                        </a:rPr>
                        <a:t>30.16</a:t>
                      </a:r>
                      <a:r>
                        <a:rPr lang="en-IN" sz="1800" b="1" i="0" u="none" strike="noStrike" cap="none">
                          <a:solidFill>
                            <a:srgbClr val="FFFFFF"/>
                          </a:solidFill>
                          <a:latin typeface="Arial"/>
                          <a:ea typeface="Arial"/>
                          <a:cs typeface="Arial"/>
                          <a:sym typeface="Arial"/>
                        </a:rPr>
                        <a: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200"/>
                        <a:buFont typeface="Arial"/>
                        <a:buNone/>
                      </a:pPr>
                      <a:r>
                        <a:rPr lang="en-IN" sz="1200" b="1" i="0" u="none" strike="noStrike" cap="none">
                          <a:solidFill>
                            <a:srgbClr val="FFFFFF"/>
                          </a:solidFill>
                          <a:latin typeface="Arial"/>
                          <a:ea typeface="Arial"/>
                          <a:cs typeface="Arial"/>
                          <a:sym typeface="Arial"/>
                        </a:rPr>
                        <a: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200"/>
                        <a:buFont typeface="Arial"/>
                        <a:buNone/>
                      </a:pPr>
                      <a:r>
                        <a:rPr lang="en-IN" sz="1200" b="1" i="0" u="none" strike="noStrike" cap="none">
                          <a:solidFill>
                            <a:srgbClr val="FFFFFF"/>
                          </a:solidFill>
                          <a:latin typeface="Arial"/>
                          <a:ea typeface="Arial"/>
                          <a:cs typeface="Arial"/>
                          <a:sym typeface="Arial"/>
                        </a:rPr>
                        <a: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200"/>
                        <a:buFont typeface="Arial"/>
                        <a:buNone/>
                      </a:pPr>
                      <a:r>
                        <a:rPr lang="en-IN" sz="1200" b="1" i="0" u="none" strike="noStrike" cap="none">
                          <a:solidFill>
                            <a:srgbClr val="FFFFFF"/>
                          </a:solidFill>
                          <a:latin typeface="Arial"/>
                          <a:ea typeface="Arial"/>
                          <a:cs typeface="Arial"/>
                          <a:sym typeface="Arial"/>
                        </a:rPr>
                        <a: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59"/>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Circle-J, Jaipur II - IGST</a:t>
            </a:r>
            <a:endParaRPr sz="2000" b="1" i="0" u="none" strike="noStrike" cap="none">
              <a:solidFill>
                <a:srgbClr val="000000"/>
              </a:solidFill>
              <a:latin typeface="Verdana"/>
              <a:ea typeface="Verdana"/>
              <a:cs typeface="Verdana"/>
              <a:sym typeface="Verdana"/>
            </a:endParaRPr>
          </a:p>
        </p:txBody>
      </p:sp>
      <p:sp>
        <p:nvSpPr>
          <p:cNvPr id="524" name="Google Shape;524;p59"/>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525" name="Google Shape;525;p59"/>
          <p:cNvGraphicFramePr/>
          <p:nvPr>
            <p:extLst>
              <p:ext uri="{D42A27DB-BD31-4B8C-83A1-F6EECF244321}">
                <p14:modId xmlns:p14="http://schemas.microsoft.com/office/powerpoint/2010/main" val="3368658523"/>
              </p:ext>
            </p:extLst>
          </p:nvPr>
        </p:nvGraphicFramePr>
        <p:xfrm>
          <a:off x="482434" y="643592"/>
          <a:ext cx="11227150" cy="6280640"/>
        </p:xfrm>
        <a:graphic>
          <a:graphicData uri="http://schemas.openxmlformats.org/drawingml/2006/table">
            <a:tbl>
              <a:tblPr>
                <a:noFill/>
                <a:tableStyleId>{ED13AFB8-4CE9-44F5-8004-2B2D446919A9}</a:tableStyleId>
              </a:tblPr>
              <a:tblGrid>
                <a:gridCol w="2600550">
                  <a:extLst>
                    <a:ext uri="{9D8B030D-6E8A-4147-A177-3AD203B41FA5}">
                      <a16:colId xmlns:a16="http://schemas.microsoft.com/office/drawing/2014/main" val="20000"/>
                    </a:ext>
                  </a:extLst>
                </a:gridCol>
                <a:gridCol w="784225">
                  <a:extLst>
                    <a:ext uri="{9D8B030D-6E8A-4147-A177-3AD203B41FA5}">
                      <a16:colId xmlns:a16="http://schemas.microsoft.com/office/drawing/2014/main" val="20001"/>
                    </a:ext>
                  </a:extLst>
                </a:gridCol>
                <a:gridCol w="2468800">
                  <a:extLst>
                    <a:ext uri="{9D8B030D-6E8A-4147-A177-3AD203B41FA5}">
                      <a16:colId xmlns:a16="http://schemas.microsoft.com/office/drawing/2014/main" val="20002"/>
                    </a:ext>
                  </a:extLst>
                </a:gridCol>
                <a:gridCol w="926940">
                  <a:extLst>
                    <a:ext uri="{9D8B030D-6E8A-4147-A177-3AD203B41FA5}">
                      <a16:colId xmlns:a16="http://schemas.microsoft.com/office/drawing/2014/main" val="20003"/>
                    </a:ext>
                  </a:extLst>
                </a:gridCol>
                <a:gridCol w="4446635">
                  <a:extLst>
                    <a:ext uri="{9D8B030D-6E8A-4147-A177-3AD203B41FA5}">
                      <a16:colId xmlns:a16="http://schemas.microsoft.com/office/drawing/2014/main" val="20004"/>
                    </a:ext>
                  </a:extLst>
                </a:gridCol>
              </a:tblGrid>
              <a:tr h="315150">
                <a:tc>
                  <a:txBody>
                    <a:bodyPr/>
                    <a:lstStyle/>
                    <a:p>
                      <a:pPr marL="0" marR="0" lvl="0" indent="0" algn="ctr" rtl="0">
                        <a:spcBef>
                          <a:spcPts val="0"/>
                        </a:spcBef>
                        <a:spcAft>
                          <a:spcPts val="0"/>
                        </a:spcAft>
                        <a:buClr>
                          <a:srgbClr val="FFFFFF"/>
                        </a:buClr>
                        <a:buSzPts val="1000"/>
                        <a:buFont typeface="Arial"/>
                        <a:buNone/>
                      </a:pPr>
                      <a:r>
                        <a:rPr lang="en-IN" sz="1000" b="1" i="0" u="none" strike="noStrike" cap="none">
                          <a:solidFill>
                            <a:srgbClr val="FFFFFF"/>
                          </a:solidFill>
                          <a:latin typeface="Arial"/>
                          <a:ea typeface="Arial"/>
                          <a:cs typeface="Arial"/>
                          <a:sym typeface="Arial"/>
                        </a:rPr>
                        <a:t>Firm Name</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00"/>
                        <a:buFont typeface="Arial"/>
                        <a:buNone/>
                      </a:pPr>
                      <a:r>
                        <a:rPr lang="en-IN" sz="1000" b="1" i="0" u="none" strike="noStrike" cap="none">
                          <a:solidFill>
                            <a:srgbClr val="FFFFFF"/>
                          </a:solidFill>
                          <a:latin typeface="Arial"/>
                          <a:ea typeface="Arial"/>
                          <a:cs typeface="Arial"/>
                          <a:sym typeface="Arial"/>
                        </a:rPr>
                        <a:t> Remaining Amount </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00"/>
                        <a:buFont typeface="Arial"/>
                        <a:buNone/>
                      </a:pPr>
                      <a:r>
                        <a:rPr lang="en-IN" sz="1000" b="1" i="0" u="none" strike="noStrike" cap="none">
                          <a:solidFill>
                            <a:srgbClr val="FFFFFF"/>
                          </a:solidFill>
                          <a:latin typeface="Arial"/>
                          <a:ea typeface="Arial"/>
                          <a:cs typeface="Arial"/>
                          <a:sym typeface="Arial"/>
                        </a:rPr>
                        <a:t>List Name</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Expected Date of reversal/ Utilization</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dirty="0">
                          <a:solidFill>
                            <a:srgbClr val="FFFFFF"/>
                          </a:solidFill>
                          <a:latin typeface="Arial"/>
                          <a:ea typeface="Arial"/>
                          <a:cs typeface="Arial"/>
                          <a:sym typeface="Arial"/>
                        </a:rPr>
                        <a:t>Remarks</a:t>
                      </a:r>
                      <a:endParaRPr dirty="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54182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Dedicated Freight Corridor Corporation of India LIMITED</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18.66</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I16 Taxpayers with high ITC in 2B but claimed less in 3B (1) 1</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20-02-2026</a:t>
                      </a:r>
                      <a:endParaRPr sz="1050" b="0" i="0" u="none" strike="noStrike" cap="none">
                        <a:solidFill>
                          <a:srgbClr val="000000"/>
                        </a:solidFill>
                        <a:latin typeface="Arial"/>
                        <a:ea typeface="Arial"/>
                        <a:cs typeface="Arial"/>
                        <a:sym typeface="Arial"/>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1050"/>
                        <a:buFont typeface="Calibri"/>
                        <a:buNone/>
                      </a:pPr>
                      <a:r>
                        <a:rPr lang="en-IN" sz="1050"/>
                        <a:t>Taxpayer is in process of calculating the quantum of ITC Reversal and will Claim and reverse the ITC in GSTR-3B.</a:t>
                      </a:r>
                      <a:endParaRPr sz="1050" b="0" i="0" u="none" strike="noStrike" cap="none">
                        <a:solidFill>
                          <a:srgbClr val="000000"/>
                        </a:solidFill>
                        <a:latin typeface="Arial"/>
                        <a:ea typeface="Arial"/>
                        <a:cs typeface="Arial"/>
                        <a:sym typeface="Arial"/>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4182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ASHIRVAD PIPES PVT. LTD.</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4.00</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endParaRPr sz="1050" b="0" i="0" u="none" strike="noStrike" cap="none">
                        <a:solidFill>
                          <a:srgbClr val="000000"/>
                        </a:solidFill>
                        <a:latin typeface="Arial"/>
                        <a:ea typeface="Arial"/>
                        <a:cs typeface="Arial"/>
                        <a:sym typeface="Arial"/>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1050"/>
                        <a:buFont typeface="Calibri"/>
                        <a:buNone/>
                      </a:pPr>
                      <a:r>
                        <a:rPr lang="en-IN" sz="1050"/>
                        <a:t>Taxpayer has already utilised IGST ledger balance to set off its tax liability. No potential left</a:t>
                      </a:r>
                      <a:endParaRPr sz="1050" b="0" i="0" u="none" strike="noStrike" cap="none">
                        <a:solidFill>
                          <a:srgbClr val="000000"/>
                        </a:solidFill>
                        <a:latin typeface="Arial"/>
                        <a:ea typeface="Arial"/>
                        <a:cs typeface="Arial"/>
                        <a:sym typeface="Arial"/>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4182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SAFARI INDUSTRIES (INDIA) LTD.</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2.02</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endParaRPr sz="1050" b="0" i="0" u="none" strike="noStrike" cap="none">
                        <a:solidFill>
                          <a:srgbClr val="000000"/>
                        </a:solidFill>
                        <a:latin typeface="Arial"/>
                        <a:ea typeface="Arial"/>
                        <a:cs typeface="Arial"/>
                        <a:sym typeface="Arial"/>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1050"/>
                        <a:buFont typeface="Calibri"/>
                        <a:buNone/>
                      </a:pPr>
                      <a:r>
                        <a:rPr lang="en-IN" sz="1050"/>
                        <a:t>Taxpayer has already utilised Rs 1.40 cr to set off its tax liability. </a:t>
                      </a:r>
                      <a:r>
                        <a:rPr lang="en-IN" sz="1050">
                          <a:solidFill>
                            <a:schemeClr val="dk1"/>
                          </a:solidFill>
                        </a:rPr>
                        <a:t>Taxpayer will utilise Remaining  IGST ledger balance to set off its tax liability.</a:t>
                      </a:r>
                      <a:endParaRPr sz="1050" b="0" i="0" u="none" strike="noStrike" cap="none">
                        <a:solidFill>
                          <a:srgbClr val="000000"/>
                        </a:solidFill>
                        <a:latin typeface="Arial"/>
                        <a:ea typeface="Arial"/>
                        <a:cs typeface="Arial"/>
                        <a:sym typeface="Arial"/>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4182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KMRA ASSOCIATES LLP</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1.19</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endParaRPr sz="1050" b="0" i="0" u="none" strike="noStrike" cap="none">
                        <a:solidFill>
                          <a:srgbClr val="000000"/>
                        </a:solidFill>
                        <a:latin typeface="Arial"/>
                        <a:ea typeface="Arial"/>
                        <a:cs typeface="Arial"/>
                        <a:sym typeface="Arial"/>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1050"/>
                        <a:buFont typeface="Calibri"/>
                        <a:buNone/>
                      </a:pPr>
                      <a:r>
                        <a:rPr lang="en-IN" sz="1050" dirty="0"/>
                        <a:t>Taxpayer will utilise IGST ledger balance to set off its tax liability</a:t>
                      </a:r>
                      <a:endParaRPr sz="1050" b="0" i="0" u="none" strike="noStrike" cap="none" dirty="0">
                        <a:solidFill>
                          <a:srgbClr val="000000"/>
                        </a:solidFill>
                        <a:latin typeface="Arial"/>
                        <a:ea typeface="Arial"/>
                        <a:cs typeface="Arial"/>
                        <a:sym typeface="Arial"/>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4182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HINDUSTAN URVARAK &amp; RASAYAN LIMITED</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1.13</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endParaRPr sz="1050" b="0" i="0" u="none" strike="noStrike" cap="none">
                        <a:solidFill>
                          <a:srgbClr val="000000"/>
                        </a:solidFill>
                        <a:latin typeface="Arial"/>
                        <a:ea typeface="Arial"/>
                        <a:cs typeface="Arial"/>
                        <a:sym typeface="Arial"/>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1050"/>
                        <a:buFont typeface="Calibri"/>
                        <a:buNone/>
                      </a:pPr>
                      <a:r>
                        <a:rPr lang="en-IN" sz="1050">
                          <a:solidFill>
                            <a:schemeClr val="dk1"/>
                          </a:solidFill>
                        </a:rPr>
                        <a:t>Taxpayer has already utilised Rs 0.63 cr to set off its tax liability. Taxpayer will utilise Remaining  IGST ledger balance to set off its tax liability.</a:t>
                      </a:r>
                      <a:endParaRPr sz="1050"/>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54182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INGRAM MICRO INDIA PRIVATE LIMITED</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1.11</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a:t>I6 C_High Reclaim Ledger</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endParaRPr sz="1050" b="0" i="0" u="none" strike="noStrike" cap="none">
                        <a:solidFill>
                          <a:srgbClr val="000000"/>
                        </a:solidFill>
                        <a:latin typeface="Arial"/>
                        <a:ea typeface="Arial"/>
                        <a:cs typeface="Arial"/>
                        <a:sym typeface="Arial"/>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1050"/>
                        <a:buFont typeface="Calibri"/>
                        <a:buNone/>
                      </a:pPr>
                      <a:r>
                        <a:rPr lang="en-IN" sz="1050" dirty="0">
                          <a:solidFill>
                            <a:schemeClr val="dk1"/>
                          </a:solidFill>
                        </a:rPr>
                        <a:t>Taxpayer will utilise IGST ledger balance to set off its tax liability</a:t>
                      </a:r>
                      <a:endParaRPr sz="1050" b="0" i="0" u="none" strike="noStrike" cap="none" dirty="0">
                        <a:solidFill>
                          <a:srgbClr val="000000"/>
                        </a:solidFill>
                        <a:latin typeface="Arial"/>
                        <a:ea typeface="Arial"/>
                        <a:cs typeface="Arial"/>
                        <a:sym typeface="Arial"/>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54182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NARANG SALES CORPORATION</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0.15</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I17_Suo Moto Cancelled Taxpayers having IGST Ledger Balance</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endParaRPr sz="1050" b="0" i="0" u="none" strike="noStrike" cap="none">
                        <a:solidFill>
                          <a:srgbClr val="000000"/>
                        </a:solidFill>
                        <a:latin typeface="Arial"/>
                        <a:ea typeface="Arial"/>
                        <a:cs typeface="Arial"/>
                        <a:sym typeface="Arial"/>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1050"/>
                        <a:buFont typeface="Calibri"/>
                        <a:buNone/>
                      </a:pPr>
                      <a:r>
                        <a:rPr lang="en-IN" sz="1050">
                          <a:solidFill>
                            <a:schemeClr val="dk1"/>
                          </a:solidFill>
                        </a:rPr>
                        <a:t>Making efforts to contact the taxpayer.</a:t>
                      </a:r>
                      <a:endParaRPr sz="1050">
                        <a:solidFill>
                          <a:schemeClr val="dk1"/>
                        </a:solidFill>
                      </a:endParaRPr>
                    </a:p>
                    <a:p>
                      <a:pPr marL="0" marR="0" lvl="0" indent="0" algn="just" rtl="0">
                        <a:spcBef>
                          <a:spcPts val="0"/>
                        </a:spcBef>
                        <a:spcAft>
                          <a:spcPts val="0"/>
                        </a:spcAft>
                        <a:buClr>
                          <a:schemeClr val="dk1"/>
                        </a:buClr>
                        <a:buSzPts val="1050"/>
                        <a:buFont typeface="Calibri"/>
                        <a:buNone/>
                      </a:pPr>
                      <a:endParaRPr sz="1050"/>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54182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AAHANA DAIRY LLP</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0.10</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I17_Suo Moto Cancelled Taxpayers having IGST Ledger Balance</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endParaRPr sz="1050" b="0" i="0" u="none" strike="noStrike" cap="none">
                        <a:solidFill>
                          <a:srgbClr val="000000"/>
                        </a:solidFill>
                        <a:latin typeface="Arial"/>
                        <a:ea typeface="Arial"/>
                        <a:cs typeface="Arial"/>
                        <a:sym typeface="Arial"/>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1050"/>
                        <a:buFont typeface="Calibri"/>
                        <a:buNone/>
                      </a:pPr>
                      <a:r>
                        <a:rPr lang="en-IN" sz="1050"/>
                        <a:t>Making efforts to contact the taxpayer.</a:t>
                      </a:r>
                      <a:endParaRPr sz="1050" b="0" i="0" u="none" strike="noStrike" cap="none">
                        <a:solidFill>
                          <a:srgbClr val="000000"/>
                        </a:solidFill>
                        <a:latin typeface="Arial"/>
                        <a:ea typeface="Arial"/>
                        <a:cs typeface="Arial"/>
                        <a:sym typeface="Arial"/>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54182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OM LOGISTICS LTD.</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0.07</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I16 Taxpayers with high ITC in 2B but claimed less in 3B (1) 1</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20-02-2026</a:t>
                      </a:r>
                      <a:endParaRPr sz="1050" b="0" i="0" u="none" strike="noStrike" cap="none">
                        <a:solidFill>
                          <a:srgbClr val="000000"/>
                        </a:solidFill>
                        <a:latin typeface="Arial"/>
                        <a:ea typeface="Arial"/>
                        <a:cs typeface="Arial"/>
                        <a:sym typeface="Arial"/>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just" rtl="0">
                        <a:spcBef>
                          <a:spcPts val="0"/>
                        </a:spcBef>
                        <a:spcAft>
                          <a:spcPts val="0"/>
                        </a:spcAft>
                        <a:buClr>
                          <a:schemeClr val="dk1"/>
                        </a:buClr>
                        <a:buSzPts val="1050"/>
                        <a:buFont typeface="Calibri"/>
                        <a:buNone/>
                      </a:pPr>
                      <a:r>
                        <a:rPr lang="en-IN" sz="1050"/>
                        <a:t>Intimated taxpayer to claim and reverse the ITC</a:t>
                      </a:r>
                      <a:endParaRPr sz="1050" b="0" i="0" u="none" strike="noStrike" cap="none">
                        <a:solidFill>
                          <a:srgbClr val="000000"/>
                        </a:solidFill>
                        <a:latin typeface="Arial"/>
                        <a:ea typeface="Arial"/>
                        <a:cs typeface="Arial"/>
                        <a:sym typeface="Arial"/>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54182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BIG-B ELECTRONICS</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0.06</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I17_Suo Moto Cancelled Taxpayers having IGST Ledger Balance</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endParaRPr sz="1050" b="0" i="0" u="none" strike="noStrike" cap="none">
                        <a:solidFill>
                          <a:srgbClr val="000000"/>
                        </a:solidFill>
                        <a:latin typeface="Arial"/>
                        <a:ea typeface="Arial"/>
                        <a:cs typeface="Arial"/>
                        <a:sym typeface="Arial"/>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1050"/>
                        <a:buFont typeface="Calibri"/>
                        <a:buNone/>
                      </a:pPr>
                      <a:r>
                        <a:rPr lang="en-IN" sz="1050">
                          <a:solidFill>
                            <a:schemeClr val="dk1"/>
                          </a:solidFill>
                        </a:rPr>
                        <a:t>Making efforts to contact the taxpayer.</a:t>
                      </a:r>
                      <a:endParaRPr sz="1050">
                        <a:solidFill>
                          <a:schemeClr val="dk1"/>
                        </a:solidFill>
                      </a:endParaRPr>
                    </a:p>
                    <a:p>
                      <a:pPr marL="0" marR="0" lvl="0" indent="0" algn="just" rtl="0">
                        <a:spcBef>
                          <a:spcPts val="0"/>
                        </a:spcBef>
                        <a:spcAft>
                          <a:spcPts val="0"/>
                        </a:spcAft>
                        <a:buClr>
                          <a:schemeClr val="dk1"/>
                        </a:buClr>
                        <a:buSzPts val="1050"/>
                        <a:buFont typeface="Calibri"/>
                        <a:buNone/>
                      </a:pPr>
                      <a:endParaRPr sz="1050"/>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182925">
                <a:tc>
                  <a:txBody>
                    <a:bodyPr/>
                    <a:lstStyle/>
                    <a:p>
                      <a:pPr marL="0" marR="0" lvl="0" indent="0" algn="ctr" rtl="0">
                        <a:spcBef>
                          <a:spcPts val="0"/>
                        </a:spcBef>
                        <a:spcAft>
                          <a:spcPts val="0"/>
                        </a:spcAft>
                        <a:buClr>
                          <a:srgbClr val="FFFFFF"/>
                        </a:buClr>
                        <a:buSzPts val="1200"/>
                        <a:buFont typeface="Arial"/>
                        <a:buNone/>
                      </a:pPr>
                      <a:r>
                        <a:rPr lang="en-IN" sz="1200" b="1" i="0" u="none" strike="noStrike" cap="none">
                          <a:solidFill>
                            <a:srgbClr val="FFFFFF"/>
                          </a:solidFill>
                          <a:latin typeface="Arial"/>
                          <a:ea typeface="Arial"/>
                          <a:cs typeface="Arial"/>
                          <a:sym typeface="Arial"/>
                        </a:rPr>
                        <a:t>Total</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200"/>
                        <a:buFont typeface="Arial"/>
                        <a:buNone/>
                      </a:pPr>
                      <a:r>
                        <a:rPr lang="en-IN" sz="1200" b="1" i="0" u="none" strike="noStrike" cap="none">
                          <a:solidFill>
                            <a:srgbClr val="FFFFFF"/>
                          </a:solidFill>
                          <a:latin typeface="Arial"/>
                          <a:ea typeface="Arial"/>
                          <a:cs typeface="Arial"/>
                          <a:sym typeface="Arial"/>
                        </a:rPr>
                        <a:t>28.50</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700"/>
                        <a:buFont typeface="Arial"/>
                        <a:buNone/>
                      </a:pPr>
                      <a:r>
                        <a:rPr lang="en-IN" sz="700" b="1" i="0" u="none" strike="noStrike" cap="none">
                          <a:solidFill>
                            <a:srgbClr val="FFFFFF"/>
                          </a:solidFill>
                          <a:latin typeface="Arial"/>
                          <a:ea typeface="Arial"/>
                          <a:cs typeface="Arial"/>
                          <a:sym typeface="Arial"/>
                        </a:rPr>
                        <a:t> </a:t>
                      </a:r>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chemeClr val="dk1"/>
                        </a:buClr>
                        <a:buSzPts val="700"/>
                        <a:buFont typeface="Calibri"/>
                        <a:buNone/>
                      </a:pPr>
                      <a:endParaRPr sz="700" b="1" i="0" u="none" strike="noStrike" cap="none">
                        <a:solidFill>
                          <a:srgbClr val="FFFFFF"/>
                        </a:solidFill>
                        <a:latin typeface="Arial"/>
                        <a:ea typeface="Arial"/>
                        <a:cs typeface="Arial"/>
                        <a:sym typeface="Arial"/>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chemeClr val="dk1"/>
                        </a:buClr>
                        <a:buSzPts val="700"/>
                        <a:buFont typeface="Calibri"/>
                        <a:buNone/>
                      </a:pPr>
                      <a:endParaRPr sz="700" b="1" i="0" u="none" strike="noStrike" cap="none" dirty="0">
                        <a:solidFill>
                          <a:srgbClr val="FFFFFF"/>
                        </a:solidFill>
                        <a:latin typeface="Arial"/>
                        <a:ea typeface="Arial"/>
                        <a:cs typeface="Arial"/>
                        <a:sym typeface="Arial"/>
                      </a:endParaRPr>
                    </a:p>
                  </a:txBody>
                  <a:tcPr marL="4100" marR="4100" marT="41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60"/>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Circle-E, Jaipur III - IGST</a:t>
            </a:r>
            <a:endParaRPr sz="2000" b="1" i="0" u="none" strike="noStrike" cap="none">
              <a:solidFill>
                <a:srgbClr val="000000"/>
              </a:solidFill>
              <a:latin typeface="Verdana"/>
              <a:ea typeface="Verdana"/>
              <a:cs typeface="Verdana"/>
              <a:sym typeface="Verdana"/>
            </a:endParaRPr>
          </a:p>
        </p:txBody>
      </p:sp>
      <p:sp>
        <p:nvSpPr>
          <p:cNvPr id="532" name="Google Shape;532;p60"/>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533" name="Google Shape;533;p60"/>
          <p:cNvGraphicFramePr/>
          <p:nvPr>
            <p:extLst>
              <p:ext uri="{D42A27DB-BD31-4B8C-83A1-F6EECF244321}">
                <p14:modId xmlns:p14="http://schemas.microsoft.com/office/powerpoint/2010/main" val="750756459"/>
              </p:ext>
            </p:extLst>
          </p:nvPr>
        </p:nvGraphicFramePr>
        <p:xfrm>
          <a:off x="466338" y="807415"/>
          <a:ext cx="11516655" cy="5647110"/>
        </p:xfrm>
        <a:graphic>
          <a:graphicData uri="http://schemas.openxmlformats.org/drawingml/2006/table">
            <a:tbl>
              <a:tblPr>
                <a:noFill/>
                <a:tableStyleId>{ED13AFB8-4CE9-44F5-8004-2B2D446919A9}</a:tableStyleId>
              </a:tblPr>
              <a:tblGrid>
                <a:gridCol w="2995394">
                  <a:extLst>
                    <a:ext uri="{9D8B030D-6E8A-4147-A177-3AD203B41FA5}">
                      <a16:colId xmlns:a16="http://schemas.microsoft.com/office/drawing/2014/main" val="20000"/>
                    </a:ext>
                  </a:extLst>
                </a:gridCol>
                <a:gridCol w="1041684">
                  <a:extLst>
                    <a:ext uri="{9D8B030D-6E8A-4147-A177-3AD203B41FA5}">
                      <a16:colId xmlns:a16="http://schemas.microsoft.com/office/drawing/2014/main" val="20001"/>
                    </a:ext>
                  </a:extLst>
                </a:gridCol>
                <a:gridCol w="2612736">
                  <a:extLst>
                    <a:ext uri="{9D8B030D-6E8A-4147-A177-3AD203B41FA5}">
                      <a16:colId xmlns:a16="http://schemas.microsoft.com/office/drawing/2014/main" val="20002"/>
                    </a:ext>
                  </a:extLst>
                </a:gridCol>
                <a:gridCol w="1229526">
                  <a:extLst>
                    <a:ext uri="{9D8B030D-6E8A-4147-A177-3AD203B41FA5}">
                      <a16:colId xmlns:a16="http://schemas.microsoft.com/office/drawing/2014/main" val="20003"/>
                    </a:ext>
                  </a:extLst>
                </a:gridCol>
                <a:gridCol w="3637315">
                  <a:extLst>
                    <a:ext uri="{9D8B030D-6E8A-4147-A177-3AD203B41FA5}">
                      <a16:colId xmlns:a16="http://schemas.microsoft.com/office/drawing/2014/main" val="20004"/>
                    </a:ext>
                  </a:extLst>
                </a:gridCol>
              </a:tblGrid>
              <a:tr h="482121">
                <a:tc>
                  <a:txBody>
                    <a:bodyPr/>
                    <a:lstStyle/>
                    <a:p>
                      <a:pPr marL="0" marR="0" lvl="0" indent="0" algn="ctr" rtl="0">
                        <a:spcBef>
                          <a:spcPts val="0"/>
                        </a:spcBef>
                        <a:spcAft>
                          <a:spcPts val="0"/>
                        </a:spcAft>
                        <a:buClr>
                          <a:srgbClr val="FFFFFF"/>
                        </a:buClr>
                        <a:buSzPts val="1050"/>
                        <a:buFont typeface="Arial"/>
                        <a:buNone/>
                      </a:pPr>
                      <a:r>
                        <a:rPr lang="en-IN" sz="1050" b="1" i="0" u="none" strike="noStrike" cap="none">
                          <a:solidFill>
                            <a:srgbClr val="FFFFFF"/>
                          </a:solidFill>
                          <a:latin typeface="Arial"/>
                          <a:ea typeface="Arial"/>
                          <a:cs typeface="Arial"/>
                          <a:sym typeface="Arial"/>
                        </a:rPr>
                        <a:t>Firm Name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50"/>
                        <a:buFont typeface="Arial"/>
                        <a:buNone/>
                      </a:pPr>
                      <a:r>
                        <a:rPr lang="en-IN" sz="1050" b="1" i="0" u="none" strike="noStrike" cap="none">
                          <a:solidFill>
                            <a:srgbClr val="FFFFFF"/>
                          </a:solidFill>
                          <a:latin typeface="Arial"/>
                          <a:ea typeface="Arial"/>
                          <a:cs typeface="Arial"/>
                          <a:sym typeface="Arial"/>
                        </a:rPr>
                        <a:t> Remaining Amount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50"/>
                        <a:buFont typeface="Arial"/>
                        <a:buNone/>
                      </a:pPr>
                      <a:r>
                        <a:rPr lang="en-IN" sz="1050" b="1" i="0" u="none" strike="noStrike" cap="none">
                          <a:solidFill>
                            <a:srgbClr val="FFFFFF"/>
                          </a:solidFill>
                          <a:latin typeface="Arial"/>
                          <a:ea typeface="Arial"/>
                          <a:cs typeface="Arial"/>
                          <a:sym typeface="Arial"/>
                        </a:rPr>
                        <a:t>List Name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Expected Date of reversal/ Utilization</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476595">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ADANI GREEN ENERGY TWENTY FIVE LIMITED</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10.59</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100"/>
                        <a:buFont typeface="Arial"/>
                        <a:buNone/>
                      </a:pPr>
                      <a:r>
                        <a:rPr lang="en-IN" sz="1100"/>
                        <a:t>I6 C_High Reclaim Ledger</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Taxpayer will reverse Rs. 3.00 cr in upcoming return.</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82121">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HARSH TRADERS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3.44</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I17_Suo Moto Cancelled Taxpayers having IGST Ledger Balance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1000"/>
                        <a:buFont typeface="Calibri"/>
                        <a:buNone/>
                      </a:pPr>
                      <a:r>
                        <a:rPr lang="en-IN" sz="1100">
                          <a:solidFill>
                            <a:schemeClr val="dk1"/>
                          </a:solidFill>
                        </a:rPr>
                        <a:t>Taxpayer could not be contacted also not found on business place. Taxpayer belongs to Centre jurisdiction. There is no potential. </a:t>
                      </a:r>
                      <a:endParaRPr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76595">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ADANI HYBRID ENERGY JAISALMER ONE LIMITED</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2.91</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100"/>
                        <a:buFont typeface="Arial"/>
                        <a:buNone/>
                      </a:pPr>
                      <a:r>
                        <a:rPr lang="en-IN" sz="1100"/>
                        <a:t>I6 C_High Reclaim Ledger</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Taxpayer will reverse itc amount rs. 20 lakh in upcoming return.</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76595">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ADANI GREEN ENERGY TWENTY FOUR LIMITED</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2.49</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100"/>
                        <a:buFont typeface="Arial"/>
                        <a:buNone/>
                      </a:pPr>
                      <a:r>
                        <a:rPr lang="en-IN" sz="1100"/>
                        <a:t>I6 C_High Reclaim Ledger</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Calibri"/>
                        <a:buNone/>
                      </a:pPr>
                      <a:r>
                        <a:rPr lang="en-IN" sz="1100">
                          <a:solidFill>
                            <a:schemeClr val="dk1"/>
                          </a:solidFill>
                        </a:rPr>
                        <a:t>Taxpayer will reverse its whole itc in upcoming return.</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82121">
                <a:tc>
                  <a:txBody>
                    <a:bodyPr/>
                    <a:lstStyle/>
                    <a:p>
                      <a:pPr marL="0" marR="0" lvl="0" indent="0" algn="ctr" rtl="0">
                        <a:spcBef>
                          <a:spcPts val="0"/>
                        </a:spcBef>
                        <a:spcAft>
                          <a:spcPts val="0"/>
                        </a:spcAft>
                        <a:buClr>
                          <a:srgbClr val="000000"/>
                        </a:buClr>
                        <a:buSzPts val="1100"/>
                        <a:buFont typeface="Arial"/>
                        <a:buNone/>
                      </a:pPr>
                      <a:r>
                        <a:rPr lang="en-IN" sz="1100" b="0" i="0" u="none" strike="noStrike" cap="none" dirty="0">
                          <a:solidFill>
                            <a:srgbClr val="000000"/>
                          </a:solidFill>
                          <a:latin typeface="Arial"/>
                          <a:ea typeface="Arial"/>
                          <a:cs typeface="Arial"/>
                          <a:sym typeface="Arial"/>
                        </a:rPr>
                        <a:t>BHARAT TRADING</a:t>
                      </a:r>
                      <a:endParaRPr dirty="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dirty="0">
                          <a:solidFill>
                            <a:srgbClr val="000000"/>
                          </a:solidFill>
                          <a:latin typeface="Arial"/>
                          <a:ea typeface="Arial"/>
                          <a:cs typeface="Arial"/>
                          <a:sym typeface="Arial"/>
                        </a:rPr>
                        <a:t>1.53</a:t>
                      </a:r>
                      <a:endParaRPr dirty="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100"/>
                        <a:buFont typeface="Arial"/>
                        <a:buNone/>
                      </a:pPr>
                      <a:r>
                        <a:rPr lang="en-IN" sz="1100" b="0" i="0" u="none" strike="noStrike" cap="none" dirty="0">
                          <a:solidFill>
                            <a:srgbClr val="000000"/>
                          </a:solidFill>
                          <a:latin typeface="Arial"/>
                          <a:ea typeface="Arial"/>
                          <a:cs typeface="Arial"/>
                          <a:sym typeface="Arial"/>
                        </a:rPr>
                        <a:t>I17_Suo Moto Cancelled Taxpayers having IGST Ledger Balance</a:t>
                      </a:r>
                      <a:endParaRPr dirty="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1000"/>
                        <a:buFont typeface="Calibri"/>
                        <a:buNone/>
                      </a:pPr>
                      <a:r>
                        <a:rPr lang="en-IN" sz="1100" dirty="0">
                          <a:solidFill>
                            <a:schemeClr val="dk1"/>
                          </a:solidFill>
                        </a:rPr>
                        <a:t>Taxpayer could not be contacted also not found on business place. Taxpayer belongs to Centre jurisdiction. There is no potential. </a:t>
                      </a:r>
                      <a:endParaRPr sz="1100" dirty="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76595">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ADANI HYBRID ENERGY JAISALMER TWO LIMITED</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1.16</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100"/>
                        <a:buFont typeface="Arial"/>
                        <a:buNone/>
                      </a:pPr>
                      <a:r>
                        <a:rPr lang="en-IN" sz="1100"/>
                        <a:t>I6 C_High Reclaim Ledger</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Calibri"/>
                        <a:buNone/>
                      </a:pPr>
                      <a:r>
                        <a:rPr lang="en-IN" sz="1100">
                          <a:solidFill>
                            <a:schemeClr val="dk1"/>
                          </a:solidFill>
                        </a:rPr>
                        <a:t>Taxpayer will reverse itc amount rs. 30 lakh in upcoming return.</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76595">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COMPUAGE INFOCOM LIMITED</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0.64</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I17_Suo Moto Cancelled Taxpayers having IGST Ledger Balance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1000"/>
                        <a:buFont typeface="Calibri"/>
                        <a:buNone/>
                      </a:pPr>
                      <a:r>
                        <a:rPr lang="en-IN" sz="1200">
                          <a:solidFill>
                            <a:schemeClr val="dk1"/>
                          </a:solidFill>
                        </a:rPr>
                        <a:t>Contacted to manager. He assured that he will reversed potential amount.</a:t>
                      </a:r>
                      <a:endParaRPr sz="15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82121">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AVASTHI ENTERPRISES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0.11</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I17_Suo Moto Cancelled Taxpayers having IGST Ledger Balance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1000"/>
                        <a:buFont typeface="Calibri"/>
                        <a:buNone/>
                      </a:pPr>
                      <a:r>
                        <a:rPr lang="en-IN" sz="1100">
                          <a:solidFill>
                            <a:schemeClr val="dk1"/>
                          </a:solidFill>
                        </a:rPr>
                        <a:t>Taxpayer could not be contacted also not found on business place. Taxpayer belongs to Centre jurisdiction. There is no potential. </a:t>
                      </a:r>
                      <a:endParaRPr sz="11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82121">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GARMENT TRADING</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0.07</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I17_Suo Moto Cancelled Taxpayers having IGST Ledger Balance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1000"/>
                        <a:buFont typeface="Calibri"/>
                        <a:buNone/>
                      </a:pPr>
                      <a:r>
                        <a:rPr lang="en-IN" sz="1100">
                          <a:solidFill>
                            <a:schemeClr val="dk1"/>
                          </a:solidFill>
                        </a:rPr>
                        <a:t>Taxpayer could not be contacted also not found on business place. Taxpayer belongs to Centre jurisdiction. There is no potential. </a:t>
                      </a:r>
                      <a:endParaRPr sz="11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476595">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TIRTHAMKAR ENTERPRISES PRIVATE LIMITED</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0.06</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I17_Suo Moto Cancelled Taxpayers having IGST Ledger Balance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dirty="0"/>
                        <a:t>Fake firm</a:t>
                      </a:r>
                      <a:endParaRPr sz="1100" b="0" i="0" u="none" strike="noStrike" cap="none" dirty="0">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36128">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Total</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22.98</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800"/>
                        <a:buFont typeface="Arial"/>
                        <a:buNone/>
                      </a:pPr>
                      <a:r>
                        <a:rPr lang="en-IN" sz="800" b="1" i="0" u="none" strike="noStrike" cap="none">
                          <a:solidFill>
                            <a:srgbClr val="FFFFFF"/>
                          </a:solidFill>
                          <a:latin typeface="Arial"/>
                          <a:ea typeface="Arial"/>
                          <a:cs typeface="Arial"/>
                          <a:sym typeface="Arial"/>
                        </a:rPr>
                        <a: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800"/>
                        <a:buFont typeface="Arial"/>
                        <a:buNone/>
                      </a:pPr>
                      <a:r>
                        <a:rPr lang="en-IN" sz="800" b="1" i="0" u="none" strike="noStrike" cap="none">
                          <a:solidFill>
                            <a:srgbClr val="FFFFFF"/>
                          </a:solidFill>
                          <a:latin typeface="Arial"/>
                          <a:ea typeface="Arial"/>
                          <a:cs typeface="Arial"/>
                          <a:sym typeface="Arial"/>
                        </a:rPr>
                        <a: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800"/>
                        <a:buFont typeface="Arial"/>
                        <a:buNone/>
                      </a:pPr>
                      <a:r>
                        <a:rPr lang="en-IN" sz="800" b="1" i="0" u="none" strike="noStrike" cap="none" dirty="0">
                          <a:solidFill>
                            <a:srgbClr val="FFFFFF"/>
                          </a:solidFill>
                          <a:latin typeface="Arial"/>
                          <a:ea typeface="Arial"/>
                          <a:cs typeface="Arial"/>
                          <a:sym typeface="Arial"/>
                        </a:rPr>
                        <a:t> </a:t>
                      </a:r>
                      <a:endParaRPr dirty="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61"/>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Circle-G, Jaipur III - IGST</a:t>
            </a:r>
            <a:endParaRPr sz="2000" b="1" i="0" u="none" strike="noStrike" cap="none">
              <a:solidFill>
                <a:srgbClr val="000000"/>
              </a:solidFill>
              <a:latin typeface="Verdana"/>
              <a:ea typeface="Verdana"/>
              <a:cs typeface="Verdana"/>
              <a:sym typeface="Verdana"/>
            </a:endParaRPr>
          </a:p>
        </p:txBody>
      </p:sp>
      <p:sp>
        <p:nvSpPr>
          <p:cNvPr id="540" name="Google Shape;540;p61"/>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541" name="Google Shape;541;p61"/>
          <p:cNvGraphicFramePr/>
          <p:nvPr/>
        </p:nvGraphicFramePr>
        <p:xfrm>
          <a:off x="115863" y="924496"/>
          <a:ext cx="11809275" cy="8171682"/>
        </p:xfrm>
        <a:graphic>
          <a:graphicData uri="http://schemas.openxmlformats.org/drawingml/2006/table">
            <a:tbl>
              <a:tblPr>
                <a:noFill/>
                <a:tableStyleId>{ED13AFB8-4CE9-44F5-8004-2B2D446919A9}</a:tableStyleId>
              </a:tblPr>
              <a:tblGrid>
                <a:gridCol w="1832450">
                  <a:extLst>
                    <a:ext uri="{9D8B030D-6E8A-4147-A177-3AD203B41FA5}">
                      <a16:colId xmlns:a16="http://schemas.microsoft.com/office/drawing/2014/main" val="20000"/>
                    </a:ext>
                  </a:extLst>
                </a:gridCol>
                <a:gridCol w="1120275">
                  <a:extLst>
                    <a:ext uri="{9D8B030D-6E8A-4147-A177-3AD203B41FA5}">
                      <a16:colId xmlns:a16="http://schemas.microsoft.com/office/drawing/2014/main" val="20001"/>
                    </a:ext>
                  </a:extLst>
                </a:gridCol>
                <a:gridCol w="1846425">
                  <a:extLst>
                    <a:ext uri="{9D8B030D-6E8A-4147-A177-3AD203B41FA5}">
                      <a16:colId xmlns:a16="http://schemas.microsoft.com/office/drawing/2014/main" val="20002"/>
                    </a:ext>
                  </a:extLst>
                </a:gridCol>
                <a:gridCol w="1139650">
                  <a:extLst>
                    <a:ext uri="{9D8B030D-6E8A-4147-A177-3AD203B41FA5}">
                      <a16:colId xmlns:a16="http://schemas.microsoft.com/office/drawing/2014/main" val="20003"/>
                    </a:ext>
                  </a:extLst>
                </a:gridCol>
                <a:gridCol w="5870475">
                  <a:extLst>
                    <a:ext uri="{9D8B030D-6E8A-4147-A177-3AD203B41FA5}">
                      <a16:colId xmlns:a16="http://schemas.microsoft.com/office/drawing/2014/main" val="20004"/>
                    </a:ext>
                  </a:extLst>
                </a:gridCol>
              </a:tblGrid>
              <a:tr h="321200">
                <a:tc>
                  <a:txBody>
                    <a:bodyPr/>
                    <a:lstStyle/>
                    <a:p>
                      <a:pPr marL="0" marR="0" lvl="0" indent="0" algn="ctr" rtl="0">
                        <a:spcBef>
                          <a:spcPts val="0"/>
                        </a:spcBef>
                        <a:spcAft>
                          <a:spcPts val="0"/>
                        </a:spcAft>
                        <a:buClr>
                          <a:srgbClr val="FFFFFF"/>
                        </a:buClr>
                        <a:buSzPts val="900"/>
                        <a:buFont typeface="Arial"/>
                        <a:buNone/>
                      </a:pPr>
                      <a:r>
                        <a:rPr lang="en-IN" sz="900" b="1" i="0" u="none" strike="noStrike" cap="none">
                          <a:solidFill>
                            <a:srgbClr val="FFFFFF"/>
                          </a:solidFill>
                          <a:latin typeface="Arial"/>
                          <a:ea typeface="Arial"/>
                          <a:cs typeface="Arial"/>
                          <a:sym typeface="Arial"/>
                        </a:rPr>
                        <a:t>Firm Name</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900"/>
                        <a:buFont typeface="Arial"/>
                        <a:buNone/>
                      </a:pPr>
                      <a:r>
                        <a:rPr lang="en-IN" sz="900" b="1" i="0" u="none" strike="noStrike" cap="none">
                          <a:solidFill>
                            <a:srgbClr val="FFFFFF"/>
                          </a:solidFill>
                          <a:latin typeface="Arial"/>
                          <a:ea typeface="Arial"/>
                          <a:cs typeface="Arial"/>
                          <a:sym typeface="Arial"/>
                        </a:rPr>
                        <a:t> Remaining Amount </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900"/>
                        <a:buFont typeface="Arial"/>
                        <a:buNone/>
                      </a:pPr>
                      <a:r>
                        <a:rPr lang="en-IN" sz="900" b="1" i="0" u="none" strike="noStrike" cap="none">
                          <a:solidFill>
                            <a:srgbClr val="FFFFFF"/>
                          </a:solidFill>
                          <a:latin typeface="Arial"/>
                          <a:ea typeface="Arial"/>
                          <a:cs typeface="Arial"/>
                          <a:sym typeface="Arial"/>
                        </a:rPr>
                        <a:t>List Name</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Expected Date of reversal/ Utilization</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4997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ABREL (RJ) PROJECTS LIMITED</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15.76</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I6 C_High Reclaim Ledger</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a:solidFill>
                            <a:schemeClr val="dk1"/>
                          </a:solidFill>
                        </a:rPr>
                        <a:t>NA</a:t>
                      </a:r>
                      <a:endParaRPr sz="1000" b="0" i="0" u="none" strike="noStrike" cap="none">
                        <a:solidFill>
                          <a:srgbClr val="000000"/>
                        </a:solidFill>
                        <a:latin typeface="Arial"/>
                        <a:ea typeface="Arial"/>
                        <a:cs typeface="Arial"/>
                        <a:sym typeface="Arial"/>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IN" sz="1050">
                          <a:solidFill>
                            <a:schemeClr val="dk1"/>
                          </a:solidFill>
                        </a:rPr>
                        <a:t>The taxpayer reversed IGST ITC Approx Rs. 10.00 crore in GSTR-3B of April and may.  the  project of renewal energy is under construction. Exempted production of energy or lease the project  is expected to start within 6 months. The taxpayer replied that ITC is being accumulated as project have not started yet. As outward supplies will commence, ITC  will be reversed or utilized  accordingly as per law within time limit.. Currently the taxpayer belongs to Jodhpur I-Jaisalmer Circle.</a:t>
                      </a:r>
                      <a:endParaRPr sz="1050"/>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997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dirty="0">
                          <a:solidFill>
                            <a:srgbClr val="000000"/>
                          </a:solidFill>
                          <a:latin typeface="Arial"/>
                          <a:ea typeface="Arial"/>
                          <a:cs typeface="Arial"/>
                          <a:sym typeface="Arial"/>
                        </a:rPr>
                        <a:t>SHIVAM TRADERS</a:t>
                      </a:r>
                      <a:endParaRPr dirty="0"/>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2.73</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dirty="0">
                          <a:solidFill>
                            <a:srgbClr val="000000"/>
                          </a:solidFill>
                          <a:latin typeface="Arial"/>
                          <a:ea typeface="Arial"/>
                          <a:cs typeface="Arial"/>
                          <a:sym typeface="Arial"/>
                        </a:rPr>
                        <a:t>I17_Suo Moto Cancelled Taxpayers having IGST Ledger Balance</a:t>
                      </a:r>
                      <a:endParaRPr dirty="0"/>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a:solidFill>
                            <a:schemeClr val="dk1"/>
                          </a:solidFill>
                        </a:rPr>
                        <a:t>NA</a:t>
                      </a:r>
                      <a:endParaRPr sz="1000" b="0" i="0" u="none" strike="noStrike" cap="none">
                        <a:solidFill>
                          <a:srgbClr val="000000"/>
                        </a:solidFill>
                        <a:latin typeface="Arial"/>
                        <a:ea typeface="Arial"/>
                        <a:cs typeface="Arial"/>
                        <a:sym typeface="Arial"/>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IN" sz="1050" dirty="0">
                          <a:solidFill>
                            <a:schemeClr val="dk1"/>
                          </a:solidFill>
                        </a:rPr>
                        <a:t>the taxpayer pertains to </a:t>
                      </a:r>
                      <a:r>
                        <a:rPr lang="en-IN" sz="1050" dirty="0" err="1">
                          <a:solidFill>
                            <a:schemeClr val="dk1"/>
                          </a:solidFill>
                        </a:rPr>
                        <a:t>center</a:t>
                      </a:r>
                      <a:r>
                        <a:rPr lang="en-IN" sz="1050" dirty="0">
                          <a:solidFill>
                            <a:schemeClr val="dk1"/>
                          </a:solidFill>
                        </a:rPr>
                        <a:t> jurisdiction .  the concerned authority has been informed. Available mobile no. is not operating . the authority have replied telephonically that the taxpayers registration was cancelled due to found non existent and bogus. ITC was not auto populated in 2B. Hence no potential for reversal.</a:t>
                      </a:r>
                      <a:endParaRPr sz="1050" dirty="0"/>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997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AU SMALL FINANCE BANK LIMITED</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1.12</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I16 Taxpayers with high ITC in 2B but claimed less in 3B (1) 1</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a:solidFill>
                            <a:schemeClr val="dk1"/>
                          </a:solidFill>
                        </a:rPr>
                        <a:t>NA</a:t>
                      </a:r>
                      <a:endParaRPr sz="1000">
                        <a:solidFill>
                          <a:schemeClr val="dk1"/>
                        </a:solidFill>
                      </a:endParaRPr>
                    </a:p>
                    <a:p>
                      <a:pPr marL="0" lvl="0" indent="0" algn="ctr" rtl="0">
                        <a:spcBef>
                          <a:spcPts val="0"/>
                        </a:spcBef>
                        <a:spcAft>
                          <a:spcPts val="0"/>
                        </a:spcAft>
                        <a:buClr>
                          <a:schemeClr val="dk1"/>
                        </a:buClr>
                        <a:buSzPts val="1000"/>
                        <a:buFont typeface="Calibri"/>
                        <a:buNone/>
                      </a:pPr>
                      <a:endParaRPr sz="1000">
                        <a:solidFill>
                          <a:schemeClr val="dk1"/>
                        </a:solidFill>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IN" sz="1050">
                          <a:solidFill>
                            <a:schemeClr val="dk1"/>
                          </a:solidFill>
                        </a:rPr>
                        <a:t>The taxpayer is credit card vertical division of AU Small finance bank and all outward supplies are taxable eg. interest charges( schedule -12/2017) @18%. The taxpayer is regularly reversing ITC U/S 17(5), rule 37 ,42, 43 if any . The taxpayer having difference amounting Rs. 3571117 for the year 2025-26.</a:t>
                      </a:r>
                      <a:endParaRPr sz="1050">
                        <a:solidFill>
                          <a:schemeClr val="dk1"/>
                        </a:solidFill>
                      </a:endParaRPr>
                    </a:p>
                    <a:p>
                      <a:pPr marL="0" lvl="0" indent="0" algn="ctr" rtl="0">
                        <a:lnSpc>
                          <a:spcPct val="115000"/>
                        </a:lnSpc>
                        <a:spcBef>
                          <a:spcPts val="0"/>
                        </a:spcBef>
                        <a:spcAft>
                          <a:spcPts val="0"/>
                        </a:spcAft>
                        <a:buClr>
                          <a:schemeClr val="dk1"/>
                        </a:buClr>
                        <a:buSzPts val="1100"/>
                        <a:buFont typeface="Arial"/>
                        <a:buNone/>
                      </a:pPr>
                      <a:r>
                        <a:rPr lang="en-IN" sz="1050">
                          <a:solidFill>
                            <a:schemeClr val="dk1"/>
                          </a:solidFill>
                        </a:rPr>
                        <a:t>the taxpayer replied that the ITC will be reconciled and claimed within time limit.</a:t>
                      </a:r>
                      <a:endParaRPr sz="1050"/>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997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MANOJ TRADING COMPANY</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0.93</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NA</a:t>
                      </a:r>
                      <a:endParaRPr sz="1000" b="0" i="0" u="none" strike="noStrike" cap="none">
                        <a:solidFill>
                          <a:srgbClr val="000000"/>
                        </a:solidFill>
                        <a:latin typeface="Arial"/>
                        <a:ea typeface="Arial"/>
                        <a:cs typeface="Arial"/>
                        <a:sym typeface="Arial"/>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050"/>
                        <a:buFont typeface="Calibri"/>
                        <a:buNone/>
                      </a:pPr>
                      <a:r>
                        <a:rPr lang="en-IN" sz="1050"/>
                        <a:t>the taxpayer is cancelled in the year 2019-20. Demand amounting Rs.  4,34,95,708.00 in the head of IGST and 1,90,83,049.00 in the head of CGST and SGST respectively,  under penalty head reflecting on boweb portal created by central authority.  the taxpayer was bogus and fake and demand created against taxpayer for availing fake and bogus ITC on paperless transactions . Hence no potential for further reversal.</a:t>
                      </a:r>
                      <a:endParaRPr sz="1050"/>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997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PAVAN TRADING CO</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0.36</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NA</a:t>
                      </a:r>
                      <a:endParaRPr sz="1000" b="0" i="0" u="none" strike="noStrike" cap="none">
                        <a:solidFill>
                          <a:srgbClr val="000000"/>
                        </a:solidFill>
                        <a:latin typeface="Arial"/>
                        <a:ea typeface="Arial"/>
                        <a:cs typeface="Arial"/>
                        <a:sym typeface="Arial"/>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The taxpayer belongs to center jurisdiction and concerned authority have been informed .the registered mobile number on portal is found not functional . tax payer have been cancelled due to found not existing and  bogus .</a:t>
                      </a:r>
                      <a:endParaRPr sz="1050"/>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997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TODAWAT FARMS</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0.23</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NA</a:t>
                      </a:r>
                      <a:endParaRPr sz="1000" b="0" i="0" u="none" strike="noStrike" cap="none">
                        <a:solidFill>
                          <a:srgbClr val="000000"/>
                        </a:solidFill>
                        <a:latin typeface="Arial"/>
                        <a:ea typeface="Arial"/>
                        <a:cs typeface="Arial"/>
                        <a:sym typeface="Arial"/>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solidFill>
                            <a:schemeClr val="dk1"/>
                          </a:solidFill>
                        </a:rPr>
                        <a:t>The taxpayer Contacted telephonically . the authorised representative sh kapil agrawal told that the taxpayer was cancelled by concerned  authority as the taxpayer belongs to central jurisdiction due to reason of return not filled continuously for six months. The taxpayer deals in taxable supplies and ITC will be utilised after revocation of registration The revocation of  registration application is  pending with central authority .</a:t>
                      </a:r>
                      <a:endParaRPr sz="1050" b="0" i="0" u="none" strike="noStrike" cap="none">
                        <a:solidFill>
                          <a:srgbClr val="000000"/>
                        </a:solidFill>
                        <a:latin typeface="Arial"/>
                        <a:ea typeface="Arial"/>
                        <a:cs typeface="Arial"/>
                        <a:sym typeface="Arial"/>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997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SATYAM TRADERS</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0.08</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NA</a:t>
                      </a:r>
                      <a:endParaRPr sz="1000" b="0" i="0" u="none" strike="noStrike" cap="none">
                        <a:solidFill>
                          <a:srgbClr val="000000"/>
                        </a:solidFill>
                        <a:latin typeface="Arial"/>
                        <a:ea typeface="Arial"/>
                        <a:cs typeface="Arial"/>
                        <a:sym typeface="Arial"/>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050"/>
                        <a:buFont typeface="Calibri"/>
                        <a:buNone/>
                      </a:pPr>
                      <a:r>
                        <a:rPr lang="en-IN" sz="1050">
                          <a:solidFill>
                            <a:schemeClr val="dk1"/>
                          </a:solidFill>
                        </a:rPr>
                        <a:t>he taxpayer is cancelled in the year 2019-20. Demand amounting Rs.  5730453.00 in the head of CGST and Rs 5730453.00 SGST respectively,  under penalty head reflecting on boweb portal created by central authority.  the taxpayer was bogus, fake and demand created against taxpayer for availing fake and bogus ITC on paperless transactions . Hence no potential for further reversal.</a:t>
                      </a:r>
                      <a:endParaRPr sz="1050" b="0" i="0" u="none" strike="noStrike" cap="none">
                        <a:solidFill>
                          <a:srgbClr val="000000"/>
                        </a:solidFill>
                        <a:latin typeface="Arial"/>
                        <a:ea typeface="Arial"/>
                        <a:cs typeface="Arial"/>
                        <a:sym typeface="Arial"/>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997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H&amp;R Decor</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0.07</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NA</a:t>
                      </a:r>
                      <a:endParaRPr sz="1000" b="0" i="0" u="none" strike="noStrike" cap="none">
                        <a:solidFill>
                          <a:srgbClr val="000000"/>
                        </a:solidFill>
                        <a:latin typeface="Arial"/>
                        <a:ea typeface="Arial"/>
                        <a:cs typeface="Arial"/>
                        <a:sym typeface="Arial"/>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050">
                          <a:solidFill>
                            <a:schemeClr val="dk1"/>
                          </a:solidFill>
                        </a:rPr>
                        <a:t>The taxpayer belongs to center jurisdiction and concerned authority have been informed .the registration mobile number on portal is found not functional . tax payer have been cancelled due to found not existing an bogus .</a:t>
                      </a:r>
                      <a:endParaRPr sz="1050"/>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997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A1 MEDIA HOUSE PRIVATE LIMITED</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0.06</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NA</a:t>
                      </a:r>
                      <a:endParaRPr sz="1000" b="0" i="0" u="none" strike="noStrike" cap="none">
                        <a:solidFill>
                          <a:srgbClr val="000000"/>
                        </a:solidFill>
                        <a:latin typeface="Arial"/>
                        <a:ea typeface="Arial"/>
                        <a:cs typeface="Arial"/>
                        <a:sym typeface="Arial"/>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IN" sz="1050">
                          <a:solidFill>
                            <a:schemeClr val="dk1"/>
                          </a:solidFill>
                        </a:rPr>
                        <a:t>The taxpayer have been cancelled due to bank detail not updated on portal. Taxpayer have been applied for revocation of registration and bank detail updated accordingly.  The taxpayer deals in taxable supplies and ITC will be utilised after revocation of registration. Taxpayer denied to reverse IGST credit ledger balance .</a:t>
                      </a:r>
                      <a:endParaRPr sz="1050"/>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4997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THE FASHION HOUSE</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0.06</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NA</a:t>
                      </a:r>
                      <a:endParaRPr sz="1000" b="0" i="0" u="none" strike="noStrike" cap="none">
                        <a:solidFill>
                          <a:srgbClr val="000000"/>
                        </a:solidFill>
                        <a:latin typeface="Arial"/>
                        <a:ea typeface="Arial"/>
                        <a:cs typeface="Arial"/>
                        <a:sym typeface="Arial"/>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IN" sz="1050">
                          <a:solidFill>
                            <a:schemeClr val="dk1"/>
                          </a:solidFill>
                        </a:rPr>
                        <a:t>The taxpayer Contacted on registered mobile number. The taxpayer’s son’s  replied that the owner of  this firm has died so  password and other details are not available . He replied that the password will be reset and will reverse accordingly. </a:t>
                      </a:r>
                      <a:endParaRPr sz="1050">
                        <a:solidFill>
                          <a:schemeClr val="dk1"/>
                        </a:solidFill>
                      </a:endParaRPr>
                    </a:p>
                    <a:p>
                      <a:pPr marL="0" marR="0" lvl="0" indent="0" algn="ctr" rtl="0">
                        <a:spcBef>
                          <a:spcPts val="0"/>
                        </a:spcBef>
                        <a:spcAft>
                          <a:spcPts val="0"/>
                        </a:spcAft>
                        <a:buClr>
                          <a:schemeClr val="dk1"/>
                        </a:buClr>
                        <a:buSzPts val="1050"/>
                        <a:buFont typeface="Calibri"/>
                        <a:buNone/>
                      </a:pPr>
                      <a:endParaRPr sz="1050"/>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33850">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Total</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21.41</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 </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700"/>
                        <a:buFont typeface="Arial"/>
                        <a:buNone/>
                      </a:pPr>
                      <a:r>
                        <a:rPr lang="en-IN" sz="700" b="1" i="0" u="none" strike="noStrike" cap="none">
                          <a:solidFill>
                            <a:srgbClr val="FFFFFF"/>
                          </a:solidFill>
                          <a:latin typeface="Arial"/>
                          <a:ea typeface="Arial"/>
                          <a:cs typeface="Arial"/>
                          <a:sym typeface="Arial"/>
                        </a:rPr>
                        <a:t> </a:t>
                      </a:r>
                      <a:endParaRPr/>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700"/>
                        <a:buFont typeface="Arial"/>
                        <a:buNone/>
                      </a:pPr>
                      <a:r>
                        <a:rPr lang="en-IN" sz="700" b="1" i="0" u="none" strike="noStrike" cap="none" dirty="0">
                          <a:solidFill>
                            <a:srgbClr val="FFFFFF"/>
                          </a:solidFill>
                          <a:latin typeface="Arial"/>
                          <a:ea typeface="Arial"/>
                          <a:cs typeface="Arial"/>
                          <a:sym typeface="Arial"/>
                        </a:rPr>
                        <a:t> </a:t>
                      </a:r>
                      <a:endParaRPr dirty="0"/>
                    </a:p>
                  </a:txBody>
                  <a:tcPr marL="3800" marR="3800" marT="38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62"/>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Circle-B, Kota - IGST</a:t>
            </a:r>
            <a:endParaRPr sz="2000" b="1" i="0" u="none" strike="noStrike" cap="none">
              <a:solidFill>
                <a:srgbClr val="000000"/>
              </a:solidFill>
              <a:latin typeface="Verdana"/>
              <a:ea typeface="Verdana"/>
              <a:cs typeface="Verdana"/>
              <a:sym typeface="Verdana"/>
            </a:endParaRPr>
          </a:p>
        </p:txBody>
      </p:sp>
      <p:sp>
        <p:nvSpPr>
          <p:cNvPr id="548" name="Google Shape;548;p62"/>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549" name="Google Shape;549;p62"/>
          <p:cNvGraphicFramePr/>
          <p:nvPr/>
        </p:nvGraphicFramePr>
        <p:xfrm>
          <a:off x="466338" y="738131"/>
          <a:ext cx="11243200" cy="5705325"/>
        </p:xfrm>
        <a:graphic>
          <a:graphicData uri="http://schemas.openxmlformats.org/drawingml/2006/table">
            <a:tbl>
              <a:tblPr>
                <a:noFill/>
                <a:tableStyleId>{ED13AFB8-4CE9-44F5-8004-2B2D446919A9}</a:tableStyleId>
              </a:tblPr>
              <a:tblGrid>
                <a:gridCol w="1441025">
                  <a:extLst>
                    <a:ext uri="{9D8B030D-6E8A-4147-A177-3AD203B41FA5}">
                      <a16:colId xmlns:a16="http://schemas.microsoft.com/office/drawing/2014/main" val="20000"/>
                    </a:ext>
                  </a:extLst>
                </a:gridCol>
                <a:gridCol w="856875">
                  <a:extLst>
                    <a:ext uri="{9D8B030D-6E8A-4147-A177-3AD203B41FA5}">
                      <a16:colId xmlns:a16="http://schemas.microsoft.com/office/drawing/2014/main" val="20001"/>
                    </a:ext>
                  </a:extLst>
                </a:gridCol>
                <a:gridCol w="2087775">
                  <a:extLst>
                    <a:ext uri="{9D8B030D-6E8A-4147-A177-3AD203B41FA5}">
                      <a16:colId xmlns:a16="http://schemas.microsoft.com/office/drawing/2014/main" val="20002"/>
                    </a:ext>
                  </a:extLst>
                </a:gridCol>
                <a:gridCol w="1298175">
                  <a:extLst>
                    <a:ext uri="{9D8B030D-6E8A-4147-A177-3AD203B41FA5}">
                      <a16:colId xmlns:a16="http://schemas.microsoft.com/office/drawing/2014/main" val="20003"/>
                    </a:ext>
                  </a:extLst>
                </a:gridCol>
                <a:gridCol w="5559350">
                  <a:extLst>
                    <a:ext uri="{9D8B030D-6E8A-4147-A177-3AD203B41FA5}">
                      <a16:colId xmlns:a16="http://schemas.microsoft.com/office/drawing/2014/main" val="20004"/>
                    </a:ext>
                  </a:extLst>
                </a:gridCol>
              </a:tblGrid>
              <a:tr h="368725">
                <a:tc>
                  <a:txBody>
                    <a:bodyPr/>
                    <a:lstStyle/>
                    <a:p>
                      <a:pPr marL="0" marR="0" lvl="0" indent="0" algn="ctr" rtl="0">
                        <a:spcBef>
                          <a:spcPts val="0"/>
                        </a:spcBef>
                        <a:spcAft>
                          <a:spcPts val="0"/>
                        </a:spcAft>
                        <a:buClr>
                          <a:srgbClr val="FFFFFF"/>
                        </a:buClr>
                        <a:buSzPts val="1050"/>
                        <a:buFont typeface="Arial"/>
                        <a:buNone/>
                      </a:pPr>
                      <a:r>
                        <a:rPr lang="en-IN" sz="1050" b="1" i="0" u="none" strike="noStrike" cap="none">
                          <a:solidFill>
                            <a:srgbClr val="FFFFFF"/>
                          </a:solidFill>
                          <a:latin typeface="Arial"/>
                          <a:ea typeface="Arial"/>
                          <a:cs typeface="Arial"/>
                          <a:sym typeface="Arial"/>
                        </a:rPr>
                        <a:t>Firm Name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50"/>
                        <a:buFont typeface="Arial"/>
                        <a:buNone/>
                      </a:pPr>
                      <a:r>
                        <a:rPr lang="en-IN" sz="1050" b="1" i="0" u="none" strike="noStrike" cap="none">
                          <a:solidFill>
                            <a:srgbClr val="FFFFFF"/>
                          </a:solidFill>
                          <a:latin typeface="Arial"/>
                          <a:ea typeface="Arial"/>
                          <a:cs typeface="Arial"/>
                          <a:sym typeface="Arial"/>
                        </a:rPr>
                        <a:t> Remaining Amount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50"/>
                        <a:buFont typeface="Arial"/>
                        <a:buNone/>
                      </a:pPr>
                      <a:r>
                        <a:rPr lang="en-IN" sz="1050" b="1" i="0" u="none" strike="noStrike" cap="none">
                          <a:solidFill>
                            <a:srgbClr val="FFFFFF"/>
                          </a:solidFill>
                          <a:latin typeface="Arial"/>
                          <a:ea typeface="Arial"/>
                          <a:cs typeface="Arial"/>
                          <a:sym typeface="Arial"/>
                        </a:rPr>
                        <a:t>List Name</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Expected Date of reversal/ Utilization</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525875">
                <a:tc>
                  <a:txBody>
                    <a:bodyPr/>
                    <a:lstStyle/>
                    <a:p>
                      <a:pPr marL="0" marR="0" lvl="0" indent="0" algn="ctr" rtl="0">
                        <a:spcBef>
                          <a:spcPts val="0"/>
                        </a:spcBef>
                        <a:spcAft>
                          <a:spcPts val="0"/>
                        </a:spcAft>
                        <a:buClr>
                          <a:srgbClr val="000000"/>
                        </a:buClr>
                        <a:buSzPts val="1200"/>
                        <a:buFont typeface="Arial"/>
                        <a:buNone/>
                      </a:pPr>
                      <a:r>
                        <a:rPr lang="en-IN" sz="1100" b="0" i="0" u="none" strike="noStrike" cap="none">
                          <a:solidFill>
                            <a:srgbClr val="000000"/>
                          </a:solidFill>
                          <a:latin typeface="Arial"/>
                          <a:ea typeface="Arial"/>
                          <a:cs typeface="Arial"/>
                          <a:sym typeface="Arial"/>
                        </a:rPr>
                        <a:t>DCM SHRIRAM LIMITED</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8.41</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000"/>
                        <a:t>I6 C_High Reclaim Ledger</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t>20-02-2026</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800"/>
                        <a:buFont typeface="Calibri"/>
                        <a:buNone/>
                      </a:pPr>
                      <a:r>
                        <a:rPr lang="en-IN" sz="1100"/>
                        <a:t>Amount is related to regular reversal and reclaim, </a:t>
                      </a:r>
                      <a:r>
                        <a:rPr lang="en-IN" sz="1100">
                          <a:solidFill>
                            <a:srgbClr val="1F1F1F"/>
                          </a:solidFill>
                          <a:highlight>
                            <a:srgbClr val="FFFFFF"/>
                          </a:highlight>
                        </a:rPr>
                        <a:t>Reversal done Rs 43,79,522.00 Reclaimed Rs 12,35,85,802.00 reversed in 4(B)(2) Rs 11,27,54,218.00. Current reclaim ledger balance is Rs 6,88,84,040.00</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5875">
                <a:tc>
                  <a:txBody>
                    <a:bodyPr/>
                    <a:lstStyle/>
                    <a:p>
                      <a:pPr marL="0" marR="0" lvl="0" indent="0" algn="ctr" rtl="0">
                        <a:spcBef>
                          <a:spcPts val="0"/>
                        </a:spcBef>
                        <a:spcAft>
                          <a:spcPts val="0"/>
                        </a:spcAft>
                        <a:buClr>
                          <a:srgbClr val="000000"/>
                        </a:buClr>
                        <a:buSzPts val="1200"/>
                        <a:buFont typeface="Arial"/>
                        <a:buNone/>
                      </a:pPr>
                      <a:r>
                        <a:rPr lang="en-IN" sz="1100" b="0" i="0" u="none" strike="noStrike" cap="none">
                          <a:solidFill>
                            <a:srgbClr val="000000"/>
                          </a:solidFill>
                          <a:latin typeface="Arial"/>
                          <a:ea typeface="Arial"/>
                          <a:cs typeface="Arial"/>
                          <a:sym typeface="Arial"/>
                        </a:rPr>
                        <a:t>J. K. CEMENT LTD.</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5.27</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000"/>
                        <a:t>I6 C_High Reclaim Ledger</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solidFill>
                            <a:srgbClr val="000000"/>
                          </a:solidFill>
                        </a:rPr>
                        <a:t>20-02-2026</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800"/>
                        <a:buFont typeface="Calibri"/>
                        <a:buNone/>
                      </a:pPr>
                      <a:r>
                        <a:rPr lang="en-IN" sz="1100">
                          <a:solidFill>
                            <a:srgbClr val="000000"/>
                          </a:solidFill>
                        </a:rPr>
                        <a:t>Amount is related to regular reversal and reclaim, </a:t>
                      </a:r>
                      <a:r>
                        <a:rPr lang="en-IN" sz="1100">
                          <a:solidFill>
                            <a:srgbClr val="1F1F1F"/>
                          </a:solidFill>
                          <a:highlight>
                            <a:srgbClr val="FFFFFF"/>
                          </a:highlight>
                        </a:rPr>
                        <a:t>Reversal done Rs 4,73,850.00 Reclaimed Rs 5,23,86,260.00 reversed in 4(B)(2) Rs 1,47,33,745.00. Current reclaim ledger balance is Rs 1,50,04,918.00 </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73175">
                <a:tc>
                  <a:txBody>
                    <a:bodyPr/>
                    <a:lstStyle/>
                    <a:p>
                      <a:pPr marL="0" marR="0" lvl="0" indent="0" algn="ctr" rtl="0">
                        <a:spcBef>
                          <a:spcPts val="0"/>
                        </a:spcBef>
                        <a:spcAft>
                          <a:spcPts val="0"/>
                        </a:spcAft>
                        <a:buClr>
                          <a:srgbClr val="000000"/>
                        </a:buClr>
                        <a:buSzPts val="1200"/>
                        <a:buFont typeface="Arial"/>
                        <a:buNone/>
                      </a:pPr>
                      <a:r>
                        <a:rPr lang="en-IN" sz="1100" b="0" i="0" u="none" strike="noStrike" cap="none">
                          <a:solidFill>
                            <a:srgbClr val="000000"/>
                          </a:solidFill>
                          <a:latin typeface="Arial"/>
                          <a:ea typeface="Arial"/>
                          <a:cs typeface="Arial"/>
                          <a:sym typeface="Arial"/>
                        </a:rPr>
                        <a:t>D.C.M. SHRIRAM INDUSTRIES LTD.</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2.36</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000"/>
                        <a:t>I6 C_High Reclaim Ledger</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solidFill>
                            <a:srgbClr val="000000"/>
                          </a:solidFill>
                        </a:rPr>
                        <a:t>20-02-2026</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800"/>
                        <a:buFont typeface="Calibri"/>
                        <a:buNone/>
                      </a:pPr>
                      <a:r>
                        <a:rPr lang="en-IN" sz="1100">
                          <a:solidFill>
                            <a:srgbClr val="000000"/>
                          </a:solidFill>
                        </a:rPr>
                        <a:t>Amount is related to regular reversal and reclaim, ,</a:t>
                      </a:r>
                      <a:r>
                        <a:rPr lang="en-IN" sz="1100">
                          <a:solidFill>
                            <a:srgbClr val="1F1F1F"/>
                          </a:solidFill>
                          <a:highlight>
                            <a:srgbClr val="FFFFFF"/>
                          </a:highlight>
                        </a:rPr>
                        <a:t>Reversal done Rs 92,66,941.00 Reclaimed Rs 1,89,89,212.00 reversed in 4(B)(2) Rs 14,21,723.00. Current reclaim ledger balance is Rs 60,40,861.00</a:t>
                      </a:r>
                      <a:endParaRPr sz="1100">
                        <a:solidFill>
                          <a:srgbClr val="000000"/>
                        </a:solidFill>
                      </a:endParaRPr>
                    </a:p>
                    <a:p>
                      <a:pPr marL="0" marR="0" lvl="0" indent="0" algn="ctr" rtl="0">
                        <a:spcBef>
                          <a:spcPts val="0"/>
                        </a:spcBef>
                        <a:spcAft>
                          <a:spcPts val="0"/>
                        </a:spcAft>
                        <a:buClr>
                          <a:srgbClr val="000000"/>
                        </a:buClr>
                        <a:buSzPts val="800"/>
                        <a:buFont typeface="Calibri"/>
                        <a:buNone/>
                      </a:pP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25875">
                <a:tc>
                  <a:txBody>
                    <a:bodyPr/>
                    <a:lstStyle/>
                    <a:p>
                      <a:pPr marL="0" marR="0" lvl="0" indent="0" algn="ctr" rtl="0">
                        <a:spcBef>
                          <a:spcPts val="0"/>
                        </a:spcBef>
                        <a:spcAft>
                          <a:spcPts val="0"/>
                        </a:spcAft>
                        <a:buClr>
                          <a:srgbClr val="000000"/>
                        </a:buClr>
                        <a:buSzPts val="1200"/>
                        <a:buFont typeface="Arial"/>
                        <a:buNone/>
                      </a:pPr>
                      <a:r>
                        <a:rPr lang="en-IN" sz="1100" b="0" i="0" u="none" strike="noStrike" cap="none">
                          <a:solidFill>
                            <a:srgbClr val="000000"/>
                          </a:solidFill>
                          <a:latin typeface="Arial"/>
                          <a:ea typeface="Arial"/>
                          <a:cs typeface="Arial"/>
                          <a:sym typeface="Arial"/>
                        </a:rPr>
                        <a:t>WAL-MART INDIA PRIVATE LIMITED</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1.08</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000"/>
                        <a:t>I6 C_High Reclaim Ledger</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solidFill>
                            <a:srgbClr val="000000"/>
                          </a:solidFill>
                        </a:rPr>
                        <a:t>20-02-2026</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800"/>
                        <a:buFont typeface="Calibri"/>
                        <a:buNone/>
                      </a:pPr>
                      <a:r>
                        <a:rPr lang="en-IN" sz="1100">
                          <a:solidFill>
                            <a:srgbClr val="000000"/>
                          </a:solidFill>
                        </a:rPr>
                        <a:t>Amount is related to regular reversal and reclaim, </a:t>
                      </a:r>
                      <a:r>
                        <a:rPr lang="en-IN" sz="1100">
                          <a:solidFill>
                            <a:srgbClr val="1F1F1F"/>
                          </a:solidFill>
                          <a:highlight>
                            <a:srgbClr val="FFFFFF"/>
                          </a:highlight>
                        </a:rPr>
                        <a:t>Reversal done Rs 68,865.00 Reclaimed Rs 30,28,118.00 reversed in 4(B)(2) Rs 28,88,970.00. Current reclaim ledger balance is Rs 1,07,77,088.00</a:t>
                      </a:r>
                      <a:endParaRPr sz="1100">
                        <a:solidFill>
                          <a:srgbClr val="000000"/>
                        </a:solidFill>
                      </a:endParaRPr>
                    </a:p>
                    <a:p>
                      <a:pPr marL="0" marR="0" lvl="0" indent="0" algn="ctr" rtl="0">
                        <a:spcBef>
                          <a:spcPts val="0"/>
                        </a:spcBef>
                        <a:spcAft>
                          <a:spcPts val="0"/>
                        </a:spcAft>
                        <a:buClr>
                          <a:srgbClr val="000000"/>
                        </a:buClr>
                        <a:buSzPts val="800"/>
                        <a:buFont typeface="Calibri"/>
                        <a:buNone/>
                      </a:pPr>
                      <a:r>
                        <a:rPr lang="en-IN" sz="1100"/>
                        <a:t>Further scrutinizing</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49200">
                <a:tc>
                  <a:txBody>
                    <a:bodyPr/>
                    <a:lstStyle/>
                    <a:p>
                      <a:pPr marL="0" marR="0" lvl="0" indent="0" algn="ctr" rtl="0">
                        <a:spcBef>
                          <a:spcPts val="0"/>
                        </a:spcBef>
                        <a:spcAft>
                          <a:spcPts val="0"/>
                        </a:spcAft>
                        <a:buClr>
                          <a:srgbClr val="000000"/>
                        </a:buClr>
                        <a:buSzPts val="1200"/>
                        <a:buFont typeface="Arial"/>
                        <a:buNone/>
                      </a:pPr>
                      <a:r>
                        <a:rPr lang="en-IN" sz="1100" b="0" i="0" u="none" strike="noStrike" cap="none">
                          <a:solidFill>
                            <a:srgbClr val="000000"/>
                          </a:solidFill>
                          <a:latin typeface="Arial"/>
                          <a:ea typeface="Arial"/>
                          <a:cs typeface="Arial"/>
                          <a:sym typeface="Arial"/>
                        </a:rPr>
                        <a:t>M/S BHIWANI TRADING CO</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0.50</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t>16.02.2026</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800"/>
                        <a:buFont typeface="Calibri"/>
                        <a:buNone/>
                      </a:pPr>
                      <a:r>
                        <a:rPr lang="en-IN" sz="1200"/>
                        <a:t>Total reversal done of Rs 0.50 cr</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49200">
                <a:tc>
                  <a:txBody>
                    <a:bodyPr/>
                    <a:lstStyle/>
                    <a:p>
                      <a:pPr marL="0" marR="0" lvl="0" indent="0" algn="ctr" rtl="0">
                        <a:spcBef>
                          <a:spcPts val="0"/>
                        </a:spcBef>
                        <a:spcAft>
                          <a:spcPts val="0"/>
                        </a:spcAft>
                        <a:buClr>
                          <a:srgbClr val="000000"/>
                        </a:buClr>
                        <a:buSzPts val="1200"/>
                        <a:buFont typeface="Arial"/>
                        <a:buNone/>
                      </a:pPr>
                      <a:r>
                        <a:rPr lang="en-IN" sz="1100" b="0" i="0" u="none" strike="noStrike" cap="none">
                          <a:solidFill>
                            <a:srgbClr val="000000"/>
                          </a:solidFill>
                          <a:latin typeface="Arial"/>
                          <a:ea typeface="Arial"/>
                          <a:cs typeface="Arial"/>
                          <a:sym typeface="Arial"/>
                        </a:rPr>
                        <a:t>JAY TRADING COMPANY</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0.11</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solidFill>
                            <a:srgbClr val="000000"/>
                          </a:solidFill>
                        </a:rPr>
                        <a:t>16.02.2026</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800"/>
                        <a:buFont typeface="Calibri"/>
                        <a:buNone/>
                      </a:pPr>
                      <a:r>
                        <a:rPr lang="en-IN" sz="1200">
                          <a:solidFill>
                            <a:srgbClr val="000000"/>
                          </a:solidFill>
                        </a:rPr>
                        <a:t>Total reversal done of Rs 0.11 cr</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49200">
                <a:tc>
                  <a:txBody>
                    <a:bodyPr/>
                    <a:lstStyle/>
                    <a:p>
                      <a:pPr marL="0" marR="0" lvl="0" indent="0" algn="ctr" rtl="0">
                        <a:spcBef>
                          <a:spcPts val="0"/>
                        </a:spcBef>
                        <a:spcAft>
                          <a:spcPts val="0"/>
                        </a:spcAft>
                        <a:buClr>
                          <a:srgbClr val="000000"/>
                        </a:buClr>
                        <a:buSzPts val="1200"/>
                        <a:buFont typeface="Arial"/>
                        <a:buNone/>
                      </a:pPr>
                      <a:r>
                        <a:rPr lang="en-IN" sz="1100" b="0" i="0" u="none" strike="noStrike" cap="none">
                          <a:solidFill>
                            <a:srgbClr val="000000"/>
                          </a:solidFill>
                          <a:latin typeface="Arial"/>
                          <a:ea typeface="Arial"/>
                          <a:cs typeface="Arial"/>
                          <a:sym typeface="Arial"/>
                        </a:rPr>
                        <a:t>ANGEL TRADING COMPANY</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0.09</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solidFill>
                            <a:srgbClr val="000000"/>
                          </a:solidFill>
                        </a:rPr>
                        <a:t>16.02.2026</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800"/>
                        <a:buFont typeface="Calibri"/>
                        <a:buNone/>
                      </a:pPr>
                      <a:r>
                        <a:rPr lang="en-IN" sz="1200">
                          <a:solidFill>
                            <a:srgbClr val="000000"/>
                          </a:solidFill>
                        </a:rPr>
                        <a:t>Total reversal done of Rs 0.09 cr</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49200">
                <a:tc>
                  <a:txBody>
                    <a:bodyPr/>
                    <a:lstStyle/>
                    <a:p>
                      <a:pPr marL="0" marR="0" lvl="0" indent="0" algn="ctr" rtl="0">
                        <a:spcBef>
                          <a:spcPts val="0"/>
                        </a:spcBef>
                        <a:spcAft>
                          <a:spcPts val="0"/>
                        </a:spcAft>
                        <a:buClr>
                          <a:srgbClr val="000000"/>
                        </a:buClr>
                        <a:buSzPts val="1200"/>
                        <a:buFont typeface="Arial"/>
                        <a:buNone/>
                      </a:pPr>
                      <a:r>
                        <a:rPr lang="en-IN" sz="1100" b="0" i="0" u="none" strike="noStrike" cap="none">
                          <a:solidFill>
                            <a:srgbClr val="000000"/>
                          </a:solidFill>
                          <a:latin typeface="Arial"/>
                          <a:ea typeface="Arial"/>
                          <a:cs typeface="Arial"/>
                          <a:sym typeface="Arial"/>
                        </a:rPr>
                        <a:t>S. A. AUTOMOBILES</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0.07</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solidFill>
                            <a:srgbClr val="000000"/>
                          </a:solidFill>
                        </a:rPr>
                        <a:t>16.02.2026</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800"/>
                        <a:buFont typeface="Calibri"/>
                        <a:buNone/>
                      </a:pPr>
                      <a:r>
                        <a:rPr lang="en-IN" sz="1200">
                          <a:solidFill>
                            <a:srgbClr val="000000"/>
                          </a:solidFill>
                        </a:rPr>
                        <a:t>Total reversal done of Rs 0.07 cr</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525875">
                <a:tc>
                  <a:txBody>
                    <a:bodyPr/>
                    <a:lstStyle/>
                    <a:p>
                      <a:pPr marL="0" marR="0" lvl="0" indent="0" algn="ctr" rtl="0">
                        <a:spcBef>
                          <a:spcPts val="0"/>
                        </a:spcBef>
                        <a:spcAft>
                          <a:spcPts val="0"/>
                        </a:spcAft>
                        <a:buClr>
                          <a:srgbClr val="000000"/>
                        </a:buClr>
                        <a:buSzPts val="1200"/>
                        <a:buFont typeface="Arial"/>
                        <a:buNone/>
                      </a:pPr>
                      <a:r>
                        <a:rPr lang="en-IN" sz="1100" b="0" i="0" u="none" strike="noStrike" cap="none">
                          <a:solidFill>
                            <a:srgbClr val="000000"/>
                          </a:solidFill>
                          <a:latin typeface="Arial"/>
                          <a:ea typeface="Arial"/>
                          <a:cs typeface="Arial"/>
                          <a:sym typeface="Arial"/>
                        </a:rPr>
                        <a:t>MAHA LAXMI ENTERPRISES</a:t>
                      </a:r>
                      <a:endParaRPr sz="13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0.05</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Calibri"/>
                        <a:buNone/>
                      </a:pPr>
                      <a:r>
                        <a:rPr lang="en-IN" sz="1200">
                          <a:solidFill>
                            <a:srgbClr val="000000"/>
                          </a:solidFill>
                        </a:rPr>
                        <a:t>16.02.2026</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800"/>
                        <a:buFont typeface="Calibri"/>
                        <a:buNone/>
                      </a:pPr>
                      <a:r>
                        <a:rPr lang="en-IN" sz="1200">
                          <a:solidFill>
                            <a:srgbClr val="000000"/>
                          </a:solidFill>
                        </a:rPr>
                        <a:t>Total reversal done of Rs 0.05 cr</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423625">
                <a:tc>
                  <a:txBody>
                    <a:bodyPr/>
                    <a:lstStyle/>
                    <a:p>
                      <a:pPr marL="0" marR="0" lvl="0" indent="0" algn="ctr" rtl="0">
                        <a:spcBef>
                          <a:spcPts val="0"/>
                        </a:spcBef>
                        <a:spcAft>
                          <a:spcPts val="0"/>
                        </a:spcAft>
                        <a:buClr>
                          <a:srgbClr val="000000"/>
                        </a:buClr>
                        <a:buSzPts val="1200"/>
                        <a:buFont typeface="Arial"/>
                        <a:buNone/>
                      </a:pPr>
                      <a:r>
                        <a:rPr lang="en-IN" sz="1100" b="0" i="0" u="none" strike="noStrike" cap="none">
                          <a:solidFill>
                            <a:srgbClr val="000000"/>
                          </a:solidFill>
                          <a:latin typeface="Arial"/>
                          <a:ea typeface="Arial"/>
                          <a:cs typeface="Arial"/>
                          <a:sym typeface="Arial"/>
                        </a:rPr>
                        <a:t>Jainque</a:t>
                      </a:r>
                      <a:endParaRPr sz="11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0.05</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sz="120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200"/>
                        <a:buFont typeface="Calibri"/>
                        <a:buNone/>
                      </a:pPr>
                      <a:endParaRPr sz="1200">
                        <a:solidFill>
                          <a:srgbClr val="000000"/>
                        </a:solidFill>
                      </a:endParaRPr>
                    </a:p>
                    <a:p>
                      <a:pPr marL="0" marR="0" lvl="0" indent="0" algn="ctr" rtl="0">
                        <a:spcBef>
                          <a:spcPts val="0"/>
                        </a:spcBef>
                        <a:spcAft>
                          <a:spcPts val="0"/>
                        </a:spcAft>
                        <a:buClr>
                          <a:srgbClr val="000000"/>
                        </a:buClr>
                        <a:buSzPts val="1200"/>
                        <a:buFont typeface="Calibri"/>
                        <a:buNone/>
                      </a:pPr>
                      <a:r>
                        <a:rPr lang="en-IN" sz="1200"/>
                        <a:t>-</a:t>
                      </a: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800"/>
                        <a:buFont typeface="Calibri"/>
                        <a:buNone/>
                      </a:pPr>
                      <a:r>
                        <a:rPr lang="en-IN" sz="1200">
                          <a:solidFill>
                            <a:srgbClr val="000000"/>
                          </a:solidFill>
                        </a:rPr>
                        <a:t>Center jurisdiction, Intimated to taxpayer as well.</a:t>
                      </a:r>
                      <a:endParaRPr sz="1200">
                        <a:solidFill>
                          <a:srgbClr val="000000"/>
                        </a:solidFill>
                      </a:endParaRPr>
                    </a:p>
                    <a:p>
                      <a:pPr marL="0" marR="0" lvl="0" indent="0" algn="ctr" rtl="0">
                        <a:spcBef>
                          <a:spcPts val="0"/>
                        </a:spcBef>
                        <a:spcAft>
                          <a:spcPts val="0"/>
                        </a:spcAft>
                        <a:buClr>
                          <a:srgbClr val="000000"/>
                        </a:buClr>
                        <a:buSzPts val="800"/>
                        <a:buFont typeface="Calibri"/>
                        <a:buNone/>
                      </a:pPr>
                      <a:endParaRPr sz="1200" b="0" i="0" u="none" strike="noStrike" cap="none">
                        <a:solidFill>
                          <a:srgbClr val="000000"/>
                        </a:solidFill>
                        <a:latin typeface="Arial"/>
                        <a:ea typeface="Arial"/>
                        <a:cs typeface="Arial"/>
                        <a:sym typeface="Arial"/>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187325">
                <a:tc>
                  <a:txBody>
                    <a:bodyPr/>
                    <a:lstStyle/>
                    <a:p>
                      <a:pPr marL="0" marR="0" lvl="0" indent="0" algn="ctr" rtl="0">
                        <a:spcBef>
                          <a:spcPts val="0"/>
                        </a:spcBef>
                        <a:spcAft>
                          <a:spcPts val="0"/>
                        </a:spcAft>
                        <a:buClr>
                          <a:srgbClr val="FFFFFF"/>
                        </a:buClr>
                        <a:buSzPts val="1200"/>
                        <a:buFont typeface="Arial"/>
                        <a:buNone/>
                      </a:pPr>
                      <a:r>
                        <a:rPr lang="en-IN" sz="1200" b="1" i="0" u="none" strike="noStrike" cap="none">
                          <a:solidFill>
                            <a:srgbClr val="FFFFFF"/>
                          </a:solidFill>
                          <a:latin typeface="Arial"/>
                          <a:ea typeface="Arial"/>
                          <a:cs typeface="Arial"/>
                          <a:sym typeface="Arial"/>
                        </a:rPr>
                        <a:t>Total</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200"/>
                        <a:buFont typeface="Arial"/>
                        <a:buNone/>
                      </a:pPr>
                      <a:r>
                        <a:rPr lang="en-IN" sz="1200" b="1" i="0" u="none" strike="noStrike" cap="none">
                          <a:solidFill>
                            <a:srgbClr val="FFFFFF"/>
                          </a:solidFill>
                          <a:latin typeface="Arial"/>
                          <a:ea typeface="Arial"/>
                          <a:cs typeface="Arial"/>
                          <a:sym typeface="Arial"/>
                        </a:rPr>
                        <a:t>17.98</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800"/>
                        <a:buFont typeface="Arial"/>
                        <a:buNone/>
                      </a:pPr>
                      <a:r>
                        <a:rPr lang="en-IN" sz="800" b="1" i="0" u="none" strike="noStrike" cap="none">
                          <a:solidFill>
                            <a:srgbClr val="FFFFFF"/>
                          </a:solidFill>
                          <a:latin typeface="Arial"/>
                          <a:ea typeface="Arial"/>
                          <a:cs typeface="Arial"/>
                          <a:sym typeface="Arial"/>
                        </a:rPr>
                        <a: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800"/>
                        <a:buFont typeface="Arial"/>
                        <a:buNone/>
                      </a:pPr>
                      <a:r>
                        <a:rPr lang="en-IN" sz="800" b="1" i="0" u="none" strike="noStrike" cap="none">
                          <a:solidFill>
                            <a:srgbClr val="FFFFFF"/>
                          </a:solidFill>
                          <a:latin typeface="Arial"/>
                          <a:ea typeface="Arial"/>
                          <a:cs typeface="Arial"/>
                          <a:sym typeface="Arial"/>
                        </a:rPr>
                        <a: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800"/>
                        <a:buFont typeface="Arial"/>
                        <a:buNone/>
                      </a:pPr>
                      <a:r>
                        <a:rPr lang="en-IN" sz="800" b="1" i="0" u="none" strike="noStrike" cap="none">
                          <a:solidFill>
                            <a:srgbClr val="FFFFFF"/>
                          </a:solidFill>
                          <a:latin typeface="Arial"/>
                          <a:ea typeface="Arial"/>
                          <a:cs typeface="Arial"/>
                          <a:sym typeface="Arial"/>
                        </a:rPr>
                        <a:t> </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63"/>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Circle-Nimbahera, Bhilwara - IGST</a:t>
            </a:r>
            <a:endParaRPr sz="2000" b="1" i="0" u="none" strike="noStrike" cap="none">
              <a:solidFill>
                <a:srgbClr val="000000"/>
              </a:solidFill>
              <a:latin typeface="Verdana"/>
              <a:ea typeface="Verdana"/>
              <a:cs typeface="Verdana"/>
              <a:sym typeface="Verdana"/>
            </a:endParaRPr>
          </a:p>
        </p:txBody>
      </p:sp>
      <p:sp>
        <p:nvSpPr>
          <p:cNvPr id="556" name="Google Shape;556;p63"/>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557" name="Google Shape;557;p63"/>
          <p:cNvGraphicFramePr/>
          <p:nvPr>
            <p:extLst>
              <p:ext uri="{D42A27DB-BD31-4B8C-83A1-F6EECF244321}">
                <p14:modId xmlns:p14="http://schemas.microsoft.com/office/powerpoint/2010/main" val="251491174"/>
              </p:ext>
            </p:extLst>
          </p:nvPr>
        </p:nvGraphicFramePr>
        <p:xfrm>
          <a:off x="106688" y="594513"/>
          <a:ext cx="11828639" cy="6699240"/>
        </p:xfrm>
        <a:graphic>
          <a:graphicData uri="http://schemas.openxmlformats.org/drawingml/2006/table">
            <a:tbl>
              <a:tblPr>
                <a:noFill/>
                <a:tableStyleId>{ED13AFB8-4CE9-44F5-8004-2B2D446919A9}</a:tableStyleId>
              </a:tblPr>
              <a:tblGrid>
                <a:gridCol w="2085757">
                  <a:extLst>
                    <a:ext uri="{9D8B030D-6E8A-4147-A177-3AD203B41FA5}">
                      <a16:colId xmlns:a16="http://schemas.microsoft.com/office/drawing/2014/main" val="20000"/>
                    </a:ext>
                  </a:extLst>
                </a:gridCol>
                <a:gridCol w="1366862">
                  <a:extLst>
                    <a:ext uri="{9D8B030D-6E8A-4147-A177-3AD203B41FA5}">
                      <a16:colId xmlns:a16="http://schemas.microsoft.com/office/drawing/2014/main" val="20001"/>
                    </a:ext>
                  </a:extLst>
                </a:gridCol>
                <a:gridCol w="1544813">
                  <a:extLst>
                    <a:ext uri="{9D8B030D-6E8A-4147-A177-3AD203B41FA5}">
                      <a16:colId xmlns:a16="http://schemas.microsoft.com/office/drawing/2014/main" val="20002"/>
                    </a:ext>
                  </a:extLst>
                </a:gridCol>
                <a:gridCol w="1326535">
                  <a:extLst>
                    <a:ext uri="{9D8B030D-6E8A-4147-A177-3AD203B41FA5}">
                      <a16:colId xmlns:a16="http://schemas.microsoft.com/office/drawing/2014/main" val="20003"/>
                    </a:ext>
                  </a:extLst>
                </a:gridCol>
                <a:gridCol w="5504672">
                  <a:extLst>
                    <a:ext uri="{9D8B030D-6E8A-4147-A177-3AD203B41FA5}">
                      <a16:colId xmlns:a16="http://schemas.microsoft.com/office/drawing/2014/main" val="20004"/>
                    </a:ext>
                  </a:extLst>
                </a:gridCol>
              </a:tblGrid>
              <a:tr h="292530">
                <a:tc>
                  <a:txBody>
                    <a:bodyPr/>
                    <a:lstStyle/>
                    <a:p>
                      <a:pPr marL="0" marR="0" lvl="0" indent="0" algn="ctr" rtl="0">
                        <a:spcBef>
                          <a:spcPts val="0"/>
                        </a:spcBef>
                        <a:spcAft>
                          <a:spcPts val="0"/>
                        </a:spcAft>
                        <a:buClr>
                          <a:srgbClr val="FFFFFF"/>
                        </a:buClr>
                        <a:buSzPts val="900"/>
                        <a:buFont typeface="Arial"/>
                        <a:buNone/>
                      </a:pPr>
                      <a:r>
                        <a:rPr lang="en-IN" sz="900" b="1" i="0" u="none" strike="noStrike" cap="none">
                          <a:solidFill>
                            <a:srgbClr val="FFFFFF"/>
                          </a:solidFill>
                          <a:latin typeface="Arial"/>
                          <a:ea typeface="Arial"/>
                          <a:cs typeface="Arial"/>
                          <a:sym typeface="Arial"/>
                        </a:rPr>
                        <a:t>Firm Name</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900"/>
                        <a:buFont typeface="Arial"/>
                        <a:buNone/>
                      </a:pPr>
                      <a:r>
                        <a:rPr lang="en-IN" sz="900" b="1" i="0" u="none" strike="noStrike" cap="none">
                          <a:solidFill>
                            <a:srgbClr val="FFFFFF"/>
                          </a:solidFill>
                          <a:latin typeface="Arial"/>
                          <a:ea typeface="Arial"/>
                          <a:cs typeface="Arial"/>
                          <a:sym typeface="Arial"/>
                        </a:rPr>
                        <a:t> Remaining Amount </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900"/>
                        <a:buFont typeface="Arial"/>
                        <a:buNone/>
                      </a:pPr>
                      <a:r>
                        <a:rPr lang="en-IN" sz="900" b="1" i="0" u="none" strike="noStrike" cap="none">
                          <a:solidFill>
                            <a:srgbClr val="FFFFFF"/>
                          </a:solidFill>
                          <a:latin typeface="Arial"/>
                          <a:ea typeface="Arial"/>
                          <a:cs typeface="Arial"/>
                          <a:sym typeface="Arial"/>
                        </a:rPr>
                        <a:t>List Name</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Expected Date of reversal/ Utilization</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1238890">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NUVOCO VISTAS CORPORATION LIMITED</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16.32</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100"/>
                        <a:buFont typeface="Arial"/>
                        <a:buNone/>
                      </a:pPr>
                      <a:r>
                        <a:rPr lang="en-IN" sz="1100"/>
                        <a:t>I6 C_High Reclaim Ledger</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RTP IS CEMENT MANUFACTURER. MATTER HAS BEEN DISCUSSED  WITH MR. MANISH , C.A. ( FINANCE HEAD) . BALANCE AVAILABLE IN CREDIT LEDGER IS MOSTLY RELATED  TO IMPORT OF PETCOKE ( 12.73 CRORE) FROM OUTSIDE OF INDIA WHICH IS NOT RECEIVED YET. RTP WILL RECLAIM  Rs 3.50 CRORE IN THIS MONTH RETURN. FROM CURRENT MONTH RTP IS USING IMS SYSTEM. SO NOW ONWARDS TEMPORARY REVERSAL WILL BE 4 TO 5 LAKH IN IGST ONLY. REST BALANCE IN RECLAIM REGISTER WILL BE UTILISED IN COMING MONTHS. RECLAIM AND REVERSAL IN IGST IS CONTINUOUS PROCESS IN THIS FIRM. RTP HAS REVERSED Rs 98,17,786/- IN IGST U/S 17(5)  IN NOV 2025 GSTR-3B. </a:t>
                      </a:r>
                      <a:endParaRPr sz="1100" b="0" i="0" u="none" strike="noStrike" cap="none">
                        <a:solidFill>
                          <a:srgbClr val="000000"/>
                        </a:solidFill>
                        <a:latin typeface="Arial"/>
                        <a:ea typeface="Arial"/>
                        <a:cs typeface="Arial"/>
                        <a:sym typeface="Arial"/>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749374">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SHRINATH ENTERPRISES</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0.13</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I17_Suo Moto Cancelled Taxpayers having IGST Ledger Balance</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endParaRPr sz="1100"/>
                    </a:p>
                    <a:p>
                      <a:pPr marL="0" marR="0" lvl="0" indent="0" algn="ctr" rtl="0">
                        <a:spcBef>
                          <a:spcPts val="0"/>
                        </a:spcBef>
                        <a:spcAft>
                          <a:spcPts val="0"/>
                        </a:spcAft>
                        <a:buClr>
                          <a:schemeClr val="dk1"/>
                        </a:buClr>
                        <a:buSzPts val="1100"/>
                        <a:buFont typeface="Calibri"/>
                        <a:buNone/>
                      </a:pPr>
                      <a:r>
                        <a:rPr lang="en-IN" sz="1100"/>
                        <a:t>24.02.2026</a:t>
                      </a:r>
                      <a:endParaRPr sz="1100"/>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Contacted to mobile number mentioned in GSTIN profile. But no response.. A whatsapp message sent to mobile number regarding said IGST AMOUNT for DRC-03 GENERATION.But no response received.. CENTER AUTHORITY CANCELLED THE REGISTRATION AS A FAKE FIRM ON DATED 14.06.2020 (REGISTRATION DATE). DISCUSSION IS ONGOING WITH CENTRAL AUTHORITY TO DEPOSIT BY DRC-03/ FURTHER ACTION. </a:t>
                      </a:r>
                      <a:endParaRPr sz="1100" b="0" i="0" u="none" strike="noStrike" cap="none">
                        <a:solidFill>
                          <a:srgbClr val="000000"/>
                        </a:solidFill>
                        <a:latin typeface="Arial"/>
                        <a:ea typeface="Arial"/>
                        <a:cs typeface="Arial"/>
                        <a:sym typeface="Arial"/>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17227">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ADINATH FOOD INDUSTRIES</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0.08</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I17_Suo Moto Cancelled Taxpayers having IGST Ledger Balance</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Calibri"/>
                        <a:buNone/>
                      </a:pPr>
                      <a:r>
                        <a:rPr lang="en-IN" sz="1100">
                          <a:solidFill>
                            <a:schemeClr val="dk1"/>
                          </a:solidFill>
                        </a:rPr>
                        <a:t>Contacted to CA SHUBHAM CHANDAK.He said that DRC-03 of said amount  will be done in next 1-2 days after consulting to firm proprietor..</a:t>
                      </a:r>
                      <a:endParaRPr sz="1100" b="0" i="0" u="none" strike="noStrike" cap="none">
                        <a:solidFill>
                          <a:srgbClr val="000000"/>
                        </a:solidFill>
                        <a:latin typeface="Arial"/>
                        <a:ea typeface="Arial"/>
                        <a:cs typeface="Arial"/>
                        <a:sym typeface="Arial"/>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0809">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ZAGSON ENGINEERING LIMITED</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0.03</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I17_Suo Moto Cancelled Taxpayers having IGST Ledger Balance</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21.02.2026</a:t>
                      </a:r>
                      <a:endParaRPr sz="1100" b="0" i="0" u="none" strike="noStrike" cap="none">
                        <a:solidFill>
                          <a:srgbClr val="000000"/>
                        </a:solidFill>
                        <a:latin typeface="Arial"/>
                        <a:ea typeface="Arial"/>
                        <a:cs typeface="Arial"/>
                        <a:sym typeface="Arial"/>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Calibri"/>
                        <a:buNone/>
                      </a:pPr>
                      <a:r>
                        <a:rPr lang="en-IN" sz="1100">
                          <a:solidFill>
                            <a:schemeClr val="dk1"/>
                          </a:solidFill>
                        </a:rPr>
                        <a:t>Contacted to firm prop. MOHAMMED TAKSEEL KAIFI. He said that DRC-03 of said amount  will be done in next 2-3 days after consulting to his CA. </a:t>
                      </a:r>
                      <a:endParaRPr sz="1100">
                        <a:solidFill>
                          <a:schemeClr val="dk1"/>
                        </a:solidFill>
                      </a:endParaRPr>
                    </a:p>
                    <a:p>
                      <a:pPr marL="0" marR="0" lvl="0" indent="0" algn="ctr" rtl="0">
                        <a:spcBef>
                          <a:spcPts val="0"/>
                        </a:spcBef>
                        <a:spcAft>
                          <a:spcPts val="0"/>
                        </a:spcAft>
                        <a:buClr>
                          <a:schemeClr val="dk1"/>
                        </a:buClr>
                        <a:buSzPts val="1100"/>
                        <a:buFont typeface="Calibri"/>
                        <a:buNone/>
                      </a:pPr>
                      <a:endParaRPr sz="1100"/>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44017">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PUSHP INDUSTRIES</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0.03</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I17_Suo Moto Cancelled Taxpayers having IGST Ledger Balance</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23.02.2026</a:t>
                      </a:r>
                      <a:endParaRPr sz="1100" b="0" i="0" u="none" strike="noStrike" cap="none">
                        <a:solidFill>
                          <a:srgbClr val="000000"/>
                        </a:solidFill>
                        <a:latin typeface="Arial"/>
                        <a:ea typeface="Arial"/>
                        <a:cs typeface="Arial"/>
                        <a:sym typeface="Arial"/>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Calibri"/>
                        <a:buNone/>
                      </a:pPr>
                      <a:r>
                        <a:rPr lang="en-IN" sz="1100">
                          <a:solidFill>
                            <a:schemeClr val="dk1"/>
                          </a:solidFill>
                        </a:rPr>
                        <a:t>Contacted to CA SANDEEP MODI. He said that party is currently not in contact to him. TRYING TO CONTACT PROPRIETOR. .RTP IS IN CENTER JURISDICTION.</a:t>
                      </a:r>
                      <a:endParaRPr sz="1100" b="0" i="0" u="none" strike="noStrike" cap="none">
                        <a:solidFill>
                          <a:srgbClr val="000000"/>
                        </a:solidFill>
                        <a:latin typeface="Arial"/>
                        <a:ea typeface="Arial"/>
                        <a:cs typeface="Arial"/>
                        <a:sym typeface="Arial"/>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500809">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VIJAY ENTERPRISES</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0.02</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I17_Suo Moto Cancelled Taxpayers having IGST Ledger Balance</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23.02.2026</a:t>
                      </a:r>
                      <a:endParaRPr sz="1100" b="0" i="0" u="none" strike="noStrike" cap="none">
                        <a:solidFill>
                          <a:srgbClr val="000000"/>
                        </a:solidFill>
                        <a:latin typeface="Arial"/>
                        <a:ea typeface="Arial"/>
                        <a:cs typeface="Arial"/>
                        <a:sym typeface="Arial"/>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Calibri"/>
                        <a:buNone/>
                      </a:pPr>
                      <a:r>
                        <a:rPr lang="en-IN" sz="1100" dirty="0">
                          <a:solidFill>
                            <a:schemeClr val="dk1"/>
                          </a:solidFill>
                        </a:rPr>
                        <a:t>Contacted to firm prop. MITTHU LAL GARG. He said that he is currently working out of place. DRC-03 of said amount  will be done after reaching home in 5-6 days. RTP IS IN CENTER JURISDICTION.</a:t>
                      </a:r>
                      <a:endParaRPr sz="1100" b="0" i="0" u="none" strike="noStrike" cap="none" dirty="0">
                        <a:solidFill>
                          <a:srgbClr val="000000"/>
                        </a:solidFill>
                        <a:latin typeface="Arial"/>
                        <a:ea typeface="Arial"/>
                        <a:cs typeface="Arial"/>
                        <a:sym typeface="Arial"/>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500809">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MANGROL FILLING STATION</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0.02</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I17_Suo Moto Cancelled Taxpayers having IGST Ledger Balance</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19.02.2026</a:t>
                      </a:r>
                      <a:endParaRPr sz="1100" b="0" i="0" u="none" strike="noStrike" cap="none">
                        <a:solidFill>
                          <a:srgbClr val="000000"/>
                        </a:solidFill>
                        <a:latin typeface="Arial"/>
                        <a:ea typeface="Arial"/>
                        <a:cs typeface="Arial"/>
                        <a:sym typeface="Arial"/>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Calibri"/>
                        <a:buNone/>
                      </a:pPr>
                      <a:r>
                        <a:rPr lang="en-IN" sz="1100">
                          <a:solidFill>
                            <a:schemeClr val="dk1"/>
                          </a:solidFill>
                        </a:rPr>
                        <a:t>Contacted to firm prop. RAJU KHANDELWAL. He said that currently he is engaged in family marriage function. DRC-03 of said amount  will be done in next 1-2 days after consulting to his CA.RTP IS IN CENTER JURISDICTION.</a:t>
                      </a:r>
                      <a:endParaRPr sz="1100" b="0" i="0" u="none" strike="noStrike" cap="none">
                        <a:solidFill>
                          <a:srgbClr val="000000"/>
                        </a:solidFill>
                        <a:latin typeface="Arial"/>
                        <a:ea typeface="Arial"/>
                        <a:cs typeface="Arial"/>
                        <a:sym typeface="Arial"/>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17227">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California Candy</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0.01</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I17_Suo Moto Cancelled Taxpayers having IGST Ledger Balance</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17.02.2026</a:t>
                      </a:r>
                      <a:endParaRPr sz="1100" b="0" i="0" u="none" strike="noStrike" cap="none">
                        <a:solidFill>
                          <a:srgbClr val="000000"/>
                        </a:solidFill>
                        <a:latin typeface="Arial"/>
                        <a:ea typeface="Arial"/>
                        <a:cs typeface="Arial"/>
                        <a:sym typeface="Arial"/>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DRC -03 GENERATED OF IGST LEDGER BALANCE AMOUNT Rs. 126852/-  ARN- AD080226011203P DATED- 17.02.2026</a:t>
                      </a:r>
                      <a:endParaRPr sz="1100" b="0" i="0" u="none" strike="noStrike" cap="none">
                        <a:solidFill>
                          <a:srgbClr val="000000"/>
                        </a:solidFill>
                        <a:latin typeface="Arial"/>
                        <a:ea typeface="Arial"/>
                        <a:cs typeface="Arial"/>
                        <a:sym typeface="Arial"/>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17227">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VIPIN HANDLOOM</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0.01</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100"/>
                        <a:buFont typeface="Arial"/>
                        <a:buNone/>
                      </a:pPr>
                      <a:r>
                        <a:rPr lang="en-IN" sz="1100" b="0" i="0" u="none" strike="noStrike" cap="none">
                          <a:solidFill>
                            <a:srgbClr val="000000"/>
                          </a:solidFill>
                          <a:latin typeface="Arial"/>
                          <a:ea typeface="Arial"/>
                          <a:cs typeface="Arial"/>
                          <a:sym typeface="Arial"/>
                        </a:rPr>
                        <a:t>I17_Suo Moto Cancelled Taxpayers having IGST Ledger Balance</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100"/>
                        <a:buFont typeface="Calibri"/>
                        <a:buNone/>
                      </a:pPr>
                      <a:r>
                        <a:rPr lang="en-IN" sz="1100"/>
                        <a:t>Contacted to firm prop. VIPIN KUMAR. He said that DRC-03 of said amount  will be done in next 2-3 days after consulting to his CA. RTP IS IN CENTER JURISDICTION.</a:t>
                      </a:r>
                      <a:endParaRPr sz="1100" b="0" i="0" u="none" strike="noStrike" cap="none">
                        <a:solidFill>
                          <a:srgbClr val="000000"/>
                        </a:solidFill>
                        <a:latin typeface="Arial"/>
                        <a:ea typeface="Arial"/>
                        <a:cs typeface="Arial"/>
                        <a:sym typeface="Arial"/>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207053">
                <a:tc>
                  <a:txBody>
                    <a:bodyPr/>
                    <a:lstStyle/>
                    <a:p>
                      <a:pPr marL="0" marR="0" lvl="0" indent="0" algn="ctr" rtl="0">
                        <a:spcBef>
                          <a:spcPts val="0"/>
                        </a:spcBef>
                        <a:spcAft>
                          <a:spcPts val="0"/>
                        </a:spcAft>
                        <a:buClr>
                          <a:srgbClr val="FFFFFF"/>
                        </a:buClr>
                        <a:buSzPts val="1800"/>
                        <a:buFont typeface="Arial"/>
                        <a:buNone/>
                      </a:pPr>
                      <a:r>
                        <a:rPr lang="en-IN" sz="1800" b="1" i="0" u="none" strike="noStrike" cap="none">
                          <a:solidFill>
                            <a:srgbClr val="FFFFFF"/>
                          </a:solidFill>
                          <a:latin typeface="Arial"/>
                          <a:ea typeface="Arial"/>
                          <a:cs typeface="Arial"/>
                          <a:sym typeface="Arial"/>
                        </a:rPr>
                        <a:t> Total</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800"/>
                        <a:buFont typeface="Arial"/>
                        <a:buNone/>
                      </a:pPr>
                      <a:r>
                        <a:rPr lang="en-IN" sz="1800" b="1" i="0" u="none" strike="noStrike" cap="none">
                          <a:solidFill>
                            <a:srgbClr val="FFFFFF"/>
                          </a:solidFill>
                          <a:latin typeface="Arial"/>
                          <a:ea typeface="Arial"/>
                          <a:cs typeface="Arial"/>
                          <a:sym typeface="Arial"/>
                        </a:rPr>
                        <a:t>16.64</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900"/>
                        <a:buFont typeface="Arial"/>
                        <a:buNone/>
                      </a:pPr>
                      <a:r>
                        <a:rPr lang="en-IN" sz="900" b="1" i="0" u="none" strike="noStrike" cap="none">
                          <a:solidFill>
                            <a:srgbClr val="FFFFFF"/>
                          </a:solidFill>
                          <a:latin typeface="Arial"/>
                          <a:ea typeface="Arial"/>
                          <a:cs typeface="Arial"/>
                          <a:sym typeface="Arial"/>
                        </a:rPr>
                        <a:t> </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900"/>
                        <a:buFont typeface="Arial"/>
                        <a:buNone/>
                      </a:pPr>
                      <a:r>
                        <a:rPr lang="en-IN" sz="900" b="1" i="0" u="none" strike="noStrike" cap="none">
                          <a:solidFill>
                            <a:srgbClr val="FFFFFF"/>
                          </a:solidFill>
                          <a:latin typeface="Arial"/>
                          <a:ea typeface="Arial"/>
                          <a:cs typeface="Arial"/>
                          <a:sym typeface="Arial"/>
                        </a:rPr>
                        <a:t> </a:t>
                      </a:r>
                      <a:endParaRPr/>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900"/>
                        <a:buFont typeface="Arial"/>
                        <a:buNone/>
                      </a:pPr>
                      <a:r>
                        <a:rPr lang="en-IN" sz="900" b="1" i="0" u="none" strike="noStrike" cap="none" dirty="0">
                          <a:solidFill>
                            <a:srgbClr val="FFFFFF"/>
                          </a:solidFill>
                          <a:latin typeface="Arial"/>
                          <a:ea typeface="Arial"/>
                          <a:cs typeface="Arial"/>
                          <a:sym typeface="Arial"/>
                        </a:rPr>
                        <a:t> </a:t>
                      </a:r>
                      <a:endParaRPr dirty="0"/>
                    </a:p>
                  </a:txBody>
                  <a:tcPr marL="4975" marR="4975" marT="49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64"/>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Circle-J, Jaipur I - IGST</a:t>
            </a:r>
            <a:endParaRPr sz="2000" b="1" i="0" u="none" strike="noStrike" cap="none">
              <a:solidFill>
                <a:srgbClr val="000000"/>
              </a:solidFill>
              <a:latin typeface="Verdana"/>
              <a:ea typeface="Verdana"/>
              <a:cs typeface="Verdana"/>
              <a:sym typeface="Verdana"/>
            </a:endParaRPr>
          </a:p>
        </p:txBody>
      </p:sp>
      <p:sp>
        <p:nvSpPr>
          <p:cNvPr id="564" name="Google Shape;564;p64"/>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565" name="Google Shape;565;p64"/>
          <p:cNvGraphicFramePr/>
          <p:nvPr/>
        </p:nvGraphicFramePr>
        <p:xfrm>
          <a:off x="466338" y="727114"/>
          <a:ext cx="11259325" cy="7606610"/>
        </p:xfrm>
        <a:graphic>
          <a:graphicData uri="http://schemas.openxmlformats.org/drawingml/2006/table">
            <a:tbl>
              <a:tblPr>
                <a:noFill/>
                <a:tableStyleId>{ED13AFB8-4CE9-44F5-8004-2B2D446919A9}</a:tableStyleId>
              </a:tblPr>
              <a:tblGrid>
                <a:gridCol w="2344775">
                  <a:extLst>
                    <a:ext uri="{9D8B030D-6E8A-4147-A177-3AD203B41FA5}">
                      <a16:colId xmlns:a16="http://schemas.microsoft.com/office/drawing/2014/main" val="20000"/>
                    </a:ext>
                  </a:extLst>
                </a:gridCol>
                <a:gridCol w="934325">
                  <a:extLst>
                    <a:ext uri="{9D8B030D-6E8A-4147-A177-3AD203B41FA5}">
                      <a16:colId xmlns:a16="http://schemas.microsoft.com/office/drawing/2014/main" val="20001"/>
                    </a:ext>
                  </a:extLst>
                </a:gridCol>
                <a:gridCol w="2095575">
                  <a:extLst>
                    <a:ext uri="{9D8B030D-6E8A-4147-A177-3AD203B41FA5}">
                      <a16:colId xmlns:a16="http://schemas.microsoft.com/office/drawing/2014/main" val="20002"/>
                    </a:ext>
                  </a:extLst>
                </a:gridCol>
                <a:gridCol w="1868675">
                  <a:extLst>
                    <a:ext uri="{9D8B030D-6E8A-4147-A177-3AD203B41FA5}">
                      <a16:colId xmlns:a16="http://schemas.microsoft.com/office/drawing/2014/main" val="20003"/>
                    </a:ext>
                  </a:extLst>
                </a:gridCol>
                <a:gridCol w="4015975">
                  <a:extLst>
                    <a:ext uri="{9D8B030D-6E8A-4147-A177-3AD203B41FA5}">
                      <a16:colId xmlns:a16="http://schemas.microsoft.com/office/drawing/2014/main" val="20004"/>
                    </a:ext>
                  </a:extLst>
                </a:gridCol>
              </a:tblGrid>
              <a:tr h="339125">
                <a:tc>
                  <a:txBody>
                    <a:bodyPr/>
                    <a:lstStyle/>
                    <a:p>
                      <a:pPr marL="0" marR="0" lvl="0" indent="0" algn="ctr" rtl="0">
                        <a:spcBef>
                          <a:spcPts val="0"/>
                        </a:spcBef>
                        <a:spcAft>
                          <a:spcPts val="0"/>
                        </a:spcAft>
                        <a:buClr>
                          <a:srgbClr val="FFFFFF"/>
                        </a:buClr>
                        <a:buSzPts val="1050"/>
                        <a:buFont typeface="Arial"/>
                        <a:buNone/>
                      </a:pPr>
                      <a:r>
                        <a:rPr lang="en-IN" sz="1050" b="1" i="0" u="none" strike="noStrike" cap="none">
                          <a:solidFill>
                            <a:srgbClr val="FFFFFF"/>
                          </a:solidFill>
                          <a:latin typeface="Arial"/>
                          <a:ea typeface="Arial"/>
                          <a:cs typeface="Arial"/>
                          <a:sym typeface="Arial"/>
                        </a:rPr>
                        <a:t>Firm Name</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50"/>
                        <a:buFont typeface="Arial"/>
                        <a:buNone/>
                      </a:pPr>
                      <a:r>
                        <a:rPr lang="en-IN" sz="1050" b="1" i="0" u="none" strike="noStrike" cap="none">
                          <a:solidFill>
                            <a:srgbClr val="FFFFFF"/>
                          </a:solidFill>
                          <a:latin typeface="Arial"/>
                          <a:ea typeface="Arial"/>
                          <a:cs typeface="Arial"/>
                          <a:sym typeface="Arial"/>
                        </a:rPr>
                        <a:t> Remaining Amount </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50"/>
                        <a:buFont typeface="Arial"/>
                        <a:buNone/>
                      </a:pPr>
                      <a:r>
                        <a:rPr lang="en-IN" sz="1050" b="1" i="0" u="none" strike="noStrike" cap="none">
                          <a:solidFill>
                            <a:srgbClr val="FFFFFF"/>
                          </a:solidFill>
                          <a:latin typeface="Arial"/>
                          <a:ea typeface="Arial"/>
                          <a:cs typeface="Arial"/>
                          <a:sym typeface="Arial"/>
                        </a:rPr>
                        <a:t>List Name</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Expected Date of reversal/ Utilization</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708050">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JNTL Consumer Health (India) Private Limited</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6.28</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900"/>
                        <a:buFont typeface="Arial"/>
                        <a:buNone/>
                      </a:pPr>
                      <a:r>
                        <a:rPr lang="en-IN" sz="900"/>
                        <a:t>I6 C_High Reclaim Ledger</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200"/>
                        <a:t>Taxpayer agreed to reverse 2.00 cr &amp; reclaim remaining amount in GSTR-3B of Jan-26 on 20/02/2026</a:t>
                      </a:r>
                      <a:endParaRPr sz="1200" b="0" i="0" u="none" strike="noStrike" cap="none">
                        <a:solidFill>
                          <a:srgbClr val="000000"/>
                        </a:solidFill>
                        <a:latin typeface="Arial"/>
                        <a:ea typeface="Arial"/>
                        <a:cs typeface="Arial"/>
                        <a:sym typeface="Arial"/>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66450">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TATA CONSUMER PRODUCTS LIMITED</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2.11</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900"/>
                        <a:buFont typeface="Arial"/>
                        <a:buNone/>
                      </a:pPr>
                      <a:r>
                        <a:rPr lang="en-IN" sz="900"/>
                        <a:t>I6 C_High Reclaim Ledger</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Calibri"/>
                        <a:buNone/>
                      </a:pPr>
                      <a:r>
                        <a:rPr lang="en-IN" sz="1100"/>
                        <a:t>20/02/2026</a:t>
                      </a:r>
                      <a:endParaRPr sz="1100" b="0" i="0" u="none" strike="noStrike" cap="none">
                        <a:solidFill>
                          <a:srgbClr val="000000"/>
                        </a:solidFill>
                        <a:latin typeface="Arial"/>
                        <a:ea typeface="Arial"/>
                        <a:cs typeface="Arial"/>
                        <a:sym typeface="Arial"/>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200"/>
                        <a:t>As per Taxpayer reversal &amp; reclaim of IGST ITC is a routine process. They agreed to reverse inadmissible ITC.  </a:t>
                      </a:r>
                      <a:endParaRPr sz="1200" b="0" i="0" u="none" strike="noStrike" cap="none">
                        <a:solidFill>
                          <a:srgbClr val="000000"/>
                        </a:solidFill>
                        <a:latin typeface="Arial"/>
                        <a:ea typeface="Arial"/>
                        <a:cs typeface="Arial"/>
                        <a:sym typeface="Arial"/>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66450">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INSOLATION GREEN ENERGY PRIVATE LIMITED</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1.82</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900"/>
                        <a:buFont typeface="Arial"/>
                        <a:buNone/>
                      </a:pPr>
                      <a:r>
                        <a:rPr lang="en-IN" sz="900"/>
                        <a:t>I6 C_High Reclaim Ledger</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100">
                          <a:solidFill>
                            <a:schemeClr val="dk1"/>
                          </a:solidFill>
                        </a:rPr>
                        <a:t>20/02/2026</a:t>
                      </a:r>
                      <a:endParaRPr sz="1100" b="0" i="0" u="none" strike="noStrike" cap="none">
                        <a:solidFill>
                          <a:schemeClr val="dk1"/>
                        </a:solidFill>
                        <a:latin typeface="Arial"/>
                        <a:ea typeface="Arial"/>
                        <a:cs typeface="Arial"/>
                        <a:sym typeface="Arial"/>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200">
                          <a:solidFill>
                            <a:schemeClr val="dk1"/>
                          </a:solidFill>
                        </a:rPr>
                        <a:t>As per Taxpayer reversal &amp; reclaim of IGST ITC is a routine process. They agreed to reverse inadmissible ITC.</a:t>
                      </a:r>
                      <a:endParaRPr sz="1000" b="0" i="0" u="none" strike="noStrike" cap="none">
                        <a:solidFill>
                          <a:srgbClr val="000000"/>
                        </a:solidFill>
                        <a:latin typeface="Arial"/>
                        <a:ea typeface="Arial"/>
                        <a:cs typeface="Arial"/>
                        <a:sym typeface="Arial"/>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66450">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Tulsi Palace Resort Private Limited</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1.40</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900"/>
                        <a:buFont typeface="Arial"/>
                        <a:buNone/>
                      </a:pPr>
                      <a:r>
                        <a:rPr lang="en-IN" sz="900"/>
                        <a:t>I6 C_High Reclaim Ledger</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100">
                          <a:solidFill>
                            <a:schemeClr val="dk1"/>
                          </a:solidFill>
                        </a:rPr>
                        <a:t>20/02/2026</a:t>
                      </a:r>
                      <a:endParaRPr sz="1100" b="0" i="0" u="none" strike="noStrike" cap="none">
                        <a:solidFill>
                          <a:schemeClr val="dk1"/>
                        </a:solidFill>
                        <a:latin typeface="Arial"/>
                        <a:ea typeface="Arial"/>
                        <a:cs typeface="Arial"/>
                        <a:sym typeface="Arial"/>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200">
                          <a:solidFill>
                            <a:schemeClr val="dk1"/>
                          </a:solidFill>
                        </a:rPr>
                        <a:t>As per Taxpayer reversal &amp; reclaim of IGST ITC is a routine process. They agreed to reverse Rs. 1.00 cr tentatively.</a:t>
                      </a:r>
                      <a:endParaRPr sz="1000" b="0" i="0" u="none" strike="noStrike" cap="none">
                        <a:solidFill>
                          <a:srgbClr val="000000"/>
                        </a:solidFill>
                        <a:latin typeface="Arial"/>
                        <a:ea typeface="Arial"/>
                        <a:cs typeface="Arial"/>
                        <a:sym typeface="Arial"/>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66450">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TRITON HOTELS AND RESORTS PRIVATE LIMITED</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1.15</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900"/>
                        <a:buFont typeface="Arial"/>
                        <a:buNone/>
                      </a:pPr>
                      <a:r>
                        <a:rPr lang="en-IN" sz="900"/>
                        <a:t>I6 C_High Reclaim Ledger</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100">
                          <a:solidFill>
                            <a:schemeClr val="dk1"/>
                          </a:solidFill>
                        </a:rPr>
                        <a:t>20/02/2026</a:t>
                      </a:r>
                      <a:endParaRPr sz="1100" b="0" i="0" u="none" strike="noStrike" cap="none">
                        <a:solidFill>
                          <a:schemeClr val="dk1"/>
                        </a:solidFill>
                        <a:latin typeface="Arial"/>
                        <a:ea typeface="Arial"/>
                        <a:cs typeface="Arial"/>
                        <a:sym typeface="Arial"/>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200">
                          <a:solidFill>
                            <a:schemeClr val="dk1"/>
                          </a:solidFill>
                        </a:rPr>
                        <a:t>As per Taxpayer reversal &amp; reclaim of IGST ITC is a routine process. They agreed to reverse Rs. 40.00 L tentatively.</a:t>
                      </a:r>
                      <a:endParaRPr sz="1000">
                        <a:solidFill>
                          <a:schemeClr val="dk1"/>
                        </a:solidFill>
                      </a:endParaRPr>
                    </a:p>
                    <a:p>
                      <a:pPr marL="0" marR="0" lvl="0" indent="0" algn="ctr" rtl="0">
                        <a:spcBef>
                          <a:spcPts val="0"/>
                        </a:spcBef>
                        <a:spcAft>
                          <a:spcPts val="0"/>
                        </a:spcAft>
                        <a:buClr>
                          <a:schemeClr val="dk1"/>
                        </a:buClr>
                        <a:buSzPts val="1000"/>
                        <a:buFont typeface="Calibri"/>
                        <a:buNone/>
                      </a:pPr>
                      <a:endParaRPr sz="1000"/>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566450">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Zomato Hyperpure Private Limited</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1.14</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900"/>
                        <a:buFont typeface="Arial"/>
                        <a:buNone/>
                      </a:pPr>
                      <a:r>
                        <a:rPr lang="en-IN" sz="900"/>
                        <a:t>I6 C_High Reclaim Ledger</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100">
                          <a:solidFill>
                            <a:schemeClr val="dk1"/>
                          </a:solidFill>
                        </a:rPr>
                        <a:t>20/02/2026</a:t>
                      </a:r>
                      <a:endParaRPr sz="1100" b="0" i="0" u="none" strike="noStrike" cap="none">
                        <a:solidFill>
                          <a:schemeClr val="dk1"/>
                        </a:solidFill>
                        <a:latin typeface="Arial"/>
                        <a:ea typeface="Arial"/>
                        <a:cs typeface="Arial"/>
                        <a:sym typeface="Arial"/>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200">
                          <a:solidFill>
                            <a:schemeClr val="dk1"/>
                          </a:solidFill>
                        </a:rPr>
                        <a:t>As per Taxpayer reversal &amp; reclaim of IGST ITC is a routine process. They agreed to reverse Rs. 80.00 L tentatively.</a:t>
                      </a:r>
                      <a:endParaRPr sz="1000">
                        <a:solidFill>
                          <a:schemeClr val="dk1"/>
                        </a:solidFill>
                      </a:endParaRPr>
                    </a:p>
                    <a:p>
                      <a:pPr marL="0" marR="0" lvl="0" indent="0" algn="ctr" rtl="0">
                        <a:spcBef>
                          <a:spcPts val="0"/>
                        </a:spcBef>
                        <a:spcAft>
                          <a:spcPts val="0"/>
                        </a:spcAft>
                        <a:buClr>
                          <a:schemeClr val="dk1"/>
                        </a:buClr>
                        <a:buSzPts val="1000"/>
                        <a:buFont typeface="Calibri"/>
                        <a:buNone/>
                      </a:pPr>
                      <a:endParaRPr sz="1000"/>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2482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SWASTHIK ENTERPRISES</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0.43</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900"/>
                        <a:buFont typeface="Arial"/>
                        <a:buNone/>
                      </a:pPr>
                      <a:r>
                        <a:rPr lang="en-IN" sz="900" b="0" i="0" u="none" strike="noStrike" cap="none">
                          <a:solidFill>
                            <a:srgbClr val="000000"/>
                          </a:solidFill>
                          <a:latin typeface="Arial"/>
                          <a:ea typeface="Arial"/>
                          <a:cs typeface="Arial"/>
                          <a:sym typeface="Arial"/>
                        </a:rPr>
                        <a:t>I17_Suo Moto Cancelled Taxpayers having IGST Ledger Balance</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Calibri"/>
                        <a:buNone/>
                      </a:pPr>
                      <a:r>
                        <a:rPr lang="en-IN" sz="1200"/>
                        <a:t>-</a:t>
                      </a:r>
                      <a:endParaRPr sz="1200" b="0" i="0" u="none" strike="noStrike" cap="none">
                        <a:solidFill>
                          <a:srgbClr val="000000"/>
                        </a:solidFill>
                        <a:latin typeface="Arial"/>
                        <a:ea typeface="Arial"/>
                        <a:cs typeface="Arial"/>
                        <a:sym typeface="Arial"/>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Calibri"/>
                        <a:buNone/>
                      </a:pPr>
                      <a:r>
                        <a:rPr lang="en-IN" sz="1100"/>
                        <a:t>RC was cancelled suo moto abinitio on found fake/non-existent. </a:t>
                      </a:r>
                      <a:r>
                        <a:rPr lang="en-IN" sz="1100">
                          <a:solidFill>
                            <a:schemeClr val="dk1"/>
                          </a:solidFill>
                        </a:rPr>
                        <a:t>On contact on RMN &amp; other number of A/R, no contact could be made. Imposition of penalty u/s 122 &amp; action u/s 29(5) is being contemplated. </a:t>
                      </a:r>
                      <a:endParaRPr sz="1100"/>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2482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SIDDHI VINAYAK AGRO INDUSTRIES</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0.19</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900"/>
                        <a:buFont typeface="Arial"/>
                        <a:buNone/>
                      </a:pPr>
                      <a:r>
                        <a:rPr lang="en-IN" sz="900" b="0" i="0" u="none" strike="noStrike" cap="none">
                          <a:solidFill>
                            <a:srgbClr val="000000"/>
                          </a:solidFill>
                          <a:latin typeface="Arial"/>
                          <a:ea typeface="Arial"/>
                          <a:cs typeface="Arial"/>
                          <a:sym typeface="Arial"/>
                        </a:rPr>
                        <a:t>I17_Suo Moto Cancelled Taxpayers having IGST Ledger Balance</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200">
                          <a:solidFill>
                            <a:schemeClr val="dk1"/>
                          </a:solidFill>
                        </a:rPr>
                        <a:t>-</a:t>
                      </a:r>
                      <a:endParaRPr sz="1200" b="0" i="0" u="none" strike="noStrike" cap="none">
                        <a:solidFill>
                          <a:schemeClr val="dk1"/>
                        </a:solidFill>
                        <a:latin typeface="Arial"/>
                        <a:ea typeface="Arial"/>
                        <a:cs typeface="Arial"/>
                        <a:sym typeface="Arial"/>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900"/>
                        <a:buFont typeface="Calibri"/>
                        <a:buNone/>
                      </a:pPr>
                      <a:r>
                        <a:rPr lang="en-IN" sz="1100">
                          <a:solidFill>
                            <a:schemeClr val="dk1"/>
                          </a:solidFill>
                        </a:rPr>
                        <a:t>RC was cancelled suo moto abinitio on found fake/non-existent. </a:t>
                      </a:r>
                      <a:endParaRPr sz="1100">
                        <a:solidFill>
                          <a:schemeClr val="dk1"/>
                        </a:solidFill>
                      </a:endParaRPr>
                    </a:p>
                    <a:p>
                      <a:pPr marL="0" marR="0" lvl="0" indent="0" algn="l" rtl="0">
                        <a:spcBef>
                          <a:spcPts val="0"/>
                        </a:spcBef>
                        <a:spcAft>
                          <a:spcPts val="0"/>
                        </a:spcAft>
                        <a:buClr>
                          <a:schemeClr val="dk1"/>
                        </a:buClr>
                        <a:buSzPts val="900"/>
                        <a:buFont typeface="Calibri"/>
                        <a:buNone/>
                      </a:pPr>
                      <a:r>
                        <a:rPr lang="en-IN" sz="1100"/>
                        <a:t>On contact on RMN Mr. Juber,  being GST practitioner, replied that this was a fake firm made to pass on fake ITC. Other mobile no. of A/R found non-existent. Imposition of penalty u/s 122 &amp; action u/s 29(5) is being contemplated. </a:t>
                      </a:r>
                      <a:endParaRPr sz="1100"/>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2482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D V TRADRES</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0.19</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900"/>
                        <a:buFont typeface="Arial"/>
                        <a:buNone/>
                      </a:pPr>
                      <a:r>
                        <a:rPr lang="en-IN" sz="900" b="0" i="0" u="none" strike="noStrike" cap="none">
                          <a:solidFill>
                            <a:srgbClr val="000000"/>
                          </a:solidFill>
                          <a:latin typeface="Arial"/>
                          <a:ea typeface="Arial"/>
                          <a:cs typeface="Arial"/>
                          <a:sym typeface="Arial"/>
                        </a:rPr>
                        <a:t>I17_Suo Moto Cancelled Taxpayers having IGST Ledger Balance</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200">
                          <a:solidFill>
                            <a:schemeClr val="dk1"/>
                          </a:solidFill>
                        </a:rPr>
                        <a:t>-</a:t>
                      </a:r>
                      <a:endParaRPr sz="1200" b="0" i="0" u="none" strike="noStrike" cap="none">
                        <a:solidFill>
                          <a:schemeClr val="dk1"/>
                        </a:solidFill>
                        <a:latin typeface="Arial"/>
                        <a:ea typeface="Arial"/>
                        <a:cs typeface="Arial"/>
                        <a:sym typeface="Arial"/>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900"/>
                        <a:buFont typeface="Calibri"/>
                        <a:buNone/>
                      </a:pPr>
                      <a:r>
                        <a:rPr lang="en-IN" sz="1100">
                          <a:solidFill>
                            <a:schemeClr val="dk1"/>
                          </a:solidFill>
                        </a:rPr>
                        <a:t>RC was cancelled suo moto from the nearest date of registration by centre authority on found fake/non-existent. no contact could be made on RMN &amp; other number. As taxpayer was in centre jurisdiction, no order can be passed. Letter to centre for appropriate action is prepared.</a:t>
                      </a:r>
                      <a:endParaRPr sz="900" b="0" i="0" u="none" strike="noStrike" cap="none">
                        <a:solidFill>
                          <a:srgbClr val="000000"/>
                        </a:solidFill>
                        <a:latin typeface="Arial"/>
                        <a:ea typeface="Arial"/>
                        <a:cs typeface="Arial"/>
                        <a:sym typeface="Arial"/>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424825">
                <a:tc>
                  <a:txBody>
                    <a:bodyPr/>
                    <a:lstStyle/>
                    <a:p>
                      <a:pPr marL="0" marR="0" lvl="0" indent="0" algn="ctr" rtl="0">
                        <a:spcBef>
                          <a:spcPts val="0"/>
                        </a:spcBef>
                        <a:spcAft>
                          <a:spcPts val="0"/>
                        </a:spcAft>
                        <a:buClr>
                          <a:srgbClr val="000000"/>
                        </a:buClr>
                        <a:buSzPts val="1000"/>
                        <a:buFont typeface="Arial"/>
                        <a:buNone/>
                      </a:pPr>
                      <a:r>
                        <a:rPr lang="en-IN" sz="1000"/>
                        <a:t> &amp;</a:t>
                      </a:r>
                      <a:r>
                        <a:rPr lang="en-IN" sz="1000" b="0" i="0" u="none" strike="noStrike" cap="none">
                          <a:solidFill>
                            <a:srgbClr val="000000"/>
                          </a:solidFill>
                          <a:latin typeface="Arial"/>
                          <a:ea typeface="Arial"/>
                          <a:cs typeface="Arial"/>
                          <a:sym typeface="Arial"/>
                        </a:rPr>
                        <a:t>HARI TRADERS</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0.14</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900"/>
                        <a:buFont typeface="Arial"/>
                        <a:buNone/>
                      </a:pPr>
                      <a:r>
                        <a:rPr lang="en-IN" sz="900" b="0" i="0" u="none" strike="noStrike" cap="none">
                          <a:solidFill>
                            <a:srgbClr val="000000"/>
                          </a:solidFill>
                          <a:latin typeface="Arial"/>
                          <a:ea typeface="Arial"/>
                          <a:cs typeface="Arial"/>
                          <a:sym typeface="Arial"/>
                        </a:rPr>
                        <a:t>I17_Suo Moto Cancelled Taxpayers having IGST Ledger Balance</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200">
                          <a:solidFill>
                            <a:schemeClr val="dk1"/>
                          </a:solidFill>
                        </a:rPr>
                        <a:t>-</a:t>
                      </a:r>
                      <a:endParaRPr sz="1200" b="0" i="0" u="none" strike="noStrike" cap="none">
                        <a:solidFill>
                          <a:schemeClr val="dk1"/>
                        </a:solidFill>
                        <a:latin typeface="Arial"/>
                        <a:ea typeface="Arial"/>
                        <a:cs typeface="Arial"/>
                        <a:sym typeface="Arial"/>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900"/>
                        <a:buFont typeface="Calibri"/>
                        <a:buNone/>
                      </a:pPr>
                      <a:r>
                        <a:rPr lang="en-IN" sz="1100">
                          <a:solidFill>
                            <a:schemeClr val="dk1"/>
                          </a:solidFill>
                        </a:rPr>
                        <a:t>RC was cancelled suo moto from the nearest date of registration by centre authority on found fake/non-existent. no contact could be made on RMN &amp; other number. As taxpayer was in centre jurisdiction, no order can be passed. Letter to centre for appropriate action is prepared.</a:t>
                      </a:r>
                      <a:endParaRPr sz="1100">
                        <a:solidFill>
                          <a:schemeClr val="dk1"/>
                        </a:solidFill>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17675">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Total</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14.85</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 </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700"/>
                        <a:buFont typeface="Arial"/>
                        <a:buNone/>
                      </a:pPr>
                      <a:r>
                        <a:rPr lang="en-IN" sz="700" b="1" i="0" u="none" strike="noStrike" cap="none">
                          <a:solidFill>
                            <a:srgbClr val="FFFFFF"/>
                          </a:solidFill>
                          <a:latin typeface="Arial"/>
                          <a:ea typeface="Arial"/>
                          <a:cs typeface="Arial"/>
                          <a:sym typeface="Arial"/>
                        </a:rPr>
                        <a:t> </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700"/>
                        <a:buFont typeface="Arial"/>
                        <a:buNone/>
                      </a:pPr>
                      <a:r>
                        <a:rPr lang="en-IN" sz="700" b="1" i="0" u="none" strike="noStrike" cap="none">
                          <a:solidFill>
                            <a:srgbClr val="FFFFFF"/>
                          </a:solidFill>
                          <a:latin typeface="Arial"/>
                          <a:ea typeface="Arial"/>
                          <a:cs typeface="Arial"/>
                          <a:sym typeface="Arial"/>
                        </a:rPr>
                        <a:t> </a:t>
                      </a:r>
                      <a:endParaRPr/>
                    </a:p>
                  </a:txBody>
                  <a:tcPr marL="4000" marR="4000" marT="4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65"/>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Circle-B, Rajsamand - IGST</a:t>
            </a:r>
            <a:endParaRPr sz="2000" b="1" i="0" u="none" strike="noStrike" cap="none">
              <a:solidFill>
                <a:srgbClr val="000000"/>
              </a:solidFill>
              <a:latin typeface="Verdana"/>
              <a:ea typeface="Verdana"/>
              <a:cs typeface="Verdana"/>
              <a:sym typeface="Verdana"/>
            </a:endParaRPr>
          </a:p>
        </p:txBody>
      </p:sp>
      <p:sp>
        <p:nvSpPr>
          <p:cNvPr id="572" name="Google Shape;572;p65"/>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573" name="Google Shape;573;p65"/>
          <p:cNvGraphicFramePr/>
          <p:nvPr/>
        </p:nvGraphicFramePr>
        <p:xfrm>
          <a:off x="466338" y="643593"/>
          <a:ext cx="11259325" cy="6502180"/>
        </p:xfrm>
        <a:graphic>
          <a:graphicData uri="http://schemas.openxmlformats.org/drawingml/2006/table">
            <a:tbl>
              <a:tblPr>
                <a:noFill/>
                <a:tableStyleId>{ED13AFB8-4CE9-44F5-8004-2B2D446919A9}</a:tableStyleId>
              </a:tblPr>
              <a:tblGrid>
                <a:gridCol w="2454850">
                  <a:extLst>
                    <a:ext uri="{9D8B030D-6E8A-4147-A177-3AD203B41FA5}">
                      <a16:colId xmlns:a16="http://schemas.microsoft.com/office/drawing/2014/main" val="20000"/>
                    </a:ext>
                  </a:extLst>
                </a:gridCol>
                <a:gridCol w="872750">
                  <a:extLst>
                    <a:ext uri="{9D8B030D-6E8A-4147-A177-3AD203B41FA5}">
                      <a16:colId xmlns:a16="http://schemas.microsoft.com/office/drawing/2014/main" val="20001"/>
                    </a:ext>
                  </a:extLst>
                </a:gridCol>
                <a:gridCol w="2408300">
                  <a:extLst>
                    <a:ext uri="{9D8B030D-6E8A-4147-A177-3AD203B41FA5}">
                      <a16:colId xmlns:a16="http://schemas.microsoft.com/office/drawing/2014/main" val="20002"/>
                    </a:ext>
                  </a:extLst>
                </a:gridCol>
                <a:gridCol w="1827100">
                  <a:extLst>
                    <a:ext uri="{9D8B030D-6E8A-4147-A177-3AD203B41FA5}">
                      <a16:colId xmlns:a16="http://schemas.microsoft.com/office/drawing/2014/main" val="20003"/>
                    </a:ext>
                  </a:extLst>
                </a:gridCol>
                <a:gridCol w="3696325">
                  <a:extLst>
                    <a:ext uri="{9D8B030D-6E8A-4147-A177-3AD203B41FA5}">
                      <a16:colId xmlns:a16="http://schemas.microsoft.com/office/drawing/2014/main" val="20004"/>
                    </a:ext>
                  </a:extLst>
                </a:gridCol>
              </a:tblGrid>
              <a:tr h="337200">
                <a:tc>
                  <a:txBody>
                    <a:bodyPr/>
                    <a:lstStyle/>
                    <a:p>
                      <a:pPr marL="0" marR="0" lvl="0" indent="0" algn="ctr" rtl="0">
                        <a:spcBef>
                          <a:spcPts val="0"/>
                        </a:spcBef>
                        <a:spcAft>
                          <a:spcPts val="0"/>
                        </a:spcAft>
                        <a:buClr>
                          <a:srgbClr val="FFFFFF"/>
                        </a:buClr>
                        <a:buSzPts val="1000"/>
                        <a:buFont typeface="Arial"/>
                        <a:buNone/>
                      </a:pPr>
                      <a:r>
                        <a:rPr lang="en-IN" sz="1000" b="1" i="0" u="none" strike="noStrike" cap="none">
                          <a:solidFill>
                            <a:srgbClr val="FFFFFF"/>
                          </a:solidFill>
                          <a:latin typeface="Arial"/>
                          <a:ea typeface="Arial"/>
                          <a:cs typeface="Arial"/>
                          <a:sym typeface="Arial"/>
                        </a:rPr>
                        <a:t>Firm Name</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00"/>
                        <a:buFont typeface="Arial"/>
                        <a:buNone/>
                      </a:pPr>
                      <a:r>
                        <a:rPr lang="en-IN" sz="1000" b="1" i="0" u="none" strike="noStrike" cap="none">
                          <a:solidFill>
                            <a:srgbClr val="FFFFFF"/>
                          </a:solidFill>
                          <a:latin typeface="Arial"/>
                          <a:ea typeface="Arial"/>
                          <a:cs typeface="Arial"/>
                          <a:sym typeface="Arial"/>
                        </a:rPr>
                        <a:t> Remaining Amount </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00"/>
                        <a:buFont typeface="Arial"/>
                        <a:buNone/>
                      </a:pPr>
                      <a:r>
                        <a:rPr lang="en-IN" sz="1000" b="1" i="0" u="none" strike="noStrike" cap="none">
                          <a:solidFill>
                            <a:srgbClr val="FFFFFF"/>
                          </a:solidFill>
                          <a:latin typeface="Arial"/>
                          <a:ea typeface="Arial"/>
                          <a:cs typeface="Arial"/>
                          <a:sym typeface="Arial"/>
                        </a:rPr>
                        <a:t>List Name</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Expected Date of reversal/ Utilization</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53570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JK TYRE AND INDUSTRIES LIMITED</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15.37</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I6 C_High Reclaim Ledger</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dirty="0"/>
                        <a:t>20.02.2026</a:t>
                      </a:r>
                      <a:endParaRPr sz="1050" b="0" i="0" u="none" strike="noStrike" cap="none" dirty="0">
                        <a:solidFill>
                          <a:srgbClr val="000000"/>
                        </a:solidFill>
                        <a:latin typeface="Arial"/>
                        <a:ea typeface="Arial"/>
                        <a:cs typeface="Arial"/>
                        <a:sym typeface="Arial"/>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THE TAXPAYER REVERSED ITC OF IGST IN TABLE 4B(2) IN CURRENT FY 37.67 CR AND RECLAIMED IN TABLE 4D(1) RS. 35.19 CR IGST ITC AS PER SEC 16(2)(B) THE TAXPAYER AGREED TO RECONCILE IGST ITC OF OPENING BALANCE RS. 13.61 CR AND RTP WILL  REVERSE OR RECLAIM THE AMOUNT IN GSTR 3B OF JAN 2026.</a:t>
                      </a:r>
                      <a:endParaRPr sz="1050" b="0" i="0" u="none" strike="noStrike" cap="none">
                        <a:solidFill>
                          <a:srgbClr val="000000"/>
                        </a:solidFill>
                        <a:latin typeface="Arial"/>
                        <a:ea typeface="Arial"/>
                        <a:cs typeface="Arial"/>
                        <a:sym typeface="Arial"/>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3570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JAI SHREE TRADERS</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0.15</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17.02.2026</a:t>
                      </a:r>
                      <a:endParaRPr sz="1050" b="0" i="0" u="none" strike="noStrike" cap="none">
                        <a:solidFill>
                          <a:srgbClr val="000000"/>
                        </a:solidFill>
                        <a:latin typeface="Arial"/>
                        <a:ea typeface="Arial"/>
                        <a:cs typeface="Arial"/>
                        <a:sym typeface="Arial"/>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150"/>
                        <a:t>IGST ITC RS. 1534039/- REVERSED THROUGH DRC 03 DATED 17/02/2026 ARN AD0802260116582</a:t>
                      </a:r>
                      <a:endParaRPr sz="1150" b="0" i="0" u="none" strike="noStrike" cap="none">
                        <a:solidFill>
                          <a:srgbClr val="000000"/>
                        </a:solidFill>
                        <a:latin typeface="Arial"/>
                        <a:ea typeface="Arial"/>
                        <a:cs typeface="Arial"/>
                        <a:sym typeface="Arial"/>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3570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KESHAV GRANITE &amp; MARBLE</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0.11</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350"/>
                        <a:t>19.02.2026</a:t>
                      </a:r>
                      <a:endParaRPr sz="1350" b="0" i="0" u="none" strike="noStrike" cap="none">
                        <a:solidFill>
                          <a:srgbClr val="000000"/>
                        </a:solidFill>
                        <a:latin typeface="Arial"/>
                        <a:ea typeface="Arial"/>
                        <a:cs typeface="Arial"/>
                        <a:sym typeface="Arial"/>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150"/>
                        <a:t>Contacted the accountant of firm and he agreed to reverse the amount through drc 03</a:t>
                      </a:r>
                      <a:endParaRPr sz="1150" b="0" i="0" u="none" strike="noStrike" cap="none">
                        <a:solidFill>
                          <a:srgbClr val="000000"/>
                        </a:solidFill>
                        <a:latin typeface="Arial"/>
                        <a:ea typeface="Arial"/>
                        <a:cs typeface="Arial"/>
                        <a:sym typeface="Arial"/>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3570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YASH GRANITE</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0.02</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250"/>
                        <a:t>20.02.2026</a:t>
                      </a:r>
                      <a:endParaRPr sz="1250" b="0" i="0" u="none" strike="noStrike" cap="none">
                        <a:solidFill>
                          <a:srgbClr val="000000"/>
                        </a:solidFill>
                        <a:latin typeface="Arial"/>
                        <a:ea typeface="Arial"/>
                        <a:cs typeface="Arial"/>
                        <a:sym typeface="Arial"/>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150">
                          <a:solidFill>
                            <a:schemeClr val="dk1"/>
                          </a:solidFill>
                        </a:rPr>
                        <a:t>Contacted the taxpayer and he agreed to reverse the amount through drc 03</a:t>
                      </a:r>
                      <a:endParaRPr sz="1150">
                        <a:solidFill>
                          <a:schemeClr val="dk1"/>
                        </a:solidFill>
                      </a:endParaRPr>
                    </a:p>
                    <a:p>
                      <a:pPr marL="0" marR="0" lvl="0" indent="0" algn="ctr" rtl="0">
                        <a:spcBef>
                          <a:spcPts val="0"/>
                        </a:spcBef>
                        <a:spcAft>
                          <a:spcPts val="0"/>
                        </a:spcAft>
                        <a:buClr>
                          <a:schemeClr val="dk1"/>
                        </a:buClr>
                        <a:buSzPts val="1050"/>
                        <a:buFont typeface="Calibri"/>
                        <a:buNone/>
                      </a:pPr>
                      <a:endParaRPr sz="1050"/>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3570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BHAWANI EQUIPMENTS</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0.02</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250"/>
                        <a:t>20.02.2026</a:t>
                      </a:r>
                      <a:endParaRPr sz="1250" b="0" i="0" u="none" strike="noStrike" cap="none">
                        <a:solidFill>
                          <a:srgbClr val="000000"/>
                        </a:solidFill>
                        <a:latin typeface="Arial"/>
                        <a:ea typeface="Arial"/>
                        <a:cs typeface="Arial"/>
                        <a:sym typeface="Arial"/>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150">
                          <a:solidFill>
                            <a:schemeClr val="dk1"/>
                          </a:solidFill>
                        </a:rPr>
                        <a:t>Contacted the taxpayer and he agreed to reverse the amount through drc 03</a:t>
                      </a:r>
                      <a:endParaRPr sz="1150">
                        <a:solidFill>
                          <a:schemeClr val="dk1"/>
                        </a:solidFill>
                      </a:endParaRPr>
                    </a:p>
                    <a:p>
                      <a:pPr marL="0" marR="0" lvl="0" indent="0" algn="ctr" rtl="0">
                        <a:spcBef>
                          <a:spcPts val="0"/>
                        </a:spcBef>
                        <a:spcAft>
                          <a:spcPts val="0"/>
                        </a:spcAft>
                        <a:buClr>
                          <a:schemeClr val="dk1"/>
                        </a:buClr>
                        <a:buSzPts val="1050"/>
                        <a:buFont typeface="Calibri"/>
                        <a:buNone/>
                      </a:pPr>
                      <a:endParaRPr sz="1050"/>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53570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SHREE RAM HARDWARE &amp; PLYWOOD</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0.02</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20.02.2026</a:t>
                      </a:r>
                      <a:endParaRPr sz="1050" b="0" i="0" u="none" strike="noStrike" cap="none">
                        <a:solidFill>
                          <a:srgbClr val="000000"/>
                        </a:solidFill>
                        <a:latin typeface="Arial"/>
                        <a:ea typeface="Arial"/>
                        <a:cs typeface="Arial"/>
                        <a:sym typeface="Arial"/>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150">
                          <a:solidFill>
                            <a:schemeClr val="dk1"/>
                          </a:solidFill>
                        </a:rPr>
                        <a:t>Contacted the taxpayer and he agreed to reverse the amount through drc 03</a:t>
                      </a:r>
                      <a:endParaRPr sz="1150">
                        <a:solidFill>
                          <a:schemeClr val="dk1"/>
                        </a:solidFill>
                      </a:endParaRPr>
                    </a:p>
                    <a:p>
                      <a:pPr marL="0" lvl="0" indent="0" algn="ctr" rtl="0">
                        <a:spcBef>
                          <a:spcPts val="0"/>
                        </a:spcBef>
                        <a:spcAft>
                          <a:spcPts val="0"/>
                        </a:spcAft>
                        <a:buClr>
                          <a:schemeClr val="dk1"/>
                        </a:buClr>
                        <a:buSzPts val="1050"/>
                        <a:buFont typeface="Calibri"/>
                        <a:buNone/>
                      </a:pPr>
                      <a:endParaRPr sz="1050"/>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53570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PARI ENTERPRISES</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0.01</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0</a:t>
                      </a:r>
                      <a:endParaRPr sz="1050" b="0" i="0" u="none" strike="noStrike" cap="none">
                        <a:solidFill>
                          <a:srgbClr val="000000"/>
                        </a:solidFill>
                        <a:latin typeface="Arial"/>
                        <a:ea typeface="Arial"/>
                        <a:cs typeface="Arial"/>
                        <a:sym typeface="Arial"/>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150"/>
                        <a:t>Center jurisdiction and Non-existing and cancelled ab-initio and no person available to contact </a:t>
                      </a:r>
                      <a:endParaRPr sz="1150" b="0" i="0" u="none" strike="noStrike" cap="none">
                        <a:solidFill>
                          <a:srgbClr val="000000"/>
                        </a:solidFill>
                        <a:latin typeface="Arial"/>
                        <a:ea typeface="Arial"/>
                        <a:cs typeface="Arial"/>
                        <a:sym typeface="Arial"/>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53570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RUDRAKSH DHANLAXMI MICRONS</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0.01</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20.02.2024</a:t>
                      </a:r>
                      <a:endParaRPr sz="1050" b="0" i="0" u="none" strike="noStrike" cap="none">
                        <a:solidFill>
                          <a:srgbClr val="000000"/>
                        </a:solidFill>
                        <a:latin typeface="Arial"/>
                        <a:ea typeface="Arial"/>
                        <a:cs typeface="Arial"/>
                        <a:sym typeface="Arial"/>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150">
                          <a:solidFill>
                            <a:schemeClr val="dk1"/>
                          </a:solidFill>
                        </a:rPr>
                        <a:t>Contacted the AR of the taxpayer  and he agreed to reverse the IGST amount through DRC 03</a:t>
                      </a:r>
                      <a:endParaRPr sz="1150">
                        <a:solidFill>
                          <a:schemeClr val="dk1"/>
                        </a:solidFill>
                      </a:endParaRPr>
                    </a:p>
                    <a:p>
                      <a:pPr marL="0" marR="0" lvl="0" indent="0" algn="ctr" rtl="0">
                        <a:spcBef>
                          <a:spcPts val="0"/>
                        </a:spcBef>
                        <a:spcAft>
                          <a:spcPts val="0"/>
                        </a:spcAft>
                        <a:buClr>
                          <a:schemeClr val="dk1"/>
                        </a:buClr>
                        <a:buSzPts val="1050"/>
                        <a:buFont typeface="Calibri"/>
                        <a:buNone/>
                      </a:pPr>
                      <a:endParaRPr sz="1050"/>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53570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SHREENATHJI DISTRIBUTERS</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0.01</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250"/>
                        <a:t>18.02.2026 </a:t>
                      </a:r>
                      <a:endParaRPr sz="1250" b="0" i="0" u="none" strike="noStrike" cap="none">
                        <a:solidFill>
                          <a:srgbClr val="000000"/>
                        </a:solidFill>
                        <a:latin typeface="Arial"/>
                        <a:ea typeface="Arial"/>
                        <a:cs typeface="Arial"/>
                        <a:sym typeface="Arial"/>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150"/>
                        <a:t>Contacted the AR of the taxpayer  and he agreed to reverse the IGST amount through DRC 03</a:t>
                      </a:r>
                      <a:endParaRPr sz="1150" b="0" i="0" u="none" strike="noStrike" cap="none">
                        <a:solidFill>
                          <a:srgbClr val="000000"/>
                        </a:solidFill>
                        <a:latin typeface="Arial"/>
                        <a:ea typeface="Arial"/>
                        <a:cs typeface="Arial"/>
                        <a:sym typeface="Arial"/>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53570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GUNJAN JAPANI SHEET MANUFACTURE</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0.01</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50"/>
                        <a:buFont typeface="Calibri"/>
                        <a:buNone/>
                      </a:pPr>
                      <a:r>
                        <a:rPr lang="en-IN" sz="1050"/>
                        <a:t>20.02.2026</a:t>
                      </a:r>
                      <a:endParaRPr sz="1050" b="0" i="0" u="none" strike="noStrike" cap="none">
                        <a:solidFill>
                          <a:srgbClr val="000000"/>
                        </a:solidFill>
                        <a:latin typeface="Arial"/>
                        <a:ea typeface="Arial"/>
                        <a:cs typeface="Arial"/>
                        <a:sym typeface="Arial"/>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50"/>
                        <a:buFont typeface="Calibri"/>
                        <a:buNone/>
                      </a:pPr>
                      <a:r>
                        <a:rPr lang="en-IN" sz="1150">
                          <a:solidFill>
                            <a:schemeClr val="dk1"/>
                          </a:solidFill>
                        </a:rPr>
                        <a:t>Contacted the taxpayer and he agreed to reverse the amount through drc 03</a:t>
                      </a:r>
                      <a:endParaRPr sz="1150">
                        <a:solidFill>
                          <a:schemeClr val="dk1"/>
                        </a:solidFill>
                      </a:endParaRPr>
                    </a:p>
                    <a:p>
                      <a:pPr marL="0" marR="0" lvl="0" indent="0" algn="ctr" rtl="0">
                        <a:spcBef>
                          <a:spcPts val="0"/>
                        </a:spcBef>
                        <a:spcAft>
                          <a:spcPts val="0"/>
                        </a:spcAft>
                        <a:buClr>
                          <a:schemeClr val="dk1"/>
                        </a:buClr>
                        <a:buSzPts val="1050"/>
                        <a:buFont typeface="Calibri"/>
                        <a:buNone/>
                      </a:pPr>
                      <a:endParaRPr sz="1050"/>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15125">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Total</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15.75</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 </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600"/>
                        <a:buFont typeface="Arial"/>
                        <a:buNone/>
                      </a:pPr>
                      <a:r>
                        <a:rPr lang="en-IN" sz="600" b="1" i="0" u="none" strike="noStrike" cap="none">
                          <a:solidFill>
                            <a:srgbClr val="FFFFFF"/>
                          </a:solidFill>
                          <a:latin typeface="Arial"/>
                          <a:ea typeface="Arial"/>
                          <a:cs typeface="Arial"/>
                          <a:sym typeface="Arial"/>
                        </a:rPr>
                        <a:t> </a:t>
                      </a:r>
                      <a:endParaRPr/>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600"/>
                        <a:buFont typeface="Arial"/>
                        <a:buNone/>
                      </a:pPr>
                      <a:r>
                        <a:rPr lang="en-IN" sz="600" b="1" i="0" u="none" strike="noStrike" cap="none" dirty="0">
                          <a:solidFill>
                            <a:srgbClr val="FFFFFF"/>
                          </a:solidFill>
                          <a:latin typeface="Arial"/>
                          <a:ea typeface="Arial"/>
                          <a:cs typeface="Arial"/>
                          <a:sym typeface="Arial"/>
                        </a:rPr>
                        <a:t> </a:t>
                      </a:r>
                      <a:endParaRPr dirty="0"/>
                    </a:p>
                  </a:txBody>
                  <a:tcPr marL="3625" marR="3625" marT="36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66"/>
          <p:cNvSpPr txBox="1"/>
          <p:nvPr/>
        </p:nvSpPr>
        <p:spPr>
          <a:xfrm>
            <a:off x="466350" y="130222"/>
            <a:ext cx="11259300" cy="174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Circle-Balotara Jodhpur II - IGST</a:t>
            </a:r>
            <a:endParaRPr sz="2000" b="1" i="0" u="none" strike="noStrike" cap="none">
              <a:solidFill>
                <a:srgbClr val="000000"/>
              </a:solidFill>
              <a:latin typeface="Verdana"/>
              <a:ea typeface="Verdana"/>
              <a:cs typeface="Verdana"/>
              <a:sym typeface="Verdana"/>
            </a:endParaRPr>
          </a:p>
        </p:txBody>
      </p:sp>
      <p:sp>
        <p:nvSpPr>
          <p:cNvPr id="580" name="Google Shape;580;p66"/>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581" name="Google Shape;581;p66"/>
          <p:cNvGraphicFramePr/>
          <p:nvPr/>
        </p:nvGraphicFramePr>
        <p:xfrm>
          <a:off x="13" y="33867"/>
          <a:ext cx="12131675" cy="6857975"/>
        </p:xfrm>
        <a:graphic>
          <a:graphicData uri="http://schemas.openxmlformats.org/drawingml/2006/table">
            <a:tbl>
              <a:tblPr>
                <a:noFill/>
                <a:tableStyleId>{ED13AFB8-4CE9-44F5-8004-2B2D446919A9}</a:tableStyleId>
              </a:tblPr>
              <a:tblGrid>
                <a:gridCol w="2360025">
                  <a:extLst>
                    <a:ext uri="{9D8B030D-6E8A-4147-A177-3AD203B41FA5}">
                      <a16:colId xmlns:a16="http://schemas.microsoft.com/office/drawing/2014/main" val="20000"/>
                    </a:ext>
                  </a:extLst>
                </a:gridCol>
                <a:gridCol w="1224300">
                  <a:extLst>
                    <a:ext uri="{9D8B030D-6E8A-4147-A177-3AD203B41FA5}">
                      <a16:colId xmlns:a16="http://schemas.microsoft.com/office/drawing/2014/main" val="20001"/>
                    </a:ext>
                  </a:extLst>
                </a:gridCol>
                <a:gridCol w="2035550">
                  <a:extLst>
                    <a:ext uri="{9D8B030D-6E8A-4147-A177-3AD203B41FA5}">
                      <a16:colId xmlns:a16="http://schemas.microsoft.com/office/drawing/2014/main" val="20002"/>
                    </a:ext>
                  </a:extLst>
                </a:gridCol>
                <a:gridCol w="1086550">
                  <a:extLst>
                    <a:ext uri="{9D8B030D-6E8A-4147-A177-3AD203B41FA5}">
                      <a16:colId xmlns:a16="http://schemas.microsoft.com/office/drawing/2014/main" val="20003"/>
                    </a:ext>
                  </a:extLst>
                </a:gridCol>
                <a:gridCol w="5425250">
                  <a:extLst>
                    <a:ext uri="{9D8B030D-6E8A-4147-A177-3AD203B41FA5}">
                      <a16:colId xmlns:a16="http://schemas.microsoft.com/office/drawing/2014/main" val="20004"/>
                    </a:ext>
                  </a:extLst>
                </a:gridCol>
              </a:tblGrid>
              <a:tr h="550125">
                <a:tc>
                  <a:txBody>
                    <a:bodyPr/>
                    <a:lstStyle/>
                    <a:p>
                      <a:pPr marL="0" marR="0" lvl="0" indent="0" algn="ctr" rtl="0">
                        <a:spcBef>
                          <a:spcPts val="0"/>
                        </a:spcBef>
                        <a:spcAft>
                          <a:spcPts val="0"/>
                        </a:spcAft>
                        <a:buClr>
                          <a:srgbClr val="FFFFFF"/>
                        </a:buClr>
                        <a:buSzPts val="900"/>
                        <a:buFont typeface="Arial"/>
                        <a:buNone/>
                      </a:pPr>
                      <a:r>
                        <a:rPr lang="en-IN" sz="900" b="1" i="0" u="none" strike="noStrike" cap="none">
                          <a:solidFill>
                            <a:srgbClr val="FFFFFF"/>
                          </a:solidFill>
                          <a:latin typeface="Arial"/>
                          <a:ea typeface="Arial"/>
                          <a:cs typeface="Arial"/>
                          <a:sym typeface="Arial"/>
                        </a:rPr>
                        <a:t>Firm Name</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900"/>
                        <a:buFont typeface="Arial"/>
                        <a:buNone/>
                      </a:pPr>
                      <a:r>
                        <a:rPr lang="en-IN" sz="900" b="1" i="0" u="none" strike="noStrike" cap="none">
                          <a:solidFill>
                            <a:srgbClr val="FFFFFF"/>
                          </a:solidFill>
                          <a:latin typeface="Arial"/>
                          <a:ea typeface="Arial"/>
                          <a:cs typeface="Arial"/>
                          <a:sym typeface="Arial"/>
                        </a:rPr>
                        <a:t> Remaining Amount </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900"/>
                        <a:buFont typeface="Arial"/>
                        <a:buNone/>
                      </a:pPr>
                      <a:r>
                        <a:rPr lang="en-IN" sz="900" b="1" i="0" u="none" strike="noStrike" cap="none">
                          <a:solidFill>
                            <a:srgbClr val="FFFFFF"/>
                          </a:solidFill>
                          <a:latin typeface="Arial"/>
                          <a:ea typeface="Arial"/>
                          <a:cs typeface="Arial"/>
                          <a:sym typeface="Arial"/>
                        </a:rPr>
                        <a:t>List Name</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Expected Date of reversal/ Utilization</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6888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ACME SOLAR HOLDINGS LIMITED</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9.88</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I6 C_High Reclaim Ledger</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Upto mar-2026</a:t>
                      </a:r>
                      <a:endParaRPr sz="100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Taxpayer deals in supply of solar pv modules, inventors, batteries and importing goods from outside india there by acquired more IGST ITC. there is no permanent reversal potential. Due to less supply in Jan-2026 ITC is not utilizing. Taxpayer said that some power plant project are under process of renewal so we will utilize credit in coming months.</a:t>
                      </a:r>
                      <a:endParaRPr sz="100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64500">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Shreeji chemicals</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0.54</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No Potential</a:t>
                      </a:r>
                      <a:endParaRPr sz="100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Taxpayer is in center jurisdiction. PV inquiry conducted by state authority and firm found non existing so letter sent to center authority to cancel the registration and cancelled wef 27-09-2023. No actual IGST Credit accumulated in GSTR-2B only claimed in GSTR-3B so no potential of IGST credit reversal.</a:t>
                      </a:r>
                      <a:endParaRPr sz="100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2962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M/S KUMARAN TRADERS</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0.49</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a:solidFill>
                            <a:schemeClr val="dk1"/>
                          </a:solidFill>
                        </a:rPr>
                        <a:t>No Potential</a:t>
                      </a:r>
                      <a:endParaRPr sz="1000">
                        <a:solidFill>
                          <a:schemeClr val="dk1"/>
                        </a:solidFill>
                      </a:endParaRPr>
                    </a:p>
                    <a:p>
                      <a:pPr marL="0" marR="0" lvl="0" indent="0" algn="ctr" rtl="0">
                        <a:spcBef>
                          <a:spcPts val="0"/>
                        </a:spcBef>
                        <a:spcAft>
                          <a:spcPts val="0"/>
                        </a:spcAft>
                        <a:buClr>
                          <a:schemeClr val="dk1"/>
                        </a:buClr>
                        <a:buSzPts val="1000"/>
                        <a:buFont typeface="Calibri"/>
                        <a:buNone/>
                      </a:pPr>
                      <a:endParaRPr sz="1000"/>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a:solidFill>
                            <a:schemeClr val="dk1"/>
                          </a:solidFill>
                        </a:rPr>
                        <a:t>Taxpayer is in center jurisdiction. PV inquiry conducted by state authority and firm found non existing so letter sent to center authority to cancel the registration and cancelled wef 13-01-2023. Only paper transaction was done to pass on the credit and supplier firm M/s Laxmi enterprises (TELGANA) was also cancelled suo moto .so no potential of IGST credit reversal.</a:t>
                      </a:r>
                      <a:endParaRPr sz="1000"/>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31050">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BRIDGE &amp; ROOF COMPANY INDIA LTD</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0.41</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I16 Taxpayers with high ITC in 2B but claimed less in 3B (1) 1</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No potential</a:t>
                      </a:r>
                      <a:endParaRPr sz="100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Taxable supply in HRRL Refinery so no potential of reversal. Taxpayer CA replied that unclaimed ITC of 2024-25 will be utilized in 2025-26 as declared in GSTR-9 of 2024-25.</a:t>
                      </a:r>
                      <a:endParaRPr sz="100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993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KRISHNA PROCESS</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0.23</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27-02-2026</a:t>
                      </a:r>
                      <a:endParaRPr sz="100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Contacted to AR of firm and he replied that Proprietor of firm is no more. He said that i will try to contract family members to get user id and password to reversal the credit.</a:t>
                      </a:r>
                      <a:endParaRPr sz="100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82962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M/S ANJANEYA GRANITE</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0.19</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No potential</a:t>
                      </a:r>
                      <a:endParaRPr sz="100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a:solidFill>
                            <a:schemeClr val="dk1"/>
                          </a:solidFill>
                        </a:rPr>
                        <a:t>Taxpayer is in center jurisdiction. PV inquiry conducted by state authority and firm found non existing so letter sent to center authority to cancel the registration and cancelled wef 27-09-2023. Only paper transaction was done to pass on the credit and supplier firm M/s Durga enterprises (TELGANA) was also cancelled ab-initio .so no potential of IGST credit reversal.</a:t>
                      </a:r>
                      <a:endParaRPr sz="1000"/>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993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M/S VANDNA ENTERPRISES</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0.15</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No potential</a:t>
                      </a:r>
                      <a:endParaRPr sz="100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a:solidFill>
                            <a:schemeClr val="dk1"/>
                          </a:solidFill>
                        </a:rPr>
                        <a:t>Taxpayer is cancelled suo moto by center authority and pv conducted by state authority  as found non existing. Only paper transaction made to pass on credit no actual supply of goods. Supplier firm is  cancelled ab initio.So no potential of reversal. </a:t>
                      </a:r>
                      <a:endParaRPr sz="1000"/>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993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SANGEETA INDUSTRIES</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0.10</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No potential</a:t>
                      </a:r>
                      <a:endParaRPr sz="100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a:solidFill>
                            <a:schemeClr val="dk1"/>
                          </a:solidFill>
                        </a:rPr>
                        <a:t>Taxpayer is cancelled suo moto by center authority and pv conducted by state authority  as found non existing. Only paper transaction made to pass on credit no actual supply of goods. Supplier firm is  cancelled ab initio.So no potential of reversal. </a:t>
                      </a:r>
                      <a:endParaRPr sz="100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99375">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M/S. MATAJI ENTERPRISES</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0.09</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No potential</a:t>
                      </a:r>
                      <a:endParaRPr sz="100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Taxpayer is cancelled ab-initio as found non existing. Only paper transaction made to pass on credit no actual supply of goods. So no potential of reversal. Letter sent to all the proper officers of benificies.</a:t>
                      </a:r>
                      <a:endParaRPr sz="100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664500">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OM ENTERPRISES</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0.09</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b="0" i="0" u="none" strike="noStrike" cap="none">
                          <a:solidFill>
                            <a:srgbClr val="000000"/>
                          </a:solidFill>
                          <a:latin typeface="Arial"/>
                          <a:ea typeface="Arial"/>
                          <a:cs typeface="Arial"/>
                          <a:sym typeface="Arial"/>
                        </a:rPr>
                        <a:t>I17_Suo Moto Cancelled Taxpayers having IGST Ledger Balance</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No potential</a:t>
                      </a:r>
                      <a:endParaRPr sz="1000" b="0" i="0" u="none" strike="noStrike" cap="none">
                        <a:solidFill>
                          <a:srgbClr val="000000"/>
                        </a:solidFill>
                        <a:latin typeface="Arial"/>
                        <a:ea typeface="Arial"/>
                        <a:cs typeface="Arial"/>
                        <a:sym typeface="Arial"/>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a:solidFill>
                            <a:schemeClr val="dk1"/>
                          </a:solidFill>
                        </a:rPr>
                        <a:t>Taxpayer is cancelled ab-initio as found non existing. Only paper transaction made to pass on credit no actual supply of goods. So no potential of reversal. Letter sent to all the proper officers of benificies.</a:t>
                      </a:r>
                      <a:endParaRPr sz="1000">
                        <a:solidFill>
                          <a:schemeClr val="dk1"/>
                        </a:solidFill>
                      </a:endParaRPr>
                    </a:p>
                    <a:p>
                      <a:pPr marL="0" marR="0" lvl="0" indent="0" algn="ctr" rtl="0">
                        <a:spcBef>
                          <a:spcPts val="0"/>
                        </a:spcBef>
                        <a:spcAft>
                          <a:spcPts val="0"/>
                        </a:spcAft>
                        <a:buClr>
                          <a:schemeClr val="dk1"/>
                        </a:buClr>
                        <a:buSzPts val="1000"/>
                        <a:buFont typeface="Calibri"/>
                        <a:buNone/>
                      </a:pPr>
                      <a:endParaRPr sz="1000"/>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02175">
                <a:tc>
                  <a:txBody>
                    <a:bodyPr/>
                    <a:lstStyle/>
                    <a:p>
                      <a:pPr marL="0" marR="0" lvl="0" indent="0" algn="ctr" rtl="0">
                        <a:spcBef>
                          <a:spcPts val="0"/>
                        </a:spcBef>
                        <a:spcAft>
                          <a:spcPts val="0"/>
                        </a:spcAft>
                        <a:buClr>
                          <a:srgbClr val="FFFFFF"/>
                        </a:buClr>
                        <a:buSzPts val="1200"/>
                        <a:buFont typeface="Arial"/>
                        <a:buNone/>
                      </a:pPr>
                      <a:r>
                        <a:rPr lang="en-IN" sz="1200" b="1" i="0" u="none" strike="noStrike" cap="none">
                          <a:solidFill>
                            <a:srgbClr val="FFFFFF"/>
                          </a:solidFill>
                          <a:latin typeface="Arial"/>
                          <a:ea typeface="Arial"/>
                          <a:cs typeface="Arial"/>
                          <a:sym typeface="Arial"/>
                        </a:rPr>
                        <a:t>Total</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200"/>
                        <a:buFont typeface="Arial"/>
                        <a:buNone/>
                      </a:pPr>
                      <a:r>
                        <a:rPr lang="en-IN" sz="1200" b="1" i="0" u="none" strike="noStrike" cap="none">
                          <a:solidFill>
                            <a:srgbClr val="FFFFFF"/>
                          </a:solidFill>
                          <a:latin typeface="Arial"/>
                          <a:ea typeface="Arial"/>
                          <a:cs typeface="Arial"/>
                          <a:sym typeface="Arial"/>
                        </a:rPr>
                        <a:t>12.17</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600"/>
                        <a:buFont typeface="Arial"/>
                        <a:buNone/>
                      </a:pPr>
                      <a:r>
                        <a:rPr lang="en-IN" sz="600" b="1" i="0" u="none" strike="noStrike" cap="none">
                          <a:solidFill>
                            <a:srgbClr val="FFFFFF"/>
                          </a:solidFill>
                          <a:latin typeface="Arial"/>
                          <a:ea typeface="Arial"/>
                          <a:cs typeface="Arial"/>
                          <a:sym typeface="Arial"/>
                        </a:rPr>
                        <a:t> </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600"/>
                        <a:buFont typeface="Arial"/>
                        <a:buNone/>
                      </a:pPr>
                      <a:r>
                        <a:rPr lang="en-IN" sz="600" b="1" i="0" u="none" strike="noStrike" cap="none">
                          <a:solidFill>
                            <a:srgbClr val="FFFFFF"/>
                          </a:solidFill>
                          <a:latin typeface="Arial"/>
                          <a:ea typeface="Arial"/>
                          <a:cs typeface="Arial"/>
                          <a:sym typeface="Arial"/>
                        </a:rPr>
                        <a:t> </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600"/>
                        <a:buFont typeface="Arial"/>
                        <a:buNone/>
                      </a:pPr>
                      <a:r>
                        <a:rPr lang="en-IN" sz="600" b="1" i="0" u="none" strike="noStrike" cap="none">
                          <a:solidFill>
                            <a:srgbClr val="FFFFFF"/>
                          </a:solidFill>
                          <a:latin typeface="Arial"/>
                          <a:ea typeface="Arial"/>
                          <a:cs typeface="Arial"/>
                          <a:sym typeface="Arial"/>
                        </a:rPr>
                        <a:t> </a:t>
                      </a:r>
                      <a:endParaRPr/>
                    </a:p>
                  </a:txBody>
                  <a:tcPr marL="3725" marR="3725" marT="37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67"/>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Circle-A, Beawar - IGST</a:t>
            </a:r>
            <a:endParaRPr sz="2000" b="1" i="0" u="none" strike="noStrike" cap="none">
              <a:solidFill>
                <a:srgbClr val="000000"/>
              </a:solidFill>
              <a:latin typeface="Verdana"/>
              <a:ea typeface="Verdana"/>
              <a:cs typeface="Verdana"/>
              <a:sym typeface="Verdana"/>
            </a:endParaRPr>
          </a:p>
        </p:txBody>
      </p:sp>
      <p:sp>
        <p:nvSpPr>
          <p:cNvPr id="588" name="Google Shape;588;p67"/>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589" name="Google Shape;589;p67"/>
          <p:cNvGraphicFramePr/>
          <p:nvPr/>
        </p:nvGraphicFramePr>
        <p:xfrm>
          <a:off x="385590" y="639137"/>
          <a:ext cx="11421625" cy="5915360"/>
        </p:xfrm>
        <a:graphic>
          <a:graphicData uri="http://schemas.openxmlformats.org/drawingml/2006/table">
            <a:tbl>
              <a:tblPr>
                <a:noFill/>
                <a:tableStyleId>{ED13AFB8-4CE9-44F5-8004-2B2D446919A9}</a:tableStyleId>
              </a:tblPr>
              <a:tblGrid>
                <a:gridCol w="2310825">
                  <a:extLst>
                    <a:ext uri="{9D8B030D-6E8A-4147-A177-3AD203B41FA5}">
                      <a16:colId xmlns:a16="http://schemas.microsoft.com/office/drawing/2014/main" val="20000"/>
                    </a:ext>
                  </a:extLst>
                </a:gridCol>
                <a:gridCol w="897825">
                  <a:extLst>
                    <a:ext uri="{9D8B030D-6E8A-4147-A177-3AD203B41FA5}">
                      <a16:colId xmlns:a16="http://schemas.microsoft.com/office/drawing/2014/main" val="20001"/>
                    </a:ext>
                  </a:extLst>
                </a:gridCol>
                <a:gridCol w="2488425">
                  <a:extLst>
                    <a:ext uri="{9D8B030D-6E8A-4147-A177-3AD203B41FA5}">
                      <a16:colId xmlns:a16="http://schemas.microsoft.com/office/drawing/2014/main" val="20002"/>
                    </a:ext>
                  </a:extLst>
                </a:gridCol>
                <a:gridCol w="1485900">
                  <a:extLst>
                    <a:ext uri="{9D8B030D-6E8A-4147-A177-3AD203B41FA5}">
                      <a16:colId xmlns:a16="http://schemas.microsoft.com/office/drawing/2014/main" val="20003"/>
                    </a:ext>
                  </a:extLst>
                </a:gridCol>
                <a:gridCol w="4238650">
                  <a:extLst>
                    <a:ext uri="{9D8B030D-6E8A-4147-A177-3AD203B41FA5}">
                      <a16:colId xmlns:a16="http://schemas.microsoft.com/office/drawing/2014/main" val="20004"/>
                    </a:ext>
                  </a:extLst>
                </a:gridCol>
              </a:tblGrid>
              <a:tr h="384750">
                <a:tc>
                  <a:txBody>
                    <a:bodyPr/>
                    <a:lstStyle/>
                    <a:p>
                      <a:pPr marL="0" marR="0" lvl="0" indent="0" algn="ctr" rtl="0">
                        <a:spcBef>
                          <a:spcPts val="0"/>
                        </a:spcBef>
                        <a:spcAft>
                          <a:spcPts val="0"/>
                        </a:spcAft>
                        <a:buClr>
                          <a:srgbClr val="FFFFFF"/>
                        </a:buClr>
                        <a:buSzPts val="1050"/>
                        <a:buFont typeface="Arial"/>
                        <a:buNone/>
                      </a:pPr>
                      <a:r>
                        <a:rPr lang="en-IN" sz="1050" b="1" i="0" u="none" strike="noStrike" cap="none">
                          <a:solidFill>
                            <a:srgbClr val="FFFFFF"/>
                          </a:solidFill>
                          <a:latin typeface="Arial"/>
                          <a:ea typeface="Arial"/>
                          <a:cs typeface="Arial"/>
                          <a:sym typeface="Arial"/>
                        </a:rPr>
                        <a:t>Firm Name</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50"/>
                        <a:buFont typeface="Arial"/>
                        <a:buNone/>
                      </a:pPr>
                      <a:r>
                        <a:rPr lang="en-IN" sz="1050" b="1" i="0" u="none" strike="noStrike" cap="none">
                          <a:solidFill>
                            <a:srgbClr val="FFFFFF"/>
                          </a:solidFill>
                          <a:latin typeface="Arial"/>
                          <a:ea typeface="Arial"/>
                          <a:cs typeface="Arial"/>
                          <a:sym typeface="Arial"/>
                        </a:rPr>
                        <a:t> Remaining Amount </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50"/>
                        <a:buFont typeface="Arial"/>
                        <a:buNone/>
                      </a:pPr>
                      <a:r>
                        <a:rPr lang="en-IN" sz="1050" b="1" i="0" u="none" strike="noStrike" cap="none">
                          <a:solidFill>
                            <a:srgbClr val="FFFFFF"/>
                          </a:solidFill>
                          <a:latin typeface="Arial"/>
                          <a:ea typeface="Arial"/>
                          <a:cs typeface="Arial"/>
                          <a:sym typeface="Arial"/>
                        </a:rPr>
                        <a:t>List Name</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Expected Date of reversal/ Utilization</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590250">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AMBUJA CEMENTS LIMITED</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14.56</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I16 Taxpayers with high ITC in 2B but claimed less in 3B (1) 1</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200"/>
                        <a:buFont typeface="Calibri"/>
                        <a:buNone/>
                      </a:pPr>
                      <a:r>
                        <a:rPr lang="en-IN" sz="1200"/>
                        <a:t>-</a:t>
                      </a:r>
                      <a:endParaRPr sz="1200" b="0" i="0" u="none" strike="noStrike" cap="none">
                        <a:solidFill>
                          <a:srgbClr val="000000"/>
                        </a:solidFill>
                        <a:latin typeface="Arial"/>
                        <a:ea typeface="Arial"/>
                        <a:cs typeface="Arial"/>
                        <a:sym typeface="Arial"/>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200"/>
                        <a:buFont typeface="Calibri"/>
                        <a:buNone/>
                      </a:pPr>
                      <a:r>
                        <a:rPr lang="en-IN" sz="1200"/>
                        <a:t>Ambuja Cement in Month Nov 2025 IGST Set off Rs. 2.64 Cr. and Due Amt. 11.91 Cr. Intimated to Taxpayer for Reversal.</a:t>
                      </a:r>
                      <a:endParaRPr sz="1200" b="0" i="0" u="none" strike="noStrike" cap="none">
                        <a:solidFill>
                          <a:srgbClr val="000000"/>
                        </a:solidFill>
                        <a:latin typeface="Arial"/>
                        <a:ea typeface="Arial"/>
                        <a:cs typeface="Arial"/>
                        <a:sym typeface="Arial"/>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90250">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GURU UDYOG</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0.04</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I17_Suo Moto Cancelled Taxpayers having IGST Ledger Balance</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200"/>
                        <a:buFont typeface="Calibri"/>
                        <a:buNone/>
                      </a:pPr>
                      <a:r>
                        <a:rPr lang="en-IN" sz="1200" dirty="0"/>
                        <a:t>20-02-2026</a:t>
                      </a:r>
                      <a:endParaRPr sz="1200" b="0" i="0" u="none" strike="noStrike" cap="none" dirty="0">
                        <a:solidFill>
                          <a:srgbClr val="000000"/>
                        </a:solidFill>
                        <a:latin typeface="Arial"/>
                        <a:ea typeface="Arial"/>
                        <a:cs typeface="Arial"/>
                        <a:sym typeface="Arial"/>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200"/>
                        <a:buFont typeface="Calibri"/>
                        <a:buNone/>
                      </a:pPr>
                      <a:r>
                        <a:rPr lang="en-IN" sz="1200" dirty="0"/>
                        <a:t>Will reverse within 2 days</a:t>
                      </a:r>
                      <a:endParaRPr sz="1200" b="0" i="0" u="none" strike="noStrike" cap="none" dirty="0">
                        <a:solidFill>
                          <a:srgbClr val="000000"/>
                        </a:solidFill>
                        <a:latin typeface="Arial"/>
                        <a:ea typeface="Arial"/>
                        <a:cs typeface="Arial"/>
                        <a:sym typeface="Arial"/>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90250">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HITEN MINES AND MINING</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0.04</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I17_Suo Moto Cancelled Taxpayers having IGST Ledger Balance</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200"/>
                        <a:buFont typeface="Calibri"/>
                        <a:buNone/>
                      </a:pPr>
                      <a:r>
                        <a:rPr lang="en-IN" sz="1200"/>
                        <a:t>20-02-2026</a:t>
                      </a:r>
                      <a:endParaRPr sz="1200" b="0" i="0" u="none" strike="noStrike" cap="none">
                        <a:solidFill>
                          <a:srgbClr val="000000"/>
                        </a:solidFill>
                        <a:latin typeface="Arial"/>
                        <a:ea typeface="Arial"/>
                        <a:cs typeface="Arial"/>
                        <a:sym typeface="Arial"/>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200"/>
                        <a:buFont typeface="Calibri"/>
                        <a:buNone/>
                      </a:pPr>
                      <a:r>
                        <a:rPr lang="en-IN" sz="1200" dirty="0">
                          <a:solidFill>
                            <a:schemeClr val="dk1"/>
                          </a:solidFill>
                        </a:rPr>
                        <a:t>Taxpayer related to central jurisdiction contacted and informed to them for reversal </a:t>
                      </a:r>
                      <a:endParaRPr sz="1200" dirty="0"/>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90250">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JAWED CONSTRUCTION CO.</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0.03</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I17_Suo Moto Cancelled Taxpayers having IGST Ledger Balance</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200"/>
                        <a:buFont typeface="Calibri"/>
                        <a:buNone/>
                      </a:pPr>
                      <a:r>
                        <a:rPr lang="en-IN" sz="1200"/>
                        <a:t>14-02-2026 </a:t>
                      </a:r>
                      <a:endParaRPr sz="1200" b="0" i="0" u="none" strike="noStrike" cap="none">
                        <a:solidFill>
                          <a:srgbClr val="000000"/>
                        </a:solidFill>
                        <a:latin typeface="Arial"/>
                        <a:ea typeface="Arial"/>
                        <a:cs typeface="Arial"/>
                        <a:sym typeface="Arial"/>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200"/>
                        <a:buFont typeface="Calibri"/>
                        <a:buNone/>
                      </a:pPr>
                      <a:r>
                        <a:rPr lang="en-IN" sz="1200"/>
                        <a:t>Taxpayer reversed the whole amount by drc 03 on 14-02-2026</a:t>
                      </a:r>
                      <a:endParaRPr sz="1200"/>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90250">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SHREE ENTERPRISES</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0.03</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I17_Suo Moto Cancelled Taxpayers having IGST Ledger Balance</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200"/>
                        <a:buFont typeface="Calibri"/>
                        <a:buNone/>
                      </a:pPr>
                      <a:r>
                        <a:rPr lang="en-IN" sz="1200"/>
                        <a:t>20-02-2026</a:t>
                      </a:r>
                      <a:endParaRPr sz="1200" b="0" i="0" u="none" strike="noStrike" cap="none">
                        <a:solidFill>
                          <a:srgbClr val="000000"/>
                        </a:solidFill>
                        <a:latin typeface="Arial"/>
                        <a:ea typeface="Arial"/>
                        <a:cs typeface="Arial"/>
                        <a:sym typeface="Arial"/>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200"/>
                        <a:buFont typeface="Calibri"/>
                        <a:buNone/>
                      </a:pPr>
                      <a:r>
                        <a:rPr lang="en-IN" sz="1200">
                          <a:solidFill>
                            <a:schemeClr val="dk1"/>
                          </a:solidFill>
                        </a:rPr>
                        <a:t>Will reverse within 2 days</a:t>
                      </a:r>
                      <a:endParaRPr sz="1200"/>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590250">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JYOTI ELECTRONICS</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0.03</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I17_Suo Moto Cancelled Taxpayers having IGST Ledger Balance</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200"/>
                        <a:buFont typeface="Calibri"/>
                        <a:buNone/>
                      </a:pPr>
                      <a:r>
                        <a:rPr lang="en-IN" sz="1200">
                          <a:solidFill>
                            <a:schemeClr val="dk1"/>
                          </a:solidFill>
                        </a:rPr>
                        <a:t>14-02-2026 </a:t>
                      </a:r>
                      <a:endParaRPr sz="1200">
                        <a:solidFill>
                          <a:schemeClr val="dk1"/>
                        </a:solidFill>
                      </a:endParaRPr>
                    </a:p>
                    <a:p>
                      <a:pPr marL="0" marR="0" lvl="0" indent="0" algn="ctr" rtl="0">
                        <a:spcBef>
                          <a:spcPts val="0"/>
                        </a:spcBef>
                        <a:spcAft>
                          <a:spcPts val="0"/>
                        </a:spcAft>
                        <a:buClr>
                          <a:schemeClr val="dk1"/>
                        </a:buClr>
                        <a:buSzPts val="1200"/>
                        <a:buFont typeface="Calibri"/>
                        <a:buNone/>
                      </a:pPr>
                      <a:endParaRPr sz="1200"/>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200"/>
                        <a:buFont typeface="Calibri"/>
                        <a:buNone/>
                      </a:pPr>
                      <a:r>
                        <a:rPr lang="en-IN" sz="1200">
                          <a:solidFill>
                            <a:schemeClr val="dk1"/>
                          </a:solidFill>
                        </a:rPr>
                        <a:t>Taxpayer reversed the whole amount by drc 03 on 14-02-2026</a:t>
                      </a:r>
                      <a:endParaRPr sz="1200"/>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590250">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GIRIRAJ ROAD LINES</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0.02</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I17_Suo Moto Cancelled Taxpayers having IGST Ledger Balance</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200"/>
                        <a:buFont typeface="Calibri"/>
                        <a:buNone/>
                      </a:pPr>
                      <a:r>
                        <a:rPr lang="en-IN" sz="1200"/>
                        <a:t>18-02-2026</a:t>
                      </a:r>
                      <a:endParaRPr sz="1200" b="0" i="0" u="none" strike="noStrike" cap="none">
                        <a:solidFill>
                          <a:srgbClr val="000000"/>
                        </a:solidFill>
                        <a:latin typeface="Arial"/>
                        <a:ea typeface="Arial"/>
                        <a:cs typeface="Arial"/>
                        <a:sym typeface="Arial"/>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200"/>
                        <a:buFont typeface="Calibri"/>
                        <a:buNone/>
                      </a:pPr>
                      <a:r>
                        <a:rPr lang="en-IN" sz="1200">
                          <a:solidFill>
                            <a:schemeClr val="dk1"/>
                          </a:solidFill>
                        </a:rPr>
                        <a:t>Will reverse within 1 days</a:t>
                      </a:r>
                      <a:endParaRPr sz="1200"/>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590250">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BHARDWAJ CONSTRUCTION AND ENGINEERS</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0.01</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I17_Suo Moto Cancelled Taxpayers having IGST Ledger Balance</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200"/>
                        <a:buFont typeface="Calibri"/>
                        <a:buNone/>
                      </a:pPr>
                      <a:r>
                        <a:rPr lang="en-IN" sz="1200"/>
                        <a:t>18-02-2026</a:t>
                      </a:r>
                      <a:endParaRPr sz="1200" b="0" i="0" u="none" strike="noStrike" cap="none">
                        <a:solidFill>
                          <a:srgbClr val="000000"/>
                        </a:solidFill>
                        <a:latin typeface="Arial"/>
                        <a:ea typeface="Arial"/>
                        <a:cs typeface="Arial"/>
                        <a:sym typeface="Arial"/>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200"/>
                        <a:buFont typeface="Calibri"/>
                        <a:buNone/>
                      </a:pPr>
                      <a:r>
                        <a:rPr lang="en-IN" sz="1200">
                          <a:solidFill>
                            <a:schemeClr val="dk1"/>
                          </a:solidFill>
                        </a:rPr>
                        <a:t>Will reverse within 1 days</a:t>
                      </a:r>
                      <a:endParaRPr sz="1200">
                        <a:solidFill>
                          <a:schemeClr val="dk1"/>
                        </a:solidFill>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590250">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JAY SHREE</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0.01</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I17_Suo Moto Cancelled Taxpayers having IGST Ledger Balance</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200"/>
                        <a:buFont typeface="Calibri"/>
                        <a:buNone/>
                      </a:pPr>
                      <a:r>
                        <a:rPr lang="en-IN" sz="1200">
                          <a:solidFill>
                            <a:schemeClr val="dk1"/>
                          </a:solidFill>
                        </a:rPr>
                        <a:t>13-02-2026 </a:t>
                      </a:r>
                      <a:endParaRPr sz="1200">
                        <a:solidFill>
                          <a:schemeClr val="dk1"/>
                        </a:solidFill>
                      </a:endParaRPr>
                    </a:p>
                    <a:p>
                      <a:pPr marL="0" marR="0" lvl="0" indent="0" algn="ctr" rtl="0">
                        <a:spcBef>
                          <a:spcPts val="0"/>
                        </a:spcBef>
                        <a:spcAft>
                          <a:spcPts val="0"/>
                        </a:spcAft>
                        <a:buClr>
                          <a:schemeClr val="dk1"/>
                        </a:buClr>
                        <a:buSzPts val="1200"/>
                        <a:buFont typeface="Calibri"/>
                        <a:buNone/>
                      </a:pPr>
                      <a:endParaRPr sz="1200"/>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200"/>
                        <a:buFont typeface="Calibri"/>
                        <a:buNone/>
                      </a:pPr>
                      <a:r>
                        <a:rPr lang="en-IN" sz="1200">
                          <a:solidFill>
                            <a:schemeClr val="dk1"/>
                          </a:solidFill>
                        </a:rPr>
                        <a:t>Taxpayer reversed the whole amount by drc 03 on 13-02-2026</a:t>
                      </a:r>
                      <a:endParaRPr sz="1200"/>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216800">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Total</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14.77</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 </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900"/>
                        <a:buFont typeface="Arial"/>
                        <a:buNone/>
                      </a:pPr>
                      <a:r>
                        <a:rPr lang="en-IN" sz="900" b="1" i="0" u="none" strike="noStrike" cap="none">
                          <a:solidFill>
                            <a:srgbClr val="FFFFFF"/>
                          </a:solidFill>
                          <a:latin typeface="Arial"/>
                          <a:ea typeface="Arial"/>
                          <a:cs typeface="Arial"/>
                          <a:sym typeface="Arial"/>
                        </a:rPr>
                        <a:t> </a:t>
                      </a:r>
                      <a:endParaRPr/>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900"/>
                        <a:buFont typeface="Arial"/>
                        <a:buNone/>
                      </a:pPr>
                      <a:r>
                        <a:rPr lang="en-IN" sz="900" b="1" i="0" u="none" strike="noStrike" cap="none" dirty="0">
                          <a:solidFill>
                            <a:srgbClr val="FFFFFF"/>
                          </a:solidFill>
                          <a:latin typeface="Arial"/>
                          <a:ea typeface="Arial"/>
                          <a:cs typeface="Arial"/>
                          <a:sym typeface="Arial"/>
                        </a:rPr>
                        <a:t> </a:t>
                      </a:r>
                      <a:endParaRPr dirty="0"/>
                    </a:p>
                  </a:txBody>
                  <a:tcPr marL="5000" marR="5000" marT="5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68"/>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Top 10 Circle with highest potential amount - SGST</a:t>
            </a:r>
            <a:endParaRPr/>
          </a:p>
        </p:txBody>
      </p:sp>
      <p:sp>
        <p:nvSpPr>
          <p:cNvPr id="596" name="Google Shape;596;p68"/>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597" name="Google Shape;597;p68"/>
          <p:cNvGraphicFramePr/>
          <p:nvPr/>
        </p:nvGraphicFramePr>
        <p:xfrm>
          <a:off x="466338" y="749147"/>
          <a:ext cx="11466150" cy="6141555"/>
        </p:xfrm>
        <a:graphic>
          <a:graphicData uri="http://schemas.openxmlformats.org/drawingml/2006/table">
            <a:tbl>
              <a:tblPr>
                <a:noFill/>
                <a:tableStyleId>{ED13AFB8-4CE9-44F5-8004-2B2D446919A9}</a:tableStyleId>
              </a:tblPr>
              <a:tblGrid>
                <a:gridCol w="2988475">
                  <a:extLst>
                    <a:ext uri="{9D8B030D-6E8A-4147-A177-3AD203B41FA5}">
                      <a16:colId xmlns:a16="http://schemas.microsoft.com/office/drawing/2014/main" val="20000"/>
                    </a:ext>
                  </a:extLst>
                </a:gridCol>
                <a:gridCol w="1250625">
                  <a:extLst>
                    <a:ext uri="{9D8B030D-6E8A-4147-A177-3AD203B41FA5}">
                      <a16:colId xmlns:a16="http://schemas.microsoft.com/office/drawing/2014/main" val="20001"/>
                    </a:ext>
                  </a:extLst>
                </a:gridCol>
                <a:gridCol w="2127375">
                  <a:extLst>
                    <a:ext uri="{9D8B030D-6E8A-4147-A177-3AD203B41FA5}">
                      <a16:colId xmlns:a16="http://schemas.microsoft.com/office/drawing/2014/main" val="20002"/>
                    </a:ext>
                  </a:extLst>
                </a:gridCol>
                <a:gridCol w="1081375">
                  <a:extLst>
                    <a:ext uri="{9D8B030D-6E8A-4147-A177-3AD203B41FA5}">
                      <a16:colId xmlns:a16="http://schemas.microsoft.com/office/drawing/2014/main" val="20003"/>
                    </a:ext>
                  </a:extLst>
                </a:gridCol>
                <a:gridCol w="1898650">
                  <a:extLst>
                    <a:ext uri="{9D8B030D-6E8A-4147-A177-3AD203B41FA5}">
                      <a16:colId xmlns:a16="http://schemas.microsoft.com/office/drawing/2014/main" val="20004"/>
                    </a:ext>
                  </a:extLst>
                </a:gridCol>
                <a:gridCol w="662475">
                  <a:extLst>
                    <a:ext uri="{9D8B030D-6E8A-4147-A177-3AD203B41FA5}">
                      <a16:colId xmlns:a16="http://schemas.microsoft.com/office/drawing/2014/main" val="20005"/>
                    </a:ext>
                  </a:extLst>
                </a:gridCol>
                <a:gridCol w="1457175">
                  <a:extLst>
                    <a:ext uri="{9D8B030D-6E8A-4147-A177-3AD203B41FA5}">
                      <a16:colId xmlns:a16="http://schemas.microsoft.com/office/drawing/2014/main" val="20006"/>
                    </a:ext>
                  </a:extLst>
                </a:gridCol>
              </a:tblGrid>
              <a:tr h="548475">
                <a:tc rowSpan="2">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Circle</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gridSpan="2">
                  <a:txBody>
                    <a:bodyPr/>
                    <a:lstStyle/>
                    <a:p>
                      <a:pPr marL="0" marR="0" lvl="0" indent="0" algn="ctr" rtl="0">
                        <a:spcBef>
                          <a:spcPts val="0"/>
                        </a:spcBef>
                        <a:spcAft>
                          <a:spcPts val="0"/>
                        </a:spcAft>
                        <a:buClr>
                          <a:srgbClr val="000000"/>
                        </a:buClr>
                        <a:buSzPts val="1400"/>
                        <a:buFont typeface="Arial"/>
                        <a:buNone/>
                      </a:pPr>
                      <a:r>
                        <a:rPr lang="en-IN" b="1"/>
                        <a:t>S-10 - RCM Invoice sgst cash</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hMerge="1">
                  <a:txBody>
                    <a:bodyPr/>
                    <a:lstStyle/>
                    <a:p>
                      <a:endParaRPr lang="en-US"/>
                    </a:p>
                  </a:txBody>
                  <a:tcPr/>
                </a:tc>
                <a:tc gridSpan="2">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hMerge="1">
                  <a:txBody>
                    <a:bodyPr/>
                    <a:lstStyle/>
                    <a:p>
                      <a:endParaRPr lang="en-US"/>
                    </a:p>
                  </a:txBody>
                  <a:tcPr/>
                </a:tc>
                <a:tc gridSpan="2">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SGST Related Reports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hMerge="1">
                  <a:txBody>
                    <a:bodyPr/>
                    <a:lstStyle/>
                    <a:p>
                      <a:endParaRPr lang="en-US"/>
                    </a:p>
                  </a:txBody>
                  <a:tcPr/>
                </a:tc>
                <a:extLst>
                  <a:ext uri="{0D108BD9-81ED-4DB2-BD59-A6C34878D82A}">
                    <a16:rowId xmlns:a16="http://schemas.microsoft.com/office/drawing/2014/main" val="10000"/>
                  </a:ext>
                </a:extLst>
              </a:tr>
              <a:tr h="189825">
                <a:tc vMerge="1">
                  <a:txBody>
                    <a:bodyPr/>
                    <a:lstStyle/>
                    <a:p>
                      <a:endParaRPr lang="en-US"/>
                    </a:p>
                  </a:txBody>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GSTIN</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Amount</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GSTIN</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Amount</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GSTIN</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Amount</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1"/>
                  </a:ext>
                </a:extLst>
              </a:tr>
              <a:tr h="426850">
                <a:tc>
                  <a:txBody>
                    <a:bodyPr/>
                    <a:lstStyle/>
                    <a:p>
                      <a:pPr marL="0" marR="0" lvl="0" indent="0" algn="ctr" rtl="0">
                        <a:spcBef>
                          <a:spcPts val="0"/>
                        </a:spcBef>
                        <a:spcAft>
                          <a:spcPts val="0"/>
                        </a:spcAft>
                        <a:buClr>
                          <a:srgbClr val="000000"/>
                        </a:buClr>
                        <a:buSzPts val="1600"/>
                        <a:buFont typeface="Arial"/>
                        <a:buNone/>
                      </a:pPr>
                      <a:r>
                        <a:rPr lang="en-IN" sz="1600" b="0" i="0" u="sng" strike="noStrike" cap="none">
                          <a:solidFill>
                            <a:srgbClr val="000000"/>
                          </a:solidFill>
                          <a:latin typeface="Arial"/>
                          <a:ea typeface="Arial"/>
                          <a:cs typeface="Arial"/>
                          <a:sym typeface="Arial"/>
                          <a:hlinkClick r:id="rId3" action="ppaction://hlinksldjump">
                            <a:extLst>
                              <a:ext uri="{A12FA001-AC4F-418D-AE19-62706E023703}">
                                <ahyp:hlinkClr xmlns:ahyp="http://schemas.microsoft.com/office/drawing/2018/hyperlinkcolor" val="tx"/>
                              </a:ext>
                            </a:extLst>
                          </a:hlinkClick>
                        </a:rPr>
                        <a:t>Circle-Jaisalmer Jodhpur I</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6</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0.32</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262</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20.37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268</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                      20.69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2"/>
                  </a:ext>
                </a:extLst>
              </a:tr>
              <a:tr h="426850">
                <a:tc>
                  <a:txBody>
                    <a:bodyPr/>
                    <a:lstStyle/>
                    <a:p>
                      <a:pPr marL="0" marR="0" lvl="0" indent="0" algn="ctr" rtl="0">
                        <a:spcBef>
                          <a:spcPts val="0"/>
                        </a:spcBef>
                        <a:spcAft>
                          <a:spcPts val="0"/>
                        </a:spcAft>
                        <a:buClr>
                          <a:srgbClr val="000000"/>
                        </a:buClr>
                        <a:buSzPts val="1600"/>
                        <a:buFont typeface="Arial"/>
                        <a:buNone/>
                      </a:pPr>
                      <a:r>
                        <a:rPr lang="en-IN" sz="1600" b="0" i="0" u="sng" strike="noStrike" cap="none">
                          <a:solidFill>
                            <a:srgbClr val="000000"/>
                          </a:solidFill>
                          <a:latin typeface="Arial"/>
                          <a:ea typeface="Arial"/>
                          <a:cs typeface="Arial"/>
                          <a:sym typeface="Arial"/>
                          <a:hlinkClick r:id="rId4" action="ppaction://hlinksldjump">
                            <a:extLst>
                              <a:ext uri="{A12FA001-AC4F-418D-AE19-62706E023703}">
                                <ahyp:hlinkClr xmlns:ahyp="http://schemas.microsoft.com/office/drawing/2018/hyperlinkcolor" val="tx"/>
                              </a:ext>
                            </a:extLst>
                          </a:hlinkClick>
                        </a:rPr>
                        <a:t>Circle-F Bikaner</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47</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8.40</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95</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6.59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142</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                      15.00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3"/>
                  </a:ext>
                </a:extLst>
              </a:tr>
              <a:tr h="426850">
                <a:tc>
                  <a:txBody>
                    <a:bodyPr/>
                    <a:lstStyle/>
                    <a:p>
                      <a:pPr marL="0" marR="0" lvl="0" indent="0" algn="ctr" rtl="0">
                        <a:spcBef>
                          <a:spcPts val="0"/>
                        </a:spcBef>
                        <a:spcAft>
                          <a:spcPts val="0"/>
                        </a:spcAft>
                        <a:buClr>
                          <a:srgbClr val="000000"/>
                        </a:buClr>
                        <a:buSzPts val="1600"/>
                        <a:buFont typeface="Arial"/>
                        <a:buNone/>
                      </a:pPr>
                      <a:r>
                        <a:rPr lang="en-IN" sz="1600" b="0" i="0" u="sng" strike="noStrike" cap="none">
                          <a:solidFill>
                            <a:srgbClr val="000000"/>
                          </a:solidFill>
                          <a:latin typeface="Arial"/>
                          <a:ea typeface="Arial"/>
                          <a:cs typeface="Arial"/>
                          <a:sym typeface="Arial"/>
                          <a:hlinkClick r:id="rId5" action="ppaction://hlinksldjump">
                            <a:extLst>
                              <a:ext uri="{A12FA001-AC4F-418D-AE19-62706E023703}">
                                <ahyp:hlinkClr xmlns:ahyp="http://schemas.microsoft.com/office/drawing/2018/hyperlinkcolor" val="tx"/>
                              </a:ext>
                            </a:extLst>
                          </a:hlinkClick>
                        </a:rPr>
                        <a:t>Circle-Nagaur</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12</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2.23</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165</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8.32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177</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                      10.55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4"/>
                  </a:ext>
                </a:extLst>
              </a:tr>
              <a:tr h="426850">
                <a:tc>
                  <a:txBody>
                    <a:bodyPr/>
                    <a:lstStyle/>
                    <a:p>
                      <a:pPr marL="0" marR="0" lvl="0" indent="0" algn="ctr" rtl="0">
                        <a:spcBef>
                          <a:spcPts val="0"/>
                        </a:spcBef>
                        <a:spcAft>
                          <a:spcPts val="0"/>
                        </a:spcAft>
                        <a:buClr>
                          <a:srgbClr val="000000"/>
                        </a:buClr>
                        <a:buSzPts val="1600"/>
                        <a:buFont typeface="Arial"/>
                        <a:buNone/>
                      </a:pPr>
                      <a:r>
                        <a:rPr lang="en-IN" sz="1600" b="0" i="0" u="sng" strike="noStrike" cap="none">
                          <a:solidFill>
                            <a:srgbClr val="000000"/>
                          </a:solidFill>
                          <a:latin typeface="Arial"/>
                          <a:ea typeface="Arial"/>
                          <a:cs typeface="Arial"/>
                          <a:sym typeface="Arial"/>
                          <a:hlinkClick r:id="rId6" action="ppaction://hlinksldjump">
                            <a:extLst>
                              <a:ext uri="{A12FA001-AC4F-418D-AE19-62706E023703}">
                                <ahyp:hlinkClr xmlns:ahyp="http://schemas.microsoft.com/office/drawing/2018/hyperlinkcolor" val="tx"/>
                              </a:ext>
                            </a:extLst>
                          </a:hlinkClick>
                        </a:rPr>
                        <a:t>Circle-Jhalawar</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7</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1.53</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143</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8.32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150</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                        9.85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5"/>
                  </a:ext>
                </a:extLst>
              </a:tr>
              <a:tr h="426850">
                <a:tc>
                  <a:txBody>
                    <a:bodyPr/>
                    <a:lstStyle/>
                    <a:p>
                      <a:pPr marL="0" marR="0" lvl="0" indent="0" algn="ctr" rtl="0">
                        <a:spcBef>
                          <a:spcPts val="0"/>
                        </a:spcBef>
                        <a:spcAft>
                          <a:spcPts val="0"/>
                        </a:spcAft>
                        <a:buClr>
                          <a:srgbClr val="000000"/>
                        </a:buClr>
                        <a:buSzPts val="1600"/>
                        <a:buFont typeface="Arial"/>
                        <a:buNone/>
                      </a:pPr>
                      <a:r>
                        <a:rPr lang="en-IN" sz="1600" b="0" i="0" u="sng" strike="noStrike" cap="none">
                          <a:solidFill>
                            <a:srgbClr val="000000"/>
                          </a:solidFill>
                          <a:latin typeface="Arial"/>
                          <a:ea typeface="Arial"/>
                          <a:cs typeface="Arial"/>
                          <a:sym typeface="Arial"/>
                          <a:hlinkClick r:id="rId7" action="ppaction://hlinksldjump">
                            <a:extLst>
                              <a:ext uri="{A12FA001-AC4F-418D-AE19-62706E023703}">
                                <ahyp:hlinkClr xmlns:ahyp="http://schemas.microsoft.com/office/drawing/2018/hyperlinkcolor" val="tx"/>
                              </a:ext>
                            </a:extLst>
                          </a:hlinkClick>
                        </a:rPr>
                        <a:t>Circle-Sanchore</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2</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0.03</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69</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9.45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71</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                        9.48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6"/>
                  </a:ext>
                </a:extLst>
              </a:tr>
              <a:tr h="426850">
                <a:tc>
                  <a:txBody>
                    <a:bodyPr/>
                    <a:lstStyle/>
                    <a:p>
                      <a:pPr marL="0" marR="0" lvl="0" indent="0" algn="ctr" rtl="0">
                        <a:spcBef>
                          <a:spcPts val="0"/>
                        </a:spcBef>
                        <a:spcAft>
                          <a:spcPts val="0"/>
                        </a:spcAft>
                        <a:buClr>
                          <a:srgbClr val="000000"/>
                        </a:buClr>
                        <a:buSzPts val="1600"/>
                        <a:buFont typeface="Arial"/>
                        <a:buNone/>
                      </a:pPr>
                      <a:r>
                        <a:rPr lang="en-IN" sz="1600" b="0" i="0" u="sng" strike="noStrike" cap="none">
                          <a:solidFill>
                            <a:srgbClr val="000000"/>
                          </a:solidFill>
                          <a:latin typeface="Arial"/>
                          <a:ea typeface="Arial"/>
                          <a:cs typeface="Arial"/>
                          <a:sym typeface="Arial"/>
                          <a:hlinkClick r:id="rId8" action="ppaction://hlinksldjump">
                            <a:extLst>
                              <a:ext uri="{A12FA001-AC4F-418D-AE19-62706E023703}">
                                <ahyp:hlinkClr xmlns:ahyp="http://schemas.microsoft.com/office/drawing/2018/hyperlinkcolor" val="tx"/>
                              </a:ext>
                            </a:extLst>
                          </a:hlinkClick>
                        </a:rPr>
                        <a:t>Circle-A Bharatpur</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57</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6.34</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92</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3.12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149</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                        9.45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7"/>
                  </a:ext>
                </a:extLst>
              </a:tr>
              <a:tr h="426850">
                <a:tc>
                  <a:txBody>
                    <a:bodyPr/>
                    <a:lstStyle/>
                    <a:p>
                      <a:pPr marL="0" marR="0" lvl="0" indent="0" algn="ctr" rtl="0">
                        <a:spcBef>
                          <a:spcPts val="0"/>
                        </a:spcBef>
                        <a:spcAft>
                          <a:spcPts val="0"/>
                        </a:spcAft>
                        <a:buClr>
                          <a:srgbClr val="000000"/>
                        </a:buClr>
                        <a:buSzPts val="1600"/>
                        <a:buFont typeface="Arial"/>
                        <a:buNone/>
                      </a:pPr>
                      <a:r>
                        <a:rPr lang="en-IN" sz="1600" b="0" i="0" u="sng" strike="noStrike" cap="none">
                          <a:solidFill>
                            <a:srgbClr val="000000"/>
                          </a:solidFill>
                          <a:latin typeface="Arial"/>
                          <a:ea typeface="Arial"/>
                          <a:cs typeface="Arial"/>
                          <a:sym typeface="Arial"/>
                          <a:hlinkClick r:id="rId9" action="ppaction://hlinksldjump">
                            <a:extLst>
                              <a:ext uri="{A12FA001-AC4F-418D-AE19-62706E023703}">
                                <ahyp:hlinkClr xmlns:ahyp="http://schemas.microsoft.com/office/drawing/2018/hyperlinkcolor" val="tx"/>
                              </a:ext>
                            </a:extLst>
                          </a:hlinkClick>
                        </a:rPr>
                        <a:t>Circle-B Jaipur III</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5</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0.19</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15</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8.40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20</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                        8.59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8"/>
                  </a:ext>
                </a:extLst>
              </a:tr>
              <a:tr h="426850">
                <a:tc>
                  <a:txBody>
                    <a:bodyPr/>
                    <a:lstStyle/>
                    <a:p>
                      <a:pPr marL="0" marR="0" lvl="0" indent="0" algn="ctr" rtl="0">
                        <a:spcBef>
                          <a:spcPts val="0"/>
                        </a:spcBef>
                        <a:spcAft>
                          <a:spcPts val="0"/>
                        </a:spcAft>
                        <a:buClr>
                          <a:srgbClr val="000000"/>
                        </a:buClr>
                        <a:buSzPts val="1600"/>
                        <a:buFont typeface="Arial"/>
                        <a:buNone/>
                      </a:pPr>
                      <a:r>
                        <a:rPr lang="en-IN" sz="1600" b="0" i="0" u="sng" strike="noStrike" cap="none">
                          <a:solidFill>
                            <a:srgbClr val="000000"/>
                          </a:solidFill>
                          <a:latin typeface="Arial"/>
                          <a:ea typeface="Arial"/>
                          <a:cs typeface="Arial"/>
                          <a:sym typeface="Arial"/>
                          <a:hlinkClick r:id="rId10" action="ppaction://hlinksldjump">
                            <a:extLst>
                              <a:ext uri="{A12FA001-AC4F-418D-AE19-62706E023703}">
                                <ahyp:hlinkClr xmlns:ahyp="http://schemas.microsoft.com/office/drawing/2018/hyperlinkcolor" val="tx"/>
                              </a:ext>
                            </a:extLst>
                          </a:hlinkClick>
                        </a:rPr>
                        <a:t>Circle-E Kota</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3</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0.20</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84</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8.30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87</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                        8.50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09"/>
                  </a:ext>
                </a:extLst>
              </a:tr>
              <a:tr h="426850">
                <a:tc>
                  <a:txBody>
                    <a:bodyPr/>
                    <a:lstStyle/>
                    <a:p>
                      <a:pPr marL="0" marR="0" lvl="0" indent="0" algn="ctr" rtl="0">
                        <a:spcBef>
                          <a:spcPts val="0"/>
                        </a:spcBef>
                        <a:spcAft>
                          <a:spcPts val="0"/>
                        </a:spcAft>
                        <a:buClr>
                          <a:srgbClr val="000000"/>
                        </a:buClr>
                        <a:buSzPts val="1600"/>
                        <a:buFont typeface="Arial"/>
                        <a:buNone/>
                      </a:pPr>
                      <a:r>
                        <a:rPr lang="en-IN" sz="1600" b="0" i="0" u="sng" strike="noStrike" cap="none">
                          <a:solidFill>
                            <a:srgbClr val="000000"/>
                          </a:solidFill>
                          <a:latin typeface="Arial"/>
                          <a:ea typeface="Arial"/>
                          <a:cs typeface="Arial"/>
                          <a:sym typeface="Arial"/>
                          <a:hlinkClick r:id="rId11" action="ppaction://hlinksldjump">
                            <a:extLst>
                              <a:ext uri="{A12FA001-AC4F-418D-AE19-62706E023703}">
                                <ahyp:hlinkClr xmlns:ahyp="http://schemas.microsoft.com/office/drawing/2018/hyperlinkcolor" val="tx"/>
                              </a:ext>
                            </a:extLst>
                          </a:hlinkClick>
                        </a:rPr>
                        <a:t>Circle Pratapgarh</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0</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0.00</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169</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8.42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169</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                        8.42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10"/>
                  </a:ext>
                </a:extLst>
              </a:tr>
              <a:tr h="426850">
                <a:tc>
                  <a:txBody>
                    <a:bodyPr/>
                    <a:lstStyle/>
                    <a:p>
                      <a:pPr marL="0" marR="0" lvl="0" indent="0" algn="ctr" rtl="0">
                        <a:spcBef>
                          <a:spcPts val="0"/>
                        </a:spcBef>
                        <a:spcAft>
                          <a:spcPts val="0"/>
                        </a:spcAft>
                        <a:buClr>
                          <a:srgbClr val="000000"/>
                        </a:buClr>
                        <a:buSzPts val="1600"/>
                        <a:buFont typeface="Arial"/>
                        <a:buNone/>
                      </a:pPr>
                      <a:r>
                        <a:rPr lang="en-IN" sz="1600" b="0" i="0" u="sng" strike="noStrike" cap="none">
                          <a:solidFill>
                            <a:srgbClr val="000000"/>
                          </a:solidFill>
                          <a:latin typeface="Arial"/>
                          <a:ea typeface="Arial"/>
                          <a:cs typeface="Arial"/>
                          <a:sym typeface="Arial"/>
                          <a:hlinkClick r:id="rId12" action="ppaction://hlinksldjump">
                            <a:extLst>
                              <a:ext uri="{A12FA001-AC4F-418D-AE19-62706E023703}">
                                <ahyp:hlinkClr xmlns:ahyp="http://schemas.microsoft.com/office/drawing/2018/hyperlinkcolor" val="tx"/>
                              </a:ext>
                            </a:extLst>
                          </a:hlinkClick>
                        </a:rPr>
                        <a:t>Circle-Shahpura Jaipur I</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37</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5.33</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F2D0"/>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74</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2.73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2D5"/>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111</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                        8.06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A983"/>
                    </a:solidFill>
                  </a:tcPr>
                </a:tc>
                <a:extLst>
                  <a:ext uri="{0D108BD9-81ED-4DB2-BD59-A6C34878D82A}">
                    <a16:rowId xmlns:a16="http://schemas.microsoft.com/office/drawing/2014/main" val="10011"/>
                  </a:ext>
                </a:extLst>
              </a:tr>
              <a:tr h="374175">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Grand Total</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      176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24.58</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   1,168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84.01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   1,344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                   108.59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69"/>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Circle-Jaisalmer Jodhpur I - SGST</a:t>
            </a:r>
            <a:endParaRPr sz="2000" b="1" i="0" u="none" strike="noStrike" cap="none">
              <a:solidFill>
                <a:srgbClr val="000000"/>
              </a:solidFill>
              <a:latin typeface="Verdana"/>
              <a:ea typeface="Verdana"/>
              <a:cs typeface="Verdana"/>
              <a:sym typeface="Verdana"/>
            </a:endParaRPr>
          </a:p>
        </p:txBody>
      </p:sp>
      <p:sp>
        <p:nvSpPr>
          <p:cNvPr id="604" name="Google Shape;604;p69"/>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605" name="Google Shape;605;p69"/>
          <p:cNvGraphicFramePr/>
          <p:nvPr/>
        </p:nvGraphicFramePr>
        <p:xfrm>
          <a:off x="389363" y="779699"/>
          <a:ext cx="11119525" cy="5647065"/>
        </p:xfrm>
        <a:graphic>
          <a:graphicData uri="http://schemas.openxmlformats.org/drawingml/2006/table">
            <a:tbl>
              <a:tblPr>
                <a:noFill/>
                <a:tableStyleId>{ED13AFB8-4CE9-44F5-8004-2B2D446919A9}</a:tableStyleId>
              </a:tblPr>
              <a:tblGrid>
                <a:gridCol w="2464000">
                  <a:extLst>
                    <a:ext uri="{9D8B030D-6E8A-4147-A177-3AD203B41FA5}">
                      <a16:colId xmlns:a16="http://schemas.microsoft.com/office/drawing/2014/main" val="20000"/>
                    </a:ext>
                  </a:extLst>
                </a:gridCol>
                <a:gridCol w="808575">
                  <a:extLst>
                    <a:ext uri="{9D8B030D-6E8A-4147-A177-3AD203B41FA5}">
                      <a16:colId xmlns:a16="http://schemas.microsoft.com/office/drawing/2014/main" val="20001"/>
                    </a:ext>
                  </a:extLst>
                </a:gridCol>
                <a:gridCol w="2298400">
                  <a:extLst>
                    <a:ext uri="{9D8B030D-6E8A-4147-A177-3AD203B41FA5}">
                      <a16:colId xmlns:a16="http://schemas.microsoft.com/office/drawing/2014/main" val="20002"/>
                    </a:ext>
                  </a:extLst>
                </a:gridCol>
                <a:gridCol w="2381325">
                  <a:extLst>
                    <a:ext uri="{9D8B030D-6E8A-4147-A177-3AD203B41FA5}">
                      <a16:colId xmlns:a16="http://schemas.microsoft.com/office/drawing/2014/main" val="20003"/>
                    </a:ext>
                  </a:extLst>
                </a:gridCol>
                <a:gridCol w="3167225">
                  <a:extLst>
                    <a:ext uri="{9D8B030D-6E8A-4147-A177-3AD203B41FA5}">
                      <a16:colId xmlns:a16="http://schemas.microsoft.com/office/drawing/2014/main" val="20004"/>
                    </a:ext>
                  </a:extLst>
                </a:gridCol>
              </a:tblGrid>
              <a:tr h="539325">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Firm Name</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Remaining Amount</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List Name</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Expected Date of reversal</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366925">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BALAJI CONSTRUCTION COMPANY</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1.48</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sz="1000">
                          <a:solidFill>
                            <a:schemeClr val="dk1"/>
                          </a:solidFill>
                        </a:rPr>
                        <a:t>Intimation issued on 17.02.26 on registered email ID</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66925">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GORAKH CONSTRUCTION COMPANY</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0.73</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400"/>
                        <a:buFont typeface="Calibri"/>
                        <a:buNone/>
                      </a:pPr>
                      <a:r>
                        <a:rPr lang="en-IN" sz="1000">
                          <a:solidFill>
                            <a:schemeClr val="dk1"/>
                          </a:solidFill>
                        </a:rPr>
                        <a:t>Intimation issued on 17.02.26 on registered email ID</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66925">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GERU CONSTRUCTION COMPANY</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0.64</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sz="1000">
                          <a:solidFill>
                            <a:schemeClr val="dk1"/>
                          </a:solidFill>
                        </a:rPr>
                        <a:t>firm belongs to center jurisdiction. letter sent to central authority ref. 153 dated 13-02-2026</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66925">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KULDEEP CONSTRUCTION COMPANY</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0.43</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sz="1000">
                          <a:solidFill>
                            <a:schemeClr val="dk1"/>
                          </a:solidFill>
                        </a:rPr>
                        <a:t>firm belongs to center jurisdiction. letter sent to central authority ref. 153 dated 13-02-2026</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66925">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JAI ENGINEERING COMPANY</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0.42</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sz="1000">
                          <a:solidFill>
                            <a:schemeClr val="dk1"/>
                          </a:solidFill>
                        </a:rPr>
                        <a:t>firm belongs to center jurisdiction. letter sent to central authority ref. 153 dated 13-02-2026</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66450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SHREE JAANSINGHJI BHOMIYA CONSTRUCTION COMPANY RAYMALAA</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0.39</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sz="1000">
                          <a:solidFill>
                            <a:schemeClr val="dk1"/>
                          </a:solidFill>
                        </a:rPr>
                        <a:t>firm belongs to center jurisdiction. letter sent to central authority ref. 153 dated 13-02-2026</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66925">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K B CONSTRUCTION &amp; SUPPLIERS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0.34</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400"/>
                        <a:buFont typeface="Calibri"/>
                        <a:buNone/>
                      </a:pPr>
                      <a:r>
                        <a:rPr lang="en-IN" sz="1000">
                          <a:solidFill>
                            <a:schemeClr val="dk1"/>
                          </a:solidFill>
                        </a:rPr>
                        <a:t>Intimation issued on 17.02.26 on registered email ID</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366925">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K K ENTERPRISES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0.31</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sz="1000">
                          <a:solidFill>
                            <a:schemeClr val="dk1"/>
                          </a:solidFill>
                        </a:rPr>
                        <a:t>firm belongs to center jurisdiction. letter sent to central authority ref. 153 dated 13-02-2026</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547725">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M/S SHREE SAI KRIPA CONSTRUCTION AND COMPANY</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0.30</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sz="1000">
                          <a:solidFill>
                            <a:schemeClr val="dk1"/>
                          </a:solidFill>
                        </a:rPr>
                        <a:t>firm belongs to center jurisdiction. letter sent to central authority ref. 153 dated 13-02-2026</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366925">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KHUDA BAX CONSTRUCTION COMPANY</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0.29</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sz="1000">
                          <a:solidFill>
                            <a:schemeClr val="dk1"/>
                          </a:solidFill>
                        </a:rPr>
                        <a:t>firm belongs to center jurisdiction. letter sent to central authority ref. 153 dated 13-02-2026</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332250">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Total</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5.35</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chemeClr val="dk1"/>
                        </a:buClr>
                        <a:buSzPts val="1100"/>
                        <a:buFont typeface="Calibri"/>
                        <a:buNone/>
                      </a:pPr>
                      <a:endParaRPr sz="1100" b="1" i="0" u="none" strike="noStrike" cap="none">
                        <a:solidFill>
                          <a:srgbClr val="FFFFFF"/>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70"/>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Circle-F, Bikaner - SGST</a:t>
            </a:r>
            <a:endParaRPr sz="2000" b="1" i="0" u="none" strike="noStrike" cap="none">
              <a:solidFill>
                <a:srgbClr val="000000"/>
              </a:solidFill>
              <a:latin typeface="Verdana"/>
              <a:ea typeface="Verdana"/>
              <a:cs typeface="Verdana"/>
              <a:sym typeface="Verdana"/>
            </a:endParaRPr>
          </a:p>
        </p:txBody>
      </p:sp>
      <p:sp>
        <p:nvSpPr>
          <p:cNvPr id="612" name="Google Shape;612;p70"/>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613" name="Google Shape;613;p70"/>
          <p:cNvGraphicFramePr/>
          <p:nvPr>
            <p:extLst>
              <p:ext uri="{D42A27DB-BD31-4B8C-83A1-F6EECF244321}">
                <p14:modId xmlns:p14="http://schemas.microsoft.com/office/powerpoint/2010/main" val="1438291257"/>
              </p:ext>
            </p:extLst>
          </p:nvPr>
        </p:nvGraphicFramePr>
        <p:xfrm>
          <a:off x="121147" y="691412"/>
          <a:ext cx="11956950" cy="5488525"/>
        </p:xfrm>
        <a:graphic>
          <a:graphicData uri="http://schemas.openxmlformats.org/drawingml/2006/table">
            <a:tbl>
              <a:tblPr>
                <a:noFill/>
                <a:tableStyleId>{ED13AFB8-4CE9-44F5-8004-2B2D446919A9}</a:tableStyleId>
              </a:tblPr>
              <a:tblGrid>
                <a:gridCol w="2047250">
                  <a:extLst>
                    <a:ext uri="{9D8B030D-6E8A-4147-A177-3AD203B41FA5}">
                      <a16:colId xmlns:a16="http://schemas.microsoft.com/office/drawing/2014/main" val="20000"/>
                    </a:ext>
                  </a:extLst>
                </a:gridCol>
                <a:gridCol w="1583050">
                  <a:extLst>
                    <a:ext uri="{9D8B030D-6E8A-4147-A177-3AD203B41FA5}">
                      <a16:colId xmlns:a16="http://schemas.microsoft.com/office/drawing/2014/main" val="20001"/>
                    </a:ext>
                  </a:extLst>
                </a:gridCol>
                <a:gridCol w="1973492">
                  <a:extLst>
                    <a:ext uri="{9D8B030D-6E8A-4147-A177-3AD203B41FA5}">
                      <a16:colId xmlns:a16="http://schemas.microsoft.com/office/drawing/2014/main" val="20002"/>
                    </a:ext>
                  </a:extLst>
                </a:gridCol>
                <a:gridCol w="985962">
                  <a:extLst>
                    <a:ext uri="{9D8B030D-6E8A-4147-A177-3AD203B41FA5}">
                      <a16:colId xmlns:a16="http://schemas.microsoft.com/office/drawing/2014/main" val="20003"/>
                    </a:ext>
                  </a:extLst>
                </a:gridCol>
                <a:gridCol w="5367196">
                  <a:extLst>
                    <a:ext uri="{9D8B030D-6E8A-4147-A177-3AD203B41FA5}">
                      <a16:colId xmlns:a16="http://schemas.microsoft.com/office/drawing/2014/main" val="20004"/>
                    </a:ext>
                  </a:extLst>
                </a:gridCol>
              </a:tblGrid>
              <a:tr h="569025">
                <a:tc>
                  <a:txBody>
                    <a:bodyPr/>
                    <a:lstStyle/>
                    <a:p>
                      <a:pPr marL="0" marR="0" lvl="0" indent="0" algn="ctr" rtl="0">
                        <a:spcBef>
                          <a:spcPts val="0"/>
                        </a:spcBef>
                        <a:spcAft>
                          <a:spcPts val="0"/>
                        </a:spcAft>
                        <a:buClr>
                          <a:srgbClr val="FFFFFF"/>
                        </a:buClr>
                        <a:buSzPts val="1000"/>
                        <a:buFont typeface="Arial"/>
                        <a:buNone/>
                      </a:pPr>
                      <a:r>
                        <a:rPr lang="en-IN" sz="1000" b="1" i="0" u="none" strike="noStrike" cap="none">
                          <a:solidFill>
                            <a:srgbClr val="FFFFFF"/>
                          </a:solidFill>
                          <a:latin typeface="Arial"/>
                          <a:ea typeface="Arial"/>
                          <a:cs typeface="Arial"/>
                          <a:sym typeface="Arial"/>
                        </a:rPr>
                        <a:t>Firm Name</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00"/>
                        <a:buFont typeface="Arial"/>
                        <a:buNone/>
                      </a:pPr>
                      <a:r>
                        <a:rPr lang="en-IN" sz="1000" b="1" i="0" u="none" strike="noStrike" cap="none">
                          <a:solidFill>
                            <a:srgbClr val="FFFFFF"/>
                          </a:solidFill>
                          <a:latin typeface="Arial"/>
                          <a:ea typeface="Arial"/>
                          <a:cs typeface="Arial"/>
                          <a:sym typeface="Arial"/>
                        </a:rPr>
                        <a:t>Remaining Amount</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00"/>
                        <a:buFont typeface="Arial"/>
                        <a:buNone/>
                      </a:pPr>
                      <a:r>
                        <a:rPr lang="en-IN" sz="1000" b="1" i="0" u="none" strike="noStrike" cap="none">
                          <a:solidFill>
                            <a:srgbClr val="FFFFFF"/>
                          </a:solidFill>
                          <a:latin typeface="Arial"/>
                          <a:ea typeface="Arial"/>
                          <a:cs typeface="Arial"/>
                          <a:sym typeface="Arial"/>
                        </a:rPr>
                        <a:t>List Name</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Expected Date of reversal</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4883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MANOJ KUMAR NAYAK</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1.54</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S-10 - RCM Invoice sgst cash</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endParaRPr sz="1000" b="0" i="0" u="none" strike="noStrike" cap="none">
                        <a:solidFill>
                          <a:srgbClr val="000000"/>
                        </a:solidFill>
                        <a:latin typeface="Arial"/>
                        <a:ea typeface="Arial"/>
                        <a:cs typeface="Arial"/>
                        <a:sym typeface="Arial"/>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DRC-07 has been issued to Taxpayer for FY22-23, 23-24, 24-25 and DRC01 will be issued soon after end of the mar-26 for FY 25-26</a:t>
                      </a:r>
                      <a:endParaRPr sz="1000" b="0" i="0" u="none" strike="noStrike" cap="none">
                        <a:solidFill>
                          <a:srgbClr val="000000"/>
                        </a:solidFill>
                        <a:latin typeface="Arial"/>
                        <a:ea typeface="Arial"/>
                        <a:cs typeface="Arial"/>
                        <a:sym typeface="Arial"/>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883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GAJANAND MINES</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1.31</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S-10 - RCM Invoice sgst cash</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endParaRPr sz="1000" b="0" i="0" u="none" strike="noStrike" cap="none">
                        <a:solidFill>
                          <a:srgbClr val="000000"/>
                        </a:solidFill>
                        <a:latin typeface="Arial"/>
                        <a:ea typeface="Arial"/>
                        <a:cs typeface="Arial"/>
                        <a:sym typeface="Arial"/>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000">
                          <a:solidFill>
                            <a:schemeClr val="dk1"/>
                          </a:solidFill>
                        </a:rPr>
                        <a:t>FY 22-23 RS 5996222/- demand created and First appeal rejected. FY 2023-24 demand created RS. 6557228/-. FY 2024-25 DRC 01 Issued Rs. 3815674 and remaining year DRC 01 will be issued.</a:t>
                      </a:r>
                      <a:endParaRPr sz="1000" b="0" i="0" u="none" strike="noStrike" cap="none">
                        <a:solidFill>
                          <a:srgbClr val="000000"/>
                        </a:solidFill>
                        <a:latin typeface="Arial"/>
                        <a:ea typeface="Arial"/>
                        <a:cs typeface="Arial"/>
                        <a:sym typeface="Arial"/>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883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HIRA LAL MINES AND MINERALS</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0.99</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S-10 - RCM Invoice sgst cash</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endParaRPr sz="1000" b="0" i="0" u="none" strike="noStrike" cap="none">
                        <a:solidFill>
                          <a:srgbClr val="000000"/>
                        </a:solidFill>
                        <a:latin typeface="Arial"/>
                        <a:ea typeface="Arial"/>
                        <a:cs typeface="Arial"/>
                        <a:sym typeface="Arial"/>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000">
                          <a:solidFill>
                            <a:schemeClr val="dk1"/>
                          </a:solidFill>
                        </a:rPr>
                        <a:t>FY 2022-23 DRC-07 issued Rs. 3781403/- and first appeal rejected. FY 2023-24 DRC-07 issued Rs. 10213836/- and first appeal admitted. FY 2024-25 DRC 01 issued Rs. 1990422/- and Remaining year DRC 01 will be issued. </a:t>
                      </a:r>
                      <a:endParaRPr sz="1000" b="0" i="0" u="none" strike="noStrike" cap="none">
                        <a:solidFill>
                          <a:srgbClr val="000000"/>
                        </a:solidFill>
                        <a:latin typeface="Arial"/>
                        <a:ea typeface="Arial"/>
                        <a:cs typeface="Arial"/>
                        <a:sym typeface="Arial"/>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883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NIMBA RAM BISHNOI</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0.50</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S-11 TDS deduction of Cancelled Taxpayers</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endParaRPr sz="1000" b="0" i="0" u="none" strike="noStrike" cap="none">
                        <a:solidFill>
                          <a:srgbClr val="000000"/>
                        </a:solidFill>
                        <a:latin typeface="Arial"/>
                        <a:ea typeface="Arial"/>
                        <a:cs typeface="Arial"/>
                        <a:sym typeface="Arial"/>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DRC 07 issued on 11-09-2024 FY 2022-23 and demand created Rs. 3866098. Taxpayers registration suo moto cancelled on 04-08-2022. Demand recovered Rs. 88122 through Cash ledger on 15-01-2025</a:t>
                      </a:r>
                      <a:endParaRPr sz="1000" b="0" i="0" u="none" strike="noStrike" cap="none">
                        <a:solidFill>
                          <a:srgbClr val="000000"/>
                        </a:solidFill>
                        <a:latin typeface="Arial"/>
                        <a:ea typeface="Arial"/>
                        <a:cs typeface="Arial"/>
                        <a:sym typeface="Arial"/>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9310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SHREE BHOMIYAJI MINES AND MINERALS</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0.49</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S-10 - RCM Invoice sgst cash</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endParaRPr sz="1000" b="0" i="0" u="none" strike="noStrike" cap="none">
                        <a:solidFill>
                          <a:srgbClr val="000000"/>
                        </a:solidFill>
                        <a:latin typeface="Arial"/>
                        <a:ea typeface="Arial"/>
                        <a:cs typeface="Arial"/>
                        <a:sym typeface="Arial"/>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a:solidFill>
                            <a:schemeClr val="dk1"/>
                          </a:solidFill>
                        </a:rPr>
                        <a:t>Taxpayer related to center juridisication. Intimated to related to juridisicational authority by letter no. 33 dated 16-02-2026</a:t>
                      </a:r>
                      <a:endParaRPr sz="1000"/>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883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SHARWANRAM</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0.46</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S-10 - RCM Invoice sgst cash</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endParaRPr sz="1000" b="0" i="0" u="none" strike="noStrike" cap="none">
                        <a:solidFill>
                          <a:srgbClr val="000000"/>
                        </a:solidFill>
                        <a:latin typeface="Arial"/>
                        <a:ea typeface="Arial"/>
                        <a:cs typeface="Arial"/>
                        <a:sym typeface="Arial"/>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DRC 07 issued on 27-10-2023 and demand created 3600212/-. Taxpayer deposited total tax Rs 1294011 and willing to file appeal in tribunal. </a:t>
                      </a:r>
                      <a:endParaRPr sz="1000" b="0" i="0" u="none" strike="noStrike" cap="none">
                        <a:solidFill>
                          <a:srgbClr val="000000"/>
                        </a:solidFill>
                        <a:latin typeface="Arial"/>
                        <a:ea typeface="Arial"/>
                        <a:cs typeface="Arial"/>
                        <a:sym typeface="Arial"/>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8357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KOHARI &amp; COMPANY</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0.42</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S-11 TDS deduction of Cancelled Taxpayers</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endParaRPr sz="1000" b="0" i="0" u="none" strike="noStrike" cap="none">
                        <a:solidFill>
                          <a:srgbClr val="000000"/>
                        </a:solidFill>
                        <a:latin typeface="Arial"/>
                        <a:ea typeface="Arial"/>
                        <a:cs typeface="Arial"/>
                        <a:sym typeface="Arial"/>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000"/>
                        <a:buFont typeface="Calibri"/>
                        <a:buNone/>
                      </a:pPr>
                      <a:r>
                        <a:rPr lang="en-IN" sz="1000">
                          <a:solidFill>
                            <a:schemeClr val="dk1"/>
                          </a:solidFill>
                        </a:rPr>
                        <a:t>Informed to taxpayers regarding the discrepancy and he will assured to reexamine the accounts and take necessary step.</a:t>
                      </a:r>
                      <a:endParaRPr sz="1000"/>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21675">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OM SUPPLIERS</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0.32</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S-11 TDS deduction of Cancelled Taxpayers</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endParaRPr sz="1000" b="0" i="0" u="none" strike="noStrike" cap="none">
                        <a:solidFill>
                          <a:srgbClr val="000000"/>
                        </a:solidFill>
                        <a:latin typeface="Arial"/>
                        <a:ea typeface="Arial"/>
                        <a:cs typeface="Arial"/>
                        <a:sym typeface="Arial"/>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Taxpayer related to center juridisication. Intimated to related to juridisicational authority by letter no. 35 dated 16-02-2026</a:t>
                      </a:r>
                      <a:endParaRPr sz="1000" b="0" i="0" u="none" strike="noStrike" cap="none">
                        <a:solidFill>
                          <a:srgbClr val="000000"/>
                        </a:solidFill>
                        <a:latin typeface="Arial"/>
                        <a:ea typeface="Arial"/>
                        <a:cs typeface="Arial"/>
                        <a:sym typeface="Arial"/>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883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PRADEEP CONSTRUCTION COMPANY</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0.31</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S-11 TDS deduction of Cancelled Taxpayers</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endParaRPr sz="1000" b="0" i="0" u="none" strike="noStrike" cap="none">
                        <a:solidFill>
                          <a:srgbClr val="000000"/>
                        </a:solidFill>
                        <a:latin typeface="Arial"/>
                        <a:ea typeface="Arial"/>
                        <a:cs typeface="Arial"/>
                        <a:sym typeface="Arial"/>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SCN FY 2022-23 issued to taxpayers for difference of TDS and 3B for tax amount 5649812 on 3-07-2025. Taxpayer reply filled on 17-07-2024 and 25-07-2024. Reply is satisfactory and SCN dropped on 31-07-2024.</a:t>
                      </a:r>
                      <a:endParaRPr sz="1000" b="0" i="0" u="none" strike="noStrike" cap="none">
                        <a:solidFill>
                          <a:srgbClr val="000000"/>
                        </a:solidFill>
                        <a:latin typeface="Arial"/>
                        <a:ea typeface="Arial"/>
                        <a:cs typeface="Arial"/>
                        <a:sym typeface="Arial"/>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488350">
                <a:tc>
                  <a:txBody>
                    <a:bodyPr/>
                    <a:lstStyle/>
                    <a:p>
                      <a:pPr marL="0" marR="0" lvl="0" indent="0" algn="ctr" rtl="0">
                        <a:spcBef>
                          <a:spcPts val="0"/>
                        </a:spcBef>
                        <a:spcAft>
                          <a:spcPts val="0"/>
                        </a:spcAft>
                        <a:buClr>
                          <a:srgbClr val="000000"/>
                        </a:buClr>
                        <a:buSzPts val="1050"/>
                        <a:buFont typeface="Arial"/>
                        <a:buNone/>
                      </a:pPr>
                      <a:r>
                        <a:rPr lang="en-IN" sz="1050" b="0" i="0" u="none" strike="noStrike" cap="none">
                          <a:solidFill>
                            <a:srgbClr val="000000"/>
                          </a:solidFill>
                          <a:latin typeface="Arial"/>
                          <a:ea typeface="Arial"/>
                          <a:cs typeface="Arial"/>
                          <a:sym typeface="Arial"/>
                        </a:rPr>
                        <a:t>LAXMI CONSTRUCTION COMPANY</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0.26</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S-11 TDS deduction of Cancelled Taxpayers</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endParaRPr sz="1000" b="0" i="0" u="none" strike="noStrike" cap="none">
                        <a:solidFill>
                          <a:srgbClr val="000000"/>
                        </a:solidFill>
                        <a:latin typeface="Arial"/>
                        <a:ea typeface="Arial"/>
                        <a:cs typeface="Arial"/>
                        <a:sym typeface="Arial"/>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000"/>
                        <a:buFont typeface="Calibri"/>
                        <a:buNone/>
                      </a:pPr>
                      <a:r>
                        <a:rPr lang="en-IN" sz="1000"/>
                        <a:t>Informed to taxpayers regarding the discrepancy and he will assured to reexamine the accounts and take necessary step.</a:t>
                      </a:r>
                      <a:endParaRPr sz="1000" b="0" i="0" u="none" strike="noStrike" cap="none">
                        <a:solidFill>
                          <a:srgbClr val="000000"/>
                        </a:solidFill>
                        <a:latin typeface="Arial"/>
                        <a:ea typeface="Arial"/>
                        <a:cs typeface="Arial"/>
                        <a:sym typeface="Arial"/>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302700">
                <a:tc>
                  <a:txBody>
                    <a:bodyPr/>
                    <a:lstStyle/>
                    <a:p>
                      <a:pPr marL="0" marR="0" lvl="0" indent="0" algn="ctr" rtl="0">
                        <a:spcBef>
                          <a:spcPts val="0"/>
                        </a:spcBef>
                        <a:spcAft>
                          <a:spcPts val="0"/>
                        </a:spcAft>
                        <a:buClr>
                          <a:srgbClr val="FFFFFF"/>
                        </a:buClr>
                        <a:buSzPts val="1000"/>
                        <a:buFont typeface="Arial"/>
                        <a:buNone/>
                      </a:pPr>
                      <a:r>
                        <a:rPr lang="en-IN" sz="1000" b="1" i="0" u="none" strike="noStrike" cap="none">
                          <a:solidFill>
                            <a:srgbClr val="FFFFFF"/>
                          </a:solidFill>
                          <a:latin typeface="Arial"/>
                          <a:ea typeface="Arial"/>
                          <a:cs typeface="Arial"/>
                          <a:sym typeface="Arial"/>
                        </a:rPr>
                        <a:t>Total</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00"/>
                        <a:buFont typeface="Arial"/>
                        <a:buNone/>
                      </a:pPr>
                      <a:r>
                        <a:rPr lang="en-IN" sz="1000" b="1" i="0" u="none" strike="noStrike" cap="none">
                          <a:solidFill>
                            <a:srgbClr val="FFFFFF"/>
                          </a:solidFill>
                          <a:latin typeface="Arial"/>
                          <a:ea typeface="Arial"/>
                          <a:cs typeface="Arial"/>
                          <a:sym typeface="Arial"/>
                        </a:rPr>
                        <a:t>6.61</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00"/>
                        <a:buFont typeface="Arial"/>
                        <a:buNone/>
                      </a:pPr>
                      <a:r>
                        <a:rPr lang="en-IN" sz="1000" b="1" i="0" u="none" strike="noStrike" cap="none">
                          <a:solidFill>
                            <a:srgbClr val="FFFFFF"/>
                          </a:solidFill>
                          <a:latin typeface="Arial"/>
                          <a:ea typeface="Arial"/>
                          <a:cs typeface="Arial"/>
                          <a:sym typeface="Arial"/>
                        </a:rPr>
                        <a:t> </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00"/>
                        <a:buFont typeface="Arial"/>
                        <a:buNone/>
                      </a:pPr>
                      <a:r>
                        <a:rPr lang="en-IN" sz="1000" b="1" i="0" u="none" strike="noStrike" cap="none">
                          <a:solidFill>
                            <a:srgbClr val="FFFFFF"/>
                          </a:solidFill>
                          <a:latin typeface="Arial"/>
                          <a:ea typeface="Arial"/>
                          <a:cs typeface="Arial"/>
                          <a:sym typeface="Arial"/>
                        </a:rPr>
                        <a:t> </a:t>
                      </a:r>
                      <a:endParaRPr/>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00"/>
                        <a:buFont typeface="Arial"/>
                        <a:buNone/>
                      </a:pPr>
                      <a:r>
                        <a:rPr lang="en-IN" sz="1000" b="1" i="0" u="none" strike="noStrike" cap="none" dirty="0">
                          <a:solidFill>
                            <a:srgbClr val="FFFFFF"/>
                          </a:solidFill>
                          <a:latin typeface="Arial"/>
                          <a:ea typeface="Arial"/>
                          <a:cs typeface="Arial"/>
                          <a:sym typeface="Arial"/>
                        </a:rPr>
                        <a:t> </a:t>
                      </a:r>
                      <a:endParaRPr dirty="0"/>
                    </a:p>
                  </a:txBody>
                  <a:tcPr marL="3000" marR="3000" marT="30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1"/>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Circle-Nagaur, Ajmer - SGST</a:t>
            </a:r>
            <a:endParaRPr sz="2000" b="1" i="0" u="none" strike="noStrike" cap="none">
              <a:solidFill>
                <a:srgbClr val="000000"/>
              </a:solidFill>
              <a:latin typeface="Verdana"/>
              <a:ea typeface="Verdana"/>
              <a:cs typeface="Verdana"/>
              <a:sym typeface="Verdana"/>
            </a:endParaRPr>
          </a:p>
        </p:txBody>
      </p:sp>
      <p:sp>
        <p:nvSpPr>
          <p:cNvPr id="620" name="Google Shape;620;p71"/>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621" name="Google Shape;621;p71"/>
          <p:cNvGraphicFramePr/>
          <p:nvPr/>
        </p:nvGraphicFramePr>
        <p:xfrm>
          <a:off x="311819" y="639138"/>
          <a:ext cx="11563350" cy="7048190"/>
        </p:xfrm>
        <a:graphic>
          <a:graphicData uri="http://schemas.openxmlformats.org/drawingml/2006/table">
            <a:tbl>
              <a:tblPr>
                <a:noFill/>
                <a:tableStyleId>{ED13AFB8-4CE9-44F5-8004-2B2D446919A9}</a:tableStyleId>
              </a:tblPr>
              <a:tblGrid>
                <a:gridCol w="2374675">
                  <a:extLst>
                    <a:ext uri="{9D8B030D-6E8A-4147-A177-3AD203B41FA5}">
                      <a16:colId xmlns:a16="http://schemas.microsoft.com/office/drawing/2014/main" val="20000"/>
                    </a:ext>
                  </a:extLst>
                </a:gridCol>
                <a:gridCol w="1160775">
                  <a:extLst>
                    <a:ext uri="{9D8B030D-6E8A-4147-A177-3AD203B41FA5}">
                      <a16:colId xmlns:a16="http://schemas.microsoft.com/office/drawing/2014/main" val="20001"/>
                    </a:ext>
                  </a:extLst>
                </a:gridCol>
                <a:gridCol w="1995450">
                  <a:extLst>
                    <a:ext uri="{9D8B030D-6E8A-4147-A177-3AD203B41FA5}">
                      <a16:colId xmlns:a16="http://schemas.microsoft.com/office/drawing/2014/main" val="20002"/>
                    </a:ext>
                  </a:extLst>
                </a:gridCol>
                <a:gridCol w="1093400">
                  <a:extLst>
                    <a:ext uri="{9D8B030D-6E8A-4147-A177-3AD203B41FA5}">
                      <a16:colId xmlns:a16="http://schemas.microsoft.com/office/drawing/2014/main" val="20003"/>
                    </a:ext>
                  </a:extLst>
                </a:gridCol>
                <a:gridCol w="4939050">
                  <a:extLst>
                    <a:ext uri="{9D8B030D-6E8A-4147-A177-3AD203B41FA5}">
                      <a16:colId xmlns:a16="http://schemas.microsoft.com/office/drawing/2014/main" val="20004"/>
                    </a:ext>
                  </a:extLst>
                </a:gridCol>
              </a:tblGrid>
              <a:tr h="432575">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Firm Name</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Remaining Amount</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List Name</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Expected Date of reversal</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386825">
                <a:tc>
                  <a:txBody>
                    <a:bodyPr/>
                    <a:lstStyle/>
                    <a:p>
                      <a:pPr marL="0" marR="0" lvl="0" indent="0" algn="ctr" rtl="0">
                        <a:spcBef>
                          <a:spcPts val="0"/>
                        </a:spcBef>
                        <a:spcAft>
                          <a:spcPts val="0"/>
                        </a:spcAft>
                        <a:buClr>
                          <a:srgbClr val="000000"/>
                        </a:buClr>
                        <a:buSzPts val="1600"/>
                        <a:buFont typeface="Arial"/>
                        <a:buNone/>
                      </a:pPr>
                      <a:r>
                        <a:rPr lang="en-IN" b="0" i="0" u="none" strike="noStrike" cap="none">
                          <a:solidFill>
                            <a:srgbClr val="000000"/>
                          </a:solidFill>
                          <a:latin typeface="Arial"/>
                          <a:ea typeface="Arial"/>
                          <a:cs typeface="Arial"/>
                          <a:sym typeface="Arial"/>
                        </a:rPr>
                        <a:t>TIRUPATI MINES &amp; MINERALS</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700" b="1" i="0" u="none" strike="noStrike" cap="none">
                          <a:solidFill>
                            <a:srgbClr val="000000"/>
                          </a:solidFill>
                          <a:latin typeface="Arial"/>
                          <a:ea typeface="Arial"/>
                          <a:cs typeface="Arial"/>
                          <a:sym typeface="Arial"/>
                        </a:rPr>
                        <a:t>0.75</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600"/>
                        <a:buFont typeface="Arial"/>
                        <a:buNone/>
                      </a:pPr>
                      <a:r>
                        <a:rPr lang="en-IN" sz="1500"/>
                        <a:t>S-10 - RCM Invoice sgst cash</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r>
                        <a:rPr lang="en-IN" sz="1600"/>
                        <a:t>25.02.2026</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IN" sz="1300"/>
                        <a:t>व्यवहारी के 2022-23 का सेन्टर एडमिन द्वारा कर निर्धारण आदेश जारी किया जा चुका है जिसके विरूद्ध व्यवहारी द्वारा अपील फाईल की हुई है। 2023-24 से 2025-26 के लिए व्यवहारी ने 25 फरवरी 2026 तक 20 लाख जमा करवाने का बोला है तथा शेष राशि को फिर आगे किस्तो द्वारा जमा करवा दी जाएगी।</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00075">
                <a:tc>
                  <a:txBody>
                    <a:bodyPr/>
                    <a:lstStyle/>
                    <a:p>
                      <a:pPr marL="0" marR="0" lvl="0" indent="0" algn="ctr" rtl="0">
                        <a:spcBef>
                          <a:spcPts val="0"/>
                        </a:spcBef>
                        <a:spcAft>
                          <a:spcPts val="0"/>
                        </a:spcAft>
                        <a:buClr>
                          <a:srgbClr val="000000"/>
                        </a:buClr>
                        <a:buSzPts val="1600"/>
                        <a:buFont typeface="Arial"/>
                        <a:buNone/>
                      </a:pPr>
                      <a:r>
                        <a:rPr lang="en-IN" b="0" i="0" u="none" strike="noStrike" cap="none">
                          <a:solidFill>
                            <a:srgbClr val="000000"/>
                          </a:solidFill>
                          <a:latin typeface="Arial"/>
                          <a:ea typeface="Arial"/>
                          <a:cs typeface="Arial"/>
                          <a:sym typeface="Arial"/>
                        </a:rPr>
                        <a:t>LOKESH ELECTRICALS</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700" b="1" i="0" u="none" strike="noStrike" cap="none">
                          <a:solidFill>
                            <a:srgbClr val="000000"/>
                          </a:solidFill>
                          <a:latin typeface="Arial"/>
                          <a:ea typeface="Arial"/>
                          <a:cs typeface="Arial"/>
                          <a:sym typeface="Arial"/>
                        </a:rPr>
                        <a:t>0.52</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600"/>
                        <a:buFont typeface="Arial"/>
                        <a:buNone/>
                      </a:pPr>
                      <a:r>
                        <a:rPr lang="en-IN" sz="1500"/>
                        <a:t>S-11 TDS deduction of Cancelled Taxpayers</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r>
                        <a:rPr lang="en-IN" sz="1600"/>
                        <a:t>15.03.2026</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600"/>
                        <a:buFont typeface="Calibri"/>
                        <a:buNone/>
                      </a:pPr>
                      <a:r>
                        <a:rPr lang="en-IN">
                          <a:solidFill>
                            <a:schemeClr val="dk1"/>
                          </a:solidFill>
                        </a:rPr>
                        <a:t>As per telephonic talk to taxpayer, he will deposit amount by 15-03-2026.</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91700">
                <a:tc>
                  <a:txBody>
                    <a:bodyPr/>
                    <a:lstStyle/>
                    <a:p>
                      <a:pPr marL="0" marR="0" lvl="0" indent="0" algn="ctr" rtl="0">
                        <a:spcBef>
                          <a:spcPts val="0"/>
                        </a:spcBef>
                        <a:spcAft>
                          <a:spcPts val="0"/>
                        </a:spcAft>
                        <a:buClr>
                          <a:srgbClr val="000000"/>
                        </a:buClr>
                        <a:buSzPts val="1600"/>
                        <a:buFont typeface="Arial"/>
                        <a:buNone/>
                      </a:pPr>
                      <a:r>
                        <a:rPr lang="en-IN" b="0" i="0" u="none" strike="noStrike" cap="none">
                          <a:solidFill>
                            <a:srgbClr val="000000"/>
                          </a:solidFill>
                          <a:latin typeface="Arial"/>
                          <a:ea typeface="Arial"/>
                          <a:cs typeface="Arial"/>
                          <a:sym typeface="Arial"/>
                        </a:rPr>
                        <a:t>TULSIRAM S/O SHRI SHANKAR RAM</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700" b="1" i="0" u="none" strike="noStrike" cap="none">
                          <a:solidFill>
                            <a:srgbClr val="000000"/>
                          </a:solidFill>
                          <a:latin typeface="Arial"/>
                          <a:ea typeface="Arial"/>
                          <a:cs typeface="Arial"/>
                          <a:sym typeface="Arial"/>
                        </a:rPr>
                        <a:t>0.49</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600"/>
                        <a:buFont typeface="Arial"/>
                        <a:buNone/>
                      </a:pPr>
                      <a:r>
                        <a:rPr lang="en-IN" sz="1500"/>
                        <a:t>S-11 TDS deduction of Cancelled Taxpayers</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r>
                        <a:rPr lang="en-IN" sz="1600"/>
                        <a:t>20.03.2026</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600"/>
                        <a:buFont typeface="Calibri"/>
                        <a:buNone/>
                      </a:pPr>
                      <a:r>
                        <a:rPr lang="en-IN">
                          <a:solidFill>
                            <a:schemeClr val="dk1"/>
                          </a:solidFill>
                        </a:rPr>
                        <a:t>As per telephonic talk to taxpayer, he will deposit amount by 20-03-2026.</a:t>
                      </a:r>
                      <a:endParaRPr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88775">
                <a:tc>
                  <a:txBody>
                    <a:bodyPr/>
                    <a:lstStyle/>
                    <a:p>
                      <a:pPr marL="0" marR="0" lvl="0" indent="0" algn="ctr" rtl="0">
                        <a:spcBef>
                          <a:spcPts val="0"/>
                        </a:spcBef>
                        <a:spcAft>
                          <a:spcPts val="0"/>
                        </a:spcAft>
                        <a:buClr>
                          <a:srgbClr val="000000"/>
                        </a:buClr>
                        <a:buSzPts val="1600"/>
                        <a:buFont typeface="Arial"/>
                        <a:buNone/>
                      </a:pPr>
                      <a:r>
                        <a:rPr lang="en-IN" b="0" i="0" u="none" strike="noStrike" cap="none">
                          <a:solidFill>
                            <a:srgbClr val="000000"/>
                          </a:solidFill>
                          <a:latin typeface="Arial"/>
                          <a:ea typeface="Arial"/>
                          <a:cs typeface="Arial"/>
                          <a:sym typeface="Arial"/>
                        </a:rPr>
                        <a:t>UPPADHYAY ENG. WORKS</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700" b="1" i="0" u="none" strike="noStrike" cap="none">
                          <a:solidFill>
                            <a:srgbClr val="000000"/>
                          </a:solidFill>
                          <a:latin typeface="Arial"/>
                          <a:ea typeface="Arial"/>
                          <a:cs typeface="Arial"/>
                          <a:sym typeface="Arial"/>
                        </a:rPr>
                        <a:t>0.49</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600"/>
                        <a:buFont typeface="Arial"/>
                        <a:buNone/>
                      </a:pPr>
                      <a:r>
                        <a:rPr lang="en-IN" sz="1500"/>
                        <a:t>S-11 TDS deduction of Cancelled Taxpayers</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r>
                        <a:rPr lang="en-IN" sz="1600"/>
                        <a:t>15.03.2026</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600"/>
                        <a:buFont typeface="Calibri"/>
                        <a:buNone/>
                      </a:pPr>
                      <a:r>
                        <a:rPr lang="en-IN">
                          <a:solidFill>
                            <a:schemeClr val="dk1"/>
                          </a:solidFill>
                        </a:rPr>
                        <a:t>As per telephonic talk to taxpayer, he will deposit amount by 15-03-2026.</a:t>
                      </a:r>
                      <a:endParaRPr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18325">
                <a:tc>
                  <a:txBody>
                    <a:bodyPr/>
                    <a:lstStyle/>
                    <a:p>
                      <a:pPr marL="0" marR="0" lvl="0" indent="0" algn="ctr" rtl="0">
                        <a:spcBef>
                          <a:spcPts val="0"/>
                        </a:spcBef>
                        <a:spcAft>
                          <a:spcPts val="0"/>
                        </a:spcAft>
                        <a:buClr>
                          <a:srgbClr val="000000"/>
                        </a:buClr>
                        <a:buSzPts val="1600"/>
                        <a:buFont typeface="Arial"/>
                        <a:buNone/>
                      </a:pPr>
                      <a:r>
                        <a:rPr lang="en-IN" b="0" i="0" u="none" strike="noStrike" cap="none">
                          <a:solidFill>
                            <a:srgbClr val="000000"/>
                          </a:solidFill>
                          <a:latin typeface="Arial"/>
                          <a:ea typeface="Arial"/>
                          <a:cs typeface="Arial"/>
                          <a:sym typeface="Arial"/>
                        </a:rPr>
                        <a:t>SAHDEV ENTERPRISES</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700" b="1" i="0" u="none" strike="noStrike" cap="none">
                          <a:solidFill>
                            <a:srgbClr val="000000"/>
                          </a:solidFill>
                          <a:latin typeface="Arial"/>
                          <a:ea typeface="Arial"/>
                          <a:cs typeface="Arial"/>
                          <a:sym typeface="Arial"/>
                        </a:rPr>
                        <a:t>0.44</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600"/>
                        <a:buFont typeface="Arial"/>
                        <a:buNone/>
                      </a:pPr>
                      <a:r>
                        <a:rPr lang="en-IN" sz="1500"/>
                        <a:t>S-11 TDS deduction of Cancelled Taxpayers</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r>
                        <a:rPr lang="en-IN" sz="1600"/>
                        <a:t>31.03.2026</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600"/>
                        <a:buFont typeface="Calibri"/>
                        <a:buNone/>
                      </a:pPr>
                      <a:r>
                        <a:rPr lang="en-IN">
                          <a:solidFill>
                            <a:schemeClr val="dk1"/>
                          </a:solidFill>
                        </a:rPr>
                        <a:t>Taxpayer is centre jurisdiction as per telephonic talk to taxpayer, he will deposit amount by 31-03-2026.</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95200">
                <a:tc>
                  <a:txBody>
                    <a:bodyPr/>
                    <a:lstStyle/>
                    <a:p>
                      <a:pPr marL="0" marR="0" lvl="0" indent="0" algn="ctr" rtl="0">
                        <a:spcBef>
                          <a:spcPts val="0"/>
                        </a:spcBef>
                        <a:spcAft>
                          <a:spcPts val="0"/>
                        </a:spcAft>
                        <a:buClr>
                          <a:srgbClr val="000000"/>
                        </a:buClr>
                        <a:buSzPts val="1600"/>
                        <a:buFont typeface="Arial"/>
                        <a:buNone/>
                      </a:pPr>
                      <a:r>
                        <a:rPr lang="en-IN" b="0" i="0" u="none" strike="noStrike" cap="none">
                          <a:solidFill>
                            <a:srgbClr val="000000"/>
                          </a:solidFill>
                          <a:latin typeface="Arial"/>
                          <a:ea typeface="Arial"/>
                          <a:cs typeface="Arial"/>
                          <a:sym typeface="Arial"/>
                        </a:rPr>
                        <a:t>DEVA RAM S/O LIKHMARAMN JAT</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700" b="1" i="0" u="none" strike="noStrike" cap="none">
                          <a:solidFill>
                            <a:srgbClr val="000000"/>
                          </a:solidFill>
                          <a:latin typeface="Arial"/>
                          <a:ea typeface="Arial"/>
                          <a:cs typeface="Arial"/>
                          <a:sym typeface="Arial"/>
                        </a:rPr>
                        <a:t>0.35</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600"/>
                        <a:buFont typeface="Arial"/>
                        <a:buNone/>
                      </a:pPr>
                      <a:r>
                        <a:rPr lang="en-IN" sz="1500"/>
                        <a:t>S-11 TDS deduction of Cancelled Taxpayers</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r>
                        <a:rPr lang="en-IN" sz="1600"/>
                        <a:t>20.03.2026</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600"/>
                        <a:buFont typeface="Calibri"/>
                        <a:buNone/>
                      </a:pPr>
                      <a:r>
                        <a:rPr lang="en-IN">
                          <a:solidFill>
                            <a:schemeClr val="dk1"/>
                          </a:solidFill>
                        </a:rPr>
                        <a:t>As per telephonic talk to taxpayer, he will deposit amount by 20-03-2026.</a:t>
                      </a:r>
                      <a:endParaRPr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95200">
                <a:tc>
                  <a:txBody>
                    <a:bodyPr/>
                    <a:lstStyle/>
                    <a:p>
                      <a:pPr marL="0" marR="0" lvl="0" indent="0" algn="ctr" rtl="0">
                        <a:spcBef>
                          <a:spcPts val="0"/>
                        </a:spcBef>
                        <a:spcAft>
                          <a:spcPts val="0"/>
                        </a:spcAft>
                        <a:buClr>
                          <a:srgbClr val="000000"/>
                        </a:buClr>
                        <a:buSzPts val="1600"/>
                        <a:buFont typeface="Arial"/>
                        <a:buNone/>
                      </a:pPr>
                      <a:r>
                        <a:rPr lang="en-IN" b="0" i="0" u="none" strike="noStrike" cap="none">
                          <a:solidFill>
                            <a:srgbClr val="000000"/>
                          </a:solidFill>
                          <a:latin typeface="Arial"/>
                          <a:ea typeface="Arial"/>
                          <a:cs typeface="Arial"/>
                          <a:sym typeface="Arial"/>
                        </a:rPr>
                        <a:t>SUBH LAXMI CHEMICAL</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700" b="1" i="0" u="none" strike="noStrike" cap="none">
                          <a:solidFill>
                            <a:srgbClr val="000000"/>
                          </a:solidFill>
                          <a:latin typeface="Arial"/>
                          <a:ea typeface="Arial"/>
                          <a:cs typeface="Arial"/>
                          <a:sym typeface="Arial"/>
                        </a:rPr>
                        <a:t>0.35</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Clr>
                          <a:schemeClr val="dk1"/>
                        </a:buClr>
                        <a:buSzPts val="1600"/>
                        <a:buFont typeface="Arial"/>
                        <a:buNone/>
                      </a:pPr>
                      <a:r>
                        <a:rPr lang="en-IN" sz="1500">
                          <a:solidFill>
                            <a:schemeClr val="dk1"/>
                          </a:solidFill>
                        </a:rPr>
                        <a:t>S-10 - RCM Invoice sgst cash</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IN" sz="1300"/>
                        <a:t>व्यवहारी के 2022-23 का कर निर्धारण आदेश दिनांक 28.08.2023 को जारी किया जा चुका है जिसके विरूद्ध व्यवहारी द्वारा माननीय सुप्रीम कोर्ट में अपील फाईल की हुई है। व्यवहारी के 2023-24 का कर निर्धारण आदेश दिनांक 23.07.2025 को जारी किया जा चुका है।</a:t>
                      </a:r>
                      <a:endParaRPr sz="13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95200">
                <a:tc>
                  <a:txBody>
                    <a:bodyPr/>
                    <a:lstStyle/>
                    <a:p>
                      <a:pPr marL="0" marR="0" lvl="0" indent="0" algn="ctr" rtl="0">
                        <a:spcBef>
                          <a:spcPts val="0"/>
                        </a:spcBef>
                        <a:spcAft>
                          <a:spcPts val="0"/>
                        </a:spcAft>
                        <a:buClr>
                          <a:srgbClr val="000000"/>
                        </a:buClr>
                        <a:buSzPts val="1600"/>
                        <a:buFont typeface="Arial"/>
                        <a:buNone/>
                      </a:pPr>
                      <a:r>
                        <a:rPr lang="en-IN" b="0" i="0" u="none" strike="noStrike" cap="none">
                          <a:solidFill>
                            <a:srgbClr val="000000"/>
                          </a:solidFill>
                          <a:latin typeface="Arial"/>
                          <a:ea typeface="Arial"/>
                          <a:cs typeface="Arial"/>
                          <a:sym typeface="Arial"/>
                        </a:rPr>
                        <a:t>RAKESH ENGINEERING WORKS</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700" b="1" i="0" u="none" strike="noStrike" cap="none">
                          <a:solidFill>
                            <a:srgbClr val="000000"/>
                          </a:solidFill>
                          <a:latin typeface="Arial"/>
                          <a:ea typeface="Arial"/>
                          <a:cs typeface="Arial"/>
                          <a:sym typeface="Arial"/>
                        </a:rPr>
                        <a:t>0.33</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600"/>
                        <a:buFont typeface="Arial"/>
                        <a:buNone/>
                      </a:pPr>
                      <a:r>
                        <a:rPr lang="en-IN" sz="1500"/>
                        <a:t>S-11 TDS deduction of Cancelled Taxpayers</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r>
                        <a:rPr lang="en-IN" sz="1600"/>
                        <a:t>15.03.2026</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600"/>
                        <a:buFont typeface="Calibri"/>
                        <a:buNone/>
                      </a:pPr>
                      <a:r>
                        <a:rPr lang="en-IN">
                          <a:solidFill>
                            <a:schemeClr val="dk1"/>
                          </a:solidFill>
                        </a:rPr>
                        <a:t>As per telephonic talk to taxpayer, he will deposit amount by 15-03-2026.</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95200">
                <a:tc>
                  <a:txBody>
                    <a:bodyPr/>
                    <a:lstStyle/>
                    <a:p>
                      <a:pPr marL="0" marR="0" lvl="0" indent="0" algn="ctr" rtl="0">
                        <a:spcBef>
                          <a:spcPts val="0"/>
                        </a:spcBef>
                        <a:spcAft>
                          <a:spcPts val="0"/>
                        </a:spcAft>
                        <a:buClr>
                          <a:srgbClr val="000000"/>
                        </a:buClr>
                        <a:buSzPts val="1600"/>
                        <a:buFont typeface="Arial"/>
                        <a:buNone/>
                      </a:pPr>
                      <a:r>
                        <a:rPr lang="en-IN" b="0" i="0" u="none" strike="noStrike" cap="none">
                          <a:solidFill>
                            <a:srgbClr val="000000"/>
                          </a:solidFill>
                          <a:latin typeface="Arial"/>
                          <a:ea typeface="Arial"/>
                          <a:cs typeface="Arial"/>
                          <a:sym typeface="Arial"/>
                        </a:rPr>
                        <a:t>SHREE KALKA MATA ENTERPRISES</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700" b="1" i="0" u="none" strike="noStrike" cap="none">
                          <a:solidFill>
                            <a:srgbClr val="000000"/>
                          </a:solidFill>
                          <a:latin typeface="Arial"/>
                          <a:ea typeface="Arial"/>
                          <a:cs typeface="Arial"/>
                          <a:sym typeface="Arial"/>
                        </a:rPr>
                        <a:t>0.32</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600"/>
                        <a:buFont typeface="Arial"/>
                        <a:buNone/>
                      </a:pPr>
                      <a:r>
                        <a:rPr lang="en-IN" sz="1500"/>
                        <a:t>S-11 TDS deduction of Cancelled Taxpayers</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600"/>
                        <a:buFont typeface="Calibri"/>
                        <a:buNone/>
                      </a:pPr>
                      <a:r>
                        <a:rPr lang="en-IN">
                          <a:solidFill>
                            <a:schemeClr val="dk1"/>
                          </a:solidFill>
                        </a:rPr>
                        <a:t>व्यवहारी के अप्रैल-2021 से सितम्बर-2024 तक राशि 203.48 लाख पर टीडीएस की कटौती की गई है जबकि व्यवहारी द्वारा जनवरी-2021 से फरवरी-2023 तक राशि 206.1 लाख की सप्लाई प्रदर्शित करते हुए करदेयता जमा की हुई है। सरकारी विभाग द्वारा भुगतान बाद में करके टीडीएस जमा करवा गया परन्तु व्यवहारी द्वारा उक्त करदेयता को पहले जमा किया चुका है।</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495200">
                <a:tc>
                  <a:txBody>
                    <a:bodyPr/>
                    <a:lstStyle/>
                    <a:p>
                      <a:pPr marL="0" marR="0" lvl="0" indent="0" algn="ctr" rtl="0">
                        <a:spcBef>
                          <a:spcPts val="0"/>
                        </a:spcBef>
                        <a:spcAft>
                          <a:spcPts val="0"/>
                        </a:spcAft>
                        <a:buClr>
                          <a:srgbClr val="000000"/>
                        </a:buClr>
                        <a:buSzPts val="1600"/>
                        <a:buFont typeface="Arial"/>
                        <a:buNone/>
                      </a:pPr>
                      <a:r>
                        <a:rPr lang="en-IN" b="0" i="0" u="none" strike="noStrike" cap="none">
                          <a:solidFill>
                            <a:srgbClr val="000000"/>
                          </a:solidFill>
                          <a:latin typeface="Arial"/>
                          <a:ea typeface="Arial"/>
                          <a:cs typeface="Arial"/>
                          <a:sym typeface="Arial"/>
                        </a:rPr>
                        <a:t>GURU KRIPA MINERALS AND CHEMICALS</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700" b="1" i="0" u="none" strike="noStrike" cap="none">
                          <a:solidFill>
                            <a:srgbClr val="000000"/>
                          </a:solidFill>
                          <a:latin typeface="Arial"/>
                          <a:ea typeface="Arial"/>
                          <a:cs typeface="Arial"/>
                          <a:sym typeface="Arial"/>
                        </a:rPr>
                        <a:t>0.27</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lvl="0" indent="0" algn="ctr" rtl="0">
                        <a:spcBef>
                          <a:spcPts val="0"/>
                        </a:spcBef>
                        <a:spcAft>
                          <a:spcPts val="0"/>
                        </a:spcAft>
                        <a:buClr>
                          <a:schemeClr val="dk1"/>
                        </a:buClr>
                        <a:buSzPts val="1600"/>
                        <a:buFont typeface="Arial"/>
                        <a:buNone/>
                      </a:pPr>
                      <a:r>
                        <a:rPr lang="en-IN" sz="1500">
                          <a:solidFill>
                            <a:schemeClr val="dk1"/>
                          </a:solidFill>
                        </a:rPr>
                        <a:t>S-10 - RCM Invoice sgst cash</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IN"/>
                        <a:t>व्यवहारी के 2022-23 का कर निर्धारण आदेश दिनांक 29.08.2023 को जारी किया जा चुका है।</a:t>
                      </a:r>
                      <a:endParaRPr sz="16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184550">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Total</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4.30</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chemeClr val="dk1"/>
                        </a:buClr>
                        <a:buSzPts val="1600"/>
                        <a:buFont typeface="Calibri"/>
                        <a:buNone/>
                      </a:pPr>
                      <a:endParaRPr sz="1600" b="1" i="0" u="none" strike="noStrike" cap="none">
                        <a:solidFill>
                          <a:srgbClr val="FFFFFF"/>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chemeClr val="dk1"/>
                        </a:buClr>
                        <a:buSzPts val="1600"/>
                        <a:buFont typeface="Calibri"/>
                        <a:buNone/>
                      </a:pPr>
                      <a:endParaRPr sz="1600" b="1" i="0" u="none" strike="noStrike" cap="none">
                        <a:solidFill>
                          <a:srgbClr val="FFFFFF"/>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72"/>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Circle-Jhalawar, Kota - SGST</a:t>
            </a:r>
            <a:endParaRPr sz="2000" b="1" i="0" u="none" strike="noStrike" cap="none">
              <a:solidFill>
                <a:srgbClr val="000000"/>
              </a:solidFill>
              <a:latin typeface="Verdana"/>
              <a:ea typeface="Verdana"/>
              <a:cs typeface="Verdana"/>
              <a:sym typeface="Verdana"/>
            </a:endParaRPr>
          </a:p>
        </p:txBody>
      </p:sp>
      <p:sp>
        <p:nvSpPr>
          <p:cNvPr id="628" name="Google Shape;628;p72"/>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629" name="Google Shape;629;p72"/>
          <p:cNvGraphicFramePr/>
          <p:nvPr>
            <p:extLst>
              <p:ext uri="{D42A27DB-BD31-4B8C-83A1-F6EECF244321}">
                <p14:modId xmlns:p14="http://schemas.microsoft.com/office/powerpoint/2010/main" val="1812503702"/>
              </p:ext>
            </p:extLst>
          </p:nvPr>
        </p:nvGraphicFramePr>
        <p:xfrm>
          <a:off x="288450" y="639137"/>
          <a:ext cx="11615100" cy="6259530"/>
        </p:xfrm>
        <a:graphic>
          <a:graphicData uri="http://schemas.openxmlformats.org/drawingml/2006/table">
            <a:tbl>
              <a:tblPr>
                <a:noFill/>
                <a:tableStyleId>{ED13AFB8-4CE9-44F5-8004-2B2D446919A9}</a:tableStyleId>
              </a:tblPr>
              <a:tblGrid>
                <a:gridCol w="1860625">
                  <a:extLst>
                    <a:ext uri="{9D8B030D-6E8A-4147-A177-3AD203B41FA5}">
                      <a16:colId xmlns:a16="http://schemas.microsoft.com/office/drawing/2014/main" val="20000"/>
                    </a:ext>
                  </a:extLst>
                </a:gridCol>
                <a:gridCol w="1081675">
                  <a:extLst>
                    <a:ext uri="{9D8B030D-6E8A-4147-A177-3AD203B41FA5}">
                      <a16:colId xmlns:a16="http://schemas.microsoft.com/office/drawing/2014/main" val="20001"/>
                    </a:ext>
                  </a:extLst>
                </a:gridCol>
                <a:gridCol w="2065125">
                  <a:extLst>
                    <a:ext uri="{9D8B030D-6E8A-4147-A177-3AD203B41FA5}">
                      <a16:colId xmlns:a16="http://schemas.microsoft.com/office/drawing/2014/main" val="20002"/>
                    </a:ext>
                  </a:extLst>
                </a:gridCol>
                <a:gridCol w="1123025">
                  <a:extLst>
                    <a:ext uri="{9D8B030D-6E8A-4147-A177-3AD203B41FA5}">
                      <a16:colId xmlns:a16="http://schemas.microsoft.com/office/drawing/2014/main" val="20003"/>
                    </a:ext>
                  </a:extLst>
                </a:gridCol>
                <a:gridCol w="5484650">
                  <a:extLst>
                    <a:ext uri="{9D8B030D-6E8A-4147-A177-3AD203B41FA5}">
                      <a16:colId xmlns:a16="http://schemas.microsoft.com/office/drawing/2014/main" val="20004"/>
                    </a:ext>
                  </a:extLst>
                </a:gridCol>
              </a:tblGrid>
              <a:tr h="209199">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Firm Name</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Remaining Amount</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List Name</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Expected Date of reversal</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dirty="0">
                          <a:solidFill>
                            <a:srgbClr val="FFFFFF"/>
                          </a:solidFill>
                          <a:latin typeface="Arial"/>
                          <a:ea typeface="Arial"/>
                          <a:cs typeface="Arial"/>
                          <a:sym typeface="Arial"/>
                        </a:rPr>
                        <a:t>Remarks</a:t>
                      </a:r>
                      <a:endParaRPr dirty="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397300">
                <a:tc>
                  <a:txBody>
                    <a:bodyPr/>
                    <a:lstStyle/>
                    <a:p>
                      <a:pPr marL="0" marR="0" lvl="0" indent="0" algn="ctr" rtl="0">
                        <a:spcBef>
                          <a:spcPts val="0"/>
                        </a:spcBef>
                        <a:spcAft>
                          <a:spcPts val="0"/>
                        </a:spcAft>
                        <a:buClr>
                          <a:srgbClr val="000000"/>
                        </a:buClr>
                        <a:buSzPts val="1400"/>
                        <a:buFont typeface="Arial"/>
                        <a:buNone/>
                      </a:pPr>
                      <a:r>
                        <a:rPr lang="en-IN" sz="1300" b="0" i="0" u="none" strike="noStrike" cap="none">
                          <a:solidFill>
                            <a:srgbClr val="000000"/>
                          </a:solidFill>
                          <a:latin typeface="Arial"/>
                          <a:ea typeface="Arial"/>
                          <a:cs typeface="Arial"/>
                          <a:sym typeface="Arial"/>
                        </a:rPr>
                        <a:t>VIJAY LABOUR SUPPLIERS</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1.56</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sz="1300"/>
                        <a:t>S-11 TDS deduction of Cancelled Taxpayers</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400"/>
                        <a:buFont typeface="Calibri"/>
                        <a:buNone/>
                      </a:pPr>
                      <a:r>
                        <a:rPr lang="en-IN" sz="1300">
                          <a:solidFill>
                            <a:schemeClr val="dk1"/>
                          </a:solidFill>
                        </a:rPr>
                        <a:t>Contacted to taxpayer to deposit the pending amount .</a:t>
                      </a:r>
                      <a:endParaRPr sz="12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69775">
                <a:tc>
                  <a:txBody>
                    <a:bodyPr/>
                    <a:lstStyle/>
                    <a:p>
                      <a:pPr marL="0" marR="0" lvl="0" indent="0" algn="ctr" rtl="0">
                        <a:spcBef>
                          <a:spcPts val="0"/>
                        </a:spcBef>
                        <a:spcAft>
                          <a:spcPts val="0"/>
                        </a:spcAft>
                        <a:buClr>
                          <a:srgbClr val="000000"/>
                        </a:buClr>
                        <a:buSzPts val="1400"/>
                        <a:buFont typeface="Arial"/>
                        <a:buNone/>
                      </a:pPr>
                      <a:r>
                        <a:rPr lang="en-IN" sz="1300" b="0" i="0" u="none" strike="noStrike" cap="none">
                          <a:solidFill>
                            <a:srgbClr val="000000"/>
                          </a:solidFill>
                          <a:latin typeface="Arial"/>
                          <a:ea typeface="Arial"/>
                          <a:cs typeface="Arial"/>
                          <a:sym typeface="Arial"/>
                        </a:rPr>
                        <a:t>BHERU LAL VERMA,LODAKHERA</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0.82</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sz="1300"/>
                        <a:t>S-11 TDS deduction of Cancelled Taxpayers</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400"/>
                        <a:buFont typeface="Calibri"/>
                        <a:buNone/>
                      </a:pPr>
                      <a:r>
                        <a:rPr lang="en-IN" sz="1100">
                          <a:solidFill>
                            <a:schemeClr val="dk1"/>
                          </a:solidFill>
                        </a:rPr>
                        <a:t>Contacted to taxpayer to deposit the pending amount.taxpayer is not available at his recorded business place . taxpayer will be contacted and further proceedings will be done as per rules.</a:t>
                      </a:r>
                      <a:endParaRPr sz="1100">
                        <a:solidFill>
                          <a:schemeClr val="dk1"/>
                        </a:solidFill>
                      </a:endParaRPr>
                    </a:p>
                    <a:p>
                      <a:pPr marL="0" lvl="0" indent="0" algn="ctr" rtl="0">
                        <a:spcBef>
                          <a:spcPts val="0"/>
                        </a:spcBef>
                        <a:spcAft>
                          <a:spcPts val="0"/>
                        </a:spcAft>
                        <a:buClr>
                          <a:schemeClr val="dk1"/>
                        </a:buClr>
                        <a:buSzPts val="1400"/>
                        <a:buFont typeface="Calibri"/>
                        <a:buNone/>
                      </a:pPr>
                      <a:r>
                        <a:rPr lang="en-IN" sz="1100">
                          <a:solidFill>
                            <a:schemeClr val="dk1"/>
                          </a:solidFill>
                        </a:rPr>
                        <a:t>Also Contacted to TDS deductor to issue the amount in favor of department.</a:t>
                      </a:r>
                      <a:endParaRPr sz="13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75425">
                <a:tc>
                  <a:txBody>
                    <a:bodyPr/>
                    <a:lstStyle/>
                    <a:p>
                      <a:pPr marL="0" marR="0" lvl="0" indent="0" algn="ctr" rtl="0">
                        <a:spcBef>
                          <a:spcPts val="0"/>
                        </a:spcBef>
                        <a:spcAft>
                          <a:spcPts val="0"/>
                        </a:spcAft>
                        <a:buClr>
                          <a:srgbClr val="000000"/>
                        </a:buClr>
                        <a:buSzPts val="1400"/>
                        <a:buFont typeface="Arial"/>
                        <a:buNone/>
                      </a:pPr>
                      <a:r>
                        <a:rPr lang="en-IN" sz="1300" b="0" i="0" u="none" strike="noStrike" cap="none">
                          <a:solidFill>
                            <a:srgbClr val="000000"/>
                          </a:solidFill>
                          <a:latin typeface="Arial"/>
                          <a:ea typeface="Arial"/>
                          <a:cs typeface="Arial"/>
                          <a:sym typeface="Arial"/>
                        </a:rPr>
                        <a:t>MOHD. AALAM S/O ABDUL RASHID</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0.42</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sz="1300"/>
                        <a:t>S-10 - RCM Invoice sgst cash</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400"/>
                        <a:buFont typeface="Calibri"/>
                        <a:buNone/>
                      </a:pPr>
                      <a:r>
                        <a:rPr lang="en-IN" sz="1200">
                          <a:solidFill>
                            <a:srgbClr val="000000"/>
                          </a:solidFill>
                        </a:rPr>
                        <a:t>Taxpayer belongs to center jurisdiction. Contacted to taxpayer to deposit the pending amount.</a:t>
                      </a:r>
                      <a:endParaRPr sz="12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67475">
                <a:tc>
                  <a:txBody>
                    <a:bodyPr/>
                    <a:lstStyle/>
                    <a:p>
                      <a:pPr marL="0" marR="0" lvl="0" indent="0" algn="ctr" rtl="0">
                        <a:spcBef>
                          <a:spcPts val="0"/>
                        </a:spcBef>
                        <a:spcAft>
                          <a:spcPts val="0"/>
                        </a:spcAft>
                        <a:buClr>
                          <a:srgbClr val="000000"/>
                        </a:buClr>
                        <a:buSzPts val="1400"/>
                        <a:buFont typeface="Arial"/>
                        <a:buNone/>
                      </a:pPr>
                      <a:r>
                        <a:rPr lang="en-IN" sz="1300" b="0" i="0" u="none" strike="noStrike" cap="none">
                          <a:solidFill>
                            <a:srgbClr val="000000"/>
                          </a:solidFill>
                          <a:latin typeface="Arial"/>
                          <a:ea typeface="Arial"/>
                          <a:cs typeface="Arial"/>
                          <a:sym typeface="Arial"/>
                        </a:rPr>
                        <a:t>F.K. Construction</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0.39</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sz="1300"/>
                        <a:t>S-11 TDS deduction of Cancelled Taxpayers</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400"/>
                        <a:buFont typeface="Calibri"/>
                        <a:buNone/>
                      </a:pPr>
                      <a:r>
                        <a:rPr lang="en-IN" sz="1200"/>
                        <a:t>Taxpayer belongs to center jurisdiction. </a:t>
                      </a:r>
                      <a:r>
                        <a:rPr lang="en-IN" sz="1200">
                          <a:solidFill>
                            <a:srgbClr val="000000"/>
                          </a:solidFill>
                        </a:rPr>
                        <a:t>Contacted to taxpayer to deposit the pending amount.Also Contacted to TDS deductor to issue the amount in favor of department</a:t>
                      </a:r>
                      <a:endParaRPr sz="1200">
                        <a:solidFill>
                          <a:srgbClr val="000000"/>
                        </a:solidFill>
                      </a:endParaRPr>
                    </a:p>
                    <a:p>
                      <a:pPr marL="0" marR="0" lvl="0" indent="0" algn="ctr" rtl="0">
                        <a:spcBef>
                          <a:spcPts val="0"/>
                        </a:spcBef>
                        <a:spcAft>
                          <a:spcPts val="0"/>
                        </a:spcAft>
                        <a:buClr>
                          <a:srgbClr val="000000"/>
                        </a:buClr>
                        <a:buSzPts val="1400"/>
                        <a:buFont typeface="Calibri"/>
                        <a:buNone/>
                      </a:pPr>
                      <a:endParaRPr sz="12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56150">
                <a:tc>
                  <a:txBody>
                    <a:bodyPr/>
                    <a:lstStyle/>
                    <a:p>
                      <a:pPr marL="0" marR="0" lvl="0" indent="0" algn="ctr" rtl="0">
                        <a:spcBef>
                          <a:spcPts val="0"/>
                        </a:spcBef>
                        <a:spcAft>
                          <a:spcPts val="0"/>
                        </a:spcAft>
                        <a:buClr>
                          <a:srgbClr val="000000"/>
                        </a:buClr>
                        <a:buSzPts val="1400"/>
                        <a:buFont typeface="Arial"/>
                        <a:buNone/>
                      </a:pPr>
                      <a:r>
                        <a:rPr lang="en-IN" sz="1300" b="0" i="0" u="none" strike="noStrike" cap="none">
                          <a:solidFill>
                            <a:srgbClr val="000000"/>
                          </a:solidFill>
                          <a:latin typeface="Arial"/>
                          <a:ea typeface="Arial"/>
                          <a:cs typeface="Arial"/>
                          <a:sym typeface="Arial"/>
                        </a:rPr>
                        <a:t>MOHD. SAHID S/O ABDUL RASHID</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0.37</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sz="1300"/>
                        <a:t>S-10 - RCM Invoice sgst cash</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400"/>
                        <a:buFont typeface="Calibri"/>
                        <a:buNone/>
                      </a:pPr>
                      <a:r>
                        <a:rPr lang="en-IN" sz="1200">
                          <a:solidFill>
                            <a:srgbClr val="000000"/>
                          </a:solidFill>
                        </a:rPr>
                        <a:t>Contacted to taxpayer to deposit the pending amount.</a:t>
                      </a:r>
                      <a:endParaRPr sz="12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97300">
                <a:tc>
                  <a:txBody>
                    <a:bodyPr/>
                    <a:lstStyle/>
                    <a:p>
                      <a:pPr marL="0" marR="0" lvl="0" indent="0" algn="ctr" rtl="0">
                        <a:spcBef>
                          <a:spcPts val="0"/>
                        </a:spcBef>
                        <a:spcAft>
                          <a:spcPts val="0"/>
                        </a:spcAft>
                        <a:buClr>
                          <a:srgbClr val="000000"/>
                        </a:buClr>
                        <a:buSzPts val="1400"/>
                        <a:buFont typeface="Arial"/>
                        <a:buNone/>
                      </a:pPr>
                      <a:r>
                        <a:rPr lang="en-IN" sz="1300" b="0" i="0" u="none" strike="noStrike" cap="none">
                          <a:solidFill>
                            <a:srgbClr val="000000"/>
                          </a:solidFill>
                          <a:latin typeface="Arial"/>
                          <a:ea typeface="Arial"/>
                          <a:cs typeface="Arial"/>
                          <a:sym typeface="Arial"/>
                        </a:rPr>
                        <a:t>MUKESH KUMAR AND SONS HUF SAVARIYA CONSTRUCTIONS</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0.29</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sz="1300"/>
                        <a:t>S-11 TDS deduction of Cancelled Taxpayers</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400"/>
                        <a:buFont typeface="Calibri"/>
                        <a:buNone/>
                      </a:pPr>
                      <a:r>
                        <a:rPr lang="en-IN" sz="1200">
                          <a:solidFill>
                            <a:srgbClr val="000000"/>
                          </a:solidFill>
                        </a:rPr>
                        <a:t>Contacted to taxpayer to deposit the pending amount. Also Contacted to TDS deductor to issue the amount in favor of department</a:t>
                      </a:r>
                      <a:endParaRPr sz="12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88000">
                <a:tc>
                  <a:txBody>
                    <a:bodyPr/>
                    <a:lstStyle/>
                    <a:p>
                      <a:pPr marL="0" marR="0" lvl="0" indent="0" algn="ctr" rtl="0">
                        <a:spcBef>
                          <a:spcPts val="0"/>
                        </a:spcBef>
                        <a:spcAft>
                          <a:spcPts val="0"/>
                        </a:spcAft>
                        <a:buClr>
                          <a:srgbClr val="000000"/>
                        </a:buClr>
                        <a:buSzPts val="1400"/>
                        <a:buFont typeface="Arial"/>
                        <a:buNone/>
                      </a:pPr>
                      <a:r>
                        <a:rPr lang="en-IN" sz="1300" b="0" i="0" u="none" strike="noStrike" cap="none">
                          <a:solidFill>
                            <a:srgbClr val="000000"/>
                          </a:solidFill>
                          <a:latin typeface="Arial"/>
                          <a:ea typeface="Arial"/>
                          <a:cs typeface="Arial"/>
                          <a:sym typeface="Arial"/>
                        </a:rPr>
                        <a:t>M/S HAJRE STONE</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0.23</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sz="1300"/>
                        <a:t>S-10 - RCM Invoice sgst cash</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400"/>
                        <a:buFont typeface="Calibri"/>
                        <a:buNone/>
                      </a:pPr>
                      <a:r>
                        <a:rPr lang="en-IN" sz="1200">
                          <a:solidFill>
                            <a:schemeClr val="dk1"/>
                          </a:solidFill>
                        </a:rPr>
                        <a:t>Taxpayer belongs to center jurisdiction. Contacted to taxpayer to deposit the pending amount.</a:t>
                      </a:r>
                      <a:endParaRPr sz="13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397300">
                <a:tc>
                  <a:txBody>
                    <a:bodyPr/>
                    <a:lstStyle/>
                    <a:p>
                      <a:pPr marL="0" marR="0" lvl="0" indent="0" algn="ctr" rtl="0">
                        <a:spcBef>
                          <a:spcPts val="0"/>
                        </a:spcBef>
                        <a:spcAft>
                          <a:spcPts val="0"/>
                        </a:spcAft>
                        <a:buClr>
                          <a:srgbClr val="000000"/>
                        </a:buClr>
                        <a:buSzPts val="1400"/>
                        <a:buFont typeface="Arial"/>
                        <a:buNone/>
                      </a:pPr>
                      <a:r>
                        <a:rPr lang="en-IN" sz="1300" b="0" i="0" u="none" strike="noStrike" cap="none">
                          <a:solidFill>
                            <a:srgbClr val="000000"/>
                          </a:solidFill>
                          <a:latin typeface="Arial"/>
                          <a:ea typeface="Arial"/>
                          <a:cs typeface="Arial"/>
                          <a:sym typeface="Arial"/>
                        </a:rPr>
                        <a:t>MANISH PARETA CONTRACTOR</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0.22</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sz="1300"/>
                        <a:t>S-11 TDS deduction of Cancelled Taxpayers</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Clr>
                          <a:schemeClr val="dk1"/>
                        </a:buClr>
                        <a:buSzPts val="1100"/>
                        <a:buFont typeface="Arial"/>
                        <a:buNone/>
                      </a:pPr>
                      <a:r>
                        <a:rPr lang="en-IN" sz="1000">
                          <a:solidFill>
                            <a:schemeClr val="dk1"/>
                          </a:solidFill>
                        </a:rPr>
                        <a:t>G</a:t>
                      </a:r>
                      <a:r>
                        <a:rPr lang="en-IN" sz="1100">
                          <a:solidFill>
                            <a:schemeClr val="dk1"/>
                          </a:solidFill>
                        </a:rPr>
                        <a:t>STIN- 08BAQPP6959Q1ZA is cancelled from 01.07.2022 and Taxpayer is working in new firm from 24.01.2023 GSTIN-08BAQPP6959Q3Z8 . Taxpayer has shown tds turnover in this new firm.</a:t>
                      </a:r>
                      <a:endParaRPr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599750">
                <a:tc>
                  <a:txBody>
                    <a:bodyPr/>
                    <a:lstStyle/>
                    <a:p>
                      <a:pPr marL="0" marR="0" lvl="0" indent="0" algn="ctr" rtl="0">
                        <a:spcBef>
                          <a:spcPts val="0"/>
                        </a:spcBef>
                        <a:spcAft>
                          <a:spcPts val="0"/>
                        </a:spcAft>
                        <a:buClr>
                          <a:srgbClr val="000000"/>
                        </a:buClr>
                        <a:buSzPts val="1400"/>
                        <a:buFont typeface="Arial"/>
                        <a:buNone/>
                      </a:pPr>
                      <a:r>
                        <a:rPr lang="en-IN" sz="1300" b="0" i="0" u="none" strike="noStrike" cap="none">
                          <a:solidFill>
                            <a:srgbClr val="000000"/>
                          </a:solidFill>
                          <a:latin typeface="Arial"/>
                          <a:ea typeface="Arial"/>
                          <a:cs typeface="Arial"/>
                          <a:sym typeface="Arial"/>
                        </a:rPr>
                        <a:t>SANWARIYA CONSTRUCTION</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0.21</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sz="1300"/>
                        <a:t>S-11 TDS deduction of Cancelled Taxpayers</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400"/>
                        <a:buFont typeface="Calibri"/>
                        <a:buNone/>
                      </a:pPr>
                      <a:r>
                        <a:rPr lang="en-IN" sz="1200">
                          <a:solidFill>
                            <a:schemeClr val="dk1"/>
                          </a:solidFill>
                        </a:rPr>
                        <a:t>axpayer belongs to center jurisdiction. Contacted to taxpayer to deposit the pending amount.Also Contacted to TDS deductor to issue the amount in favor of department</a:t>
                      </a:r>
                      <a:endParaRPr sz="1200">
                        <a:solidFill>
                          <a:schemeClr val="dk1"/>
                        </a:solidFill>
                      </a:endParaRPr>
                    </a:p>
                    <a:p>
                      <a:pPr marL="0" marR="0" lvl="0" indent="0" algn="ctr" rtl="0">
                        <a:spcBef>
                          <a:spcPts val="0"/>
                        </a:spcBef>
                        <a:spcAft>
                          <a:spcPts val="0"/>
                        </a:spcAft>
                        <a:buClr>
                          <a:schemeClr val="dk1"/>
                        </a:buClr>
                        <a:buSzPts val="1400"/>
                        <a:buFont typeface="Calibri"/>
                        <a:buNone/>
                      </a:pP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34540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MOHAMMED SAKHI</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0.21</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sz="1300"/>
                        <a:t>S-10 - RCM Invoice sgst cash</a:t>
                      </a: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400"/>
                        <a:buFont typeface="Calibri"/>
                        <a:buNone/>
                      </a:pPr>
                      <a:r>
                        <a:rPr lang="en-IN" sz="1200">
                          <a:solidFill>
                            <a:schemeClr val="dk1"/>
                          </a:solidFill>
                        </a:rPr>
                        <a:t>Contacted to taxpayer to deposit the pending amount.</a:t>
                      </a:r>
                      <a:endParaRPr sz="1200">
                        <a:solidFill>
                          <a:schemeClr val="dk1"/>
                        </a:solidFill>
                      </a:endParaRPr>
                    </a:p>
                    <a:p>
                      <a:pPr marL="0" marR="0" lvl="0" indent="0" algn="ctr" rtl="0">
                        <a:spcBef>
                          <a:spcPts val="0"/>
                        </a:spcBef>
                        <a:spcAft>
                          <a:spcPts val="0"/>
                        </a:spcAft>
                        <a:buClr>
                          <a:schemeClr val="dk1"/>
                        </a:buClr>
                        <a:buSzPts val="1400"/>
                        <a:buFont typeface="Calibri"/>
                        <a:buNone/>
                      </a:pPr>
                      <a:endParaRPr sz="13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125275">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Total</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4.73</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chemeClr val="dk1"/>
                        </a:buClr>
                        <a:buSzPts val="1100"/>
                        <a:buFont typeface="Calibri"/>
                        <a:buNone/>
                      </a:pPr>
                      <a:endParaRPr sz="1100" b="1" i="0" u="none" strike="noStrike" cap="none">
                        <a:solidFill>
                          <a:srgbClr val="FFFFFF"/>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chemeClr val="dk1"/>
                        </a:buClr>
                        <a:buSzPts val="1100"/>
                        <a:buFont typeface="Calibri"/>
                        <a:buNone/>
                      </a:pPr>
                      <a:endParaRPr sz="1100" b="1" i="0" u="none" strike="noStrike" cap="none" dirty="0">
                        <a:solidFill>
                          <a:srgbClr val="FFFFFF"/>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73"/>
          <p:cNvSpPr txBox="1"/>
          <p:nvPr/>
        </p:nvSpPr>
        <p:spPr>
          <a:xfrm>
            <a:off x="1232588" y="475043"/>
            <a:ext cx="11259300" cy="334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 Sanchore, Pali - SGST</a:t>
            </a:r>
            <a:endParaRPr sz="2000" b="1" i="0" u="none" strike="noStrike" cap="none">
              <a:solidFill>
                <a:srgbClr val="000000"/>
              </a:solidFill>
              <a:latin typeface="Verdana"/>
              <a:ea typeface="Verdana"/>
              <a:cs typeface="Verdana"/>
              <a:sym typeface="Verdana"/>
            </a:endParaRPr>
          </a:p>
        </p:txBody>
      </p:sp>
      <p:sp>
        <p:nvSpPr>
          <p:cNvPr id="636" name="Google Shape;636;p73"/>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637" name="Google Shape;637;p73"/>
          <p:cNvGraphicFramePr/>
          <p:nvPr/>
        </p:nvGraphicFramePr>
        <p:xfrm>
          <a:off x="428013" y="873175"/>
          <a:ext cx="11259300" cy="7635240"/>
        </p:xfrm>
        <a:graphic>
          <a:graphicData uri="http://schemas.openxmlformats.org/drawingml/2006/table">
            <a:tbl>
              <a:tblPr>
                <a:noFill/>
                <a:tableStyleId>{ED13AFB8-4CE9-44F5-8004-2B2D446919A9}</a:tableStyleId>
              </a:tblPr>
              <a:tblGrid>
                <a:gridCol w="2596475">
                  <a:extLst>
                    <a:ext uri="{9D8B030D-6E8A-4147-A177-3AD203B41FA5}">
                      <a16:colId xmlns:a16="http://schemas.microsoft.com/office/drawing/2014/main" val="20000"/>
                    </a:ext>
                  </a:extLst>
                </a:gridCol>
                <a:gridCol w="910225">
                  <a:extLst>
                    <a:ext uri="{9D8B030D-6E8A-4147-A177-3AD203B41FA5}">
                      <a16:colId xmlns:a16="http://schemas.microsoft.com/office/drawing/2014/main" val="20001"/>
                    </a:ext>
                  </a:extLst>
                </a:gridCol>
                <a:gridCol w="1961850">
                  <a:extLst>
                    <a:ext uri="{9D8B030D-6E8A-4147-A177-3AD203B41FA5}">
                      <a16:colId xmlns:a16="http://schemas.microsoft.com/office/drawing/2014/main" val="20002"/>
                    </a:ext>
                  </a:extLst>
                </a:gridCol>
                <a:gridCol w="1021200">
                  <a:extLst>
                    <a:ext uri="{9D8B030D-6E8A-4147-A177-3AD203B41FA5}">
                      <a16:colId xmlns:a16="http://schemas.microsoft.com/office/drawing/2014/main" val="20003"/>
                    </a:ext>
                  </a:extLst>
                </a:gridCol>
                <a:gridCol w="4769550">
                  <a:extLst>
                    <a:ext uri="{9D8B030D-6E8A-4147-A177-3AD203B41FA5}">
                      <a16:colId xmlns:a16="http://schemas.microsoft.com/office/drawing/2014/main" val="20004"/>
                    </a:ext>
                  </a:extLst>
                </a:gridCol>
              </a:tblGrid>
              <a:tr h="410175">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Firm Name</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Remaining Amount</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List Name</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Expected Date of reversal</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359350">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BALAJI CONSTRUCTION COMPANY</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2000"/>
                        <a:buFont typeface="Arial"/>
                        <a:buNone/>
                      </a:pPr>
                      <a:r>
                        <a:rPr lang="en-IN" sz="2000" b="1" i="0" u="none" strike="noStrike" cap="none">
                          <a:solidFill>
                            <a:srgbClr val="000000"/>
                          </a:solidFill>
                          <a:latin typeface="Arial"/>
                          <a:ea typeface="Arial"/>
                          <a:cs typeface="Arial"/>
                          <a:sym typeface="Arial"/>
                        </a:rPr>
                        <a:t>5.15</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600"/>
                        <a:buFont typeface="Arial"/>
                        <a:buNone/>
                      </a:pPr>
                      <a:r>
                        <a:rPr lang="en-IN"/>
                        <a:t>S-11 TDS deduction of Cancelled Taxpayers</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IN"/>
                        <a:t>Liability is being paid in other active firms of the taxpayer. The enforcement wing is investigating of both active and cancelled firms</a:t>
                      </a:r>
                      <a:endParaRPr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77950">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RAM GOPAL BHAKHRA RAM VISHNOI</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2000"/>
                        <a:buFont typeface="Arial"/>
                        <a:buNone/>
                      </a:pPr>
                      <a:r>
                        <a:rPr lang="en-IN" sz="2000" b="1" i="0" u="none" strike="noStrike" cap="none">
                          <a:solidFill>
                            <a:srgbClr val="000000"/>
                          </a:solidFill>
                          <a:latin typeface="Arial"/>
                          <a:ea typeface="Arial"/>
                          <a:cs typeface="Arial"/>
                          <a:sym typeface="Arial"/>
                        </a:rPr>
                        <a:t>1.51</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600"/>
                        <a:buFont typeface="Arial"/>
                        <a:buNone/>
                      </a:pPr>
                      <a:r>
                        <a:rPr lang="en-IN"/>
                        <a:t>S-11 TDS deduction of Cancelled Taxpayers</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600"/>
                        <a:buFont typeface="Calibri"/>
                        <a:buNone/>
                      </a:pPr>
                      <a:r>
                        <a:rPr lang="en-IN">
                          <a:solidFill>
                            <a:schemeClr val="dk1"/>
                          </a:solidFill>
                        </a:rPr>
                        <a:t>Liability is being paid in other active firms of the taxpayer. The enforcement wing is investigating of both active and cancelled firms</a:t>
                      </a:r>
                      <a:endParaRPr>
                        <a:solidFill>
                          <a:schemeClr val="dk1"/>
                        </a:solidFill>
                      </a:endParaRPr>
                    </a:p>
                    <a:p>
                      <a:pPr marL="0" marR="0" lvl="0" indent="0" algn="ctr" rtl="0">
                        <a:spcBef>
                          <a:spcPts val="0"/>
                        </a:spcBef>
                        <a:spcAft>
                          <a:spcPts val="0"/>
                        </a:spcAft>
                        <a:buClr>
                          <a:schemeClr val="dk1"/>
                        </a:buClr>
                        <a:buSzPts val="1600"/>
                        <a:buFont typeface="Calibri"/>
                        <a:buNone/>
                      </a:pP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782950">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SHANKAR LAL HIRALAL</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2000"/>
                        <a:buFont typeface="Arial"/>
                        <a:buNone/>
                      </a:pPr>
                      <a:r>
                        <a:rPr lang="en-IN" sz="2000" b="1" i="0" u="none" strike="noStrike" cap="none">
                          <a:solidFill>
                            <a:srgbClr val="000000"/>
                          </a:solidFill>
                          <a:latin typeface="Arial"/>
                          <a:ea typeface="Arial"/>
                          <a:cs typeface="Arial"/>
                          <a:sym typeface="Arial"/>
                        </a:rPr>
                        <a:t>1.28</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600"/>
                        <a:buFont typeface="Arial"/>
                        <a:buNone/>
                      </a:pPr>
                      <a:r>
                        <a:rPr lang="en-IN"/>
                        <a:t>S-11 TDS deduction of Cancelled Taxpayers</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r>
                        <a:rPr lang="en-IN" sz="1600"/>
                        <a:t>31-03-2026</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457200" marR="0" lvl="0" indent="-304800" algn="l" rtl="0">
                        <a:spcBef>
                          <a:spcPts val="0"/>
                        </a:spcBef>
                        <a:spcAft>
                          <a:spcPts val="0"/>
                        </a:spcAft>
                        <a:buClr>
                          <a:schemeClr val="dk1"/>
                        </a:buClr>
                        <a:buSzPts val="1200"/>
                        <a:buAutoNum type="arabicPeriod"/>
                      </a:pPr>
                      <a:r>
                        <a:rPr lang="en-IN" sz="1200">
                          <a:solidFill>
                            <a:schemeClr val="dk1"/>
                          </a:solidFill>
                        </a:rPr>
                        <a:t>The order has been issued for the Financial Years 2021–22, 2022–23, 2023–24, and 2024–25, creating a total demand of Rs. 1.67 crore.</a:t>
                      </a:r>
                      <a:endParaRPr sz="1700"/>
                    </a:p>
                    <a:p>
                      <a:pPr marL="457200" lvl="0" indent="-311150" algn="l" rtl="0">
                        <a:spcBef>
                          <a:spcPts val="0"/>
                        </a:spcBef>
                        <a:spcAft>
                          <a:spcPts val="0"/>
                        </a:spcAft>
                        <a:buClr>
                          <a:schemeClr val="dk1"/>
                        </a:buClr>
                        <a:buSzPts val="1300"/>
                        <a:buAutoNum type="arabicPeriod"/>
                      </a:pPr>
                      <a:r>
                        <a:rPr lang="en-IN" sz="1300">
                          <a:solidFill>
                            <a:schemeClr val="dk1"/>
                          </a:solidFill>
                        </a:rPr>
                        <a:t>Amounting Rs. 6,74,852 has been recovered in cash, and</a:t>
                      </a:r>
                      <a:br>
                        <a:rPr lang="en-IN" sz="1300">
                          <a:solidFill>
                            <a:schemeClr val="dk1"/>
                          </a:solidFill>
                        </a:rPr>
                      </a:br>
                      <a:r>
                        <a:rPr lang="en-IN" sz="1300">
                          <a:solidFill>
                            <a:schemeClr val="dk1"/>
                          </a:solidFill>
                        </a:rPr>
                        <a:t>Amounting Rs. 23,878 has been recovered through ITC. </a:t>
                      </a:r>
                      <a:endParaRPr sz="17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22500">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POONIYA &amp; COMPANY</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2000"/>
                        <a:buFont typeface="Arial"/>
                        <a:buNone/>
                      </a:pPr>
                      <a:r>
                        <a:rPr lang="en-IN" sz="2000" b="1" i="0" u="none" strike="noStrike" cap="none">
                          <a:solidFill>
                            <a:srgbClr val="000000"/>
                          </a:solidFill>
                          <a:latin typeface="Arial"/>
                          <a:ea typeface="Arial"/>
                          <a:cs typeface="Arial"/>
                          <a:sym typeface="Arial"/>
                        </a:rPr>
                        <a:t>0.12</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600"/>
                        <a:buFont typeface="Arial"/>
                        <a:buNone/>
                      </a:pPr>
                      <a:r>
                        <a:rPr lang="en-IN"/>
                        <a:t>S-11 TDS deduction of Cancelled Taxpayers</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r>
                        <a:rPr lang="en-IN" sz="1600"/>
                        <a:t>31-03-2026</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r>
                        <a:rPr lang="en-IN"/>
                        <a:t>Taxpayer is centre jurisdiction as per telephonic talk to taxpayer, he deposit amount till 31-03-2026.</a:t>
                      </a:r>
                      <a:endParaRPr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22500">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AMBICA ENTERPRISES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2000"/>
                        <a:buFont typeface="Arial"/>
                        <a:buNone/>
                      </a:pPr>
                      <a:r>
                        <a:rPr lang="en-IN" sz="2000" b="1" i="0" u="none" strike="noStrike" cap="none">
                          <a:solidFill>
                            <a:srgbClr val="000000"/>
                          </a:solidFill>
                          <a:latin typeface="Arial"/>
                          <a:ea typeface="Arial"/>
                          <a:cs typeface="Arial"/>
                          <a:sym typeface="Arial"/>
                        </a:rPr>
                        <a:t>0.11</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600"/>
                        <a:buFont typeface="Arial"/>
                        <a:buNone/>
                      </a:pPr>
                      <a:r>
                        <a:rPr lang="en-IN"/>
                        <a:t>S-11 TDS deduction of Cancelled Taxpayers</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r>
                        <a:rPr lang="en-IN" sz="1600"/>
                        <a:t>31-03-2026</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r>
                        <a:rPr lang="en-IN"/>
                        <a:t>Taxpayer is centre jurisdiction as per telephonic talk to taxpayer, he deposit amount till 31-03-2026.</a:t>
                      </a:r>
                      <a:endParaRPr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77950">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HARI OM CONSTRCTION COMPANEY</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2000"/>
                        <a:buFont typeface="Arial"/>
                        <a:buNone/>
                      </a:pPr>
                      <a:r>
                        <a:rPr lang="en-IN" sz="2000" b="1" i="0" u="none" strike="noStrike" cap="none">
                          <a:solidFill>
                            <a:srgbClr val="000000"/>
                          </a:solidFill>
                          <a:latin typeface="Arial"/>
                          <a:ea typeface="Arial"/>
                          <a:cs typeface="Arial"/>
                          <a:sym typeface="Arial"/>
                        </a:rPr>
                        <a:t>0.10</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600"/>
                        <a:buFont typeface="Arial"/>
                        <a:buNone/>
                      </a:pPr>
                      <a:r>
                        <a:rPr lang="en-IN"/>
                        <a:t>S-11 TDS deduction of Cancelled Taxpayers</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r>
                        <a:rPr lang="en-IN" sz="1600"/>
                        <a:t>31-03-2026</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600"/>
                        <a:buFont typeface="Calibri"/>
                        <a:buNone/>
                      </a:pPr>
                      <a:r>
                        <a:rPr lang="en-IN">
                          <a:solidFill>
                            <a:schemeClr val="dk1"/>
                          </a:solidFill>
                        </a:rPr>
                        <a:t>Adjudication will be done against taxpayer and recovery will be complete till 31-03-2026.</a:t>
                      </a:r>
                      <a:endParaRPr>
                        <a:solidFill>
                          <a:schemeClr val="dk1"/>
                        </a:solidFill>
                      </a:endParaRPr>
                    </a:p>
                    <a:p>
                      <a:pPr marL="0" lvl="0" indent="0" algn="ctr" rtl="0">
                        <a:spcBef>
                          <a:spcPts val="0"/>
                        </a:spcBef>
                        <a:spcAft>
                          <a:spcPts val="0"/>
                        </a:spcAft>
                        <a:buClr>
                          <a:schemeClr val="dk1"/>
                        </a:buClr>
                        <a:buSzPts val="1600"/>
                        <a:buFont typeface="Calibri"/>
                        <a:buNone/>
                      </a:pPr>
                      <a:endParaRPr>
                        <a:solidFill>
                          <a:schemeClr val="dk1"/>
                        </a:solidFill>
                      </a:endParaRPr>
                    </a:p>
                    <a:p>
                      <a:pPr marL="0" marR="0" lvl="0" indent="0" algn="ctr" rtl="0">
                        <a:spcBef>
                          <a:spcPts val="0"/>
                        </a:spcBef>
                        <a:spcAft>
                          <a:spcPts val="0"/>
                        </a:spcAft>
                        <a:buClr>
                          <a:schemeClr val="dk1"/>
                        </a:buClr>
                        <a:buSzPts val="1600"/>
                        <a:buFont typeface="Calibri"/>
                        <a:buNone/>
                      </a:pP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22500">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R.S. CONSTRUCTION Suppliers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2000"/>
                        <a:buFont typeface="Arial"/>
                        <a:buNone/>
                      </a:pPr>
                      <a:r>
                        <a:rPr lang="en-IN" sz="2000" b="1" i="0" u="none" strike="noStrike" cap="none">
                          <a:solidFill>
                            <a:srgbClr val="000000"/>
                          </a:solidFill>
                          <a:latin typeface="Arial"/>
                          <a:ea typeface="Arial"/>
                          <a:cs typeface="Arial"/>
                          <a:sym typeface="Arial"/>
                        </a:rPr>
                        <a:t>0.09</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600"/>
                        <a:buFont typeface="Arial"/>
                        <a:buNone/>
                      </a:pPr>
                      <a:r>
                        <a:rPr lang="en-IN"/>
                        <a:t>S-11 TDS deduction of Cancelled Taxpayers</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r>
                        <a:rPr lang="en-IN" sz="1600"/>
                        <a:t>31-03-2026</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r>
                        <a:rPr lang="en-IN"/>
                        <a:t>Adjudication will be done against taxpayer and recovery will be complete till 31-03-2026.</a:t>
                      </a:r>
                      <a:endParaRPr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77950">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MITANSHU INFRA</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2000"/>
                        <a:buFont typeface="Arial"/>
                        <a:buNone/>
                      </a:pPr>
                      <a:r>
                        <a:rPr lang="en-IN" sz="2000" b="1" i="0" u="none" strike="noStrike" cap="none">
                          <a:solidFill>
                            <a:srgbClr val="000000"/>
                          </a:solidFill>
                          <a:latin typeface="Arial"/>
                          <a:ea typeface="Arial"/>
                          <a:cs typeface="Arial"/>
                          <a:sym typeface="Arial"/>
                        </a:rPr>
                        <a:t>0.09</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600"/>
                        <a:buFont typeface="Arial"/>
                        <a:buNone/>
                      </a:pPr>
                      <a:r>
                        <a:rPr lang="en-IN"/>
                        <a:t>S-11 TDS deduction of Cancelled Taxpayers</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r>
                        <a:rPr lang="en-IN" sz="1600"/>
                        <a:t>15-03-2026</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600"/>
                        <a:buFont typeface="Calibri"/>
                        <a:buNone/>
                      </a:pPr>
                      <a:r>
                        <a:rPr lang="en-IN">
                          <a:solidFill>
                            <a:schemeClr val="dk1"/>
                          </a:solidFill>
                        </a:rPr>
                        <a:t>Adjudication will be done against taxpayer and recovery will be complete till 31-03-2026.</a:t>
                      </a:r>
                      <a:endParaRPr>
                        <a:solidFill>
                          <a:schemeClr val="dk1"/>
                        </a:solidFill>
                      </a:endParaRPr>
                    </a:p>
                    <a:p>
                      <a:pPr marL="0" lvl="0" indent="0" algn="ctr" rtl="0">
                        <a:spcBef>
                          <a:spcPts val="0"/>
                        </a:spcBef>
                        <a:spcAft>
                          <a:spcPts val="0"/>
                        </a:spcAft>
                        <a:buClr>
                          <a:schemeClr val="dk1"/>
                        </a:buClr>
                        <a:buSzPts val="1600"/>
                        <a:buFont typeface="Calibri"/>
                        <a:buNone/>
                      </a:pPr>
                      <a:endParaRPr>
                        <a:solidFill>
                          <a:schemeClr val="dk1"/>
                        </a:solidFill>
                      </a:endParaRPr>
                    </a:p>
                    <a:p>
                      <a:pPr marL="0" marR="0" lvl="0" indent="0" algn="ctr" rtl="0">
                        <a:spcBef>
                          <a:spcPts val="0"/>
                        </a:spcBef>
                        <a:spcAft>
                          <a:spcPts val="0"/>
                        </a:spcAft>
                        <a:buClr>
                          <a:schemeClr val="dk1"/>
                        </a:buClr>
                        <a:buSzPts val="1600"/>
                        <a:buFont typeface="Calibri"/>
                        <a:buNone/>
                      </a:pP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322500">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RAMDEV CONSTRUCTION COMPANY</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2000"/>
                        <a:buFont typeface="Arial"/>
                        <a:buNone/>
                      </a:pPr>
                      <a:r>
                        <a:rPr lang="en-IN" sz="2000" b="1" i="0" u="none" strike="noStrike" cap="none">
                          <a:solidFill>
                            <a:srgbClr val="000000"/>
                          </a:solidFill>
                          <a:latin typeface="Arial"/>
                          <a:ea typeface="Arial"/>
                          <a:cs typeface="Arial"/>
                          <a:sym typeface="Arial"/>
                        </a:rPr>
                        <a:t>0.06</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600"/>
                        <a:buFont typeface="Arial"/>
                        <a:buNone/>
                      </a:pPr>
                      <a:r>
                        <a:rPr lang="en-IN"/>
                        <a:t>S-11 TDS deduction of Cancelled Taxpayers</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r>
                        <a:rPr lang="en-IN" sz="1600"/>
                        <a:t>31-03-2026</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600"/>
                        <a:buFont typeface="Calibri"/>
                        <a:buNone/>
                      </a:pPr>
                      <a:r>
                        <a:rPr lang="en-IN">
                          <a:solidFill>
                            <a:schemeClr val="dk1"/>
                          </a:solidFill>
                        </a:rPr>
                        <a:t>Taxpayer is centre jurisdiction as per telephonic talk to taxpayer, he deposit amount till 31-03-2026</a:t>
                      </a:r>
                      <a:endParaRPr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322500">
                <a:tc>
                  <a:txBody>
                    <a:bodyPr/>
                    <a:lstStyle/>
                    <a:p>
                      <a:pPr marL="0" marR="0" lvl="0" indent="0" algn="ctr" rtl="0">
                        <a:spcBef>
                          <a:spcPts val="0"/>
                        </a:spcBef>
                        <a:spcAft>
                          <a:spcPts val="0"/>
                        </a:spcAft>
                        <a:buClr>
                          <a:srgbClr val="000000"/>
                        </a:buClr>
                        <a:buSzPts val="1600"/>
                        <a:buFont typeface="Arial"/>
                        <a:buNone/>
                      </a:pPr>
                      <a:r>
                        <a:rPr lang="en-IN" sz="1600" b="0" i="0" u="none" strike="noStrike" cap="none">
                          <a:solidFill>
                            <a:srgbClr val="000000"/>
                          </a:solidFill>
                          <a:latin typeface="Arial"/>
                          <a:ea typeface="Arial"/>
                          <a:cs typeface="Arial"/>
                          <a:sym typeface="Arial"/>
                        </a:rPr>
                        <a:t>MEERA CONSTRUCTION COMPANY</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2000"/>
                        <a:buFont typeface="Arial"/>
                        <a:buNone/>
                      </a:pPr>
                      <a:r>
                        <a:rPr lang="en-IN" sz="2000" b="1" i="0" u="none" strike="noStrike" cap="none">
                          <a:solidFill>
                            <a:srgbClr val="000000"/>
                          </a:solidFill>
                          <a:latin typeface="Arial"/>
                          <a:ea typeface="Arial"/>
                          <a:cs typeface="Arial"/>
                          <a:sym typeface="Arial"/>
                        </a:rPr>
                        <a:t>0.06</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600"/>
                        <a:buFont typeface="Arial"/>
                        <a:buNone/>
                      </a:pPr>
                      <a:r>
                        <a:rPr lang="en-IN"/>
                        <a:t>S-11 TDS deduction of Cancelled Taxpayers</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alibri"/>
                        <a:buNone/>
                      </a:pPr>
                      <a:r>
                        <a:rPr lang="en-IN" sz="1600"/>
                        <a:t>31-03-2026</a:t>
                      </a:r>
                      <a:endParaRPr sz="16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600"/>
                        <a:buFont typeface="Calibri"/>
                        <a:buNone/>
                      </a:pPr>
                      <a:r>
                        <a:rPr lang="en-IN">
                          <a:solidFill>
                            <a:schemeClr val="dk1"/>
                          </a:solidFill>
                        </a:rPr>
                        <a:t>Adjudication will be done against taxpayer and recovery will be complete till 31-03-2026.</a:t>
                      </a:r>
                      <a:endParaRPr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139075">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Total</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8.57</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chemeClr val="dk1"/>
                        </a:buClr>
                        <a:buSzPts val="1600"/>
                        <a:buFont typeface="Calibri"/>
                        <a:buNone/>
                      </a:pPr>
                      <a:endParaRPr sz="1600" b="1" i="0" u="none" strike="noStrike" cap="none">
                        <a:solidFill>
                          <a:srgbClr val="FFFFFF"/>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74"/>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 A, Bharatpur - SGST</a:t>
            </a:r>
            <a:endParaRPr sz="2000" b="1" i="0" u="none" strike="noStrike" cap="none">
              <a:solidFill>
                <a:srgbClr val="000000"/>
              </a:solidFill>
              <a:latin typeface="Verdana"/>
              <a:ea typeface="Verdana"/>
              <a:cs typeface="Verdana"/>
              <a:sym typeface="Verdana"/>
            </a:endParaRPr>
          </a:p>
        </p:txBody>
      </p:sp>
      <p:sp>
        <p:nvSpPr>
          <p:cNvPr id="644" name="Google Shape;644;p74"/>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645" name="Google Shape;645;p74"/>
          <p:cNvGraphicFramePr/>
          <p:nvPr>
            <p:extLst>
              <p:ext uri="{D42A27DB-BD31-4B8C-83A1-F6EECF244321}">
                <p14:modId xmlns:p14="http://schemas.microsoft.com/office/powerpoint/2010/main" val="1004295740"/>
              </p:ext>
            </p:extLst>
          </p:nvPr>
        </p:nvGraphicFramePr>
        <p:xfrm>
          <a:off x="339724" y="806699"/>
          <a:ext cx="11719200" cy="5641605"/>
        </p:xfrm>
        <a:graphic>
          <a:graphicData uri="http://schemas.openxmlformats.org/drawingml/2006/table">
            <a:tbl>
              <a:tblPr>
                <a:noFill/>
                <a:tableStyleId>{ED13AFB8-4CE9-44F5-8004-2B2D446919A9}</a:tableStyleId>
              </a:tblPr>
              <a:tblGrid>
                <a:gridCol w="3947875">
                  <a:extLst>
                    <a:ext uri="{9D8B030D-6E8A-4147-A177-3AD203B41FA5}">
                      <a16:colId xmlns:a16="http://schemas.microsoft.com/office/drawing/2014/main" val="20000"/>
                    </a:ext>
                  </a:extLst>
                </a:gridCol>
                <a:gridCol w="1191475">
                  <a:extLst>
                    <a:ext uri="{9D8B030D-6E8A-4147-A177-3AD203B41FA5}">
                      <a16:colId xmlns:a16="http://schemas.microsoft.com/office/drawing/2014/main" val="20001"/>
                    </a:ext>
                  </a:extLst>
                </a:gridCol>
                <a:gridCol w="1740332">
                  <a:extLst>
                    <a:ext uri="{9D8B030D-6E8A-4147-A177-3AD203B41FA5}">
                      <a16:colId xmlns:a16="http://schemas.microsoft.com/office/drawing/2014/main" val="20002"/>
                    </a:ext>
                  </a:extLst>
                </a:gridCol>
                <a:gridCol w="653143">
                  <a:extLst>
                    <a:ext uri="{9D8B030D-6E8A-4147-A177-3AD203B41FA5}">
                      <a16:colId xmlns:a16="http://schemas.microsoft.com/office/drawing/2014/main" val="20003"/>
                    </a:ext>
                  </a:extLst>
                </a:gridCol>
                <a:gridCol w="4186375">
                  <a:extLst>
                    <a:ext uri="{9D8B030D-6E8A-4147-A177-3AD203B41FA5}">
                      <a16:colId xmlns:a16="http://schemas.microsoft.com/office/drawing/2014/main" val="20004"/>
                    </a:ext>
                  </a:extLst>
                </a:gridCol>
              </a:tblGrid>
              <a:tr h="690075">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Firm Name</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Remaining Amount</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List Name</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Expected Date of reversal</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341975">
                <a:tc>
                  <a:txBody>
                    <a:bodyPr/>
                    <a:lstStyle/>
                    <a:p>
                      <a:pPr marL="0" marR="0" lvl="0" indent="0" algn="ctr" rtl="0">
                        <a:spcBef>
                          <a:spcPts val="0"/>
                        </a:spcBef>
                        <a:spcAft>
                          <a:spcPts val="0"/>
                        </a:spcAft>
                        <a:buClr>
                          <a:srgbClr val="000000"/>
                        </a:buClr>
                        <a:buSzPts val="1400"/>
                        <a:buFont typeface="Arial"/>
                        <a:buNone/>
                      </a:pPr>
                      <a:r>
                        <a:rPr lang="en-IN" sz="1200" b="0" i="0" u="none" strike="noStrike" cap="none">
                          <a:solidFill>
                            <a:srgbClr val="000000"/>
                          </a:solidFill>
                          <a:latin typeface="Arial"/>
                          <a:ea typeface="Arial"/>
                          <a:cs typeface="Arial"/>
                          <a:sym typeface="Arial"/>
                        </a:rPr>
                        <a:t>DARPAN</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600" b="1" i="0" u="none" strike="noStrike" cap="none">
                          <a:solidFill>
                            <a:srgbClr val="000000"/>
                          </a:solidFill>
                          <a:latin typeface="Arial"/>
                          <a:ea typeface="Arial"/>
                          <a:cs typeface="Arial"/>
                          <a:sym typeface="Arial"/>
                        </a:rPr>
                        <a:t>0.49</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sz="1200"/>
                        <a:t>S-10 - RCM Invoice sgst cash</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sz="800"/>
                        <a:t>16-02-26</a:t>
                      </a:r>
                      <a:endParaRPr sz="8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sz="1050" dirty="0"/>
                        <a:t>0.101 cr. </a:t>
                      </a:r>
                      <a:r>
                        <a:rPr lang="en-IN" sz="1050" dirty="0" err="1"/>
                        <a:t>reovered</a:t>
                      </a:r>
                      <a:r>
                        <a:rPr lang="en-IN" sz="1050" dirty="0"/>
                        <a:t> , survey conducted and fully </a:t>
                      </a:r>
                      <a:r>
                        <a:rPr lang="en-IN" sz="1050" dirty="0" err="1"/>
                        <a:t>rcm</a:t>
                      </a:r>
                      <a:r>
                        <a:rPr lang="en-IN" sz="1050" dirty="0"/>
                        <a:t> amount deposited as soon as</a:t>
                      </a:r>
                      <a:endParaRPr sz="1050" b="0" i="0" u="none" strike="noStrike" cap="none" dirty="0">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04053">
                <a:tc>
                  <a:txBody>
                    <a:bodyPr/>
                    <a:lstStyle/>
                    <a:p>
                      <a:pPr marL="0" marR="0" lvl="0" indent="0" algn="ctr" rtl="0">
                        <a:spcBef>
                          <a:spcPts val="0"/>
                        </a:spcBef>
                        <a:spcAft>
                          <a:spcPts val="0"/>
                        </a:spcAft>
                        <a:buClr>
                          <a:srgbClr val="000000"/>
                        </a:buClr>
                        <a:buSzPts val="1400"/>
                        <a:buFont typeface="Arial"/>
                        <a:buNone/>
                      </a:pPr>
                      <a:r>
                        <a:rPr lang="en-IN" sz="1200" b="0" i="0" u="none" strike="noStrike" cap="none">
                          <a:solidFill>
                            <a:srgbClr val="000000"/>
                          </a:solidFill>
                          <a:latin typeface="Arial"/>
                          <a:ea typeface="Arial"/>
                          <a:cs typeface="Arial"/>
                          <a:sym typeface="Arial"/>
                        </a:rPr>
                        <a:t>DEEPENDRA KUMAR SHARMA</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600" b="1" i="0" u="none" strike="noStrike" cap="none">
                          <a:solidFill>
                            <a:srgbClr val="000000"/>
                          </a:solidFill>
                          <a:latin typeface="Arial"/>
                          <a:ea typeface="Arial"/>
                          <a:cs typeface="Arial"/>
                          <a:sym typeface="Arial"/>
                        </a:rPr>
                        <a:t>0.42</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sz="1200"/>
                        <a:t>S-11 TDS deduction of Cancelled Taxpayers</a:t>
                      </a: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IN" sz="1050" dirty="0"/>
                        <a:t>Contact to the taxable person but phone no is not active CA </a:t>
                      </a:r>
                      <a:r>
                        <a:rPr lang="en-IN" sz="1050" dirty="0" err="1"/>
                        <a:t>munesh</a:t>
                      </a:r>
                      <a:r>
                        <a:rPr lang="en-IN" sz="1050" dirty="0"/>
                        <a:t> </a:t>
                      </a:r>
                      <a:r>
                        <a:rPr lang="en-IN" sz="1050" dirty="0" err="1"/>
                        <a:t>gupta</a:t>
                      </a:r>
                      <a:r>
                        <a:rPr lang="en-IN" sz="1050" dirty="0"/>
                        <a:t> says that the taxable person is not contacted with me so the taxable </a:t>
                      </a:r>
                      <a:r>
                        <a:rPr lang="en-IN" sz="1050" dirty="0" err="1"/>
                        <a:t>peron</a:t>
                      </a:r>
                      <a:r>
                        <a:rPr lang="en-IN" sz="1050" dirty="0"/>
                        <a:t> is traced as soon as</a:t>
                      </a:r>
                      <a:endParaRPr sz="1050" dirty="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40157">
                <a:tc>
                  <a:txBody>
                    <a:bodyPr/>
                    <a:lstStyle/>
                    <a:p>
                      <a:pPr marL="0" marR="0" lvl="0" indent="0" algn="ctr" rtl="0">
                        <a:spcBef>
                          <a:spcPts val="0"/>
                        </a:spcBef>
                        <a:spcAft>
                          <a:spcPts val="0"/>
                        </a:spcAft>
                        <a:buClr>
                          <a:srgbClr val="000000"/>
                        </a:buClr>
                        <a:buSzPts val="1400"/>
                        <a:buFont typeface="Arial"/>
                        <a:buNone/>
                      </a:pPr>
                      <a:r>
                        <a:rPr lang="en-IN" sz="1100" b="0" i="0" u="none" strike="noStrike" cap="none">
                          <a:solidFill>
                            <a:srgbClr val="000000"/>
                          </a:solidFill>
                          <a:latin typeface="Arial"/>
                          <a:ea typeface="Arial"/>
                          <a:cs typeface="Arial"/>
                          <a:sym typeface="Arial"/>
                        </a:rPr>
                        <a:t>M/S SITA RAM</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500" b="1" i="0" u="none" strike="noStrike" cap="none">
                          <a:solidFill>
                            <a:srgbClr val="000000"/>
                          </a:solidFill>
                          <a:latin typeface="Arial"/>
                          <a:ea typeface="Arial"/>
                          <a:cs typeface="Arial"/>
                          <a:sym typeface="Arial"/>
                        </a:rPr>
                        <a:t>0.36</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sz="1100"/>
                        <a:t>S-10 - RCM Invoice sgst cash</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1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IN" sz="1100" dirty="0">
                          <a:solidFill>
                            <a:schemeClr val="dk1"/>
                          </a:solidFill>
                        </a:rPr>
                        <a:t>Contact to the taxable person and says that deposited up to march 26</a:t>
                      </a:r>
                      <a:endParaRPr sz="1100" dirty="0">
                        <a:solidFill>
                          <a:schemeClr val="dk1"/>
                        </a:solidFill>
                      </a:endParaRPr>
                    </a:p>
                    <a:p>
                      <a:pPr marL="0" lvl="0" indent="0" algn="l" rtl="0">
                        <a:spcBef>
                          <a:spcPts val="0"/>
                        </a:spcBef>
                        <a:spcAft>
                          <a:spcPts val="0"/>
                        </a:spcAft>
                        <a:buNone/>
                      </a:pPr>
                      <a:endParaRPr sz="1100" dirty="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62325">
                <a:tc>
                  <a:txBody>
                    <a:bodyPr/>
                    <a:lstStyle/>
                    <a:p>
                      <a:pPr marL="0" marR="0" lvl="0" indent="0" algn="ctr" rtl="0">
                        <a:spcBef>
                          <a:spcPts val="0"/>
                        </a:spcBef>
                        <a:spcAft>
                          <a:spcPts val="0"/>
                        </a:spcAft>
                        <a:buClr>
                          <a:srgbClr val="000000"/>
                        </a:buClr>
                        <a:buSzPts val="1400"/>
                        <a:buFont typeface="Arial"/>
                        <a:buNone/>
                      </a:pPr>
                      <a:r>
                        <a:rPr lang="en-IN" sz="1100" b="0" i="0" u="none" strike="noStrike" cap="none">
                          <a:solidFill>
                            <a:srgbClr val="000000"/>
                          </a:solidFill>
                          <a:latin typeface="Arial"/>
                          <a:ea typeface="Arial"/>
                          <a:cs typeface="Arial"/>
                          <a:sym typeface="Arial"/>
                        </a:rPr>
                        <a:t>NAJIM TRADING COMPANY</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500" b="1" i="0" u="none" strike="noStrike" cap="none">
                          <a:solidFill>
                            <a:srgbClr val="000000"/>
                          </a:solidFill>
                          <a:latin typeface="Arial"/>
                          <a:ea typeface="Arial"/>
                          <a:cs typeface="Arial"/>
                          <a:sym typeface="Arial"/>
                        </a:rPr>
                        <a:t>0.33</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sz="1100"/>
                        <a:t>S-10 - RCM Invoice sgst cash</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IN" sz="1000">
                          <a:solidFill>
                            <a:schemeClr val="dk1"/>
                          </a:solidFill>
                        </a:rPr>
                        <a:t>Contact to the taxable person but phone no is not connected so the taxable peron is contact and  traced as soon as</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62325">
                <a:tc>
                  <a:txBody>
                    <a:bodyPr/>
                    <a:lstStyle/>
                    <a:p>
                      <a:pPr marL="0" marR="0" lvl="0" indent="0" algn="ctr" rtl="0">
                        <a:spcBef>
                          <a:spcPts val="0"/>
                        </a:spcBef>
                        <a:spcAft>
                          <a:spcPts val="0"/>
                        </a:spcAft>
                        <a:buClr>
                          <a:srgbClr val="000000"/>
                        </a:buClr>
                        <a:buSzPts val="1400"/>
                        <a:buFont typeface="Arial"/>
                        <a:buNone/>
                      </a:pPr>
                      <a:r>
                        <a:rPr lang="en-IN" sz="1100" b="0" i="0" u="none" strike="noStrike" cap="none">
                          <a:solidFill>
                            <a:srgbClr val="000000"/>
                          </a:solidFill>
                          <a:latin typeface="Arial"/>
                          <a:ea typeface="Arial"/>
                          <a:cs typeface="Arial"/>
                          <a:sym typeface="Arial"/>
                        </a:rPr>
                        <a:t>S S STONE CRUSHER</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500" b="1" i="0" u="none" strike="noStrike" cap="none">
                          <a:solidFill>
                            <a:srgbClr val="000000"/>
                          </a:solidFill>
                          <a:latin typeface="Arial"/>
                          <a:ea typeface="Arial"/>
                          <a:cs typeface="Arial"/>
                          <a:sym typeface="Arial"/>
                        </a:rPr>
                        <a:t>0.30</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sz="1100"/>
                        <a:t>S-10 - RCM Invoice sgst cash</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IN" sz="1100" dirty="0"/>
                        <a:t>Firm belong to  </a:t>
                      </a:r>
                      <a:r>
                        <a:rPr lang="en-IN" sz="1100" dirty="0" err="1"/>
                        <a:t>center</a:t>
                      </a:r>
                      <a:r>
                        <a:rPr lang="en-IN" sz="1100" dirty="0"/>
                        <a:t> </a:t>
                      </a:r>
                      <a:r>
                        <a:rPr lang="en-IN" sz="1100" dirty="0">
                          <a:solidFill>
                            <a:schemeClr val="dk1"/>
                          </a:solidFill>
                        </a:rPr>
                        <a:t>Contact to the taxable person and says that deposited up to march 26</a:t>
                      </a:r>
                      <a:endParaRPr sz="1100" dirty="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33650">
                <a:tc>
                  <a:txBody>
                    <a:bodyPr/>
                    <a:lstStyle/>
                    <a:p>
                      <a:pPr marL="0" marR="0" lvl="0" indent="0" algn="ctr" rtl="0">
                        <a:spcBef>
                          <a:spcPts val="0"/>
                        </a:spcBef>
                        <a:spcAft>
                          <a:spcPts val="0"/>
                        </a:spcAft>
                        <a:buClr>
                          <a:srgbClr val="000000"/>
                        </a:buClr>
                        <a:buSzPts val="1400"/>
                        <a:buFont typeface="Arial"/>
                        <a:buNone/>
                      </a:pPr>
                      <a:r>
                        <a:rPr lang="en-IN" sz="1100" b="0" i="0" u="none" strike="noStrike" cap="none">
                          <a:solidFill>
                            <a:srgbClr val="000000"/>
                          </a:solidFill>
                          <a:latin typeface="Arial"/>
                          <a:ea typeface="Arial"/>
                          <a:cs typeface="Arial"/>
                          <a:sym typeface="Arial"/>
                        </a:rPr>
                        <a:t>I K CONSTRUCTIONS</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500" b="1" i="0" u="none" strike="noStrike" cap="none">
                          <a:solidFill>
                            <a:srgbClr val="000000"/>
                          </a:solidFill>
                          <a:latin typeface="Arial"/>
                          <a:ea typeface="Arial"/>
                          <a:cs typeface="Arial"/>
                          <a:sym typeface="Arial"/>
                        </a:rPr>
                        <a:t>0.25</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sz="1100"/>
                        <a:t>S-11 TDS deduction of Cancelled Taxpayers</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0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IN" sz="1050"/>
                        <a:t>Firm belong to center </a:t>
                      </a:r>
                      <a:r>
                        <a:rPr lang="en-IN" sz="900">
                          <a:solidFill>
                            <a:schemeClr val="dk1"/>
                          </a:solidFill>
                        </a:rPr>
                        <a:t>Contact to the taxable person but phone no is not active CA ankur  says that the taxable person is not contacted with me so the taxable peron is traced as soon as</a:t>
                      </a:r>
                      <a:endParaRPr sz="105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33650">
                <a:tc>
                  <a:txBody>
                    <a:bodyPr/>
                    <a:lstStyle/>
                    <a:p>
                      <a:pPr marL="0" marR="0" lvl="0" indent="0" algn="ctr" rtl="0">
                        <a:spcBef>
                          <a:spcPts val="0"/>
                        </a:spcBef>
                        <a:spcAft>
                          <a:spcPts val="0"/>
                        </a:spcAft>
                        <a:buClr>
                          <a:srgbClr val="000000"/>
                        </a:buClr>
                        <a:buSzPts val="1400"/>
                        <a:buFont typeface="Arial"/>
                        <a:buNone/>
                      </a:pPr>
                      <a:r>
                        <a:rPr lang="en-IN" sz="1100" b="0" i="0" u="none" strike="noStrike" cap="none">
                          <a:solidFill>
                            <a:srgbClr val="000000"/>
                          </a:solidFill>
                          <a:latin typeface="Arial"/>
                          <a:ea typeface="Arial"/>
                          <a:cs typeface="Arial"/>
                          <a:sym typeface="Arial"/>
                        </a:rPr>
                        <a:t>JMA CONSTRUCTION COMPANY </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500" b="1" i="0" u="none" strike="noStrike" cap="none">
                          <a:solidFill>
                            <a:srgbClr val="000000"/>
                          </a:solidFill>
                          <a:latin typeface="Arial"/>
                          <a:ea typeface="Arial"/>
                          <a:cs typeface="Arial"/>
                          <a:sym typeface="Arial"/>
                        </a:rPr>
                        <a:t>0.25</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sz="1100"/>
                        <a:t>S-11 TDS deduction of Cancelled Taxpayers</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IN" sz="1050"/>
                        <a:t>Contact to the taxable person and say new gstin 08ANTPJ5551B2ZV active so due to verification pending</a:t>
                      </a:r>
                      <a:endParaRPr sz="105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62325">
                <a:tc>
                  <a:txBody>
                    <a:bodyPr/>
                    <a:lstStyle/>
                    <a:p>
                      <a:pPr marL="0" marR="0" lvl="0" indent="0" algn="ctr" rtl="0">
                        <a:spcBef>
                          <a:spcPts val="0"/>
                        </a:spcBef>
                        <a:spcAft>
                          <a:spcPts val="0"/>
                        </a:spcAft>
                        <a:buClr>
                          <a:srgbClr val="000000"/>
                        </a:buClr>
                        <a:buSzPts val="1400"/>
                        <a:buFont typeface="Arial"/>
                        <a:buNone/>
                      </a:pPr>
                      <a:r>
                        <a:rPr lang="en-IN" sz="1100" b="0" i="0" u="none" strike="noStrike" cap="none">
                          <a:solidFill>
                            <a:srgbClr val="000000"/>
                          </a:solidFill>
                          <a:latin typeface="Arial"/>
                          <a:ea typeface="Arial"/>
                          <a:cs typeface="Arial"/>
                          <a:sym typeface="Arial"/>
                        </a:rPr>
                        <a:t>BRIJWASI STONE GRIT UDYOG</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500" b="1" i="0" u="none" strike="noStrike" cap="none">
                          <a:solidFill>
                            <a:srgbClr val="000000"/>
                          </a:solidFill>
                          <a:latin typeface="Arial"/>
                          <a:ea typeface="Arial"/>
                          <a:cs typeface="Arial"/>
                          <a:sym typeface="Arial"/>
                        </a:rPr>
                        <a:t>0.25</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sz="1100"/>
                        <a:t>S-10 - RCM Invoice sgst cash</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IN" sz="1100" dirty="0">
                          <a:solidFill>
                            <a:schemeClr val="dk1"/>
                          </a:solidFill>
                        </a:rPr>
                        <a:t>Contact to the taxable person and says that deposited up to march 26</a:t>
                      </a:r>
                      <a:endParaRPr sz="1600" dirty="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62325">
                <a:tc>
                  <a:txBody>
                    <a:bodyPr/>
                    <a:lstStyle/>
                    <a:p>
                      <a:pPr marL="0" marR="0" lvl="0" indent="0" algn="ctr" rtl="0">
                        <a:spcBef>
                          <a:spcPts val="0"/>
                        </a:spcBef>
                        <a:spcAft>
                          <a:spcPts val="0"/>
                        </a:spcAft>
                        <a:buClr>
                          <a:srgbClr val="000000"/>
                        </a:buClr>
                        <a:buSzPts val="1400"/>
                        <a:buFont typeface="Arial"/>
                        <a:buNone/>
                      </a:pPr>
                      <a:r>
                        <a:rPr lang="en-IN" sz="1100" b="0" i="0" u="none" strike="noStrike" cap="none">
                          <a:solidFill>
                            <a:srgbClr val="000000"/>
                          </a:solidFill>
                          <a:latin typeface="Arial"/>
                          <a:ea typeface="Arial"/>
                          <a:cs typeface="Arial"/>
                          <a:sym typeface="Arial"/>
                        </a:rPr>
                        <a:t>DEEPANSHU KHANDELWAL</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500" b="1" i="0" u="none" strike="noStrike" cap="none">
                          <a:solidFill>
                            <a:srgbClr val="000000"/>
                          </a:solidFill>
                          <a:latin typeface="Arial"/>
                          <a:ea typeface="Arial"/>
                          <a:cs typeface="Arial"/>
                          <a:sym typeface="Arial"/>
                        </a:rPr>
                        <a:t>0.25</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sz="1100"/>
                        <a:t>S-10 - RCM Invoice sgst cash</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IN" sz="1100" dirty="0">
                          <a:solidFill>
                            <a:schemeClr val="dk1"/>
                          </a:solidFill>
                        </a:rPr>
                        <a:t>Contact to the taxable person and says that deposited up to </a:t>
                      </a:r>
                      <a:r>
                        <a:rPr lang="en-IN" sz="1100" dirty="0" err="1">
                          <a:solidFill>
                            <a:schemeClr val="dk1"/>
                          </a:solidFill>
                        </a:rPr>
                        <a:t>feb</a:t>
                      </a:r>
                      <a:r>
                        <a:rPr lang="en-IN" sz="1100" dirty="0">
                          <a:solidFill>
                            <a:schemeClr val="dk1"/>
                          </a:solidFill>
                        </a:rPr>
                        <a:t> 26</a:t>
                      </a:r>
                      <a:endParaRPr sz="1600" dirty="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462325">
                <a:tc>
                  <a:txBody>
                    <a:bodyPr/>
                    <a:lstStyle/>
                    <a:p>
                      <a:pPr marL="0" marR="0" lvl="0" indent="0" algn="ctr" rtl="0">
                        <a:spcBef>
                          <a:spcPts val="0"/>
                        </a:spcBef>
                        <a:spcAft>
                          <a:spcPts val="0"/>
                        </a:spcAft>
                        <a:buClr>
                          <a:srgbClr val="000000"/>
                        </a:buClr>
                        <a:buSzPts val="1400"/>
                        <a:buFont typeface="Arial"/>
                        <a:buNone/>
                      </a:pPr>
                      <a:r>
                        <a:rPr lang="en-IN" sz="1100" b="0" i="0" u="none" strike="noStrike" cap="none">
                          <a:solidFill>
                            <a:srgbClr val="000000"/>
                          </a:solidFill>
                          <a:latin typeface="Arial"/>
                          <a:ea typeface="Arial"/>
                          <a:cs typeface="Arial"/>
                          <a:sym typeface="Arial"/>
                        </a:rPr>
                        <a:t>GOPALA MINES AND MINERALS PRIVATE LIMITED</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500" b="1" i="0" u="none" strike="noStrike" cap="none">
                          <a:solidFill>
                            <a:srgbClr val="000000"/>
                          </a:solidFill>
                          <a:latin typeface="Arial"/>
                          <a:ea typeface="Arial"/>
                          <a:cs typeface="Arial"/>
                          <a:sym typeface="Arial"/>
                        </a:rPr>
                        <a:t>0.24</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sz="1100"/>
                        <a:t>S-10 - RCM Invoice sgst cash</a:t>
                      </a: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1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IN" sz="1100" dirty="0">
                          <a:solidFill>
                            <a:schemeClr val="dk1"/>
                          </a:solidFill>
                        </a:rPr>
                        <a:t>Contact to the taxable person and says that deposited up to </a:t>
                      </a:r>
                      <a:r>
                        <a:rPr lang="en-IN" sz="1100" dirty="0" err="1">
                          <a:solidFill>
                            <a:schemeClr val="dk1"/>
                          </a:solidFill>
                        </a:rPr>
                        <a:t>feb</a:t>
                      </a:r>
                      <a:r>
                        <a:rPr lang="en-IN" sz="1100" dirty="0">
                          <a:solidFill>
                            <a:schemeClr val="dk1"/>
                          </a:solidFill>
                        </a:rPr>
                        <a:t> 26</a:t>
                      </a:r>
                      <a:endParaRPr sz="1600" dirty="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396550">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Total</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3.14</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chemeClr val="dk1"/>
                        </a:buClr>
                        <a:buSzPts val="1400"/>
                        <a:buFont typeface="Calibri"/>
                        <a:buNone/>
                      </a:pPr>
                      <a:endParaRPr sz="1400" b="1" i="0" u="none" strike="noStrike" cap="none">
                        <a:solidFill>
                          <a:srgbClr val="FFFFFF"/>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chemeClr val="dk1"/>
                        </a:buClr>
                        <a:buSzPts val="1400"/>
                        <a:buFont typeface="Calibri"/>
                        <a:buNone/>
                      </a:pPr>
                      <a:endParaRPr sz="1400" b="1" i="0" u="none" strike="noStrike" cap="none" dirty="0">
                        <a:solidFill>
                          <a:srgbClr val="FFFFFF"/>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75"/>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 B, Jaipur III - SGST</a:t>
            </a:r>
            <a:endParaRPr sz="2000" b="1" i="0" u="none" strike="noStrike" cap="none">
              <a:solidFill>
                <a:srgbClr val="000000"/>
              </a:solidFill>
              <a:latin typeface="Verdana"/>
              <a:ea typeface="Verdana"/>
              <a:cs typeface="Verdana"/>
              <a:sym typeface="Verdana"/>
            </a:endParaRPr>
          </a:p>
        </p:txBody>
      </p:sp>
      <p:sp>
        <p:nvSpPr>
          <p:cNvPr id="652" name="Google Shape;652;p75"/>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653" name="Google Shape;653;p75"/>
          <p:cNvGraphicFramePr/>
          <p:nvPr/>
        </p:nvGraphicFramePr>
        <p:xfrm>
          <a:off x="466338" y="651747"/>
          <a:ext cx="11470850" cy="7083605"/>
        </p:xfrm>
        <a:graphic>
          <a:graphicData uri="http://schemas.openxmlformats.org/drawingml/2006/table">
            <a:tbl>
              <a:tblPr>
                <a:noFill/>
                <a:tableStyleId>{ED13AFB8-4CE9-44F5-8004-2B2D446919A9}</a:tableStyleId>
              </a:tblPr>
              <a:tblGrid>
                <a:gridCol w="2112200">
                  <a:extLst>
                    <a:ext uri="{9D8B030D-6E8A-4147-A177-3AD203B41FA5}">
                      <a16:colId xmlns:a16="http://schemas.microsoft.com/office/drawing/2014/main" val="20000"/>
                    </a:ext>
                  </a:extLst>
                </a:gridCol>
                <a:gridCol w="823200">
                  <a:extLst>
                    <a:ext uri="{9D8B030D-6E8A-4147-A177-3AD203B41FA5}">
                      <a16:colId xmlns:a16="http://schemas.microsoft.com/office/drawing/2014/main" val="20001"/>
                    </a:ext>
                  </a:extLst>
                </a:gridCol>
                <a:gridCol w="2241875">
                  <a:extLst>
                    <a:ext uri="{9D8B030D-6E8A-4147-A177-3AD203B41FA5}">
                      <a16:colId xmlns:a16="http://schemas.microsoft.com/office/drawing/2014/main" val="20002"/>
                    </a:ext>
                  </a:extLst>
                </a:gridCol>
                <a:gridCol w="1377300">
                  <a:extLst>
                    <a:ext uri="{9D8B030D-6E8A-4147-A177-3AD203B41FA5}">
                      <a16:colId xmlns:a16="http://schemas.microsoft.com/office/drawing/2014/main" val="20003"/>
                    </a:ext>
                  </a:extLst>
                </a:gridCol>
                <a:gridCol w="4916275">
                  <a:extLst>
                    <a:ext uri="{9D8B030D-6E8A-4147-A177-3AD203B41FA5}">
                      <a16:colId xmlns:a16="http://schemas.microsoft.com/office/drawing/2014/main" val="20004"/>
                    </a:ext>
                  </a:extLst>
                </a:gridCol>
              </a:tblGrid>
              <a:tr h="508450">
                <a:tc>
                  <a:txBody>
                    <a:bodyPr/>
                    <a:lstStyle/>
                    <a:p>
                      <a:pPr marL="0" marR="0" lvl="0" indent="0" algn="ctr" rtl="0">
                        <a:spcBef>
                          <a:spcPts val="0"/>
                        </a:spcBef>
                        <a:spcAft>
                          <a:spcPts val="0"/>
                        </a:spcAft>
                        <a:buClr>
                          <a:srgbClr val="FFFFFF"/>
                        </a:buClr>
                        <a:buSzPts val="1000"/>
                        <a:buFont typeface="Arial"/>
                        <a:buNone/>
                      </a:pPr>
                      <a:r>
                        <a:rPr lang="en-IN" sz="1000" b="1" i="0" u="none" strike="noStrike" cap="none">
                          <a:solidFill>
                            <a:srgbClr val="FFFFFF"/>
                          </a:solidFill>
                          <a:latin typeface="Arial"/>
                          <a:ea typeface="Arial"/>
                          <a:cs typeface="Arial"/>
                          <a:sym typeface="Arial"/>
                        </a:rPr>
                        <a:t>Firm Name</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00"/>
                        <a:buFont typeface="Arial"/>
                        <a:buNone/>
                      </a:pPr>
                      <a:r>
                        <a:rPr lang="en-IN" sz="1000" b="1" i="0" u="none" strike="noStrike" cap="none">
                          <a:solidFill>
                            <a:srgbClr val="FFFFFF"/>
                          </a:solidFill>
                          <a:latin typeface="Arial"/>
                          <a:ea typeface="Arial"/>
                          <a:cs typeface="Arial"/>
                          <a:sym typeface="Arial"/>
                        </a:rPr>
                        <a:t>Remaining Amount</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00"/>
                        <a:buFont typeface="Arial"/>
                        <a:buNone/>
                      </a:pPr>
                      <a:r>
                        <a:rPr lang="en-IN" sz="1000" b="1" i="0" u="none" strike="noStrike" cap="none">
                          <a:solidFill>
                            <a:srgbClr val="FFFFFF"/>
                          </a:solidFill>
                          <a:latin typeface="Arial"/>
                          <a:ea typeface="Arial"/>
                          <a:cs typeface="Arial"/>
                          <a:sym typeface="Arial"/>
                        </a:rPr>
                        <a:t>List Name</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dirty="0">
                          <a:solidFill>
                            <a:srgbClr val="FFFFFF"/>
                          </a:solidFill>
                          <a:latin typeface="Arial"/>
                          <a:ea typeface="Arial"/>
                          <a:cs typeface="Arial"/>
                          <a:sym typeface="Arial"/>
                        </a:rPr>
                        <a:t>Expected Date of reversal</a:t>
                      </a:r>
                      <a:endParaRPr dirty="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273725">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SHRI BALAJI ENTERPRISES</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0.49</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S-11 TDS deduction of Cancelled Taxpayers</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NA</a:t>
                      </a:r>
                      <a:endParaRPr sz="1000" b="0" i="0" u="none" strike="noStrike" cap="none">
                        <a:solidFill>
                          <a:srgbClr val="000000"/>
                        </a:solidFill>
                        <a:latin typeface="Arial"/>
                        <a:ea typeface="Arial"/>
                        <a:cs typeface="Arial"/>
                        <a:sym typeface="Arial"/>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50" b="1">
                          <a:solidFill>
                            <a:srgbClr val="212121"/>
                          </a:solidFill>
                          <a:highlight>
                            <a:srgbClr val="FFFFFF"/>
                          </a:highlight>
                          <a:latin typeface="Verdana"/>
                          <a:ea typeface="Verdana"/>
                          <a:cs typeface="Verdana"/>
                          <a:sym typeface="Verdana"/>
                        </a:rPr>
                        <a:t>Taxpayer is cancelled w.e.f. 15/01/2020. Already demand created by central authority of 1.66 CR after survey/search proceedings, couldn't be recovered as taxpayers economic condition ruined due to litigation/police case.</a:t>
                      </a:r>
                      <a:endParaRPr sz="1000" b="0" i="0" u="none" strike="noStrike" cap="none">
                        <a:solidFill>
                          <a:srgbClr val="000000"/>
                        </a:solidFill>
                        <a:latin typeface="Arial"/>
                        <a:ea typeface="Arial"/>
                        <a:cs typeface="Arial"/>
                        <a:sym typeface="Arial"/>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79575">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KALU RAM</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0.23</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S-10 - RCM Invoice sgst cash</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a:t>
                      </a:r>
                      <a:endParaRPr sz="1000" b="0" i="0" u="none" strike="noStrike" cap="none">
                        <a:solidFill>
                          <a:srgbClr val="000000"/>
                        </a:solidFill>
                        <a:latin typeface="Arial"/>
                        <a:ea typeface="Arial"/>
                        <a:cs typeface="Arial"/>
                        <a:sym typeface="Arial"/>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b="1"/>
                        <a:t>Taxpayer has filed appeal against already decided adjudication cases of previous years on issues of unpaid RCM on royalty. For  F.Y 2022 upto 2026 intimation has been sent in the form of ASMT-10. No immediate deposit is expected from the taxpayer.</a:t>
                      </a:r>
                      <a:endParaRPr sz="1000" b="1" i="0" u="none" strike="noStrike" cap="none">
                        <a:solidFill>
                          <a:srgbClr val="000000"/>
                        </a:solidFill>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07825">
                <a:tc>
                  <a:txBody>
                    <a:bodyPr/>
                    <a:lstStyle/>
                    <a:p>
                      <a:pPr marL="0" marR="0" lvl="0" indent="0" algn="ctr" rtl="0">
                        <a:spcBef>
                          <a:spcPts val="0"/>
                        </a:spcBef>
                        <a:spcAft>
                          <a:spcPts val="0"/>
                        </a:spcAft>
                        <a:buClr>
                          <a:srgbClr val="000000"/>
                        </a:buClr>
                        <a:buSzPts val="1200"/>
                        <a:buFont typeface="Arial"/>
                        <a:buNone/>
                      </a:pPr>
                      <a:r>
                        <a:rPr lang="en-IN" sz="1200"/>
                        <a:t> </a:t>
                      </a:r>
                      <a:r>
                        <a:rPr lang="en-IN" sz="1200" b="0" i="0" u="none" strike="noStrike" cap="none">
                          <a:solidFill>
                            <a:srgbClr val="000000"/>
                          </a:solidFill>
                          <a:latin typeface="Arial"/>
                          <a:ea typeface="Arial"/>
                          <a:cs typeface="Arial"/>
                          <a:sym typeface="Arial"/>
                        </a:rPr>
                        <a:t>EPTISA SERVICIOS DE INGENIERIA SL</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0.19</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S-11 TDS deduction of Cancelled Taxpayers</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endParaRPr sz="1000" b="0" i="0" u="none" strike="noStrike" cap="none">
                        <a:solidFill>
                          <a:srgbClr val="000000"/>
                        </a:solidFill>
                        <a:latin typeface="Arial"/>
                        <a:ea typeface="Arial"/>
                        <a:cs typeface="Arial"/>
                        <a:sym typeface="Arial"/>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b="1"/>
                        <a:t>As Taxpayer is under centre Jurisdiction and informed that he has deposited tax liability already through GST returns. Further CGST authority has been intimated through email for necessary action and further verification. No immediate deposit is expected.</a:t>
                      </a:r>
                      <a:r>
                        <a:rPr lang="en-IN" sz="1000"/>
                        <a:t> </a:t>
                      </a:r>
                      <a:endParaRPr sz="1000" b="0" i="0" u="none" strike="noStrike" cap="none">
                        <a:solidFill>
                          <a:srgbClr val="000000"/>
                        </a:solidFill>
                        <a:latin typeface="Arial"/>
                        <a:ea typeface="Arial"/>
                        <a:cs typeface="Arial"/>
                        <a:sym typeface="Arial"/>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7825">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RAGHAV ENTERPRISES</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0.10</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S-11 TDS deduction of Cancelled Taxpayers</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endParaRPr sz="1000" b="0" i="0" u="none" strike="noStrike" cap="none">
                        <a:solidFill>
                          <a:srgbClr val="000000"/>
                        </a:solidFill>
                        <a:latin typeface="Arial"/>
                        <a:ea typeface="Arial"/>
                        <a:cs typeface="Arial"/>
                        <a:sym typeface="Arial"/>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b="1"/>
                        <a:t>Taxpayer has been intimated about the issue through email and call. Taxpayer informed that he was working in VAT period and did not migrate in GST framework. Certain payments were made post july 2017. The submission of taxpayer is being verified. Invoice details are also being sought from TDS Deductor authority. </a:t>
                      </a:r>
                      <a:endParaRPr sz="1000" b="1" i="0" u="none" strike="noStrike" cap="none">
                        <a:solidFill>
                          <a:srgbClr val="000000"/>
                        </a:solidFill>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07825">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NIRANJAN KUMAR SHARMA</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0.10</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S-11 TDS deduction of Cancelled Taxpayers</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25-02-2026</a:t>
                      </a:r>
                      <a:endParaRPr sz="1000" b="0" i="0" u="none" strike="noStrike" cap="none">
                        <a:solidFill>
                          <a:srgbClr val="000000"/>
                        </a:solidFill>
                        <a:latin typeface="Arial"/>
                        <a:ea typeface="Arial"/>
                        <a:cs typeface="Arial"/>
                        <a:sym typeface="Arial"/>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b="1">
                          <a:solidFill>
                            <a:schemeClr val="dk1"/>
                          </a:solidFill>
                        </a:rPr>
                        <a:t>Taxpayer has been intimated about the issue through email and call. Taxpayer is verifying the details through his AR and expressed willingness to deposit the potential liability. </a:t>
                      </a:r>
                      <a:endParaRPr sz="1000" b="0" i="0" u="none" strike="noStrike" cap="none">
                        <a:solidFill>
                          <a:srgbClr val="000000"/>
                        </a:solidFill>
                        <a:latin typeface="Arial"/>
                        <a:ea typeface="Arial"/>
                        <a:cs typeface="Arial"/>
                        <a:sym typeface="Arial"/>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507825">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ANEE FREIGHT CARRIER</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0.08</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S-10 - RCM Invoice sgst cash</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a:t>
                      </a:r>
                      <a:endParaRPr sz="1000" b="0" i="0" u="none" strike="noStrike" cap="none">
                        <a:solidFill>
                          <a:srgbClr val="000000"/>
                        </a:solidFill>
                        <a:latin typeface="Arial"/>
                        <a:ea typeface="Arial"/>
                        <a:cs typeface="Arial"/>
                        <a:sym typeface="Arial"/>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b="1"/>
                        <a:t>ASMT-10 issued to the taxpayer, AR of taxpayer informedd that taxpayer has taken transport services from GTA to another GTA which is exempt. But by error supplier transporter declared it as taxable under RCM for which necessary documents/ declarations from supplier is being submitted in reply.  No deposit expected.</a:t>
                      </a:r>
                      <a:endParaRPr sz="1000" b="1" i="0" u="none" strike="noStrike" cap="none">
                        <a:solidFill>
                          <a:srgbClr val="000000"/>
                        </a:solidFill>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757025">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TIGER STONEX</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0.08</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S-10 - RCM Invoice sgst cash</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endParaRPr sz="1000" b="0" i="0" u="none" strike="noStrike" cap="none">
                        <a:solidFill>
                          <a:srgbClr val="000000"/>
                        </a:solidFill>
                        <a:latin typeface="Arial"/>
                        <a:ea typeface="Arial"/>
                        <a:cs typeface="Arial"/>
                        <a:sym typeface="Arial"/>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b="1">
                          <a:solidFill>
                            <a:schemeClr val="dk1"/>
                          </a:solidFill>
                        </a:rPr>
                        <a:t>Demand order DRC-07,  has been issued for unpaid RCM tax for F.Y 2021-22 which stands “Not Due” upto March end 2026. Further For  F.Y 2022 upto 2026 intimation has been sent in the form of ASMT-10. No immediate deposit is expected from the taxpayer.</a:t>
                      </a:r>
                      <a:endParaRPr sz="1000"/>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507825">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ARIND SINGH PARMAR</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0.04</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S-11 TDS deduction of Cancelled Taxpayers</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28-02-2025</a:t>
                      </a:r>
                      <a:endParaRPr sz="1000" b="0" i="0" u="none" strike="noStrike" cap="none">
                        <a:solidFill>
                          <a:srgbClr val="000000"/>
                        </a:solidFill>
                        <a:latin typeface="Arial"/>
                        <a:ea typeface="Arial"/>
                        <a:cs typeface="Arial"/>
                        <a:sym typeface="Arial"/>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b="1">
                          <a:solidFill>
                            <a:schemeClr val="dk1"/>
                          </a:solidFill>
                        </a:rPr>
                        <a:t>Taxpayer expressed willingness to continue business and  assured  to revoke the registration and deposit the pending liability by filing the pending returns. </a:t>
                      </a:r>
                      <a:endParaRPr sz="1000" b="0" i="0" u="none" strike="noStrike" cap="none">
                        <a:solidFill>
                          <a:srgbClr val="000000"/>
                        </a:solidFill>
                        <a:latin typeface="Arial"/>
                        <a:ea typeface="Arial"/>
                        <a:cs typeface="Arial"/>
                        <a:sym typeface="Arial"/>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564175">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SHREE NATH CONSTRUCTIONS COMPANY</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0.04</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S-11 TDS deduction of Cancelled Taxpayers</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28-02-2026</a:t>
                      </a:r>
                      <a:endParaRPr sz="1000" b="0" i="0" u="none" strike="noStrike" cap="none">
                        <a:solidFill>
                          <a:srgbClr val="000000"/>
                        </a:solidFill>
                        <a:latin typeface="Arial"/>
                        <a:ea typeface="Arial"/>
                        <a:cs typeface="Arial"/>
                        <a:sym typeface="Arial"/>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000" b="1">
                          <a:solidFill>
                            <a:schemeClr val="dk1"/>
                          </a:solidFill>
                        </a:rPr>
                        <a:t>Taxpayer has been intimated about the issue through email and call. Taxpayer is verifying the details and expressed willingness to deposit the potential liability by filing due returns. </a:t>
                      </a:r>
                      <a:endParaRPr sz="1000">
                        <a:solidFill>
                          <a:schemeClr val="dk1"/>
                        </a:solidFill>
                      </a:endParaRPr>
                    </a:p>
                    <a:p>
                      <a:pPr marL="0" marR="0" lvl="0" indent="0" algn="ctr" rtl="0">
                        <a:spcBef>
                          <a:spcPts val="0"/>
                        </a:spcBef>
                        <a:spcAft>
                          <a:spcPts val="0"/>
                        </a:spcAft>
                        <a:buClr>
                          <a:schemeClr val="dk1"/>
                        </a:buClr>
                        <a:buSzPts val="1000"/>
                        <a:buFont typeface="Calibri"/>
                        <a:buNone/>
                      </a:pPr>
                      <a:endParaRPr sz="1000"/>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507825">
                <a:tc>
                  <a:txBody>
                    <a:bodyPr/>
                    <a:lstStyle/>
                    <a:p>
                      <a:pPr marL="0" marR="0" lvl="0" indent="0" algn="ctr" rtl="0">
                        <a:spcBef>
                          <a:spcPts val="0"/>
                        </a:spcBef>
                        <a:spcAft>
                          <a:spcPts val="0"/>
                        </a:spcAft>
                        <a:buClr>
                          <a:srgbClr val="000000"/>
                        </a:buClr>
                        <a:buSzPts val="1200"/>
                        <a:buFont typeface="Arial"/>
                        <a:buNone/>
                      </a:pPr>
                      <a:r>
                        <a:rPr lang="en-IN" sz="1200" b="0" i="0" u="none" strike="noStrike" cap="none">
                          <a:solidFill>
                            <a:srgbClr val="000000"/>
                          </a:solidFill>
                          <a:latin typeface="Arial"/>
                          <a:ea typeface="Arial"/>
                          <a:cs typeface="Arial"/>
                          <a:sym typeface="Arial"/>
                        </a:rPr>
                        <a:t>ATHARVA ENTERPRISES</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400"/>
                        <a:buFont typeface="Arial"/>
                        <a:buNone/>
                      </a:pPr>
                      <a:r>
                        <a:rPr lang="en-IN" sz="1400" b="1" i="0" u="none" strike="noStrike" cap="none">
                          <a:solidFill>
                            <a:srgbClr val="000000"/>
                          </a:solidFill>
                          <a:latin typeface="Arial"/>
                          <a:ea typeface="Arial"/>
                          <a:cs typeface="Arial"/>
                          <a:sym typeface="Arial"/>
                        </a:rPr>
                        <a:t>0.04</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000"/>
                        <a:buFont typeface="Arial"/>
                        <a:buNone/>
                      </a:pPr>
                      <a:r>
                        <a:rPr lang="en-IN" sz="1000"/>
                        <a:t>S-11 TDS deduction of Cancelled Taxpayers</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a:t>25-02-2026</a:t>
                      </a:r>
                      <a:endParaRPr sz="1000" b="0" i="0" u="none" strike="noStrike" cap="none">
                        <a:solidFill>
                          <a:srgbClr val="000000"/>
                        </a:solidFill>
                        <a:latin typeface="Arial"/>
                        <a:ea typeface="Arial"/>
                        <a:cs typeface="Arial"/>
                        <a:sym typeface="Arial"/>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000"/>
                        <a:buFont typeface="Calibri"/>
                        <a:buNone/>
                      </a:pPr>
                      <a:r>
                        <a:rPr lang="en-IN" sz="1000" b="1"/>
                        <a:t>Taxpayer expressed willingness to continue business and  assured  to revoke the registration and deposit the pending liability by filing the pending returns. </a:t>
                      </a:r>
                      <a:endParaRPr sz="1000" b="1" i="0" u="none" strike="noStrike" cap="none">
                        <a:solidFill>
                          <a:srgbClr val="000000"/>
                        </a:solidFill>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73725">
                <a:tc>
                  <a:txBody>
                    <a:bodyPr/>
                    <a:lstStyle/>
                    <a:p>
                      <a:pPr marL="0" marR="0" lvl="0" indent="0" algn="ctr" rtl="0">
                        <a:spcBef>
                          <a:spcPts val="0"/>
                        </a:spcBef>
                        <a:spcAft>
                          <a:spcPts val="0"/>
                        </a:spcAft>
                        <a:buClr>
                          <a:srgbClr val="FFFFFF"/>
                        </a:buClr>
                        <a:buSzPts val="1200"/>
                        <a:buFont typeface="Arial"/>
                        <a:buNone/>
                      </a:pPr>
                      <a:r>
                        <a:rPr lang="en-IN" sz="1200" b="1" i="0" u="none" strike="noStrike" cap="none">
                          <a:solidFill>
                            <a:srgbClr val="FFFFFF"/>
                          </a:solidFill>
                          <a:latin typeface="Arial"/>
                          <a:ea typeface="Arial"/>
                          <a:cs typeface="Arial"/>
                          <a:sym typeface="Arial"/>
                        </a:rPr>
                        <a:t>Total</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200"/>
                        <a:buFont typeface="Arial"/>
                        <a:buNone/>
                      </a:pPr>
                      <a:r>
                        <a:rPr lang="en-IN" sz="1200" b="1" i="0" u="none" strike="noStrike" cap="none">
                          <a:solidFill>
                            <a:srgbClr val="FFFFFF"/>
                          </a:solidFill>
                          <a:latin typeface="Arial"/>
                          <a:ea typeface="Arial"/>
                          <a:cs typeface="Arial"/>
                          <a:sym typeface="Arial"/>
                        </a:rPr>
                        <a:t>1.40</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000"/>
                        <a:buFont typeface="Arial"/>
                        <a:buNone/>
                      </a:pPr>
                      <a:r>
                        <a:rPr lang="en-IN" sz="1000" b="1" i="0" u="none" strike="noStrike" cap="none">
                          <a:solidFill>
                            <a:srgbClr val="FFFFFF"/>
                          </a:solidFill>
                          <a:latin typeface="Arial"/>
                          <a:ea typeface="Arial"/>
                          <a:cs typeface="Arial"/>
                          <a:sym typeface="Arial"/>
                        </a:rPr>
                        <a:t> </a:t>
                      </a:r>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chemeClr val="dk1"/>
                        </a:buClr>
                        <a:buSzPts val="1000"/>
                        <a:buFont typeface="Calibri"/>
                        <a:buNone/>
                      </a:pPr>
                      <a:endParaRPr sz="1000" b="1" i="0" u="none" strike="noStrike" cap="none">
                        <a:solidFill>
                          <a:srgbClr val="FFFFFF"/>
                        </a:solidFill>
                        <a:latin typeface="Arial"/>
                        <a:ea typeface="Arial"/>
                        <a:cs typeface="Arial"/>
                        <a:sym typeface="Arial"/>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chemeClr val="dk1"/>
                        </a:buClr>
                        <a:buSzPts val="1000"/>
                        <a:buFont typeface="Calibri"/>
                        <a:buNone/>
                      </a:pPr>
                      <a:endParaRPr sz="1000" b="1" i="0" u="none" strike="noStrike" cap="none" dirty="0">
                        <a:solidFill>
                          <a:srgbClr val="FFFFFF"/>
                        </a:solidFill>
                        <a:latin typeface="Arial"/>
                        <a:ea typeface="Arial"/>
                        <a:cs typeface="Arial"/>
                        <a:sym typeface="Arial"/>
                      </a:endParaRPr>
                    </a:p>
                  </a:txBody>
                  <a:tcPr marL="4675" marR="4675" marT="46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76"/>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 E, Kota - SGST</a:t>
            </a:r>
            <a:endParaRPr sz="2000" b="1" i="0" u="none" strike="noStrike" cap="none">
              <a:solidFill>
                <a:srgbClr val="000000"/>
              </a:solidFill>
              <a:latin typeface="Verdana"/>
              <a:ea typeface="Verdana"/>
              <a:cs typeface="Verdana"/>
              <a:sym typeface="Verdana"/>
            </a:endParaRPr>
          </a:p>
        </p:txBody>
      </p:sp>
      <p:sp>
        <p:nvSpPr>
          <p:cNvPr id="660" name="Google Shape;660;p76"/>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661" name="Google Shape;661;p76"/>
          <p:cNvGraphicFramePr/>
          <p:nvPr>
            <p:extLst>
              <p:ext uri="{D42A27DB-BD31-4B8C-83A1-F6EECF244321}">
                <p14:modId xmlns:p14="http://schemas.microsoft.com/office/powerpoint/2010/main" val="2825583758"/>
              </p:ext>
            </p:extLst>
          </p:nvPr>
        </p:nvGraphicFramePr>
        <p:xfrm>
          <a:off x="466336" y="759848"/>
          <a:ext cx="11259324" cy="13182024"/>
        </p:xfrm>
        <a:graphic>
          <a:graphicData uri="http://schemas.openxmlformats.org/drawingml/2006/table">
            <a:tbl>
              <a:tblPr>
                <a:noFill/>
                <a:tableStyleId>{ED13AFB8-4CE9-44F5-8004-2B2D446919A9}</a:tableStyleId>
              </a:tblPr>
              <a:tblGrid>
                <a:gridCol w="1578702">
                  <a:extLst>
                    <a:ext uri="{9D8B030D-6E8A-4147-A177-3AD203B41FA5}">
                      <a16:colId xmlns:a16="http://schemas.microsoft.com/office/drawing/2014/main" val="20000"/>
                    </a:ext>
                  </a:extLst>
                </a:gridCol>
                <a:gridCol w="1281369">
                  <a:extLst>
                    <a:ext uri="{9D8B030D-6E8A-4147-A177-3AD203B41FA5}">
                      <a16:colId xmlns:a16="http://schemas.microsoft.com/office/drawing/2014/main" val="20001"/>
                    </a:ext>
                  </a:extLst>
                </a:gridCol>
                <a:gridCol w="2086910">
                  <a:extLst>
                    <a:ext uri="{9D8B030D-6E8A-4147-A177-3AD203B41FA5}">
                      <a16:colId xmlns:a16="http://schemas.microsoft.com/office/drawing/2014/main" val="20002"/>
                    </a:ext>
                  </a:extLst>
                </a:gridCol>
                <a:gridCol w="1257005">
                  <a:extLst>
                    <a:ext uri="{9D8B030D-6E8A-4147-A177-3AD203B41FA5}">
                      <a16:colId xmlns:a16="http://schemas.microsoft.com/office/drawing/2014/main" val="20003"/>
                    </a:ext>
                  </a:extLst>
                </a:gridCol>
                <a:gridCol w="1257005">
                  <a:extLst>
                    <a:ext uri="{9D8B030D-6E8A-4147-A177-3AD203B41FA5}">
                      <a16:colId xmlns:a16="http://schemas.microsoft.com/office/drawing/2014/main" val="408464823"/>
                    </a:ext>
                  </a:extLst>
                </a:gridCol>
                <a:gridCol w="3798333">
                  <a:extLst>
                    <a:ext uri="{9D8B030D-6E8A-4147-A177-3AD203B41FA5}">
                      <a16:colId xmlns:a16="http://schemas.microsoft.com/office/drawing/2014/main" val="20004"/>
                    </a:ext>
                  </a:extLst>
                </a:gridCol>
              </a:tblGrid>
              <a:tr h="625450">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Firm Name</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Remaining Amount</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List Name</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dirty="0">
                          <a:solidFill>
                            <a:srgbClr val="FFFFFF"/>
                          </a:solidFill>
                          <a:latin typeface="Arial"/>
                          <a:ea typeface="Arial"/>
                          <a:cs typeface="Arial"/>
                          <a:sym typeface="Arial"/>
                        </a:rPr>
                        <a:t>Expected Date of reversal</a:t>
                      </a:r>
                      <a:endParaRPr dirty="0"/>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endParaRPr dirty="0"/>
                    </a:p>
                  </a:txBody>
                  <a:tcPr marL="4850" marR="4850" marT="48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45595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SHREE NIDHI ENTERPRISES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4.06</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1200"/>
                        </a:spcAft>
                        <a:buClr>
                          <a:schemeClr val="dk1"/>
                        </a:buClr>
                        <a:buSzPts val="1100"/>
                        <a:buFont typeface="Arial"/>
                        <a:buNone/>
                      </a:pPr>
                      <a:r>
                        <a:rPr lang="en-IN" sz="1000">
                          <a:solidFill>
                            <a:schemeClr val="dk1"/>
                          </a:solidFill>
                        </a:rPr>
                        <a:t>The taxpayer named shiv kumar sharma was contacted and he informed that his firm was cancelled on date 30-09-2018 and he twice applied for the restoration of the registration on date 22-01-2022 and again on date 24-02-2022 but it was declined as it was time barred. The taxpayer has filed WRIT petition in the high court Jaipur for the restoration of the registration. The taxpayer has said that he is ready to file all his returns  when his registration is restored. Further, the CGST did an inquiry and issued SCN U/s 74 in which CGST Rs. 14369229 &amp; SGST Rs. 14369229 was imposed along with applicable interest and penalty amount of CGST Rs. 14394230 &amp; SGST Rs. 14394230. The taxpayer has appealed against this order passed by CGST department in the office of the commissioner appeals, Jodhpur. The taxpayer has deposited CGST Rs. 1470023 &amp; SGST Rs. 1470023 vide DRC 03 ARN no. AD0808240113655 and CGST Rs. 208676 &amp; SGST Rs. 208676 vide DRC 03 ARN no. AD080125006335H.</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5595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JUBER CONSTRUCTION</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0.72</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Clr>
                          <a:srgbClr val="000000"/>
                        </a:buClr>
                        <a:buSzPts val="1600"/>
                        <a:buFont typeface="Calibri"/>
                        <a:buNone/>
                      </a:pPr>
                      <a:r>
                        <a:rPr lang="en-IN" sz="1200">
                          <a:solidFill>
                            <a:srgbClr val="000000"/>
                          </a:solidFill>
                        </a:rPr>
                        <a:t>Taxpayer has another active firm registered from 31/05/23 and as per taxpayer he has paid some liability in this firm .Taxpayer is ready to deposit remaining amount within two month. </a:t>
                      </a:r>
                      <a:endParaRPr sz="12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5595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MONTY CONSTRUCTION</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0.39</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400"/>
                        <a:buFont typeface="Calibri"/>
                        <a:buNone/>
                      </a:pPr>
                      <a:r>
                        <a:rPr lang="en-IN" sz="1000"/>
                        <a:t>Taxpayer was belong to central jurisdiction and has no other active firm . taxpayer is not available at his recorded business place . taxpayer will be contacted and further proceedings will be done as per rules.</a:t>
                      </a:r>
                      <a:endParaRPr sz="10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5595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KISHOR CONSTRUCTIONS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0.34</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400"/>
                        <a:buFont typeface="Calibri"/>
                        <a:buNone/>
                      </a:pPr>
                      <a:r>
                        <a:rPr lang="en-IN" sz="1000">
                          <a:solidFill>
                            <a:srgbClr val="000000"/>
                          </a:solidFill>
                        </a:rPr>
                        <a:t>The taxpayer named anil porwal was contacted and he informed that his firm was cancelled on 27-09-2019 and he said that he took new registration on date 18-05-2022 with the same name and on the same PAN, he said that since then he is working in his new registered firm, and that he will show all the documents related to the work awarded by the UIT department by date 19-02-2026, and if there is any tax due then he will deposit it. </a:t>
                      </a:r>
                      <a:endParaRPr sz="1000">
                        <a:solidFill>
                          <a:srgbClr val="000000"/>
                        </a:solidFill>
                      </a:endParaRPr>
                    </a:p>
                    <a:p>
                      <a:pPr marL="0" marR="0" lvl="0" indent="0" algn="ctr" rtl="0">
                        <a:spcBef>
                          <a:spcPts val="0"/>
                        </a:spcBef>
                        <a:spcAft>
                          <a:spcPts val="0"/>
                        </a:spcAft>
                        <a:buClr>
                          <a:srgbClr val="000000"/>
                        </a:buClr>
                        <a:buSzPts val="1400"/>
                        <a:buFont typeface="Calibri"/>
                        <a:buNone/>
                      </a:pPr>
                      <a:endParaRPr sz="7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5595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JAIN BUILDERS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0.32</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400"/>
                        <a:buFont typeface="Calibri"/>
                        <a:buNone/>
                      </a:pPr>
                      <a:r>
                        <a:rPr lang="en-IN" sz="1000"/>
                        <a:t>As per initial investigation it appears that KDA wrongly deducted TDS in this firm whereas payment was done to other firm of same name who was actual working agency in this matter. After detailed investigation , if any liability found , it will be deposited by TP.</a:t>
                      </a:r>
                      <a:endParaRPr sz="10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5595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HASSANYUSUF CONSTRUCTION</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0.21</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Clr>
                          <a:srgbClr val="000000"/>
                        </a:buClr>
                        <a:buSzPts val="1600"/>
                        <a:buFont typeface="Calibri"/>
                        <a:buNone/>
                      </a:pPr>
                      <a:r>
                        <a:rPr lang="en-IN" sz="1000">
                          <a:solidFill>
                            <a:srgbClr val="000000"/>
                          </a:solidFill>
                        </a:rPr>
                        <a:t>Taxpayer has another active firm registered from 04/10/2023 and as per taxpayer he has paid some liability in this firm .Taxpayer is ready to deposit remaining amount within two month. After examining the matter due tax will be deposited .</a:t>
                      </a:r>
                      <a:endParaRPr sz="1000">
                        <a:solidFill>
                          <a:srgbClr val="000000"/>
                        </a:solidFill>
                      </a:endParaRPr>
                    </a:p>
                    <a:p>
                      <a:pPr marL="0" marR="0" lvl="0" indent="0" algn="l" rtl="0">
                        <a:spcBef>
                          <a:spcPts val="0"/>
                        </a:spcBef>
                        <a:spcAft>
                          <a:spcPts val="0"/>
                        </a:spcAft>
                        <a:buClr>
                          <a:srgbClr val="000000"/>
                        </a:buClr>
                        <a:buSzPts val="1400"/>
                        <a:buFont typeface="Calibri"/>
                        <a:buNone/>
                      </a:pPr>
                      <a:endParaRPr sz="10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5595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RAJA CONSTRUCTION COMPANY</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0.16</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400"/>
                        <a:buFont typeface="Calibri"/>
                        <a:buNone/>
                      </a:pPr>
                      <a:r>
                        <a:rPr lang="en-IN" sz="1000">
                          <a:solidFill>
                            <a:srgbClr val="000000"/>
                          </a:solidFill>
                        </a:rPr>
                        <a:t>The taxpayer named Rambabu sharma was contacted and he informed that his firm was cancelled on 27-09-2019 and his turnover was very less and that he will show all the documents related to the work awarded by the irrigation department by date 18-02-2026, and if there is any tax due then he will deposit it. The taxpayer has taken new registration with the same name and on the same PAN on date 11-05-2022. The new firm is active</a:t>
                      </a:r>
                      <a:endParaRPr sz="1000">
                        <a:solidFill>
                          <a:srgbClr val="000000"/>
                        </a:solidFill>
                      </a:endParaRPr>
                    </a:p>
                    <a:p>
                      <a:pPr marL="0" marR="0" lvl="0" indent="0" algn="ctr" rtl="0">
                        <a:spcBef>
                          <a:spcPts val="0"/>
                        </a:spcBef>
                        <a:spcAft>
                          <a:spcPts val="0"/>
                        </a:spcAft>
                        <a:buClr>
                          <a:srgbClr val="000000"/>
                        </a:buClr>
                        <a:buSzPts val="1400"/>
                        <a:buFont typeface="Calibri"/>
                        <a:buNone/>
                      </a:pPr>
                      <a:endParaRPr sz="10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5595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R.D.ENTERPRISES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0.15</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just" rtl="0">
                        <a:lnSpc>
                          <a:spcPct val="115000"/>
                        </a:lnSpc>
                        <a:spcBef>
                          <a:spcPts val="0"/>
                        </a:spcBef>
                        <a:spcAft>
                          <a:spcPts val="0"/>
                        </a:spcAft>
                        <a:buClr>
                          <a:srgbClr val="000000"/>
                        </a:buClr>
                        <a:buSzPts val="1100"/>
                        <a:buFont typeface="Arial"/>
                        <a:buNone/>
                      </a:pPr>
                      <a:r>
                        <a:rPr lang="en-IN" sz="900">
                          <a:solidFill>
                            <a:srgbClr val="000000"/>
                          </a:solidFill>
                        </a:rPr>
                        <a:t>After the preliminary investigation, it is found that the taxpayer is named Ram Dutt Sharma, whose firm R.D.ENTERPRISES</a:t>
                      </a:r>
                      <a:r>
                        <a:rPr lang="en-IN" sz="1100">
                          <a:solidFill>
                            <a:srgbClr val="000000"/>
                          </a:solidFill>
                        </a:rPr>
                        <a:t> was cancelled on 30-06-2021 and he took new registration on date 21-07-2021 with the same name and on the same PAN, registered at Bhilwara circle, Nimbahera ward-III, the proprietor has been intimated through e-mail and through his tax consultant about the amount on which the TDS has been deducted. The investigation is in progress and the due tax will be deposited from the taxpayer.</a:t>
                      </a:r>
                      <a:endParaRPr sz="1100">
                        <a:solidFill>
                          <a:srgbClr val="000000"/>
                        </a:solidFill>
                      </a:endParaRPr>
                    </a:p>
                    <a:p>
                      <a:pPr marL="0" marR="0" lvl="0" indent="0" algn="ctr" rtl="0">
                        <a:spcBef>
                          <a:spcPts val="0"/>
                        </a:spcBef>
                        <a:spcAft>
                          <a:spcPts val="0"/>
                        </a:spcAft>
                        <a:buClr>
                          <a:srgbClr val="000000"/>
                        </a:buClr>
                        <a:buSzPts val="1400"/>
                        <a:buFont typeface="Calibri"/>
                        <a:buNone/>
                      </a:pP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5595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WAKIYA CONSTRUCTION COMPANY</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0.14</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Clr>
                          <a:srgbClr val="000000"/>
                        </a:buClr>
                        <a:buSzPts val="1600"/>
                        <a:buFont typeface="Calibri"/>
                        <a:buNone/>
                      </a:pPr>
                      <a:r>
                        <a:rPr lang="en-IN" sz="1100">
                          <a:solidFill>
                            <a:srgbClr val="000000"/>
                          </a:solidFill>
                        </a:rPr>
                        <a:t>Taxpayer has another active firm registered from 26/08/2021 and as per taxpayer he has paid  liability in this firm .Taxpayer is ready to deposit remaining amount within two month. After examining the matter due tax will be deposited .</a:t>
                      </a:r>
                      <a:endParaRPr sz="1100">
                        <a:solidFill>
                          <a:srgbClr val="000000"/>
                        </a:solidFill>
                      </a:endParaRPr>
                    </a:p>
                    <a:p>
                      <a:pPr marL="0" marR="0" lvl="0" indent="0" algn="ctr" rtl="0">
                        <a:spcBef>
                          <a:spcPts val="0"/>
                        </a:spcBef>
                        <a:spcAft>
                          <a:spcPts val="0"/>
                        </a:spcAft>
                        <a:buClr>
                          <a:srgbClr val="000000"/>
                        </a:buClr>
                        <a:buSzPts val="1400"/>
                        <a:buFont typeface="Calibri"/>
                        <a:buNone/>
                      </a:pPr>
                      <a:endParaRPr sz="1200"/>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45595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RADHEY LAXMI ENGINEERING</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600"/>
                        <a:buFont typeface="Arial"/>
                        <a:buNone/>
                      </a:pPr>
                      <a:r>
                        <a:rPr lang="en-IN" sz="1600" b="1" i="0" u="none" strike="noStrike" cap="none">
                          <a:solidFill>
                            <a:srgbClr val="000000"/>
                          </a:solidFill>
                          <a:latin typeface="Arial"/>
                          <a:ea typeface="Arial"/>
                          <a:cs typeface="Arial"/>
                          <a:sym typeface="Arial"/>
                        </a:rPr>
                        <a:t>0.13</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just" rtl="0">
                        <a:lnSpc>
                          <a:spcPct val="115000"/>
                        </a:lnSpc>
                        <a:spcBef>
                          <a:spcPts val="0"/>
                        </a:spcBef>
                        <a:spcAft>
                          <a:spcPts val="0"/>
                        </a:spcAft>
                        <a:buClr>
                          <a:schemeClr val="dk1"/>
                        </a:buClr>
                        <a:buSzPts val="1100"/>
                        <a:buFont typeface="Arial"/>
                        <a:buNone/>
                      </a:pPr>
                      <a:r>
                        <a:rPr lang="en-IN" sz="900">
                          <a:solidFill>
                            <a:schemeClr val="dk1"/>
                          </a:solidFill>
                        </a:rPr>
                        <a:t>The preliminary investigation reveals that the taxpayer is named Deepak Kumar Tank, whose firm M/s Radhey Laxmi Engineering was suspended on 08-07-2024, the taxpayer is a contractor who takes work contract from Nagar palika of Kethun and Rawatbhata, the proprietor has been intimated through phone call about the amount on which the TDS has been deducted, and he has said that he will make available all the documents related to the work awarded by the Nagar palika of Kethun and Rawatbhata within seven days, The investigation is in progress and the due tax will be deposited from the taxpayer.</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455950">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Total</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6.63</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chemeClr val="dk1"/>
                        </a:buClr>
                        <a:buSzPts val="1400"/>
                        <a:buFont typeface="Calibri"/>
                        <a:buNone/>
                      </a:pPr>
                      <a:endParaRPr sz="1400" b="1" i="0" u="none" strike="noStrike" cap="none">
                        <a:solidFill>
                          <a:srgbClr val="FFFFFF"/>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chemeClr val="dk1"/>
                        </a:buClr>
                        <a:buSzPts val="1400"/>
                        <a:buFont typeface="Calibri"/>
                        <a:buNone/>
                      </a:pPr>
                      <a:endParaRPr sz="1400" b="1" i="0" u="none" strike="noStrike" cap="none" dirty="0">
                        <a:solidFill>
                          <a:srgbClr val="FFFFFF"/>
                        </a:solidFill>
                        <a:latin typeface="Arial"/>
                        <a:ea typeface="Arial"/>
                        <a:cs typeface="Arial"/>
                        <a:sym typeface="Arial"/>
                      </a:endParaRPr>
                    </a:p>
                  </a:txBody>
                  <a:tcPr marL="6350" marR="6350" marT="635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chemeClr val="dk1"/>
                        </a:buClr>
                        <a:buSzPts val="1400"/>
                        <a:buFont typeface="Calibri"/>
                        <a:buNone/>
                      </a:pPr>
                      <a:endParaRPr sz="1400" b="1" i="0" u="none" strike="noStrike" cap="none" dirty="0">
                        <a:solidFill>
                          <a:srgbClr val="FFFFFF"/>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77"/>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 Pratapgarh , Bhilwara - SGST</a:t>
            </a:r>
            <a:endParaRPr sz="2000" b="1" i="0" u="none" strike="noStrike" cap="none">
              <a:solidFill>
                <a:srgbClr val="000000"/>
              </a:solidFill>
              <a:latin typeface="Verdana"/>
              <a:ea typeface="Verdana"/>
              <a:cs typeface="Verdana"/>
              <a:sym typeface="Verdana"/>
            </a:endParaRPr>
          </a:p>
        </p:txBody>
      </p:sp>
      <p:sp>
        <p:nvSpPr>
          <p:cNvPr id="668" name="Google Shape;668;p77"/>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669" name="Google Shape;669;p77"/>
          <p:cNvGraphicFramePr/>
          <p:nvPr/>
        </p:nvGraphicFramePr>
        <p:xfrm>
          <a:off x="466336" y="830178"/>
          <a:ext cx="11259325" cy="23022324"/>
        </p:xfrm>
        <a:graphic>
          <a:graphicData uri="http://schemas.openxmlformats.org/drawingml/2006/table">
            <a:tbl>
              <a:tblPr>
                <a:noFill/>
                <a:tableStyleId>{ED13AFB8-4CE9-44F5-8004-2B2D446919A9}</a:tableStyleId>
              </a:tblPr>
              <a:tblGrid>
                <a:gridCol w="2275250">
                  <a:extLst>
                    <a:ext uri="{9D8B030D-6E8A-4147-A177-3AD203B41FA5}">
                      <a16:colId xmlns:a16="http://schemas.microsoft.com/office/drawing/2014/main" val="20000"/>
                    </a:ext>
                  </a:extLst>
                </a:gridCol>
                <a:gridCol w="1118450">
                  <a:extLst>
                    <a:ext uri="{9D8B030D-6E8A-4147-A177-3AD203B41FA5}">
                      <a16:colId xmlns:a16="http://schemas.microsoft.com/office/drawing/2014/main" val="20001"/>
                    </a:ext>
                  </a:extLst>
                </a:gridCol>
                <a:gridCol w="1735250">
                  <a:extLst>
                    <a:ext uri="{9D8B030D-6E8A-4147-A177-3AD203B41FA5}">
                      <a16:colId xmlns:a16="http://schemas.microsoft.com/office/drawing/2014/main" val="20002"/>
                    </a:ext>
                  </a:extLst>
                </a:gridCol>
                <a:gridCol w="1511100">
                  <a:extLst>
                    <a:ext uri="{9D8B030D-6E8A-4147-A177-3AD203B41FA5}">
                      <a16:colId xmlns:a16="http://schemas.microsoft.com/office/drawing/2014/main" val="20003"/>
                    </a:ext>
                  </a:extLst>
                </a:gridCol>
                <a:gridCol w="4619275">
                  <a:extLst>
                    <a:ext uri="{9D8B030D-6E8A-4147-A177-3AD203B41FA5}">
                      <a16:colId xmlns:a16="http://schemas.microsoft.com/office/drawing/2014/main" val="20004"/>
                    </a:ext>
                  </a:extLst>
                </a:gridCol>
              </a:tblGrid>
              <a:tr h="801550">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Firm Name</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Remaining Amount</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List Name</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Expected Date of reversal</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43875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BHUPENDRA SINGH</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0.97</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Clr>
                          <a:schemeClr val="dk1"/>
                        </a:buClr>
                        <a:buSzPts val="1100"/>
                        <a:buFont typeface="Arial"/>
                        <a:buNone/>
                      </a:pPr>
                      <a:r>
                        <a:rPr lang="en-IN"/>
                        <a:t>the taxpayer was contacted and intimated for the issue.  The duplicate GSTN on the same pan were issued during migration from previous regime as the taxpayer was registered under VAT and central excise. Therefor one GSTN 08AHOPR3492E2ZV   has been cancelled ab-initio by the taxpayer. However some of the TDS amount as indicated in the list was shown on cancelled GSTN by TDS deductors while filling GSTR-7 erroneously. The taxpayer has shown complete turnover including this turnover in GSTN – 08AHOPR3492E1ZW as the turnover matches with 26AS of income tax. Further verification in the instant case shall be made and if any liability arises it shall be paid by the taxpayer </a:t>
                      </a:r>
                      <a:endParaRPr/>
                    </a:p>
                    <a:p>
                      <a:pPr marL="0" marR="0" lvl="0" indent="0" algn="ctr" rtl="0">
                        <a:spcBef>
                          <a:spcPts val="1200"/>
                        </a:spcBef>
                        <a:spcAft>
                          <a:spcPts val="0"/>
                        </a:spcAft>
                        <a:buClr>
                          <a:schemeClr val="dk1"/>
                        </a:buClr>
                        <a:buSzPts val="1400"/>
                        <a:buFont typeface="Calibri"/>
                        <a:buNone/>
                      </a:pP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3875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BHATI CONSTRUCTION</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0.55</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sz="1100">
                          <a:solidFill>
                            <a:schemeClr val="dk1"/>
                          </a:solidFill>
                          <a:latin typeface="Calibri"/>
                          <a:ea typeface="Calibri"/>
                          <a:cs typeface="Calibri"/>
                          <a:sym typeface="Calibri"/>
                        </a:rPr>
                        <a:t>the taxpayer was contacted and intimated for the issue.  the taxpayer was previously registered as works contractor with GSTN 08AMEPC8623R1ZK which was cancelled with effect from 24-12-2019.	As per the list total amount received in this GSTN is Rs. 30562714/- of which maximum received from PWD pratapgarh . The taxpayer again obtain new registration GSTN 08AMEPC8623R2ZJ wef 01.12.2021 in which he has declared turnover of Rs. 3349727/-. Taxable turnover Rs. 11240031/- related to FY 2019-20, 2020-21 and 2021-22 is @12%  and  GST @ 12% Rs. 1348804/- has not been paid</a:t>
                      </a:r>
                      <a:r>
                        <a:rPr lang="en-IN" sz="1100" b="1">
                          <a:solidFill>
                            <a:schemeClr val="dk1"/>
                          </a:solidFill>
                          <a:latin typeface="Calibri"/>
                          <a:ea typeface="Calibri"/>
                          <a:cs typeface="Calibri"/>
                          <a:sym typeface="Calibri"/>
                        </a:rPr>
                        <a:t>  </a:t>
                      </a:r>
                      <a:r>
                        <a:rPr lang="en-IN" sz="1100">
                          <a:solidFill>
                            <a:schemeClr val="dk1"/>
                          </a:solidFill>
                          <a:latin typeface="Calibri"/>
                          <a:ea typeface="Calibri"/>
                          <a:cs typeface="Calibri"/>
                          <a:sym typeface="Calibri"/>
                        </a:rPr>
                        <a:t>and</a:t>
                      </a:r>
                      <a:r>
                        <a:rPr lang="en-IN" sz="1100" b="1">
                          <a:solidFill>
                            <a:schemeClr val="dk1"/>
                          </a:solidFill>
                          <a:latin typeface="Calibri"/>
                          <a:ea typeface="Calibri"/>
                          <a:cs typeface="Calibri"/>
                          <a:sym typeface="Calibri"/>
                        </a:rPr>
                        <a:t> </a:t>
                      </a:r>
                      <a:r>
                        <a:rPr lang="en-IN" sz="1100">
                          <a:solidFill>
                            <a:schemeClr val="dk1"/>
                          </a:solidFill>
                          <a:latin typeface="Calibri"/>
                          <a:ea typeface="Calibri"/>
                          <a:cs typeface="Calibri"/>
                          <a:sym typeface="Calibri"/>
                        </a:rPr>
                        <a:t>Taxable turnover Rs. 19322723/- related to FY 2022-23, 2023-24 and 2024-25  is @18%  and  GST @ 18% Rs. 3478090/- has not been paid</a:t>
                      </a:r>
                      <a:r>
                        <a:rPr lang="en-IN" sz="1100" b="1">
                          <a:solidFill>
                            <a:schemeClr val="dk1"/>
                          </a:solidFill>
                          <a:latin typeface="Calibri"/>
                          <a:ea typeface="Calibri"/>
                          <a:cs typeface="Calibri"/>
                          <a:sym typeface="Calibri"/>
                        </a:rPr>
                        <a:t> . </a:t>
                      </a:r>
                      <a:r>
                        <a:rPr lang="en-IN" sz="1100">
                          <a:solidFill>
                            <a:schemeClr val="dk1"/>
                          </a:solidFill>
                          <a:latin typeface="Calibri"/>
                          <a:ea typeface="Calibri"/>
                          <a:cs typeface="Calibri"/>
                          <a:sym typeface="Calibri"/>
                        </a:rPr>
                        <a:t>Thus taxable turnover Rs. 27212987/- has not been declared and GST Rs. 4826894/- has not been paid . </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3875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SHREE ROKDIYA ENTERPRISES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0.46</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sz="1100">
                          <a:solidFill>
                            <a:schemeClr val="dk1"/>
                          </a:solidFill>
                          <a:latin typeface="Calibri"/>
                          <a:ea typeface="Calibri"/>
                          <a:cs typeface="Calibri"/>
                          <a:sym typeface="Calibri"/>
                        </a:rPr>
                        <a:t>the taxpayer was contacted and intimated for the issue.   this taxpayer has received total Rs. 25346041/- from Panchayat samiti and NAREGA Scheme Pratapgarh.  General GST rate on works contract services is @ 18%.  Work orders shall be called from the taxpayer . The taxpayer shall deposit the due liability.   </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3875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DINESH KUMAWAT PRATAPGARH</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0.41</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sz="1100">
                          <a:solidFill>
                            <a:schemeClr val="dk1"/>
                          </a:solidFill>
                          <a:latin typeface="Calibri"/>
                          <a:ea typeface="Calibri"/>
                          <a:cs typeface="Calibri"/>
                          <a:sym typeface="Calibri"/>
                        </a:rPr>
                        <a:t>The taxpayer is expired two years back his family was contacted and intimated for the issue. the taxpayer was a works contractor, who was previously registered with GSTN 08AWJPK1866B1ZL (cancelled w.e.f. from 23-10-2019)  in which amount received for works contract @ 12% is 19151159/-  and @ 18% is Rs. 3560727/- the taxpayer again availed new registration with GSTN 08AWJPK1866B2ZK w.e.f. 31-08-2021  and  declared turnover Rs. 18065230/- ( FY 2021-22 Rs. 10866729/-, 2022-23 Rs. 7198501/- ) . Thus turnover of Rs 22711886/- appears to be actual undeclared turnover , on which GST liability @12% on TO of Rs. 19151159/- and GST liability @18% on TO of Rs. 3560727/-  and GST Rs. 2939070/- has not been paid. </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3875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HARIT RAJASTHAN</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0.30</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Clr>
                          <a:schemeClr val="dk1"/>
                        </a:buClr>
                        <a:buSzPts val="1100"/>
                        <a:buFont typeface="Arial"/>
                        <a:buNone/>
                      </a:pPr>
                      <a:r>
                        <a:rPr lang="en-IN"/>
                        <a:t>the taxpayer was contacted and intimated for the issue.  The taxpayer has supplied drip irrigation system taxable @ 12% to Horticulture Department  and received payment of Rs. 16919720/-. The taxpayer has not declared this turnover thus liability on this turnover Rs. 16919720/- @ 12%  Rs. 2030366/- is unpaid . </a:t>
                      </a:r>
                      <a:endParaRPr/>
                    </a:p>
                    <a:p>
                      <a:pPr marL="0" marR="0" lvl="0" indent="0" algn="ctr" rtl="0">
                        <a:spcBef>
                          <a:spcPts val="1200"/>
                        </a:spcBef>
                        <a:spcAft>
                          <a:spcPts val="0"/>
                        </a:spcAft>
                        <a:buClr>
                          <a:schemeClr val="dk1"/>
                        </a:buClr>
                        <a:buSzPts val="1400"/>
                        <a:buFont typeface="Calibri"/>
                        <a:buNone/>
                      </a:pP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3875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BHANWAR LAL LABANA</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0.23</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Clr>
                          <a:schemeClr val="dk1"/>
                        </a:buClr>
                        <a:buSzPts val="1100"/>
                        <a:buFont typeface="Arial"/>
                        <a:buNone/>
                      </a:pPr>
                      <a:r>
                        <a:rPr lang="en-IN"/>
                        <a:t>the taxpayer was contacted and intimated for the issue.  the taxpayer was a works contractor, who was previously registered with GSTN 08AFEPL6146F1ZH   (cancelled w.e.f. from 24-10-2019)  in which amount received for works contract Rs. 13028660/- the taxpayer again availed new registration with GSTN 08AFEPL6146F2ZG  w.e.f. 01-01-2020  and  declared turnover Rs. 24027045/- . </a:t>
                      </a:r>
                      <a:endParaRPr/>
                    </a:p>
                    <a:p>
                      <a:pPr marL="0" marR="0" lvl="0" indent="0" algn="ctr" rtl="0">
                        <a:spcBef>
                          <a:spcPts val="1200"/>
                        </a:spcBef>
                        <a:spcAft>
                          <a:spcPts val="0"/>
                        </a:spcAft>
                        <a:buClr>
                          <a:schemeClr val="dk1"/>
                        </a:buClr>
                        <a:buSzPts val="1400"/>
                        <a:buFont typeface="Calibri"/>
                        <a:buNone/>
                      </a:pP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3875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SHREE ROKDIYA ENTERPRISES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0.23</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Clr>
                          <a:schemeClr val="dk1"/>
                        </a:buClr>
                        <a:buSzPts val="1100"/>
                        <a:buFont typeface="Arial"/>
                        <a:buNone/>
                      </a:pPr>
                      <a:r>
                        <a:rPr lang="en-IN"/>
                        <a:t> The taxpayer jurisdiction belongs to center, letter has been sent to center authority for necessary action. the taxpayer was also contacted and intimated for the issue.  the taxpayer was a works contractor, who was previously registered with GSTN 08AIUPH8735K2ZF (cancelled w.e.f. from 01-10-2017)  in which amount received for works contract Rs. 12774627/- and the taxpayer has not declared turnover taxable @ 12% Rs. 2719493/- ( FY 2019-20 to 2021-22) and  taxable @ 18% Rs. 10055134/- ( FY 2022-23 to 2024-25)  and taxpayer has not paid GST  Rs. 2136267/-.</a:t>
                      </a:r>
                      <a:endParaRPr/>
                    </a:p>
                    <a:p>
                      <a:pPr marL="0" marR="0" lvl="0" indent="0" algn="ctr" rtl="0">
                        <a:spcBef>
                          <a:spcPts val="1200"/>
                        </a:spcBef>
                        <a:spcAft>
                          <a:spcPts val="0"/>
                        </a:spcAft>
                        <a:buClr>
                          <a:schemeClr val="dk1"/>
                        </a:buClr>
                        <a:buSzPts val="1400"/>
                        <a:buFont typeface="Calibri"/>
                        <a:buNone/>
                      </a:pP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3875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AADINATH ELECTRICALS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0.20</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Clr>
                          <a:schemeClr val="dk1"/>
                        </a:buClr>
                        <a:buSzPts val="1100"/>
                        <a:buFont typeface="Arial"/>
                        <a:buNone/>
                      </a:pPr>
                      <a:r>
                        <a:rPr lang="en-IN"/>
                        <a:t>the taxpayer was contacted and intimated for the issue.  The taxpayer is works contractor and suppliers with AVVNL GSTN 08BBBPJ9916M1Z6 which was cancelled wef 01-04-2022. The complete liability on the undeclared turnover Rs. 11112435/- is taxable @18%. taxpayer has not paid GST  Rs. 2000238/- which is recoverable.</a:t>
                      </a:r>
                      <a:endParaRPr/>
                    </a:p>
                    <a:p>
                      <a:pPr marL="0" marR="0" lvl="0" indent="0" algn="ctr" rtl="0">
                        <a:spcBef>
                          <a:spcPts val="1200"/>
                        </a:spcBef>
                        <a:spcAft>
                          <a:spcPts val="0"/>
                        </a:spcAft>
                        <a:buClr>
                          <a:schemeClr val="dk1"/>
                        </a:buClr>
                        <a:buSzPts val="1400"/>
                        <a:buFont typeface="Calibri"/>
                        <a:buNone/>
                      </a:pP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3875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SHREE HARI CONSTRUCTION</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0.16</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Clr>
                          <a:schemeClr val="dk1"/>
                        </a:buClr>
                        <a:buSzPts val="1100"/>
                        <a:buFont typeface="Arial"/>
                        <a:buNone/>
                      </a:pPr>
                      <a:r>
                        <a:rPr lang="en-IN"/>
                        <a:t>the taxpayer was contacted and intimated for the issue.  The taxpayer was works contractor with PWD with GSTN 08DSKPK7167K1Z0 which was cancelled wef 02-03-2021. The taxpayer has availed new GSTN 08DSKPK7167K2ZZ wef from 11-01-2023 . the taxpayer has not declared any turnover in new GSTN. The complete liability on the undeclared turnover Rs. 8693787/- is taxable @18%. taxpayer has not paid GST  Rs. 1564882/- which is recoverable.</a:t>
                      </a:r>
                      <a:endParaRPr/>
                    </a:p>
                    <a:p>
                      <a:pPr marL="0" marR="0" lvl="0" indent="0" algn="ctr" rtl="0">
                        <a:spcBef>
                          <a:spcPts val="1200"/>
                        </a:spcBef>
                        <a:spcAft>
                          <a:spcPts val="0"/>
                        </a:spcAft>
                        <a:buClr>
                          <a:schemeClr val="dk1"/>
                        </a:buClr>
                        <a:buSzPts val="1400"/>
                        <a:buFont typeface="Calibri"/>
                        <a:buNone/>
                      </a:pP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438750">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SHREE TANK BUILDERS AND MATERIALS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1800"/>
                        <a:buFont typeface="Arial"/>
                        <a:buNone/>
                      </a:pPr>
                      <a:r>
                        <a:rPr lang="en-IN" sz="1800" b="1" i="0" u="none" strike="noStrike" cap="none">
                          <a:solidFill>
                            <a:srgbClr val="000000"/>
                          </a:solidFill>
                          <a:latin typeface="Arial"/>
                          <a:ea typeface="Arial"/>
                          <a:cs typeface="Arial"/>
                          <a:sym typeface="Arial"/>
                        </a:rPr>
                        <a:t>0.15</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Clr>
                          <a:schemeClr val="dk1"/>
                        </a:buClr>
                        <a:buSzPts val="1100"/>
                        <a:buFont typeface="Arial"/>
                        <a:buNone/>
                      </a:pPr>
                      <a:r>
                        <a:rPr lang="en-IN"/>
                        <a:t>the taxpayer was contacted and intimated for the issue.  The taxpayer was works contractor with panchayat samiti with GSTN 08ASKPT1708N1Z5 which was cancelled wef 31-07-2021. The taxpayer has availed new GSTN 08ASKPT1708N2Z4  wef from 11-08-2021 . the taxpayer has not declared any turnover in new GSTN. The complete liability on the undeclared turnover Rs. 8318290/- is taxable @18%. taxpayer has not paid GST  Rs. 1497292/- which is recoverable.</a:t>
                      </a:r>
                      <a:endParaRPr/>
                    </a:p>
                    <a:p>
                      <a:pPr marL="0" marR="0" lvl="0" indent="0" algn="ctr" rtl="0">
                        <a:spcBef>
                          <a:spcPts val="1200"/>
                        </a:spcBef>
                        <a:spcAft>
                          <a:spcPts val="0"/>
                        </a:spcAft>
                        <a:buClr>
                          <a:schemeClr val="dk1"/>
                        </a:buClr>
                        <a:buSzPts val="1400"/>
                        <a:buFont typeface="Calibri"/>
                        <a:buNone/>
                      </a:pP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438750">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Total</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600"/>
                        <a:buFont typeface="Arial"/>
                        <a:buNone/>
                      </a:pPr>
                      <a:r>
                        <a:rPr lang="en-IN" sz="1600" b="1" i="0" u="none" strike="noStrike" cap="none">
                          <a:solidFill>
                            <a:srgbClr val="FFFFFF"/>
                          </a:solidFill>
                          <a:latin typeface="Arial"/>
                          <a:ea typeface="Arial"/>
                          <a:cs typeface="Arial"/>
                          <a:sym typeface="Arial"/>
                        </a:rPr>
                        <a:t>3.66</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chemeClr val="dk1"/>
                        </a:buClr>
                        <a:buSzPts val="1100"/>
                        <a:buFont typeface="Calibri"/>
                        <a:buNone/>
                      </a:pPr>
                      <a:endParaRPr sz="1100" b="1" i="0" u="none" strike="noStrike" cap="none">
                        <a:solidFill>
                          <a:srgbClr val="FFFFFF"/>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chemeClr val="dk1"/>
                        </a:buClr>
                        <a:buSzPts val="1100"/>
                        <a:buFont typeface="Calibri"/>
                        <a:buNone/>
                      </a:pPr>
                      <a:endParaRPr sz="1100" b="1" i="0" u="none" strike="noStrike" cap="none">
                        <a:solidFill>
                          <a:srgbClr val="FFFFFF"/>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78"/>
          <p:cNvSpPr txBox="1"/>
          <p:nvPr/>
        </p:nvSpPr>
        <p:spPr>
          <a:xfrm>
            <a:off x="466338" y="130218"/>
            <a:ext cx="11259324" cy="3340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IN" sz="2000" b="1" i="0" u="none" strike="noStrike" cap="none">
                <a:solidFill>
                  <a:srgbClr val="000000"/>
                </a:solidFill>
                <a:latin typeface="Verdana"/>
                <a:ea typeface="Verdana"/>
                <a:cs typeface="Verdana"/>
                <a:sym typeface="Verdana"/>
              </a:rPr>
              <a:t>Circle- Shahpura , Jaipur I - SGST</a:t>
            </a:r>
            <a:endParaRPr sz="2000" b="1" i="0" u="none" strike="noStrike" cap="none">
              <a:solidFill>
                <a:srgbClr val="000000"/>
              </a:solidFill>
              <a:latin typeface="Verdana"/>
              <a:ea typeface="Verdana"/>
              <a:cs typeface="Verdana"/>
              <a:sym typeface="Verdana"/>
            </a:endParaRPr>
          </a:p>
        </p:txBody>
      </p:sp>
      <p:sp>
        <p:nvSpPr>
          <p:cNvPr id="676" name="Google Shape;676;p78"/>
          <p:cNvSpPr txBox="1"/>
          <p:nvPr/>
        </p:nvSpPr>
        <p:spPr>
          <a:xfrm>
            <a:off x="10696981" y="305038"/>
            <a:ext cx="101258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IN" sz="1600" b="1" i="1" u="none" strike="noStrike" cap="none">
                <a:solidFill>
                  <a:srgbClr val="000000"/>
                </a:solidFill>
                <a:latin typeface="Calibri"/>
                <a:ea typeface="Calibri"/>
                <a:cs typeface="Calibri"/>
                <a:sym typeface="Calibri"/>
              </a:rPr>
              <a:t>Amt in Cr.</a:t>
            </a:r>
            <a:endParaRPr sz="1600" b="1" i="1" u="none" strike="noStrike" cap="none">
              <a:solidFill>
                <a:srgbClr val="000000"/>
              </a:solidFill>
              <a:latin typeface="Calibri"/>
              <a:ea typeface="Calibri"/>
              <a:cs typeface="Calibri"/>
              <a:sym typeface="Calibri"/>
            </a:endParaRPr>
          </a:p>
        </p:txBody>
      </p:sp>
      <p:graphicFrame>
        <p:nvGraphicFramePr>
          <p:cNvPr id="677" name="Google Shape;677;p78"/>
          <p:cNvGraphicFramePr/>
          <p:nvPr>
            <p:extLst>
              <p:ext uri="{D42A27DB-BD31-4B8C-83A1-F6EECF244321}">
                <p14:modId xmlns:p14="http://schemas.microsoft.com/office/powerpoint/2010/main" val="3675967095"/>
              </p:ext>
            </p:extLst>
          </p:nvPr>
        </p:nvGraphicFramePr>
        <p:xfrm>
          <a:off x="466337" y="818412"/>
          <a:ext cx="11485525" cy="8177060"/>
        </p:xfrm>
        <a:graphic>
          <a:graphicData uri="http://schemas.openxmlformats.org/drawingml/2006/table">
            <a:tbl>
              <a:tblPr>
                <a:noFill/>
                <a:tableStyleId>{ED13AFB8-4CE9-44F5-8004-2B2D446919A9}</a:tableStyleId>
              </a:tblPr>
              <a:tblGrid>
                <a:gridCol w="3370400">
                  <a:extLst>
                    <a:ext uri="{9D8B030D-6E8A-4147-A177-3AD203B41FA5}">
                      <a16:colId xmlns:a16="http://schemas.microsoft.com/office/drawing/2014/main" val="20000"/>
                    </a:ext>
                  </a:extLst>
                </a:gridCol>
                <a:gridCol w="1227275">
                  <a:extLst>
                    <a:ext uri="{9D8B030D-6E8A-4147-A177-3AD203B41FA5}">
                      <a16:colId xmlns:a16="http://schemas.microsoft.com/office/drawing/2014/main" val="20001"/>
                    </a:ext>
                  </a:extLst>
                </a:gridCol>
                <a:gridCol w="1084239">
                  <a:extLst>
                    <a:ext uri="{9D8B030D-6E8A-4147-A177-3AD203B41FA5}">
                      <a16:colId xmlns:a16="http://schemas.microsoft.com/office/drawing/2014/main" val="20002"/>
                    </a:ext>
                  </a:extLst>
                </a:gridCol>
                <a:gridCol w="722812">
                  <a:extLst>
                    <a:ext uri="{9D8B030D-6E8A-4147-A177-3AD203B41FA5}">
                      <a16:colId xmlns:a16="http://schemas.microsoft.com/office/drawing/2014/main" val="20003"/>
                    </a:ext>
                  </a:extLst>
                </a:gridCol>
                <a:gridCol w="5080799">
                  <a:extLst>
                    <a:ext uri="{9D8B030D-6E8A-4147-A177-3AD203B41FA5}">
                      <a16:colId xmlns:a16="http://schemas.microsoft.com/office/drawing/2014/main" val="20004"/>
                    </a:ext>
                  </a:extLst>
                </a:gridCol>
              </a:tblGrid>
              <a:tr h="748975">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Firm Name</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Remaining Amount</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List Name</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Expected Date of reversal</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100"/>
                        <a:buFont typeface="Arial"/>
                        <a:buNone/>
                      </a:pPr>
                      <a:r>
                        <a:rPr lang="en-IN" sz="1100" b="1" i="0" u="none" strike="noStrike" cap="none">
                          <a:solidFill>
                            <a:srgbClr val="FFFFFF"/>
                          </a:solidFill>
                          <a:latin typeface="Arial"/>
                          <a:ea typeface="Arial"/>
                          <a:cs typeface="Arial"/>
                          <a:sym typeface="Arial"/>
                        </a:rPr>
                        <a:t>Remarks</a:t>
                      </a:r>
                      <a:endParaRPr/>
                    </a:p>
                  </a:txBody>
                  <a:tcPr marL="4850" marR="4850" marT="48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445625">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PATEL MINES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2000"/>
                        <a:buFont typeface="Arial"/>
                        <a:buNone/>
                      </a:pPr>
                      <a:r>
                        <a:rPr lang="en-IN" sz="2000" b="1" i="0" u="none" strike="noStrike" cap="none">
                          <a:solidFill>
                            <a:srgbClr val="000000"/>
                          </a:solidFill>
                          <a:latin typeface="Arial"/>
                          <a:ea typeface="Arial"/>
                          <a:cs typeface="Arial"/>
                          <a:sym typeface="Arial"/>
                        </a:rPr>
                        <a:t>0.64</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S-10 - RCM Invoice sgst cash</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20-03-2026</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sz="1400" dirty="0"/>
                        <a:t>Intimation to deposit the liability sent to RTP </a:t>
                      </a:r>
                      <a:endParaRPr sz="1400" b="0" i="0" u="none" strike="noStrike" cap="none" dirty="0">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45625">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VIKAS ENTERPRISES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2000"/>
                        <a:buFont typeface="Arial"/>
                        <a:buNone/>
                      </a:pPr>
                      <a:r>
                        <a:rPr lang="en-IN" sz="2000" b="1" i="0" u="none" strike="noStrike" cap="none">
                          <a:solidFill>
                            <a:srgbClr val="000000"/>
                          </a:solidFill>
                          <a:latin typeface="Arial"/>
                          <a:ea typeface="Arial"/>
                          <a:cs typeface="Arial"/>
                          <a:sym typeface="Arial"/>
                        </a:rPr>
                        <a:t>0.56</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21-02-2026</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600" b="1" dirty="0">
                          <a:solidFill>
                            <a:schemeClr val="dk1"/>
                          </a:solidFill>
                        </a:rPr>
                        <a:t>RTP registered with 2 GSTIN on same PAN . All taxable supply is from GSTIN : 08BUEPS3437E1ZK and intimated about the issue to submit reply.</a:t>
                      </a:r>
                      <a:endParaRPr sz="2400" b="0" i="0" u="none" strike="noStrike" cap="none" dirty="0">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45625">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JANAKAATMJA INFRA LLP</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2000"/>
                        <a:buFont typeface="Arial"/>
                        <a:buNone/>
                      </a:pPr>
                      <a:r>
                        <a:rPr lang="en-IN" sz="2000" b="1" i="0" u="none" strike="noStrike" cap="none">
                          <a:solidFill>
                            <a:srgbClr val="000000"/>
                          </a:solidFill>
                          <a:latin typeface="Arial"/>
                          <a:ea typeface="Arial"/>
                          <a:cs typeface="Arial"/>
                          <a:sym typeface="Arial"/>
                        </a:rPr>
                        <a:t>0.40</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S-10 - RCM Invoice sgst cash</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20-03-2026</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sz="1600" dirty="0"/>
                        <a:t>A letter is sent to CGST office, </a:t>
                      </a:r>
                      <a:r>
                        <a:rPr lang="en-IN" sz="1600" dirty="0" err="1"/>
                        <a:t>Kotputli</a:t>
                      </a:r>
                      <a:r>
                        <a:rPr lang="en-IN" sz="1600" dirty="0"/>
                        <a:t> for deposition RCM liability</a:t>
                      </a:r>
                      <a:endParaRPr sz="1600" b="0" i="0" u="none" strike="noStrike" cap="none" dirty="0">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45625">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Anil Trading Company</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2000"/>
                        <a:buFont typeface="Arial"/>
                        <a:buNone/>
                      </a:pPr>
                      <a:r>
                        <a:rPr lang="en-IN" sz="2000" b="1" i="0" u="none" strike="noStrike" cap="none">
                          <a:solidFill>
                            <a:srgbClr val="000000"/>
                          </a:solidFill>
                          <a:latin typeface="Arial"/>
                          <a:ea typeface="Arial"/>
                          <a:cs typeface="Arial"/>
                          <a:sym typeface="Arial"/>
                        </a:rPr>
                        <a:t>0.38</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S-10 - RCM Invoice sgst cash</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20-03-2026</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400"/>
                        <a:buFont typeface="Calibri"/>
                        <a:buNone/>
                      </a:pPr>
                      <a:r>
                        <a:rPr lang="en-IN" sz="1600">
                          <a:solidFill>
                            <a:schemeClr val="dk1"/>
                          </a:solidFill>
                        </a:rPr>
                        <a:t>A letter is sent to CGST office, Kotputli for deposition RCM liability</a:t>
                      </a:r>
                      <a:endParaRPr sz="2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45625">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SCULPTOR INFRA LLP</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2000"/>
                        <a:buFont typeface="Arial"/>
                        <a:buNone/>
                      </a:pPr>
                      <a:r>
                        <a:rPr lang="en-IN" sz="2000" b="1" i="0" u="none" strike="noStrike" cap="none">
                          <a:solidFill>
                            <a:srgbClr val="000000"/>
                          </a:solidFill>
                          <a:latin typeface="Arial"/>
                          <a:ea typeface="Arial"/>
                          <a:cs typeface="Arial"/>
                          <a:sym typeface="Arial"/>
                        </a:rPr>
                        <a:t>0.36</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S-10 - RCM Invoice sgst cash</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20-03-2026</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400"/>
                        <a:buFont typeface="Calibri"/>
                        <a:buNone/>
                      </a:pPr>
                      <a:r>
                        <a:rPr lang="en-IN" sz="1600">
                          <a:solidFill>
                            <a:schemeClr val="dk1"/>
                          </a:solidFill>
                        </a:rPr>
                        <a:t>A letter is sent to CGST office, Kotputli for deposition RCM liability</a:t>
                      </a:r>
                      <a:endParaRPr sz="2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45625">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KISHAN LAL MINES AND TRADING</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2000"/>
                        <a:buFont typeface="Arial"/>
                        <a:buNone/>
                      </a:pPr>
                      <a:r>
                        <a:rPr lang="en-IN" sz="2000" b="1" i="0" u="none" strike="noStrike" cap="none">
                          <a:solidFill>
                            <a:srgbClr val="000000"/>
                          </a:solidFill>
                          <a:latin typeface="Arial"/>
                          <a:ea typeface="Arial"/>
                          <a:cs typeface="Arial"/>
                          <a:sym typeface="Arial"/>
                        </a:rPr>
                        <a:t>0.36</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S-10 - RCM Invoice sgst cash</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20-03-2026</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sz="1600" dirty="0"/>
                        <a:t>SCN issued to RTP</a:t>
                      </a:r>
                      <a:endParaRPr sz="1600" b="0" i="0" u="none" strike="noStrike" cap="none" dirty="0">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45625">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N.K. Chaneja Mines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2000"/>
                        <a:buFont typeface="Arial"/>
                        <a:buNone/>
                      </a:pPr>
                      <a:r>
                        <a:rPr lang="en-IN" sz="2000" b="1" i="0" u="none" strike="noStrike" cap="none">
                          <a:solidFill>
                            <a:srgbClr val="000000"/>
                          </a:solidFill>
                          <a:latin typeface="Arial"/>
                          <a:ea typeface="Arial"/>
                          <a:cs typeface="Arial"/>
                          <a:sym typeface="Arial"/>
                        </a:rPr>
                        <a:t>0.28</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S-10 - RCM Invoice sgst cash</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20-02-2026</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sz="1100" dirty="0"/>
                        <a:t>The taxpayer is under the jurisdiction of the Central authority, the matter has been intimated to the taxpayer via telephone</a:t>
                      </a:r>
                      <a:endParaRPr sz="1100" b="0" i="0" u="none" strike="noStrike" cap="none" dirty="0">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45625">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CHHAWADI MINES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2000"/>
                        <a:buFont typeface="Arial"/>
                        <a:buNone/>
                      </a:pPr>
                      <a:r>
                        <a:rPr lang="en-IN" sz="2000" b="1" i="0" u="none" strike="noStrike" cap="none">
                          <a:solidFill>
                            <a:srgbClr val="000000"/>
                          </a:solidFill>
                          <a:latin typeface="Arial"/>
                          <a:ea typeface="Arial"/>
                          <a:cs typeface="Arial"/>
                          <a:sym typeface="Arial"/>
                        </a:rPr>
                        <a:t>0.26</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S-10 - RCM Invoice sgst cash</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25-02-2026</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600" b="1" dirty="0">
                          <a:solidFill>
                            <a:schemeClr val="dk1"/>
                          </a:solidFill>
                        </a:rPr>
                        <a:t>Taxpayer has been intimated to deposit RCM liability through email </a:t>
                      </a:r>
                      <a:endParaRPr sz="2000" b="0" i="0" u="none" strike="noStrike" cap="none" dirty="0">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45625">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SHRI DADU DAYAL ELECTRICAL</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2000"/>
                        <a:buFont typeface="Arial"/>
                        <a:buNone/>
                      </a:pPr>
                      <a:r>
                        <a:rPr lang="en-IN" sz="2000" b="1" i="0" u="none" strike="noStrike" cap="none">
                          <a:solidFill>
                            <a:srgbClr val="000000"/>
                          </a:solidFill>
                          <a:latin typeface="Arial"/>
                          <a:ea typeface="Arial"/>
                          <a:cs typeface="Arial"/>
                          <a:sym typeface="Arial"/>
                        </a:rPr>
                        <a:t>0.25</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S-11 TDS deduction of Cancelled Taxpayers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400"/>
                        <a:buFont typeface="Calibri"/>
                        <a:buNone/>
                      </a:pPr>
                      <a:r>
                        <a:rPr lang="en-IN">
                          <a:solidFill>
                            <a:schemeClr val="dk1"/>
                          </a:solidFill>
                        </a:rPr>
                        <a:t>21-02-2026</a:t>
                      </a:r>
                      <a:endParaRPr>
                        <a:solidFill>
                          <a:schemeClr val="dk1"/>
                        </a:solidFill>
                      </a:endParaRPr>
                    </a:p>
                    <a:p>
                      <a:pPr marL="0" marR="0" lvl="0" indent="0" algn="ctr" rtl="0">
                        <a:spcBef>
                          <a:spcPts val="0"/>
                        </a:spcBef>
                        <a:spcAft>
                          <a:spcPts val="0"/>
                        </a:spcAft>
                        <a:buClr>
                          <a:schemeClr val="dk1"/>
                        </a:buClr>
                        <a:buSzPts val="1400"/>
                        <a:buFont typeface="Calibri"/>
                        <a:buNone/>
                      </a:pP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600" b="1" dirty="0">
                          <a:solidFill>
                            <a:schemeClr val="dk1"/>
                          </a:solidFill>
                        </a:rPr>
                        <a:t>Taxpayer has been intimated about the issue through email and phone to deposit or submit reply.</a:t>
                      </a:r>
                      <a:endParaRPr sz="2000" dirty="0">
                        <a:solidFill>
                          <a:schemeClr val="dk1"/>
                        </a:solidFill>
                      </a:endParaRPr>
                    </a:p>
                    <a:p>
                      <a:pPr marL="0" lvl="0" indent="0" algn="ctr" rtl="0">
                        <a:spcBef>
                          <a:spcPts val="0"/>
                        </a:spcBef>
                        <a:spcAft>
                          <a:spcPts val="0"/>
                        </a:spcAft>
                        <a:buClr>
                          <a:schemeClr val="dk1"/>
                        </a:buClr>
                        <a:buSzPts val="1000"/>
                        <a:buFont typeface="Calibri"/>
                        <a:buNone/>
                      </a:pPr>
                      <a:r>
                        <a:rPr lang="en-IN" sz="1600" b="1" dirty="0">
                          <a:solidFill>
                            <a:schemeClr val="dk1"/>
                          </a:solidFill>
                        </a:rPr>
                        <a:t> </a:t>
                      </a:r>
                      <a:endParaRPr sz="2400" b="0" i="0" u="none" strike="noStrike" cap="none" dirty="0">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445625">
                <a:tc>
                  <a:txBody>
                    <a:bodyPr/>
                    <a:lstStyle/>
                    <a:p>
                      <a:pPr marL="0" marR="0" lvl="0" indent="0" algn="ctr" rtl="0">
                        <a:spcBef>
                          <a:spcPts val="0"/>
                        </a:spcBef>
                        <a:spcAft>
                          <a:spcPts val="0"/>
                        </a:spcAft>
                        <a:buClr>
                          <a:srgbClr val="000000"/>
                        </a:buClr>
                        <a:buSzPts val="1400"/>
                        <a:buFont typeface="Arial"/>
                        <a:buNone/>
                      </a:pPr>
                      <a:r>
                        <a:rPr lang="en-IN" sz="1400" b="0" i="0" u="none" strike="noStrike" cap="none">
                          <a:solidFill>
                            <a:srgbClr val="000000"/>
                          </a:solidFill>
                          <a:latin typeface="Arial"/>
                          <a:ea typeface="Arial"/>
                          <a:cs typeface="Arial"/>
                          <a:sym typeface="Arial"/>
                        </a:rPr>
                        <a:t>KISHAN LAL CONSTRUCTION COMPANY</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7F5CE"/>
                    </a:solidFill>
                  </a:tcPr>
                </a:tc>
                <a:tc>
                  <a:txBody>
                    <a:bodyPr/>
                    <a:lstStyle/>
                    <a:p>
                      <a:pPr marL="0" marR="0" lvl="0" indent="0" algn="ctr" rtl="0">
                        <a:spcBef>
                          <a:spcPts val="0"/>
                        </a:spcBef>
                        <a:spcAft>
                          <a:spcPts val="0"/>
                        </a:spcAft>
                        <a:buClr>
                          <a:srgbClr val="000000"/>
                        </a:buClr>
                        <a:buSzPts val="2000"/>
                        <a:buFont typeface="Arial"/>
                        <a:buNone/>
                      </a:pPr>
                      <a:r>
                        <a:rPr lang="en-IN" sz="2000" b="1" i="0" u="none" strike="noStrike" cap="none">
                          <a:solidFill>
                            <a:srgbClr val="000000"/>
                          </a:solidFill>
                          <a:latin typeface="Arial"/>
                          <a:ea typeface="Arial"/>
                          <a:cs typeface="Arial"/>
                          <a:sym typeface="Arial"/>
                        </a:rPr>
                        <a:t>0.24</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CD00"/>
                    </a:solidFill>
                  </a:tcPr>
                </a:tc>
                <a:tc>
                  <a:txBody>
                    <a:bodyPr/>
                    <a:lstStyle/>
                    <a:p>
                      <a:pPr marL="0" marR="0" lvl="0" indent="0" algn="ctr" rtl="0">
                        <a:spcBef>
                          <a:spcPts val="0"/>
                        </a:spcBef>
                        <a:spcAft>
                          <a:spcPts val="0"/>
                        </a:spcAft>
                        <a:buClr>
                          <a:srgbClr val="000000"/>
                        </a:buClr>
                        <a:buSzPts val="1400"/>
                        <a:buFont typeface="Arial"/>
                        <a:buNone/>
                      </a:pPr>
                      <a:r>
                        <a:rPr lang="en-IN"/>
                        <a:t>S-10 - RCM Invoice sgst cash</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IN"/>
                        <a:t>25-02-2026</a:t>
                      </a:r>
                      <a:endParaRPr sz="1400" b="0" i="0" u="none" strike="noStrike" cap="none">
                        <a:solidFill>
                          <a:srgbClr val="000000"/>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Calibri"/>
                        <a:buNone/>
                      </a:pPr>
                      <a:r>
                        <a:rPr lang="en-IN" sz="1600" b="1" dirty="0">
                          <a:solidFill>
                            <a:schemeClr val="dk1"/>
                          </a:solidFill>
                        </a:rPr>
                        <a:t>Taxpayer has been intimated to deposit RCM liability through email </a:t>
                      </a:r>
                      <a:endParaRPr sz="2000" dirty="0">
                        <a:solidFill>
                          <a:schemeClr val="dk1"/>
                        </a:solidFill>
                      </a:endParaRPr>
                    </a:p>
                    <a:p>
                      <a:pPr marL="0" lvl="0" indent="0" algn="ctr" rtl="0">
                        <a:spcBef>
                          <a:spcPts val="0"/>
                        </a:spcBef>
                        <a:spcAft>
                          <a:spcPts val="0"/>
                        </a:spcAft>
                        <a:buClr>
                          <a:schemeClr val="dk1"/>
                        </a:buClr>
                        <a:buSzPts val="1000"/>
                        <a:buFont typeface="Calibri"/>
                        <a:buNone/>
                      </a:pPr>
                      <a:endParaRPr sz="1600" b="1" dirty="0">
                        <a:solidFill>
                          <a:schemeClr val="dk1"/>
                        </a:solidFil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445625">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Total</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3.73</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rgbClr val="FFFFFF"/>
                        </a:buClr>
                        <a:buSzPts val="1400"/>
                        <a:buFont typeface="Arial"/>
                        <a:buNone/>
                      </a:pPr>
                      <a:r>
                        <a:rPr lang="en-IN" sz="1400" b="1" i="0" u="none" strike="noStrike" cap="none">
                          <a:solidFill>
                            <a:srgbClr val="FFFFFF"/>
                          </a:solidFill>
                          <a:latin typeface="Arial"/>
                          <a:ea typeface="Arial"/>
                          <a:cs typeface="Arial"/>
                          <a:sym typeface="Arial"/>
                        </a:rPr>
                        <a:t>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tc>
                  <a:txBody>
                    <a:bodyPr/>
                    <a:lstStyle/>
                    <a:p>
                      <a:pPr marL="0" marR="0" lvl="0" indent="0" algn="ctr" rtl="0">
                        <a:spcBef>
                          <a:spcPts val="0"/>
                        </a:spcBef>
                        <a:spcAft>
                          <a:spcPts val="0"/>
                        </a:spcAft>
                        <a:buClr>
                          <a:schemeClr val="dk1"/>
                        </a:buClr>
                        <a:buSzPts val="1400"/>
                        <a:buFont typeface="Calibri"/>
                        <a:buNone/>
                      </a:pPr>
                      <a:endParaRPr sz="1400" b="1" i="0" u="none" strike="noStrike" cap="none" dirty="0">
                        <a:solidFill>
                          <a:srgbClr val="FFFFFF"/>
                        </a:solidFill>
                        <a:latin typeface="Arial"/>
                        <a:ea typeface="Arial"/>
                        <a:cs typeface="Arial"/>
                        <a:sym typeface="Arial"/>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02060"/>
                    </a:solidFill>
                  </a:tcPr>
                </a:tc>
                <a:extLst>
                  <a:ext uri="{0D108BD9-81ED-4DB2-BD59-A6C34878D82A}">
                    <a16:rowId xmlns:a16="http://schemas.microsoft.com/office/drawing/2014/main" val="10011"/>
                  </a:ext>
                </a:extLst>
              </a:tr>
            </a:tbl>
          </a:graphicData>
        </a:graphic>
      </p:graphicFrame>
    </p:spTree>
  </p:cSld>
  <p:clrMapOvr>
    <a:masterClrMapping/>
  </p:clrMapOvr>
</p:sld>
</file>

<file path=ppt/theme/theme1.xml><?xml version="1.0" encoding="utf-8"?>
<a:theme xmlns:a="http://schemas.openxmlformats.org/drawingml/2006/main" name="Deloitte Brand Theme">
  <a:themeElements>
    <a:clrScheme name="Custom 3">
      <a:dk1>
        <a:srgbClr val="000000"/>
      </a:dk1>
      <a:lt1>
        <a:srgbClr val="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2</TotalTime>
  <Words>16959</Words>
  <Application>Microsoft Office PowerPoint</Application>
  <PresentationFormat>Widescreen</PresentationFormat>
  <Paragraphs>2202</Paragraphs>
  <Slides>34</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Cambria</vt:lpstr>
      <vt:lpstr>Verdana</vt:lpstr>
      <vt:lpstr>Deloitte Brand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Gupta, Satyendra</cp:lastModifiedBy>
  <cp:revision>2</cp:revision>
  <dcterms:modified xsi:type="dcterms:W3CDTF">2026-03-27T13:07:00Z</dcterms:modified>
</cp:coreProperties>
</file>