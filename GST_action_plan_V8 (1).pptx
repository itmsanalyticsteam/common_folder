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 id="2147483665" r:id="rId5"/>
    <p:sldMasterId id="2147483666" r:id="rId6"/>
  </p:sldMasterIdLst>
  <p:notesMasterIdLst>
    <p:notesMasterId r:id="rId28"/>
  </p:notesMasterIdLst>
  <p:sldIdLst>
    <p:sldId id="256" r:id="rId7"/>
    <p:sldId id="257" r:id="rId8"/>
    <p:sldId id="258" r:id="rId9"/>
    <p:sldId id="260" r:id="rId10"/>
    <p:sldId id="261" r:id="rId11"/>
    <p:sldId id="262" r:id="rId12"/>
    <p:sldId id="263" r:id="rId13"/>
    <p:sldId id="264" r:id="rId14"/>
    <p:sldId id="281" r:id="rId15"/>
    <p:sldId id="265" r:id="rId16"/>
    <p:sldId id="266" r:id="rId17"/>
    <p:sldId id="267" r:id="rId18"/>
    <p:sldId id="276" r:id="rId19"/>
    <p:sldId id="269" r:id="rId20"/>
    <p:sldId id="283" r:id="rId21"/>
    <p:sldId id="273" r:id="rId22"/>
    <p:sldId id="282" r:id="rId23"/>
    <p:sldId id="279" r:id="rId24"/>
    <p:sldId id="270" r:id="rId25"/>
    <p:sldId id="272" r:id="rId26"/>
    <p:sldId id="274" r:id="rId27"/>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D4551B-5571-4898-B62F-B59075B6CF08}" v="18" dt="2026-06-14T16:47:33.320"/>
  </p1510:revLst>
</p1510:revInfo>
</file>

<file path=ppt/tableStyles.xml><?xml version="1.0" encoding="utf-8"?>
<a:tblStyleLst xmlns:a="http://schemas.openxmlformats.org/drawingml/2006/main" def="{0E1360DE-2B03-4F70-B7EE-935E0FC2D80C}">
  <a:tblStyle styleId="{0E1360DE-2B03-4F70-B7EE-935E0FC2D80C}"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0668F59-ACE9-41EE-BF83-7E9F5C155E1C}"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0" d="100"/>
          <a:sy n="70" d="100"/>
        </p:scale>
        <p:origin x="1108" y="116"/>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6"/>
        <p:cNvGrpSpPr/>
        <p:nvPr/>
      </p:nvGrpSpPr>
      <p:grpSpPr>
        <a:xfrm>
          <a:off x="0" y="0"/>
          <a:ext cx="0" cy="0"/>
          <a:chOff x="0" y="0"/>
          <a:chExt cx="0" cy="0"/>
        </a:xfrm>
      </p:grpSpPr>
      <p:sp>
        <p:nvSpPr>
          <p:cNvPr id="77" name="Google Shape;77;n"/>
          <p:cNvSpPr txBox="1">
            <a:spLocks noGrp="1"/>
          </p:cNvSpPr>
          <p:nvPr>
            <p:ph type="hdr" idx="2"/>
          </p:nvPr>
        </p:nvSpPr>
        <p:spPr>
          <a:xfrm>
            <a:off x="0" y="0"/>
            <a:ext cx="3962400" cy="2571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SzPts val="1400"/>
              <a:buNone/>
              <a:defRPr sz="1200"/>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8" name="Google Shape;78;n"/>
          <p:cNvSpPr txBox="1">
            <a:spLocks noGrp="1"/>
          </p:cNvSpPr>
          <p:nvPr>
            <p:ph type="dt" idx="10"/>
          </p:nvPr>
        </p:nvSpPr>
        <p:spPr>
          <a:xfrm>
            <a:off x="5180013" y="0"/>
            <a:ext cx="3962400" cy="257100"/>
          </a:xfrm>
          <a:prstGeom prst="rect">
            <a:avLst/>
          </a:prstGeom>
          <a:noFill/>
          <a:ln>
            <a:noFill/>
          </a:ln>
        </p:spPr>
        <p:txBody>
          <a:bodyPr spcFirstLastPara="1" wrap="square" lIns="91425" tIns="45700" rIns="91425" bIns="45700" anchor="t" anchorCtr="0">
            <a:noAutofit/>
          </a:bodyPr>
          <a:lstStyle>
            <a:lvl1pPr lvl="0" algn="r" rtl="0">
              <a:spcBef>
                <a:spcPts val="0"/>
              </a:spcBef>
              <a:spcAft>
                <a:spcPts val="0"/>
              </a:spcAft>
              <a:buSzPts val="1400"/>
              <a:buNone/>
              <a:defRPr sz="1200"/>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9" name="Google Shape;79;n"/>
          <p:cNvSpPr>
            <a:spLocks noGrp="1" noRot="1" noChangeAspect="1"/>
          </p:cNvSpPr>
          <p:nvPr>
            <p:ph type="sldImg" idx="3"/>
          </p:nvPr>
        </p:nvSpPr>
        <p:spPr>
          <a:xfrm>
            <a:off x="3028950" y="642938"/>
            <a:ext cx="3086100" cy="1736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 name="Google Shape;80;n"/>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81" name="Google Shape;81;n"/>
          <p:cNvSpPr txBox="1">
            <a:spLocks noGrp="1"/>
          </p:cNvSpPr>
          <p:nvPr>
            <p:ph type="ftr" idx="11"/>
          </p:nvPr>
        </p:nvSpPr>
        <p:spPr>
          <a:xfrm>
            <a:off x="0" y="4886325"/>
            <a:ext cx="3962400" cy="2571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SzPts val="1400"/>
              <a:buNone/>
              <a:defRPr sz="1200"/>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2" name="Google Shape;82;n"/>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t>‹#›</a:t>
            </a:fld>
            <a:endParaRPr sz="12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notes"/>
          <p:cNvSpPr>
            <a:spLocks noGrp="1" noRot="1" noChangeAspect="1"/>
          </p:cNvSpPr>
          <p:nvPr>
            <p:ph type="sldImg" idx="2"/>
          </p:nvPr>
        </p:nvSpPr>
        <p:spPr>
          <a:xfrm>
            <a:off x="3028950" y="642938"/>
            <a:ext cx="3086100" cy="1736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2:notes"/>
          <p:cNvSpPr>
            <a:spLocks noGrp="1" noRot="1" noChangeAspect="1"/>
          </p:cNvSpPr>
          <p:nvPr>
            <p:ph type="sldImg" idx="2"/>
          </p:nvPr>
        </p:nvSpPr>
        <p:spPr>
          <a:xfrm>
            <a:off x="3028950" y="642938"/>
            <a:ext cx="3086100" cy="17367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3: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3: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5" name="Google Shape;275;p3: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5: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3" name="Google Shape;313;p5: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Anant</a:t>
            </a:r>
            <a:endParaRPr/>
          </a:p>
        </p:txBody>
      </p:sp>
      <p:sp>
        <p:nvSpPr>
          <p:cNvPr id="314" name="Google Shape;314;p5: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6: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6: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Anant</a:t>
            </a:r>
            <a:endParaRPr/>
          </a:p>
        </p:txBody>
      </p:sp>
      <p:sp>
        <p:nvSpPr>
          <p:cNvPr id="321" name="Google Shape;321;p6: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2" name="Google Shape;352;p7: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a:t>
            </a:r>
            <a:endParaRPr/>
          </a:p>
        </p:txBody>
      </p:sp>
      <p:sp>
        <p:nvSpPr>
          <p:cNvPr id="353" name="Google Shape;353;p7: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p8: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7" name="Google Shape;417;p8: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418" name="Google Shape;418;p8: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9: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p9: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443" name="Google Shape;443;p9: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403FF04F-669F-CB44-251A-4257FA8B698A}"/>
            </a:ext>
          </a:extLst>
        </p:cNvPr>
        <p:cNvGrpSpPr/>
        <p:nvPr/>
      </p:nvGrpSpPr>
      <p:grpSpPr>
        <a:xfrm>
          <a:off x="0" y="0"/>
          <a:ext cx="0" cy="0"/>
          <a:chOff x="0" y="0"/>
          <a:chExt cx="0" cy="0"/>
        </a:xfrm>
      </p:grpSpPr>
      <p:sp>
        <p:nvSpPr>
          <p:cNvPr id="196" name="Google Shape;196;p1:notes">
            <a:extLst>
              <a:ext uri="{FF2B5EF4-FFF2-40B4-BE49-F238E27FC236}">
                <a16:creationId xmlns:a16="http://schemas.microsoft.com/office/drawing/2014/main" id="{4AE85AC9-3C42-E569-678C-68ABB5357E1B}"/>
              </a:ext>
            </a:extLst>
          </p:cNvPr>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notes">
            <a:extLst>
              <a:ext uri="{FF2B5EF4-FFF2-40B4-BE49-F238E27FC236}">
                <a16:creationId xmlns:a16="http://schemas.microsoft.com/office/drawing/2014/main" id="{4934A5FA-76A5-3156-6146-9B76DA51B867}"/>
              </a:ext>
            </a:extLst>
          </p:cNvPr>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68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1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10: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471" name="Google Shape;471;p10: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4" name="Google Shape;484;p1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485" name="Google Shape;485;p1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2: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506" name="Google Shape;506;p12: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None/>
            </a:pPr>
            <a:fld id="{00000000-1234-1234-1234-123412341234}" type="slidenum">
              <a:rPr lang="en-US" sz="1200" b="0" i="0" u="none" strike="noStrike" cap="none">
                <a:solidFill>
                  <a:srgbClr val="000000"/>
                </a:solidFill>
              </a:rPr>
              <a:t>12</a:t>
            </a:fld>
            <a:endParaRPr sz="1200" b="0" i="0" u="none" strike="noStrike" cap="none">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5701F-5B58-1F70-26F0-E60F585DED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0CDBE-764A-ED3F-C774-445E3329EA7F}"/>
              </a:ext>
            </a:extLst>
          </p:cNvPr>
          <p:cNvSpPr>
            <a:spLocks noGrp="1" noRot="1" noChangeAspect="1"/>
          </p:cNvSpPr>
          <p:nvPr>
            <p:ph type="sldImg"/>
          </p:nvPr>
        </p:nvSpPr>
        <p:spPr>
          <a:xfrm>
            <a:off x="3028950" y="642938"/>
            <a:ext cx="3086100" cy="1736725"/>
          </a:xfrm>
        </p:spPr>
      </p:sp>
      <p:sp>
        <p:nvSpPr>
          <p:cNvPr id="3" name="Notes Placeholder 2">
            <a:extLst>
              <a:ext uri="{FF2B5EF4-FFF2-40B4-BE49-F238E27FC236}">
                <a16:creationId xmlns:a16="http://schemas.microsoft.com/office/drawing/2014/main" id="{47B8C3F8-8C76-6475-0974-E666AA9F8990}"/>
              </a:ext>
            </a:extLst>
          </p:cNvPr>
          <p:cNvSpPr>
            <a:spLocks noGrp="1"/>
          </p:cNvSpPr>
          <p:nvPr>
            <p:ph type="body" idx="1"/>
          </p:nvPr>
        </p:nvSpPr>
        <p:spPr/>
        <p:txBody>
          <a:bodyPr/>
          <a:lstStyle/>
          <a:p>
            <a:r>
              <a:rPr lang="en-US"/>
              <a:t>Akash --- Past years GSDP vs GST Revenue… New Action Plan like scrutiny, Top500, Data Integration</a:t>
            </a:r>
          </a:p>
        </p:txBody>
      </p:sp>
      <p:sp>
        <p:nvSpPr>
          <p:cNvPr id="4" name="Slide Number Placeholder 3">
            <a:extLst>
              <a:ext uri="{FF2B5EF4-FFF2-40B4-BE49-F238E27FC236}">
                <a16:creationId xmlns:a16="http://schemas.microsoft.com/office/drawing/2014/main" id="{1A557F6B-024C-1954-FFA7-28C0CB160C7B}"/>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E113E34A-BCC9-43EE-88DE-AEA86A12D56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13</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266340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14: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4" name="Google Shape;544;p14: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545" name="Google Shape;545;p14: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E050C-FF1A-1F43-59C9-F7B67E4A85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AA6B2-2A92-F4A1-3B50-850B3AE74101}"/>
              </a:ext>
            </a:extLst>
          </p:cNvPr>
          <p:cNvSpPr>
            <a:spLocks noGrp="1" noRot="1" noChangeAspect="1"/>
          </p:cNvSpPr>
          <p:nvPr>
            <p:ph type="sldImg"/>
          </p:nvPr>
        </p:nvSpPr>
        <p:spPr>
          <a:xfrm>
            <a:off x="3028950" y="642938"/>
            <a:ext cx="3086100" cy="1736725"/>
          </a:xfrm>
        </p:spPr>
      </p:sp>
      <p:sp>
        <p:nvSpPr>
          <p:cNvPr id="3" name="Notes Placeholder 2">
            <a:extLst>
              <a:ext uri="{FF2B5EF4-FFF2-40B4-BE49-F238E27FC236}">
                <a16:creationId xmlns:a16="http://schemas.microsoft.com/office/drawing/2014/main" id="{214D6782-BAF2-7811-877A-8C5E60982C89}"/>
              </a:ext>
            </a:extLst>
          </p:cNvPr>
          <p:cNvSpPr>
            <a:spLocks noGrp="1"/>
          </p:cNvSpPr>
          <p:nvPr>
            <p:ph type="body" idx="1"/>
          </p:nvPr>
        </p:nvSpPr>
        <p:spPr/>
        <p:txBody>
          <a:bodyPr/>
          <a:lstStyle/>
          <a:p>
            <a:r>
              <a:rPr lang="en-US"/>
              <a:t>Akash --- Past years GSDP vs GST Revenue… New Action Plan like scrutiny, Top500, Data Integration</a:t>
            </a:r>
          </a:p>
        </p:txBody>
      </p:sp>
      <p:sp>
        <p:nvSpPr>
          <p:cNvPr id="4" name="Slide Number Placeholder 3">
            <a:extLst>
              <a:ext uri="{FF2B5EF4-FFF2-40B4-BE49-F238E27FC236}">
                <a16:creationId xmlns:a16="http://schemas.microsoft.com/office/drawing/2014/main" id="{47E3C9E3-D08B-FA81-B04C-A79998BFF867}"/>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E113E34A-BCC9-43EE-88DE-AEA86A12D56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15</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4465747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8: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6" name="Google Shape;636;p18: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637" name="Google Shape;637;p18: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9BFDD4D5-2442-27B5-0BEF-BD738C090CB6}"/>
            </a:ext>
          </a:extLst>
        </p:cNvPr>
        <p:cNvGrpSpPr/>
        <p:nvPr/>
      </p:nvGrpSpPr>
      <p:grpSpPr>
        <a:xfrm>
          <a:off x="0" y="0"/>
          <a:ext cx="0" cy="0"/>
          <a:chOff x="0" y="0"/>
          <a:chExt cx="0" cy="0"/>
        </a:xfrm>
      </p:grpSpPr>
      <p:sp>
        <p:nvSpPr>
          <p:cNvPr id="196" name="Google Shape;196;p1:notes">
            <a:extLst>
              <a:ext uri="{FF2B5EF4-FFF2-40B4-BE49-F238E27FC236}">
                <a16:creationId xmlns:a16="http://schemas.microsoft.com/office/drawing/2014/main" id="{4784B937-0EF8-263F-E14E-CD8C98CA4FC9}"/>
              </a:ext>
            </a:extLst>
          </p:cNvPr>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notes">
            <a:extLst>
              <a:ext uri="{FF2B5EF4-FFF2-40B4-BE49-F238E27FC236}">
                <a16:creationId xmlns:a16="http://schemas.microsoft.com/office/drawing/2014/main" id="{BF72A356-41EA-846E-3E8F-881897272D70}"/>
              </a:ext>
            </a:extLst>
          </p:cNvPr>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11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4EC5-DB6B-CB0A-C090-932073EE8A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37AC8-7A54-20EC-C4B7-74B74D67E465}"/>
              </a:ext>
            </a:extLst>
          </p:cNvPr>
          <p:cNvSpPr>
            <a:spLocks noGrp="1" noRot="1" noChangeAspect="1"/>
          </p:cNvSpPr>
          <p:nvPr>
            <p:ph type="sldImg"/>
          </p:nvPr>
        </p:nvSpPr>
        <p:spPr>
          <a:xfrm>
            <a:off x="3028950" y="642938"/>
            <a:ext cx="3086100" cy="1736725"/>
          </a:xfrm>
        </p:spPr>
      </p:sp>
      <p:sp>
        <p:nvSpPr>
          <p:cNvPr id="3" name="Notes Placeholder 2">
            <a:extLst>
              <a:ext uri="{FF2B5EF4-FFF2-40B4-BE49-F238E27FC236}">
                <a16:creationId xmlns:a16="http://schemas.microsoft.com/office/drawing/2014/main" id="{327AE491-2B7A-763A-3425-2CEB7FAE39E2}"/>
              </a:ext>
            </a:extLst>
          </p:cNvPr>
          <p:cNvSpPr>
            <a:spLocks noGrp="1"/>
          </p:cNvSpPr>
          <p:nvPr>
            <p:ph type="body" idx="1"/>
          </p:nvPr>
        </p:nvSpPr>
        <p:spPr/>
        <p:txBody>
          <a:bodyPr/>
          <a:lstStyle/>
          <a:p>
            <a:r>
              <a:rPr lang="en-US"/>
              <a:t>Akash --- Past years GSDP vs GST Revenue… New Action Plan like scrutiny, Top500, Data Integration</a:t>
            </a:r>
          </a:p>
        </p:txBody>
      </p:sp>
      <p:sp>
        <p:nvSpPr>
          <p:cNvPr id="4" name="Slide Number Placeholder 3">
            <a:extLst>
              <a:ext uri="{FF2B5EF4-FFF2-40B4-BE49-F238E27FC236}">
                <a16:creationId xmlns:a16="http://schemas.microsoft.com/office/drawing/2014/main" id="{B33A775E-AE9E-644F-FC4C-4061693F56FE}"/>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E113E34A-BCC9-43EE-88DE-AEA86A12D560}" type="slidenum">
              <a:rPr kumimoji="0" lang="en-IN" sz="1200" b="0" i="0" u="none" strike="noStrike" kern="0" cap="none" spc="0" normalizeH="0" baseline="0" noProof="0" smtClean="0">
                <a:ln>
                  <a:noFill/>
                </a:ln>
                <a:solidFill>
                  <a:sysClr val="windowText" lastClr="000000"/>
                </a:solidFill>
                <a:effectLst/>
                <a:uLnTx/>
                <a:uFillTx/>
              </a:rPr>
              <a:pPr marL="0" marR="0" lvl="0" indent="0" algn="r" defTabSz="914400" eaLnBrk="1" fontAlgn="auto" latinLnBrk="0" hangingPunct="1">
                <a:lnSpc>
                  <a:spcPct val="100000"/>
                </a:lnSpc>
                <a:spcBef>
                  <a:spcPts val="0"/>
                </a:spcBef>
                <a:spcAft>
                  <a:spcPts val="0"/>
                </a:spcAft>
                <a:buClrTx/>
                <a:buSzTx/>
                <a:buFontTx/>
                <a:buNone/>
                <a:tabLst/>
                <a:defRPr/>
              </a:pPr>
              <a:t>18</a:t>
            </a:fld>
            <a:endParaRPr kumimoji="0" lang="en-IN" sz="12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4127166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15: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9" name="Google Shape;569;p15: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7: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0" name="Google Shape;600;p17: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Akash --- Past years GSDP vs GST Revenue… New Action Plan like scrutiny, Top500, Data Integration</a:t>
            </a:r>
            <a:endParaRPr/>
          </a:p>
        </p:txBody>
      </p:sp>
      <p:sp>
        <p:nvSpPr>
          <p:cNvPr id="601" name="Google Shape;601;p17: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9"/>
        <p:cNvGrpSpPr/>
        <p:nvPr/>
      </p:nvGrpSpPr>
      <p:grpSpPr>
        <a:xfrm>
          <a:off x="0" y="0"/>
          <a:ext cx="0" cy="0"/>
          <a:chOff x="0" y="0"/>
          <a:chExt cx="0" cy="0"/>
        </a:xfrm>
      </p:grpSpPr>
      <p:sp>
        <p:nvSpPr>
          <p:cNvPr id="660" name="Google Shape;660;p19: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1" name="Google Shape;661;p19: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Anant – Sohan Sir</a:t>
            </a:r>
            <a:endParaRPr/>
          </a:p>
        </p:txBody>
      </p:sp>
      <p:sp>
        <p:nvSpPr>
          <p:cNvPr id="662" name="Google Shape;662;p19: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sp>
        <p:nvSpPr>
          <p:cNvPr id="91" name="Google Shape;91;p2"/>
          <p:cNvSpPr txBox="1">
            <a:spLocks noGrp="1"/>
          </p:cNvSpPr>
          <p:nvPr>
            <p:ph type="title"/>
          </p:nvPr>
        </p:nvSpPr>
        <p:spPr>
          <a:xfrm>
            <a:off x="1187602" y="336549"/>
            <a:ext cx="6306300" cy="324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950" b="1" i="0">
                <a:solidFill>
                  <a:srgbClr val="1F3863"/>
                </a:solidFill>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2" name="Google Shape;92;p2"/>
          <p:cNvSpPr txBox="1">
            <a:spLocks noGrp="1"/>
          </p:cNvSpPr>
          <p:nvPr>
            <p:ph type="body" idx="1"/>
          </p:nvPr>
        </p:nvSpPr>
        <p:spPr>
          <a:xfrm>
            <a:off x="404113" y="1400133"/>
            <a:ext cx="5421000" cy="29445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400"/>
              <a:buNone/>
              <a:defRPr sz="800" b="1" i="0">
                <a:solidFill>
                  <a:srgbClr val="6B7B8E"/>
                </a:solidFill>
                <a:latin typeface="Calibri"/>
                <a:ea typeface="Calibri"/>
                <a:cs typeface="Calibri"/>
                <a:sym typeface="Calibri"/>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93" name="Google Shape;93;p2"/>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4" name="Google Shape;94;p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5" name="Google Shape;95;p2"/>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96"/>
        <p:cNvGrpSpPr/>
        <p:nvPr/>
      </p:nvGrpSpPr>
      <p:grpSpPr>
        <a:xfrm>
          <a:off x="0" y="0"/>
          <a:ext cx="0" cy="0"/>
          <a:chOff x="0" y="0"/>
          <a:chExt cx="0" cy="0"/>
        </a:xfrm>
      </p:grpSpPr>
      <p:sp>
        <p:nvSpPr>
          <p:cNvPr id="97" name="Google Shape;97;p3"/>
          <p:cNvSpPr/>
          <p:nvPr/>
        </p:nvSpPr>
        <p:spPr>
          <a:xfrm>
            <a:off x="0" y="0"/>
            <a:ext cx="9144000" cy="713105"/>
          </a:xfrm>
          <a:custGeom>
            <a:avLst/>
            <a:gdLst/>
            <a:ahLst/>
            <a:cxnLst/>
            <a:rect l="l" t="t" r="r" b="b"/>
            <a:pathLst>
              <a:path w="9144000" h="713105" extrusionOk="0">
                <a:moveTo>
                  <a:pt x="9144000" y="0"/>
                </a:moveTo>
                <a:lnTo>
                  <a:pt x="0" y="0"/>
                </a:lnTo>
                <a:lnTo>
                  <a:pt x="0" y="713104"/>
                </a:lnTo>
                <a:lnTo>
                  <a:pt x="9144000" y="713104"/>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8" name="Google Shape;98;p3"/>
          <p:cNvSpPr/>
          <p:nvPr/>
        </p:nvSpPr>
        <p:spPr>
          <a:xfrm>
            <a:off x="0" y="0"/>
            <a:ext cx="9144000" cy="713105"/>
          </a:xfrm>
          <a:custGeom>
            <a:avLst/>
            <a:gdLst/>
            <a:ahLst/>
            <a:cxnLst/>
            <a:rect l="l" t="t" r="r" b="b"/>
            <a:pathLst>
              <a:path w="9144000" h="713105" extrusionOk="0">
                <a:moveTo>
                  <a:pt x="0" y="713104"/>
                </a:moveTo>
                <a:lnTo>
                  <a:pt x="9144000" y="713104"/>
                </a:lnTo>
                <a:lnTo>
                  <a:pt x="9144000" y="0"/>
                </a:lnTo>
                <a:lnTo>
                  <a:pt x="0" y="0"/>
                </a:lnTo>
                <a:lnTo>
                  <a:pt x="0" y="713104"/>
                </a:lnTo>
                <a:close/>
              </a:path>
            </a:pathLst>
          </a:custGeom>
          <a:noFill/>
          <a:ln w="12675"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99" name="Google Shape;99;p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 name="Google Shape;101;p3"/>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2"/>
        <p:cNvGrpSpPr/>
        <p:nvPr/>
      </p:nvGrpSpPr>
      <p:grpSpPr>
        <a:xfrm>
          <a:off x="0" y="0"/>
          <a:ext cx="0" cy="0"/>
          <a:chOff x="0" y="0"/>
          <a:chExt cx="0" cy="0"/>
        </a:xfrm>
      </p:grpSpPr>
      <p:sp>
        <p:nvSpPr>
          <p:cNvPr id="103" name="Google Shape;103;p4"/>
          <p:cNvSpPr txBox="1">
            <a:spLocks noGrp="1"/>
          </p:cNvSpPr>
          <p:nvPr>
            <p:ph type="ctrTitle"/>
          </p:nvPr>
        </p:nvSpPr>
        <p:spPr>
          <a:xfrm>
            <a:off x="685800" y="1594485"/>
            <a:ext cx="7772400" cy="1080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950" b="1" i="0">
                <a:solidFill>
                  <a:srgbClr val="1F3863"/>
                </a:solidFill>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4" name="Google Shape;104;p4"/>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800" b="1" i="0">
                <a:solidFill>
                  <a:srgbClr val="6B7B8E"/>
                </a:solidFill>
                <a:latin typeface="Calibri"/>
                <a:ea typeface="Calibri"/>
                <a:cs typeface="Calibri"/>
                <a:sym typeface="Calibri"/>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 name="Google Shape;105;p4"/>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6" name="Google Shape;106;p4"/>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7" name="Google Shape;107;p4"/>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08"/>
        <p:cNvGrpSpPr/>
        <p:nvPr/>
      </p:nvGrpSpPr>
      <p:grpSpPr>
        <a:xfrm>
          <a:off x="0" y="0"/>
          <a:ext cx="0" cy="0"/>
          <a:chOff x="0" y="0"/>
          <a:chExt cx="0" cy="0"/>
        </a:xfrm>
      </p:grpSpPr>
      <p:sp>
        <p:nvSpPr>
          <p:cNvPr id="109" name="Google Shape;109;p5"/>
          <p:cNvSpPr txBox="1">
            <a:spLocks noGrp="1"/>
          </p:cNvSpPr>
          <p:nvPr>
            <p:ph type="title"/>
          </p:nvPr>
        </p:nvSpPr>
        <p:spPr>
          <a:xfrm>
            <a:off x="1187602" y="336549"/>
            <a:ext cx="6306300" cy="324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950" b="1" i="0">
                <a:solidFill>
                  <a:srgbClr val="1F3863"/>
                </a:solidFill>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 name="Google Shape;110;p5"/>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111" name="Google Shape;111;p5"/>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rtl="0">
              <a:spcBef>
                <a:spcPts val="0"/>
              </a:spcBef>
              <a:spcAft>
                <a:spcPts val="0"/>
              </a:spcAft>
              <a:buSzPts val="1400"/>
              <a:buNone/>
              <a:defRPr/>
            </a:lvl1pPr>
            <a:lvl2pPr marL="914400" lvl="1" indent="-228600" algn="l" rtl="0">
              <a:spcBef>
                <a:spcPts val="0"/>
              </a:spcBef>
              <a:spcAft>
                <a:spcPts val="0"/>
              </a:spcAft>
              <a:buSzPts val="1400"/>
              <a:buNone/>
              <a:defRPr/>
            </a:lvl2pPr>
            <a:lvl3pPr marL="1371600" lvl="2" indent="-228600" algn="l" rtl="0">
              <a:spcBef>
                <a:spcPts val="0"/>
              </a:spcBef>
              <a:spcAft>
                <a:spcPts val="0"/>
              </a:spcAft>
              <a:buSzPts val="1400"/>
              <a:buNone/>
              <a:defRPr/>
            </a:lvl3pPr>
            <a:lvl4pPr marL="1828800" lvl="3" indent="-228600" algn="l" rtl="0">
              <a:spcBef>
                <a:spcPts val="0"/>
              </a:spcBef>
              <a:spcAft>
                <a:spcPts val="0"/>
              </a:spcAft>
              <a:buSzPts val="1400"/>
              <a:buNone/>
              <a:defRPr/>
            </a:lvl4pPr>
            <a:lvl5pPr marL="2286000" lvl="4" indent="-228600" algn="l" rtl="0">
              <a:spcBef>
                <a:spcPts val="0"/>
              </a:spcBef>
              <a:spcAft>
                <a:spcPts val="0"/>
              </a:spcAft>
              <a:buSzPts val="1400"/>
              <a:buNone/>
              <a:defRPr/>
            </a:lvl5pPr>
            <a:lvl6pPr marL="2743200" lvl="5" indent="-228600" algn="l" rtl="0">
              <a:spcBef>
                <a:spcPts val="0"/>
              </a:spcBef>
              <a:spcAft>
                <a:spcPts val="0"/>
              </a:spcAft>
              <a:buSzPts val="1400"/>
              <a:buNone/>
              <a:defRPr/>
            </a:lvl6pPr>
            <a:lvl7pPr marL="3200400" lvl="6" indent="-228600" algn="l" rtl="0">
              <a:spcBef>
                <a:spcPts val="0"/>
              </a:spcBef>
              <a:spcAft>
                <a:spcPts val="0"/>
              </a:spcAft>
              <a:buSzPts val="1400"/>
              <a:buNone/>
              <a:defRPr/>
            </a:lvl7pPr>
            <a:lvl8pPr marL="3657600" lvl="7" indent="-228600" algn="l" rtl="0">
              <a:spcBef>
                <a:spcPts val="0"/>
              </a:spcBef>
              <a:spcAft>
                <a:spcPts val="0"/>
              </a:spcAft>
              <a:buSzPts val="1400"/>
              <a:buNone/>
              <a:defRPr/>
            </a:lvl8pPr>
            <a:lvl9pPr marL="4114800" lvl="8" indent="-228600" algn="l" rtl="0">
              <a:spcBef>
                <a:spcPts val="0"/>
              </a:spcBef>
              <a:spcAft>
                <a:spcPts val="0"/>
              </a:spcAft>
              <a:buSzPts val="1400"/>
              <a:buNone/>
              <a:defRPr/>
            </a:lvl9pPr>
          </a:lstStyle>
          <a:p>
            <a:endParaRPr/>
          </a:p>
        </p:txBody>
      </p:sp>
      <p:sp>
        <p:nvSpPr>
          <p:cNvPr id="112" name="Google Shape;112;p5"/>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3" name="Google Shape;113;p5"/>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4" name="Google Shape;114;p5"/>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xfrm>
            <a:off x="1187602" y="336549"/>
            <a:ext cx="6306300" cy="3240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950" b="1" i="0">
                <a:solidFill>
                  <a:srgbClr val="1F3863"/>
                </a:solidFill>
                <a:latin typeface="Calibri"/>
                <a:ea typeface="Calibri"/>
                <a:cs typeface="Calibri"/>
                <a:sym typeface="Calibri"/>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7" name="Google Shape;117;p6"/>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8" name="Google Shape;118;p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a:solidFill>
                  <a:srgbClr val="888888"/>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9" name="Google Shape;119;p6"/>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a:solidFill>
                  <a:srgbClr val="888888"/>
                </a:solidFill>
              </a:defRPr>
            </a:lvl1pPr>
            <a:lvl2pPr lvl="1" indent="0" algn="r" rtl="0">
              <a:spcBef>
                <a:spcPts val="0"/>
              </a:spcBef>
              <a:buNone/>
              <a:defRPr>
                <a:solidFill>
                  <a:srgbClr val="888888"/>
                </a:solidFill>
              </a:defRPr>
            </a:lvl2pPr>
            <a:lvl3pPr lvl="2" indent="0" algn="r" rtl="0">
              <a:spcBef>
                <a:spcPts val="0"/>
              </a:spcBef>
              <a:buNone/>
              <a:defRPr>
                <a:solidFill>
                  <a:srgbClr val="888888"/>
                </a:solidFill>
              </a:defRPr>
            </a:lvl3pPr>
            <a:lvl4pPr lvl="3" indent="0" algn="r" rtl="0">
              <a:spcBef>
                <a:spcPts val="0"/>
              </a:spcBef>
              <a:buNone/>
              <a:defRPr>
                <a:solidFill>
                  <a:srgbClr val="888888"/>
                </a:solidFill>
              </a:defRPr>
            </a:lvl4pPr>
            <a:lvl5pPr lvl="4" indent="0" algn="r" rtl="0">
              <a:spcBef>
                <a:spcPts val="0"/>
              </a:spcBef>
              <a:buNone/>
              <a:defRPr>
                <a:solidFill>
                  <a:srgbClr val="888888"/>
                </a:solidFill>
              </a:defRPr>
            </a:lvl5pPr>
            <a:lvl6pPr lvl="5" indent="0" algn="r" rtl="0">
              <a:spcBef>
                <a:spcPts val="0"/>
              </a:spcBef>
              <a:buNone/>
              <a:defRPr>
                <a:solidFill>
                  <a:srgbClr val="888888"/>
                </a:solidFill>
              </a:defRPr>
            </a:lvl6pPr>
            <a:lvl7pPr lvl="6" indent="0" algn="r" rtl="0">
              <a:spcBef>
                <a:spcPts val="0"/>
              </a:spcBef>
              <a:buNone/>
              <a:defRPr>
                <a:solidFill>
                  <a:srgbClr val="888888"/>
                </a:solidFill>
              </a:defRPr>
            </a:lvl7pPr>
            <a:lvl8pPr lvl="7" indent="0" algn="r" rtl="0">
              <a:spcBef>
                <a:spcPts val="0"/>
              </a:spcBef>
              <a:buNone/>
              <a:defRPr>
                <a:solidFill>
                  <a:srgbClr val="888888"/>
                </a:solidFill>
              </a:defRPr>
            </a:lvl8pPr>
            <a:lvl9pPr lvl="8" indent="0" algn="r" rtl="0">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6"/>
        <p:cNvGrpSpPr/>
        <p:nvPr/>
      </p:nvGrpSpPr>
      <p:grpSpPr>
        <a:xfrm>
          <a:off x="0" y="0"/>
          <a:ext cx="0" cy="0"/>
          <a:chOff x="0" y="0"/>
          <a:chExt cx="0" cy="0"/>
        </a:xfrm>
      </p:grpSpPr>
      <p:sp>
        <p:nvSpPr>
          <p:cNvPr id="127" name="Google Shape;127;p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 name="Google Shape;128;p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9" name="Google Shape;129;p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0"/>
        <p:cNvGrpSpPr/>
        <p:nvPr/>
      </p:nvGrpSpPr>
      <p:grpSpPr>
        <a:xfrm>
          <a:off x="0" y="0"/>
          <a:ext cx="0" cy="0"/>
          <a:chOff x="0" y="0"/>
          <a:chExt cx="0" cy="0"/>
        </a:xfrm>
      </p:grpSpPr>
      <p:sp>
        <p:nvSpPr>
          <p:cNvPr id="131" name="Google Shape;131;p9"/>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2" name="Google Shape;132;p9"/>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rmAutofit/>
          </a:bodyPr>
          <a:lstStyle>
            <a:lvl1pPr lvl="0" algn="ctr" rtl="0">
              <a:spcBef>
                <a:spcPts val="480"/>
              </a:spcBef>
              <a:spcAft>
                <a:spcPts val="0"/>
              </a:spcAft>
              <a:buClr>
                <a:srgbClr val="888888"/>
              </a:buClr>
              <a:buSzPts val="2400"/>
              <a:buNone/>
              <a:defRPr>
                <a:solidFill>
                  <a:srgbClr val="888888"/>
                </a:solidFill>
              </a:defRPr>
            </a:lvl1pPr>
            <a:lvl2pPr lvl="1" algn="ctr" rtl="0">
              <a:spcBef>
                <a:spcPts val="420"/>
              </a:spcBef>
              <a:spcAft>
                <a:spcPts val="0"/>
              </a:spcAft>
              <a:buClr>
                <a:srgbClr val="888888"/>
              </a:buClr>
              <a:buSzPts val="21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00"/>
              </a:spcBef>
              <a:spcAft>
                <a:spcPts val="0"/>
              </a:spcAft>
              <a:buClr>
                <a:srgbClr val="888888"/>
              </a:buClr>
              <a:buSzPts val="1500"/>
              <a:buNone/>
              <a:defRPr>
                <a:solidFill>
                  <a:srgbClr val="888888"/>
                </a:solidFill>
              </a:defRPr>
            </a:lvl4pPr>
            <a:lvl5pPr lvl="4" algn="ctr" rtl="0">
              <a:spcBef>
                <a:spcPts val="300"/>
              </a:spcBef>
              <a:spcAft>
                <a:spcPts val="0"/>
              </a:spcAft>
              <a:buClr>
                <a:srgbClr val="888888"/>
              </a:buClr>
              <a:buSzPts val="1500"/>
              <a:buNone/>
              <a:defRPr>
                <a:solidFill>
                  <a:srgbClr val="888888"/>
                </a:solidFill>
              </a:defRPr>
            </a:lvl5pPr>
            <a:lvl6pPr lvl="5" algn="ctr" rtl="0">
              <a:spcBef>
                <a:spcPts val="300"/>
              </a:spcBef>
              <a:spcAft>
                <a:spcPts val="0"/>
              </a:spcAft>
              <a:buClr>
                <a:srgbClr val="888888"/>
              </a:buClr>
              <a:buSzPts val="1500"/>
              <a:buNone/>
              <a:defRPr>
                <a:solidFill>
                  <a:srgbClr val="888888"/>
                </a:solidFill>
              </a:defRPr>
            </a:lvl6pPr>
            <a:lvl7pPr lvl="6" algn="ctr" rtl="0">
              <a:spcBef>
                <a:spcPts val="300"/>
              </a:spcBef>
              <a:spcAft>
                <a:spcPts val="0"/>
              </a:spcAft>
              <a:buClr>
                <a:srgbClr val="888888"/>
              </a:buClr>
              <a:buSzPts val="1500"/>
              <a:buNone/>
              <a:defRPr>
                <a:solidFill>
                  <a:srgbClr val="888888"/>
                </a:solidFill>
              </a:defRPr>
            </a:lvl7pPr>
            <a:lvl8pPr lvl="7" algn="ctr" rtl="0">
              <a:spcBef>
                <a:spcPts val="300"/>
              </a:spcBef>
              <a:spcAft>
                <a:spcPts val="0"/>
              </a:spcAft>
              <a:buClr>
                <a:srgbClr val="888888"/>
              </a:buClr>
              <a:buSzPts val="1500"/>
              <a:buNone/>
              <a:defRPr>
                <a:solidFill>
                  <a:srgbClr val="888888"/>
                </a:solidFill>
              </a:defRPr>
            </a:lvl8pPr>
            <a:lvl9pPr lvl="8" algn="ctr" rtl="0">
              <a:spcBef>
                <a:spcPts val="300"/>
              </a:spcBef>
              <a:spcAft>
                <a:spcPts val="0"/>
              </a:spcAft>
              <a:buClr>
                <a:srgbClr val="888888"/>
              </a:buClr>
              <a:buSzPts val="1500"/>
              <a:buNone/>
              <a:defRPr>
                <a:solidFill>
                  <a:srgbClr val="888888"/>
                </a:solidFill>
              </a:defRPr>
            </a:lvl9pPr>
          </a:lstStyle>
          <a:p>
            <a:endParaRPr/>
          </a:p>
        </p:txBody>
      </p:sp>
      <p:sp>
        <p:nvSpPr>
          <p:cNvPr id="133" name="Google Shape;133;p9"/>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4" name="Google Shape;134;p9"/>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5" name="Google Shape;135;p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36"/>
        <p:cNvGrpSpPr/>
        <p:nvPr/>
      </p:nvGrpSpPr>
      <p:grpSpPr>
        <a:xfrm>
          <a:off x="0" y="0"/>
          <a:ext cx="0" cy="0"/>
          <a:chOff x="0" y="0"/>
          <a:chExt cx="0" cy="0"/>
        </a:xfrm>
      </p:grpSpPr>
      <p:sp>
        <p:nvSpPr>
          <p:cNvPr id="137" name="Google Shape;137;p10"/>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8" name="Google Shape;138;p10"/>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39" name="Google Shape;139;p10"/>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0" name="Google Shape;140;p10"/>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1" name="Google Shape;141;p1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42"/>
        <p:cNvGrpSpPr/>
        <p:nvPr/>
      </p:nvGrpSpPr>
      <p:grpSpPr>
        <a:xfrm>
          <a:off x="0" y="0"/>
          <a:ext cx="0" cy="0"/>
          <a:chOff x="0" y="0"/>
          <a:chExt cx="0" cy="0"/>
        </a:xfrm>
      </p:grpSpPr>
      <p:sp>
        <p:nvSpPr>
          <p:cNvPr id="143" name="Google Shape;143;p11"/>
          <p:cNvSpPr txBox="1">
            <a:spLocks noGrp="1"/>
          </p:cNvSpPr>
          <p:nvPr>
            <p:ph type="title"/>
          </p:nvPr>
        </p:nvSpPr>
        <p:spPr>
          <a:xfrm>
            <a:off x="722313" y="3305176"/>
            <a:ext cx="7772400" cy="10215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3000"/>
              <a:buFont typeface="Calibri"/>
              <a:buNone/>
              <a:defRPr sz="3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4" name="Google Shape;144;p11"/>
          <p:cNvSpPr txBox="1">
            <a:spLocks noGrp="1"/>
          </p:cNvSpPr>
          <p:nvPr>
            <p:ph type="body" idx="1"/>
          </p:nvPr>
        </p:nvSpPr>
        <p:spPr>
          <a:xfrm>
            <a:off x="722313" y="2180035"/>
            <a:ext cx="7772400" cy="1125000"/>
          </a:xfrm>
          <a:prstGeom prst="rect">
            <a:avLst/>
          </a:prstGeom>
          <a:noFill/>
          <a:ln>
            <a:noFill/>
          </a:ln>
        </p:spPr>
        <p:txBody>
          <a:bodyPr spcFirstLastPara="1" wrap="square" lIns="91425" tIns="45700" rIns="91425" bIns="45700" anchor="b" anchorCtr="0">
            <a:normAutofit/>
          </a:bodyPr>
          <a:lstStyle>
            <a:lvl1pPr marL="457200" lvl="0" indent="-228600" algn="l" rtl="0">
              <a:spcBef>
                <a:spcPts val="300"/>
              </a:spcBef>
              <a:spcAft>
                <a:spcPts val="0"/>
              </a:spcAft>
              <a:buClr>
                <a:srgbClr val="888888"/>
              </a:buClr>
              <a:buSzPts val="1500"/>
              <a:buNone/>
              <a:defRPr sz="1500">
                <a:solidFill>
                  <a:srgbClr val="888888"/>
                </a:solidFill>
              </a:defRPr>
            </a:lvl1pPr>
            <a:lvl2pPr marL="914400" lvl="1" indent="-228600" algn="l" rtl="0">
              <a:spcBef>
                <a:spcPts val="270"/>
              </a:spcBef>
              <a:spcAft>
                <a:spcPts val="0"/>
              </a:spcAft>
              <a:buClr>
                <a:srgbClr val="888888"/>
              </a:buClr>
              <a:buSzPts val="1350"/>
              <a:buNone/>
              <a:defRPr sz="1350">
                <a:solidFill>
                  <a:srgbClr val="888888"/>
                </a:solidFill>
              </a:defRPr>
            </a:lvl2pPr>
            <a:lvl3pPr marL="1371600" lvl="2" indent="-228600" algn="l" rtl="0">
              <a:spcBef>
                <a:spcPts val="240"/>
              </a:spcBef>
              <a:spcAft>
                <a:spcPts val="0"/>
              </a:spcAft>
              <a:buClr>
                <a:srgbClr val="888888"/>
              </a:buClr>
              <a:buSzPts val="1200"/>
              <a:buNone/>
              <a:defRPr sz="1200">
                <a:solidFill>
                  <a:srgbClr val="888888"/>
                </a:solidFill>
              </a:defRPr>
            </a:lvl3pPr>
            <a:lvl4pPr marL="1828800" lvl="3" indent="-228600" algn="l" rtl="0">
              <a:spcBef>
                <a:spcPts val="210"/>
              </a:spcBef>
              <a:spcAft>
                <a:spcPts val="0"/>
              </a:spcAft>
              <a:buClr>
                <a:srgbClr val="888888"/>
              </a:buClr>
              <a:buSzPts val="1050"/>
              <a:buNone/>
              <a:defRPr sz="1050">
                <a:solidFill>
                  <a:srgbClr val="888888"/>
                </a:solidFill>
              </a:defRPr>
            </a:lvl4pPr>
            <a:lvl5pPr marL="2286000" lvl="4" indent="-228600" algn="l" rtl="0">
              <a:spcBef>
                <a:spcPts val="210"/>
              </a:spcBef>
              <a:spcAft>
                <a:spcPts val="0"/>
              </a:spcAft>
              <a:buClr>
                <a:srgbClr val="888888"/>
              </a:buClr>
              <a:buSzPts val="1050"/>
              <a:buNone/>
              <a:defRPr sz="1050">
                <a:solidFill>
                  <a:srgbClr val="888888"/>
                </a:solidFill>
              </a:defRPr>
            </a:lvl5pPr>
            <a:lvl6pPr marL="2743200" lvl="5" indent="-228600" algn="l" rtl="0">
              <a:spcBef>
                <a:spcPts val="210"/>
              </a:spcBef>
              <a:spcAft>
                <a:spcPts val="0"/>
              </a:spcAft>
              <a:buClr>
                <a:srgbClr val="888888"/>
              </a:buClr>
              <a:buSzPts val="1050"/>
              <a:buNone/>
              <a:defRPr sz="1050">
                <a:solidFill>
                  <a:srgbClr val="888888"/>
                </a:solidFill>
              </a:defRPr>
            </a:lvl6pPr>
            <a:lvl7pPr marL="3200400" lvl="6" indent="-228600" algn="l" rtl="0">
              <a:spcBef>
                <a:spcPts val="210"/>
              </a:spcBef>
              <a:spcAft>
                <a:spcPts val="0"/>
              </a:spcAft>
              <a:buClr>
                <a:srgbClr val="888888"/>
              </a:buClr>
              <a:buSzPts val="1050"/>
              <a:buNone/>
              <a:defRPr sz="1050">
                <a:solidFill>
                  <a:srgbClr val="888888"/>
                </a:solidFill>
              </a:defRPr>
            </a:lvl7pPr>
            <a:lvl8pPr marL="3657600" lvl="7" indent="-228600" algn="l" rtl="0">
              <a:spcBef>
                <a:spcPts val="210"/>
              </a:spcBef>
              <a:spcAft>
                <a:spcPts val="0"/>
              </a:spcAft>
              <a:buClr>
                <a:srgbClr val="888888"/>
              </a:buClr>
              <a:buSzPts val="1050"/>
              <a:buNone/>
              <a:defRPr sz="1050">
                <a:solidFill>
                  <a:srgbClr val="888888"/>
                </a:solidFill>
              </a:defRPr>
            </a:lvl8pPr>
            <a:lvl9pPr marL="4114800" lvl="8" indent="-228600" algn="l" rtl="0">
              <a:spcBef>
                <a:spcPts val="210"/>
              </a:spcBef>
              <a:spcAft>
                <a:spcPts val="0"/>
              </a:spcAft>
              <a:buClr>
                <a:srgbClr val="888888"/>
              </a:buClr>
              <a:buSzPts val="1050"/>
              <a:buNone/>
              <a:defRPr sz="1050">
                <a:solidFill>
                  <a:srgbClr val="888888"/>
                </a:solidFill>
              </a:defRPr>
            </a:lvl9pPr>
          </a:lstStyle>
          <a:p>
            <a:endParaRPr/>
          </a:p>
        </p:txBody>
      </p:sp>
      <p:sp>
        <p:nvSpPr>
          <p:cNvPr id="145" name="Google Shape;145;p1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6" name="Google Shape;146;p1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7" name="Google Shape;147;p1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48"/>
        <p:cNvGrpSpPr/>
        <p:nvPr/>
      </p:nvGrpSpPr>
      <p:grpSpPr>
        <a:xfrm>
          <a:off x="0" y="0"/>
          <a:ext cx="0" cy="0"/>
          <a:chOff x="0" y="0"/>
          <a:chExt cx="0" cy="0"/>
        </a:xfrm>
      </p:grpSpPr>
      <p:sp>
        <p:nvSpPr>
          <p:cNvPr id="149" name="Google Shape;149;p12"/>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0" name="Google Shape;150;p12"/>
          <p:cNvSpPr txBox="1">
            <a:spLocks noGrp="1"/>
          </p:cNvSpPr>
          <p:nvPr>
            <p:ph type="body" idx="1"/>
          </p:nvPr>
        </p:nvSpPr>
        <p:spPr>
          <a:xfrm>
            <a:off x="457200" y="1200151"/>
            <a:ext cx="4038600" cy="3394500"/>
          </a:xfrm>
          <a:prstGeom prst="rect">
            <a:avLst/>
          </a:prstGeom>
          <a:noFill/>
          <a:ln>
            <a:noFill/>
          </a:ln>
        </p:spPr>
        <p:txBody>
          <a:bodyPr spcFirstLastPara="1" wrap="square" lIns="91425" tIns="45700" rIns="91425" bIns="45700" anchor="t" anchorCtr="0">
            <a:normAutofit/>
          </a:bodyPr>
          <a:lstStyle>
            <a:lvl1pPr marL="457200" lvl="0" indent="-361950" algn="l" rtl="0">
              <a:spcBef>
                <a:spcPts val="420"/>
              </a:spcBef>
              <a:spcAft>
                <a:spcPts val="0"/>
              </a:spcAft>
              <a:buClr>
                <a:schemeClr val="dk1"/>
              </a:buClr>
              <a:buSzPts val="2100"/>
              <a:buChar char="•"/>
              <a:defRPr sz="2100"/>
            </a:lvl1pPr>
            <a:lvl2pPr marL="914400" lvl="1" indent="-342900" algn="l" rtl="0">
              <a:spcBef>
                <a:spcPts val="360"/>
              </a:spcBef>
              <a:spcAft>
                <a:spcPts val="0"/>
              </a:spcAft>
              <a:buClr>
                <a:schemeClr val="dk1"/>
              </a:buClr>
              <a:buSzPts val="1800"/>
              <a:buChar char="–"/>
              <a:defRPr sz="1800"/>
            </a:lvl2pPr>
            <a:lvl3pPr marL="1371600" lvl="2" indent="-323850" algn="l" rtl="0">
              <a:spcBef>
                <a:spcPts val="300"/>
              </a:spcBef>
              <a:spcAft>
                <a:spcPts val="0"/>
              </a:spcAft>
              <a:buClr>
                <a:schemeClr val="dk1"/>
              </a:buClr>
              <a:buSzPts val="1500"/>
              <a:buChar char="•"/>
              <a:defRPr sz="1500"/>
            </a:lvl3pPr>
            <a:lvl4pPr marL="1828800" lvl="3" indent="-314325" algn="l" rtl="0">
              <a:spcBef>
                <a:spcPts val="270"/>
              </a:spcBef>
              <a:spcAft>
                <a:spcPts val="0"/>
              </a:spcAft>
              <a:buClr>
                <a:schemeClr val="dk1"/>
              </a:buClr>
              <a:buSzPts val="1350"/>
              <a:buChar char="–"/>
              <a:defRPr sz="1350"/>
            </a:lvl4pPr>
            <a:lvl5pPr marL="2286000" lvl="4" indent="-314325" algn="l" rtl="0">
              <a:spcBef>
                <a:spcPts val="270"/>
              </a:spcBef>
              <a:spcAft>
                <a:spcPts val="0"/>
              </a:spcAft>
              <a:buClr>
                <a:schemeClr val="dk1"/>
              </a:buClr>
              <a:buSzPts val="1350"/>
              <a:buChar char="»"/>
              <a:defRPr sz="1350"/>
            </a:lvl5pPr>
            <a:lvl6pPr marL="2743200" lvl="5" indent="-314325" algn="l" rtl="0">
              <a:spcBef>
                <a:spcPts val="270"/>
              </a:spcBef>
              <a:spcAft>
                <a:spcPts val="0"/>
              </a:spcAft>
              <a:buClr>
                <a:schemeClr val="dk1"/>
              </a:buClr>
              <a:buSzPts val="1350"/>
              <a:buChar char="•"/>
              <a:defRPr sz="1350"/>
            </a:lvl6pPr>
            <a:lvl7pPr marL="3200400" lvl="6" indent="-314325" algn="l" rtl="0">
              <a:spcBef>
                <a:spcPts val="270"/>
              </a:spcBef>
              <a:spcAft>
                <a:spcPts val="0"/>
              </a:spcAft>
              <a:buClr>
                <a:schemeClr val="dk1"/>
              </a:buClr>
              <a:buSzPts val="1350"/>
              <a:buChar char="•"/>
              <a:defRPr sz="1350"/>
            </a:lvl7pPr>
            <a:lvl8pPr marL="3657600" lvl="7" indent="-314325" algn="l" rtl="0">
              <a:spcBef>
                <a:spcPts val="270"/>
              </a:spcBef>
              <a:spcAft>
                <a:spcPts val="0"/>
              </a:spcAft>
              <a:buClr>
                <a:schemeClr val="dk1"/>
              </a:buClr>
              <a:buSzPts val="1350"/>
              <a:buChar char="•"/>
              <a:defRPr sz="1350"/>
            </a:lvl8pPr>
            <a:lvl9pPr marL="4114800" lvl="8" indent="-314325" algn="l" rtl="0">
              <a:spcBef>
                <a:spcPts val="270"/>
              </a:spcBef>
              <a:spcAft>
                <a:spcPts val="0"/>
              </a:spcAft>
              <a:buClr>
                <a:schemeClr val="dk1"/>
              </a:buClr>
              <a:buSzPts val="1350"/>
              <a:buChar char="•"/>
              <a:defRPr sz="1350"/>
            </a:lvl9pPr>
          </a:lstStyle>
          <a:p>
            <a:endParaRPr/>
          </a:p>
        </p:txBody>
      </p:sp>
      <p:sp>
        <p:nvSpPr>
          <p:cNvPr id="151" name="Google Shape;151;p12"/>
          <p:cNvSpPr txBox="1">
            <a:spLocks noGrp="1"/>
          </p:cNvSpPr>
          <p:nvPr>
            <p:ph type="body" idx="2"/>
          </p:nvPr>
        </p:nvSpPr>
        <p:spPr>
          <a:xfrm>
            <a:off x="4648200" y="1200151"/>
            <a:ext cx="4038600" cy="3394500"/>
          </a:xfrm>
          <a:prstGeom prst="rect">
            <a:avLst/>
          </a:prstGeom>
          <a:noFill/>
          <a:ln>
            <a:noFill/>
          </a:ln>
        </p:spPr>
        <p:txBody>
          <a:bodyPr spcFirstLastPara="1" wrap="square" lIns="91425" tIns="45700" rIns="91425" bIns="45700" anchor="t" anchorCtr="0">
            <a:normAutofit/>
          </a:bodyPr>
          <a:lstStyle>
            <a:lvl1pPr marL="457200" lvl="0" indent="-361950" algn="l" rtl="0">
              <a:spcBef>
                <a:spcPts val="420"/>
              </a:spcBef>
              <a:spcAft>
                <a:spcPts val="0"/>
              </a:spcAft>
              <a:buClr>
                <a:schemeClr val="dk1"/>
              </a:buClr>
              <a:buSzPts val="2100"/>
              <a:buChar char="•"/>
              <a:defRPr sz="2100"/>
            </a:lvl1pPr>
            <a:lvl2pPr marL="914400" lvl="1" indent="-342900" algn="l" rtl="0">
              <a:spcBef>
                <a:spcPts val="360"/>
              </a:spcBef>
              <a:spcAft>
                <a:spcPts val="0"/>
              </a:spcAft>
              <a:buClr>
                <a:schemeClr val="dk1"/>
              </a:buClr>
              <a:buSzPts val="1800"/>
              <a:buChar char="–"/>
              <a:defRPr sz="1800"/>
            </a:lvl2pPr>
            <a:lvl3pPr marL="1371600" lvl="2" indent="-323850" algn="l" rtl="0">
              <a:spcBef>
                <a:spcPts val="300"/>
              </a:spcBef>
              <a:spcAft>
                <a:spcPts val="0"/>
              </a:spcAft>
              <a:buClr>
                <a:schemeClr val="dk1"/>
              </a:buClr>
              <a:buSzPts val="1500"/>
              <a:buChar char="•"/>
              <a:defRPr sz="1500"/>
            </a:lvl3pPr>
            <a:lvl4pPr marL="1828800" lvl="3" indent="-314325" algn="l" rtl="0">
              <a:spcBef>
                <a:spcPts val="270"/>
              </a:spcBef>
              <a:spcAft>
                <a:spcPts val="0"/>
              </a:spcAft>
              <a:buClr>
                <a:schemeClr val="dk1"/>
              </a:buClr>
              <a:buSzPts val="1350"/>
              <a:buChar char="–"/>
              <a:defRPr sz="1350"/>
            </a:lvl4pPr>
            <a:lvl5pPr marL="2286000" lvl="4" indent="-314325" algn="l" rtl="0">
              <a:spcBef>
                <a:spcPts val="270"/>
              </a:spcBef>
              <a:spcAft>
                <a:spcPts val="0"/>
              </a:spcAft>
              <a:buClr>
                <a:schemeClr val="dk1"/>
              </a:buClr>
              <a:buSzPts val="1350"/>
              <a:buChar char="»"/>
              <a:defRPr sz="1350"/>
            </a:lvl5pPr>
            <a:lvl6pPr marL="2743200" lvl="5" indent="-314325" algn="l" rtl="0">
              <a:spcBef>
                <a:spcPts val="270"/>
              </a:spcBef>
              <a:spcAft>
                <a:spcPts val="0"/>
              </a:spcAft>
              <a:buClr>
                <a:schemeClr val="dk1"/>
              </a:buClr>
              <a:buSzPts val="1350"/>
              <a:buChar char="•"/>
              <a:defRPr sz="1350"/>
            </a:lvl6pPr>
            <a:lvl7pPr marL="3200400" lvl="6" indent="-314325" algn="l" rtl="0">
              <a:spcBef>
                <a:spcPts val="270"/>
              </a:spcBef>
              <a:spcAft>
                <a:spcPts val="0"/>
              </a:spcAft>
              <a:buClr>
                <a:schemeClr val="dk1"/>
              </a:buClr>
              <a:buSzPts val="1350"/>
              <a:buChar char="•"/>
              <a:defRPr sz="1350"/>
            </a:lvl7pPr>
            <a:lvl8pPr marL="3657600" lvl="7" indent="-314325" algn="l" rtl="0">
              <a:spcBef>
                <a:spcPts val="270"/>
              </a:spcBef>
              <a:spcAft>
                <a:spcPts val="0"/>
              </a:spcAft>
              <a:buClr>
                <a:schemeClr val="dk1"/>
              </a:buClr>
              <a:buSzPts val="1350"/>
              <a:buChar char="•"/>
              <a:defRPr sz="1350"/>
            </a:lvl8pPr>
            <a:lvl9pPr marL="4114800" lvl="8" indent="-314325" algn="l" rtl="0">
              <a:spcBef>
                <a:spcPts val="270"/>
              </a:spcBef>
              <a:spcAft>
                <a:spcPts val="0"/>
              </a:spcAft>
              <a:buClr>
                <a:schemeClr val="dk1"/>
              </a:buClr>
              <a:buSzPts val="1350"/>
              <a:buChar char="•"/>
              <a:defRPr sz="1350"/>
            </a:lvl9pPr>
          </a:lstStyle>
          <a:p>
            <a:endParaRPr/>
          </a:p>
        </p:txBody>
      </p:sp>
      <p:sp>
        <p:nvSpPr>
          <p:cNvPr id="152" name="Google Shape;152;p12"/>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3" name="Google Shape;153;p12"/>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4" name="Google Shape;154;p1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55"/>
        <p:cNvGrpSpPr/>
        <p:nvPr/>
      </p:nvGrpSpPr>
      <p:grpSpPr>
        <a:xfrm>
          <a:off x="0" y="0"/>
          <a:ext cx="0" cy="0"/>
          <a:chOff x="0" y="0"/>
          <a:chExt cx="0" cy="0"/>
        </a:xfrm>
      </p:grpSpPr>
      <p:sp>
        <p:nvSpPr>
          <p:cNvPr id="156" name="Google Shape;156;p13"/>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33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7" name="Google Shape;157;p13"/>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360"/>
              </a:spcBef>
              <a:spcAft>
                <a:spcPts val="0"/>
              </a:spcAft>
              <a:buClr>
                <a:schemeClr val="dk1"/>
              </a:buClr>
              <a:buSzPts val="1800"/>
              <a:buNone/>
              <a:defRPr sz="1800" b="1"/>
            </a:lvl1pPr>
            <a:lvl2pPr marL="914400" lvl="1" indent="-228600" algn="l" rtl="0">
              <a:spcBef>
                <a:spcPts val="300"/>
              </a:spcBef>
              <a:spcAft>
                <a:spcPts val="0"/>
              </a:spcAft>
              <a:buClr>
                <a:schemeClr val="dk1"/>
              </a:buClr>
              <a:buSzPts val="1500"/>
              <a:buNone/>
              <a:defRPr sz="1500" b="1"/>
            </a:lvl2pPr>
            <a:lvl3pPr marL="1371600" lvl="2" indent="-228600" algn="l" rtl="0">
              <a:spcBef>
                <a:spcPts val="270"/>
              </a:spcBef>
              <a:spcAft>
                <a:spcPts val="0"/>
              </a:spcAft>
              <a:buClr>
                <a:schemeClr val="dk1"/>
              </a:buClr>
              <a:buSzPts val="1350"/>
              <a:buNone/>
              <a:defRPr sz="1350" b="1"/>
            </a:lvl3pPr>
            <a:lvl4pPr marL="1828800" lvl="3" indent="-228600" algn="l" rtl="0">
              <a:spcBef>
                <a:spcPts val="240"/>
              </a:spcBef>
              <a:spcAft>
                <a:spcPts val="0"/>
              </a:spcAft>
              <a:buClr>
                <a:schemeClr val="dk1"/>
              </a:buClr>
              <a:buSzPts val="1200"/>
              <a:buNone/>
              <a:defRPr sz="1200" b="1"/>
            </a:lvl4pPr>
            <a:lvl5pPr marL="2286000" lvl="4" indent="-228600" algn="l" rtl="0">
              <a:spcBef>
                <a:spcPts val="240"/>
              </a:spcBef>
              <a:spcAft>
                <a:spcPts val="0"/>
              </a:spcAft>
              <a:buClr>
                <a:schemeClr val="dk1"/>
              </a:buClr>
              <a:buSzPts val="1200"/>
              <a:buNone/>
              <a:defRPr sz="1200" b="1"/>
            </a:lvl5pPr>
            <a:lvl6pPr marL="2743200" lvl="5" indent="-228600" algn="l" rtl="0">
              <a:spcBef>
                <a:spcPts val="240"/>
              </a:spcBef>
              <a:spcAft>
                <a:spcPts val="0"/>
              </a:spcAft>
              <a:buClr>
                <a:schemeClr val="dk1"/>
              </a:buClr>
              <a:buSzPts val="1200"/>
              <a:buNone/>
              <a:defRPr sz="1200" b="1"/>
            </a:lvl6pPr>
            <a:lvl7pPr marL="3200400" lvl="6" indent="-228600" algn="l" rtl="0">
              <a:spcBef>
                <a:spcPts val="240"/>
              </a:spcBef>
              <a:spcAft>
                <a:spcPts val="0"/>
              </a:spcAft>
              <a:buClr>
                <a:schemeClr val="dk1"/>
              </a:buClr>
              <a:buSzPts val="1200"/>
              <a:buNone/>
              <a:defRPr sz="1200" b="1"/>
            </a:lvl7pPr>
            <a:lvl8pPr marL="3657600" lvl="7" indent="-228600" algn="l" rtl="0">
              <a:spcBef>
                <a:spcPts val="240"/>
              </a:spcBef>
              <a:spcAft>
                <a:spcPts val="0"/>
              </a:spcAft>
              <a:buClr>
                <a:schemeClr val="dk1"/>
              </a:buClr>
              <a:buSzPts val="1200"/>
              <a:buNone/>
              <a:defRPr sz="1200" b="1"/>
            </a:lvl8pPr>
            <a:lvl9pPr marL="4114800" lvl="8" indent="-228600" algn="l" rtl="0">
              <a:spcBef>
                <a:spcPts val="240"/>
              </a:spcBef>
              <a:spcAft>
                <a:spcPts val="0"/>
              </a:spcAft>
              <a:buClr>
                <a:schemeClr val="dk1"/>
              </a:buClr>
              <a:buSzPts val="1200"/>
              <a:buNone/>
              <a:defRPr sz="1200" b="1"/>
            </a:lvl9pPr>
          </a:lstStyle>
          <a:p>
            <a:endParaRPr/>
          </a:p>
        </p:txBody>
      </p:sp>
      <p:sp>
        <p:nvSpPr>
          <p:cNvPr id="158" name="Google Shape;158;p13"/>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sz="1800"/>
            </a:lvl1pPr>
            <a:lvl2pPr marL="914400" lvl="1" indent="-323850" algn="l" rtl="0">
              <a:spcBef>
                <a:spcPts val="300"/>
              </a:spcBef>
              <a:spcAft>
                <a:spcPts val="0"/>
              </a:spcAft>
              <a:buClr>
                <a:schemeClr val="dk1"/>
              </a:buClr>
              <a:buSzPts val="1500"/>
              <a:buChar char="–"/>
              <a:defRPr sz="1500"/>
            </a:lvl2pPr>
            <a:lvl3pPr marL="1371600" lvl="2" indent="-314325" algn="l" rtl="0">
              <a:spcBef>
                <a:spcPts val="270"/>
              </a:spcBef>
              <a:spcAft>
                <a:spcPts val="0"/>
              </a:spcAft>
              <a:buClr>
                <a:schemeClr val="dk1"/>
              </a:buClr>
              <a:buSzPts val="1350"/>
              <a:buChar char="•"/>
              <a:defRPr sz="1350"/>
            </a:lvl3pPr>
            <a:lvl4pPr marL="1828800" lvl="3" indent="-304800" algn="l" rtl="0">
              <a:spcBef>
                <a:spcPts val="240"/>
              </a:spcBef>
              <a:spcAft>
                <a:spcPts val="0"/>
              </a:spcAft>
              <a:buClr>
                <a:schemeClr val="dk1"/>
              </a:buClr>
              <a:buSzPts val="1200"/>
              <a:buChar char="–"/>
              <a:defRPr sz="1200"/>
            </a:lvl4pPr>
            <a:lvl5pPr marL="2286000" lvl="4" indent="-304800" algn="l" rtl="0">
              <a:spcBef>
                <a:spcPts val="240"/>
              </a:spcBef>
              <a:spcAft>
                <a:spcPts val="0"/>
              </a:spcAft>
              <a:buClr>
                <a:schemeClr val="dk1"/>
              </a:buClr>
              <a:buSzPts val="1200"/>
              <a:buChar char="»"/>
              <a:defRPr sz="1200"/>
            </a:lvl5pPr>
            <a:lvl6pPr marL="2743200" lvl="5" indent="-304800" algn="l" rtl="0">
              <a:spcBef>
                <a:spcPts val="240"/>
              </a:spcBef>
              <a:spcAft>
                <a:spcPts val="0"/>
              </a:spcAft>
              <a:buClr>
                <a:schemeClr val="dk1"/>
              </a:buClr>
              <a:buSzPts val="1200"/>
              <a:buChar char="•"/>
              <a:defRPr sz="1200"/>
            </a:lvl6pPr>
            <a:lvl7pPr marL="3200400" lvl="6" indent="-304800" algn="l" rtl="0">
              <a:spcBef>
                <a:spcPts val="240"/>
              </a:spcBef>
              <a:spcAft>
                <a:spcPts val="0"/>
              </a:spcAft>
              <a:buClr>
                <a:schemeClr val="dk1"/>
              </a:buClr>
              <a:buSzPts val="1200"/>
              <a:buChar char="•"/>
              <a:defRPr sz="1200"/>
            </a:lvl7pPr>
            <a:lvl8pPr marL="3657600" lvl="7" indent="-304800" algn="l" rtl="0">
              <a:spcBef>
                <a:spcPts val="240"/>
              </a:spcBef>
              <a:spcAft>
                <a:spcPts val="0"/>
              </a:spcAft>
              <a:buClr>
                <a:schemeClr val="dk1"/>
              </a:buClr>
              <a:buSzPts val="1200"/>
              <a:buChar char="•"/>
              <a:defRPr sz="1200"/>
            </a:lvl8pPr>
            <a:lvl9pPr marL="4114800" lvl="8" indent="-304800" algn="l" rtl="0">
              <a:spcBef>
                <a:spcPts val="240"/>
              </a:spcBef>
              <a:spcAft>
                <a:spcPts val="0"/>
              </a:spcAft>
              <a:buClr>
                <a:schemeClr val="dk1"/>
              </a:buClr>
              <a:buSzPts val="1200"/>
              <a:buChar char="•"/>
              <a:defRPr sz="1200"/>
            </a:lvl9pPr>
          </a:lstStyle>
          <a:p>
            <a:endParaRPr/>
          </a:p>
        </p:txBody>
      </p:sp>
      <p:sp>
        <p:nvSpPr>
          <p:cNvPr id="159" name="Google Shape;159;p13"/>
          <p:cNvSpPr txBox="1">
            <a:spLocks noGrp="1"/>
          </p:cNvSpPr>
          <p:nvPr>
            <p:ph type="body" idx="3"/>
          </p:nvPr>
        </p:nvSpPr>
        <p:spPr>
          <a:xfrm>
            <a:off x="4645026" y="1151335"/>
            <a:ext cx="40419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360"/>
              </a:spcBef>
              <a:spcAft>
                <a:spcPts val="0"/>
              </a:spcAft>
              <a:buClr>
                <a:schemeClr val="dk1"/>
              </a:buClr>
              <a:buSzPts val="1800"/>
              <a:buNone/>
              <a:defRPr sz="1800" b="1"/>
            </a:lvl1pPr>
            <a:lvl2pPr marL="914400" lvl="1" indent="-228600" algn="l" rtl="0">
              <a:spcBef>
                <a:spcPts val="300"/>
              </a:spcBef>
              <a:spcAft>
                <a:spcPts val="0"/>
              </a:spcAft>
              <a:buClr>
                <a:schemeClr val="dk1"/>
              </a:buClr>
              <a:buSzPts val="1500"/>
              <a:buNone/>
              <a:defRPr sz="1500" b="1"/>
            </a:lvl2pPr>
            <a:lvl3pPr marL="1371600" lvl="2" indent="-228600" algn="l" rtl="0">
              <a:spcBef>
                <a:spcPts val="270"/>
              </a:spcBef>
              <a:spcAft>
                <a:spcPts val="0"/>
              </a:spcAft>
              <a:buClr>
                <a:schemeClr val="dk1"/>
              </a:buClr>
              <a:buSzPts val="1350"/>
              <a:buNone/>
              <a:defRPr sz="1350" b="1"/>
            </a:lvl3pPr>
            <a:lvl4pPr marL="1828800" lvl="3" indent="-228600" algn="l" rtl="0">
              <a:spcBef>
                <a:spcPts val="240"/>
              </a:spcBef>
              <a:spcAft>
                <a:spcPts val="0"/>
              </a:spcAft>
              <a:buClr>
                <a:schemeClr val="dk1"/>
              </a:buClr>
              <a:buSzPts val="1200"/>
              <a:buNone/>
              <a:defRPr sz="1200" b="1"/>
            </a:lvl4pPr>
            <a:lvl5pPr marL="2286000" lvl="4" indent="-228600" algn="l" rtl="0">
              <a:spcBef>
                <a:spcPts val="240"/>
              </a:spcBef>
              <a:spcAft>
                <a:spcPts val="0"/>
              </a:spcAft>
              <a:buClr>
                <a:schemeClr val="dk1"/>
              </a:buClr>
              <a:buSzPts val="1200"/>
              <a:buNone/>
              <a:defRPr sz="1200" b="1"/>
            </a:lvl5pPr>
            <a:lvl6pPr marL="2743200" lvl="5" indent="-228600" algn="l" rtl="0">
              <a:spcBef>
                <a:spcPts val="240"/>
              </a:spcBef>
              <a:spcAft>
                <a:spcPts val="0"/>
              </a:spcAft>
              <a:buClr>
                <a:schemeClr val="dk1"/>
              </a:buClr>
              <a:buSzPts val="1200"/>
              <a:buNone/>
              <a:defRPr sz="1200" b="1"/>
            </a:lvl6pPr>
            <a:lvl7pPr marL="3200400" lvl="6" indent="-228600" algn="l" rtl="0">
              <a:spcBef>
                <a:spcPts val="240"/>
              </a:spcBef>
              <a:spcAft>
                <a:spcPts val="0"/>
              </a:spcAft>
              <a:buClr>
                <a:schemeClr val="dk1"/>
              </a:buClr>
              <a:buSzPts val="1200"/>
              <a:buNone/>
              <a:defRPr sz="1200" b="1"/>
            </a:lvl7pPr>
            <a:lvl8pPr marL="3657600" lvl="7" indent="-228600" algn="l" rtl="0">
              <a:spcBef>
                <a:spcPts val="240"/>
              </a:spcBef>
              <a:spcAft>
                <a:spcPts val="0"/>
              </a:spcAft>
              <a:buClr>
                <a:schemeClr val="dk1"/>
              </a:buClr>
              <a:buSzPts val="1200"/>
              <a:buNone/>
              <a:defRPr sz="1200" b="1"/>
            </a:lvl8pPr>
            <a:lvl9pPr marL="4114800" lvl="8" indent="-228600" algn="l" rtl="0">
              <a:spcBef>
                <a:spcPts val="240"/>
              </a:spcBef>
              <a:spcAft>
                <a:spcPts val="0"/>
              </a:spcAft>
              <a:buClr>
                <a:schemeClr val="dk1"/>
              </a:buClr>
              <a:buSzPts val="1200"/>
              <a:buNone/>
              <a:defRPr sz="1200" b="1"/>
            </a:lvl9pPr>
          </a:lstStyle>
          <a:p>
            <a:endParaRPr/>
          </a:p>
        </p:txBody>
      </p:sp>
      <p:sp>
        <p:nvSpPr>
          <p:cNvPr id="160" name="Google Shape;160;p13"/>
          <p:cNvSpPr txBox="1">
            <a:spLocks noGrp="1"/>
          </p:cNvSpPr>
          <p:nvPr>
            <p:ph type="body" idx="4"/>
          </p:nvPr>
        </p:nvSpPr>
        <p:spPr>
          <a:xfrm>
            <a:off x="4645026" y="1631156"/>
            <a:ext cx="4041900" cy="29634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sz="1800"/>
            </a:lvl1pPr>
            <a:lvl2pPr marL="914400" lvl="1" indent="-323850" algn="l" rtl="0">
              <a:spcBef>
                <a:spcPts val="300"/>
              </a:spcBef>
              <a:spcAft>
                <a:spcPts val="0"/>
              </a:spcAft>
              <a:buClr>
                <a:schemeClr val="dk1"/>
              </a:buClr>
              <a:buSzPts val="1500"/>
              <a:buChar char="–"/>
              <a:defRPr sz="1500"/>
            </a:lvl2pPr>
            <a:lvl3pPr marL="1371600" lvl="2" indent="-314325" algn="l" rtl="0">
              <a:spcBef>
                <a:spcPts val="270"/>
              </a:spcBef>
              <a:spcAft>
                <a:spcPts val="0"/>
              </a:spcAft>
              <a:buClr>
                <a:schemeClr val="dk1"/>
              </a:buClr>
              <a:buSzPts val="1350"/>
              <a:buChar char="•"/>
              <a:defRPr sz="1350"/>
            </a:lvl3pPr>
            <a:lvl4pPr marL="1828800" lvl="3" indent="-304800" algn="l" rtl="0">
              <a:spcBef>
                <a:spcPts val="240"/>
              </a:spcBef>
              <a:spcAft>
                <a:spcPts val="0"/>
              </a:spcAft>
              <a:buClr>
                <a:schemeClr val="dk1"/>
              </a:buClr>
              <a:buSzPts val="1200"/>
              <a:buChar char="–"/>
              <a:defRPr sz="1200"/>
            </a:lvl4pPr>
            <a:lvl5pPr marL="2286000" lvl="4" indent="-304800" algn="l" rtl="0">
              <a:spcBef>
                <a:spcPts val="240"/>
              </a:spcBef>
              <a:spcAft>
                <a:spcPts val="0"/>
              </a:spcAft>
              <a:buClr>
                <a:schemeClr val="dk1"/>
              </a:buClr>
              <a:buSzPts val="1200"/>
              <a:buChar char="»"/>
              <a:defRPr sz="1200"/>
            </a:lvl5pPr>
            <a:lvl6pPr marL="2743200" lvl="5" indent="-304800" algn="l" rtl="0">
              <a:spcBef>
                <a:spcPts val="240"/>
              </a:spcBef>
              <a:spcAft>
                <a:spcPts val="0"/>
              </a:spcAft>
              <a:buClr>
                <a:schemeClr val="dk1"/>
              </a:buClr>
              <a:buSzPts val="1200"/>
              <a:buChar char="•"/>
              <a:defRPr sz="1200"/>
            </a:lvl6pPr>
            <a:lvl7pPr marL="3200400" lvl="6" indent="-304800" algn="l" rtl="0">
              <a:spcBef>
                <a:spcPts val="240"/>
              </a:spcBef>
              <a:spcAft>
                <a:spcPts val="0"/>
              </a:spcAft>
              <a:buClr>
                <a:schemeClr val="dk1"/>
              </a:buClr>
              <a:buSzPts val="1200"/>
              <a:buChar char="•"/>
              <a:defRPr sz="1200"/>
            </a:lvl7pPr>
            <a:lvl8pPr marL="3657600" lvl="7" indent="-304800" algn="l" rtl="0">
              <a:spcBef>
                <a:spcPts val="240"/>
              </a:spcBef>
              <a:spcAft>
                <a:spcPts val="0"/>
              </a:spcAft>
              <a:buClr>
                <a:schemeClr val="dk1"/>
              </a:buClr>
              <a:buSzPts val="1200"/>
              <a:buChar char="•"/>
              <a:defRPr sz="1200"/>
            </a:lvl8pPr>
            <a:lvl9pPr marL="4114800" lvl="8" indent="-304800" algn="l" rtl="0">
              <a:spcBef>
                <a:spcPts val="240"/>
              </a:spcBef>
              <a:spcAft>
                <a:spcPts val="0"/>
              </a:spcAft>
              <a:buClr>
                <a:schemeClr val="dk1"/>
              </a:buClr>
              <a:buSzPts val="1200"/>
              <a:buChar char="•"/>
              <a:defRPr sz="1200"/>
            </a:lvl9pPr>
          </a:lstStyle>
          <a:p>
            <a:endParaRPr/>
          </a:p>
        </p:txBody>
      </p:sp>
      <p:sp>
        <p:nvSpPr>
          <p:cNvPr id="161" name="Google Shape;161;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2" name="Google Shape;162;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3" name="Google Shape;163;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4"/>
        <p:cNvGrpSpPr/>
        <p:nvPr/>
      </p:nvGrpSpPr>
      <p:grpSpPr>
        <a:xfrm>
          <a:off x="0" y="0"/>
          <a:ext cx="0" cy="0"/>
          <a:chOff x="0" y="0"/>
          <a:chExt cx="0" cy="0"/>
        </a:xfrm>
      </p:grpSpPr>
      <p:sp>
        <p:nvSpPr>
          <p:cNvPr id="165" name="Google Shape;165;p14"/>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6" name="Google Shape;166;p1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7" name="Google Shape;167;p1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8" name="Google Shape;168;p1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9"/>
        <p:cNvGrpSpPr/>
        <p:nvPr/>
      </p:nvGrpSpPr>
      <p:grpSpPr>
        <a:xfrm>
          <a:off x="0" y="0"/>
          <a:ext cx="0" cy="0"/>
          <a:chOff x="0" y="0"/>
          <a:chExt cx="0" cy="0"/>
        </a:xfrm>
      </p:grpSpPr>
      <p:sp>
        <p:nvSpPr>
          <p:cNvPr id="170" name="Google Shape;170;p15"/>
          <p:cNvSpPr txBox="1">
            <a:spLocks noGrp="1"/>
          </p:cNvSpPr>
          <p:nvPr>
            <p:ph type="title"/>
          </p:nvPr>
        </p:nvSpPr>
        <p:spPr>
          <a:xfrm>
            <a:off x="457201" y="204787"/>
            <a:ext cx="3008400" cy="8715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1500"/>
              <a:buFont typeface="Calibri"/>
              <a:buNone/>
              <a:defRPr sz="15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1" name="Google Shape;171;p15"/>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61950" algn="l" rtl="0">
              <a:spcBef>
                <a:spcPts val="420"/>
              </a:spcBef>
              <a:spcAft>
                <a:spcPts val="0"/>
              </a:spcAft>
              <a:buClr>
                <a:schemeClr val="dk1"/>
              </a:buClr>
              <a:buSzPts val="2100"/>
              <a:buChar char="–"/>
              <a:defRPr sz="2100"/>
            </a:lvl2pPr>
            <a:lvl3pPr marL="1371600" lvl="2" indent="-342900" algn="l" rtl="0">
              <a:spcBef>
                <a:spcPts val="360"/>
              </a:spcBef>
              <a:spcAft>
                <a:spcPts val="0"/>
              </a:spcAft>
              <a:buClr>
                <a:schemeClr val="dk1"/>
              </a:buClr>
              <a:buSzPts val="1800"/>
              <a:buChar char="•"/>
              <a:defRPr sz="1800"/>
            </a:lvl3pPr>
            <a:lvl4pPr marL="1828800" lvl="3" indent="-323850" algn="l" rtl="0">
              <a:spcBef>
                <a:spcPts val="300"/>
              </a:spcBef>
              <a:spcAft>
                <a:spcPts val="0"/>
              </a:spcAft>
              <a:buClr>
                <a:schemeClr val="dk1"/>
              </a:buClr>
              <a:buSzPts val="1500"/>
              <a:buChar char="–"/>
              <a:defRPr sz="1500"/>
            </a:lvl4pPr>
            <a:lvl5pPr marL="2286000" lvl="4" indent="-323850" algn="l" rtl="0">
              <a:spcBef>
                <a:spcPts val="300"/>
              </a:spcBef>
              <a:spcAft>
                <a:spcPts val="0"/>
              </a:spcAft>
              <a:buClr>
                <a:schemeClr val="dk1"/>
              </a:buClr>
              <a:buSzPts val="1500"/>
              <a:buChar char="»"/>
              <a:defRPr sz="1500"/>
            </a:lvl5pPr>
            <a:lvl6pPr marL="2743200" lvl="5" indent="-323850" algn="l" rtl="0">
              <a:spcBef>
                <a:spcPts val="300"/>
              </a:spcBef>
              <a:spcAft>
                <a:spcPts val="0"/>
              </a:spcAft>
              <a:buClr>
                <a:schemeClr val="dk1"/>
              </a:buClr>
              <a:buSzPts val="1500"/>
              <a:buChar char="•"/>
              <a:defRPr sz="1500"/>
            </a:lvl6pPr>
            <a:lvl7pPr marL="3200400" lvl="6" indent="-323850" algn="l" rtl="0">
              <a:spcBef>
                <a:spcPts val="300"/>
              </a:spcBef>
              <a:spcAft>
                <a:spcPts val="0"/>
              </a:spcAft>
              <a:buClr>
                <a:schemeClr val="dk1"/>
              </a:buClr>
              <a:buSzPts val="1500"/>
              <a:buChar char="•"/>
              <a:defRPr sz="1500"/>
            </a:lvl7pPr>
            <a:lvl8pPr marL="3657600" lvl="7" indent="-323850" algn="l" rtl="0">
              <a:spcBef>
                <a:spcPts val="300"/>
              </a:spcBef>
              <a:spcAft>
                <a:spcPts val="0"/>
              </a:spcAft>
              <a:buClr>
                <a:schemeClr val="dk1"/>
              </a:buClr>
              <a:buSzPts val="1500"/>
              <a:buChar char="•"/>
              <a:defRPr sz="1500"/>
            </a:lvl8pPr>
            <a:lvl9pPr marL="4114800" lvl="8" indent="-323850" algn="l" rtl="0">
              <a:spcBef>
                <a:spcPts val="300"/>
              </a:spcBef>
              <a:spcAft>
                <a:spcPts val="0"/>
              </a:spcAft>
              <a:buClr>
                <a:schemeClr val="dk1"/>
              </a:buClr>
              <a:buSzPts val="1500"/>
              <a:buChar char="•"/>
              <a:defRPr sz="1500"/>
            </a:lvl9pPr>
          </a:lstStyle>
          <a:p>
            <a:endParaRPr/>
          </a:p>
        </p:txBody>
      </p:sp>
      <p:sp>
        <p:nvSpPr>
          <p:cNvPr id="172" name="Google Shape;172;p15"/>
          <p:cNvSpPr txBox="1">
            <a:spLocks noGrp="1"/>
          </p:cNvSpPr>
          <p:nvPr>
            <p:ph type="body" idx="2"/>
          </p:nvPr>
        </p:nvSpPr>
        <p:spPr>
          <a:xfrm>
            <a:off x="457201" y="1076326"/>
            <a:ext cx="3008400" cy="3518400"/>
          </a:xfrm>
          <a:prstGeom prst="rect">
            <a:avLst/>
          </a:prstGeom>
          <a:noFill/>
          <a:ln>
            <a:noFill/>
          </a:ln>
        </p:spPr>
        <p:txBody>
          <a:bodyPr spcFirstLastPara="1" wrap="square" lIns="91425" tIns="45700" rIns="91425" bIns="45700" anchor="t" anchorCtr="0">
            <a:normAutofit/>
          </a:bodyPr>
          <a:lstStyle>
            <a:lvl1pPr marL="457200" lvl="0" indent="-228600" algn="l" rtl="0">
              <a:spcBef>
                <a:spcPts val="210"/>
              </a:spcBef>
              <a:spcAft>
                <a:spcPts val="0"/>
              </a:spcAft>
              <a:buClr>
                <a:schemeClr val="dk1"/>
              </a:buClr>
              <a:buSzPts val="1050"/>
              <a:buNone/>
              <a:defRPr sz="1050"/>
            </a:lvl1pPr>
            <a:lvl2pPr marL="914400" lvl="1" indent="-228600" algn="l" rtl="0">
              <a:spcBef>
                <a:spcPts val="180"/>
              </a:spcBef>
              <a:spcAft>
                <a:spcPts val="0"/>
              </a:spcAft>
              <a:buClr>
                <a:schemeClr val="dk1"/>
              </a:buClr>
              <a:buSzPts val="900"/>
              <a:buNone/>
              <a:defRPr sz="900"/>
            </a:lvl2pPr>
            <a:lvl3pPr marL="1371600" lvl="2" indent="-228600" algn="l" rtl="0">
              <a:spcBef>
                <a:spcPts val="150"/>
              </a:spcBef>
              <a:spcAft>
                <a:spcPts val="0"/>
              </a:spcAft>
              <a:buClr>
                <a:schemeClr val="dk1"/>
              </a:buClr>
              <a:buSzPts val="750"/>
              <a:buNone/>
              <a:defRPr sz="750"/>
            </a:lvl3pPr>
            <a:lvl4pPr marL="1828800" lvl="3" indent="-228600" algn="l" rtl="0">
              <a:spcBef>
                <a:spcPts val="135"/>
              </a:spcBef>
              <a:spcAft>
                <a:spcPts val="0"/>
              </a:spcAft>
              <a:buClr>
                <a:schemeClr val="dk1"/>
              </a:buClr>
              <a:buSzPts val="675"/>
              <a:buNone/>
              <a:defRPr sz="675"/>
            </a:lvl4pPr>
            <a:lvl5pPr marL="2286000" lvl="4" indent="-228600" algn="l" rtl="0">
              <a:spcBef>
                <a:spcPts val="135"/>
              </a:spcBef>
              <a:spcAft>
                <a:spcPts val="0"/>
              </a:spcAft>
              <a:buClr>
                <a:schemeClr val="dk1"/>
              </a:buClr>
              <a:buSzPts val="675"/>
              <a:buNone/>
              <a:defRPr sz="675"/>
            </a:lvl5pPr>
            <a:lvl6pPr marL="2743200" lvl="5" indent="-228600" algn="l" rtl="0">
              <a:spcBef>
                <a:spcPts val="135"/>
              </a:spcBef>
              <a:spcAft>
                <a:spcPts val="0"/>
              </a:spcAft>
              <a:buClr>
                <a:schemeClr val="dk1"/>
              </a:buClr>
              <a:buSzPts val="675"/>
              <a:buNone/>
              <a:defRPr sz="675"/>
            </a:lvl6pPr>
            <a:lvl7pPr marL="3200400" lvl="6" indent="-228600" algn="l" rtl="0">
              <a:spcBef>
                <a:spcPts val="135"/>
              </a:spcBef>
              <a:spcAft>
                <a:spcPts val="0"/>
              </a:spcAft>
              <a:buClr>
                <a:schemeClr val="dk1"/>
              </a:buClr>
              <a:buSzPts val="675"/>
              <a:buNone/>
              <a:defRPr sz="675"/>
            </a:lvl7pPr>
            <a:lvl8pPr marL="3657600" lvl="7" indent="-228600" algn="l" rtl="0">
              <a:spcBef>
                <a:spcPts val="135"/>
              </a:spcBef>
              <a:spcAft>
                <a:spcPts val="0"/>
              </a:spcAft>
              <a:buClr>
                <a:schemeClr val="dk1"/>
              </a:buClr>
              <a:buSzPts val="675"/>
              <a:buNone/>
              <a:defRPr sz="675"/>
            </a:lvl8pPr>
            <a:lvl9pPr marL="4114800" lvl="8" indent="-228600" algn="l" rtl="0">
              <a:spcBef>
                <a:spcPts val="135"/>
              </a:spcBef>
              <a:spcAft>
                <a:spcPts val="0"/>
              </a:spcAft>
              <a:buClr>
                <a:schemeClr val="dk1"/>
              </a:buClr>
              <a:buSzPts val="675"/>
              <a:buNone/>
              <a:defRPr sz="675"/>
            </a:lvl9pPr>
          </a:lstStyle>
          <a:p>
            <a:endParaRPr/>
          </a:p>
        </p:txBody>
      </p:sp>
      <p:sp>
        <p:nvSpPr>
          <p:cNvPr id="173" name="Google Shape;173;p1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4" name="Google Shape;174;p1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5" name="Google Shape;175;p1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6"/>
        <p:cNvGrpSpPr/>
        <p:nvPr/>
      </p:nvGrpSpPr>
      <p:grpSpPr>
        <a:xfrm>
          <a:off x="0" y="0"/>
          <a:ext cx="0" cy="0"/>
          <a:chOff x="0" y="0"/>
          <a:chExt cx="0" cy="0"/>
        </a:xfrm>
      </p:grpSpPr>
      <p:sp>
        <p:nvSpPr>
          <p:cNvPr id="177" name="Google Shape;177;p16"/>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1500"/>
              <a:buFont typeface="Calibri"/>
              <a:buNone/>
              <a:defRPr sz="15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8" name="Google Shape;178;p16"/>
          <p:cNvSpPr>
            <a:spLocks noGrp="1"/>
          </p:cNvSpPr>
          <p:nvPr>
            <p:ph type="pic" idx="2"/>
          </p:nvPr>
        </p:nvSpPr>
        <p:spPr>
          <a:xfrm>
            <a:off x="1792288" y="459581"/>
            <a:ext cx="5486400" cy="3086100"/>
          </a:xfrm>
          <a:prstGeom prst="rect">
            <a:avLst/>
          </a:prstGeom>
          <a:noFill/>
          <a:ln>
            <a:noFill/>
          </a:ln>
        </p:spPr>
      </p:sp>
      <p:sp>
        <p:nvSpPr>
          <p:cNvPr id="179" name="Google Shape;179;p16"/>
          <p:cNvSpPr txBox="1">
            <a:spLocks noGrp="1"/>
          </p:cNvSpPr>
          <p:nvPr>
            <p:ph type="body" idx="1"/>
          </p:nvPr>
        </p:nvSpPr>
        <p:spPr>
          <a:xfrm>
            <a:off x="1792288" y="4025503"/>
            <a:ext cx="5486400" cy="603600"/>
          </a:xfrm>
          <a:prstGeom prst="rect">
            <a:avLst/>
          </a:prstGeom>
          <a:noFill/>
          <a:ln>
            <a:noFill/>
          </a:ln>
        </p:spPr>
        <p:txBody>
          <a:bodyPr spcFirstLastPara="1" wrap="square" lIns="91425" tIns="45700" rIns="91425" bIns="45700" anchor="t" anchorCtr="0">
            <a:normAutofit/>
          </a:bodyPr>
          <a:lstStyle>
            <a:lvl1pPr marL="457200" lvl="0" indent="-228600" algn="l" rtl="0">
              <a:spcBef>
                <a:spcPts val="210"/>
              </a:spcBef>
              <a:spcAft>
                <a:spcPts val="0"/>
              </a:spcAft>
              <a:buClr>
                <a:schemeClr val="dk1"/>
              </a:buClr>
              <a:buSzPts val="1050"/>
              <a:buNone/>
              <a:defRPr sz="1050"/>
            </a:lvl1pPr>
            <a:lvl2pPr marL="914400" lvl="1" indent="-228600" algn="l" rtl="0">
              <a:spcBef>
                <a:spcPts val="180"/>
              </a:spcBef>
              <a:spcAft>
                <a:spcPts val="0"/>
              </a:spcAft>
              <a:buClr>
                <a:schemeClr val="dk1"/>
              </a:buClr>
              <a:buSzPts val="900"/>
              <a:buNone/>
              <a:defRPr sz="900"/>
            </a:lvl2pPr>
            <a:lvl3pPr marL="1371600" lvl="2" indent="-228600" algn="l" rtl="0">
              <a:spcBef>
                <a:spcPts val="150"/>
              </a:spcBef>
              <a:spcAft>
                <a:spcPts val="0"/>
              </a:spcAft>
              <a:buClr>
                <a:schemeClr val="dk1"/>
              </a:buClr>
              <a:buSzPts val="750"/>
              <a:buNone/>
              <a:defRPr sz="750"/>
            </a:lvl3pPr>
            <a:lvl4pPr marL="1828800" lvl="3" indent="-228600" algn="l" rtl="0">
              <a:spcBef>
                <a:spcPts val="135"/>
              </a:spcBef>
              <a:spcAft>
                <a:spcPts val="0"/>
              </a:spcAft>
              <a:buClr>
                <a:schemeClr val="dk1"/>
              </a:buClr>
              <a:buSzPts val="675"/>
              <a:buNone/>
              <a:defRPr sz="675"/>
            </a:lvl4pPr>
            <a:lvl5pPr marL="2286000" lvl="4" indent="-228600" algn="l" rtl="0">
              <a:spcBef>
                <a:spcPts val="135"/>
              </a:spcBef>
              <a:spcAft>
                <a:spcPts val="0"/>
              </a:spcAft>
              <a:buClr>
                <a:schemeClr val="dk1"/>
              </a:buClr>
              <a:buSzPts val="675"/>
              <a:buNone/>
              <a:defRPr sz="675"/>
            </a:lvl5pPr>
            <a:lvl6pPr marL="2743200" lvl="5" indent="-228600" algn="l" rtl="0">
              <a:spcBef>
                <a:spcPts val="135"/>
              </a:spcBef>
              <a:spcAft>
                <a:spcPts val="0"/>
              </a:spcAft>
              <a:buClr>
                <a:schemeClr val="dk1"/>
              </a:buClr>
              <a:buSzPts val="675"/>
              <a:buNone/>
              <a:defRPr sz="675"/>
            </a:lvl6pPr>
            <a:lvl7pPr marL="3200400" lvl="6" indent="-228600" algn="l" rtl="0">
              <a:spcBef>
                <a:spcPts val="135"/>
              </a:spcBef>
              <a:spcAft>
                <a:spcPts val="0"/>
              </a:spcAft>
              <a:buClr>
                <a:schemeClr val="dk1"/>
              </a:buClr>
              <a:buSzPts val="675"/>
              <a:buNone/>
              <a:defRPr sz="675"/>
            </a:lvl7pPr>
            <a:lvl8pPr marL="3657600" lvl="7" indent="-228600" algn="l" rtl="0">
              <a:spcBef>
                <a:spcPts val="135"/>
              </a:spcBef>
              <a:spcAft>
                <a:spcPts val="0"/>
              </a:spcAft>
              <a:buClr>
                <a:schemeClr val="dk1"/>
              </a:buClr>
              <a:buSzPts val="675"/>
              <a:buNone/>
              <a:defRPr sz="675"/>
            </a:lvl8pPr>
            <a:lvl9pPr marL="4114800" lvl="8" indent="-228600" algn="l" rtl="0">
              <a:spcBef>
                <a:spcPts val="135"/>
              </a:spcBef>
              <a:spcAft>
                <a:spcPts val="0"/>
              </a:spcAft>
              <a:buClr>
                <a:schemeClr val="dk1"/>
              </a:buClr>
              <a:buSzPts val="675"/>
              <a:buNone/>
              <a:defRPr sz="675"/>
            </a:lvl9pPr>
          </a:lstStyle>
          <a:p>
            <a:endParaRPr/>
          </a:p>
        </p:txBody>
      </p:sp>
      <p:sp>
        <p:nvSpPr>
          <p:cNvPr id="180" name="Google Shape;180;p1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1" name="Google Shape;181;p1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2" name="Google Shape;182;p1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3"/>
        <p:cNvGrpSpPr/>
        <p:nvPr/>
      </p:nvGrpSpPr>
      <p:grpSpPr>
        <a:xfrm>
          <a:off x="0" y="0"/>
          <a:ext cx="0" cy="0"/>
          <a:chOff x="0" y="0"/>
          <a:chExt cx="0" cy="0"/>
        </a:xfrm>
      </p:grpSpPr>
      <p:sp>
        <p:nvSpPr>
          <p:cNvPr id="184" name="Google Shape;184;p17"/>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5" name="Google Shape;185;p17"/>
          <p:cNvSpPr txBox="1">
            <a:spLocks noGrp="1"/>
          </p:cNvSpPr>
          <p:nvPr>
            <p:ph type="body" idx="1"/>
          </p:nvPr>
        </p:nvSpPr>
        <p:spPr>
          <a:xfrm rot="5400000">
            <a:off x="2874750" y="-1217399"/>
            <a:ext cx="33945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86" name="Google Shape;186;p17"/>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7" name="Google Shape;187;p17"/>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8" name="Google Shape;188;p1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89"/>
        <p:cNvGrpSpPr/>
        <p:nvPr/>
      </p:nvGrpSpPr>
      <p:grpSpPr>
        <a:xfrm>
          <a:off x="0" y="0"/>
          <a:ext cx="0" cy="0"/>
          <a:chOff x="0" y="0"/>
          <a:chExt cx="0" cy="0"/>
        </a:xfrm>
      </p:grpSpPr>
      <p:sp>
        <p:nvSpPr>
          <p:cNvPr id="190" name="Google Shape;190;p18"/>
          <p:cNvSpPr txBox="1">
            <a:spLocks noGrp="1"/>
          </p:cNvSpPr>
          <p:nvPr>
            <p:ph type="title"/>
          </p:nvPr>
        </p:nvSpPr>
        <p:spPr>
          <a:xfrm rot="5400000">
            <a:off x="5463750" y="1371629"/>
            <a:ext cx="43887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1" name="Google Shape;191;p18"/>
          <p:cNvSpPr txBox="1">
            <a:spLocks noGrp="1"/>
          </p:cNvSpPr>
          <p:nvPr>
            <p:ph type="body" idx="1"/>
          </p:nvPr>
        </p:nvSpPr>
        <p:spPr>
          <a:xfrm rot="5400000">
            <a:off x="1272750" y="-609571"/>
            <a:ext cx="43887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92" name="Google Shape;192;p1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3" name="Google Shape;193;p1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4" name="Google Shape;194;p1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a:lvl1pPr>
            <a:lvl2pPr lvl="1" indent="0" algn="r" rtl="0">
              <a:spcBef>
                <a:spcPts val="0"/>
              </a:spcBef>
              <a:buNone/>
              <a:defRPr/>
            </a:lvl2pPr>
            <a:lvl3pPr lvl="2" indent="0" algn="r" rtl="0">
              <a:spcBef>
                <a:spcPts val="0"/>
              </a:spcBef>
              <a:buNone/>
              <a:defRPr/>
            </a:lvl3pPr>
            <a:lvl4pPr lvl="3" indent="0" algn="r" rtl="0">
              <a:spcBef>
                <a:spcPts val="0"/>
              </a:spcBef>
              <a:buNone/>
              <a:defRPr/>
            </a:lvl4pPr>
            <a:lvl5pPr lvl="4" indent="0" algn="r" rtl="0">
              <a:spcBef>
                <a:spcPts val="0"/>
              </a:spcBef>
              <a:buNone/>
              <a:defRPr/>
            </a:lvl5pPr>
            <a:lvl6pPr lvl="5" indent="0" algn="r" rtl="0">
              <a:spcBef>
                <a:spcPts val="0"/>
              </a:spcBef>
              <a:buNone/>
              <a:defRPr/>
            </a:lvl6pPr>
            <a:lvl7pPr lvl="6" indent="0" algn="r" rtl="0">
              <a:spcBef>
                <a:spcPts val="0"/>
              </a:spcBef>
              <a:buNone/>
              <a:defRPr/>
            </a:lvl7pPr>
            <a:lvl8pPr lvl="7" indent="0" algn="r" rtl="0">
              <a:spcBef>
                <a:spcPts val="0"/>
              </a:spcBef>
              <a:buNone/>
              <a:defRPr/>
            </a:lvl8pPr>
            <a:lvl9pPr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1950" b="1" i="0">
                <a:solidFill>
                  <a:srgbClr val="1F3863"/>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0" b="1" i="0">
                <a:solidFill>
                  <a:srgbClr val="6B7B8E"/>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15973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1F3863"/>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0" b="1" i="0">
                <a:solidFill>
                  <a:srgbClr val="6B7B8E"/>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575354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1F3863"/>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674228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950" b="1" i="0">
                <a:solidFill>
                  <a:srgbClr val="1F3863"/>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19165206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713105"/>
          </a:xfrm>
          <a:custGeom>
            <a:avLst/>
            <a:gdLst/>
            <a:ahLst/>
            <a:cxnLst/>
            <a:rect l="l" t="t" r="r" b="b"/>
            <a:pathLst>
              <a:path w="9144000" h="713105">
                <a:moveTo>
                  <a:pt x="9144000" y="0"/>
                </a:moveTo>
                <a:lnTo>
                  <a:pt x="0" y="0"/>
                </a:lnTo>
                <a:lnTo>
                  <a:pt x="0" y="713104"/>
                </a:lnTo>
                <a:lnTo>
                  <a:pt x="9144000" y="713104"/>
                </a:lnTo>
                <a:lnTo>
                  <a:pt x="9144000" y="0"/>
                </a:lnTo>
                <a:close/>
              </a:path>
            </a:pathLst>
          </a:custGeom>
          <a:solidFill>
            <a:srgbClr val="1B2A49"/>
          </a:solidFill>
        </p:spPr>
        <p:txBody>
          <a:bodyPr wrap="square" lIns="0" tIns="0" rIns="0" bIns="0" rtlCol="0"/>
          <a:lstStyle/>
          <a:p>
            <a:endParaRPr/>
          </a:p>
        </p:txBody>
      </p:sp>
      <p:sp>
        <p:nvSpPr>
          <p:cNvPr id="17" name="bg object 17"/>
          <p:cNvSpPr/>
          <p:nvPr/>
        </p:nvSpPr>
        <p:spPr>
          <a:xfrm>
            <a:off x="0" y="0"/>
            <a:ext cx="9144000" cy="713105"/>
          </a:xfrm>
          <a:custGeom>
            <a:avLst/>
            <a:gdLst/>
            <a:ahLst/>
            <a:cxnLst/>
            <a:rect l="l" t="t" r="r" b="b"/>
            <a:pathLst>
              <a:path w="9144000" h="713105">
                <a:moveTo>
                  <a:pt x="0" y="713104"/>
                </a:moveTo>
                <a:lnTo>
                  <a:pt x="9144000" y="713104"/>
                </a:lnTo>
                <a:lnTo>
                  <a:pt x="9144000" y="0"/>
                </a:lnTo>
                <a:lnTo>
                  <a:pt x="0" y="0"/>
                </a:lnTo>
                <a:lnTo>
                  <a:pt x="0" y="713104"/>
                </a:lnTo>
                <a:close/>
              </a:path>
            </a:pathLst>
          </a:custGeom>
          <a:ln w="12699">
            <a:solidFill>
              <a:srgbClr val="1B2A49"/>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6407473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theme" Target="../theme/theme3.xml"/><Relationship Id="rId5" Type="http://schemas.openxmlformats.org/officeDocument/2006/relationships/slideLayout" Target="../slideLayouts/slideLayout21.xml"/><Relationship Id="rId4"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3"/>
        <p:cNvGrpSpPr/>
        <p:nvPr/>
      </p:nvGrpSpPr>
      <p:grpSpPr>
        <a:xfrm>
          <a:off x="0" y="0"/>
          <a:ext cx="0" cy="0"/>
          <a:chOff x="0" y="0"/>
          <a:chExt cx="0" cy="0"/>
        </a:xfrm>
      </p:grpSpPr>
      <p:sp>
        <p:nvSpPr>
          <p:cNvPr id="84" name="Google Shape;84;p1"/>
          <p:cNvSpPr/>
          <p:nvPr/>
        </p:nvSpPr>
        <p:spPr>
          <a:xfrm>
            <a:off x="342900" y="274320"/>
            <a:ext cx="720090" cy="720090"/>
          </a:xfrm>
          <a:custGeom>
            <a:avLst/>
            <a:gdLst/>
            <a:ahLst/>
            <a:cxnLst/>
            <a:rect l="l" t="t" r="r" b="b"/>
            <a:pathLst>
              <a:path w="720090" h="720090" extrusionOk="0">
                <a:moveTo>
                  <a:pt x="0" y="720089"/>
                </a:moveTo>
                <a:lnTo>
                  <a:pt x="720090" y="720089"/>
                </a:lnTo>
                <a:lnTo>
                  <a:pt x="720090" y="0"/>
                </a:lnTo>
                <a:lnTo>
                  <a:pt x="0" y="0"/>
                </a:lnTo>
                <a:lnTo>
                  <a:pt x="0" y="720089"/>
                </a:lnTo>
                <a:close/>
              </a:path>
            </a:pathLst>
          </a:custGeom>
          <a:noFill/>
          <a:ln w="12700" cap="flat" cmpd="sng">
            <a:solidFill>
              <a:srgbClr val="497B9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85" name="Google Shape;85;p1"/>
          <p:cNvSpPr txBox="1">
            <a:spLocks noGrp="1"/>
          </p:cNvSpPr>
          <p:nvPr>
            <p:ph type="title"/>
          </p:nvPr>
        </p:nvSpPr>
        <p:spPr>
          <a:xfrm>
            <a:off x="1187602" y="336549"/>
            <a:ext cx="6306300" cy="32400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950" b="1" i="0" u="none" strike="noStrike" cap="none">
                <a:solidFill>
                  <a:srgbClr val="1F3863"/>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6" name="Google Shape;86;p1"/>
          <p:cNvSpPr txBox="1">
            <a:spLocks noGrp="1"/>
          </p:cNvSpPr>
          <p:nvPr>
            <p:ph type="body" idx="1"/>
          </p:nvPr>
        </p:nvSpPr>
        <p:spPr>
          <a:xfrm>
            <a:off x="404113" y="1400133"/>
            <a:ext cx="5421000" cy="294450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800" b="1" i="0" u="none" strike="noStrike" cap="none">
                <a:solidFill>
                  <a:srgbClr val="6B7B8E"/>
                </a:solidFill>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7" name="Google Shape;87;p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lvl="0" algn="ctr" rtl="0">
              <a:spcBef>
                <a:spcPts val="0"/>
              </a:spcBef>
              <a:spcAft>
                <a:spcPts val="0"/>
              </a:spcAft>
              <a:buSzPts val="1400"/>
              <a:buNone/>
              <a:defRPr sz="18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8" name="Google Shape;88;p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lvl="0" algn="l" rtl="0">
              <a:spcBef>
                <a:spcPts val="0"/>
              </a:spcBef>
              <a:spcAft>
                <a:spcPts val="0"/>
              </a:spcAft>
              <a:buSzPts val="1400"/>
              <a:buNone/>
              <a:defRPr sz="18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9" name="Google Shape;89;p1"/>
          <p:cNvSpPr txBox="1">
            <a:spLocks noGrp="1"/>
          </p:cNvSpPr>
          <p:nvPr>
            <p:ph type="sldNum" idx="12"/>
          </p:nvPr>
        </p:nvSpPr>
        <p:spPr>
          <a:xfrm>
            <a:off x="6583680" y="4783455"/>
            <a:ext cx="2103000" cy="257100"/>
          </a:xfrm>
          <a:prstGeom prst="rect">
            <a:avLst/>
          </a:prstGeom>
          <a:noFill/>
          <a:ln>
            <a:noFill/>
          </a:ln>
        </p:spPr>
        <p:txBody>
          <a:bodyPr spcFirstLastPara="1" wrap="square" lIns="0" tIns="0" rIns="0" bIns="0" anchor="t" anchorCtr="0">
            <a:spAutoFit/>
          </a:bodyPr>
          <a:lstStyle>
            <a:lvl1pPr lvl="0" indent="0" algn="r" rtl="0">
              <a:spcBef>
                <a:spcPts val="0"/>
              </a:spcBef>
              <a:buNone/>
              <a:defRPr sz="1800">
                <a:solidFill>
                  <a:srgbClr val="888888"/>
                </a:solidFill>
              </a:defRPr>
            </a:lvl1pPr>
            <a:lvl2pPr lvl="1" indent="0" algn="r" rtl="0">
              <a:spcBef>
                <a:spcPts val="0"/>
              </a:spcBef>
              <a:buNone/>
              <a:defRPr sz="1800">
                <a:solidFill>
                  <a:srgbClr val="888888"/>
                </a:solidFill>
              </a:defRPr>
            </a:lvl2pPr>
            <a:lvl3pPr lvl="2" indent="0" algn="r" rtl="0">
              <a:spcBef>
                <a:spcPts val="0"/>
              </a:spcBef>
              <a:buNone/>
              <a:defRPr sz="1800">
                <a:solidFill>
                  <a:srgbClr val="888888"/>
                </a:solidFill>
              </a:defRPr>
            </a:lvl3pPr>
            <a:lvl4pPr lvl="3" indent="0" algn="r" rtl="0">
              <a:spcBef>
                <a:spcPts val="0"/>
              </a:spcBef>
              <a:buNone/>
              <a:defRPr sz="1800">
                <a:solidFill>
                  <a:srgbClr val="888888"/>
                </a:solidFill>
              </a:defRPr>
            </a:lvl4pPr>
            <a:lvl5pPr lvl="4" indent="0" algn="r" rtl="0">
              <a:spcBef>
                <a:spcPts val="0"/>
              </a:spcBef>
              <a:buNone/>
              <a:defRPr sz="1800">
                <a:solidFill>
                  <a:srgbClr val="888888"/>
                </a:solidFill>
              </a:defRPr>
            </a:lvl5pPr>
            <a:lvl6pPr lvl="5" indent="0" algn="r" rtl="0">
              <a:spcBef>
                <a:spcPts val="0"/>
              </a:spcBef>
              <a:buNone/>
              <a:defRPr sz="1800">
                <a:solidFill>
                  <a:srgbClr val="888888"/>
                </a:solidFill>
              </a:defRPr>
            </a:lvl6pPr>
            <a:lvl7pPr lvl="6" indent="0" algn="r" rtl="0">
              <a:spcBef>
                <a:spcPts val="0"/>
              </a:spcBef>
              <a:buNone/>
              <a:defRPr sz="1800">
                <a:solidFill>
                  <a:srgbClr val="888888"/>
                </a:solidFill>
              </a:defRPr>
            </a:lvl7pPr>
            <a:lvl8pPr lvl="7" indent="0" algn="r" rtl="0">
              <a:spcBef>
                <a:spcPts val="0"/>
              </a:spcBef>
              <a:buNone/>
              <a:defRPr sz="1800">
                <a:solidFill>
                  <a:srgbClr val="888888"/>
                </a:solidFill>
              </a:defRPr>
            </a:lvl8pPr>
            <a:lvl9pPr lvl="8" indent="0" algn="r" rtl="0">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22" name="Google Shape;122;p7"/>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1pPr>
            <a:lvl2pPr marL="914400" marR="0" lvl="1" indent="-361950" algn="l" rtl="0">
              <a:spcBef>
                <a:spcPts val="42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6pPr>
            <a:lvl7pPr marL="3200400" marR="0" lvl="6"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7pPr>
            <a:lvl8pPr marL="3657600" marR="0" lvl="7"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8pPr>
            <a:lvl9pPr marL="4114800" marR="0" lvl="8" indent="-323850" algn="l" rtl="0">
              <a:spcBef>
                <a:spcPts val="3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9pPr>
          </a:lstStyle>
          <a:p>
            <a:endParaRPr/>
          </a:p>
        </p:txBody>
      </p:sp>
      <p:sp>
        <p:nvSpPr>
          <p:cNvPr id="123" name="Google Shape;123;p7"/>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sz="9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24" name="Google Shape;124;p7"/>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sz="900">
                <a:solidFill>
                  <a:srgbClr val="888888"/>
                </a:solidFil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25" name="Google Shape;125;p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lvl="0" indent="0" algn="r" rtl="0">
              <a:spcBef>
                <a:spcPts val="0"/>
              </a:spcBef>
              <a:buNone/>
              <a:defRPr sz="900">
                <a:solidFill>
                  <a:srgbClr val="888888"/>
                </a:solidFill>
              </a:defRPr>
            </a:lvl1pPr>
            <a:lvl2pPr lvl="1" indent="0" algn="r" rtl="0">
              <a:spcBef>
                <a:spcPts val="0"/>
              </a:spcBef>
              <a:buNone/>
              <a:defRPr sz="900">
                <a:solidFill>
                  <a:srgbClr val="888888"/>
                </a:solidFill>
              </a:defRPr>
            </a:lvl2pPr>
            <a:lvl3pPr lvl="2" indent="0" algn="r" rtl="0">
              <a:spcBef>
                <a:spcPts val="0"/>
              </a:spcBef>
              <a:buNone/>
              <a:defRPr sz="900">
                <a:solidFill>
                  <a:srgbClr val="888888"/>
                </a:solidFill>
              </a:defRPr>
            </a:lvl3pPr>
            <a:lvl4pPr lvl="3" indent="0" algn="r" rtl="0">
              <a:spcBef>
                <a:spcPts val="0"/>
              </a:spcBef>
              <a:buNone/>
              <a:defRPr sz="900">
                <a:solidFill>
                  <a:srgbClr val="888888"/>
                </a:solidFill>
              </a:defRPr>
            </a:lvl4pPr>
            <a:lvl5pPr lvl="4" indent="0" algn="r" rtl="0">
              <a:spcBef>
                <a:spcPts val="0"/>
              </a:spcBef>
              <a:buNone/>
              <a:defRPr sz="900">
                <a:solidFill>
                  <a:srgbClr val="888888"/>
                </a:solidFill>
              </a:defRPr>
            </a:lvl5pPr>
            <a:lvl6pPr lvl="5" indent="0" algn="r" rtl="0">
              <a:spcBef>
                <a:spcPts val="0"/>
              </a:spcBef>
              <a:buNone/>
              <a:defRPr sz="900">
                <a:solidFill>
                  <a:srgbClr val="888888"/>
                </a:solidFill>
              </a:defRPr>
            </a:lvl6pPr>
            <a:lvl7pPr lvl="6" indent="0" algn="r" rtl="0">
              <a:spcBef>
                <a:spcPts val="0"/>
              </a:spcBef>
              <a:buNone/>
              <a:defRPr sz="900">
                <a:solidFill>
                  <a:srgbClr val="888888"/>
                </a:solidFill>
              </a:defRPr>
            </a:lvl7pPr>
            <a:lvl8pPr lvl="7" indent="0" algn="r" rtl="0">
              <a:spcBef>
                <a:spcPts val="0"/>
              </a:spcBef>
              <a:buNone/>
              <a:defRPr sz="900">
                <a:solidFill>
                  <a:srgbClr val="888888"/>
                </a:solidFill>
              </a:defRPr>
            </a:lvl8pPr>
            <a:lvl9pPr lvl="8" indent="0" algn="r" rtl="0">
              <a:spcBef>
                <a:spcPts val="0"/>
              </a:spcBef>
              <a:buNone/>
              <a:defRPr sz="9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42900" y="274320"/>
            <a:ext cx="720090" cy="720090"/>
          </a:xfrm>
          <a:custGeom>
            <a:avLst/>
            <a:gdLst/>
            <a:ahLst/>
            <a:cxnLst/>
            <a:rect l="l" t="t" r="r" b="b"/>
            <a:pathLst>
              <a:path w="720090" h="720090">
                <a:moveTo>
                  <a:pt x="0" y="720089"/>
                </a:moveTo>
                <a:lnTo>
                  <a:pt x="720090" y="720089"/>
                </a:lnTo>
                <a:lnTo>
                  <a:pt x="720090" y="0"/>
                </a:lnTo>
                <a:lnTo>
                  <a:pt x="0" y="0"/>
                </a:lnTo>
                <a:lnTo>
                  <a:pt x="0" y="720089"/>
                </a:lnTo>
                <a:close/>
              </a:path>
            </a:pathLst>
          </a:custGeom>
          <a:ln w="12700">
            <a:solidFill>
              <a:srgbClr val="497B9A"/>
            </a:solidFill>
          </a:ln>
        </p:spPr>
        <p:txBody>
          <a:bodyPr wrap="square" lIns="0" tIns="0" rIns="0" bIns="0" rtlCol="0"/>
          <a:lstStyle/>
          <a:p>
            <a:endParaRPr/>
          </a:p>
        </p:txBody>
      </p:sp>
      <p:sp>
        <p:nvSpPr>
          <p:cNvPr id="2" name="Holder 2"/>
          <p:cNvSpPr>
            <a:spLocks noGrp="1"/>
          </p:cNvSpPr>
          <p:nvPr>
            <p:ph type="title"/>
          </p:nvPr>
        </p:nvSpPr>
        <p:spPr>
          <a:xfrm>
            <a:off x="1187602" y="336549"/>
            <a:ext cx="6306184" cy="323850"/>
          </a:xfrm>
          <a:prstGeom prst="rect">
            <a:avLst/>
          </a:prstGeom>
        </p:spPr>
        <p:txBody>
          <a:bodyPr wrap="square" lIns="0" tIns="0" rIns="0" bIns="0">
            <a:spAutoFit/>
          </a:bodyPr>
          <a:lstStyle>
            <a:lvl1pPr>
              <a:defRPr sz="1950" b="1" i="0">
                <a:solidFill>
                  <a:srgbClr val="1F3863"/>
                </a:solidFill>
                <a:latin typeface="Calibri"/>
                <a:cs typeface="Calibri"/>
              </a:defRPr>
            </a:lvl1pPr>
          </a:lstStyle>
          <a:p>
            <a:endParaRPr/>
          </a:p>
        </p:txBody>
      </p:sp>
      <p:sp>
        <p:nvSpPr>
          <p:cNvPr id="3" name="Holder 3"/>
          <p:cNvSpPr>
            <a:spLocks noGrp="1"/>
          </p:cNvSpPr>
          <p:nvPr>
            <p:ph type="body" idx="1"/>
          </p:nvPr>
        </p:nvSpPr>
        <p:spPr>
          <a:xfrm>
            <a:off x="404113" y="1400133"/>
            <a:ext cx="5420995" cy="2944495"/>
          </a:xfrm>
          <a:prstGeom prst="rect">
            <a:avLst/>
          </a:prstGeom>
        </p:spPr>
        <p:txBody>
          <a:bodyPr wrap="square" lIns="0" tIns="0" rIns="0" bIns="0">
            <a:spAutoFit/>
          </a:bodyPr>
          <a:lstStyle>
            <a:lvl1pPr>
              <a:defRPr sz="800" b="1" i="0">
                <a:solidFill>
                  <a:srgbClr val="6B7B8E"/>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6/15/2026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92497169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98"/>
        <p:cNvGrpSpPr/>
        <p:nvPr/>
      </p:nvGrpSpPr>
      <p:grpSpPr>
        <a:xfrm>
          <a:off x="0" y="0"/>
          <a:ext cx="0" cy="0"/>
          <a:chOff x="0" y="0"/>
          <a:chExt cx="0" cy="0"/>
        </a:xfrm>
      </p:grpSpPr>
      <p:grpSp>
        <p:nvGrpSpPr>
          <p:cNvPr id="199" name="Google Shape;199;p19"/>
          <p:cNvGrpSpPr/>
          <p:nvPr/>
        </p:nvGrpSpPr>
        <p:grpSpPr>
          <a:xfrm>
            <a:off x="0" y="0"/>
            <a:ext cx="9144127" cy="5143500"/>
            <a:chOff x="0" y="0"/>
            <a:chExt cx="9144127" cy="5143500"/>
          </a:xfrm>
        </p:grpSpPr>
        <p:sp>
          <p:nvSpPr>
            <p:cNvPr id="200" name="Google Shape;200;p19"/>
            <p:cNvSpPr/>
            <p:nvPr/>
          </p:nvSpPr>
          <p:spPr>
            <a:xfrm>
              <a:off x="164592" y="0"/>
              <a:ext cx="8979535" cy="5143500"/>
            </a:xfrm>
            <a:custGeom>
              <a:avLst/>
              <a:gdLst/>
              <a:ahLst/>
              <a:cxnLst/>
              <a:rect l="l" t="t" r="r" b="b"/>
              <a:pathLst>
                <a:path w="8979535" h="5143500" extrusionOk="0">
                  <a:moveTo>
                    <a:pt x="0" y="5143500"/>
                  </a:moveTo>
                  <a:lnTo>
                    <a:pt x="8979408" y="5143500"/>
                  </a:lnTo>
                  <a:lnTo>
                    <a:pt x="8979408" y="0"/>
                  </a:lnTo>
                  <a:lnTo>
                    <a:pt x="0" y="0"/>
                  </a:lnTo>
                  <a:lnTo>
                    <a:pt x="0" y="514350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1" name="Google Shape;201;p19"/>
            <p:cNvSpPr/>
            <p:nvPr/>
          </p:nvSpPr>
          <p:spPr>
            <a:xfrm>
              <a:off x="0" y="0"/>
              <a:ext cx="165100" cy="5143500"/>
            </a:xfrm>
            <a:custGeom>
              <a:avLst/>
              <a:gdLst/>
              <a:ahLst/>
              <a:cxnLst/>
              <a:rect l="l" t="t" r="r" b="b"/>
              <a:pathLst>
                <a:path w="165100" h="5143500" extrusionOk="0">
                  <a:moveTo>
                    <a:pt x="164592" y="0"/>
                  </a:moveTo>
                  <a:lnTo>
                    <a:pt x="0" y="0"/>
                  </a:lnTo>
                  <a:lnTo>
                    <a:pt x="0" y="5143500"/>
                  </a:lnTo>
                  <a:lnTo>
                    <a:pt x="164592" y="5143500"/>
                  </a:lnTo>
                  <a:lnTo>
                    <a:pt x="164592"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2" name="Google Shape;202;p19"/>
            <p:cNvSpPr/>
            <p:nvPr/>
          </p:nvSpPr>
          <p:spPr>
            <a:xfrm>
              <a:off x="0" y="0"/>
              <a:ext cx="165100" cy="5143500"/>
            </a:xfrm>
            <a:custGeom>
              <a:avLst/>
              <a:gdLst/>
              <a:ahLst/>
              <a:cxnLst/>
              <a:rect l="l" t="t" r="r" b="b"/>
              <a:pathLst>
                <a:path w="165100" h="5143500" extrusionOk="0">
                  <a:moveTo>
                    <a:pt x="0" y="5143500"/>
                  </a:moveTo>
                  <a:lnTo>
                    <a:pt x="164592" y="5143500"/>
                  </a:lnTo>
                  <a:lnTo>
                    <a:pt x="164592" y="0"/>
                  </a:lnTo>
                  <a:lnTo>
                    <a:pt x="0" y="0"/>
                  </a:lnTo>
                  <a:lnTo>
                    <a:pt x="0" y="5143500"/>
                  </a:lnTo>
                  <a:close/>
                </a:path>
              </a:pathLst>
            </a:custGeom>
            <a:noFill/>
            <a:ln w="12675"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3" name="Google Shape;203;p19"/>
            <p:cNvSpPr/>
            <p:nvPr/>
          </p:nvSpPr>
          <p:spPr>
            <a:xfrm>
              <a:off x="4114800" y="457200"/>
              <a:ext cx="914400" cy="914400"/>
            </a:xfrm>
            <a:custGeom>
              <a:avLst/>
              <a:gdLst/>
              <a:ahLst/>
              <a:cxnLst/>
              <a:rect l="l" t="t" r="r" b="b"/>
              <a:pathLst>
                <a:path w="914400" h="914400" extrusionOk="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4" name="Google Shape;204;p19"/>
            <p:cNvSpPr/>
            <p:nvPr/>
          </p:nvSpPr>
          <p:spPr>
            <a:xfrm>
              <a:off x="4114800" y="457200"/>
              <a:ext cx="914400" cy="914400"/>
            </a:xfrm>
            <a:custGeom>
              <a:avLst/>
              <a:gdLst/>
              <a:ahLst/>
              <a:cxnLst/>
              <a:rect l="l" t="t" r="r" b="b"/>
              <a:pathLst>
                <a:path w="914400" h="914400" extrusionOk="0">
                  <a:moveTo>
                    <a:pt x="0" y="457200"/>
                  </a:moveTo>
                  <a:lnTo>
                    <a:pt x="2360" y="410458"/>
                  </a:lnTo>
                  <a:lnTo>
                    <a:pt x="9289" y="365066"/>
                  </a:lnTo>
                  <a:lnTo>
                    <a:pt x="20557" y="321253"/>
                  </a:lnTo>
                  <a:lnTo>
                    <a:pt x="35933" y="279249"/>
                  </a:lnTo>
                  <a:lnTo>
                    <a:pt x="55187" y="239283"/>
                  </a:lnTo>
                  <a:lnTo>
                    <a:pt x="78090" y="201587"/>
                  </a:lnTo>
                  <a:lnTo>
                    <a:pt x="104411" y="166390"/>
                  </a:lnTo>
                  <a:lnTo>
                    <a:pt x="133921" y="133921"/>
                  </a:lnTo>
                  <a:lnTo>
                    <a:pt x="166390" y="104411"/>
                  </a:lnTo>
                  <a:lnTo>
                    <a:pt x="201587" y="78090"/>
                  </a:lnTo>
                  <a:lnTo>
                    <a:pt x="239283" y="55187"/>
                  </a:lnTo>
                  <a:lnTo>
                    <a:pt x="279249" y="35933"/>
                  </a:lnTo>
                  <a:lnTo>
                    <a:pt x="321253" y="20557"/>
                  </a:lnTo>
                  <a:lnTo>
                    <a:pt x="365066" y="9289"/>
                  </a:lnTo>
                  <a:lnTo>
                    <a:pt x="410458" y="2360"/>
                  </a:lnTo>
                  <a:lnTo>
                    <a:pt x="457200" y="0"/>
                  </a:lnTo>
                  <a:lnTo>
                    <a:pt x="503941" y="2360"/>
                  </a:lnTo>
                  <a:lnTo>
                    <a:pt x="549333" y="9289"/>
                  </a:lnTo>
                  <a:lnTo>
                    <a:pt x="593146" y="20557"/>
                  </a:lnTo>
                  <a:lnTo>
                    <a:pt x="635150" y="35933"/>
                  </a:lnTo>
                  <a:lnTo>
                    <a:pt x="675116" y="55187"/>
                  </a:lnTo>
                  <a:lnTo>
                    <a:pt x="712812" y="78090"/>
                  </a:lnTo>
                  <a:lnTo>
                    <a:pt x="748009" y="104411"/>
                  </a:lnTo>
                  <a:lnTo>
                    <a:pt x="780478" y="133921"/>
                  </a:lnTo>
                  <a:lnTo>
                    <a:pt x="809988" y="166390"/>
                  </a:lnTo>
                  <a:lnTo>
                    <a:pt x="836309" y="201587"/>
                  </a:lnTo>
                  <a:lnTo>
                    <a:pt x="859212" y="239283"/>
                  </a:lnTo>
                  <a:lnTo>
                    <a:pt x="878466" y="279249"/>
                  </a:lnTo>
                  <a:lnTo>
                    <a:pt x="893842" y="321253"/>
                  </a:lnTo>
                  <a:lnTo>
                    <a:pt x="905110" y="365066"/>
                  </a:lnTo>
                  <a:lnTo>
                    <a:pt x="912039" y="410458"/>
                  </a:lnTo>
                  <a:lnTo>
                    <a:pt x="914400" y="457200"/>
                  </a:lnTo>
                  <a:lnTo>
                    <a:pt x="912039" y="503941"/>
                  </a:lnTo>
                  <a:lnTo>
                    <a:pt x="905110" y="549333"/>
                  </a:lnTo>
                  <a:lnTo>
                    <a:pt x="893842" y="593146"/>
                  </a:lnTo>
                  <a:lnTo>
                    <a:pt x="878466" y="635150"/>
                  </a:lnTo>
                  <a:lnTo>
                    <a:pt x="859212" y="675116"/>
                  </a:lnTo>
                  <a:lnTo>
                    <a:pt x="836309" y="712812"/>
                  </a:lnTo>
                  <a:lnTo>
                    <a:pt x="809988" y="748009"/>
                  </a:lnTo>
                  <a:lnTo>
                    <a:pt x="780478" y="780478"/>
                  </a:lnTo>
                  <a:lnTo>
                    <a:pt x="748009" y="809988"/>
                  </a:lnTo>
                  <a:lnTo>
                    <a:pt x="712812" y="836309"/>
                  </a:lnTo>
                  <a:lnTo>
                    <a:pt x="675116" y="859212"/>
                  </a:lnTo>
                  <a:lnTo>
                    <a:pt x="635150" y="878466"/>
                  </a:lnTo>
                  <a:lnTo>
                    <a:pt x="593146" y="893842"/>
                  </a:lnTo>
                  <a:lnTo>
                    <a:pt x="549333" y="905110"/>
                  </a:lnTo>
                  <a:lnTo>
                    <a:pt x="503941" y="912039"/>
                  </a:lnTo>
                  <a:lnTo>
                    <a:pt x="457200" y="914400"/>
                  </a:lnTo>
                  <a:lnTo>
                    <a:pt x="410458" y="912039"/>
                  </a:lnTo>
                  <a:lnTo>
                    <a:pt x="365066" y="905110"/>
                  </a:lnTo>
                  <a:lnTo>
                    <a:pt x="321253" y="893842"/>
                  </a:lnTo>
                  <a:lnTo>
                    <a:pt x="279249" y="878466"/>
                  </a:lnTo>
                  <a:lnTo>
                    <a:pt x="239283" y="859212"/>
                  </a:lnTo>
                  <a:lnTo>
                    <a:pt x="201587" y="836309"/>
                  </a:lnTo>
                  <a:lnTo>
                    <a:pt x="166390" y="809988"/>
                  </a:lnTo>
                  <a:lnTo>
                    <a:pt x="133921" y="780478"/>
                  </a:lnTo>
                  <a:lnTo>
                    <a:pt x="104411" y="748009"/>
                  </a:lnTo>
                  <a:lnTo>
                    <a:pt x="78090" y="712812"/>
                  </a:lnTo>
                  <a:lnTo>
                    <a:pt x="55187" y="675116"/>
                  </a:lnTo>
                  <a:lnTo>
                    <a:pt x="35933" y="635150"/>
                  </a:lnTo>
                  <a:lnTo>
                    <a:pt x="20557" y="593146"/>
                  </a:lnTo>
                  <a:lnTo>
                    <a:pt x="9289" y="549333"/>
                  </a:lnTo>
                  <a:lnTo>
                    <a:pt x="2360" y="503941"/>
                  </a:lnTo>
                  <a:lnTo>
                    <a:pt x="0" y="457200"/>
                  </a:lnTo>
                  <a:close/>
                </a:path>
              </a:pathLst>
            </a:custGeom>
            <a:noFill/>
            <a:ln w="25400" cap="flat" cmpd="sng">
              <a:solidFill>
                <a:srgbClr val="EFD08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05" name="Google Shape;205;p19"/>
            <p:cNvPicPr preferRelativeResize="0"/>
            <p:nvPr/>
          </p:nvPicPr>
          <p:blipFill rotWithShape="1">
            <a:blip r:embed="rId3">
              <a:alphaModFix/>
            </a:blip>
            <a:srcRect/>
            <a:stretch/>
          </p:blipFill>
          <p:spPr>
            <a:xfrm>
              <a:off x="4180332" y="583691"/>
              <a:ext cx="782574" cy="745998"/>
            </a:xfrm>
            <a:prstGeom prst="rect">
              <a:avLst/>
            </a:prstGeom>
            <a:noFill/>
            <a:ln>
              <a:noFill/>
            </a:ln>
          </p:spPr>
        </p:pic>
      </p:grpSp>
      <p:sp>
        <p:nvSpPr>
          <p:cNvPr id="206" name="Google Shape;206;p19"/>
          <p:cNvSpPr txBox="1">
            <a:spLocks noGrp="1"/>
          </p:cNvSpPr>
          <p:nvPr>
            <p:ph type="title"/>
          </p:nvPr>
        </p:nvSpPr>
        <p:spPr>
          <a:xfrm>
            <a:off x="2063876" y="1609470"/>
            <a:ext cx="5016600" cy="482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000">
                <a:solidFill>
                  <a:srgbClr val="C8A84B"/>
                </a:solidFill>
              </a:rPr>
              <a:t>GST REVENUE AUGMENTATION</a:t>
            </a:r>
            <a:endParaRPr sz="3000"/>
          </a:p>
        </p:txBody>
      </p:sp>
      <p:sp>
        <p:nvSpPr>
          <p:cNvPr id="207" name="Google Shape;207;p19"/>
          <p:cNvSpPr txBox="1"/>
          <p:nvPr/>
        </p:nvSpPr>
        <p:spPr>
          <a:xfrm>
            <a:off x="2961894" y="2203526"/>
            <a:ext cx="3222000" cy="3606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200">
                <a:solidFill>
                  <a:srgbClr val="FFFFFF"/>
                </a:solidFill>
                <a:latin typeface="Calibri"/>
                <a:ea typeface="Calibri"/>
                <a:cs typeface="Calibri"/>
                <a:sym typeface="Calibri"/>
              </a:rPr>
              <a:t>ACTION PLAN — FY 2026-27</a:t>
            </a:r>
            <a:endParaRPr sz="2200">
              <a:latin typeface="Calibri"/>
              <a:ea typeface="Calibri"/>
              <a:cs typeface="Calibri"/>
              <a:sym typeface="Calibri"/>
            </a:endParaRPr>
          </a:p>
        </p:txBody>
      </p:sp>
      <p:grpSp>
        <p:nvGrpSpPr>
          <p:cNvPr id="208" name="Google Shape;208;p19"/>
          <p:cNvGrpSpPr/>
          <p:nvPr/>
        </p:nvGrpSpPr>
        <p:grpSpPr>
          <a:xfrm>
            <a:off x="2743200" y="2743200"/>
            <a:ext cx="3657600" cy="36830"/>
            <a:chOff x="2743200" y="2743200"/>
            <a:chExt cx="3657600" cy="36830"/>
          </a:xfrm>
        </p:grpSpPr>
        <p:sp>
          <p:nvSpPr>
            <p:cNvPr id="209" name="Google Shape;209;p19"/>
            <p:cNvSpPr/>
            <p:nvPr/>
          </p:nvSpPr>
          <p:spPr>
            <a:xfrm>
              <a:off x="2743200" y="2743200"/>
              <a:ext cx="3657600" cy="36830"/>
            </a:xfrm>
            <a:custGeom>
              <a:avLst/>
              <a:gdLst/>
              <a:ahLst/>
              <a:cxnLst/>
              <a:rect l="l" t="t" r="r" b="b"/>
              <a:pathLst>
                <a:path w="3657600" h="36830" extrusionOk="0">
                  <a:moveTo>
                    <a:pt x="3657600" y="0"/>
                  </a:moveTo>
                  <a:lnTo>
                    <a:pt x="0" y="0"/>
                  </a:lnTo>
                  <a:lnTo>
                    <a:pt x="0" y="36575"/>
                  </a:lnTo>
                  <a:lnTo>
                    <a:pt x="3657600" y="36575"/>
                  </a:lnTo>
                  <a:lnTo>
                    <a:pt x="36576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10" name="Google Shape;210;p19"/>
            <p:cNvSpPr/>
            <p:nvPr/>
          </p:nvSpPr>
          <p:spPr>
            <a:xfrm>
              <a:off x="2743200" y="2743200"/>
              <a:ext cx="3657600" cy="36830"/>
            </a:xfrm>
            <a:custGeom>
              <a:avLst/>
              <a:gdLst/>
              <a:ahLst/>
              <a:cxnLst/>
              <a:rect l="l" t="t" r="r" b="b"/>
              <a:pathLst>
                <a:path w="3657600" h="36830" extrusionOk="0">
                  <a:moveTo>
                    <a:pt x="0" y="36575"/>
                  </a:moveTo>
                  <a:lnTo>
                    <a:pt x="3657600" y="36575"/>
                  </a:lnTo>
                  <a:lnTo>
                    <a:pt x="3657600" y="0"/>
                  </a:lnTo>
                  <a:lnTo>
                    <a:pt x="0" y="0"/>
                  </a:lnTo>
                  <a:lnTo>
                    <a:pt x="0" y="36575"/>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11" name="Google Shape;211;p19"/>
          <p:cNvSpPr txBox="1"/>
          <p:nvPr/>
        </p:nvSpPr>
        <p:spPr>
          <a:xfrm>
            <a:off x="2620136" y="2941700"/>
            <a:ext cx="3900300" cy="212100"/>
          </a:xfrm>
          <a:prstGeom prst="rect">
            <a:avLst/>
          </a:prstGeom>
          <a:noFill/>
          <a:ln>
            <a:noFill/>
          </a:ln>
        </p:spPr>
        <p:txBody>
          <a:bodyPr spcFirstLastPara="1" wrap="square" lIns="0" tIns="12050" rIns="0" bIns="0" anchor="t" anchorCtr="0">
            <a:spAutoFit/>
          </a:bodyPr>
          <a:lstStyle/>
          <a:p>
            <a:pPr marL="0" lvl="0" indent="0" algn="ctr" rtl="0">
              <a:lnSpc>
                <a:spcPct val="100000"/>
              </a:lnSpc>
              <a:spcBef>
                <a:spcPts val="0"/>
              </a:spcBef>
              <a:spcAft>
                <a:spcPts val="0"/>
              </a:spcAft>
              <a:buNone/>
            </a:pPr>
            <a:r>
              <a:rPr lang="en-US" sz="1300">
                <a:solidFill>
                  <a:srgbClr val="AABAD3"/>
                </a:solidFill>
                <a:latin typeface="Calibri"/>
                <a:ea typeface="Calibri"/>
                <a:cs typeface="Calibri"/>
                <a:sym typeface="Calibri"/>
              </a:rPr>
              <a:t>Office of the Commissioner, Commercial Taxes, Rajasthan</a:t>
            </a:r>
            <a:endParaRPr sz="1300">
              <a:latin typeface="Calibri"/>
              <a:ea typeface="Calibri"/>
              <a:cs typeface="Calibri"/>
              <a:sym typeface="Calibri"/>
            </a:endParaRPr>
          </a:p>
        </p:txBody>
      </p:sp>
      <p:sp>
        <p:nvSpPr>
          <p:cNvPr id="212" name="Google Shape;212;p19"/>
          <p:cNvSpPr txBox="1"/>
          <p:nvPr/>
        </p:nvSpPr>
        <p:spPr>
          <a:xfrm>
            <a:off x="3347465" y="4535830"/>
            <a:ext cx="2449200" cy="1944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1100" i="1">
                <a:solidFill>
                  <a:srgbClr val="C8A84B"/>
                </a:solidFill>
                <a:latin typeface="Calibri"/>
                <a:ea typeface="Calibri"/>
                <a:cs typeface="Calibri"/>
                <a:sym typeface="Calibri"/>
              </a:rPr>
              <a:t>Diagnosis → Strategy → Revenue Recovery</a:t>
            </a:r>
            <a:endParaRPr sz="110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216"/>
        <p:cNvGrpSpPr/>
        <p:nvPr/>
      </p:nvGrpSpPr>
      <p:grpSpPr>
        <a:xfrm>
          <a:off x="0" y="0"/>
          <a:ext cx="0" cy="0"/>
          <a:chOff x="0" y="0"/>
          <a:chExt cx="0" cy="0"/>
        </a:xfrm>
      </p:grpSpPr>
      <p:sp>
        <p:nvSpPr>
          <p:cNvPr id="217" name="Google Shape;217;p20"/>
          <p:cNvSpPr/>
          <p:nvPr/>
        </p:nvSpPr>
        <p:spPr>
          <a:xfrm>
            <a:off x="0" y="19050"/>
            <a:ext cx="9144000" cy="5143500"/>
          </a:xfrm>
          <a:custGeom>
            <a:avLst/>
            <a:gdLst/>
            <a:ahLst/>
            <a:cxnLst/>
            <a:rect l="l" t="t" r="r" b="b"/>
            <a:pathLst>
              <a:path w="9144000" h="5143500" extrusionOk="0">
                <a:moveTo>
                  <a:pt x="9144000" y="0"/>
                </a:moveTo>
                <a:lnTo>
                  <a:pt x="0" y="0"/>
                </a:lnTo>
                <a:lnTo>
                  <a:pt x="0" y="5143500"/>
                </a:lnTo>
                <a:lnTo>
                  <a:pt x="9144000" y="5143500"/>
                </a:lnTo>
                <a:lnTo>
                  <a:pt x="9144000" y="0"/>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18" name="Google Shape;218;p20"/>
          <p:cNvGrpSpPr/>
          <p:nvPr/>
        </p:nvGrpSpPr>
        <p:grpSpPr>
          <a:xfrm>
            <a:off x="0" y="0"/>
            <a:ext cx="9144000" cy="832484"/>
            <a:chOff x="0" y="0"/>
            <a:chExt cx="9144000" cy="832484"/>
          </a:xfrm>
        </p:grpSpPr>
        <p:sp>
          <p:nvSpPr>
            <p:cNvPr id="219" name="Google Shape;219;p20"/>
            <p:cNvSpPr/>
            <p:nvPr/>
          </p:nvSpPr>
          <p:spPr>
            <a:xfrm>
              <a:off x="0" y="0"/>
              <a:ext cx="9144000" cy="777240"/>
            </a:xfrm>
            <a:custGeom>
              <a:avLst/>
              <a:gdLst/>
              <a:ahLst/>
              <a:cxnLst/>
              <a:rect l="l" t="t" r="r" b="b"/>
              <a:pathLst>
                <a:path w="9144000" h="777240" extrusionOk="0">
                  <a:moveTo>
                    <a:pt x="9144000" y="0"/>
                  </a:moveTo>
                  <a:lnTo>
                    <a:pt x="0" y="0"/>
                  </a:lnTo>
                  <a:lnTo>
                    <a:pt x="0" y="777239"/>
                  </a:lnTo>
                  <a:lnTo>
                    <a:pt x="9144000" y="77723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0" name="Google Shape;220;p20"/>
            <p:cNvSpPr/>
            <p:nvPr/>
          </p:nvSpPr>
          <p:spPr>
            <a:xfrm>
              <a:off x="0" y="0"/>
              <a:ext cx="9144000" cy="777240"/>
            </a:xfrm>
            <a:custGeom>
              <a:avLst/>
              <a:gdLst/>
              <a:ahLst/>
              <a:cxnLst/>
              <a:rect l="l" t="t" r="r" b="b"/>
              <a:pathLst>
                <a:path w="9144000" h="777240" extrusionOk="0">
                  <a:moveTo>
                    <a:pt x="0" y="777239"/>
                  </a:moveTo>
                  <a:lnTo>
                    <a:pt x="9144000" y="777239"/>
                  </a:lnTo>
                  <a:lnTo>
                    <a:pt x="9144000" y="0"/>
                  </a:lnTo>
                  <a:lnTo>
                    <a:pt x="0" y="0"/>
                  </a:lnTo>
                  <a:lnTo>
                    <a:pt x="0" y="77723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1" name="Google Shape;221;p20"/>
            <p:cNvSpPr/>
            <p:nvPr/>
          </p:nvSpPr>
          <p:spPr>
            <a:xfrm>
              <a:off x="0" y="777240"/>
              <a:ext cx="9144000" cy="55244"/>
            </a:xfrm>
            <a:custGeom>
              <a:avLst/>
              <a:gdLst/>
              <a:ahLst/>
              <a:cxnLst/>
              <a:rect l="l" t="t" r="r" b="b"/>
              <a:pathLst>
                <a:path w="9144000" h="55244" extrusionOk="0">
                  <a:moveTo>
                    <a:pt x="9144000" y="0"/>
                  </a:moveTo>
                  <a:lnTo>
                    <a:pt x="0" y="0"/>
                  </a:lnTo>
                  <a:lnTo>
                    <a:pt x="0" y="54863"/>
                  </a:lnTo>
                  <a:lnTo>
                    <a:pt x="9144000" y="54863"/>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2" name="Google Shape;222;p20"/>
            <p:cNvSpPr/>
            <p:nvPr/>
          </p:nvSpPr>
          <p:spPr>
            <a:xfrm>
              <a:off x="0" y="777240"/>
              <a:ext cx="9144000" cy="55244"/>
            </a:xfrm>
            <a:custGeom>
              <a:avLst/>
              <a:gdLst/>
              <a:ahLst/>
              <a:cxnLst/>
              <a:rect l="l" t="t" r="r" b="b"/>
              <a:pathLst>
                <a:path w="9144000" h="55244" extrusionOk="0">
                  <a:moveTo>
                    <a:pt x="0" y="54863"/>
                  </a:moveTo>
                  <a:lnTo>
                    <a:pt x="9144000" y="54863"/>
                  </a:lnTo>
                  <a:lnTo>
                    <a:pt x="9144000" y="0"/>
                  </a:lnTo>
                  <a:lnTo>
                    <a:pt x="0" y="0"/>
                  </a:lnTo>
                  <a:lnTo>
                    <a:pt x="0" y="54863"/>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23" name="Google Shape;223;p20"/>
          <p:cNvSpPr txBox="1">
            <a:spLocks noGrp="1"/>
          </p:cNvSpPr>
          <p:nvPr>
            <p:ph type="title"/>
          </p:nvPr>
        </p:nvSpPr>
        <p:spPr>
          <a:xfrm>
            <a:off x="444500" y="166827"/>
            <a:ext cx="4167600" cy="3003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FFFFFF"/>
                </a:solidFill>
              </a:rPr>
              <a:t>RAJASTHAN'S GST POSITION: KEY FINDINGS</a:t>
            </a:r>
            <a:endParaRPr sz="1800"/>
          </a:p>
        </p:txBody>
      </p:sp>
      <p:grpSp>
        <p:nvGrpSpPr>
          <p:cNvPr id="224" name="Google Shape;224;p20"/>
          <p:cNvGrpSpPr/>
          <p:nvPr/>
        </p:nvGrpSpPr>
        <p:grpSpPr>
          <a:xfrm>
            <a:off x="1845564" y="978408"/>
            <a:ext cx="1905762" cy="2114550"/>
            <a:chOff x="1845564" y="978408"/>
            <a:chExt cx="1905762" cy="2114550"/>
          </a:xfrm>
        </p:grpSpPr>
        <p:pic>
          <p:nvPicPr>
            <p:cNvPr id="225" name="Google Shape;225;p20"/>
            <p:cNvPicPr preferRelativeResize="0"/>
            <p:nvPr/>
          </p:nvPicPr>
          <p:blipFill rotWithShape="1">
            <a:blip r:embed="rId3">
              <a:alphaModFix/>
            </a:blip>
            <a:srcRect/>
            <a:stretch/>
          </p:blipFill>
          <p:spPr>
            <a:xfrm>
              <a:off x="1845564" y="978408"/>
              <a:ext cx="1905762" cy="2114550"/>
            </a:xfrm>
            <a:prstGeom prst="rect">
              <a:avLst/>
            </a:prstGeom>
            <a:noFill/>
            <a:ln>
              <a:noFill/>
            </a:ln>
          </p:spPr>
        </p:pic>
        <p:sp>
          <p:nvSpPr>
            <p:cNvPr id="226" name="Google Shape;226;p20"/>
            <p:cNvSpPr/>
            <p:nvPr/>
          </p:nvSpPr>
          <p:spPr>
            <a:xfrm>
              <a:off x="1983105" y="1124712"/>
              <a:ext cx="1691639" cy="1838325"/>
            </a:xfrm>
            <a:custGeom>
              <a:avLst/>
              <a:gdLst/>
              <a:ahLst/>
              <a:cxnLst/>
              <a:rect l="l" t="t" r="r" b="b"/>
              <a:pathLst>
                <a:path w="1691639" h="1838325" extrusionOk="0">
                  <a:moveTo>
                    <a:pt x="0" y="1837944"/>
                  </a:moveTo>
                  <a:lnTo>
                    <a:pt x="1691640" y="1837944"/>
                  </a:lnTo>
                  <a:lnTo>
                    <a:pt x="1691640" y="0"/>
                  </a:lnTo>
                  <a:lnTo>
                    <a:pt x="0" y="0"/>
                  </a:lnTo>
                  <a:lnTo>
                    <a:pt x="0" y="1837944"/>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7" name="Google Shape;227;p20"/>
            <p:cNvSpPr/>
            <p:nvPr/>
          </p:nvSpPr>
          <p:spPr>
            <a:xfrm>
              <a:off x="1983105" y="1060704"/>
              <a:ext cx="1691639" cy="1902460"/>
            </a:xfrm>
            <a:custGeom>
              <a:avLst/>
              <a:gdLst/>
              <a:ahLst/>
              <a:cxnLst/>
              <a:rect l="l" t="t" r="r" b="b"/>
              <a:pathLst>
                <a:path w="1691639" h="1902460" extrusionOk="0">
                  <a:moveTo>
                    <a:pt x="0" y="1901952"/>
                  </a:moveTo>
                  <a:lnTo>
                    <a:pt x="1691640" y="1901952"/>
                  </a:lnTo>
                  <a:lnTo>
                    <a:pt x="1691640" y="0"/>
                  </a:lnTo>
                  <a:lnTo>
                    <a:pt x="0" y="0"/>
                  </a:lnTo>
                  <a:lnTo>
                    <a:pt x="0" y="1901952"/>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8" name="Google Shape;228;p20"/>
            <p:cNvSpPr/>
            <p:nvPr/>
          </p:nvSpPr>
          <p:spPr>
            <a:xfrm>
              <a:off x="1983105" y="1060704"/>
              <a:ext cx="1691639" cy="64134"/>
            </a:xfrm>
            <a:custGeom>
              <a:avLst/>
              <a:gdLst/>
              <a:ahLst/>
              <a:cxnLst/>
              <a:rect l="l" t="t" r="r" b="b"/>
              <a:pathLst>
                <a:path w="1691639" h="64134" extrusionOk="0">
                  <a:moveTo>
                    <a:pt x="1691640" y="0"/>
                  </a:moveTo>
                  <a:lnTo>
                    <a:pt x="0" y="0"/>
                  </a:lnTo>
                  <a:lnTo>
                    <a:pt x="0" y="64008"/>
                  </a:lnTo>
                  <a:lnTo>
                    <a:pt x="1691640" y="64008"/>
                  </a:lnTo>
                  <a:lnTo>
                    <a:pt x="1691640" y="0"/>
                  </a:lnTo>
                  <a:close/>
                </a:path>
              </a:pathLst>
            </a:custGeom>
            <a:solidFill>
              <a:srgbClr val="E67D2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29" name="Google Shape;229;p20"/>
            <p:cNvSpPr/>
            <p:nvPr/>
          </p:nvSpPr>
          <p:spPr>
            <a:xfrm>
              <a:off x="1983105" y="1060704"/>
              <a:ext cx="1691639" cy="64134"/>
            </a:xfrm>
            <a:custGeom>
              <a:avLst/>
              <a:gdLst/>
              <a:ahLst/>
              <a:cxnLst/>
              <a:rect l="l" t="t" r="r" b="b"/>
              <a:pathLst>
                <a:path w="1691639" h="64134" extrusionOk="0">
                  <a:moveTo>
                    <a:pt x="0" y="64008"/>
                  </a:moveTo>
                  <a:lnTo>
                    <a:pt x="1691640" y="64008"/>
                  </a:lnTo>
                  <a:lnTo>
                    <a:pt x="1691640" y="0"/>
                  </a:lnTo>
                  <a:lnTo>
                    <a:pt x="0" y="0"/>
                  </a:lnTo>
                  <a:lnTo>
                    <a:pt x="0" y="64008"/>
                  </a:lnTo>
                  <a:close/>
                </a:path>
              </a:pathLst>
            </a:custGeom>
            <a:noFill/>
            <a:ln w="12700" cap="flat" cmpd="sng">
              <a:solidFill>
                <a:srgbClr val="E67D2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0" name="Google Shape;230;p20"/>
            <p:cNvSpPr/>
            <p:nvPr/>
          </p:nvSpPr>
          <p:spPr>
            <a:xfrm>
              <a:off x="2047113" y="2468880"/>
              <a:ext cx="1564004" cy="18414"/>
            </a:xfrm>
            <a:custGeom>
              <a:avLst/>
              <a:gdLst/>
              <a:ahLst/>
              <a:cxnLst/>
              <a:rect l="l" t="t" r="r" b="b"/>
              <a:pathLst>
                <a:path w="1564004" h="18414" extrusionOk="0">
                  <a:moveTo>
                    <a:pt x="1563624" y="0"/>
                  </a:moveTo>
                  <a:lnTo>
                    <a:pt x="0" y="0"/>
                  </a:lnTo>
                  <a:lnTo>
                    <a:pt x="0" y="18287"/>
                  </a:lnTo>
                  <a:lnTo>
                    <a:pt x="1563624" y="18287"/>
                  </a:lnTo>
                  <a:lnTo>
                    <a:pt x="1563624" y="0"/>
                  </a:lnTo>
                  <a:close/>
                </a:path>
              </a:pathLst>
            </a:custGeom>
            <a:solidFill>
              <a:srgbClr val="DFE6E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1" name="Google Shape;231;p20"/>
            <p:cNvSpPr/>
            <p:nvPr/>
          </p:nvSpPr>
          <p:spPr>
            <a:xfrm>
              <a:off x="2047113" y="2468880"/>
              <a:ext cx="1564004" cy="18414"/>
            </a:xfrm>
            <a:custGeom>
              <a:avLst/>
              <a:gdLst/>
              <a:ahLst/>
              <a:cxnLst/>
              <a:rect l="l" t="t" r="r" b="b"/>
              <a:pathLst>
                <a:path w="1564004" h="18414" extrusionOk="0">
                  <a:moveTo>
                    <a:pt x="0" y="18287"/>
                  </a:moveTo>
                  <a:lnTo>
                    <a:pt x="1563624" y="18287"/>
                  </a:lnTo>
                  <a:lnTo>
                    <a:pt x="1563624" y="0"/>
                  </a:lnTo>
                  <a:lnTo>
                    <a:pt x="0" y="0"/>
                  </a:lnTo>
                  <a:lnTo>
                    <a:pt x="0" y="18287"/>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32" name="Google Shape;232;p20"/>
          <p:cNvSpPr txBox="1"/>
          <p:nvPr/>
        </p:nvSpPr>
        <p:spPr>
          <a:xfrm>
            <a:off x="1989454" y="1113806"/>
            <a:ext cx="1678800" cy="1764000"/>
          </a:xfrm>
          <a:prstGeom prst="rect">
            <a:avLst/>
          </a:prstGeom>
          <a:noFill/>
          <a:ln>
            <a:noFill/>
          </a:ln>
        </p:spPr>
        <p:txBody>
          <a:bodyPr spcFirstLastPara="1" wrap="square" lIns="0" tIns="82550" rIns="0" bIns="0" anchor="t" anchorCtr="0">
            <a:spAutoFit/>
          </a:bodyPr>
          <a:lstStyle/>
          <a:p>
            <a:pPr marL="149225" lvl="0" indent="0" algn="l" rtl="0">
              <a:lnSpc>
                <a:spcPct val="100000"/>
              </a:lnSpc>
              <a:spcBef>
                <a:spcPts val="0"/>
              </a:spcBef>
              <a:spcAft>
                <a:spcPts val="0"/>
              </a:spcAft>
              <a:buNone/>
            </a:pPr>
            <a:r>
              <a:rPr lang="en-US" sz="850" b="1">
                <a:solidFill>
                  <a:srgbClr val="63748A"/>
                </a:solidFill>
                <a:latin typeface="Calibri"/>
                <a:ea typeface="Calibri"/>
                <a:cs typeface="Calibri"/>
                <a:sym typeface="Calibri"/>
              </a:rPr>
              <a:t>01</a:t>
            </a:r>
            <a:endParaRPr sz="850">
              <a:latin typeface="Calibri"/>
              <a:ea typeface="Calibri"/>
              <a:cs typeface="Calibri"/>
              <a:sym typeface="Calibri"/>
            </a:endParaRPr>
          </a:p>
          <a:p>
            <a:pPr marL="149225" lvl="0" indent="0" algn="l" rtl="0">
              <a:lnSpc>
                <a:spcPct val="100000"/>
              </a:lnSpc>
              <a:spcBef>
                <a:spcPts val="605"/>
              </a:spcBef>
              <a:spcAft>
                <a:spcPts val="0"/>
              </a:spcAft>
              <a:buNone/>
            </a:pPr>
            <a:r>
              <a:rPr lang="en-US" sz="950" b="1">
                <a:solidFill>
                  <a:srgbClr val="1B2A49"/>
                </a:solidFill>
                <a:latin typeface="Calibri"/>
                <a:ea typeface="Calibri"/>
                <a:cs typeface="Calibri"/>
                <a:sym typeface="Calibri"/>
              </a:rPr>
              <a:t>GST Growth Rate</a:t>
            </a:r>
            <a:endParaRPr sz="950">
              <a:latin typeface="Calibri"/>
              <a:ea typeface="Calibri"/>
              <a:cs typeface="Calibri"/>
              <a:sym typeface="Calibri"/>
            </a:endParaRPr>
          </a:p>
          <a:p>
            <a:pPr marL="149225" lvl="0" indent="0" algn="l" rtl="0">
              <a:lnSpc>
                <a:spcPct val="100000"/>
              </a:lnSpc>
              <a:spcBef>
                <a:spcPts val="415"/>
              </a:spcBef>
              <a:spcAft>
                <a:spcPts val="0"/>
              </a:spcAft>
              <a:buNone/>
            </a:pPr>
            <a:r>
              <a:rPr lang="en-US" sz="2200" b="1">
                <a:solidFill>
                  <a:srgbClr val="E67D21"/>
                </a:solidFill>
                <a:latin typeface="Calibri"/>
                <a:ea typeface="Calibri"/>
                <a:cs typeface="Calibri"/>
                <a:sym typeface="Calibri"/>
              </a:rPr>
              <a:t>5%</a:t>
            </a:r>
            <a:endParaRPr sz="2200">
              <a:latin typeface="Calibri"/>
              <a:ea typeface="Calibri"/>
              <a:cs typeface="Calibri"/>
              <a:sym typeface="Calibri"/>
            </a:endParaRPr>
          </a:p>
          <a:p>
            <a:pPr marL="149225" lvl="0" indent="0" algn="l" rtl="0">
              <a:lnSpc>
                <a:spcPct val="100000"/>
              </a:lnSpc>
              <a:spcBef>
                <a:spcPts val="1245"/>
              </a:spcBef>
              <a:spcAft>
                <a:spcPts val="0"/>
              </a:spcAft>
              <a:buNone/>
            </a:pPr>
            <a:r>
              <a:rPr lang="en-US" sz="750" i="1">
                <a:solidFill>
                  <a:srgbClr val="63748A"/>
                </a:solidFill>
                <a:latin typeface="Calibri"/>
                <a:ea typeface="Calibri"/>
                <a:cs typeface="Calibri"/>
                <a:sym typeface="Calibri"/>
              </a:rPr>
              <a:t>GJ:10% | MH:13% | KA:5%</a:t>
            </a:r>
            <a:endParaRPr sz="750">
              <a:latin typeface="Calibri"/>
              <a:ea typeface="Calibri"/>
              <a:cs typeface="Calibri"/>
              <a:sym typeface="Calibri"/>
            </a:endParaRPr>
          </a:p>
          <a:p>
            <a:pPr marL="149225" lvl="0" indent="0" algn="l" rtl="0">
              <a:lnSpc>
                <a:spcPct val="100000"/>
              </a:lnSpc>
              <a:spcBef>
                <a:spcPts val="0"/>
              </a:spcBef>
              <a:spcAft>
                <a:spcPts val="0"/>
              </a:spcAft>
              <a:buNone/>
            </a:pPr>
            <a:r>
              <a:rPr lang="en-US" sz="750" i="1">
                <a:solidFill>
                  <a:srgbClr val="63748A"/>
                </a:solidFill>
                <a:latin typeface="Calibri"/>
                <a:ea typeface="Calibri"/>
                <a:cs typeface="Calibri"/>
                <a:sym typeface="Calibri"/>
              </a:rPr>
              <a:t>UP:1% | MP:−5%</a:t>
            </a:r>
            <a:endParaRPr sz="750">
              <a:latin typeface="Calibri"/>
              <a:ea typeface="Calibri"/>
              <a:cs typeface="Calibri"/>
              <a:sym typeface="Calibri"/>
            </a:endParaRPr>
          </a:p>
          <a:p>
            <a:pPr marL="0" lvl="0" indent="0" algn="l" rtl="0">
              <a:lnSpc>
                <a:spcPct val="100000"/>
              </a:lnSpc>
              <a:spcBef>
                <a:spcPts val="650"/>
              </a:spcBef>
              <a:spcAft>
                <a:spcPts val="0"/>
              </a:spcAft>
              <a:buNone/>
            </a:pPr>
            <a:endParaRPr sz="750">
              <a:latin typeface="Calibri"/>
              <a:ea typeface="Calibri"/>
              <a:cs typeface="Calibri"/>
              <a:sym typeface="Calibri"/>
            </a:endParaRPr>
          </a:p>
          <a:p>
            <a:pPr marL="149225" marR="257810" lvl="0" indent="0" algn="just" rtl="0">
              <a:lnSpc>
                <a:spcPct val="100000"/>
              </a:lnSpc>
              <a:spcBef>
                <a:spcPts val="0"/>
              </a:spcBef>
              <a:spcAft>
                <a:spcPts val="0"/>
              </a:spcAft>
              <a:buNone/>
            </a:pPr>
            <a:r>
              <a:rPr lang="en-US" sz="750" b="1">
                <a:solidFill>
                  <a:srgbClr val="E67D21"/>
                </a:solidFill>
                <a:latin typeface="Calibri"/>
                <a:ea typeface="Calibri"/>
                <a:cs typeface="Calibri"/>
                <a:sym typeface="Calibri"/>
              </a:rPr>
              <a:t>Lags Gujarat &amp; Maharashtra; on par with Karnataka; better than UP &amp; MP</a:t>
            </a:r>
            <a:endParaRPr sz="750">
              <a:latin typeface="Calibri"/>
              <a:ea typeface="Calibri"/>
              <a:cs typeface="Calibri"/>
              <a:sym typeface="Calibri"/>
            </a:endParaRPr>
          </a:p>
        </p:txBody>
      </p:sp>
      <p:grpSp>
        <p:nvGrpSpPr>
          <p:cNvPr id="233" name="Google Shape;233;p20"/>
          <p:cNvGrpSpPr/>
          <p:nvPr/>
        </p:nvGrpSpPr>
        <p:grpSpPr>
          <a:xfrm>
            <a:off x="3674364" y="978408"/>
            <a:ext cx="1905762" cy="2114550"/>
            <a:chOff x="3674364" y="978408"/>
            <a:chExt cx="1905762" cy="2114550"/>
          </a:xfrm>
        </p:grpSpPr>
        <p:pic>
          <p:nvPicPr>
            <p:cNvPr id="234" name="Google Shape;234;p20"/>
            <p:cNvPicPr preferRelativeResize="0"/>
            <p:nvPr/>
          </p:nvPicPr>
          <p:blipFill rotWithShape="1">
            <a:blip r:embed="rId3">
              <a:alphaModFix/>
            </a:blip>
            <a:srcRect/>
            <a:stretch/>
          </p:blipFill>
          <p:spPr>
            <a:xfrm>
              <a:off x="3674364" y="978408"/>
              <a:ext cx="1905762" cy="2114550"/>
            </a:xfrm>
            <a:prstGeom prst="rect">
              <a:avLst/>
            </a:prstGeom>
            <a:noFill/>
            <a:ln>
              <a:noFill/>
            </a:ln>
          </p:spPr>
        </p:pic>
        <p:sp>
          <p:nvSpPr>
            <p:cNvPr id="235" name="Google Shape;235;p20"/>
            <p:cNvSpPr/>
            <p:nvPr/>
          </p:nvSpPr>
          <p:spPr>
            <a:xfrm>
              <a:off x="3811905" y="1124712"/>
              <a:ext cx="1691639" cy="1838325"/>
            </a:xfrm>
            <a:custGeom>
              <a:avLst/>
              <a:gdLst/>
              <a:ahLst/>
              <a:cxnLst/>
              <a:rect l="l" t="t" r="r" b="b"/>
              <a:pathLst>
                <a:path w="1691639" h="1838325" extrusionOk="0">
                  <a:moveTo>
                    <a:pt x="0" y="1837944"/>
                  </a:moveTo>
                  <a:lnTo>
                    <a:pt x="1691639" y="1837944"/>
                  </a:lnTo>
                  <a:lnTo>
                    <a:pt x="1691639" y="0"/>
                  </a:lnTo>
                  <a:lnTo>
                    <a:pt x="0" y="0"/>
                  </a:lnTo>
                  <a:lnTo>
                    <a:pt x="0" y="1837944"/>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6" name="Google Shape;236;p20"/>
            <p:cNvSpPr/>
            <p:nvPr/>
          </p:nvSpPr>
          <p:spPr>
            <a:xfrm>
              <a:off x="3811905" y="1060704"/>
              <a:ext cx="1691639" cy="1902460"/>
            </a:xfrm>
            <a:custGeom>
              <a:avLst/>
              <a:gdLst/>
              <a:ahLst/>
              <a:cxnLst/>
              <a:rect l="l" t="t" r="r" b="b"/>
              <a:pathLst>
                <a:path w="1691639" h="1902460" extrusionOk="0">
                  <a:moveTo>
                    <a:pt x="0" y="1901952"/>
                  </a:moveTo>
                  <a:lnTo>
                    <a:pt x="1691639" y="1901952"/>
                  </a:lnTo>
                  <a:lnTo>
                    <a:pt x="1691639" y="0"/>
                  </a:lnTo>
                  <a:lnTo>
                    <a:pt x="0" y="0"/>
                  </a:lnTo>
                  <a:lnTo>
                    <a:pt x="0" y="1901952"/>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7" name="Google Shape;237;p20"/>
            <p:cNvSpPr/>
            <p:nvPr/>
          </p:nvSpPr>
          <p:spPr>
            <a:xfrm>
              <a:off x="3811905" y="1060704"/>
              <a:ext cx="1691639" cy="64134"/>
            </a:xfrm>
            <a:custGeom>
              <a:avLst/>
              <a:gdLst/>
              <a:ahLst/>
              <a:cxnLst/>
              <a:rect l="l" t="t" r="r" b="b"/>
              <a:pathLst>
                <a:path w="1691639" h="64134" extrusionOk="0">
                  <a:moveTo>
                    <a:pt x="1691639" y="0"/>
                  </a:moveTo>
                  <a:lnTo>
                    <a:pt x="0" y="0"/>
                  </a:lnTo>
                  <a:lnTo>
                    <a:pt x="0" y="64008"/>
                  </a:lnTo>
                  <a:lnTo>
                    <a:pt x="1691639" y="64008"/>
                  </a:lnTo>
                  <a:lnTo>
                    <a:pt x="1691639" y="0"/>
                  </a:lnTo>
                  <a:close/>
                </a:path>
              </a:pathLst>
            </a:custGeom>
            <a:solidFill>
              <a:srgbClr val="E67D21"/>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8" name="Google Shape;238;p20"/>
            <p:cNvSpPr/>
            <p:nvPr/>
          </p:nvSpPr>
          <p:spPr>
            <a:xfrm>
              <a:off x="3811905" y="1060704"/>
              <a:ext cx="1691639" cy="64134"/>
            </a:xfrm>
            <a:custGeom>
              <a:avLst/>
              <a:gdLst/>
              <a:ahLst/>
              <a:cxnLst/>
              <a:rect l="l" t="t" r="r" b="b"/>
              <a:pathLst>
                <a:path w="1691639" h="64134" extrusionOk="0">
                  <a:moveTo>
                    <a:pt x="0" y="64008"/>
                  </a:moveTo>
                  <a:lnTo>
                    <a:pt x="1691639" y="64008"/>
                  </a:lnTo>
                  <a:lnTo>
                    <a:pt x="1691639" y="0"/>
                  </a:lnTo>
                  <a:lnTo>
                    <a:pt x="0" y="0"/>
                  </a:lnTo>
                  <a:lnTo>
                    <a:pt x="0" y="64008"/>
                  </a:lnTo>
                  <a:close/>
                </a:path>
              </a:pathLst>
            </a:custGeom>
            <a:noFill/>
            <a:ln w="12700" cap="flat" cmpd="sng">
              <a:solidFill>
                <a:srgbClr val="E67D2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39" name="Google Shape;239;p20"/>
            <p:cNvSpPr/>
            <p:nvPr/>
          </p:nvSpPr>
          <p:spPr>
            <a:xfrm>
              <a:off x="3875913" y="2468880"/>
              <a:ext cx="1564004" cy="18414"/>
            </a:xfrm>
            <a:custGeom>
              <a:avLst/>
              <a:gdLst/>
              <a:ahLst/>
              <a:cxnLst/>
              <a:rect l="l" t="t" r="r" b="b"/>
              <a:pathLst>
                <a:path w="1564004" h="18414" extrusionOk="0">
                  <a:moveTo>
                    <a:pt x="1563624" y="0"/>
                  </a:moveTo>
                  <a:lnTo>
                    <a:pt x="0" y="0"/>
                  </a:lnTo>
                  <a:lnTo>
                    <a:pt x="0" y="18287"/>
                  </a:lnTo>
                  <a:lnTo>
                    <a:pt x="1563624" y="18287"/>
                  </a:lnTo>
                  <a:lnTo>
                    <a:pt x="1563624" y="0"/>
                  </a:lnTo>
                  <a:close/>
                </a:path>
              </a:pathLst>
            </a:custGeom>
            <a:solidFill>
              <a:srgbClr val="DFE6E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0" name="Google Shape;240;p20"/>
            <p:cNvSpPr/>
            <p:nvPr/>
          </p:nvSpPr>
          <p:spPr>
            <a:xfrm>
              <a:off x="3875913" y="2468880"/>
              <a:ext cx="1564004" cy="18414"/>
            </a:xfrm>
            <a:custGeom>
              <a:avLst/>
              <a:gdLst/>
              <a:ahLst/>
              <a:cxnLst/>
              <a:rect l="l" t="t" r="r" b="b"/>
              <a:pathLst>
                <a:path w="1564004" h="18414" extrusionOk="0">
                  <a:moveTo>
                    <a:pt x="0" y="18287"/>
                  </a:moveTo>
                  <a:lnTo>
                    <a:pt x="1563624" y="18287"/>
                  </a:lnTo>
                  <a:lnTo>
                    <a:pt x="1563624" y="0"/>
                  </a:lnTo>
                  <a:lnTo>
                    <a:pt x="0" y="0"/>
                  </a:lnTo>
                  <a:lnTo>
                    <a:pt x="0" y="18287"/>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41" name="Google Shape;241;p20"/>
          <p:cNvSpPr txBox="1"/>
          <p:nvPr/>
        </p:nvSpPr>
        <p:spPr>
          <a:xfrm>
            <a:off x="3818254" y="1113806"/>
            <a:ext cx="1678800" cy="1764000"/>
          </a:xfrm>
          <a:prstGeom prst="rect">
            <a:avLst/>
          </a:prstGeom>
          <a:noFill/>
          <a:ln>
            <a:noFill/>
          </a:ln>
        </p:spPr>
        <p:txBody>
          <a:bodyPr spcFirstLastPara="1" wrap="square" lIns="0" tIns="82550" rIns="0" bIns="0" anchor="t" anchorCtr="0">
            <a:spAutoFit/>
          </a:bodyPr>
          <a:lstStyle/>
          <a:p>
            <a:pPr marL="149225" lvl="0" indent="0" algn="l" rtl="0">
              <a:lnSpc>
                <a:spcPct val="100000"/>
              </a:lnSpc>
              <a:spcBef>
                <a:spcPts val="0"/>
              </a:spcBef>
              <a:spcAft>
                <a:spcPts val="0"/>
              </a:spcAft>
              <a:buNone/>
            </a:pPr>
            <a:r>
              <a:rPr lang="en-US" sz="850" b="1">
                <a:solidFill>
                  <a:srgbClr val="63748A"/>
                </a:solidFill>
                <a:latin typeface="Calibri"/>
                <a:ea typeface="Calibri"/>
                <a:cs typeface="Calibri"/>
                <a:sym typeface="Calibri"/>
              </a:rPr>
              <a:t>02</a:t>
            </a:r>
            <a:endParaRPr sz="850">
              <a:latin typeface="Calibri"/>
              <a:ea typeface="Calibri"/>
              <a:cs typeface="Calibri"/>
              <a:sym typeface="Calibri"/>
            </a:endParaRPr>
          </a:p>
          <a:p>
            <a:pPr marL="149225" lvl="0" indent="0" algn="l" rtl="0">
              <a:lnSpc>
                <a:spcPct val="100000"/>
              </a:lnSpc>
              <a:spcBef>
                <a:spcPts val="605"/>
              </a:spcBef>
              <a:spcAft>
                <a:spcPts val="0"/>
              </a:spcAft>
              <a:buNone/>
            </a:pPr>
            <a:r>
              <a:rPr lang="en-US" sz="950" b="1">
                <a:solidFill>
                  <a:srgbClr val="1B2A49"/>
                </a:solidFill>
                <a:latin typeface="Calibri"/>
                <a:ea typeface="Calibri"/>
                <a:cs typeface="Calibri"/>
                <a:sym typeface="Calibri"/>
              </a:rPr>
              <a:t>GST / GSDP Ratio</a:t>
            </a:r>
            <a:endParaRPr sz="950">
              <a:latin typeface="Calibri"/>
              <a:ea typeface="Calibri"/>
              <a:cs typeface="Calibri"/>
              <a:sym typeface="Calibri"/>
            </a:endParaRPr>
          </a:p>
          <a:p>
            <a:pPr marL="149225" lvl="0" indent="0" algn="l" rtl="0">
              <a:lnSpc>
                <a:spcPct val="100000"/>
              </a:lnSpc>
              <a:spcBef>
                <a:spcPts val="415"/>
              </a:spcBef>
              <a:spcAft>
                <a:spcPts val="0"/>
              </a:spcAft>
              <a:buNone/>
            </a:pPr>
            <a:r>
              <a:rPr lang="en-US" sz="2200" b="1">
                <a:solidFill>
                  <a:srgbClr val="E67D21"/>
                </a:solidFill>
                <a:latin typeface="Calibri"/>
                <a:ea typeface="Calibri"/>
                <a:cs typeface="Calibri"/>
                <a:sym typeface="Calibri"/>
              </a:rPr>
              <a:t>2.33%</a:t>
            </a:r>
            <a:endParaRPr sz="2200">
              <a:latin typeface="Calibri"/>
              <a:ea typeface="Calibri"/>
              <a:cs typeface="Calibri"/>
              <a:sym typeface="Calibri"/>
            </a:endParaRPr>
          </a:p>
          <a:p>
            <a:pPr marL="149225" marR="223520" lvl="0" indent="0" algn="l" rtl="0">
              <a:lnSpc>
                <a:spcPct val="100000"/>
              </a:lnSpc>
              <a:spcBef>
                <a:spcPts val="1245"/>
              </a:spcBef>
              <a:spcAft>
                <a:spcPts val="0"/>
              </a:spcAft>
              <a:buNone/>
            </a:pPr>
            <a:r>
              <a:rPr lang="en-US" sz="750" i="1">
                <a:solidFill>
                  <a:srgbClr val="63748A"/>
                </a:solidFill>
                <a:latin typeface="Calibri"/>
                <a:ea typeface="Calibri"/>
                <a:cs typeface="Calibri"/>
                <a:sym typeface="Calibri"/>
              </a:rPr>
              <a:t>MH:3.83% | KA:2.84% | UP:2.36% | MP:2.07%</a:t>
            </a:r>
            <a:endParaRPr sz="750">
              <a:latin typeface="Calibri"/>
              <a:ea typeface="Calibri"/>
              <a:cs typeface="Calibri"/>
              <a:sym typeface="Calibri"/>
            </a:endParaRPr>
          </a:p>
          <a:p>
            <a:pPr marL="0" lvl="0" indent="0" algn="l" rtl="0">
              <a:lnSpc>
                <a:spcPct val="100000"/>
              </a:lnSpc>
              <a:spcBef>
                <a:spcPts val="650"/>
              </a:spcBef>
              <a:spcAft>
                <a:spcPts val="0"/>
              </a:spcAft>
              <a:buNone/>
            </a:pPr>
            <a:endParaRPr sz="750">
              <a:latin typeface="Calibri"/>
              <a:ea typeface="Calibri"/>
              <a:cs typeface="Calibri"/>
              <a:sym typeface="Calibri"/>
            </a:endParaRPr>
          </a:p>
          <a:p>
            <a:pPr marL="149225" marR="165735" lvl="0" indent="0" algn="l" rtl="0">
              <a:lnSpc>
                <a:spcPct val="100000"/>
              </a:lnSpc>
              <a:spcBef>
                <a:spcPts val="0"/>
              </a:spcBef>
              <a:spcAft>
                <a:spcPts val="0"/>
              </a:spcAft>
              <a:buNone/>
            </a:pPr>
            <a:r>
              <a:rPr lang="en-US" sz="750" b="1">
                <a:solidFill>
                  <a:srgbClr val="E67D21"/>
                </a:solidFill>
                <a:latin typeface="Calibri"/>
                <a:ea typeface="Calibri"/>
                <a:cs typeface="Calibri"/>
                <a:sym typeface="Calibri"/>
              </a:rPr>
              <a:t>Below Maharashtra, Karnataka; comparable to UP; better than MP</a:t>
            </a:r>
            <a:endParaRPr sz="750">
              <a:latin typeface="Calibri"/>
              <a:ea typeface="Calibri"/>
              <a:cs typeface="Calibri"/>
              <a:sym typeface="Calibri"/>
            </a:endParaRPr>
          </a:p>
        </p:txBody>
      </p:sp>
      <p:grpSp>
        <p:nvGrpSpPr>
          <p:cNvPr id="242" name="Google Shape;242;p20"/>
          <p:cNvGrpSpPr/>
          <p:nvPr/>
        </p:nvGrpSpPr>
        <p:grpSpPr>
          <a:xfrm>
            <a:off x="5503164" y="978408"/>
            <a:ext cx="1905762" cy="2114550"/>
            <a:chOff x="5503164" y="978408"/>
            <a:chExt cx="1905762" cy="2114550"/>
          </a:xfrm>
        </p:grpSpPr>
        <p:pic>
          <p:nvPicPr>
            <p:cNvPr id="243" name="Google Shape;243;p20"/>
            <p:cNvPicPr preferRelativeResize="0"/>
            <p:nvPr/>
          </p:nvPicPr>
          <p:blipFill rotWithShape="1">
            <a:blip r:embed="rId3">
              <a:alphaModFix/>
            </a:blip>
            <a:srcRect/>
            <a:stretch/>
          </p:blipFill>
          <p:spPr>
            <a:xfrm>
              <a:off x="5503164" y="978408"/>
              <a:ext cx="1905762" cy="2114550"/>
            </a:xfrm>
            <a:prstGeom prst="rect">
              <a:avLst/>
            </a:prstGeom>
            <a:noFill/>
            <a:ln>
              <a:noFill/>
            </a:ln>
          </p:spPr>
        </p:pic>
        <p:sp>
          <p:nvSpPr>
            <p:cNvPr id="244" name="Google Shape;244;p20"/>
            <p:cNvSpPr/>
            <p:nvPr/>
          </p:nvSpPr>
          <p:spPr>
            <a:xfrm>
              <a:off x="5640705" y="1124712"/>
              <a:ext cx="1691640" cy="1838325"/>
            </a:xfrm>
            <a:custGeom>
              <a:avLst/>
              <a:gdLst/>
              <a:ahLst/>
              <a:cxnLst/>
              <a:rect l="l" t="t" r="r" b="b"/>
              <a:pathLst>
                <a:path w="1691640" h="1838325" extrusionOk="0">
                  <a:moveTo>
                    <a:pt x="0" y="1837944"/>
                  </a:moveTo>
                  <a:lnTo>
                    <a:pt x="1691639" y="1837944"/>
                  </a:lnTo>
                  <a:lnTo>
                    <a:pt x="1691639" y="0"/>
                  </a:lnTo>
                  <a:lnTo>
                    <a:pt x="0" y="0"/>
                  </a:lnTo>
                  <a:lnTo>
                    <a:pt x="0" y="1837944"/>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5" name="Google Shape;245;p20"/>
            <p:cNvSpPr/>
            <p:nvPr/>
          </p:nvSpPr>
          <p:spPr>
            <a:xfrm>
              <a:off x="5640705" y="1060704"/>
              <a:ext cx="1691640" cy="1902460"/>
            </a:xfrm>
            <a:custGeom>
              <a:avLst/>
              <a:gdLst/>
              <a:ahLst/>
              <a:cxnLst/>
              <a:rect l="l" t="t" r="r" b="b"/>
              <a:pathLst>
                <a:path w="1691640" h="1902460" extrusionOk="0">
                  <a:moveTo>
                    <a:pt x="0" y="1901952"/>
                  </a:moveTo>
                  <a:lnTo>
                    <a:pt x="1691639" y="1901952"/>
                  </a:lnTo>
                  <a:lnTo>
                    <a:pt x="1691639" y="0"/>
                  </a:lnTo>
                  <a:lnTo>
                    <a:pt x="0" y="0"/>
                  </a:lnTo>
                  <a:lnTo>
                    <a:pt x="0" y="1901952"/>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6" name="Google Shape;246;p20"/>
            <p:cNvSpPr/>
            <p:nvPr/>
          </p:nvSpPr>
          <p:spPr>
            <a:xfrm>
              <a:off x="5640705" y="1060704"/>
              <a:ext cx="1691640" cy="64134"/>
            </a:xfrm>
            <a:custGeom>
              <a:avLst/>
              <a:gdLst/>
              <a:ahLst/>
              <a:cxnLst/>
              <a:rect l="l" t="t" r="r" b="b"/>
              <a:pathLst>
                <a:path w="1691640" h="64134" extrusionOk="0">
                  <a:moveTo>
                    <a:pt x="1691639" y="0"/>
                  </a:moveTo>
                  <a:lnTo>
                    <a:pt x="0" y="0"/>
                  </a:lnTo>
                  <a:lnTo>
                    <a:pt x="0" y="64008"/>
                  </a:lnTo>
                  <a:lnTo>
                    <a:pt x="1691639" y="64008"/>
                  </a:lnTo>
                  <a:lnTo>
                    <a:pt x="1691639" y="0"/>
                  </a:lnTo>
                  <a:close/>
                </a:path>
              </a:pathLst>
            </a:custGeom>
            <a:solidFill>
              <a:srgbClr val="1E7D3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7" name="Google Shape;247;p20"/>
            <p:cNvSpPr/>
            <p:nvPr/>
          </p:nvSpPr>
          <p:spPr>
            <a:xfrm>
              <a:off x="5640705" y="1060704"/>
              <a:ext cx="1691640" cy="64134"/>
            </a:xfrm>
            <a:custGeom>
              <a:avLst/>
              <a:gdLst/>
              <a:ahLst/>
              <a:cxnLst/>
              <a:rect l="l" t="t" r="r" b="b"/>
              <a:pathLst>
                <a:path w="1691640" h="64134" extrusionOk="0">
                  <a:moveTo>
                    <a:pt x="0" y="64008"/>
                  </a:moveTo>
                  <a:lnTo>
                    <a:pt x="1691639" y="64008"/>
                  </a:lnTo>
                  <a:lnTo>
                    <a:pt x="1691639" y="0"/>
                  </a:lnTo>
                  <a:lnTo>
                    <a:pt x="0" y="0"/>
                  </a:lnTo>
                  <a:lnTo>
                    <a:pt x="0" y="64008"/>
                  </a:lnTo>
                  <a:close/>
                </a:path>
              </a:pathLst>
            </a:custGeom>
            <a:noFill/>
            <a:ln w="12700" cap="flat" cmpd="sng">
              <a:solidFill>
                <a:srgbClr val="1E7D3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8" name="Google Shape;248;p20"/>
            <p:cNvSpPr/>
            <p:nvPr/>
          </p:nvSpPr>
          <p:spPr>
            <a:xfrm>
              <a:off x="5704713" y="2468880"/>
              <a:ext cx="1564004" cy="18414"/>
            </a:xfrm>
            <a:custGeom>
              <a:avLst/>
              <a:gdLst/>
              <a:ahLst/>
              <a:cxnLst/>
              <a:rect l="l" t="t" r="r" b="b"/>
              <a:pathLst>
                <a:path w="1564004" h="18414" extrusionOk="0">
                  <a:moveTo>
                    <a:pt x="1563623" y="0"/>
                  </a:moveTo>
                  <a:lnTo>
                    <a:pt x="0" y="0"/>
                  </a:lnTo>
                  <a:lnTo>
                    <a:pt x="0" y="18287"/>
                  </a:lnTo>
                  <a:lnTo>
                    <a:pt x="1563623" y="18287"/>
                  </a:lnTo>
                  <a:lnTo>
                    <a:pt x="1563623" y="0"/>
                  </a:lnTo>
                  <a:close/>
                </a:path>
              </a:pathLst>
            </a:custGeom>
            <a:solidFill>
              <a:srgbClr val="DFE6E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49" name="Google Shape;249;p20"/>
            <p:cNvSpPr/>
            <p:nvPr/>
          </p:nvSpPr>
          <p:spPr>
            <a:xfrm>
              <a:off x="5704713" y="2468880"/>
              <a:ext cx="1564004" cy="18414"/>
            </a:xfrm>
            <a:custGeom>
              <a:avLst/>
              <a:gdLst/>
              <a:ahLst/>
              <a:cxnLst/>
              <a:rect l="l" t="t" r="r" b="b"/>
              <a:pathLst>
                <a:path w="1564004" h="18414" extrusionOk="0">
                  <a:moveTo>
                    <a:pt x="0" y="18287"/>
                  </a:moveTo>
                  <a:lnTo>
                    <a:pt x="1563623" y="18287"/>
                  </a:lnTo>
                  <a:lnTo>
                    <a:pt x="1563623" y="0"/>
                  </a:lnTo>
                  <a:lnTo>
                    <a:pt x="0" y="0"/>
                  </a:lnTo>
                  <a:lnTo>
                    <a:pt x="0" y="18287"/>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50" name="Google Shape;250;p20"/>
          <p:cNvSpPr txBox="1"/>
          <p:nvPr/>
        </p:nvSpPr>
        <p:spPr>
          <a:xfrm>
            <a:off x="5647054" y="1113806"/>
            <a:ext cx="1678800" cy="1707000"/>
          </a:xfrm>
          <a:prstGeom prst="rect">
            <a:avLst/>
          </a:prstGeom>
          <a:noFill/>
          <a:ln>
            <a:noFill/>
          </a:ln>
        </p:spPr>
        <p:txBody>
          <a:bodyPr spcFirstLastPara="1" wrap="square" lIns="0" tIns="82550" rIns="0" bIns="0" anchor="t" anchorCtr="0">
            <a:spAutoFit/>
          </a:bodyPr>
          <a:lstStyle/>
          <a:p>
            <a:pPr marL="149860" lvl="0" indent="0" algn="l" rtl="0">
              <a:lnSpc>
                <a:spcPct val="100000"/>
              </a:lnSpc>
              <a:spcBef>
                <a:spcPts val="0"/>
              </a:spcBef>
              <a:spcAft>
                <a:spcPts val="0"/>
              </a:spcAft>
              <a:buNone/>
            </a:pPr>
            <a:r>
              <a:rPr lang="en-US" sz="850" b="1">
                <a:solidFill>
                  <a:srgbClr val="63748A"/>
                </a:solidFill>
                <a:latin typeface="Calibri"/>
                <a:ea typeface="Calibri"/>
                <a:cs typeface="Calibri"/>
                <a:sym typeface="Calibri"/>
              </a:rPr>
              <a:t>03</a:t>
            </a:r>
            <a:endParaRPr sz="850">
              <a:latin typeface="Calibri"/>
              <a:ea typeface="Calibri"/>
              <a:cs typeface="Calibri"/>
              <a:sym typeface="Calibri"/>
            </a:endParaRPr>
          </a:p>
          <a:p>
            <a:pPr marL="149860" lvl="0" indent="0" algn="l" rtl="0">
              <a:lnSpc>
                <a:spcPct val="100000"/>
              </a:lnSpc>
              <a:spcBef>
                <a:spcPts val="605"/>
              </a:spcBef>
              <a:spcAft>
                <a:spcPts val="0"/>
              </a:spcAft>
              <a:buNone/>
            </a:pPr>
            <a:r>
              <a:rPr lang="en-US" sz="950" b="1">
                <a:solidFill>
                  <a:srgbClr val="1B2A49"/>
                </a:solidFill>
                <a:latin typeface="Calibri"/>
                <a:ea typeface="Calibri"/>
                <a:cs typeface="Calibri"/>
                <a:sym typeface="Calibri"/>
              </a:rPr>
              <a:t>Revenue vs e-Way Bills</a:t>
            </a:r>
            <a:endParaRPr sz="950">
              <a:latin typeface="Calibri"/>
              <a:ea typeface="Calibri"/>
              <a:cs typeface="Calibri"/>
              <a:sym typeface="Calibri"/>
            </a:endParaRPr>
          </a:p>
          <a:p>
            <a:pPr marL="149860" lvl="0" indent="0" algn="l" rtl="0">
              <a:lnSpc>
                <a:spcPct val="100000"/>
              </a:lnSpc>
              <a:spcBef>
                <a:spcPts val="415"/>
              </a:spcBef>
              <a:spcAft>
                <a:spcPts val="0"/>
              </a:spcAft>
              <a:buNone/>
            </a:pPr>
            <a:r>
              <a:rPr lang="en-US" sz="2200" b="1">
                <a:solidFill>
                  <a:srgbClr val="1E7D34"/>
                </a:solidFill>
                <a:latin typeface="Calibri"/>
                <a:ea typeface="Calibri"/>
                <a:cs typeface="Calibri"/>
                <a:sym typeface="Calibri"/>
              </a:rPr>
              <a:t>3.2%</a:t>
            </a:r>
            <a:endParaRPr sz="2200">
              <a:latin typeface="Calibri"/>
              <a:ea typeface="Calibri"/>
              <a:cs typeface="Calibri"/>
              <a:sym typeface="Calibri"/>
            </a:endParaRPr>
          </a:p>
          <a:p>
            <a:pPr marL="149860" marR="154940" lvl="0" indent="0" algn="l" rtl="0">
              <a:lnSpc>
                <a:spcPct val="100000"/>
              </a:lnSpc>
              <a:spcBef>
                <a:spcPts val="1245"/>
              </a:spcBef>
              <a:spcAft>
                <a:spcPts val="0"/>
              </a:spcAft>
              <a:buNone/>
            </a:pPr>
            <a:r>
              <a:rPr lang="en-US" sz="750" i="1">
                <a:solidFill>
                  <a:srgbClr val="63748A"/>
                </a:solidFill>
                <a:latin typeface="Calibri"/>
                <a:ea typeface="Calibri"/>
                <a:cs typeface="Calibri"/>
                <a:sym typeface="Calibri"/>
              </a:rPr>
              <a:t>Karnataka: comparable | Gujarat: 2.1%</a:t>
            </a:r>
            <a:endParaRPr sz="750">
              <a:latin typeface="Calibri"/>
              <a:ea typeface="Calibri"/>
              <a:cs typeface="Calibri"/>
              <a:sym typeface="Calibri"/>
            </a:endParaRPr>
          </a:p>
          <a:p>
            <a:pPr marL="0" lvl="0" indent="0" algn="l" rtl="0">
              <a:lnSpc>
                <a:spcPct val="100000"/>
              </a:lnSpc>
              <a:spcBef>
                <a:spcPts val="0"/>
              </a:spcBef>
              <a:spcAft>
                <a:spcPts val="0"/>
              </a:spcAft>
              <a:buNone/>
            </a:pPr>
            <a:endParaRPr sz="750">
              <a:latin typeface="Calibri"/>
              <a:ea typeface="Calibri"/>
              <a:cs typeface="Calibri"/>
              <a:sym typeface="Calibri"/>
            </a:endParaRPr>
          </a:p>
          <a:p>
            <a:pPr marL="0" lvl="0" indent="0" algn="l" rtl="0">
              <a:lnSpc>
                <a:spcPct val="100000"/>
              </a:lnSpc>
              <a:spcBef>
                <a:spcPts val="185"/>
              </a:spcBef>
              <a:spcAft>
                <a:spcPts val="0"/>
              </a:spcAft>
              <a:buNone/>
            </a:pPr>
            <a:endParaRPr sz="750">
              <a:latin typeface="Calibri"/>
              <a:ea typeface="Calibri"/>
              <a:cs typeface="Calibri"/>
              <a:sym typeface="Calibri"/>
            </a:endParaRPr>
          </a:p>
          <a:p>
            <a:pPr marL="241935" marR="479425" lvl="0" indent="-92075" algn="l" rtl="0">
              <a:lnSpc>
                <a:spcPct val="100000"/>
              </a:lnSpc>
              <a:spcBef>
                <a:spcPts val="0"/>
              </a:spcBef>
              <a:spcAft>
                <a:spcPts val="0"/>
              </a:spcAft>
              <a:buClr>
                <a:srgbClr val="1E7D34"/>
              </a:buClr>
              <a:buSzPts val="750"/>
              <a:buFont typeface="Quattrocento Sans"/>
              <a:buChar char="✓"/>
            </a:pPr>
            <a:r>
              <a:rPr lang="en-US" sz="750" b="1">
                <a:solidFill>
                  <a:srgbClr val="1E7D34"/>
                </a:solidFill>
                <a:latin typeface="Calibri"/>
                <a:ea typeface="Calibri"/>
                <a:cs typeface="Calibri"/>
                <a:sym typeface="Calibri"/>
              </a:rPr>
              <a:t>Bright spot — e-way bill enforcement is efficient</a:t>
            </a:r>
            <a:endParaRPr sz="750">
              <a:latin typeface="Calibri"/>
              <a:ea typeface="Calibri"/>
              <a:cs typeface="Calibri"/>
              <a:sym typeface="Calibri"/>
            </a:endParaRPr>
          </a:p>
        </p:txBody>
      </p:sp>
      <p:grpSp>
        <p:nvGrpSpPr>
          <p:cNvPr id="251" name="Google Shape;251;p20"/>
          <p:cNvGrpSpPr/>
          <p:nvPr/>
        </p:nvGrpSpPr>
        <p:grpSpPr>
          <a:xfrm>
            <a:off x="2759964" y="2852940"/>
            <a:ext cx="1905762" cy="2114550"/>
            <a:chOff x="2759964" y="2852940"/>
            <a:chExt cx="1905762" cy="2114550"/>
          </a:xfrm>
        </p:grpSpPr>
        <p:pic>
          <p:nvPicPr>
            <p:cNvPr id="252" name="Google Shape;252;p20"/>
            <p:cNvPicPr preferRelativeResize="0"/>
            <p:nvPr/>
          </p:nvPicPr>
          <p:blipFill rotWithShape="1">
            <a:blip r:embed="rId3">
              <a:alphaModFix/>
            </a:blip>
            <a:srcRect/>
            <a:stretch/>
          </p:blipFill>
          <p:spPr>
            <a:xfrm>
              <a:off x="2759964" y="2852940"/>
              <a:ext cx="1905762" cy="2114550"/>
            </a:xfrm>
            <a:prstGeom prst="rect">
              <a:avLst/>
            </a:prstGeom>
            <a:noFill/>
            <a:ln>
              <a:noFill/>
            </a:ln>
          </p:spPr>
        </p:pic>
        <p:sp>
          <p:nvSpPr>
            <p:cNvPr id="253" name="Google Shape;253;p20"/>
            <p:cNvSpPr/>
            <p:nvPr/>
          </p:nvSpPr>
          <p:spPr>
            <a:xfrm>
              <a:off x="2897505" y="2999232"/>
              <a:ext cx="1691639" cy="1838325"/>
            </a:xfrm>
            <a:custGeom>
              <a:avLst/>
              <a:gdLst/>
              <a:ahLst/>
              <a:cxnLst/>
              <a:rect l="l" t="t" r="r" b="b"/>
              <a:pathLst>
                <a:path w="1691639" h="1838325" extrusionOk="0">
                  <a:moveTo>
                    <a:pt x="0" y="1837944"/>
                  </a:moveTo>
                  <a:lnTo>
                    <a:pt x="1691640" y="1837944"/>
                  </a:lnTo>
                  <a:lnTo>
                    <a:pt x="1691640" y="0"/>
                  </a:lnTo>
                  <a:lnTo>
                    <a:pt x="0" y="0"/>
                  </a:lnTo>
                  <a:lnTo>
                    <a:pt x="0" y="1837944"/>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4" name="Google Shape;254;p20"/>
            <p:cNvSpPr/>
            <p:nvPr/>
          </p:nvSpPr>
          <p:spPr>
            <a:xfrm>
              <a:off x="2897505" y="2935224"/>
              <a:ext cx="1691639" cy="1902460"/>
            </a:xfrm>
            <a:custGeom>
              <a:avLst/>
              <a:gdLst/>
              <a:ahLst/>
              <a:cxnLst/>
              <a:rect l="l" t="t" r="r" b="b"/>
              <a:pathLst>
                <a:path w="1691639" h="1902460" extrusionOk="0">
                  <a:moveTo>
                    <a:pt x="0" y="1901952"/>
                  </a:moveTo>
                  <a:lnTo>
                    <a:pt x="1691640" y="1901952"/>
                  </a:lnTo>
                  <a:lnTo>
                    <a:pt x="1691640" y="0"/>
                  </a:lnTo>
                  <a:lnTo>
                    <a:pt x="0" y="0"/>
                  </a:lnTo>
                  <a:lnTo>
                    <a:pt x="0" y="1901952"/>
                  </a:lnTo>
                  <a:close/>
                </a:path>
              </a:pathLst>
            </a:custGeom>
            <a:noFill/>
            <a:ln w="12675"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5" name="Google Shape;255;p20"/>
            <p:cNvSpPr/>
            <p:nvPr/>
          </p:nvSpPr>
          <p:spPr>
            <a:xfrm>
              <a:off x="2897505" y="2935224"/>
              <a:ext cx="1691639" cy="64135"/>
            </a:xfrm>
            <a:custGeom>
              <a:avLst/>
              <a:gdLst/>
              <a:ahLst/>
              <a:cxnLst/>
              <a:rect l="l" t="t" r="r" b="b"/>
              <a:pathLst>
                <a:path w="1691639" h="64135" extrusionOk="0">
                  <a:moveTo>
                    <a:pt x="1691640" y="0"/>
                  </a:moveTo>
                  <a:lnTo>
                    <a:pt x="0" y="0"/>
                  </a:lnTo>
                  <a:lnTo>
                    <a:pt x="0" y="64007"/>
                  </a:lnTo>
                  <a:lnTo>
                    <a:pt x="1691640" y="64007"/>
                  </a:lnTo>
                  <a:lnTo>
                    <a:pt x="1691640" y="0"/>
                  </a:lnTo>
                  <a:close/>
                </a:path>
              </a:pathLst>
            </a:custGeom>
            <a:solidFill>
              <a:srgbClr val="C0392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56" name="Google Shape;256;p20"/>
            <p:cNvSpPr/>
            <p:nvPr/>
          </p:nvSpPr>
          <p:spPr>
            <a:xfrm>
              <a:off x="2897505" y="2935224"/>
              <a:ext cx="1691639" cy="64135"/>
            </a:xfrm>
            <a:custGeom>
              <a:avLst/>
              <a:gdLst/>
              <a:ahLst/>
              <a:cxnLst/>
              <a:rect l="l" t="t" r="r" b="b"/>
              <a:pathLst>
                <a:path w="1691639" h="64135" extrusionOk="0">
                  <a:moveTo>
                    <a:pt x="0" y="64007"/>
                  </a:moveTo>
                  <a:lnTo>
                    <a:pt x="1691640" y="64007"/>
                  </a:lnTo>
                  <a:lnTo>
                    <a:pt x="1691640" y="0"/>
                  </a:lnTo>
                  <a:lnTo>
                    <a:pt x="0" y="0"/>
                  </a:lnTo>
                  <a:lnTo>
                    <a:pt x="0" y="64007"/>
                  </a:lnTo>
                  <a:close/>
                </a:path>
              </a:pathLst>
            </a:custGeom>
            <a:noFill/>
            <a:ln w="12700" cap="flat" cmpd="sng">
              <a:solidFill>
                <a:srgbClr val="C0392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57" name="Google Shape;257;p20"/>
          <p:cNvSpPr txBox="1"/>
          <p:nvPr/>
        </p:nvSpPr>
        <p:spPr>
          <a:xfrm>
            <a:off x="3053460" y="2987906"/>
            <a:ext cx="976500" cy="1165200"/>
          </a:xfrm>
          <a:prstGeom prst="rect">
            <a:avLst/>
          </a:prstGeom>
          <a:noFill/>
          <a:ln>
            <a:noFill/>
          </a:ln>
        </p:spPr>
        <p:txBody>
          <a:bodyPr spcFirstLastPara="1" wrap="square" lIns="0" tIns="83175" rIns="0" bIns="0" anchor="t" anchorCtr="0">
            <a:spAutoFit/>
          </a:bodyPr>
          <a:lstStyle/>
          <a:p>
            <a:pPr marL="0" lvl="0" indent="0" algn="l" rtl="0">
              <a:lnSpc>
                <a:spcPct val="100000"/>
              </a:lnSpc>
              <a:spcBef>
                <a:spcPts val="0"/>
              </a:spcBef>
              <a:spcAft>
                <a:spcPts val="0"/>
              </a:spcAft>
              <a:buNone/>
            </a:pPr>
            <a:r>
              <a:rPr lang="en-US" sz="850" b="1">
                <a:solidFill>
                  <a:srgbClr val="63748A"/>
                </a:solidFill>
                <a:latin typeface="Calibri"/>
                <a:ea typeface="Calibri"/>
                <a:cs typeface="Calibri"/>
                <a:sym typeface="Calibri"/>
              </a:rPr>
              <a:t>04</a:t>
            </a:r>
            <a:endParaRPr sz="850">
              <a:latin typeface="Calibri"/>
              <a:ea typeface="Calibri"/>
              <a:cs typeface="Calibri"/>
              <a:sym typeface="Calibri"/>
            </a:endParaRPr>
          </a:p>
          <a:p>
            <a:pPr marL="0" lvl="0" indent="0" algn="l" rtl="0">
              <a:lnSpc>
                <a:spcPct val="100000"/>
              </a:lnSpc>
              <a:spcBef>
                <a:spcPts val="610"/>
              </a:spcBef>
              <a:spcAft>
                <a:spcPts val="0"/>
              </a:spcAft>
              <a:buNone/>
            </a:pPr>
            <a:r>
              <a:rPr lang="en-US" sz="950" b="1">
                <a:solidFill>
                  <a:srgbClr val="1B2A49"/>
                </a:solidFill>
                <a:latin typeface="Calibri"/>
                <a:ea typeface="Calibri"/>
                <a:cs typeface="Calibri"/>
                <a:sym typeface="Calibri"/>
              </a:rPr>
              <a:t>B2C Ratio</a:t>
            </a:r>
            <a:endParaRPr sz="950">
              <a:latin typeface="Calibri"/>
              <a:ea typeface="Calibri"/>
              <a:cs typeface="Calibri"/>
              <a:sym typeface="Calibri"/>
            </a:endParaRPr>
          </a:p>
          <a:p>
            <a:pPr marL="0" lvl="0" indent="0" algn="l" rtl="0">
              <a:lnSpc>
                <a:spcPct val="100000"/>
              </a:lnSpc>
              <a:spcBef>
                <a:spcPts val="414"/>
              </a:spcBef>
              <a:spcAft>
                <a:spcPts val="0"/>
              </a:spcAft>
              <a:buNone/>
            </a:pPr>
            <a:r>
              <a:rPr lang="en-US" sz="2200" b="1">
                <a:solidFill>
                  <a:srgbClr val="C0392B"/>
                </a:solidFill>
                <a:latin typeface="Calibri"/>
                <a:ea typeface="Calibri"/>
                <a:cs typeface="Calibri"/>
                <a:sym typeface="Calibri"/>
              </a:rPr>
              <a:t>7.0×</a:t>
            </a:r>
            <a:endParaRPr sz="2200">
              <a:latin typeface="Calibri"/>
              <a:ea typeface="Calibri"/>
              <a:cs typeface="Calibri"/>
              <a:sym typeface="Calibri"/>
            </a:endParaRPr>
          </a:p>
          <a:p>
            <a:pPr marL="0" lvl="0" indent="0" algn="l" rtl="0">
              <a:lnSpc>
                <a:spcPct val="100000"/>
              </a:lnSpc>
              <a:spcBef>
                <a:spcPts val="1689"/>
              </a:spcBef>
              <a:spcAft>
                <a:spcPts val="0"/>
              </a:spcAft>
              <a:buNone/>
            </a:pPr>
            <a:r>
              <a:rPr lang="en-US" sz="750" i="1">
                <a:solidFill>
                  <a:srgbClr val="63748A"/>
                </a:solidFill>
                <a:latin typeface="Calibri"/>
                <a:ea typeface="Calibri"/>
                <a:cs typeface="Calibri"/>
                <a:sym typeface="Calibri"/>
              </a:rPr>
              <a:t>Normal benchmark: 4.5×</a:t>
            </a:r>
            <a:endParaRPr sz="750">
              <a:latin typeface="Calibri"/>
              <a:ea typeface="Calibri"/>
              <a:cs typeface="Calibri"/>
              <a:sym typeface="Calibri"/>
            </a:endParaRPr>
          </a:p>
        </p:txBody>
      </p:sp>
      <p:grpSp>
        <p:nvGrpSpPr>
          <p:cNvPr id="258" name="Google Shape;258;p20"/>
          <p:cNvGrpSpPr/>
          <p:nvPr/>
        </p:nvGrpSpPr>
        <p:grpSpPr>
          <a:xfrm>
            <a:off x="2961513" y="2852940"/>
            <a:ext cx="3533013" cy="2114550"/>
            <a:chOff x="2961513" y="2852940"/>
            <a:chExt cx="3533013" cy="2114550"/>
          </a:xfrm>
        </p:grpSpPr>
        <p:sp>
          <p:nvSpPr>
            <p:cNvPr id="259" name="Google Shape;259;p20"/>
            <p:cNvSpPr/>
            <p:nvPr/>
          </p:nvSpPr>
          <p:spPr>
            <a:xfrm>
              <a:off x="2961513" y="4343400"/>
              <a:ext cx="1564004" cy="18414"/>
            </a:xfrm>
            <a:custGeom>
              <a:avLst/>
              <a:gdLst/>
              <a:ahLst/>
              <a:cxnLst/>
              <a:rect l="l" t="t" r="r" b="b"/>
              <a:pathLst>
                <a:path w="1564004" h="18414" extrusionOk="0">
                  <a:moveTo>
                    <a:pt x="1563624" y="0"/>
                  </a:moveTo>
                  <a:lnTo>
                    <a:pt x="0" y="0"/>
                  </a:lnTo>
                  <a:lnTo>
                    <a:pt x="0" y="18287"/>
                  </a:lnTo>
                  <a:lnTo>
                    <a:pt x="1563624" y="18287"/>
                  </a:lnTo>
                  <a:lnTo>
                    <a:pt x="1563624" y="0"/>
                  </a:lnTo>
                  <a:close/>
                </a:path>
              </a:pathLst>
            </a:custGeom>
            <a:solidFill>
              <a:srgbClr val="DFE6E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60" name="Google Shape;260;p20"/>
            <p:cNvSpPr/>
            <p:nvPr/>
          </p:nvSpPr>
          <p:spPr>
            <a:xfrm>
              <a:off x="2961513" y="4343400"/>
              <a:ext cx="1564004" cy="18414"/>
            </a:xfrm>
            <a:custGeom>
              <a:avLst/>
              <a:gdLst/>
              <a:ahLst/>
              <a:cxnLst/>
              <a:rect l="l" t="t" r="r" b="b"/>
              <a:pathLst>
                <a:path w="1564004" h="18414" extrusionOk="0">
                  <a:moveTo>
                    <a:pt x="0" y="18287"/>
                  </a:moveTo>
                  <a:lnTo>
                    <a:pt x="1563624" y="18287"/>
                  </a:lnTo>
                  <a:lnTo>
                    <a:pt x="1563624" y="0"/>
                  </a:lnTo>
                  <a:lnTo>
                    <a:pt x="0" y="0"/>
                  </a:lnTo>
                  <a:lnTo>
                    <a:pt x="0" y="18287"/>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61" name="Google Shape;261;p20"/>
            <p:cNvPicPr preferRelativeResize="0"/>
            <p:nvPr/>
          </p:nvPicPr>
          <p:blipFill rotWithShape="1">
            <a:blip r:embed="rId3">
              <a:alphaModFix/>
            </a:blip>
            <a:srcRect/>
            <a:stretch/>
          </p:blipFill>
          <p:spPr>
            <a:xfrm>
              <a:off x="4588764" y="2852940"/>
              <a:ext cx="1905762" cy="2114550"/>
            </a:xfrm>
            <a:prstGeom prst="rect">
              <a:avLst/>
            </a:prstGeom>
            <a:noFill/>
            <a:ln>
              <a:noFill/>
            </a:ln>
          </p:spPr>
        </p:pic>
        <p:sp>
          <p:nvSpPr>
            <p:cNvPr id="262" name="Google Shape;262;p20"/>
            <p:cNvSpPr/>
            <p:nvPr/>
          </p:nvSpPr>
          <p:spPr>
            <a:xfrm>
              <a:off x="4726305" y="2999232"/>
              <a:ext cx="1691639" cy="1838325"/>
            </a:xfrm>
            <a:custGeom>
              <a:avLst/>
              <a:gdLst/>
              <a:ahLst/>
              <a:cxnLst/>
              <a:rect l="l" t="t" r="r" b="b"/>
              <a:pathLst>
                <a:path w="1691639" h="1838325" extrusionOk="0">
                  <a:moveTo>
                    <a:pt x="0" y="1837944"/>
                  </a:moveTo>
                  <a:lnTo>
                    <a:pt x="1691639" y="1837944"/>
                  </a:lnTo>
                  <a:lnTo>
                    <a:pt x="1691639" y="0"/>
                  </a:lnTo>
                  <a:lnTo>
                    <a:pt x="0" y="0"/>
                  </a:lnTo>
                  <a:lnTo>
                    <a:pt x="0" y="1837944"/>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63" name="Google Shape;263;p20"/>
            <p:cNvSpPr/>
            <p:nvPr/>
          </p:nvSpPr>
          <p:spPr>
            <a:xfrm>
              <a:off x="4726305" y="2935224"/>
              <a:ext cx="1691639" cy="1902460"/>
            </a:xfrm>
            <a:custGeom>
              <a:avLst/>
              <a:gdLst/>
              <a:ahLst/>
              <a:cxnLst/>
              <a:rect l="l" t="t" r="r" b="b"/>
              <a:pathLst>
                <a:path w="1691639" h="1902460" extrusionOk="0">
                  <a:moveTo>
                    <a:pt x="0" y="1901952"/>
                  </a:moveTo>
                  <a:lnTo>
                    <a:pt x="1691639" y="1901952"/>
                  </a:lnTo>
                  <a:lnTo>
                    <a:pt x="1691639" y="0"/>
                  </a:lnTo>
                  <a:lnTo>
                    <a:pt x="0" y="0"/>
                  </a:lnTo>
                  <a:lnTo>
                    <a:pt x="0" y="1901952"/>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64" name="Google Shape;264;p20"/>
            <p:cNvSpPr/>
            <p:nvPr/>
          </p:nvSpPr>
          <p:spPr>
            <a:xfrm>
              <a:off x="4726305" y="2935224"/>
              <a:ext cx="1691639" cy="64135"/>
            </a:xfrm>
            <a:custGeom>
              <a:avLst/>
              <a:gdLst/>
              <a:ahLst/>
              <a:cxnLst/>
              <a:rect l="l" t="t" r="r" b="b"/>
              <a:pathLst>
                <a:path w="1691639" h="64135" extrusionOk="0">
                  <a:moveTo>
                    <a:pt x="1691639" y="0"/>
                  </a:moveTo>
                  <a:lnTo>
                    <a:pt x="0" y="0"/>
                  </a:lnTo>
                  <a:lnTo>
                    <a:pt x="0" y="64007"/>
                  </a:lnTo>
                  <a:lnTo>
                    <a:pt x="1691639" y="64007"/>
                  </a:lnTo>
                  <a:lnTo>
                    <a:pt x="1691639" y="0"/>
                  </a:lnTo>
                  <a:close/>
                </a:path>
              </a:pathLst>
            </a:custGeom>
            <a:solidFill>
              <a:srgbClr val="C0392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65" name="Google Shape;265;p20"/>
            <p:cNvSpPr/>
            <p:nvPr/>
          </p:nvSpPr>
          <p:spPr>
            <a:xfrm>
              <a:off x="4726305" y="2935224"/>
              <a:ext cx="1691639" cy="64135"/>
            </a:xfrm>
            <a:custGeom>
              <a:avLst/>
              <a:gdLst/>
              <a:ahLst/>
              <a:cxnLst/>
              <a:rect l="l" t="t" r="r" b="b"/>
              <a:pathLst>
                <a:path w="1691639" h="64135" extrusionOk="0">
                  <a:moveTo>
                    <a:pt x="0" y="64007"/>
                  </a:moveTo>
                  <a:lnTo>
                    <a:pt x="1691639" y="64007"/>
                  </a:lnTo>
                  <a:lnTo>
                    <a:pt x="1691639" y="0"/>
                  </a:lnTo>
                  <a:lnTo>
                    <a:pt x="0" y="0"/>
                  </a:lnTo>
                  <a:lnTo>
                    <a:pt x="0" y="64007"/>
                  </a:lnTo>
                  <a:close/>
                </a:path>
              </a:pathLst>
            </a:custGeom>
            <a:noFill/>
            <a:ln w="12700" cap="flat" cmpd="sng">
              <a:solidFill>
                <a:srgbClr val="C0392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66" name="Google Shape;266;p20"/>
          <p:cNvSpPr txBox="1"/>
          <p:nvPr/>
        </p:nvSpPr>
        <p:spPr>
          <a:xfrm>
            <a:off x="3053460" y="4440123"/>
            <a:ext cx="1081500" cy="255300"/>
          </a:xfrm>
          <a:prstGeom prst="rect">
            <a:avLst/>
          </a:prstGeom>
          <a:noFill/>
          <a:ln>
            <a:noFill/>
          </a:ln>
        </p:spPr>
        <p:txBody>
          <a:bodyPr spcFirstLastPara="1" wrap="square" lIns="0" tIns="13325" rIns="0" bIns="0" anchor="t" anchorCtr="0">
            <a:spAutoFit/>
          </a:bodyPr>
          <a:lstStyle/>
          <a:p>
            <a:pPr marL="0" lvl="0" indent="0" algn="l" rtl="0">
              <a:lnSpc>
                <a:spcPct val="100000"/>
              </a:lnSpc>
              <a:spcBef>
                <a:spcPts val="0"/>
              </a:spcBef>
              <a:spcAft>
                <a:spcPts val="0"/>
              </a:spcAft>
              <a:buNone/>
            </a:pPr>
            <a:r>
              <a:rPr lang="en-US" sz="750" b="1">
                <a:solidFill>
                  <a:srgbClr val="C0392B"/>
                </a:solidFill>
                <a:latin typeface="Calibri"/>
                <a:ea typeface="Calibri"/>
                <a:cs typeface="Calibri"/>
                <a:sym typeface="Calibri"/>
              </a:rPr>
              <a:t>Fake supply chain layers —</a:t>
            </a:r>
            <a:endParaRPr sz="750">
              <a:latin typeface="Calibri"/>
              <a:ea typeface="Calibri"/>
              <a:cs typeface="Calibri"/>
              <a:sym typeface="Calibri"/>
            </a:endParaRPr>
          </a:p>
          <a:p>
            <a:pPr marL="0" lvl="0" indent="0" algn="l" rtl="0">
              <a:lnSpc>
                <a:spcPct val="100000"/>
              </a:lnSpc>
              <a:spcBef>
                <a:spcPts val="0"/>
              </a:spcBef>
              <a:spcAft>
                <a:spcPts val="0"/>
              </a:spcAft>
              <a:buNone/>
            </a:pPr>
            <a:r>
              <a:rPr lang="en-US" sz="750" b="1">
                <a:solidFill>
                  <a:srgbClr val="C0392B"/>
                </a:solidFill>
                <a:latin typeface="Calibri"/>
                <a:ea typeface="Calibri"/>
                <a:cs typeface="Calibri"/>
                <a:sym typeface="Calibri"/>
              </a:rPr>
              <a:t>significant revenue loss</a:t>
            </a:r>
            <a:endParaRPr sz="750">
              <a:latin typeface="Calibri"/>
              <a:ea typeface="Calibri"/>
              <a:cs typeface="Calibri"/>
              <a:sym typeface="Calibri"/>
            </a:endParaRPr>
          </a:p>
        </p:txBody>
      </p:sp>
      <p:sp>
        <p:nvSpPr>
          <p:cNvPr id="267" name="Google Shape;267;p20"/>
          <p:cNvSpPr txBox="1"/>
          <p:nvPr/>
        </p:nvSpPr>
        <p:spPr>
          <a:xfrm>
            <a:off x="4882641" y="2987906"/>
            <a:ext cx="1193700" cy="1223100"/>
          </a:xfrm>
          <a:prstGeom prst="rect">
            <a:avLst/>
          </a:prstGeom>
          <a:noFill/>
          <a:ln>
            <a:noFill/>
          </a:ln>
        </p:spPr>
        <p:txBody>
          <a:bodyPr spcFirstLastPara="1" wrap="square" lIns="0" tIns="83175" rIns="0" bIns="0" anchor="t" anchorCtr="0">
            <a:spAutoFit/>
          </a:bodyPr>
          <a:lstStyle/>
          <a:p>
            <a:pPr marL="0" lvl="0" indent="0" algn="l" rtl="0">
              <a:lnSpc>
                <a:spcPct val="100000"/>
              </a:lnSpc>
              <a:spcBef>
                <a:spcPts val="0"/>
              </a:spcBef>
              <a:spcAft>
                <a:spcPts val="0"/>
              </a:spcAft>
              <a:buNone/>
            </a:pPr>
            <a:r>
              <a:rPr lang="en-US" sz="850" b="1">
                <a:solidFill>
                  <a:srgbClr val="63748A"/>
                </a:solidFill>
                <a:latin typeface="Calibri"/>
                <a:ea typeface="Calibri"/>
                <a:cs typeface="Calibri"/>
                <a:sym typeface="Calibri"/>
              </a:rPr>
              <a:t>05</a:t>
            </a:r>
            <a:endParaRPr sz="850">
              <a:latin typeface="Calibri"/>
              <a:ea typeface="Calibri"/>
              <a:cs typeface="Calibri"/>
              <a:sym typeface="Calibri"/>
            </a:endParaRPr>
          </a:p>
          <a:p>
            <a:pPr marL="0" lvl="0" indent="0" algn="l" rtl="0">
              <a:lnSpc>
                <a:spcPct val="100000"/>
              </a:lnSpc>
              <a:spcBef>
                <a:spcPts val="610"/>
              </a:spcBef>
              <a:spcAft>
                <a:spcPts val="0"/>
              </a:spcAft>
              <a:buNone/>
            </a:pPr>
            <a:r>
              <a:rPr lang="en-US" sz="950" b="1">
                <a:solidFill>
                  <a:srgbClr val="1B2A49"/>
                </a:solidFill>
                <a:latin typeface="Calibri"/>
                <a:ea typeface="Calibri"/>
                <a:cs typeface="Calibri"/>
                <a:sym typeface="Calibri"/>
              </a:rPr>
              <a:t>Anomaly Detection</a:t>
            </a:r>
            <a:endParaRPr sz="950">
              <a:latin typeface="Calibri"/>
              <a:ea typeface="Calibri"/>
              <a:cs typeface="Calibri"/>
              <a:sym typeface="Calibri"/>
            </a:endParaRPr>
          </a:p>
          <a:p>
            <a:pPr marL="0" lvl="0" indent="0" algn="l" rtl="0">
              <a:lnSpc>
                <a:spcPct val="100000"/>
              </a:lnSpc>
              <a:spcBef>
                <a:spcPts val="414"/>
              </a:spcBef>
              <a:spcAft>
                <a:spcPts val="0"/>
              </a:spcAft>
              <a:buNone/>
            </a:pPr>
            <a:r>
              <a:rPr lang="en-US" sz="2200" b="1">
                <a:solidFill>
                  <a:srgbClr val="C0392B"/>
                </a:solidFill>
                <a:latin typeface="Calibri"/>
                <a:ea typeface="Calibri"/>
                <a:cs typeface="Calibri"/>
                <a:sym typeface="Calibri"/>
              </a:rPr>
              <a:t>5.37L</a:t>
            </a:r>
            <a:endParaRPr sz="2200">
              <a:latin typeface="Calibri"/>
              <a:ea typeface="Calibri"/>
              <a:cs typeface="Calibri"/>
              <a:sym typeface="Calibri"/>
            </a:endParaRPr>
          </a:p>
          <a:p>
            <a:pPr marL="0" lvl="0" indent="0" algn="l" rtl="0">
              <a:lnSpc>
                <a:spcPct val="100000"/>
              </a:lnSpc>
              <a:spcBef>
                <a:spcPts val="1245"/>
              </a:spcBef>
              <a:spcAft>
                <a:spcPts val="0"/>
              </a:spcAft>
              <a:buNone/>
            </a:pPr>
            <a:r>
              <a:rPr lang="en-US" sz="750" i="1">
                <a:solidFill>
                  <a:srgbClr val="63748A"/>
                </a:solidFill>
                <a:latin typeface="Calibri"/>
                <a:ea typeface="Calibri"/>
                <a:cs typeface="Calibri"/>
                <a:sym typeface="Calibri"/>
              </a:rPr>
              <a:t>1.22L cash taxpayers paid only</a:t>
            </a:r>
            <a:endParaRPr sz="750">
              <a:latin typeface="Calibri"/>
              <a:ea typeface="Calibri"/>
              <a:cs typeface="Calibri"/>
              <a:sym typeface="Calibri"/>
            </a:endParaRPr>
          </a:p>
          <a:p>
            <a:pPr marL="0" lvl="0" indent="0" algn="l" rtl="0">
              <a:lnSpc>
                <a:spcPct val="100000"/>
              </a:lnSpc>
              <a:spcBef>
                <a:spcPts val="0"/>
              </a:spcBef>
              <a:spcAft>
                <a:spcPts val="0"/>
              </a:spcAft>
              <a:buNone/>
            </a:pPr>
            <a:r>
              <a:rPr lang="en-US" sz="750" i="1">
                <a:solidFill>
                  <a:srgbClr val="63748A"/>
                </a:solidFill>
                <a:latin typeface="Calibri"/>
                <a:ea typeface="Calibri"/>
                <a:cs typeface="Calibri"/>
                <a:sym typeface="Calibri"/>
              </a:rPr>
              <a:t>₹194 Cr</a:t>
            </a:r>
            <a:endParaRPr sz="750">
              <a:latin typeface="Calibri"/>
              <a:ea typeface="Calibri"/>
              <a:cs typeface="Calibri"/>
              <a:sym typeface="Calibri"/>
            </a:endParaRPr>
          </a:p>
        </p:txBody>
      </p:sp>
      <p:grpSp>
        <p:nvGrpSpPr>
          <p:cNvPr id="268" name="Google Shape;268;p20"/>
          <p:cNvGrpSpPr/>
          <p:nvPr/>
        </p:nvGrpSpPr>
        <p:grpSpPr>
          <a:xfrm>
            <a:off x="4790313" y="4343400"/>
            <a:ext cx="1564004" cy="18414"/>
            <a:chOff x="4790313" y="4343400"/>
            <a:chExt cx="1564004" cy="18414"/>
          </a:xfrm>
        </p:grpSpPr>
        <p:sp>
          <p:nvSpPr>
            <p:cNvPr id="269" name="Google Shape;269;p20"/>
            <p:cNvSpPr/>
            <p:nvPr/>
          </p:nvSpPr>
          <p:spPr>
            <a:xfrm>
              <a:off x="4790313" y="4343400"/>
              <a:ext cx="1564004" cy="18414"/>
            </a:xfrm>
            <a:custGeom>
              <a:avLst/>
              <a:gdLst/>
              <a:ahLst/>
              <a:cxnLst/>
              <a:rect l="l" t="t" r="r" b="b"/>
              <a:pathLst>
                <a:path w="1564004" h="18414" extrusionOk="0">
                  <a:moveTo>
                    <a:pt x="1563624" y="0"/>
                  </a:moveTo>
                  <a:lnTo>
                    <a:pt x="0" y="0"/>
                  </a:lnTo>
                  <a:lnTo>
                    <a:pt x="0" y="18287"/>
                  </a:lnTo>
                  <a:lnTo>
                    <a:pt x="1563624" y="18287"/>
                  </a:lnTo>
                  <a:lnTo>
                    <a:pt x="1563624" y="0"/>
                  </a:lnTo>
                  <a:close/>
                </a:path>
              </a:pathLst>
            </a:custGeom>
            <a:solidFill>
              <a:srgbClr val="DFE6E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70" name="Google Shape;270;p20"/>
            <p:cNvSpPr/>
            <p:nvPr/>
          </p:nvSpPr>
          <p:spPr>
            <a:xfrm>
              <a:off x="4790313" y="4343400"/>
              <a:ext cx="1564004" cy="18414"/>
            </a:xfrm>
            <a:custGeom>
              <a:avLst/>
              <a:gdLst/>
              <a:ahLst/>
              <a:cxnLst/>
              <a:rect l="l" t="t" r="r" b="b"/>
              <a:pathLst>
                <a:path w="1564004" h="18414" extrusionOk="0">
                  <a:moveTo>
                    <a:pt x="0" y="18287"/>
                  </a:moveTo>
                  <a:lnTo>
                    <a:pt x="1563624" y="18287"/>
                  </a:lnTo>
                  <a:lnTo>
                    <a:pt x="1563624" y="0"/>
                  </a:lnTo>
                  <a:lnTo>
                    <a:pt x="0" y="0"/>
                  </a:lnTo>
                  <a:lnTo>
                    <a:pt x="0" y="18287"/>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71" name="Google Shape;271;p20"/>
          <p:cNvSpPr txBox="1"/>
          <p:nvPr/>
        </p:nvSpPr>
        <p:spPr>
          <a:xfrm>
            <a:off x="4882641" y="4440123"/>
            <a:ext cx="1378500" cy="255300"/>
          </a:xfrm>
          <a:prstGeom prst="rect">
            <a:avLst/>
          </a:prstGeom>
          <a:noFill/>
          <a:ln>
            <a:noFill/>
          </a:ln>
        </p:spPr>
        <p:txBody>
          <a:bodyPr spcFirstLastPara="1" wrap="square" lIns="0" tIns="13325" rIns="0" bIns="0" anchor="t" anchorCtr="0">
            <a:spAutoFit/>
          </a:bodyPr>
          <a:lstStyle/>
          <a:p>
            <a:pPr marL="0" lvl="0" indent="0" algn="l" rtl="0">
              <a:lnSpc>
                <a:spcPct val="100000"/>
              </a:lnSpc>
              <a:spcBef>
                <a:spcPts val="0"/>
              </a:spcBef>
              <a:spcAft>
                <a:spcPts val="0"/>
              </a:spcAft>
              <a:buNone/>
            </a:pPr>
            <a:r>
              <a:rPr lang="en-US" sz="750" b="1">
                <a:solidFill>
                  <a:srgbClr val="C0392B"/>
                </a:solidFill>
                <a:latin typeface="Calibri"/>
                <a:ea typeface="Calibri"/>
                <a:cs typeface="Calibri"/>
                <a:sym typeface="Calibri"/>
              </a:rPr>
              <a:t>₹16,000 avg cash payment/year —</a:t>
            </a:r>
            <a:endParaRPr sz="750">
              <a:latin typeface="Calibri"/>
              <a:ea typeface="Calibri"/>
              <a:cs typeface="Calibri"/>
              <a:sym typeface="Calibri"/>
            </a:endParaRPr>
          </a:p>
          <a:p>
            <a:pPr marL="0" lvl="0" indent="0" algn="l" rtl="0">
              <a:lnSpc>
                <a:spcPct val="100000"/>
              </a:lnSpc>
              <a:spcBef>
                <a:spcPts val="0"/>
              </a:spcBef>
              <a:spcAft>
                <a:spcPts val="0"/>
              </a:spcAft>
              <a:buNone/>
            </a:pPr>
            <a:r>
              <a:rPr lang="en-US" sz="750" b="1">
                <a:solidFill>
                  <a:srgbClr val="C0392B"/>
                </a:solidFill>
                <a:latin typeface="Calibri"/>
                <a:ea typeface="Calibri"/>
                <a:cs typeface="Calibri"/>
                <a:sym typeface="Calibri"/>
              </a:rPr>
              <a:t>turnover suppression at scale</a:t>
            </a:r>
            <a:endParaRPr sz="75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276"/>
        <p:cNvGrpSpPr/>
        <p:nvPr/>
      </p:nvGrpSpPr>
      <p:grpSpPr>
        <a:xfrm>
          <a:off x="0" y="0"/>
          <a:ext cx="0" cy="0"/>
          <a:chOff x="0" y="0"/>
          <a:chExt cx="0" cy="0"/>
        </a:xfrm>
      </p:grpSpPr>
      <p:sp>
        <p:nvSpPr>
          <p:cNvPr id="277" name="Google Shape;277;p21"/>
          <p:cNvSpPr/>
          <p:nvPr/>
        </p:nvSpPr>
        <p:spPr>
          <a:xfrm>
            <a:off x="0" y="0"/>
            <a:ext cx="9144000" cy="5143500"/>
          </a:xfrm>
          <a:custGeom>
            <a:avLst/>
            <a:gdLst/>
            <a:ahLst/>
            <a:cxnLst/>
            <a:rect l="l" t="t" r="r" b="b"/>
            <a:pathLst>
              <a:path w="9144000" h="5143500" extrusionOk="0">
                <a:moveTo>
                  <a:pt x="9144000" y="0"/>
                </a:moveTo>
                <a:lnTo>
                  <a:pt x="0" y="0"/>
                </a:lnTo>
                <a:lnTo>
                  <a:pt x="0" y="5143500"/>
                </a:lnTo>
                <a:lnTo>
                  <a:pt x="9144000" y="5143500"/>
                </a:lnTo>
                <a:lnTo>
                  <a:pt x="9144000" y="0"/>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278" name="Google Shape;278;p21"/>
          <p:cNvGrpSpPr/>
          <p:nvPr/>
        </p:nvGrpSpPr>
        <p:grpSpPr>
          <a:xfrm>
            <a:off x="0" y="0"/>
            <a:ext cx="9144000" cy="768441"/>
            <a:chOff x="0" y="0"/>
            <a:chExt cx="9144000" cy="768441"/>
          </a:xfrm>
        </p:grpSpPr>
        <p:sp>
          <p:nvSpPr>
            <p:cNvPr id="279" name="Google Shape;279;p21"/>
            <p:cNvSpPr/>
            <p:nvPr/>
          </p:nvSpPr>
          <p:spPr>
            <a:xfrm>
              <a:off x="0" y="0"/>
              <a:ext cx="9144000" cy="713105"/>
            </a:xfrm>
            <a:custGeom>
              <a:avLst/>
              <a:gdLst/>
              <a:ahLst/>
              <a:cxnLst/>
              <a:rect l="l" t="t" r="r" b="b"/>
              <a:pathLst>
                <a:path w="9144000" h="713105" extrusionOk="0">
                  <a:moveTo>
                    <a:pt x="9144000" y="0"/>
                  </a:moveTo>
                  <a:lnTo>
                    <a:pt x="0" y="0"/>
                  </a:lnTo>
                  <a:lnTo>
                    <a:pt x="0" y="713104"/>
                  </a:lnTo>
                  <a:lnTo>
                    <a:pt x="9144000" y="713104"/>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0" name="Google Shape;280;p21"/>
            <p:cNvSpPr/>
            <p:nvPr/>
          </p:nvSpPr>
          <p:spPr>
            <a:xfrm>
              <a:off x="0" y="0"/>
              <a:ext cx="9144000" cy="713105"/>
            </a:xfrm>
            <a:custGeom>
              <a:avLst/>
              <a:gdLst/>
              <a:ahLst/>
              <a:cxnLst/>
              <a:rect l="l" t="t" r="r" b="b"/>
              <a:pathLst>
                <a:path w="9144000" h="713105" extrusionOk="0">
                  <a:moveTo>
                    <a:pt x="0" y="713104"/>
                  </a:moveTo>
                  <a:lnTo>
                    <a:pt x="9144000" y="713104"/>
                  </a:lnTo>
                  <a:lnTo>
                    <a:pt x="9144000" y="0"/>
                  </a:lnTo>
                  <a:lnTo>
                    <a:pt x="0" y="0"/>
                  </a:lnTo>
                  <a:lnTo>
                    <a:pt x="0" y="713104"/>
                  </a:lnTo>
                  <a:close/>
                </a:path>
              </a:pathLst>
            </a:custGeom>
            <a:noFill/>
            <a:ln w="12675"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1" name="Google Shape;281;p21"/>
            <p:cNvSpPr/>
            <p:nvPr/>
          </p:nvSpPr>
          <p:spPr>
            <a:xfrm>
              <a:off x="0" y="713196"/>
              <a:ext cx="9144000" cy="55245"/>
            </a:xfrm>
            <a:custGeom>
              <a:avLst/>
              <a:gdLst/>
              <a:ahLst/>
              <a:cxnLst/>
              <a:rect l="l" t="t" r="r" b="b"/>
              <a:pathLst>
                <a:path w="9144000" h="55245" extrusionOk="0">
                  <a:moveTo>
                    <a:pt x="9144000" y="0"/>
                  </a:moveTo>
                  <a:lnTo>
                    <a:pt x="0" y="0"/>
                  </a:lnTo>
                  <a:lnTo>
                    <a:pt x="0" y="54899"/>
                  </a:lnTo>
                  <a:lnTo>
                    <a:pt x="9144000" y="54899"/>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2" name="Google Shape;282;p21"/>
            <p:cNvSpPr/>
            <p:nvPr/>
          </p:nvSpPr>
          <p:spPr>
            <a:xfrm>
              <a:off x="0" y="713196"/>
              <a:ext cx="9144000" cy="55245"/>
            </a:xfrm>
            <a:custGeom>
              <a:avLst/>
              <a:gdLst/>
              <a:ahLst/>
              <a:cxnLst/>
              <a:rect l="l" t="t" r="r" b="b"/>
              <a:pathLst>
                <a:path w="9144000" h="55245" extrusionOk="0">
                  <a:moveTo>
                    <a:pt x="0" y="54899"/>
                  </a:moveTo>
                  <a:lnTo>
                    <a:pt x="9144000" y="54899"/>
                  </a:lnTo>
                  <a:lnTo>
                    <a:pt x="9144000" y="0"/>
                  </a:lnTo>
                  <a:lnTo>
                    <a:pt x="0" y="0"/>
                  </a:lnTo>
                  <a:lnTo>
                    <a:pt x="0" y="54899"/>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83" name="Google Shape;283;p21"/>
          <p:cNvSpPr txBox="1">
            <a:spLocks noGrp="1"/>
          </p:cNvSpPr>
          <p:nvPr>
            <p:ph type="title"/>
          </p:nvPr>
        </p:nvSpPr>
        <p:spPr>
          <a:xfrm>
            <a:off x="1447800" y="126474"/>
            <a:ext cx="5370300" cy="254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500">
                <a:solidFill>
                  <a:srgbClr val="FFFFFF"/>
                </a:solidFill>
              </a:rPr>
              <a:t>DATA VERIFICATION: THREE-METRIC COMPARISON — ALL 6 STATES</a:t>
            </a:r>
            <a:endParaRPr sz="1500"/>
          </a:p>
        </p:txBody>
      </p:sp>
      <p:sp>
        <p:nvSpPr>
          <p:cNvPr id="284" name="Google Shape;284;p21"/>
          <p:cNvSpPr txBox="1"/>
          <p:nvPr/>
        </p:nvSpPr>
        <p:spPr>
          <a:xfrm>
            <a:off x="1953261" y="560203"/>
            <a:ext cx="4494000" cy="1410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750" i="1">
                <a:solidFill>
                  <a:srgbClr val="EFD080"/>
                </a:solidFill>
                <a:latin typeface="Calibri"/>
                <a:ea typeface="Calibri"/>
                <a:cs typeface="Calibri"/>
                <a:sym typeface="Calibri"/>
              </a:rPr>
              <a:t>Source: CBIC Post-Settlement &amp; Pre-Settlement SGST FY 2025-26 | State GSDP: Official Economic Surveys / PRS India</a:t>
            </a:r>
            <a:endParaRPr sz="750">
              <a:latin typeface="Calibri"/>
              <a:ea typeface="Calibri"/>
              <a:cs typeface="Calibri"/>
              <a:sym typeface="Calibri"/>
            </a:endParaRPr>
          </a:p>
        </p:txBody>
      </p:sp>
      <p:grpSp>
        <p:nvGrpSpPr>
          <p:cNvPr id="285" name="Google Shape;285;p21"/>
          <p:cNvGrpSpPr/>
          <p:nvPr/>
        </p:nvGrpSpPr>
        <p:grpSpPr>
          <a:xfrm>
            <a:off x="1600200" y="764013"/>
            <a:ext cx="3001518" cy="1017295"/>
            <a:chOff x="91439" y="768070"/>
            <a:chExt cx="3001518" cy="1017295"/>
          </a:xfrm>
        </p:grpSpPr>
        <p:pic>
          <p:nvPicPr>
            <p:cNvPr id="286" name="Google Shape;286;p21"/>
            <p:cNvPicPr preferRelativeResize="0"/>
            <p:nvPr/>
          </p:nvPicPr>
          <p:blipFill rotWithShape="1">
            <a:blip r:embed="rId3">
              <a:alphaModFix/>
            </a:blip>
            <a:srcRect/>
            <a:stretch/>
          </p:blipFill>
          <p:spPr>
            <a:xfrm>
              <a:off x="91439" y="768070"/>
              <a:ext cx="3001518" cy="1017295"/>
            </a:xfrm>
            <a:prstGeom prst="rect">
              <a:avLst/>
            </a:prstGeom>
            <a:noFill/>
            <a:ln>
              <a:noFill/>
            </a:ln>
          </p:spPr>
        </p:pic>
        <p:sp>
          <p:nvSpPr>
            <p:cNvPr id="287" name="Google Shape;287;p21"/>
            <p:cNvSpPr/>
            <p:nvPr/>
          </p:nvSpPr>
          <p:spPr>
            <a:xfrm>
              <a:off x="228600" y="905256"/>
              <a:ext cx="2788920" cy="749935"/>
            </a:xfrm>
            <a:custGeom>
              <a:avLst/>
              <a:gdLst/>
              <a:ahLst/>
              <a:cxnLst/>
              <a:rect l="l" t="t" r="r" b="b"/>
              <a:pathLst>
                <a:path w="2788920" h="749935" extrusionOk="0">
                  <a:moveTo>
                    <a:pt x="0" y="749681"/>
                  </a:moveTo>
                  <a:lnTo>
                    <a:pt x="2788793" y="749681"/>
                  </a:lnTo>
                  <a:lnTo>
                    <a:pt x="2788793" y="0"/>
                  </a:lnTo>
                  <a:lnTo>
                    <a:pt x="0" y="0"/>
                  </a:lnTo>
                  <a:lnTo>
                    <a:pt x="0" y="749681"/>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8" name="Google Shape;288;p21"/>
            <p:cNvSpPr/>
            <p:nvPr/>
          </p:nvSpPr>
          <p:spPr>
            <a:xfrm>
              <a:off x="228600" y="850341"/>
              <a:ext cx="2788920" cy="805180"/>
            </a:xfrm>
            <a:custGeom>
              <a:avLst/>
              <a:gdLst/>
              <a:ahLst/>
              <a:cxnLst/>
              <a:rect l="l" t="t" r="r" b="b"/>
              <a:pathLst>
                <a:path w="2788920" h="805180" extrusionOk="0">
                  <a:moveTo>
                    <a:pt x="0" y="804595"/>
                  </a:moveTo>
                  <a:lnTo>
                    <a:pt x="2788793" y="804595"/>
                  </a:lnTo>
                  <a:lnTo>
                    <a:pt x="2788793" y="0"/>
                  </a:lnTo>
                  <a:lnTo>
                    <a:pt x="0" y="0"/>
                  </a:lnTo>
                  <a:lnTo>
                    <a:pt x="0" y="804595"/>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89" name="Google Shape;289;p21"/>
            <p:cNvSpPr/>
            <p:nvPr/>
          </p:nvSpPr>
          <p:spPr>
            <a:xfrm>
              <a:off x="228600" y="850356"/>
              <a:ext cx="2788920" cy="55244"/>
            </a:xfrm>
            <a:custGeom>
              <a:avLst/>
              <a:gdLst/>
              <a:ahLst/>
              <a:cxnLst/>
              <a:rect l="l" t="t" r="r" b="b"/>
              <a:pathLst>
                <a:path w="2788920" h="55244" extrusionOk="0">
                  <a:moveTo>
                    <a:pt x="2788793" y="0"/>
                  </a:moveTo>
                  <a:lnTo>
                    <a:pt x="0" y="0"/>
                  </a:lnTo>
                  <a:lnTo>
                    <a:pt x="0" y="54899"/>
                  </a:lnTo>
                  <a:lnTo>
                    <a:pt x="2788793" y="54899"/>
                  </a:lnTo>
                  <a:lnTo>
                    <a:pt x="2788793" y="0"/>
                  </a:lnTo>
                  <a:close/>
                </a:path>
              </a:pathLst>
            </a:custGeom>
            <a:solidFill>
              <a:srgbClr val="C0392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0" name="Google Shape;290;p21"/>
            <p:cNvSpPr/>
            <p:nvPr/>
          </p:nvSpPr>
          <p:spPr>
            <a:xfrm>
              <a:off x="228600" y="850356"/>
              <a:ext cx="2788920" cy="55244"/>
            </a:xfrm>
            <a:custGeom>
              <a:avLst/>
              <a:gdLst/>
              <a:ahLst/>
              <a:cxnLst/>
              <a:rect l="l" t="t" r="r" b="b"/>
              <a:pathLst>
                <a:path w="2788920" h="55244" extrusionOk="0">
                  <a:moveTo>
                    <a:pt x="0" y="54899"/>
                  </a:moveTo>
                  <a:lnTo>
                    <a:pt x="2788793" y="54899"/>
                  </a:lnTo>
                  <a:lnTo>
                    <a:pt x="2788793" y="0"/>
                  </a:lnTo>
                  <a:lnTo>
                    <a:pt x="0" y="0"/>
                  </a:lnTo>
                  <a:lnTo>
                    <a:pt x="0" y="54899"/>
                  </a:lnTo>
                  <a:close/>
                </a:path>
              </a:pathLst>
            </a:custGeom>
            <a:noFill/>
            <a:ln w="12675" cap="flat" cmpd="sng">
              <a:solidFill>
                <a:srgbClr val="C0392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91" name="Google Shape;291;p21"/>
          <p:cNvSpPr txBox="1"/>
          <p:nvPr/>
        </p:nvSpPr>
        <p:spPr>
          <a:xfrm>
            <a:off x="1810513" y="919499"/>
            <a:ext cx="1920300" cy="183600"/>
          </a:xfrm>
          <a:prstGeom prst="rect">
            <a:avLst/>
          </a:prstGeom>
          <a:solidFill>
            <a:srgbClr val="C0392B"/>
          </a:solidFill>
          <a:ln w="12700" cap="flat" cmpd="sng">
            <a:solidFill>
              <a:srgbClr val="C0392B"/>
            </a:solidFill>
            <a:prstDash val="solid"/>
            <a:round/>
            <a:headEnd type="none" w="sm" len="sm"/>
            <a:tailEnd type="none" w="sm" len="sm"/>
          </a:ln>
        </p:spPr>
        <p:txBody>
          <a:bodyPr spcFirstLastPara="1" wrap="square" lIns="0" tIns="37450" rIns="0" bIns="0" anchor="t" anchorCtr="0">
            <a:spAutoFit/>
          </a:bodyPr>
          <a:lstStyle/>
          <a:p>
            <a:pPr marL="0" lvl="0" indent="0" algn="ctr" rtl="0">
              <a:lnSpc>
                <a:spcPct val="100000"/>
              </a:lnSpc>
              <a:spcBef>
                <a:spcPts val="0"/>
              </a:spcBef>
              <a:spcAft>
                <a:spcPts val="0"/>
              </a:spcAft>
              <a:buNone/>
            </a:pPr>
            <a:r>
              <a:rPr lang="en-US" sz="650" b="1">
                <a:solidFill>
                  <a:srgbClr val="FFFFFF"/>
                </a:solidFill>
                <a:latin typeface="Calibri"/>
                <a:ea typeface="Calibri"/>
                <a:cs typeface="Calibri"/>
                <a:sym typeface="Calibri"/>
              </a:rPr>
              <a:t>CS NOTE METRIC</a:t>
            </a:r>
            <a:endParaRPr sz="650">
              <a:latin typeface="Calibri"/>
              <a:ea typeface="Calibri"/>
              <a:cs typeface="Calibri"/>
              <a:sym typeface="Calibri"/>
            </a:endParaRPr>
          </a:p>
        </p:txBody>
      </p:sp>
      <p:sp>
        <p:nvSpPr>
          <p:cNvPr id="292" name="Google Shape;292;p21"/>
          <p:cNvSpPr txBox="1"/>
          <p:nvPr/>
        </p:nvSpPr>
        <p:spPr>
          <a:xfrm>
            <a:off x="1743711" y="1061159"/>
            <a:ext cx="2776200" cy="527700"/>
          </a:xfrm>
          <a:prstGeom prst="rect">
            <a:avLst/>
          </a:prstGeom>
          <a:noFill/>
          <a:ln>
            <a:noFill/>
          </a:ln>
        </p:spPr>
        <p:txBody>
          <a:bodyPr spcFirstLastPara="1" wrap="square" lIns="0" tIns="72375" rIns="0" bIns="0" anchor="t" anchorCtr="0">
            <a:spAutoFit/>
          </a:bodyPr>
          <a:lstStyle/>
          <a:p>
            <a:pPr marL="158115" lvl="0" indent="0" algn="l" rtl="0">
              <a:lnSpc>
                <a:spcPct val="100000"/>
              </a:lnSpc>
              <a:spcBef>
                <a:spcPts val="0"/>
              </a:spcBef>
              <a:spcAft>
                <a:spcPts val="0"/>
              </a:spcAft>
              <a:buNone/>
            </a:pPr>
            <a:r>
              <a:rPr lang="en-US" sz="950" b="1">
                <a:solidFill>
                  <a:srgbClr val="C0392B"/>
                </a:solidFill>
                <a:latin typeface="Calibri"/>
                <a:ea typeface="Calibri"/>
                <a:cs typeface="Calibri"/>
                <a:sym typeface="Calibri"/>
              </a:rPr>
              <a:t>Post-Settlement SGST</a:t>
            </a:r>
            <a:endParaRPr sz="950">
              <a:latin typeface="Calibri"/>
              <a:ea typeface="Calibri"/>
              <a:cs typeface="Calibri"/>
              <a:sym typeface="Calibri"/>
            </a:endParaRPr>
          </a:p>
          <a:p>
            <a:pPr marL="158115" marR="354330" lvl="0" indent="0" algn="l" rtl="0">
              <a:lnSpc>
                <a:spcPct val="101299"/>
              </a:lnSpc>
              <a:spcBef>
                <a:spcPts val="395"/>
              </a:spcBef>
              <a:spcAft>
                <a:spcPts val="0"/>
              </a:spcAft>
              <a:buNone/>
            </a:pPr>
            <a:r>
              <a:rPr lang="en-US" sz="800">
                <a:solidFill>
                  <a:srgbClr val="495468"/>
                </a:solidFill>
                <a:latin typeface="Calibri"/>
                <a:ea typeface="Calibri"/>
                <a:cs typeface="Calibri"/>
                <a:sym typeface="Calibri"/>
              </a:rPr>
              <a:t>SGST cash + IGST allocation from Centre. What CS note used. Affected by settlement timing.</a:t>
            </a:r>
            <a:endParaRPr sz="800">
              <a:latin typeface="Calibri"/>
              <a:ea typeface="Calibri"/>
              <a:cs typeface="Calibri"/>
              <a:sym typeface="Calibri"/>
            </a:endParaRPr>
          </a:p>
        </p:txBody>
      </p:sp>
      <p:grpSp>
        <p:nvGrpSpPr>
          <p:cNvPr id="293" name="Google Shape;293;p21"/>
          <p:cNvGrpSpPr/>
          <p:nvPr/>
        </p:nvGrpSpPr>
        <p:grpSpPr>
          <a:xfrm>
            <a:off x="4572000" y="764013"/>
            <a:ext cx="3001517" cy="1017295"/>
            <a:chOff x="3063239" y="768070"/>
            <a:chExt cx="3001517" cy="1017295"/>
          </a:xfrm>
        </p:grpSpPr>
        <p:pic>
          <p:nvPicPr>
            <p:cNvPr id="294" name="Google Shape;294;p21"/>
            <p:cNvPicPr preferRelativeResize="0"/>
            <p:nvPr/>
          </p:nvPicPr>
          <p:blipFill rotWithShape="1">
            <a:blip r:embed="rId3">
              <a:alphaModFix/>
            </a:blip>
            <a:srcRect/>
            <a:stretch/>
          </p:blipFill>
          <p:spPr>
            <a:xfrm>
              <a:off x="3063239" y="768070"/>
              <a:ext cx="3001517" cy="1017295"/>
            </a:xfrm>
            <a:prstGeom prst="rect">
              <a:avLst/>
            </a:prstGeom>
            <a:noFill/>
            <a:ln>
              <a:noFill/>
            </a:ln>
          </p:spPr>
        </p:pic>
        <p:sp>
          <p:nvSpPr>
            <p:cNvPr id="295" name="Google Shape;295;p21"/>
            <p:cNvSpPr/>
            <p:nvPr/>
          </p:nvSpPr>
          <p:spPr>
            <a:xfrm>
              <a:off x="3200399" y="905256"/>
              <a:ext cx="2788920" cy="749935"/>
            </a:xfrm>
            <a:custGeom>
              <a:avLst/>
              <a:gdLst/>
              <a:ahLst/>
              <a:cxnLst/>
              <a:rect l="l" t="t" r="r" b="b"/>
              <a:pathLst>
                <a:path w="2788920" h="749935" extrusionOk="0">
                  <a:moveTo>
                    <a:pt x="0" y="749681"/>
                  </a:moveTo>
                  <a:lnTo>
                    <a:pt x="2788793" y="749681"/>
                  </a:lnTo>
                  <a:lnTo>
                    <a:pt x="2788793" y="0"/>
                  </a:lnTo>
                  <a:lnTo>
                    <a:pt x="0" y="0"/>
                  </a:lnTo>
                  <a:lnTo>
                    <a:pt x="0" y="749681"/>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6" name="Google Shape;296;p21"/>
            <p:cNvSpPr/>
            <p:nvPr/>
          </p:nvSpPr>
          <p:spPr>
            <a:xfrm>
              <a:off x="3200399" y="850341"/>
              <a:ext cx="2788920" cy="805180"/>
            </a:xfrm>
            <a:custGeom>
              <a:avLst/>
              <a:gdLst/>
              <a:ahLst/>
              <a:cxnLst/>
              <a:rect l="l" t="t" r="r" b="b"/>
              <a:pathLst>
                <a:path w="2788920" h="805180" extrusionOk="0">
                  <a:moveTo>
                    <a:pt x="0" y="804595"/>
                  </a:moveTo>
                  <a:lnTo>
                    <a:pt x="2788793" y="804595"/>
                  </a:lnTo>
                  <a:lnTo>
                    <a:pt x="2788793" y="0"/>
                  </a:lnTo>
                  <a:lnTo>
                    <a:pt x="0" y="0"/>
                  </a:lnTo>
                  <a:lnTo>
                    <a:pt x="0" y="804595"/>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7" name="Google Shape;297;p21"/>
            <p:cNvSpPr/>
            <p:nvPr/>
          </p:nvSpPr>
          <p:spPr>
            <a:xfrm>
              <a:off x="3200399" y="850356"/>
              <a:ext cx="2788920" cy="55244"/>
            </a:xfrm>
            <a:custGeom>
              <a:avLst/>
              <a:gdLst/>
              <a:ahLst/>
              <a:cxnLst/>
              <a:rect l="l" t="t" r="r" b="b"/>
              <a:pathLst>
                <a:path w="2788920" h="55244" extrusionOk="0">
                  <a:moveTo>
                    <a:pt x="2788793" y="0"/>
                  </a:moveTo>
                  <a:lnTo>
                    <a:pt x="0" y="0"/>
                  </a:lnTo>
                  <a:lnTo>
                    <a:pt x="0" y="54899"/>
                  </a:lnTo>
                  <a:lnTo>
                    <a:pt x="2788793" y="54899"/>
                  </a:lnTo>
                  <a:lnTo>
                    <a:pt x="2788793" y="0"/>
                  </a:lnTo>
                  <a:close/>
                </a:path>
              </a:pathLst>
            </a:custGeom>
            <a:solidFill>
              <a:srgbClr val="1564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98" name="Google Shape;298;p21"/>
            <p:cNvSpPr/>
            <p:nvPr/>
          </p:nvSpPr>
          <p:spPr>
            <a:xfrm>
              <a:off x="3200399" y="850356"/>
              <a:ext cx="2788920" cy="55244"/>
            </a:xfrm>
            <a:custGeom>
              <a:avLst/>
              <a:gdLst/>
              <a:ahLst/>
              <a:cxnLst/>
              <a:rect l="l" t="t" r="r" b="b"/>
              <a:pathLst>
                <a:path w="2788920" h="55244" extrusionOk="0">
                  <a:moveTo>
                    <a:pt x="0" y="54899"/>
                  </a:moveTo>
                  <a:lnTo>
                    <a:pt x="2788793" y="54899"/>
                  </a:lnTo>
                  <a:lnTo>
                    <a:pt x="2788793" y="0"/>
                  </a:lnTo>
                  <a:lnTo>
                    <a:pt x="0" y="0"/>
                  </a:lnTo>
                  <a:lnTo>
                    <a:pt x="0" y="54899"/>
                  </a:lnTo>
                  <a:close/>
                </a:path>
              </a:pathLst>
            </a:custGeom>
            <a:noFill/>
            <a:ln w="12675" cap="flat" cmpd="sng">
              <a:solidFill>
                <a:srgbClr val="1564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299" name="Google Shape;299;p21"/>
          <p:cNvSpPr txBox="1"/>
          <p:nvPr/>
        </p:nvSpPr>
        <p:spPr>
          <a:xfrm>
            <a:off x="4782313" y="919499"/>
            <a:ext cx="1920300" cy="183600"/>
          </a:xfrm>
          <a:prstGeom prst="rect">
            <a:avLst/>
          </a:prstGeom>
          <a:solidFill>
            <a:srgbClr val="1564C0"/>
          </a:solidFill>
          <a:ln w="12700" cap="flat" cmpd="sng">
            <a:solidFill>
              <a:srgbClr val="1564C0"/>
            </a:solidFill>
            <a:prstDash val="solid"/>
            <a:round/>
            <a:headEnd type="none" w="sm" len="sm"/>
            <a:tailEnd type="none" w="sm" len="sm"/>
          </a:ln>
        </p:spPr>
        <p:txBody>
          <a:bodyPr spcFirstLastPara="1" wrap="square" lIns="0" tIns="37450" rIns="0" bIns="0" anchor="t" anchorCtr="0">
            <a:spAutoFit/>
          </a:bodyPr>
          <a:lstStyle/>
          <a:p>
            <a:pPr marL="464184" lvl="0" indent="0" algn="l" rtl="0">
              <a:lnSpc>
                <a:spcPct val="100000"/>
              </a:lnSpc>
              <a:spcBef>
                <a:spcPts val="0"/>
              </a:spcBef>
              <a:spcAft>
                <a:spcPts val="0"/>
              </a:spcAft>
              <a:buNone/>
            </a:pPr>
            <a:r>
              <a:rPr lang="en-US" sz="650" b="1">
                <a:solidFill>
                  <a:srgbClr val="FFFFFF"/>
                </a:solidFill>
                <a:latin typeface="Calibri"/>
                <a:ea typeface="Calibri"/>
                <a:cs typeface="Calibri"/>
                <a:sym typeface="Calibri"/>
              </a:rPr>
              <a:t>PURER COMPLIANCE METRIC</a:t>
            </a:r>
            <a:endParaRPr sz="650">
              <a:latin typeface="Calibri"/>
              <a:ea typeface="Calibri"/>
              <a:cs typeface="Calibri"/>
              <a:sym typeface="Calibri"/>
            </a:endParaRPr>
          </a:p>
        </p:txBody>
      </p:sp>
      <p:sp>
        <p:nvSpPr>
          <p:cNvPr id="300" name="Google Shape;300;p21"/>
          <p:cNvSpPr txBox="1"/>
          <p:nvPr/>
        </p:nvSpPr>
        <p:spPr>
          <a:xfrm>
            <a:off x="4715511" y="1061159"/>
            <a:ext cx="2776200" cy="527700"/>
          </a:xfrm>
          <a:prstGeom prst="rect">
            <a:avLst/>
          </a:prstGeom>
          <a:noFill/>
          <a:ln>
            <a:noFill/>
          </a:ln>
        </p:spPr>
        <p:txBody>
          <a:bodyPr spcFirstLastPara="1" wrap="square" lIns="0" tIns="72375" rIns="0" bIns="0" anchor="t" anchorCtr="0">
            <a:spAutoFit/>
          </a:bodyPr>
          <a:lstStyle/>
          <a:p>
            <a:pPr marL="158750" lvl="0" indent="0" algn="l" rtl="0">
              <a:lnSpc>
                <a:spcPct val="100000"/>
              </a:lnSpc>
              <a:spcBef>
                <a:spcPts val="0"/>
              </a:spcBef>
              <a:spcAft>
                <a:spcPts val="0"/>
              </a:spcAft>
              <a:buNone/>
            </a:pPr>
            <a:r>
              <a:rPr lang="en-US" sz="950" b="1">
                <a:solidFill>
                  <a:srgbClr val="1564C0"/>
                </a:solidFill>
                <a:latin typeface="Calibri"/>
                <a:ea typeface="Calibri"/>
                <a:cs typeface="Calibri"/>
                <a:sym typeface="Calibri"/>
              </a:rPr>
              <a:t>Pre-Settlement SGST</a:t>
            </a:r>
            <a:endParaRPr sz="950">
              <a:latin typeface="Calibri"/>
              <a:ea typeface="Calibri"/>
              <a:cs typeface="Calibri"/>
              <a:sym typeface="Calibri"/>
            </a:endParaRPr>
          </a:p>
          <a:p>
            <a:pPr marL="158750" marR="201930" lvl="0" indent="0" algn="l" rtl="0">
              <a:lnSpc>
                <a:spcPct val="101299"/>
              </a:lnSpc>
              <a:spcBef>
                <a:spcPts val="395"/>
              </a:spcBef>
              <a:spcAft>
                <a:spcPts val="0"/>
              </a:spcAft>
              <a:buNone/>
            </a:pPr>
            <a:r>
              <a:rPr lang="en-US" sz="800">
                <a:solidFill>
                  <a:srgbClr val="495468"/>
                </a:solidFill>
                <a:latin typeface="Calibri"/>
                <a:ea typeface="Calibri"/>
                <a:cs typeface="Calibri"/>
                <a:sym typeface="Calibri"/>
              </a:rPr>
              <a:t>Only SGST cash from state's own taxpayers. No IGST noise. Truer in-state compliance.</a:t>
            </a:r>
            <a:endParaRPr sz="800">
              <a:latin typeface="Calibri"/>
              <a:ea typeface="Calibri"/>
              <a:cs typeface="Calibri"/>
              <a:sym typeface="Calibri"/>
            </a:endParaRPr>
          </a:p>
        </p:txBody>
      </p:sp>
      <p:sp>
        <p:nvSpPr>
          <p:cNvPr id="301" name="Google Shape;301;p21"/>
          <p:cNvSpPr/>
          <p:nvPr/>
        </p:nvSpPr>
        <p:spPr>
          <a:xfrm>
            <a:off x="228600" y="4325353"/>
            <a:ext cx="8870315" cy="648335"/>
          </a:xfrm>
          <a:custGeom>
            <a:avLst/>
            <a:gdLst/>
            <a:ahLst/>
            <a:cxnLst/>
            <a:rect l="l" t="t" r="r" b="b"/>
            <a:pathLst>
              <a:path w="8870315" h="648335" extrusionOk="0">
                <a:moveTo>
                  <a:pt x="8869807" y="0"/>
                </a:moveTo>
                <a:lnTo>
                  <a:pt x="0" y="0"/>
                </a:lnTo>
                <a:lnTo>
                  <a:pt x="0" y="316826"/>
                </a:lnTo>
                <a:lnTo>
                  <a:pt x="0" y="331266"/>
                </a:lnTo>
                <a:lnTo>
                  <a:pt x="0" y="648093"/>
                </a:lnTo>
                <a:lnTo>
                  <a:pt x="8869807" y="648093"/>
                </a:lnTo>
                <a:lnTo>
                  <a:pt x="8869807" y="331266"/>
                </a:lnTo>
                <a:lnTo>
                  <a:pt x="8869807" y="316826"/>
                </a:lnTo>
                <a:lnTo>
                  <a:pt x="8869807" y="0"/>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02" name="Google Shape;302;p21"/>
          <p:cNvSpPr/>
          <p:nvPr/>
        </p:nvSpPr>
        <p:spPr>
          <a:xfrm>
            <a:off x="228599" y="3337089"/>
            <a:ext cx="8692909" cy="309924"/>
          </a:xfrm>
          <a:custGeom>
            <a:avLst/>
            <a:gdLst/>
            <a:ahLst/>
            <a:cxnLst/>
            <a:rect l="l" t="t" r="r" b="b"/>
            <a:pathLst>
              <a:path w="8870315" h="331470" extrusionOk="0">
                <a:moveTo>
                  <a:pt x="8869807" y="0"/>
                </a:moveTo>
                <a:lnTo>
                  <a:pt x="0" y="0"/>
                </a:lnTo>
                <a:lnTo>
                  <a:pt x="0" y="331266"/>
                </a:lnTo>
                <a:lnTo>
                  <a:pt x="8869807" y="331266"/>
                </a:lnTo>
                <a:lnTo>
                  <a:pt x="8869807" y="0"/>
                </a:lnTo>
                <a:close/>
              </a:path>
            </a:pathLst>
          </a:custGeom>
          <a:solidFill>
            <a:srgbClr val="E8F4FC"/>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aphicFrame>
        <p:nvGraphicFramePr>
          <p:cNvPr id="303" name="Google Shape;303;p21"/>
          <p:cNvGraphicFramePr/>
          <p:nvPr/>
        </p:nvGraphicFramePr>
        <p:xfrm>
          <a:off x="219075" y="1698790"/>
          <a:ext cx="8696325" cy="3265100"/>
        </p:xfrm>
        <a:graphic>
          <a:graphicData uri="http://schemas.openxmlformats.org/drawingml/2006/table">
            <a:tbl>
              <a:tblPr firstRow="1" bandRow="1">
                <a:noFill/>
                <a:tableStyleId>{0E1360DE-2B03-4F70-B7EE-935E0FC2D80C}</a:tableStyleId>
              </a:tblPr>
              <a:tblGrid>
                <a:gridCol w="1464375">
                  <a:extLst>
                    <a:ext uri="{9D8B030D-6E8A-4147-A177-3AD203B41FA5}">
                      <a16:colId xmlns:a16="http://schemas.microsoft.com/office/drawing/2014/main" val="20000"/>
                    </a:ext>
                  </a:extLst>
                </a:gridCol>
                <a:gridCol w="1595875">
                  <a:extLst>
                    <a:ext uri="{9D8B030D-6E8A-4147-A177-3AD203B41FA5}">
                      <a16:colId xmlns:a16="http://schemas.microsoft.com/office/drawing/2014/main" val="20001"/>
                    </a:ext>
                  </a:extLst>
                </a:gridCol>
                <a:gridCol w="1376700">
                  <a:extLst>
                    <a:ext uri="{9D8B030D-6E8A-4147-A177-3AD203B41FA5}">
                      <a16:colId xmlns:a16="http://schemas.microsoft.com/office/drawing/2014/main" val="20002"/>
                    </a:ext>
                  </a:extLst>
                </a:gridCol>
                <a:gridCol w="1190950">
                  <a:extLst>
                    <a:ext uri="{9D8B030D-6E8A-4147-A177-3AD203B41FA5}">
                      <a16:colId xmlns:a16="http://schemas.microsoft.com/office/drawing/2014/main" val="20003"/>
                    </a:ext>
                  </a:extLst>
                </a:gridCol>
                <a:gridCol w="3068425">
                  <a:extLst>
                    <a:ext uri="{9D8B030D-6E8A-4147-A177-3AD203B41FA5}">
                      <a16:colId xmlns:a16="http://schemas.microsoft.com/office/drawing/2014/main" val="20004"/>
                    </a:ext>
                  </a:extLst>
                </a:gridCol>
              </a:tblGrid>
              <a:tr h="316875">
                <a:tc>
                  <a:txBody>
                    <a:bodyPr/>
                    <a:lstStyle/>
                    <a:p>
                      <a:pPr marL="109855" marR="0" lvl="0" indent="0" algn="ctr"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STATE</a:t>
                      </a:r>
                      <a:endParaRPr sz="750" u="none" strike="noStrike" cap="none">
                        <a:latin typeface="Calibri"/>
                        <a:ea typeface="Calibri"/>
                        <a:cs typeface="Calibri"/>
                        <a:sym typeface="Calibri"/>
                      </a:endParaRPr>
                    </a:p>
                  </a:txBody>
                  <a:tcPr marL="0" marR="0" marT="99700" marB="0">
                    <a:lnL w="12700" cap="flat" cmpd="sng">
                      <a:solidFill>
                        <a:schemeClr val="dk1"/>
                      </a:solidFill>
                      <a:prstDash val="solid"/>
                      <a:round/>
                      <a:headEnd type="none" w="sm" len="sm"/>
                      <a:tailEnd type="none" w="sm" len="sm"/>
                    </a:lnL>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45085" marR="0" lvl="0" indent="0" algn="ctr"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POST-SETTLE</a:t>
                      </a:r>
                      <a:endParaRPr sz="750" u="none" strike="noStrike" cap="none">
                        <a:latin typeface="Calibri"/>
                        <a:ea typeface="Calibri"/>
                        <a:cs typeface="Calibri"/>
                        <a:sym typeface="Calibri"/>
                      </a:endParaRPr>
                    </a:p>
                    <a:p>
                      <a:pPr marL="45085" marR="0" lvl="0" indent="0" algn="ctr"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(CS Note)</a:t>
                      </a:r>
                      <a:endParaRPr sz="750" u="none" strike="noStrike" cap="none">
                        <a:latin typeface="Calibri"/>
                        <a:ea typeface="Calibri"/>
                        <a:cs typeface="Calibri"/>
                        <a:sym typeface="Calibri"/>
                      </a:endParaRPr>
                    </a:p>
                  </a:txBody>
                  <a:tcPr marL="0" marR="0" marT="4255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402590" marR="0" lvl="0" indent="0" algn="l"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PRE-SETTLE</a:t>
                      </a:r>
                      <a:endParaRPr sz="750" u="none" strike="noStrike" cap="none">
                        <a:latin typeface="Calibri"/>
                        <a:ea typeface="Calibri"/>
                        <a:cs typeface="Calibri"/>
                        <a:sym typeface="Calibri"/>
                      </a:endParaRPr>
                    </a:p>
                    <a:p>
                      <a:pPr marL="441959" marR="0" lvl="0" indent="0" algn="l"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(Verified)</a:t>
                      </a:r>
                      <a:endParaRPr sz="750" u="none" strike="noStrike" cap="none">
                        <a:latin typeface="Calibri"/>
                        <a:ea typeface="Calibri"/>
                        <a:cs typeface="Calibri"/>
                        <a:sym typeface="Calibri"/>
                      </a:endParaRPr>
                    </a:p>
                  </a:txBody>
                  <a:tcPr marL="0" marR="0" marT="4255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412750" marR="0" lvl="0" indent="0" algn="l"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DIFF</a:t>
                      </a:r>
                      <a:endParaRPr sz="750" u="none" strike="noStrike" cap="none">
                        <a:latin typeface="Calibri"/>
                        <a:ea typeface="Calibri"/>
                        <a:cs typeface="Calibri"/>
                        <a:sym typeface="Calibri"/>
                      </a:endParaRPr>
                    </a:p>
                    <a:p>
                      <a:pPr marL="419100" marR="0" lvl="0" indent="0" algn="l"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(pp)</a:t>
                      </a:r>
                      <a:endParaRPr sz="750" u="none" strike="noStrike" cap="none">
                        <a:latin typeface="Calibri"/>
                        <a:ea typeface="Calibri"/>
                        <a:cs typeface="Calibri"/>
                        <a:sym typeface="Calibri"/>
                      </a:endParaRPr>
                    </a:p>
                  </a:txBody>
                  <a:tcPr marL="0" marR="0" marT="42550" marB="0">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38100" lvl="0" indent="0" algn="ctr" rtl="0">
                        <a:lnSpc>
                          <a:spcPct val="100000"/>
                        </a:lnSpc>
                        <a:spcBef>
                          <a:spcPts val="0"/>
                        </a:spcBef>
                        <a:spcAft>
                          <a:spcPts val="0"/>
                        </a:spcAft>
                        <a:buNone/>
                      </a:pPr>
                      <a:r>
                        <a:rPr lang="en-US" sz="750" b="1" u="none" strike="noStrike" cap="none">
                          <a:solidFill>
                            <a:srgbClr val="C8A84B"/>
                          </a:solidFill>
                          <a:latin typeface="Calibri"/>
                          <a:ea typeface="Calibri"/>
                          <a:cs typeface="Calibri"/>
                          <a:sym typeface="Calibri"/>
                        </a:rPr>
                        <a:t>WHY THE DIFFERENCE</a:t>
                      </a:r>
                      <a:endParaRPr sz="750" u="none" strike="noStrike" cap="none">
                        <a:latin typeface="Calibri"/>
                        <a:ea typeface="Calibri"/>
                        <a:cs typeface="Calibri"/>
                        <a:sym typeface="Calibri"/>
                      </a:endParaRPr>
                    </a:p>
                  </a:txBody>
                  <a:tcPr marL="0" marR="0" marT="99700" marB="0">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extLst>
                  <a:ext uri="{0D108BD9-81ED-4DB2-BD59-A6C34878D82A}">
                    <a16:rowId xmlns:a16="http://schemas.microsoft.com/office/drawing/2014/main" val="10000"/>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Maharashtra</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45720" marR="0" lvl="0" indent="0" algn="ctr" rtl="0">
                        <a:lnSpc>
                          <a:spcPct val="100000"/>
                        </a:lnSpc>
                        <a:spcBef>
                          <a:spcPts val="0"/>
                        </a:spcBef>
                        <a:spcAft>
                          <a:spcPts val="0"/>
                        </a:spcAft>
                        <a:buNone/>
                      </a:pPr>
                      <a:r>
                        <a:rPr lang="en-US" sz="1300" b="1" u="none" strike="noStrike" cap="none">
                          <a:solidFill>
                            <a:srgbClr val="1E7D34"/>
                          </a:solidFill>
                          <a:latin typeface="Calibri"/>
                          <a:ea typeface="Calibri"/>
                          <a:cs typeface="Calibri"/>
                          <a:sym typeface="Calibri"/>
                        </a:rPr>
                        <a:t>13%</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527050" marR="0" lvl="0" indent="0" algn="l" rtl="0">
                        <a:lnSpc>
                          <a:spcPct val="100000"/>
                        </a:lnSpc>
                        <a:spcBef>
                          <a:spcPts val="0"/>
                        </a:spcBef>
                        <a:spcAft>
                          <a:spcPts val="0"/>
                        </a:spcAft>
                        <a:buNone/>
                      </a:pPr>
                      <a:r>
                        <a:rPr lang="en-US" sz="1300" b="1" u="none" strike="noStrike" cap="none">
                          <a:solidFill>
                            <a:srgbClr val="1E7D34"/>
                          </a:solidFill>
                          <a:latin typeface="Calibri"/>
                          <a:ea typeface="Calibri"/>
                          <a:cs typeface="Calibri"/>
                          <a:sym typeface="Calibri"/>
                        </a:rPr>
                        <a:t>9%</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179070" lvl="0" indent="0" algn="r" rtl="0">
                        <a:lnSpc>
                          <a:spcPct val="100000"/>
                        </a:lnSpc>
                        <a:spcBef>
                          <a:spcPts val="0"/>
                        </a:spcBef>
                        <a:spcAft>
                          <a:spcPts val="0"/>
                        </a:spcAft>
                        <a:buNone/>
                      </a:pPr>
                      <a:r>
                        <a:rPr lang="en-US" sz="1200" b="1" u="none" strike="noStrike" cap="none">
                          <a:solidFill>
                            <a:srgbClr val="1E7D34"/>
                          </a:solidFill>
                          <a:latin typeface="Calibri"/>
                          <a:ea typeface="Calibri"/>
                          <a:cs typeface="Calibri"/>
                          <a:sym typeface="Calibri"/>
                        </a:rPr>
                        <a:t>+4pp</a:t>
                      </a:r>
                      <a:endParaRPr sz="1200" u="none" strike="noStrike" cap="none">
                        <a:latin typeface="Calibri"/>
                        <a:ea typeface="Calibri"/>
                        <a:cs typeface="Calibri"/>
                        <a:sym typeface="Calibri"/>
                      </a:endParaRPr>
                    </a:p>
                  </a:txBody>
                  <a:tcPr marL="0" marR="0" marT="584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161925" marR="254000" lvl="0" indent="0" algn="l" rtl="0">
                        <a:lnSpc>
                          <a:spcPct val="100000"/>
                        </a:lnSpc>
                        <a:spcBef>
                          <a:spcPts val="0"/>
                        </a:spcBef>
                        <a:spcAft>
                          <a:spcPts val="0"/>
                        </a:spcAft>
                        <a:buNone/>
                      </a:pPr>
                      <a:r>
                        <a:rPr lang="en-US" sz="750" i="1" u="none" strike="noStrike" cap="none">
                          <a:solidFill>
                            <a:srgbClr val="2C3747"/>
                          </a:solidFill>
                          <a:latin typeface="Calibri"/>
                          <a:ea typeface="Calibri"/>
                          <a:cs typeface="Calibri"/>
                          <a:sym typeface="Calibri"/>
                        </a:rPr>
                        <a:t>Large IGST windfall — India's biggest consumption centre; ad hoc settlement boost in FY26</a:t>
                      </a:r>
                      <a:endParaRPr sz="750" u="none" strike="noStrike" cap="none">
                        <a:latin typeface="Calibri"/>
                        <a:ea typeface="Calibri"/>
                        <a:cs typeface="Calibri"/>
                        <a:sym typeface="Calibri"/>
                      </a:endParaRPr>
                    </a:p>
                  </a:txBody>
                  <a:tcPr marL="0" marR="0" marT="39375"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Karnataka</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4450" marR="0" lvl="0" indent="0" algn="ctr" rtl="0">
                        <a:lnSpc>
                          <a:spcPct val="100000"/>
                        </a:lnSpc>
                        <a:spcBef>
                          <a:spcPts val="0"/>
                        </a:spcBef>
                        <a:spcAft>
                          <a:spcPts val="0"/>
                        </a:spcAft>
                        <a:buNone/>
                      </a:pPr>
                      <a:r>
                        <a:rPr lang="en-US" sz="1300" b="1" u="none" strike="noStrike" cap="none">
                          <a:solidFill>
                            <a:srgbClr val="E67D21"/>
                          </a:solidFill>
                          <a:latin typeface="Calibri"/>
                          <a:ea typeface="Calibri"/>
                          <a:cs typeface="Calibri"/>
                          <a:sym typeface="Calibri"/>
                        </a:rPr>
                        <a:t>5%</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86409" marR="0" lvl="0" indent="0" algn="l" rtl="0">
                        <a:lnSpc>
                          <a:spcPct val="100000"/>
                        </a:lnSpc>
                        <a:spcBef>
                          <a:spcPts val="0"/>
                        </a:spcBef>
                        <a:spcAft>
                          <a:spcPts val="0"/>
                        </a:spcAft>
                        <a:buNone/>
                      </a:pPr>
                      <a:r>
                        <a:rPr lang="en-US" sz="1300" b="1" u="none" strike="noStrike" cap="none">
                          <a:solidFill>
                            <a:srgbClr val="1E7D34"/>
                          </a:solidFill>
                          <a:latin typeface="Calibri"/>
                          <a:ea typeface="Calibri"/>
                          <a:cs typeface="Calibri"/>
                          <a:sym typeface="Calibri"/>
                        </a:rPr>
                        <a:t>11%</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179070" lvl="0" indent="0" algn="r" rtl="0">
                        <a:lnSpc>
                          <a:spcPct val="100000"/>
                        </a:lnSpc>
                        <a:spcBef>
                          <a:spcPts val="0"/>
                        </a:spcBef>
                        <a:spcAft>
                          <a:spcPts val="0"/>
                        </a:spcAft>
                        <a:buNone/>
                      </a:pPr>
                      <a:r>
                        <a:rPr lang="en-US" sz="1200" b="1" u="none" strike="noStrike" cap="none">
                          <a:solidFill>
                            <a:srgbClr val="C0392B"/>
                          </a:solidFill>
                          <a:latin typeface="Calibri"/>
                          <a:ea typeface="Calibri"/>
                          <a:cs typeface="Calibri"/>
                          <a:sym typeface="Calibri"/>
                        </a:rPr>
                        <a:t>−6pp</a:t>
                      </a:r>
                      <a:endParaRPr sz="1200" u="none" strike="noStrike" cap="none">
                        <a:latin typeface="Calibri"/>
                        <a:ea typeface="Calibri"/>
                        <a:cs typeface="Calibri"/>
                        <a:sym typeface="Calibri"/>
                      </a:endParaRPr>
                    </a:p>
                  </a:txBody>
                  <a:tcPr marL="0" marR="0" marT="584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200" b="1" u="none" strike="noStrike" cap="none">
                        <a:solidFill>
                          <a:srgbClr val="1E7D34"/>
                        </a:solidFill>
                        <a:latin typeface="Calibri"/>
                        <a:ea typeface="Calibri"/>
                        <a:cs typeface="Calibri"/>
                        <a:sym typeface="Calibri"/>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Gujarat</a:t>
                      </a:r>
                      <a:endParaRPr sz="950" u="none" strike="noStrike" cap="none">
                        <a:latin typeface="Calibri"/>
                        <a:ea typeface="Calibri"/>
                        <a:cs typeface="Calibri"/>
                        <a:sym typeface="Calibri"/>
                      </a:endParaRPr>
                    </a:p>
                  </a:txBody>
                  <a:tcPr marL="0" marR="0" marT="6540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45720" marR="0" lvl="0" indent="0" algn="ctr" rtl="0">
                        <a:lnSpc>
                          <a:spcPct val="100000"/>
                        </a:lnSpc>
                        <a:spcBef>
                          <a:spcPts val="0"/>
                        </a:spcBef>
                        <a:spcAft>
                          <a:spcPts val="0"/>
                        </a:spcAft>
                        <a:buNone/>
                      </a:pPr>
                      <a:r>
                        <a:rPr lang="en-US" sz="1300" b="1" u="none" strike="noStrike" cap="none">
                          <a:solidFill>
                            <a:srgbClr val="1E7D34"/>
                          </a:solidFill>
                          <a:latin typeface="Calibri"/>
                          <a:ea typeface="Calibri"/>
                          <a:cs typeface="Calibri"/>
                          <a:sym typeface="Calibri"/>
                        </a:rPr>
                        <a:t>10%</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527050" marR="0" lvl="0" indent="0" algn="l" rtl="0">
                        <a:lnSpc>
                          <a:spcPct val="100000"/>
                        </a:lnSpc>
                        <a:spcBef>
                          <a:spcPts val="0"/>
                        </a:spcBef>
                        <a:spcAft>
                          <a:spcPts val="0"/>
                        </a:spcAft>
                        <a:buNone/>
                      </a:pPr>
                      <a:r>
                        <a:rPr lang="en-US" sz="1300" b="1" u="none" strike="noStrike" cap="none">
                          <a:solidFill>
                            <a:srgbClr val="1E7D34"/>
                          </a:solidFill>
                          <a:latin typeface="Calibri"/>
                          <a:ea typeface="Calibri"/>
                          <a:cs typeface="Calibri"/>
                          <a:sym typeface="Calibri"/>
                        </a:rPr>
                        <a:t>8%</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179070" lvl="0" indent="0" algn="r" rtl="0">
                        <a:lnSpc>
                          <a:spcPct val="100000"/>
                        </a:lnSpc>
                        <a:spcBef>
                          <a:spcPts val="0"/>
                        </a:spcBef>
                        <a:spcAft>
                          <a:spcPts val="0"/>
                        </a:spcAft>
                        <a:buNone/>
                      </a:pPr>
                      <a:r>
                        <a:rPr lang="en-US" sz="1200" b="1" u="none" strike="noStrike" cap="none">
                          <a:solidFill>
                            <a:srgbClr val="1E7D34"/>
                          </a:solidFill>
                          <a:latin typeface="Calibri"/>
                          <a:ea typeface="Calibri"/>
                          <a:cs typeface="Calibri"/>
                          <a:sym typeface="Calibri"/>
                        </a:rPr>
                        <a:t>+2pp</a:t>
                      </a:r>
                      <a:endParaRPr sz="1200" u="none" strike="noStrike" cap="none">
                        <a:latin typeface="Calibri"/>
                        <a:ea typeface="Calibri"/>
                        <a:cs typeface="Calibri"/>
                        <a:sym typeface="Calibri"/>
                      </a:endParaRPr>
                    </a:p>
                  </a:txBody>
                  <a:tcPr marL="0" marR="0" marT="584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UP</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4450" marR="0" lvl="0" indent="0" algn="ctr"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1%</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527050" marR="0" lvl="0" indent="0" algn="l"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2%</a:t>
                      </a:r>
                      <a:endParaRPr sz="1300" u="none" strike="noStrike" cap="none">
                        <a:latin typeface="Calibri"/>
                        <a:ea typeface="Calibri"/>
                        <a:cs typeface="Calibri"/>
                        <a:sym typeface="Calibri"/>
                      </a:endParaRPr>
                    </a:p>
                  </a:txBody>
                  <a:tcPr marL="0" marR="0" marT="501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179070" lvl="0" indent="0" algn="r" rtl="0">
                        <a:lnSpc>
                          <a:spcPct val="100000"/>
                        </a:lnSpc>
                        <a:spcBef>
                          <a:spcPts val="0"/>
                        </a:spcBef>
                        <a:spcAft>
                          <a:spcPts val="0"/>
                        </a:spcAft>
                        <a:buNone/>
                      </a:pPr>
                      <a:r>
                        <a:rPr lang="en-US" sz="1200" b="1" u="none" strike="noStrike" cap="none">
                          <a:solidFill>
                            <a:srgbClr val="C0392B"/>
                          </a:solidFill>
                          <a:latin typeface="Calibri"/>
                          <a:ea typeface="Calibri"/>
                          <a:cs typeface="Calibri"/>
                          <a:sym typeface="Calibri"/>
                        </a:rPr>
                        <a:t>−1pp</a:t>
                      </a:r>
                      <a:endParaRPr sz="1200" u="none" strike="noStrike" cap="none">
                        <a:latin typeface="Calibri"/>
                        <a:ea typeface="Calibri"/>
                        <a:cs typeface="Calibri"/>
                        <a:sym typeface="Calibri"/>
                      </a:endParaRPr>
                    </a:p>
                  </a:txBody>
                  <a:tcPr marL="0" marR="0" marT="584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330825">
                <a:tc>
                  <a:txBody>
                    <a:bodyPr/>
                    <a:lstStyle/>
                    <a:p>
                      <a:pPr marL="154940" marR="0" lvl="0" indent="0" algn="l" rtl="0">
                        <a:lnSpc>
                          <a:spcPct val="100000"/>
                        </a:lnSpc>
                        <a:spcBef>
                          <a:spcPts val="0"/>
                        </a:spcBef>
                        <a:spcAft>
                          <a:spcPts val="0"/>
                        </a:spcAft>
                        <a:buNone/>
                      </a:pPr>
                      <a:r>
                        <a:rPr lang="en-US" sz="950" b="1" u="none" strike="noStrike" cap="none">
                          <a:solidFill>
                            <a:srgbClr val="1564C0"/>
                          </a:solidFill>
                          <a:latin typeface="Calibri"/>
                          <a:ea typeface="Calibri"/>
                          <a:cs typeface="Calibri"/>
                          <a:sym typeface="Calibri"/>
                        </a:rPr>
                        <a:t>Rajasthan</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4450" marR="0" lvl="0" indent="0" algn="ctr" rtl="0">
                        <a:lnSpc>
                          <a:spcPct val="100000"/>
                        </a:lnSpc>
                        <a:spcBef>
                          <a:spcPts val="0"/>
                        </a:spcBef>
                        <a:spcAft>
                          <a:spcPts val="0"/>
                        </a:spcAft>
                        <a:buNone/>
                      </a:pPr>
                      <a:r>
                        <a:rPr lang="en-US" sz="1300" b="1" u="none" strike="noStrike" cap="none">
                          <a:solidFill>
                            <a:srgbClr val="E67D21"/>
                          </a:solidFill>
                          <a:latin typeface="Calibri"/>
                          <a:ea typeface="Calibri"/>
                          <a:cs typeface="Calibri"/>
                          <a:sym typeface="Calibri"/>
                        </a:rPr>
                        <a:t>5%</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527050" marR="0" lvl="0" indent="0" algn="l" rtl="0">
                        <a:lnSpc>
                          <a:spcPct val="100000"/>
                        </a:lnSpc>
                        <a:spcBef>
                          <a:spcPts val="0"/>
                        </a:spcBef>
                        <a:spcAft>
                          <a:spcPts val="0"/>
                        </a:spcAft>
                        <a:buNone/>
                      </a:pPr>
                      <a:r>
                        <a:rPr lang="en-US" sz="1300" b="1" u="none" strike="noStrike" cap="none">
                          <a:solidFill>
                            <a:srgbClr val="E67D21"/>
                          </a:solidFill>
                          <a:latin typeface="Calibri"/>
                          <a:ea typeface="Calibri"/>
                          <a:cs typeface="Calibri"/>
                          <a:sym typeface="Calibri"/>
                        </a:rPr>
                        <a:t>6%</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179070" lvl="0" indent="0" algn="r" rtl="0">
                        <a:lnSpc>
                          <a:spcPct val="100000"/>
                        </a:lnSpc>
                        <a:spcBef>
                          <a:spcPts val="0"/>
                        </a:spcBef>
                        <a:spcAft>
                          <a:spcPts val="0"/>
                        </a:spcAft>
                        <a:buNone/>
                      </a:pPr>
                      <a:r>
                        <a:rPr lang="en-US" sz="1200" b="1" u="none" strike="noStrike" cap="none">
                          <a:solidFill>
                            <a:srgbClr val="C0392B"/>
                          </a:solidFill>
                          <a:latin typeface="Calibri"/>
                          <a:ea typeface="Calibri"/>
                          <a:cs typeface="Calibri"/>
                          <a:sym typeface="Calibri"/>
                        </a:rPr>
                        <a:t>−1pp</a:t>
                      </a:r>
                      <a:endParaRPr sz="1200" u="none" strike="noStrike" cap="none">
                        <a:latin typeface="Calibri"/>
                        <a:ea typeface="Calibri"/>
                        <a:cs typeface="Calibri"/>
                        <a:sym typeface="Calibri"/>
                      </a:endParaRPr>
                    </a:p>
                  </a:txBody>
                  <a:tcPr marL="0" marR="0" marT="584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61925" marR="0" lvl="0" indent="0" algn="l" rtl="0">
                        <a:lnSpc>
                          <a:spcPct val="100000"/>
                        </a:lnSpc>
                        <a:spcBef>
                          <a:spcPts val="0"/>
                        </a:spcBef>
                        <a:spcAft>
                          <a:spcPts val="0"/>
                        </a:spcAft>
                        <a:buNone/>
                      </a:pPr>
                      <a:r>
                        <a:rPr lang="en-US" sz="750" i="1" u="none" strike="noStrike" cap="none">
                          <a:solidFill>
                            <a:srgbClr val="2C3747"/>
                          </a:solidFill>
                          <a:latin typeface="Calibri"/>
                          <a:ea typeface="Calibri"/>
                          <a:cs typeface="Calibri"/>
                          <a:sym typeface="Calibri"/>
                        </a:rPr>
                        <a:t>Exports minerals/textiles → IGST flows to consuming states;</a:t>
                      </a:r>
                      <a:endParaRPr sz="750" u="none" strike="noStrike" cap="none">
                        <a:latin typeface="Calibri"/>
                        <a:ea typeface="Calibri"/>
                        <a:cs typeface="Calibri"/>
                        <a:sym typeface="Calibri"/>
                      </a:endParaRPr>
                    </a:p>
                    <a:p>
                      <a:pPr marL="161925" marR="0" lvl="0" indent="0" algn="l" rtl="0">
                        <a:lnSpc>
                          <a:spcPct val="100000"/>
                        </a:lnSpc>
                        <a:spcBef>
                          <a:spcPts val="0"/>
                        </a:spcBef>
                        <a:spcAft>
                          <a:spcPts val="0"/>
                        </a:spcAft>
                        <a:buNone/>
                      </a:pPr>
                      <a:r>
                        <a:rPr lang="en-US" sz="750" i="1" u="none" strike="noStrike" cap="none">
                          <a:solidFill>
                            <a:srgbClr val="2C3747"/>
                          </a:solidFill>
                          <a:latin typeface="Calibri"/>
                          <a:ea typeface="Calibri"/>
                          <a:cs typeface="Calibri"/>
                          <a:sym typeface="Calibri"/>
                        </a:rPr>
                        <a:t>Rajasthan retains less</a:t>
                      </a:r>
                      <a:endParaRPr sz="750" u="none" strike="noStrike" cap="none">
                        <a:latin typeface="Calibri"/>
                        <a:ea typeface="Calibri"/>
                        <a:cs typeface="Calibri"/>
                        <a:sym typeface="Calibri"/>
                      </a:endParaRPr>
                    </a:p>
                  </a:txBody>
                  <a:tcPr marL="0" marR="0" marT="39375"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MP</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44450" marR="0" lvl="0" indent="0" algn="ctr"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−5%</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527050" marR="0" lvl="0" indent="0" algn="l" rtl="0">
                        <a:lnSpc>
                          <a:spcPct val="100000"/>
                        </a:lnSpc>
                        <a:spcBef>
                          <a:spcPts val="0"/>
                        </a:spcBef>
                        <a:spcAft>
                          <a:spcPts val="0"/>
                        </a:spcAft>
                        <a:buNone/>
                      </a:pPr>
                      <a:r>
                        <a:rPr lang="en-US" sz="1300" b="1" u="none" strike="noStrike" cap="none">
                          <a:solidFill>
                            <a:srgbClr val="E67D21"/>
                          </a:solidFill>
                          <a:latin typeface="Calibri"/>
                          <a:ea typeface="Calibri"/>
                          <a:cs typeface="Calibri"/>
                          <a:sym typeface="Calibri"/>
                        </a:rPr>
                        <a:t>4%</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179070" lvl="0" indent="0" algn="r" rtl="0">
                        <a:lnSpc>
                          <a:spcPct val="100000"/>
                        </a:lnSpc>
                        <a:spcBef>
                          <a:spcPts val="0"/>
                        </a:spcBef>
                        <a:spcAft>
                          <a:spcPts val="0"/>
                        </a:spcAft>
                        <a:buNone/>
                      </a:pPr>
                      <a:r>
                        <a:rPr lang="en-US" sz="1200" b="1" u="none" strike="noStrike" cap="none">
                          <a:solidFill>
                            <a:srgbClr val="C0392B"/>
                          </a:solidFill>
                          <a:latin typeface="Calibri"/>
                          <a:ea typeface="Calibri"/>
                          <a:cs typeface="Calibri"/>
                          <a:sym typeface="Calibri"/>
                        </a:rPr>
                        <a:t>−9pp</a:t>
                      </a:r>
                      <a:endParaRPr sz="1200" u="none" strike="noStrike" cap="none">
                        <a:latin typeface="Calibri"/>
                        <a:ea typeface="Calibri"/>
                        <a:cs typeface="Calibri"/>
                        <a:sym typeface="Calibri"/>
                      </a:endParaRPr>
                    </a:p>
                  </a:txBody>
                  <a:tcPr marL="0" marR="0" marT="5905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162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Delhi</a:t>
                      </a:r>
                      <a:endParaRPr sz="950" u="none" strike="noStrike" cap="none">
                        <a:latin typeface="Calibri"/>
                        <a:ea typeface="Calibri"/>
                        <a:cs typeface="Calibri"/>
                        <a:sym typeface="Calibri"/>
                      </a:endParaRPr>
                    </a:p>
                  </a:txBody>
                  <a:tcPr marL="0" marR="0" marT="6605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4450" marR="0" lvl="0" indent="0" algn="ctr"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3%</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527050" marR="0" lvl="0" indent="0" algn="l"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8%</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179070" lvl="0" indent="0" algn="r" rtl="0">
                        <a:lnSpc>
                          <a:spcPct val="100000"/>
                        </a:lnSpc>
                        <a:spcBef>
                          <a:spcPts val="0"/>
                        </a:spcBef>
                        <a:spcAft>
                          <a:spcPts val="0"/>
                        </a:spcAft>
                        <a:buNone/>
                      </a:pPr>
                      <a:r>
                        <a:rPr lang="en-US" sz="1200" b="1" u="none" strike="noStrike" cap="none">
                          <a:solidFill>
                            <a:srgbClr val="C0392B"/>
                          </a:solidFill>
                          <a:latin typeface="Calibri"/>
                          <a:ea typeface="Calibri"/>
                          <a:cs typeface="Calibri"/>
                          <a:sym typeface="Calibri"/>
                        </a:rPr>
                        <a:t>−5pp</a:t>
                      </a:r>
                      <a:endParaRPr sz="1200" u="none" strike="noStrike" cap="none">
                        <a:latin typeface="Calibri"/>
                        <a:ea typeface="Calibri"/>
                        <a:cs typeface="Calibri"/>
                        <a:sym typeface="Calibri"/>
                      </a:endParaRPr>
                    </a:p>
                  </a:txBody>
                  <a:tcPr marL="0" marR="0" marT="5905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3162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Punjab</a:t>
                      </a:r>
                      <a:endParaRPr sz="950" u="none" strike="noStrike" cap="none">
                        <a:latin typeface="Calibri"/>
                        <a:ea typeface="Calibri"/>
                        <a:cs typeface="Calibri"/>
                        <a:sym typeface="Calibri"/>
                      </a:endParaRPr>
                    </a:p>
                  </a:txBody>
                  <a:tcPr marL="0" marR="0" marT="66675"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44450" marR="0" lvl="0" indent="0" algn="ctr"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8%</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527050" marR="0" lvl="0" indent="0" algn="l" rtl="0">
                        <a:lnSpc>
                          <a:spcPct val="100000"/>
                        </a:lnSpc>
                        <a:spcBef>
                          <a:spcPts val="0"/>
                        </a:spcBef>
                        <a:spcAft>
                          <a:spcPts val="0"/>
                        </a:spcAft>
                        <a:buNone/>
                      </a:pPr>
                      <a:r>
                        <a:rPr lang="en-US" sz="1300" b="1" u="none" strike="noStrike" cap="none">
                          <a:solidFill>
                            <a:srgbClr val="C0392B"/>
                          </a:solidFill>
                          <a:latin typeface="Calibri"/>
                          <a:ea typeface="Calibri"/>
                          <a:cs typeface="Calibri"/>
                          <a:sym typeface="Calibri"/>
                        </a:rPr>
                        <a:t>8%</a:t>
                      </a:r>
                      <a:endParaRPr sz="1300" u="none" strike="noStrike" cap="none">
                        <a:latin typeface="Calibri"/>
                        <a:ea typeface="Calibri"/>
                        <a:cs typeface="Calibri"/>
                        <a:sym typeface="Calibri"/>
                      </a:endParaRPr>
                    </a:p>
                  </a:txBody>
                  <a:tcPr marL="0" marR="0" marT="5080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0" marR="179070" lvl="0" indent="0" algn="r" rtl="0">
                        <a:lnSpc>
                          <a:spcPct val="100000"/>
                        </a:lnSpc>
                        <a:spcBef>
                          <a:spcPts val="0"/>
                        </a:spcBef>
                        <a:spcAft>
                          <a:spcPts val="0"/>
                        </a:spcAft>
                        <a:buNone/>
                      </a:pPr>
                      <a:r>
                        <a:rPr lang="en-US" sz="1200" b="1" u="none" strike="noStrike" cap="none">
                          <a:solidFill>
                            <a:srgbClr val="538235"/>
                          </a:solidFill>
                          <a:latin typeface="Calibri"/>
                          <a:ea typeface="Calibri"/>
                          <a:cs typeface="Calibri"/>
                          <a:sym typeface="Calibri"/>
                        </a:rPr>
                        <a:t>+0pp</a:t>
                      </a:r>
                      <a:endParaRPr sz="1200" u="none" strike="noStrike" cap="none">
                        <a:latin typeface="Calibri"/>
                        <a:ea typeface="Calibri"/>
                        <a:cs typeface="Calibri"/>
                        <a:sym typeface="Calibri"/>
                      </a:endParaRPr>
                    </a:p>
                  </a:txBody>
                  <a:tcPr marL="0" marR="0" marT="5905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extLst>
                  <a:ext uri="{0D108BD9-81ED-4DB2-BD59-A6C34878D82A}">
                    <a16:rowId xmlns:a16="http://schemas.microsoft.com/office/drawing/2014/main" val="10008"/>
                  </a:ext>
                </a:extLst>
              </a:tr>
              <a:tr h="330825">
                <a:tc>
                  <a:txBody>
                    <a:bodyPr/>
                    <a:lstStyle/>
                    <a:p>
                      <a:pPr marL="154940" marR="0" lvl="0" indent="0" algn="l" rtl="0">
                        <a:lnSpc>
                          <a:spcPct val="100000"/>
                        </a:lnSpc>
                        <a:spcBef>
                          <a:spcPts val="0"/>
                        </a:spcBef>
                        <a:spcAft>
                          <a:spcPts val="0"/>
                        </a:spcAft>
                        <a:buNone/>
                      </a:pPr>
                      <a:r>
                        <a:rPr lang="en-US" sz="950" u="none" strike="noStrike" cap="none">
                          <a:solidFill>
                            <a:srgbClr val="1B2A49"/>
                          </a:solidFill>
                          <a:latin typeface="Calibri"/>
                          <a:ea typeface="Calibri"/>
                          <a:cs typeface="Calibri"/>
                          <a:sym typeface="Calibri"/>
                        </a:rPr>
                        <a:t>Haryana</a:t>
                      </a:r>
                      <a:endParaRPr sz="950" u="none" strike="noStrike" cap="none">
                        <a:latin typeface="Calibri"/>
                        <a:ea typeface="Calibri"/>
                        <a:cs typeface="Calibri"/>
                        <a:sym typeface="Calibri"/>
                      </a:endParaRPr>
                    </a:p>
                  </a:txBody>
                  <a:tcPr marL="0" marR="0" marT="85100" marB="0">
                    <a:lnL w="1270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45720" marR="0" lvl="0" indent="0" algn="ctr" rtl="0">
                        <a:lnSpc>
                          <a:spcPct val="100000"/>
                        </a:lnSpc>
                        <a:spcBef>
                          <a:spcPts val="0"/>
                        </a:spcBef>
                        <a:spcAft>
                          <a:spcPts val="0"/>
                        </a:spcAft>
                        <a:buNone/>
                      </a:pPr>
                      <a:r>
                        <a:rPr lang="en-US" sz="1200" b="1" u="none" strike="noStrike" cap="none">
                          <a:solidFill>
                            <a:srgbClr val="1E7D34"/>
                          </a:solidFill>
                          <a:latin typeface="Calibri"/>
                          <a:ea typeface="Calibri"/>
                          <a:cs typeface="Calibri"/>
                          <a:sym typeface="Calibri"/>
                        </a:rPr>
                        <a:t>22%</a:t>
                      </a:r>
                      <a:endParaRPr sz="1200" b="1" u="none" strike="noStrike" cap="none">
                        <a:solidFill>
                          <a:srgbClr val="1E7D34"/>
                        </a:solidFill>
                        <a:latin typeface="Calibri"/>
                        <a:ea typeface="Calibri"/>
                        <a:cs typeface="Calibri"/>
                        <a:sym typeface="Calibri"/>
                      </a:endParaRPr>
                    </a:p>
                  </a:txBody>
                  <a:tcPr marL="0" marR="0" marT="6985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527050" marR="0" lvl="0" indent="0" algn="l" rtl="0">
                        <a:lnSpc>
                          <a:spcPct val="100000"/>
                        </a:lnSpc>
                        <a:spcBef>
                          <a:spcPts val="0"/>
                        </a:spcBef>
                        <a:spcAft>
                          <a:spcPts val="0"/>
                        </a:spcAft>
                        <a:buNone/>
                      </a:pPr>
                      <a:r>
                        <a:rPr lang="en-US" sz="1200" b="1" u="none" strike="noStrike" cap="none">
                          <a:solidFill>
                            <a:srgbClr val="1E7D34"/>
                          </a:solidFill>
                          <a:latin typeface="Calibri"/>
                          <a:ea typeface="Calibri"/>
                          <a:cs typeface="Calibri"/>
                          <a:sym typeface="Calibri"/>
                        </a:rPr>
                        <a:t>7%</a:t>
                      </a:r>
                      <a:endParaRPr sz="1200" b="1" u="none" strike="noStrike" cap="none">
                        <a:solidFill>
                          <a:srgbClr val="1E7D34"/>
                        </a:solidFill>
                        <a:latin typeface="Calibri"/>
                        <a:ea typeface="Calibri"/>
                        <a:cs typeface="Calibri"/>
                        <a:sym typeface="Calibri"/>
                      </a:endParaRPr>
                    </a:p>
                  </a:txBody>
                  <a:tcPr marL="0" marR="0" marT="69850"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0" marR="153670" lvl="0" indent="0" algn="r" rtl="0">
                        <a:lnSpc>
                          <a:spcPct val="100000"/>
                        </a:lnSpc>
                        <a:spcBef>
                          <a:spcPts val="0"/>
                        </a:spcBef>
                        <a:spcAft>
                          <a:spcPts val="0"/>
                        </a:spcAft>
                        <a:buNone/>
                      </a:pPr>
                      <a:r>
                        <a:rPr lang="en-US" sz="1200" b="1" u="none" strike="noStrike" cap="none">
                          <a:solidFill>
                            <a:srgbClr val="1E7D34"/>
                          </a:solidFill>
                          <a:latin typeface="Calibri"/>
                          <a:ea typeface="Calibri"/>
                          <a:cs typeface="Calibri"/>
                          <a:sym typeface="Calibri"/>
                        </a:rPr>
                        <a:t>+15pp</a:t>
                      </a:r>
                      <a:endParaRPr/>
                    </a:p>
                  </a:txBody>
                  <a:tcPr marL="0" marR="0" marT="7747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tc>
                  <a:txBody>
                    <a:bodyPr/>
                    <a:lstStyle/>
                    <a:p>
                      <a:pPr marL="0" marR="0" lvl="0" indent="0" algn="l" rtl="0">
                        <a:lnSpc>
                          <a:spcPct val="100000"/>
                        </a:lnSpc>
                        <a:spcBef>
                          <a:spcPts val="0"/>
                        </a:spcBef>
                        <a:spcAft>
                          <a:spcPts val="0"/>
                        </a:spcAft>
                        <a:buNone/>
                      </a:pPr>
                      <a:endParaRPr sz="800" u="none" strike="noStrike" cap="none">
                        <a:latin typeface="Times New Roman"/>
                        <a:ea typeface="Times New Roman"/>
                        <a:cs typeface="Times New Roman"/>
                        <a:sym typeface="Times New Roman"/>
                      </a:endParaRPr>
                    </a:p>
                  </a:txBody>
                  <a:tcPr marL="0" marR="0" marT="0" marB="0">
                    <a:lnL w="9525" cap="flat" cmpd="sng">
                      <a:solidFill>
                        <a:srgbClr val="000000">
                          <a:alpha val="0"/>
                        </a:srgbClr>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F6F8"/>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3"/>
          <p:cNvSpPr txBox="1"/>
          <p:nvPr/>
        </p:nvSpPr>
        <p:spPr>
          <a:xfrm>
            <a:off x="444500" y="136347"/>
            <a:ext cx="2965500" cy="2436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500" b="1">
                <a:solidFill>
                  <a:srgbClr val="FFFFFF"/>
                </a:solidFill>
                <a:latin typeface="Calibri"/>
                <a:ea typeface="Calibri"/>
                <a:cs typeface="Calibri"/>
                <a:sym typeface="Calibri"/>
              </a:rPr>
              <a:t>FY 2025-26 GST Revenue Comparison</a:t>
            </a:r>
            <a:endParaRPr sz="1500">
              <a:latin typeface="Calibri"/>
              <a:ea typeface="Calibri"/>
              <a:cs typeface="Calibri"/>
              <a:sym typeface="Calibri"/>
            </a:endParaRPr>
          </a:p>
        </p:txBody>
      </p:sp>
      <p:graphicFrame>
        <p:nvGraphicFramePr>
          <p:cNvPr id="317" name="Google Shape;317;p23"/>
          <p:cNvGraphicFramePr/>
          <p:nvPr/>
        </p:nvGraphicFramePr>
        <p:xfrm>
          <a:off x="1295400" y="727867"/>
          <a:ext cx="6324575" cy="4317340"/>
        </p:xfrm>
        <a:graphic>
          <a:graphicData uri="http://schemas.openxmlformats.org/drawingml/2006/table">
            <a:tbl>
              <a:tblPr>
                <a:noFill/>
                <a:tableStyleId>{C0668F59-ACE9-41EE-BF83-7E9F5C155E1C}</a:tableStyleId>
              </a:tblPr>
              <a:tblGrid>
                <a:gridCol w="301250">
                  <a:extLst>
                    <a:ext uri="{9D8B030D-6E8A-4147-A177-3AD203B41FA5}">
                      <a16:colId xmlns:a16="http://schemas.microsoft.com/office/drawing/2014/main" val="20000"/>
                    </a:ext>
                  </a:extLst>
                </a:gridCol>
                <a:gridCol w="1559450">
                  <a:extLst>
                    <a:ext uri="{9D8B030D-6E8A-4147-A177-3AD203B41FA5}">
                      <a16:colId xmlns:a16="http://schemas.microsoft.com/office/drawing/2014/main" val="20001"/>
                    </a:ext>
                  </a:extLst>
                </a:gridCol>
                <a:gridCol w="886050">
                  <a:extLst>
                    <a:ext uri="{9D8B030D-6E8A-4147-A177-3AD203B41FA5}">
                      <a16:colId xmlns:a16="http://schemas.microsoft.com/office/drawing/2014/main" val="20002"/>
                    </a:ext>
                  </a:extLst>
                </a:gridCol>
                <a:gridCol w="939200">
                  <a:extLst>
                    <a:ext uri="{9D8B030D-6E8A-4147-A177-3AD203B41FA5}">
                      <a16:colId xmlns:a16="http://schemas.microsoft.com/office/drawing/2014/main" val="20003"/>
                    </a:ext>
                  </a:extLst>
                </a:gridCol>
                <a:gridCol w="939200">
                  <a:extLst>
                    <a:ext uri="{9D8B030D-6E8A-4147-A177-3AD203B41FA5}">
                      <a16:colId xmlns:a16="http://schemas.microsoft.com/office/drawing/2014/main" val="20004"/>
                    </a:ext>
                  </a:extLst>
                </a:gridCol>
                <a:gridCol w="1699425">
                  <a:extLst>
                    <a:ext uri="{9D8B030D-6E8A-4147-A177-3AD203B41FA5}">
                      <a16:colId xmlns:a16="http://schemas.microsoft.com/office/drawing/2014/main" val="20005"/>
                    </a:ext>
                  </a:extLst>
                </a:gridCol>
              </a:tblGrid>
              <a:tr h="175875">
                <a:tc gridSpan="6">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Growth of GST Revenue - Major States (As per PIB)</a:t>
                      </a:r>
                      <a:endParaRPr/>
                    </a:p>
                  </a:txBody>
                  <a:tcPr marL="4350" marR="4350" marT="4350" marB="0" anchor="ctr">
                    <a:lnL w="381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BE2D5"/>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5875">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a:t>
                      </a:r>
                      <a:endParaRPr/>
                    </a:p>
                  </a:txBody>
                  <a:tcPr marL="4350" marR="4350" marT="4350" marB="0" anchor="ctr">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State/UT</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FY 2024-25</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FY 2025-26</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Growth (%)</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Arial"/>
                        <a:buNone/>
                      </a:pPr>
                      <a:r>
                        <a:rPr lang="en-US" sz="1200" b="1" i="0" u="none" strike="noStrike" cap="none">
                          <a:solidFill>
                            <a:srgbClr val="FFFFFF"/>
                          </a:solidFill>
                          <a:latin typeface="Arial"/>
                          <a:ea typeface="Arial"/>
                          <a:cs typeface="Arial"/>
                          <a:sym typeface="Arial"/>
                        </a:rPr>
                        <a:t>Approx. GST Service Sector%</a:t>
                      </a:r>
                      <a:endParaRPr/>
                    </a:p>
                  </a:txBody>
                  <a:tcPr marL="4350" marR="4350" marT="4350" marB="0" anchor="ctr">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003B54"/>
                    </a:solidFill>
                  </a:tcPr>
                </a:tc>
                <a:extLst>
                  <a:ext uri="{0D108BD9-81ED-4DB2-BD59-A6C34878D82A}">
                    <a16:rowId xmlns:a16="http://schemas.microsoft.com/office/drawing/2014/main" val="10001"/>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Assam</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15,557</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17,764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14%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2"/>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Rajasthan</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44,007</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46,334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3"/>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Madhya Pradesh</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36,488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34,613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4"/>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4</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Odisha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26,142</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23,775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-9%</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5"/>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5</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Jharkhand</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14,174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12,418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-12%</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6"/>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6</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Chhattisgarh</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16,390</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14,158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-14%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20%-30%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4B183"/>
                    </a:solidFill>
                  </a:tcPr>
                </a:tc>
                <a:extLst>
                  <a:ext uri="{0D108BD9-81ED-4DB2-BD59-A6C34878D82A}">
                    <a16:rowId xmlns:a16="http://schemas.microsoft.com/office/drawing/2014/main" val="10007"/>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1</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Haryana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39,743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48,289</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22%</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08"/>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Gujarat</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73,200</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80,823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10%</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09"/>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Bihar</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29,295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31,966</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9%</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10"/>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4</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Punjab</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24,749</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26,843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11"/>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5</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Andhra Pradesh</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33,301</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34,301</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12"/>
                  </a:ext>
                </a:extLst>
              </a:tr>
              <a:tr h="188000">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6</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Uttar Pradesh</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84,264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0" i="0" u="none" strike="noStrike" cap="none">
                          <a:solidFill>
                            <a:srgbClr val="000000"/>
                          </a:solidFill>
                          <a:latin typeface="Calibri"/>
                          <a:ea typeface="Calibri"/>
                          <a:cs typeface="Calibri"/>
                          <a:sym typeface="Calibri"/>
                        </a:rPr>
                        <a:t>84,800</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Calibri"/>
                        <a:buNone/>
                      </a:pPr>
                      <a:r>
                        <a:rPr lang="en-US" sz="1200" b="1" i="0" u="none" strike="noStrike" cap="none">
                          <a:solidFill>
                            <a:srgbClr val="000000"/>
                          </a:solidFill>
                          <a:latin typeface="Calibri"/>
                          <a:ea typeface="Calibri"/>
                          <a:cs typeface="Calibri"/>
                          <a:sym typeface="Calibri"/>
                        </a:rPr>
                        <a:t>1%</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6C9EC"/>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30%-40%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FFD966"/>
                    </a:solidFill>
                  </a:tcPr>
                </a:tc>
                <a:extLst>
                  <a:ext uri="{0D108BD9-81ED-4DB2-BD59-A6C34878D82A}">
                    <a16:rowId xmlns:a16="http://schemas.microsoft.com/office/drawing/2014/main" val="10013"/>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Kerala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32,773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33,787</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40%-50%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9D18E"/>
                    </a:solidFill>
                  </a:tcPr>
                </a:tc>
                <a:extLst>
                  <a:ext uri="{0D108BD9-81ED-4DB2-BD59-A6C34878D82A}">
                    <a16:rowId xmlns:a16="http://schemas.microsoft.com/office/drawing/2014/main" val="10014"/>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2</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Tamil Nadu</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75,856</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78,117</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40%-50%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A9D18E"/>
                    </a:solidFill>
                  </a:tcPr>
                </a:tc>
                <a:extLst>
                  <a:ext uri="{0D108BD9-81ED-4DB2-BD59-A6C34878D82A}">
                    <a16:rowId xmlns:a16="http://schemas.microsoft.com/office/drawing/2014/main" val="10015"/>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West Bengal</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46,783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46,548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4D93D9"/>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40%-50%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A9D18E"/>
                    </a:solidFill>
                  </a:tcPr>
                </a:tc>
                <a:extLst>
                  <a:ext uri="{0D108BD9-81ED-4DB2-BD59-A6C34878D82A}">
                    <a16:rowId xmlns:a16="http://schemas.microsoft.com/office/drawing/2014/main" val="10016"/>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Maharashtra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1,72,379</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1,95,500</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50%-60%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92D050"/>
                    </a:solidFill>
                  </a:tcPr>
                </a:tc>
                <a:extLst>
                  <a:ext uri="{0D108BD9-81ED-4DB2-BD59-A6C34878D82A}">
                    <a16:rowId xmlns:a16="http://schemas.microsoft.com/office/drawing/2014/main" val="10017"/>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2</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Telangana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44,025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46,202</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50%-60%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92D050"/>
                    </a:solidFill>
                  </a:tcPr>
                </a:tc>
                <a:extLst>
                  <a:ext uri="{0D108BD9-81ED-4DB2-BD59-A6C34878D82A}">
                    <a16:rowId xmlns:a16="http://schemas.microsoft.com/office/drawing/2014/main" val="10018"/>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Karnataka</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82,808</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87,256</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5%</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50%-60%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92D050"/>
                    </a:solidFill>
                  </a:tcPr>
                </a:tc>
                <a:extLst>
                  <a:ext uri="{0D108BD9-81ED-4DB2-BD59-A6C34878D82A}">
                    <a16:rowId xmlns:a16="http://schemas.microsoft.com/office/drawing/2014/main" val="10019"/>
                  </a:ext>
                </a:extLst>
              </a:tr>
              <a:tr h="188000">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4</a:t>
                      </a:r>
                      <a:endParaRPr/>
                    </a:p>
                  </a:txBody>
                  <a:tcPr marL="4350" marR="4350" marT="4350" marB="0" anchor="b">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Delhi</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36,211</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0" i="0" u="none" strike="noStrike" cap="none">
                          <a:solidFill>
                            <a:srgbClr val="FFFFFF"/>
                          </a:solidFill>
                          <a:latin typeface="Calibri"/>
                          <a:ea typeface="Calibri"/>
                          <a:cs typeface="Calibri"/>
                          <a:sym typeface="Calibri"/>
                        </a:rPr>
                        <a:t>37,374</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3%</a:t>
                      </a:r>
                      <a:endParaRPr/>
                    </a:p>
                  </a:txBody>
                  <a:tcPr marL="4350" marR="4350" marT="4350" marB="0" anchor="b">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15C98"/>
                    </a:solidFill>
                  </a:tcPr>
                </a:tc>
                <a:tc>
                  <a:txBody>
                    <a:bodyPr/>
                    <a:lstStyle/>
                    <a:p>
                      <a:pPr marL="0" marR="0" lvl="0" indent="0" algn="ctr" rtl="0">
                        <a:spcBef>
                          <a:spcPts val="0"/>
                        </a:spcBef>
                        <a:spcAft>
                          <a:spcPts val="0"/>
                        </a:spcAft>
                        <a:buClr>
                          <a:srgbClr val="000000"/>
                        </a:buClr>
                        <a:buSzPts val="1200"/>
                        <a:buFont typeface="Arial"/>
                        <a:buNone/>
                      </a:pPr>
                      <a:r>
                        <a:rPr lang="en-US" sz="1200" b="1" i="0" u="none" strike="noStrike" cap="none">
                          <a:solidFill>
                            <a:srgbClr val="000000"/>
                          </a:solidFill>
                          <a:latin typeface="Arial"/>
                          <a:ea typeface="Arial"/>
                          <a:cs typeface="Arial"/>
                          <a:sym typeface="Arial"/>
                        </a:rPr>
                        <a:t>50%-60%</a:t>
                      </a:r>
                      <a:endParaRPr/>
                    </a:p>
                  </a:txBody>
                  <a:tcPr marL="4350" marR="4350" marT="4350" marB="0" anchor="b">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92D050"/>
                    </a:solidFill>
                  </a:tcPr>
                </a:tc>
                <a:extLst>
                  <a:ext uri="{0D108BD9-81ED-4DB2-BD59-A6C34878D82A}">
                    <a16:rowId xmlns:a16="http://schemas.microsoft.com/office/drawing/2014/main" val="10020"/>
                  </a:ext>
                </a:extLst>
              </a:tr>
              <a:tr h="188000">
                <a:tc gridSpan="2">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National Total</a:t>
                      </a:r>
                      <a:endParaRPr/>
                    </a:p>
                  </a:txBody>
                  <a:tcPr marL="4350" marR="4350" marT="4350" marB="0" anchor="ctr">
                    <a:lnL w="381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hMerge="1">
                  <a:txBody>
                    <a:bodyPr/>
                    <a:lstStyle/>
                    <a:p>
                      <a:endParaRPr lang="en-US"/>
                    </a:p>
                  </a:txBody>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9,73,853</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10,29,131</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6%</a:t>
                      </a:r>
                      <a:endParaRPr/>
                    </a:p>
                  </a:txBody>
                  <a:tcPr marL="4350" marR="4350" marT="4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1200"/>
                        <a:buFont typeface="Calibri"/>
                        <a:buNone/>
                      </a:pPr>
                      <a:r>
                        <a:rPr lang="en-US" sz="1200" b="1" i="0" u="none" strike="noStrike" cap="none">
                          <a:solidFill>
                            <a:srgbClr val="FFFFFF"/>
                          </a:solidFill>
                          <a:latin typeface="Calibri"/>
                          <a:ea typeface="Calibri"/>
                          <a:cs typeface="Calibri"/>
                          <a:sym typeface="Calibri"/>
                        </a:rPr>
                        <a:t> </a:t>
                      </a:r>
                      <a:endParaRPr/>
                    </a:p>
                  </a:txBody>
                  <a:tcPr marL="4350" marR="4350" marT="4350" marB="0" anchor="ctr">
                    <a:lnL w="12700" cap="flat" cmpd="sng">
                      <a:solidFill>
                        <a:schemeClr val="dk1"/>
                      </a:solidFill>
                      <a:prstDash val="solid"/>
                      <a:round/>
                      <a:headEnd type="none" w="sm" len="sm"/>
                      <a:tailEnd type="none" w="sm" len="sm"/>
                    </a:lnL>
                    <a:lnR w="38100" cap="flat" cmpd="sng">
                      <a:solidFill>
                        <a:schemeClr val="dk1"/>
                      </a:solidFill>
                      <a:prstDash val="solid"/>
                      <a:round/>
                      <a:headEnd type="none" w="sm" len="sm"/>
                      <a:tailEnd type="none" w="sm" len="sm"/>
                    </a:lnR>
                    <a:lnT w="38100" cap="flat" cmpd="sng">
                      <a:solidFill>
                        <a:schemeClr val="dk1"/>
                      </a:solidFill>
                      <a:prstDash val="solid"/>
                      <a:round/>
                      <a:headEnd type="none" w="sm" len="sm"/>
                      <a:tailEnd type="none" w="sm" len="sm"/>
                    </a:lnT>
                    <a:lnB w="38100" cap="flat" cmpd="sng">
                      <a:solidFill>
                        <a:schemeClr val="dk1"/>
                      </a:solidFill>
                      <a:prstDash val="solid"/>
                      <a:round/>
                      <a:headEnd type="none" w="sm" len="sm"/>
                      <a:tailEnd type="none" w="sm" len="sm"/>
                    </a:lnB>
                    <a:solidFill>
                      <a:srgbClr val="244062"/>
                    </a:solid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322"/>
        <p:cNvGrpSpPr/>
        <p:nvPr/>
      </p:nvGrpSpPr>
      <p:grpSpPr>
        <a:xfrm>
          <a:off x="0" y="0"/>
          <a:ext cx="0" cy="0"/>
          <a:chOff x="0" y="0"/>
          <a:chExt cx="0" cy="0"/>
        </a:xfrm>
      </p:grpSpPr>
      <p:sp>
        <p:nvSpPr>
          <p:cNvPr id="323" name="Google Shape;323;p24"/>
          <p:cNvSpPr/>
          <p:nvPr/>
        </p:nvSpPr>
        <p:spPr>
          <a:xfrm>
            <a:off x="0" y="832103"/>
            <a:ext cx="9144000" cy="4311650"/>
          </a:xfrm>
          <a:custGeom>
            <a:avLst/>
            <a:gdLst/>
            <a:ahLst/>
            <a:cxnLst/>
            <a:rect l="l" t="t" r="r" b="b"/>
            <a:pathLst>
              <a:path w="9144000" h="4311650" extrusionOk="0">
                <a:moveTo>
                  <a:pt x="0" y="4311395"/>
                </a:moveTo>
                <a:lnTo>
                  <a:pt x="9144000" y="4311395"/>
                </a:lnTo>
                <a:lnTo>
                  <a:pt x="9144000" y="0"/>
                </a:lnTo>
                <a:lnTo>
                  <a:pt x="0" y="0"/>
                </a:lnTo>
                <a:lnTo>
                  <a:pt x="0" y="4311395"/>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24" name="Google Shape;324;p24"/>
          <p:cNvGrpSpPr/>
          <p:nvPr/>
        </p:nvGrpSpPr>
        <p:grpSpPr>
          <a:xfrm>
            <a:off x="0" y="0"/>
            <a:ext cx="9144000" cy="832484"/>
            <a:chOff x="0" y="0"/>
            <a:chExt cx="9144000" cy="832484"/>
          </a:xfrm>
        </p:grpSpPr>
        <p:sp>
          <p:nvSpPr>
            <p:cNvPr id="325" name="Google Shape;325;p24"/>
            <p:cNvSpPr/>
            <p:nvPr/>
          </p:nvSpPr>
          <p:spPr>
            <a:xfrm>
              <a:off x="0" y="0"/>
              <a:ext cx="9144000" cy="777240"/>
            </a:xfrm>
            <a:custGeom>
              <a:avLst/>
              <a:gdLst/>
              <a:ahLst/>
              <a:cxnLst/>
              <a:rect l="l" t="t" r="r" b="b"/>
              <a:pathLst>
                <a:path w="9144000" h="777240" extrusionOk="0">
                  <a:moveTo>
                    <a:pt x="9144000" y="0"/>
                  </a:moveTo>
                  <a:lnTo>
                    <a:pt x="0" y="0"/>
                  </a:lnTo>
                  <a:lnTo>
                    <a:pt x="0" y="777239"/>
                  </a:lnTo>
                  <a:lnTo>
                    <a:pt x="9144000" y="77723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26" name="Google Shape;326;p24"/>
            <p:cNvSpPr/>
            <p:nvPr/>
          </p:nvSpPr>
          <p:spPr>
            <a:xfrm>
              <a:off x="0" y="0"/>
              <a:ext cx="9144000" cy="777240"/>
            </a:xfrm>
            <a:custGeom>
              <a:avLst/>
              <a:gdLst/>
              <a:ahLst/>
              <a:cxnLst/>
              <a:rect l="l" t="t" r="r" b="b"/>
              <a:pathLst>
                <a:path w="9144000" h="777240" extrusionOk="0">
                  <a:moveTo>
                    <a:pt x="0" y="777239"/>
                  </a:moveTo>
                  <a:lnTo>
                    <a:pt x="9144000" y="777239"/>
                  </a:lnTo>
                  <a:lnTo>
                    <a:pt x="9144000" y="0"/>
                  </a:lnTo>
                  <a:lnTo>
                    <a:pt x="0" y="0"/>
                  </a:lnTo>
                  <a:lnTo>
                    <a:pt x="0" y="77723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27" name="Google Shape;327;p24"/>
            <p:cNvSpPr/>
            <p:nvPr/>
          </p:nvSpPr>
          <p:spPr>
            <a:xfrm>
              <a:off x="0" y="777240"/>
              <a:ext cx="9144000" cy="55244"/>
            </a:xfrm>
            <a:custGeom>
              <a:avLst/>
              <a:gdLst/>
              <a:ahLst/>
              <a:cxnLst/>
              <a:rect l="l" t="t" r="r" b="b"/>
              <a:pathLst>
                <a:path w="9144000" h="55244" extrusionOk="0">
                  <a:moveTo>
                    <a:pt x="9144000" y="0"/>
                  </a:moveTo>
                  <a:lnTo>
                    <a:pt x="0" y="0"/>
                  </a:lnTo>
                  <a:lnTo>
                    <a:pt x="0" y="54863"/>
                  </a:lnTo>
                  <a:lnTo>
                    <a:pt x="9144000" y="54863"/>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28" name="Google Shape;328;p24"/>
            <p:cNvSpPr/>
            <p:nvPr/>
          </p:nvSpPr>
          <p:spPr>
            <a:xfrm>
              <a:off x="0" y="777240"/>
              <a:ext cx="9144000" cy="55244"/>
            </a:xfrm>
            <a:custGeom>
              <a:avLst/>
              <a:gdLst/>
              <a:ahLst/>
              <a:cxnLst/>
              <a:rect l="l" t="t" r="r" b="b"/>
              <a:pathLst>
                <a:path w="9144000" h="55244" extrusionOk="0">
                  <a:moveTo>
                    <a:pt x="0" y="54863"/>
                  </a:moveTo>
                  <a:lnTo>
                    <a:pt x="9144000" y="54863"/>
                  </a:lnTo>
                  <a:lnTo>
                    <a:pt x="9144000" y="0"/>
                  </a:lnTo>
                  <a:lnTo>
                    <a:pt x="0" y="0"/>
                  </a:lnTo>
                  <a:lnTo>
                    <a:pt x="0" y="54863"/>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29" name="Google Shape;329;p24"/>
          <p:cNvSpPr txBox="1">
            <a:spLocks noGrp="1"/>
          </p:cNvSpPr>
          <p:nvPr>
            <p:ph type="title"/>
          </p:nvPr>
        </p:nvSpPr>
        <p:spPr>
          <a:xfrm>
            <a:off x="444500" y="223215"/>
            <a:ext cx="4636200" cy="3003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FFFFFF"/>
                </a:solidFill>
              </a:rPr>
              <a:t>PROBLEM #1: B2C RATIO (7× vs Benchmark 4.5×)</a:t>
            </a:r>
            <a:endParaRPr sz="1800"/>
          </a:p>
        </p:txBody>
      </p:sp>
      <p:grpSp>
        <p:nvGrpSpPr>
          <p:cNvPr id="330" name="Google Shape;330;p24"/>
          <p:cNvGrpSpPr/>
          <p:nvPr/>
        </p:nvGrpSpPr>
        <p:grpSpPr>
          <a:xfrm>
            <a:off x="-89027" y="758988"/>
            <a:ext cx="4533116" cy="4384620"/>
            <a:chOff x="45719" y="941832"/>
            <a:chExt cx="4327397" cy="4053079"/>
          </a:xfrm>
        </p:grpSpPr>
        <p:pic>
          <p:nvPicPr>
            <p:cNvPr id="331" name="Google Shape;331;p24"/>
            <p:cNvPicPr preferRelativeResize="0"/>
            <p:nvPr/>
          </p:nvPicPr>
          <p:blipFill rotWithShape="1">
            <a:blip r:embed="rId3">
              <a:alphaModFix/>
            </a:blip>
            <a:srcRect/>
            <a:stretch/>
          </p:blipFill>
          <p:spPr>
            <a:xfrm>
              <a:off x="45719" y="941832"/>
              <a:ext cx="4327397" cy="4053078"/>
            </a:xfrm>
            <a:prstGeom prst="rect">
              <a:avLst/>
            </a:prstGeom>
            <a:noFill/>
            <a:ln>
              <a:noFill/>
            </a:ln>
          </p:spPr>
        </p:pic>
        <p:sp>
          <p:nvSpPr>
            <p:cNvPr id="332" name="Google Shape;332;p24"/>
            <p:cNvSpPr/>
            <p:nvPr/>
          </p:nvSpPr>
          <p:spPr>
            <a:xfrm>
              <a:off x="182880" y="1024128"/>
              <a:ext cx="4114800" cy="3840479"/>
            </a:xfrm>
            <a:custGeom>
              <a:avLst/>
              <a:gdLst/>
              <a:ahLst/>
              <a:cxnLst/>
              <a:rect l="l" t="t" r="r" b="b"/>
              <a:pathLst>
                <a:path w="4114800" h="3840479" extrusionOk="0">
                  <a:moveTo>
                    <a:pt x="4114800" y="0"/>
                  </a:moveTo>
                  <a:lnTo>
                    <a:pt x="0" y="0"/>
                  </a:lnTo>
                  <a:lnTo>
                    <a:pt x="0" y="3840479"/>
                  </a:lnTo>
                  <a:lnTo>
                    <a:pt x="4114800" y="3840479"/>
                  </a:lnTo>
                  <a:lnTo>
                    <a:pt x="411480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33" name="Google Shape;333;p24"/>
            <p:cNvSpPr/>
            <p:nvPr/>
          </p:nvSpPr>
          <p:spPr>
            <a:xfrm>
              <a:off x="182880" y="1024128"/>
              <a:ext cx="4114800" cy="3840479"/>
            </a:xfrm>
            <a:custGeom>
              <a:avLst/>
              <a:gdLst/>
              <a:ahLst/>
              <a:cxnLst/>
              <a:rect l="l" t="t" r="r" b="b"/>
              <a:pathLst>
                <a:path w="4114800" h="3840479" extrusionOk="0">
                  <a:moveTo>
                    <a:pt x="0" y="3840479"/>
                  </a:moveTo>
                  <a:lnTo>
                    <a:pt x="4114800" y="3840479"/>
                  </a:lnTo>
                  <a:lnTo>
                    <a:pt x="4114800" y="0"/>
                  </a:lnTo>
                  <a:lnTo>
                    <a:pt x="0" y="0"/>
                  </a:lnTo>
                  <a:lnTo>
                    <a:pt x="0" y="3840479"/>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34" name="Google Shape;334;p24"/>
          <p:cNvSpPr txBox="1"/>
          <p:nvPr/>
        </p:nvSpPr>
        <p:spPr>
          <a:xfrm>
            <a:off x="444500" y="935256"/>
            <a:ext cx="1503000" cy="1938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1100" b="1">
                <a:solidFill>
                  <a:srgbClr val="1B2A49"/>
                </a:solidFill>
                <a:latin typeface="Calibri"/>
                <a:ea typeface="Calibri"/>
                <a:cs typeface="Calibri"/>
                <a:sym typeface="Calibri"/>
              </a:rPr>
              <a:t>WHAT DOES THIS MEAN?</a:t>
            </a:r>
            <a:endParaRPr sz="1100">
              <a:latin typeface="Calibri"/>
              <a:ea typeface="Calibri"/>
              <a:cs typeface="Calibri"/>
              <a:sym typeface="Calibri"/>
            </a:endParaRPr>
          </a:p>
        </p:txBody>
      </p:sp>
      <p:sp>
        <p:nvSpPr>
          <p:cNvPr id="335" name="Google Shape;335;p24"/>
          <p:cNvSpPr txBox="1"/>
          <p:nvPr/>
        </p:nvSpPr>
        <p:spPr>
          <a:xfrm>
            <a:off x="314133" y="1152757"/>
            <a:ext cx="3932400" cy="1523700"/>
          </a:xfrm>
          <a:prstGeom prst="rect">
            <a:avLst/>
          </a:prstGeom>
          <a:noFill/>
          <a:ln>
            <a:noFill/>
          </a:ln>
        </p:spPr>
        <p:txBody>
          <a:bodyPr spcFirstLastPara="1" wrap="square" lIns="0" tIns="13325" rIns="0" bIns="0" anchor="t" anchorCtr="0">
            <a:spAutoFit/>
          </a:bodyPr>
          <a:lstStyle/>
          <a:p>
            <a:pPr marL="12700" lvl="0" indent="0" algn="l" rtl="0">
              <a:spcBef>
                <a:spcPts val="105"/>
              </a:spcBef>
              <a:spcAft>
                <a:spcPts val="0"/>
              </a:spcAft>
              <a:buNone/>
            </a:pPr>
            <a:r>
              <a:rPr lang="en-US" sz="1100" b="1">
                <a:solidFill>
                  <a:srgbClr val="2C3747"/>
                </a:solidFill>
                <a:latin typeface="Calibri"/>
                <a:ea typeface="Calibri"/>
                <a:cs typeface="Calibri"/>
                <a:sym typeface="Calibri"/>
              </a:rPr>
              <a:t>B2C ratio = (</a:t>
            </a:r>
            <a:r>
              <a:rPr lang="en-US" sz="1100">
                <a:solidFill>
                  <a:srgbClr val="2C3747"/>
                </a:solidFill>
                <a:latin typeface="Calibri"/>
                <a:ea typeface="Calibri"/>
                <a:cs typeface="Calibri"/>
                <a:sym typeface="Calibri"/>
              </a:rPr>
              <a:t>Sales to consumers + Sales to businesses)/ Sales to</a:t>
            </a:r>
            <a:endParaRPr sz="1100">
              <a:solidFill>
                <a:schemeClr val="dk1"/>
              </a:solidFill>
              <a:latin typeface="Calibri"/>
              <a:ea typeface="Calibri"/>
              <a:cs typeface="Calibri"/>
              <a:sym typeface="Calibri"/>
            </a:endParaRPr>
          </a:p>
          <a:p>
            <a:pPr marL="0" lvl="0" indent="0" algn="l" rtl="0">
              <a:spcBef>
                <a:spcPts val="0"/>
              </a:spcBef>
              <a:spcAft>
                <a:spcPts val="0"/>
              </a:spcAft>
              <a:buNone/>
            </a:pPr>
            <a:r>
              <a:rPr lang="en-US" sz="1100">
                <a:solidFill>
                  <a:srgbClr val="2C3747"/>
                </a:solidFill>
                <a:latin typeface="Calibri"/>
                <a:ea typeface="Calibri"/>
                <a:cs typeface="Calibri"/>
                <a:sym typeface="Calibri"/>
              </a:rPr>
              <a:t>Cconsumers</a:t>
            </a:r>
            <a:endParaRPr sz="1100">
              <a:solidFill>
                <a:srgbClr val="2C3747"/>
              </a:solidFill>
              <a:latin typeface="Calibri"/>
              <a:ea typeface="Calibri"/>
              <a:cs typeface="Calibri"/>
              <a:sym typeface="Calibri"/>
            </a:endParaRPr>
          </a:p>
          <a:p>
            <a:pPr marL="0" lvl="0" indent="0" algn="l" rtl="0">
              <a:spcBef>
                <a:spcPts val="0"/>
              </a:spcBef>
              <a:spcAft>
                <a:spcPts val="0"/>
              </a:spcAft>
              <a:buNone/>
            </a:pPr>
            <a:endParaRPr sz="900"/>
          </a:p>
          <a:p>
            <a:pPr marL="0" lvl="0" indent="0" algn="l" rtl="0">
              <a:spcBef>
                <a:spcPts val="0"/>
              </a:spcBef>
              <a:spcAft>
                <a:spcPts val="0"/>
              </a:spcAft>
              <a:buNone/>
            </a:pPr>
            <a:r>
              <a:rPr lang="en-US" sz="900"/>
              <a:t>High B2C ratios may be due to either:</a:t>
            </a:r>
            <a:br>
              <a:rPr lang="en-US" sz="900"/>
            </a:br>
            <a:endParaRPr sz="900"/>
          </a:p>
          <a:p>
            <a:pPr marL="0" lvl="0" indent="0" algn="l" rtl="0">
              <a:spcBef>
                <a:spcPts val="0"/>
              </a:spcBef>
              <a:spcAft>
                <a:spcPts val="0"/>
              </a:spcAft>
              <a:buNone/>
            </a:pPr>
            <a:r>
              <a:rPr lang="en-US" sz="900" b="1"/>
              <a:t>1 Lesser of B2C Transactions being reported</a:t>
            </a:r>
            <a:r>
              <a:rPr lang="en-US" sz="900"/>
              <a:t>; or</a:t>
            </a:r>
            <a:br>
              <a:rPr lang="en-US" sz="900"/>
            </a:br>
            <a:r>
              <a:rPr lang="en-US" sz="900"/>
              <a:t> </a:t>
            </a:r>
            <a:endParaRPr/>
          </a:p>
          <a:p>
            <a:pPr marL="0" lvl="0" indent="0" algn="l" rtl="0">
              <a:spcBef>
                <a:spcPts val="0"/>
              </a:spcBef>
              <a:spcAft>
                <a:spcPts val="0"/>
              </a:spcAft>
              <a:buNone/>
            </a:pPr>
            <a:r>
              <a:rPr lang="en-US" sz="900" b="1"/>
              <a:t>2 Higher number of  transactions shown between B2B entities </a:t>
            </a:r>
            <a:endParaRPr/>
          </a:p>
          <a:p>
            <a:pPr marL="12700" lvl="0" indent="0" algn="l" rtl="0">
              <a:lnSpc>
                <a:spcPct val="100000"/>
              </a:lnSpc>
              <a:spcBef>
                <a:spcPts val="105"/>
              </a:spcBef>
              <a:spcAft>
                <a:spcPts val="0"/>
              </a:spcAft>
              <a:buNone/>
            </a:pPr>
            <a:br>
              <a:rPr lang="en-US" sz="1100" b="1">
                <a:solidFill>
                  <a:srgbClr val="2C3747"/>
                </a:solidFill>
                <a:latin typeface="Calibri"/>
                <a:ea typeface="Calibri"/>
                <a:cs typeface="Calibri"/>
                <a:sym typeface="Calibri"/>
              </a:rPr>
            </a:br>
            <a:endParaRPr sz="1100">
              <a:solidFill>
                <a:srgbClr val="2C3747"/>
              </a:solidFill>
              <a:latin typeface="Calibri"/>
              <a:ea typeface="Calibri"/>
              <a:cs typeface="Calibri"/>
              <a:sym typeface="Calibri"/>
            </a:endParaRPr>
          </a:p>
        </p:txBody>
      </p:sp>
      <p:sp>
        <p:nvSpPr>
          <p:cNvPr id="336" name="Google Shape;336;p24"/>
          <p:cNvSpPr txBox="1"/>
          <p:nvPr/>
        </p:nvSpPr>
        <p:spPr>
          <a:xfrm>
            <a:off x="261376" y="2424691"/>
            <a:ext cx="4004432" cy="2357056"/>
          </a:xfrm>
          <a:prstGeom prst="rect">
            <a:avLst/>
          </a:prstGeom>
          <a:noFill/>
          <a:ln>
            <a:noFill/>
          </a:ln>
        </p:spPr>
        <p:txBody>
          <a:bodyPr spcFirstLastPara="1" wrap="square" lIns="0" tIns="12700" rIns="0" bIns="0" anchor="t" anchorCtr="0">
            <a:spAutoFit/>
          </a:bodyPr>
          <a:lstStyle/>
          <a:p>
            <a:pPr marL="12700" marR="5080" lvl="0" indent="0" algn="just" rtl="0">
              <a:spcBef>
                <a:spcPts val="0"/>
              </a:spcBef>
              <a:spcAft>
                <a:spcPts val="0"/>
              </a:spcAft>
              <a:buNone/>
            </a:pPr>
            <a:r>
              <a:rPr lang="en-US" sz="1100" b="1" dirty="0">
                <a:solidFill>
                  <a:srgbClr val="C0392B"/>
                </a:solidFill>
                <a:latin typeface="Calibri"/>
                <a:ea typeface="Calibri"/>
                <a:cs typeface="Calibri"/>
                <a:sym typeface="Calibri"/>
              </a:rPr>
              <a:t>Probable Causes</a:t>
            </a:r>
            <a:endParaRPr sz="1100" b="1" dirty="0">
              <a:solidFill>
                <a:srgbClr val="C0392B"/>
              </a:solidFill>
              <a:latin typeface="Calibri"/>
              <a:ea typeface="Calibri"/>
              <a:cs typeface="Calibri"/>
              <a:sym typeface="Calibri"/>
            </a:endParaRPr>
          </a:p>
          <a:p>
            <a:pPr marL="12700" marR="5080" lvl="0" indent="0" algn="just" rtl="0">
              <a:spcBef>
                <a:spcPts val="0"/>
              </a:spcBef>
              <a:spcAft>
                <a:spcPts val="0"/>
              </a:spcAft>
              <a:buNone/>
            </a:pPr>
            <a:br>
              <a:rPr lang="en-US" sz="1100" b="1" dirty="0">
                <a:solidFill>
                  <a:srgbClr val="C0392B"/>
                </a:solidFill>
                <a:latin typeface="Calibri"/>
                <a:ea typeface="Calibri"/>
                <a:cs typeface="Calibri"/>
                <a:sym typeface="Calibri"/>
              </a:rPr>
            </a:br>
            <a:r>
              <a:rPr lang="en-US" sz="1100" b="1" dirty="0">
                <a:solidFill>
                  <a:srgbClr val="C0392B"/>
                </a:solidFill>
                <a:latin typeface="Calibri"/>
                <a:ea typeface="Calibri"/>
                <a:cs typeface="Calibri"/>
                <a:sym typeface="Calibri"/>
              </a:rPr>
              <a:t>1a. B2C Turnover Suppression: </a:t>
            </a:r>
            <a:r>
              <a:rPr lang="en-US" sz="900" dirty="0">
                <a:solidFill>
                  <a:srgbClr val="495468"/>
                </a:solidFill>
                <a:latin typeface="Calibri"/>
                <a:ea typeface="Calibri"/>
                <a:cs typeface="Calibri"/>
                <a:sym typeface="Calibri"/>
              </a:rPr>
              <a:t>Businesses may under-report consumer sales since end consumers generally do not claim ITC. This leads to lower B2C ratio and higher B2B ratio.</a:t>
            </a:r>
            <a:endParaRPr dirty="0"/>
          </a:p>
          <a:p>
            <a:pPr marL="12700" marR="5080" lvl="0" indent="0" algn="just" rtl="0">
              <a:lnSpc>
                <a:spcPct val="100000"/>
              </a:lnSpc>
              <a:spcBef>
                <a:spcPts val="100"/>
              </a:spcBef>
              <a:spcAft>
                <a:spcPts val="0"/>
              </a:spcAft>
              <a:buNone/>
            </a:pPr>
            <a:r>
              <a:rPr lang="en-US" sz="1100" b="1" dirty="0">
                <a:solidFill>
                  <a:srgbClr val="C0392B"/>
                </a:solidFill>
                <a:latin typeface="Calibri"/>
                <a:ea typeface="Calibri"/>
                <a:cs typeface="Calibri"/>
                <a:sym typeface="Calibri"/>
              </a:rPr>
              <a:t>1b. Weak Service Sector Revenue-</a:t>
            </a:r>
            <a:r>
              <a:rPr lang="en-US" sz="900" dirty="0">
                <a:solidFill>
                  <a:srgbClr val="495468"/>
                </a:solidFill>
                <a:latin typeface="Calibri"/>
                <a:ea typeface="Calibri"/>
                <a:cs typeface="Calibri"/>
                <a:sym typeface="Calibri"/>
              </a:rPr>
              <a:t>In Rajasthan service sector GSDP contribution is 47.7 % while service sector GST revenue is only 25%. This indicates under reporting of taxable service turnover</a:t>
            </a:r>
            <a:endParaRPr sz="1100" dirty="0">
              <a:solidFill>
                <a:srgbClr val="2C3747"/>
              </a:solidFill>
              <a:latin typeface="Calibri"/>
              <a:ea typeface="Calibri"/>
              <a:cs typeface="Calibri"/>
              <a:sym typeface="Calibri"/>
            </a:endParaRPr>
          </a:p>
          <a:p>
            <a:pPr marL="12700" marR="5080" lvl="0" algn="just">
              <a:spcBef>
                <a:spcPts val="100"/>
              </a:spcBef>
            </a:pPr>
            <a:r>
              <a:rPr lang="en-US" sz="1100" b="1" dirty="0">
                <a:solidFill>
                  <a:srgbClr val="C0392B"/>
                </a:solidFill>
                <a:latin typeface="Calibri"/>
                <a:ea typeface="Calibri"/>
                <a:cs typeface="Calibri"/>
                <a:sym typeface="Calibri"/>
              </a:rPr>
              <a:t>1c. Fewer layers in the Service Dominant State - </a:t>
            </a:r>
            <a:r>
              <a:rPr lang="en-US" sz="900" dirty="0">
                <a:solidFill>
                  <a:srgbClr val="495468"/>
                </a:solidFill>
                <a:latin typeface="Calibri"/>
                <a:ea typeface="Calibri"/>
                <a:cs typeface="Calibri"/>
                <a:sym typeface="Calibri"/>
              </a:rPr>
              <a:t>Service transactions typically involve only 1 or 2 layers resulting in naturally lower B2B transaction.</a:t>
            </a:r>
            <a:br>
              <a:rPr lang="en-US" sz="900" dirty="0">
                <a:solidFill>
                  <a:srgbClr val="495468"/>
                </a:solidFill>
                <a:latin typeface="Calibri"/>
                <a:ea typeface="Calibri"/>
                <a:cs typeface="Calibri"/>
                <a:sym typeface="Calibri"/>
              </a:rPr>
            </a:br>
            <a:r>
              <a:rPr lang="en-US" sz="900" dirty="0">
                <a:solidFill>
                  <a:srgbClr val="495468"/>
                </a:solidFill>
                <a:latin typeface="Calibri"/>
                <a:ea typeface="Calibri"/>
                <a:cs typeface="Calibri"/>
                <a:sym typeface="Calibri"/>
              </a:rPr>
              <a:t>This may be verified by lower B2C ratio in services dominant states.</a:t>
            </a:r>
            <a:endParaRPr dirty="0"/>
          </a:p>
          <a:p>
            <a:pPr marL="12700" marR="5080" lvl="0" indent="0" algn="just" rtl="0">
              <a:spcBef>
                <a:spcPts val="100"/>
              </a:spcBef>
              <a:spcAft>
                <a:spcPts val="0"/>
              </a:spcAft>
              <a:buNone/>
            </a:pPr>
            <a:r>
              <a:rPr lang="en-US" sz="1100" b="1" dirty="0">
                <a:solidFill>
                  <a:srgbClr val="C0392B"/>
                </a:solidFill>
                <a:latin typeface="Calibri"/>
                <a:ea typeface="Calibri"/>
                <a:cs typeface="Calibri"/>
                <a:sym typeface="Calibri"/>
              </a:rPr>
              <a:t>2.Fake Layers — </a:t>
            </a:r>
            <a:r>
              <a:rPr lang="en-US" sz="900" dirty="0">
                <a:solidFill>
                  <a:srgbClr val="495468"/>
                </a:solidFill>
                <a:latin typeface="Calibri"/>
                <a:ea typeface="Calibri"/>
                <a:cs typeface="Calibri"/>
                <a:sym typeface="Calibri"/>
              </a:rPr>
              <a:t>Artificial entities may be inserted into the supply chain to generate invoices and pass on ITC, inflating B2B turnover without corresponding economic activity.</a:t>
            </a:r>
            <a:endParaRPr dirty="0"/>
          </a:p>
          <a:p>
            <a:pPr marL="12700" marR="5080" lvl="0" indent="0" algn="just" rtl="0">
              <a:lnSpc>
                <a:spcPct val="100000"/>
              </a:lnSpc>
              <a:spcBef>
                <a:spcPts val="100"/>
              </a:spcBef>
              <a:spcAft>
                <a:spcPts val="0"/>
              </a:spcAft>
              <a:buNone/>
            </a:pPr>
            <a:endParaRPr sz="1100" dirty="0">
              <a:solidFill>
                <a:srgbClr val="2C3747"/>
              </a:solidFill>
              <a:latin typeface="Calibri"/>
              <a:ea typeface="Calibri"/>
              <a:cs typeface="Calibri"/>
              <a:sym typeface="Calibri"/>
            </a:endParaRPr>
          </a:p>
        </p:txBody>
      </p:sp>
      <p:grpSp>
        <p:nvGrpSpPr>
          <p:cNvPr id="337" name="Google Shape;337;p24"/>
          <p:cNvGrpSpPr/>
          <p:nvPr/>
        </p:nvGrpSpPr>
        <p:grpSpPr>
          <a:xfrm>
            <a:off x="4335787" y="777240"/>
            <a:ext cx="4897242" cy="4337604"/>
            <a:chOff x="4434840" y="877824"/>
            <a:chExt cx="4555998" cy="4053078"/>
          </a:xfrm>
        </p:grpSpPr>
        <p:pic>
          <p:nvPicPr>
            <p:cNvPr id="338" name="Google Shape;338;p24"/>
            <p:cNvPicPr preferRelativeResize="0"/>
            <p:nvPr/>
          </p:nvPicPr>
          <p:blipFill rotWithShape="1">
            <a:blip r:embed="rId4">
              <a:alphaModFix/>
            </a:blip>
            <a:srcRect/>
            <a:stretch/>
          </p:blipFill>
          <p:spPr>
            <a:xfrm>
              <a:off x="4434840" y="877824"/>
              <a:ext cx="4555997" cy="4053078"/>
            </a:xfrm>
            <a:prstGeom prst="rect">
              <a:avLst/>
            </a:prstGeom>
            <a:noFill/>
            <a:ln>
              <a:noFill/>
            </a:ln>
          </p:spPr>
        </p:pic>
        <p:sp>
          <p:nvSpPr>
            <p:cNvPr id="339" name="Google Shape;339;p24"/>
            <p:cNvSpPr/>
            <p:nvPr/>
          </p:nvSpPr>
          <p:spPr>
            <a:xfrm>
              <a:off x="4572000" y="960120"/>
              <a:ext cx="4343400" cy="3840479"/>
            </a:xfrm>
            <a:custGeom>
              <a:avLst/>
              <a:gdLst/>
              <a:ahLst/>
              <a:cxnLst/>
              <a:rect l="l" t="t" r="r" b="b"/>
              <a:pathLst>
                <a:path w="4343400" h="3840479" extrusionOk="0">
                  <a:moveTo>
                    <a:pt x="4343400" y="0"/>
                  </a:moveTo>
                  <a:lnTo>
                    <a:pt x="0" y="0"/>
                  </a:lnTo>
                  <a:lnTo>
                    <a:pt x="0" y="3840479"/>
                  </a:lnTo>
                  <a:lnTo>
                    <a:pt x="4343400" y="3840479"/>
                  </a:lnTo>
                  <a:lnTo>
                    <a:pt x="434340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48" name="Google Shape;348;p24"/>
          <p:cNvSpPr txBox="1"/>
          <p:nvPr/>
        </p:nvSpPr>
        <p:spPr>
          <a:xfrm>
            <a:off x="4338713" y="831957"/>
            <a:ext cx="4543911" cy="3910030"/>
          </a:xfrm>
          <a:prstGeom prst="rect">
            <a:avLst/>
          </a:prstGeom>
          <a:noFill/>
          <a:ln w="12700" cap="flat" cmpd="sng">
            <a:noFill/>
            <a:prstDash val="solid"/>
            <a:round/>
            <a:headEnd type="none" w="sm" len="sm"/>
            <a:tailEnd type="none" w="sm" len="sm"/>
          </a:ln>
        </p:spPr>
        <p:txBody>
          <a:bodyPr spcFirstLastPara="1" wrap="square" lIns="0" tIns="135875" rIns="0" bIns="0" anchor="t" anchorCtr="0">
            <a:spAutoFit/>
          </a:bodyPr>
          <a:lstStyle/>
          <a:p>
            <a:pPr marL="266700" lvl="0" indent="95250" rtl="0">
              <a:lnSpc>
                <a:spcPct val="100000"/>
              </a:lnSpc>
              <a:spcBef>
                <a:spcPts val="0"/>
              </a:spcBef>
              <a:spcAft>
                <a:spcPts val="0"/>
              </a:spcAft>
              <a:buNone/>
            </a:pPr>
            <a:r>
              <a:rPr lang="en-US" b="1" dirty="0">
                <a:solidFill>
                  <a:srgbClr val="1B2A49"/>
                </a:solidFill>
                <a:latin typeface="Calibri"/>
                <a:ea typeface="Calibri"/>
                <a:cs typeface="Calibri"/>
                <a:sym typeface="Calibri"/>
              </a:rPr>
              <a:t>ACTION PLAN</a:t>
            </a:r>
            <a:endParaRPr dirty="0">
              <a:solidFill>
                <a:srgbClr val="00FF00"/>
              </a:solidFill>
              <a:latin typeface="Calibri"/>
              <a:ea typeface="Calibri"/>
              <a:cs typeface="Calibri"/>
              <a:sym typeface="Calibri"/>
            </a:endParaRPr>
          </a:p>
          <a:p>
            <a:pPr marL="812165" indent="-171450">
              <a:spcBef>
                <a:spcPts val="1340"/>
              </a:spcBef>
              <a:buFont typeface="Wingdings" panose="05000000000000000000" pitchFamily="2" charset="2"/>
              <a:buChar char="q"/>
            </a:pPr>
            <a:r>
              <a:rPr lang="en-US" sz="1050" dirty="0">
                <a:solidFill>
                  <a:srgbClr val="495468"/>
                </a:solidFill>
                <a:latin typeface="Calibri"/>
                <a:ea typeface="Calibri"/>
                <a:cs typeface="Calibri"/>
                <a:sym typeface="Calibri"/>
              </a:rPr>
              <a:t>S</a:t>
            </a:r>
            <a:r>
              <a:rPr lang="en-IN" sz="1050" dirty="0" err="1">
                <a:solidFill>
                  <a:srgbClr val="495468"/>
                </a:solidFill>
                <a:latin typeface="Calibri"/>
                <a:ea typeface="Calibri"/>
                <a:cs typeface="Calibri"/>
              </a:rPr>
              <a:t>ector</a:t>
            </a:r>
            <a:r>
              <a:rPr lang="en-IN" sz="1050" dirty="0">
                <a:solidFill>
                  <a:srgbClr val="495468"/>
                </a:solidFill>
                <a:latin typeface="Calibri"/>
                <a:ea typeface="Calibri"/>
                <a:cs typeface="Calibri"/>
              </a:rPr>
              <a:t> wise B2C ratio across the country and major states has to be taken from GSTN along with the detailed methodology consequently will identify the sectors where Rajasthan is witnessing higher evasion/ fake layer/ B2C turnover suppression and plan Enforcement, Audit and Scrutiny accordingly.</a:t>
            </a:r>
          </a:p>
          <a:p>
            <a:pPr marL="812165" indent="-171450">
              <a:spcBef>
                <a:spcPts val="1340"/>
              </a:spcBef>
              <a:buFont typeface="Wingdings" panose="05000000000000000000" pitchFamily="2" charset="2"/>
              <a:buChar char="q"/>
            </a:pPr>
            <a:r>
              <a:rPr lang="en-US" sz="1100" b="1" dirty="0">
                <a:solidFill>
                  <a:srgbClr val="1B2A49"/>
                </a:solidFill>
                <a:latin typeface="Calibri"/>
                <a:ea typeface="Calibri"/>
                <a:cs typeface="Calibri"/>
                <a:sym typeface="Calibri"/>
              </a:rPr>
              <a:t>Data Extraction &amp; Sector Outlier Identification</a:t>
            </a:r>
            <a:r>
              <a:rPr lang="en-US" sz="1050" b="1" dirty="0">
                <a:ea typeface="Calibri"/>
              </a:rPr>
              <a:t> :</a:t>
            </a:r>
            <a:br>
              <a:rPr lang="en-US" sz="1050" b="1" dirty="0">
                <a:ea typeface="Calibri"/>
              </a:rPr>
            </a:br>
            <a:r>
              <a:rPr lang="en-US" sz="1050" dirty="0">
                <a:solidFill>
                  <a:srgbClr val="495468"/>
                </a:solidFill>
                <a:latin typeface="Calibri"/>
                <a:ea typeface="Calibri"/>
                <a:cs typeface="Calibri"/>
                <a:sym typeface="Calibri"/>
              </a:rPr>
              <a:t>Extract GST return data for all taxpayers and compute B2C ratios across sectors. Identify sector-wise and taxpayer-wise outliers having significant deviation from benchmark levels.</a:t>
            </a:r>
            <a:br>
              <a:rPr lang="en-US" sz="1050" dirty="0">
                <a:solidFill>
                  <a:srgbClr val="495468"/>
                </a:solidFill>
                <a:latin typeface="Calibri"/>
                <a:ea typeface="Calibri"/>
                <a:cs typeface="Calibri"/>
                <a:sym typeface="Calibri"/>
              </a:rPr>
            </a:br>
            <a:endParaRPr sz="1050" dirty="0">
              <a:solidFill>
                <a:srgbClr val="495468"/>
              </a:solidFill>
              <a:latin typeface="Calibri"/>
              <a:ea typeface="Calibri"/>
              <a:cs typeface="Calibri"/>
              <a:sym typeface="Calibri"/>
            </a:endParaRPr>
          </a:p>
          <a:p>
            <a:pPr marL="812165" lvl="0" indent="-171450" rtl="0">
              <a:lnSpc>
                <a:spcPct val="100000"/>
              </a:lnSpc>
              <a:spcBef>
                <a:spcPts val="5"/>
              </a:spcBef>
              <a:spcAft>
                <a:spcPts val="0"/>
              </a:spcAft>
              <a:buFont typeface="Wingdings" panose="05000000000000000000" pitchFamily="2" charset="2"/>
              <a:buChar char="q"/>
            </a:pPr>
            <a:r>
              <a:rPr lang="en-US" sz="1100" b="1" dirty="0">
                <a:solidFill>
                  <a:srgbClr val="1B2A49"/>
                </a:solidFill>
                <a:latin typeface="Calibri"/>
                <a:ea typeface="Calibri"/>
                <a:cs typeface="Calibri"/>
                <a:sym typeface="Calibri"/>
              </a:rPr>
              <a:t>GSDP Gap Analysis</a:t>
            </a:r>
            <a:r>
              <a:rPr lang="en-US" sz="1100" b="1" dirty="0">
                <a:solidFill>
                  <a:srgbClr val="1B2A49"/>
                </a:solidFill>
                <a:latin typeface="Calibri"/>
                <a:ea typeface="Calibri"/>
                <a:cs typeface="Calibri"/>
              </a:rPr>
              <a:t> :</a:t>
            </a:r>
            <a:br>
              <a:rPr lang="en-US" sz="1800" b="1" dirty="0">
                <a:ea typeface="Calibri"/>
              </a:rPr>
            </a:br>
            <a:r>
              <a:rPr lang="en-US" sz="1050" dirty="0">
                <a:solidFill>
                  <a:srgbClr val="495468"/>
                </a:solidFill>
                <a:latin typeface="Calibri"/>
                <a:ea typeface="Calibri"/>
                <a:cs typeface="Calibri"/>
                <a:sym typeface="Calibri"/>
              </a:rPr>
              <a:t>Compare GST collections with sector-wise contribution to State GSDP. Examine whether the variance is attributable to exempt/non-GST services or indicates potential under-reporting of taxable turnover.</a:t>
            </a:r>
            <a:br>
              <a:rPr lang="en-US" sz="1050" dirty="0">
                <a:solidFill>
                  <a:srgbClr val="495468"/>
                </a:solidFill>
                <a:latin typeface="Calibri"/>
                <a:ea typeface="Calibri"/>
                <a:cs typeface="Calibri"/>
                <a:sym typeface="Calibri"/>
              </a:rPr>
            </a:br>
            <a:endParaRPr sz="1050" dirty="0">
              <a:latin typeface="Calibri"/>
              <a:ea typeface="Calibri"/>
              <a:cs typeface="Calibri"/>
              <a:sym typeface="Calibri"/>
            </a:endParaRPr>
          </a:p>
          <a:p>
            <a:pPr marL="812165" lvl="0" indent="-171450" rtl="0">
              <a:lnSpc>
                <a:spcPct val="100000"/>
              </a:lnSpc>
              <a:spcBef>
                <a:spcPts val="0"/>
              </a:spcBef>
              <a:spcAft>
                <a:spcPts val="0"/>
              </a:spcAft>
              <a:buFont typeface="Wingdings" panose="05000000000000000000" pitchFamily="2" charset="2"/>
              <a:buChar char="q"/>
            </a:pPr>
            <a:r>
              <a:rPr lang="en-US" sz="1100" b="1" dirty="0">
                <a:solidFill>
                  <a:srgbClr val="1B2A49"/>
                </a:solidFill>
                <a:latin typeface="Calibri"/>
                <a:ea typeface="Calibri"/>
                <a:cs typeface="Calibri"/>
                <a:sym typeface="Calibri"/>
              </a:rPr>
              <a:t>CBIC Coordination</a:t>
            </a:r>
            <a:r>
              <a:rPr lang="en-US" sz="1100" b="1" dirty="0">
                <a:solidFill>
                  <a:srgbClr val="1B2A49"/>
                </a:solidFill>
                <a:latin typeface="Calibri"/>
                <a:ea typeface="Calibri"/>
                <a:cs typeface="Calibri"/>
              </a:rPr>
              <a:t> : </a:t>
            </a:r>
            <a:br>
              <a:rPr lang="en-US" sz="1800" b="1" dirty="0">
                <a:ea typeface="Calibri"/>
              </a:rPr>
            </a:br>
            <a:r>
              <a:rPr lang="en-US" sz="1050" dirty="0">
                <a:solidFill>
                  <a:srgbClr val="495468"/>
                </a:solidFill>
                <a:latin typeface="Calibri"/>
                <a:ea typeface="Calibri"/>
                <a:cs typeface="Calibri"/>
                <a:sym typeface="Calibri"/>
              </a:rPr>
              <a:t>Coordinate with CBIC/DGGI for sharing of intelligence, analytical findings, and inter-state transaction patterns to identify possible tax evasion and fake invoicing networks.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354"/>
        <p:cNvGrpSpPr/>
        <p:nvPr/>
      </p:nvGrpSpPr>
      <p:grpSpPr>
        <a:xfrm>
          <a:off x="0" y="0"/>
          <a:ext cx="0" cy="0"/>
          <a:chOff x="0" y="0"/>
          <a:chExt cx="0" cy="0"/>
        </a:xfrm>
      </p:grpSpPr>
      <p:sp>
        <p:nvSpPr>
          <p:cNvPr id="355" name="Google Shape;355;p25"/>
          <p:cNvSpPr/>
          <p:nvPr/>
        </p:nvSpPr>
        <p:spPr>
          <a:xfrm>
            <a:off x="0" y="832103"/>
            <a:ext cx="9144000" cy="4311650"/>
          </a:xfrm>
          <a:custGeom>
            <a:avLst/>
            <a:gdLst/>
            <a:ahLst/>
            <a:cxnLst/>
            <a:rect l="l" t="t" r="r" b="b"/>
            <a:pathLst>
              <a:path w="9144000" h="4311650" extrusionOk="0">
                <a:moveTo>
                  <a:pt x="0" y="4311395"/>
                </a:moveTo>
                <a:lnTo>
                  <a:pt x="9144000" y="4311395"/>
                </a:lnTo>
                <a:lnTo>
                  <a:pt x="9144000" y="0"/>
                </a:lnTo>
                <a:lnTo>
                  <a:pt x="0" y="0"/>
                </a:lnTo>
                <a:lnTo>
                  <a:pt x="0" y="4311395"/>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356" name="Google Shape;356;p25"/>
          <p:cNvGrpSpPr/>
          <p:nvPr/>
        </p:nvGrpSpPr>
        <p:grpSpPr>
          <a:xfrm>
            <a:off x="0" y="0"/>
            <a:ext cx="9144000" cy="832484"/>
            <a:chOff x="0" y="0"/>
            <a:chExt cx="9144000" cy="832484"/>
          </a:xfrm>
        </p:grpSpPr>
        <p:sp>
          <p:nvSpPr>
            <p:cNvPr id="357" name="Google Shape;357;p25"/>
            <p:cNvSpPr/>
            <p:nvPr/>
          </p:nvSpPr>
          <p:spPr>
            <a:xfrm>
              <a:off x="0" y="0"/>
              <a:ext cx="9144000" cy="777240"/>
            </a:xfrm>
            <a:custGeom>
              <a:avLst/>
              <a:gdLst/>
              <a:ahLst/>
              <a:cxnLst/>
              <a:rect l="l" t="t" r="r" b="b"/>
              <a:pathLst>
                <a:path w="9144000" h="777240" extrusionOk="0">
                  <a:moveTo>
                    <a:pt x="9144000" y="0"/>
                  </a:moveTo>
                  <a:lnTo>
                    <a:pt x="0" y="0"/>
                  </a:lnTo>
                  <a:lnTo>
                    <a:pt x="0" y="777239"/>
                  </a:lnTo>
                  <a:lnTo>
                    <a:pt x="9144000" y="77723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8" name="Google Shape;358;p25"/>
            <p:cNvSpPr/>
            <p:nvPr/>
          </p:nvSpPr>
          <p:spPr>
            <a:xfrm>
              <a:off x="0" y="0"/>
              <a:ext cx="9144000" cy="777240"/>
            </a:xfrm>
            <a:custGeom>
              <a:avLst/>
              <a:gdLst/>
              <a:ahLst/>
              <a:cxnLst/>
              <a:rect l="l" t="t" r="r" b="b"/>
              <a:pathLst>
                <a:path w="9144000" h="777240" extrusionOk="0">
                  <a:moveTo>
                    <a:pt x="0" y="777239"/>
                  </a:moveTo>
                  <a:lnTo>
                    <a:pt x="9144000" y="777239"/>
                  </a:lnTo>
                  <a:lnTo>
                    <a:pt x="9144000" y="0"/>
                  </a:lnTo>
                  <a:lnTo>
                    <a:pt x="0" y="0"/>
                  </a:lnTo>
                  <a:lnTo>
                    <a:pt x="0" y="77723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59" name="Google Shape;359;p25"/>
            <p:cNvSpPr/>
            <p:nvPr/>
          </p:nvSpPr>
          <p:spPr>
            <a:xfrm>
              <a:off x="0" y="777240"/>
              <a:ext cx="9144000" cy="55244"/>
            </a:xfrm>
            <a:custGeom>
              <a:avLst/>
              <a:gdLst/>
              <a:ahLst/>
              <a:cxnLst/>
              <a:rect l="l" t="t" r="r" b="b"/>
              <a:pathLst>
                <a:path w="9144000" h="55244" extrusionOk="0">
                  <a:moveTo>
                    <a:pt x="9144000" y="0"/>
                  </a:moveTo>
                  <a:lnTo>
                    <a:pt x="0" y="0"/>
                  </a:lnTo>
                  <a:lnTo>
                    <a:pt x="0" y="54863"/>
                  </a:lnTo>
                  <a:lnTo>
                    <a:pt x="9144000" y="54863"/>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0" name="Google Shape;360;p25"/>
            <p:cNvSpPr/>
            <p:nvPr/>
          </p:nvSpPr>
          <p:spPr>
            <a:xfrm>
              <a:off x="0" y="777240"/>
              <a:ext cx="9144000" cy="55244"/>
            </a:xfrm>
            <a:custGeom>
              <a:avLst/>
              <a:gdLst/>
              <a:ahLst/>
              <a:cxnLst/>
              <a:rect l="l" t="t" r="r" b="b"/>
              <a:pathLst>
                <a:path w="9144000" h="55244" extrusionOk="0">
                  <a:moveTo>
                    <a:pt x="0" y="54863"/>
                  </a:moveTo>
                  <a:lnTo>
                    <a:pt x="9144000" y="54863"/>
                  </a:lnTo>
                  <a:lnTo>
                    <a:pt x="9144000" y="0"/>
                  </a:lnTo>
                  <a:lnTo>
                    <a:pt x="0" y="0"/>
                  </a:lnTo>
                  <a:lnTo>
                    <a:pt x="0" y="54863"/>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61" name="Google Shape;361;p25"/>
          <p:cNvSpPr txBox="1">
            <a:spLocks noGrp="1"/>
          </p:cNvSpPr>
          <p:nvPr>
            <p:ph type="title"/>
          </p:nvPr>
        </p:nvSpPr>
        <p:spPr>
          <a:xfrm>
            <a:off x="444500" y="223215"/>
            <a:ext cx="6954000" cy="3003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solidFill>
                  <a:srgbClr val="FFFFFF"/>
                </a:solidFill>
              </a:rPr>
              <a:t>PROBLEM #2: ANOMALY BAND — 5.37 LAKH UNDER-PAYING TAXPAYERS</a:t>
            </a:r>
            <a:endParaRPr sz="1800"/>
          </a:p>
        </p:txBody>
      </p:sp>
      <p:grpSp>
        <p:nvGrpSpPr>
          <p:cNvPr id="362" name="Google Shape;362;p25"/>
          <p:cNvGrpSpPr/>
          <p:nvPr/>
        </p:nvGrpSpPr>
        <p:grpSpPr>
          <a:xfrm>
            <a:off x="137160" y="877824"/>
            <a:ext cx="2955798" cy="1492758"/>
            <a:chOff x="137160" y="877824"/>
            <a:chExt cx="2955798" cy="1492758"/>
          </a:xfrm>
        </p:grpSpPr>
        <p:pic>
          <p:nvPicPr>
            <p:cNvPr id="363" name="Google Shape;363;p25"/>
            <p:cNvPicPr preferRelativeResize="0"/>
            <p:nvPr/>
          </p:nvPicPr>
          <p:blipFill rotWithShape="1">
            <a:blip r:embed="rId3">
              <a:alphaModFix/>
            </a:blip>
            <a:srcRect/>
            <a:stretch/>
          </p:blipFill>
          <p:spPr>
            <a:xfrm>
              <a:off x="137160" y="877824"/>
              <a:ext cx="2955798" cy="1492758"/>
            </a:xfrm>
            <a:prstGeom prst="rect">
              <a:avLst/>
            </a:prstGeom>
            <a:noFill/>
            <a:ln>
              <a:noFill/>
            </a:ln>
          </p:spPr>
        </p:pic>
        <p:sp>
          <p:nvSpPr>
            <p:cNvPr id="364" name="Google Shape;364;p25"/>
            <p:cNvSpPr/>
            <p:nvPr/>
          </p:nvSpPr>
          <p:spPr>
            <a:xfrm>
              <a:off x="274320" y="1024128"/>
              <a:ext cx="2743200" cy="1216660"/>
            </a:xfrm>
            <a:custGeom>
              <a:avLst/>
              <a:gdLst/>
              <a:ahLst/>
              <a:cxnLst/>
              <a:rect l="l" t="t" r="r" b="b"/>
              <a:pathLst>
                <a:path w="2743200" h="1216660" extrusionOk="0">
                  <a:moveTo>
                    <a:pt x="0" y="1216152"/>
                  </a:moveTo>
                  <a:lnTo>
                    <a:pt x="2743200" y="1216152"/>
                  </a:lnTo>
                  <a:lnTo>
                    <a:pt x="2743200" y="0"/>
                  </a:lnTo>
                  <a:lnTo>
                    <a:pt x="0" y="0"/>
                  </a:lnTo>
                  <a:lnTo>
                    <a:pt x="0" y="1216152"/>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5" name="Google Shape;365;p25"/>
            <p:cNvSpPr/>
            <p:nvPr/>
          </p:nvSpPr>
          <p:spPr>
            <a:xfrm>
              <a:off x="274320" y="960120"/>
              <a:ext cx="2743200" cy="1280160"/>
            </a:xfrm>
            <a:custGeom>
              <a:avLst/>
              <a:gdLst/>
              <a:ahLst/>
              <a:cxnLst/>
              <a:rect l="l" t="t" r="r" b="b"/>
              <a:pathLst>
                <a:path w="2743200" h="1280160" extrusionOk="0">
                  <a:moveTo>
                    <a:pt x="0" y="1280159"/>
                  </a:moveTo>
                  <a:lnTo>
                    <a:pt x="2743200" y="1280159"/>
                  </a:lnTo>
                  <a:lnTo>
                    <a:pt x="2743200" y="0"/>
                  </a:lnTo>
                  <a:lnTo>
                    <a:pt x="0" y="0"/>
                  </a:lnTo>
                  <a:lnTo>
                    <a:pt x="0" y="128015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6" name="Google Shape;366;p25"/>
            <p:cNvSpPr/>
            <p:nvPr/>
          </p:nvSpPr>
          <p:spPr>
            <a:xfrm>
              <a:off x="274320" y="960120"/>
              <a:ext cx="2743200" cy="64134"/>
            </a:xfrm>
            <a:custGeom>
              <a:avLst/>
              <a:gdLst/>
              <a:ahLst/>
              <a:cxnLst/>
              <a:rect l="l" t="t" r="r" b="b"/>
              <a:pathLst>
                <a:path w="2743200" h="64134" extrusionOk="0">
                  <a:moveTo>
                    <a:pt x="2743200" y="0"/>
                  </a:moveTo>
                  <a:lnTo>
                    <a:pt x="0" y="0"/>
                  </a:lnTo>
                  <a:lnTo>
                    <a:pt x="0" y="64008"/>
                  </a:lnTo>
                  <a:lnTo>
                    <a:pt x="2743200" y="64008"/>
                  </a:lnTo>
                  <a:lnTo>
                    <a:pt x="27432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67" name="Google Shape;367;p25"/>
            <p:cNvSpPr/>
            <p:nvPr/>
          </p:nvSpPr>
          <p:spPr>
            <a:xfrm>
              <a:off x="274320" y="960120"/>
              <a:ext cx="2743200" cy="64134"/>
            </a:xfrm>
            <a:custGeom>
              <a:avLst/>
              <a:gdLst/>
              <a:ahLst/>
              <a:cxnLst/>
              <a:rect l="l" t="t" r="r" b="b"/>
              <a:pathLst>
                <a:path w="2743200" h="64134" extrusionOk="0">
                  <a:moveTo>
                    <a:pt x="0" y="64008"/>
                  </a:moveTo>
                  <a:lnTo>
                    <a:pt x="2743200" y="64008"/>
                  </a:lnTo>
                  <a:lnTo>
                    <a:pt x="2743200" y="0"/>
                  </a:lnTo>
                  <a:lnTo>
                    <a:pt x="0" y="0"/>
                  </a:lnTo>
                  <a:lnTo>
                    <a:pt x="0" y="64008"/>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68" name="Google Shape;368;p25"/>
          <p:cNvSpPr txBox="1"/>
          <p:nvPr/>
        </p:nvSpPr>
        <p:spPr>
          <a:xfrm>
            <a:off x="280670" y="1111961"/>
            <a:ext cx="2730600" cy="965700"/>
          </a:xfrm>
          <a:prstGeom prst="rect">
            <a:avLst/>
          </a:prstGeom>
          <a:noFill/>
          <a:ln>
            <a:noFill/>
          </a:ln>
        </p:spPr>
        <p:txBody>
          <a:bodyPr spcFirstLastPara="1" wrap="square" lIns="0" tIns="13325" rIns="0" bIns="0" anchor="t" anchorCtr="0">
            <a:spAutoFit/>
          </a:bodyPr>
          <a:lstStyle/>
          <a:p>
            <a:pPr marL="916305" lvl="0" indent="0" algn="l" rtl="0">
              <a:lnSpc>
                <a:spcPct val="100000"/>
              </a:lnSpc>
              <a:spcBef>
                <a:spcPts val="0"/>
              </a:spcBef>
              <a:spcAft>
                <a:spcPts val="0"/>
              </a:spcAft>
              <a:buNone/>
            </a:pPr>
            <a:r>
              <a:rPr lang="en-US" sz="3200" b="1">
                <a:solidFill>
                  <a:srgbClr val="C8A84B"/>
                </a:solidFill>
                <a:latin typeface="Calibri"/>
                <a:ea typeface="Calibri"/>
                <a:cs typeface="Calibri"/>
                <a:sym typeface="Calibri"/>
              </a:rPr>
              <a:t>5.37L</a:t>
            </a:r>
            <a:endParaRPr sz="3200">
              <a:latin typeface="Calibri"/>
              <a:ea typeface="Calibri"/>
              <a:cs typeface="Calibri"/>
              <a:sym typeface="Calibri"/>
            </a:endParaRPr>
          </a:p>
          <a:p>
            <a:pPr marL="882650" marR="742950" lvl="0" indent="-134620" algn="l" rtl="0">
              <a:lnSpc>
                <a:spcPct val="100000"/>
              </a:lnSpc>
              <a:spcBef>
                <a:spcPts val="1160"/>
              </a:spcBef>
              <a:spcAft>
                <a:spcPts val="0"/>
              </a:spcAft>
              <a:buNone/>
            </a:pPr>
            <a:r>
              <a:rPr lang="en-US" sz="1000">
                <a:solidFill>
                  <a:srgbClr val="AABAD3"/>
                </a:solidFill>
                <a:latin typeface="Calibri"/>
                <a:ea typeface="Calibri"/>
                <a:cs typeface="Calibri"/>
                <a:sym typeface="Calibri"/>
              </a:rPr>
              <a:t>Taxpayers paying below peer band average</a:t>
            </a:r>
            <a:endParaRPr sz="1000">
              <a:latin typeface="Calibri"/>
              <a:ea typeface="Calibri"/>
              <a:cs typeface="Calibri"/>
              <a:sym typeface="Calibri"/>
            </a:endParaRPr>
          </a:p>
        </p:txBody>
      </p:sp>
      <p:grpSp>
        <p:nvGrpSpPr>
          <p:cNvPr id="369" name="Google Shape;369;p25"/>
          <p:cNvGrpSpPr/>
          <p:nvPr/>
        </p:nvGrpSpPr>
        <p:grpSpPr>
          <a:xfrm>
            <a:off x="3108960" y="877824"/>
            <a:ext cx="2955798" cy="1492758"/>
            <a:chOff x="3108960" y="877824"/>
            <a:chExt cx="2955798" cy="1492758"/>
          </a:xfrm>
        </p:grpSpPr>
        <p:pic>
          <p:nvPicPr>
            <p:cNvPr id="370" name="Google Shape;370;p25"/>
            <p:cNvPicPr preferRelativeResize="0"/>
            <p:nvPr/>
          </p:nvPicPr>
          <p:blipFill rotWithShape="1">
            <a:blip r:embed="rId3">
              <a:alphaModFix/>
            </a:blip>
            <a:srcRect/>
            <a:stretch/>
          </p:blipFill>
          <p:spPr>
            <a:xfrm>
              <a:off x="3108960" y="877824"/>
              <a:ext cx="2955798" cy="1492758"/>
            </a:xfrm>
            <a:prstGeom prst="rect">
              <a:avLst/>
            </a:prstGeom>
            <a:noFill/>
            <a:ln>
              <a:noFill/>
            </a:ln>
          </p:spPr>
        </p:pic>
        <p:sp>
          <p:nvSpPr>
            <p:cNvPr id="371" name="Google Shape;371;p25"/>
            <p:cNvSpPr/>
            <p:nvPr/>
          </p:nvSpPr>
          <p:spPr>
            <a:xfrm>
              <a:off x="3246120" y="1024128"/>
              <a:ext cx="2743200" cy="1216660"/>
            </a:xfrm>
            <a:custGeom>
              <a:avLst/>
              <a:gdLst/>
              <a:ahLst/>
              <a:cxnLst/>
              <a:rect l="l" t="t" r="r" b="b"/>
              <a:pathLst>
                <a:path w="2743200" h="1216660" extrusionOk="0">
                  <a:moveTo>
                    <a:pt x="0" y="1216152"/>
                  </a:moveTo>
                  <a:lnTo>
                    <a:pt x="2743200" y="1216152"/>
                  </a:lnTo>
                  <a:lnTo>
                    <a:pt x="2743200" y="0"/>
                  </a:lnTo>
                  <a:lnTo>
                    <a:pt x="0" y="0"/>
                  </a:lnTo>
                  <a:lnTo>
                    <a:pt x="0" y="1216152"/>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2" name="Google Shape;372;p25"/>
            <p:cNvSpPr/>
            <p:nvPr/>
          </p:nvSpPr>
          <p:spPr>
            <a:xfrm>
              <a:off x="3246120" y="960120"/>
              <a:ext cx="2743200" cy="1280160"/>
            </a:xfrm>
            <a:custGeom>
              <a:avLst/>
              <a:gdLst/>
              <a:ahLst/>
              <a:cxnLst/>
              <a:rect l="l" t="t" r="r" b="b"/>
              <a:pathLst>
                <a:path w="2743200" h="1280160" extrusionOk="0">
                  <a:moveTo>
                    <a:pt x="0" y="1280159"/>
                  </a:moveTo>
                  <a:lnTo>
                    <a:pt x="2743200" y="1280159"/>
                  </a:lnTo>
                  <a:lnTo>
                    <a:pt x="2743200" y="0"/>
                  </a:lnTo>
                  <a:lnTo>
                    <a:pt x="0" y="0"/>
                  </a:lnTo>
                  <a:lnTo>
                    <a:pt x="0" y="128015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3" name="Google Shape;373;p25"/>
            <p:cNvSpPr/>
            <p:nvPr/>
          </p:nvSpPr>
          <p:spPr>
            <a:xfrm>
              <a:off x="3246120" y="960120"/>
              <a:ext cx="2743200" cy="64134"/>
            </a:xfrm>
            <a:custGeom>
              <a:avLst/>
              <a:gdLst/>
              <a:ahLst/>
              <a:cxnLst/>
              <a:rect l="l" t="t" r="r" b="b"/>
              <a:pathLst>
                <a:path w="2743200" h="64134" extrusionOk="0">
                  <a:moveTo>
                    <a:pt x="2743200" y="0"/>
                  </a:moveTo>
                  <a:lnTo>
                    <a:pt x="0" y="0"/>
                  </a:lnTo>
                  <a:lnTo>
                    <a:pt x="0" y="64008"/>
                  </a:lnTo>
                  <a:lnTo>
                    <a:pt x="2743200" y="64008"/>
                  </a:lnTo>
                  <a:lnTo>
                    <a:pt x="27432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4" name="Google Shape;374;p25"/>
            <p:cNvSpPr/>
            <p:nvPr/>
          </p:nvSpPr>
          <p:spPr>
            <a:xfrm>
              <a:off x="3246120" y="960120"/>
              <a:ext cx="2743200" cy="64134"/>
            </a:xfrm>
            <a:custGeom>
              <a:avLst/>
              <a:gdLst/>
              <a:ahLst/>
              <a:cxnLst/>
              <a:rect l="l" t="t" r="r" b="b"/>
              <a:pathLst>
                <a:path w="2743200" h="64134" extrusionOk="0">
                  <a:moveTo>
                    <a:pt x="0" y="64008"/>
                  </a:moveTo>
                  <a:lnTo>
                    <a:pt x="2743200" y="64008"/>
                  </a:lnTo>
                  <a:lnTo>
                    <a:pt x="2743200" y="0"/>
                  </a:lnTo>
                  <a:lnTo>
                    <a:pt x="0" y="0"/>
                  </a:lnTo>
                  <a:lnTo>
                    <a:pt x="0" y="64008"/>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75" name="Google Shape;375;p25"/>
          <p:cNvSpPr txBox="1"/>
          <p:nvPr/>
        </p:nvSpPr>
        <p:spPr>
          <a:xfrm>
            <a:off x="3252470" y="1111961"/>
            <a:ext cx="2730600" cy="965700"/>
          </a:xfrm>
          <a:prstGeom prst="rect">
            <a:avLst/>
          </a:prstGeom>
          <a:noFill/>
          <a:ln>
            <a:noFill/>
          </a:ln>
        </p:spPr>
        <p:txBody>
          <a:bodyPr spcFirstLastPara="1" wrap="square" lIns="0" tIns="13325" rIns="0" bIns="0" anchor="t" anchorCtr="0">
            <a:spAutoFit/>
          </a:bodyPr>
          <a:lstStyle/>
          <a:p>
            <a:pPr marL="916305" lvl="0" indent="0" algn="l" rtl="0">
              <a:lnSpc>
                <a:spcPct val="100000"/>
              </a:lnSpc>
              <a:spcBef>
                <a:spcPts val="0"/>
              </a:spcBef>
              <a:spcAft>
                <a:spcPts val="0"/>
              </a:spcAft>
              <a:buNone/>
            </a:pPr>
            <a:r>
              <a:rPr lang="en-US" sz="3200" b="1">
                <a:solidFill>
                  <a:srgbClr val="C8A84B"/>
                </a:solidFill>
                <a:latin typeface="Calibri"/>
                <a:ea typeface="Calibri"/>
                <a:cs typeface="Calibri"/>
                <a:sym typeface="Calibri"/>
              </a:rPr>
              <a:t>1.22L</a:t>
            </a:r>
            <a:endParaRPr sz="3200">
              <a:latin typeface="Calibri"/>
              <a:ea typeface="Calibri"/>
              <a:cs typeface="Calibri"/>
              <a:sym typeface="Calibri"/>
            </a:endParaRPr>
          </a:p>
          <a:p>
            <a:pPr marL="1106805" marR="779145" lvl="0" indent="-320040" algn="l" rtl="0">
              <a:lnSpc>
                <a:spcPct val="100000"/>
              </a:lnSpc>
              <a:spcBef>
                <a:spcPts val="1160"/>
              </a:spcBef>
              <a:spcAft>
                <a:spcPts val="0"/>
              </a:spcAft>
              <a:buNone/>
            </a:pPr>
            <a:r>
              <a:rPr lang="en-US" sz="1000">
                <a:solidFill>
                  <a:srgbClr val="AABAD3"/>
                </a:solidFill>
                <a:latin typeface="Calibri"/>
                <a:ea typeface="Calibri"/>
                <a:cs typeface="Calibri"/>
                <a:sym typeface="Calibri"/>
              </a:rPr>
              <a:t>Cash taxpayers among the above</a:t>
            </a:r>
            <a:endParaRPr sz="1000">
              <a:latin typeface="Calibri"/>
              <a:ea typeface="Calibri"/>
              <a:cs typeface="Calibri"/>
              <a:sym typeface="Calibri"/>
            </a:endParaRPr>
          </a:p>
        </p:txBody>
      </p:sp>
      <p:grpSp>
        <p:nvGrpSpPr>
          <p:cNvPr id="376" name="Google Shape;376;p25"/>
          <p:cNvGrpSpPr/>
          <p:nvPr/>
        </p:nvGrpSpPr>
        <p:grpSpPr>
          <a:xfrm>
            <a:off x="6080759" y="877824"/>
            <a:ext cx="2955797" cy="1492758"/>
            <a:chOff x="6080759" y="877824"/>
            <a:chExt cx="2955797" cy="1492758"/>
          </a:xfrm>
        </p:grpSpPr>
        <p:pic>
          <p:nvPicPr>
            <p:cNvPr id="377" name="Google Shape;377;p25"/>
            <p:cNvPicPr preferRelativeResize="0"/>
            <p:nvPr/>
          </p:nvPicPr>
          <p:blipFill rotWithShape="1">
            <a:blip r:embed="rId3">
              <a:alphaModFix/>
            </a:blip>
            <a:srcRect/>
            <a:stretch/>
          </p:blipFill>
          <p:spPr>
            <a:xfrm>
              <a:off x="6080759" y="877824"/>
              <a:ext cx="2955797" cy="1492758"/>
            </a:xfrm>
            <a:prstGeom prst="rect">
              <a:avLst/>
            </a:prstGeom>
            <a:noFill/>
            <a:ln>
              <a:noFill/>
            </a:ln>
          </p:spPr>
        </p:pic>
        <p:sp>
          <p:nvSpPr>
            <p:cNvPr id="378" name="Google Shape;378;p25"/>
            <p:cNvSpPr/>
            <p:nvPr/>
          </p:nvSpPr>
          <p:spPr>
            <a:xfrm>
              <a:off x="6217919" y="1024128"/>
              <a:ext cx="2743200" cy="1216660"/>
            </a:xfrm>
            <a:custGeom>
              <a:avLst/>
              <a:gdLst/>
              <a:ahLst/>
              <a:cxnLst/>
              <a:rect l="l" t="t" r="r" b="b"/>
              <a:pathLst>
                <a:path w="2743200" h="1216660" extrusionOk="0">
                  <a:moveTo>
                    <a:pt x="0" y="1216152"/>
                  </a:moveTo>
                  <a:lnTo>
                    <a:pt x="2743200" y="1216152"/>
                  </a:lnTo>
                  <a:lnTo>
                    <a:pt x="2743200" y="0"/>
                  </a:lnTo>
                  <a:lnTo>
                    <a:pt x="0" y="0"/>
                  </a:lnTo>
                  <a:lnTo>
                    <a:pt x="0" y="1216152"/>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79" name="Google Shape;379;p25"/>
            <p:cNvSpPr/>
            <p:nvPr/>
          </p:nvSpPr>
          <p:spPr>
            <a:xfrm>
              <a:off x="6217919" y="960120"/>
              <a:ext cx="2743200" cy="1280160"/>
            </a:xfrm>
            <a:custGeom>
              <a:avLst/>
              <a:gdLst/>
              <a:ahLst/>
              <a:cxnLst/>
              <a:rect l="l" t="t" r="r" b="b"/>
              <a:pathLst>
                <a:path w="2743200" h="1280160" extrusionOk="0">
                  <a:moveTo>
                    <a:pt x="0" y="1280159"/>
                  </a:moveTo>
                  <a:lnTo>
                    <a:pt x="2743200" y="1280159"/>
                  </a:lnTo>
                  <a:lnTo>
                    <a:pt x="2743200" y="0"/>
                  </a:lnTo>
                  <a:lnTo>
                    <a:pt x="0" y="0"/>
                  </a:lnTo>
                  <a:lnTo>
                    <a:pt x="0" y="1280159"/>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80" name="Google Shape;380;p25"/>
            <p:cNvSpPr/>
            <p:nvPr/>
          </p:nvSpPr>
          <p:spPr>
            <a:xfrm>
              <a:off x="6217919" y="960120"/>
              <a:ext cx="2743200" cy="64134"/>
            </a:xfrm>
            <a:custGeom>
              <a:avLst/>
              <a:gdLst/>
              <a:ahLst/>
              <a:cxnLst/>
              <a:rect l="l" t="t" r="r" b="b"/>
              <a:pathLst>
                <a:path w="2743200" h="64134" extrusionOk="0">
                  <a:moveTo>
                    <a:pt x="2743200" y="0"/>
                  </a:moveTo>
                  <a:lnTo>
                    <a:pt x="0" y="0"/>
                  </a:lnTo>
                  <a:lnTo>
                    <a:pt x="0" y="64008"/>
                  </a:lnTo>
                  <a:lnTo>
                    <a:pt x="2743200" y="64008"/>
                  </a:lnTo>
                  <a:lnTo>
                    <a:pt x="27432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381" name="Google Shape;381;p25"/>
            <p:cNvSpPr/>
            <p:nvPr/>
          </p:nvSpPr>
          <p:spPr>
            <a:xfrm>
              <a:off x="6217919" y="960120"/>
              <a:ext cx="2743200" cy="64134"/>
            </a:xfrm>
            <a:custGeom>
              <a:avLst/>
              <a:gdLst/>
              <a:ahLst/>
              <a:cxnLst/>
              <a:rect l="l" t="t" r="r" b="b"/>
              <a:pathLst>
                <a:path w="2743200" h="64134" extrusionOk="0">
                  <a:moveTo>
                    <a:pt x="0" y="64008"/>
                  </a:moveTo>
                  <a:lnTo>
                    <a:pt x="2743200" y="64008"/>
                  </a:lnTo>
                  <a:lnTo>
                    <a:pt x="2743200" y="0"/>
                  </a:lnTo>
                  <a:lnTo>
                    <a:pt x="0" y="0"/>
                  </a:lnTo>
                  <a:lnTo>
                    <a:pt x="0" y="64008"/>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382" name="Google Shape;382;p25"/>
          <p:cNvSpPr txBox="1"/>
          <p:nvPr/>
        </p:nvSpPr>
        <p:spPr>
          <a:xfrm>
            <a:off x="6224270" y="1111961"/>
            <a:ext cx="2730600" cy="965700"/>
          </a:xfrm>
          <a:prstGeom prst="rect">
            <a:avLst/>
          </a:prstGeom>
          <a:noFill/>
          <a:ln>
            <a:noFill/>
          </a:ln>
        </p:spPr>
        <p:txBody>
          <a:bodyPr spcFirstLastPara="1" wrap="square" lIns="0" tIns="13325" rIns="0" bIns="0" anchor="t" anchorCtr="0">
            <a:spAutoFit/>
          </a:bodyPr>
          <a:lstStyle/>
          <a:p>
            <a:pPr marL="0" lvl="0" indent="0" algn="ctr" rtl="0">
              <a:lnSpc>
                <a:spcPct val="100000"/>
              </a:lnSpc>
              <a:spcBef>
                <a:spcPts val="0"/>
              </a:spcBef>
              <a:spcAft>
                <a:spcPts val="0"/>
              </a:spcAft>
              <a:buNone/>
            </a:pPr>
            <a:r>
              <a:rPr lang="en-US" sz="3200" b="1">
                <a:solidFill>
                  <a:srgbClr val="C8A84B"/>
                </a:solidFill>
                <a:latin typeface="Calibri"/>
                <a:ea typeface="Calibri"/>
                <a:cs typeface="Calibri"/>
                <a:sym typeface="Calibri"/>
              </a:rPr>
              <a:t>₹194 Cr</a:t>
            </a:r>
            <a:endParaRPr sz="3200">
              <a:latin typeface="Calibri"/>
              <a:ea typeface="Calibri"/>
              <a:cs typeface="Calibri"/>
              <a:sym typeface="Calibri"/>
            </a:endParaRPr>
          </a:p>
          <a:p>
            <a:pPr marL="0" lvl="0" indent="0" algn="ctr" rtl="0">
              <a:lnSpc>
                <a:spcPct val="100000"/>
              </a:lnSpc>
              <a:spcBef>
                <a:spcPts val="1160"/>
              </a:spcBef>
              <a:spcAft>
                <a:spcPts val="0"/>
              </a:spcAft>
              <a:buNone/>
            </a:pPr>
            <a:r>
              <a:rPr lang="en-US" sz="1000">
                <a:solidFill>
                  <a:srgbClr val="AABAD3"/>
                </a:solidFill>
                <a:latin typeface="Calibri"/>
                <a:ea typeface="Calibri"/>
                <a:cs typeface="Calibri"/>
                <a:sym typeface="Calibri"/>
              </a:rPr>
              <a:t>Total cash paid by</a:t>
            </a:r>
            <a:endParaRPr sz="1000">
              <a:latin typeface="Calibri"/>
              <a:ea typeface="Calibri"/>
              <a:cs typeface="Calibri"/>
              <a:sym typeface="Calibri"/>
            </a:endParaRPr>
          </a:p>
          <a:p>
            <a:pPr marL="635" lvl="0" indent="0" algn="ctr" rtl="0">
              <a:lnSpc>
                <a:spcPct val="100000"/>
              </a:lnSpc>
              <a:spcBef>
                <a:spcPts val="0"/>
              </a:spcBef>
              <a:spcAft>
                <a:spcPts val="0"/>
              </a:spcAft>
              <a:buNone/>
            </a:pPr>
            <a:r>
              <a:rPr lang="en-US" sz="1000">
                <a:solidFill>
                  <a:srgbClr val="AABAD3"/>
                </a:solidFill>
                <a:latin typeface="Calibri"/>
                <a:ea typeface="Calibri"/>
                <a:cs typeface="Calibri"/>
                <a:sym typeface="Calibri"/>
              </a:rPr>
              <a:t>1.22L taxpayers combined</a:t>
            </a:r>
            <a:endParaRPr sz="1000">
              <a:latin typeface="Calibri"/>
              <a:ea typeface="Calibri"/>
              <a:cs typeface="Calibri"/>
              <a:sym typeface="Calibri"/>
            </a:endParaRPr>
          </a:p>
        </p:txBody>
      </p:sp>
      <p:grpSp>
        <p:nvGrpSpPr>
          <p:cNvPr id="383" name="Google Shape;383;p25"/>
          <p:cNvGrpSpPr/>
          <p:nvPr/>
        </p:nvGrpSpPr>
        <p:grpSpPr>
          <a:xfrm>
            <a:off x="297180" y="2427733"/>
            <a:ext cx="8595359" cy="457200"/>
            <a:chOff x="274320" y="2377439"/>
            <a:chExt cx="8595359" cy="457200"/>
          </a:xfrm>
        </p:grpSpPr>
        <p:sp>
          <p:nvSpPr>
            <p:cNvPr id="384" name="Google Shape;384;p25"/>
            <p:cNvSpPr/>
            <p:nvPr/>
          </p:nvSpPr>
          <p:spPr>
            <a:xfrm>
              <a:off x="274320" y="2377439"/>
              <a:ext cx="8595360" cy="457200"/>
            </a:xfrm>
            <a:custGeom>
              <a:avLst/>
              <a:gdLst/>
              <a:ahLst/>
              <a:cxnLst/>
              <a:rect l="l" t="t" r="r" b="b"/>
              <a:pathLst>
                <a:path w="8595360" h="457200" extrusionOk="0">
                  <a:moveTo>
                    <a:pt x="8595360" y="0"/>
                  </a:moveTo>
                  <a:lnTo>
                    <a:pt x="0" y="0"/>
                  </a:lnTo>
                  <a:lnTo>
                    <a:pt x="0" y="457200"/>
                  </a:lnTo>
                  <a:lnTo>
                    <a:pt x="8595360" y="457200"/>
                  </a:lnTo>
                  <a:lnTo>
                    <a:pt x="8595360" y="0"/>
                  </a:lnTo>
                  <a:close/>
                </a:path>
              </a:pathLst>
            </a:custGeom>
            <a:solidFill>
              <a:srgbClr val="FFF3CD"/>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385" name="Google Shape;385;p25"/>
            <p:cNvPicPr preferRelativeResize="0"/>
            <p:nvPr/>
          </p:nvPicPr>
          <p:blipFill rotWithShape="1">
            <a:blip r:embed="rId4">
              <a:alphaModFix/>
            </a:blip>
            <a:srcRect/>
            <a:stretch/>
          </p:blipFill>
          <p:spPr>
            <a:xfrm>
              <a:off x="417576" y="2476499"/>
              <a:ext cx="290322" cy="293369"/>
            </a:xfrm>
            <a:prstGeom prst="rect">
              <a:avLst/>
            </a:prstGeom>
            <a:noFill/>
            <a:ln>
              <a:noFill/>
            </a:ln>
          </p:spPr>
        </p:pic>
      </p:grpSp>
      <p:sp>
        <p:nvSpPr>
          <p:cNvPr id="386" name="Google Shape;386;p25"/>
          <p:cNvSpPr txBox="1"/>
          <p:nvPr/>
        </p:nvSpPr>
        <p:spPr>
          <a:xfrm>
            <a:off x="313942" y="2417960"/>
            <a:ext cx="8595300" cy="322500"/>
          </a:xfrm>
          <a:prstGeom prst="rect">
            <a:avLst/>
          </a:prstGeom>
          <a:noFill/>
          <a:ln w="12700" cap="flat" cmpd="sng">
            <a:solidFill>
              <a:srgbClr val="EFC02F"/>
            </a:solidFill>
            <a:prstDash val="solid"/>
            <a:round/>
            <a:headEnd type="none" w="sm" len="sm"/>
            <a:tailEnd type="none" w="sm" len="sm"/>
          </a:ln>
        </p:spPr>
        <p:txBody>
          <a:bodyPr spcFirstLastPara="1" wrap="square" lIns="0" tIns="138425" rIns="0" bIns="0" anchor="t" anchorCtr="0">
            <a:spAutoFit/>
          </a:bodyPr>
          <a:lstStyle/>
          <a:p>
            <a:pPr marL="412750" lvl="0" indent="0" algn="l" rtl="0">
              <a:lnSpc>
                <a:spcPct val="100000"/>
              </a:lnSpc>
              <a:spcBef>
                <a:spcPts val="0"/>
              </a:spcBef>
              <a:spcAft>
                <a:spcPts val="0"/>
              </a:spcAft>
              <a:buNone/>
            </a:pPr>
            <a:r>
              <a:rPr lang="en-US" sz="1200" b="1">
                <a:solidFill>
                  <a:srgbClr val="7A5700"/>
                </a:solidFill>
                <a:latin typeface="Calibri"/>
                <a:ea typeface="Calibri"/>
                <a:cs typeface="Calibri"/>
                <a:sym typeface="Calibri"/>
              </a:rPr>
              <a:t>Average cash payment = ₹16,000/year per taxpayer </a:t>
            </a:r>
            <a:endParaRPr/>
          </a:p>
        </p:txBody>
      </p:sp>
      <p:grpSp>
        <p:nvGrpSpPr>
          <p:cNvPr id="387" name="Google Shape;387;p25"/>
          <p:cNvGrpSpPr/>
          <p:nvPr/>
        </p:nvGrpSpPr>
        <p:grpSpPr>
          <a:xfrm>
            <a:off x="137160" y="2889504"/>
            <a:ext cx="4418838" cy="1081252"/>
            <a:chOff x="137160" y="2889504"/>
            <a:chExt cx="4418838" cy="1081252"/>
          </a:xfrm>
        </p:grpSpPr>
        <p:pic>
          <p:nvPicPr>
            <p:cNvPr id="388" name="Google Shape;388;p25"/>
            <p:cNvPicPr preferRelativeResize="0"/>
            <p:nvPr/>
          </p:nvPicPr>
          <p:blipFill rotWithShape="1">
            <a:blip r:embed="rId5">
              <a:alphaModFix/>
            </a:blip>
            <a:srcRect/>
            <a:stretch/>
          </p:blipFill>
          <p:spPr>
            <a:xfrm>
              <a:off x="137160" y="2889504"/>
              <a:ext cx="4418838" cy="1081252"/>
            </a:xfrm>
            <a:prstGeom prst="rect">
              <a:avLst/>
            </a:prstGeom>
            <a:noFill/>
            <a:ln>
              <a:noFill/>
            </a:ln>
          </p:spPr>
        </p:pic>
        <p:sp>
          <p:nvSpPr>
            <p:cNvPr id="389" name="Google Shape;389;p25"/>
            <p:cNvSpPr/>
            <p:nvPr/>
          </p:nvSpPr>
          <p:spPr>
            <a:xfrm>
              <a:off x="329184" y="2971800"/>
              <a:ext cx="4151629" cy="868679"/>
            </a:xfrm>
            <a:custGeom>
              <a:avLst/>
              <a:gdLst/>
              <a:ahLst/>
              <a:cxnLst/>
              <a:rect l="l" t="t" r="r" b="b"/>
              <a:pathLst>
                <a:path w="4151629" h="868679" extrusionOk="0">
                  <a:moveTo>
                    <a:pt x="0" y="868680"/>
                  </a:moveTo>
                  <a:lnTo>
                    <a:pt x="4151376" y="868680"/>
                  </a:lnTo>
                  <a:lnTo>
                    <a:pt x="4151376" y="0"/>
                  </a:lnTo>
                  <a:lnTo>
                    <a:pt x="0" y="0"/>
                  </a:lnTo>
                  <a:lnTo>
                    <a:pt x="0" y="86868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0" name="Google Shape;390;p25"/>
            <p:cNvSpPr/>
            <p:nvPr/>
          </p:nvSpPr>
          <p:spPr>
            <a:xfrm>
              <a:off x="274320" y="2971800"/>
              <a:ext cx="4206240" cy="868679"/>
            </a:xfrm>
            <a:custGeom>
              <a:avLst/>
              <a:gdLst/>
              <a:ahLst/>
              <a:cxnLst/>
              <a:rect l="l" t="t" r="r" b="b"/>
              <a:pathLst>
                <a:path w="4206240" h="868679" extrusionOk="0">
                  <a:moveTo>
                    <a:pt x="0" y="868680"/>
                  </a:moveTo>
                  <a:lnTo>
                    <a:pt x="4206240" y="868680"/>
                  </a:lnTo>
                  <a:lnTo>
                    <a:pt x="4206240" y="0"/>
                  </a:lnTo>
                  <a:lnTo>
                    <a:pt x="0" y="0"/>
                  </a:lnTo>
                  <a:lnTo>
                    <a:pt x="0" y="86868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1" name="Google Shape;391;p25"/>
            <p:cNvSpPr/>
            <p:nvPr/>
          </p:nvSpPr>
          <p:spPr>
            <a:xfrm>
              <a:off x="274320" y="2971800"/>
              <a:ext cx="55245" cy="868679"/>
            </a:xfrm>
            <a:custGeom>
              <a:avLst/>
              <a:gdLst/>
              <a:ahLst/>
              <a:cxnLst/>
              <a:rect l="l" t="t" r="r" b="b"/>
              <a:pathLst>
                <a:path w="55245" h="868679" extrusionOk="0">
                  <a:moveTo>
                    <a:pt x="54864" y="0"/>
                  </a:moveTo>
                  <a:lnTo>
                    <a:pt x="0" y="0"/>
                  </a:lnTo>
                  <a:lnTo>
                    <a:pt x="0" y="868680"/>
                  </a:lnTo>
                  <a:lnTo>
                    <a:pt x="54864" y="868680"/>
                  </a:lnTo>
                  <a:lnTo>
                    <a:pt x="54864"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2" name="Google Shape;392;p25"/>
            <p:cNvSpPr/>
            <p:nvPr/>
          </p:nvSpPr>
          <p:spPr>
            <a:xfrm>
              <a:off x="274320" y="2971800"/>
              <a:ext cx="55245" cy="868679"/>
            </a:xfrm>
            <a:custGeom>
              <a:avLst/>
              <a:gdLst/>
              <a:ahLst/>
              <a:cxnLst/>
              <a:rect l="l" t="t" r="r" b="b"/>
              <a:pathLst>
                <a:path w="55245" h="868679" extrusionOk="0">
                  <a:moveTo>
                    <a:pt x="0" y="868680"/>
                  </a:moveTo>
                  <a:lnTo>
                    <a:pt x="54864" y="868680"/>
                  </a:lnTo>
                  <a:lnTo>
                    <a:pt x="54864" y="0"/>
                  </a:lnTo>
                  <a:lnTo>
                    <a:pt x="0" y="0"/>
                  </a:lnTo>
                  <a:lnTo>
                    <a:pt x="0" y="868680"/>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grpSp>
      <p:sp>
        <p:nvSpPr>
          <p:cNvPr id="393" name="Google Shape;393;p25"/>
          <p:cNvSpPr txBox="1"/>
          <p:nvPr/>
        </p:nvSpPr>
        <p:spPr>
          <a:xfrm>
            <a:off x="425070" y="2999840"/>
            <a:ext cx="4138800" cy="750900"/>
          </a:xfrm>
          <a:prstGeom prst="rect">
            <a:avLst/>
          </a:prstGeom>
          <a:noFill/>
          <a:ln>
            <a:noFill/>
          </a:ln>
        </p:spPr>
        <p:txBody>
          <a:bodyPr spcFirstLastPara="1" wrap="square" lIns="0" tIns="12050" rIns="0" bIns="0" anchor="t" anchorCtr="0">
            <a:spAutoFit/>
          </a:bodyPr>
          <a:lstStyle/>
          <a:p>
            <a:pPr marL="139700" lvl="0" indent="0" algn="l" rtl="0">
              <a:lnSpc>
                <a:spcPct val="100000"/>
              </a:lnSpc>
              <a:spcBef>
                <a:spcPts val="0"/>
              </a:spcBef>
              <a:spcAft>
                <a:spcPts val="0"/>
              </a:spcAft>
              <a:buNone/>
            </a:pPr>
            <a:r>
              <a:rPr lang="en-US" sz="1200" b="1" baseline="30000">
                <a:solidFill>
                  <a:srgbClr val="C8A84B"/>
                </a:solidFill>
                <a:latin typeface="Calibri"/>
                <a:ea typeface="Calibri"/>
                <a:cs typeface="Calibri"/>
                <a:sym typeface="Calibri"/>
              </a:rPr>
              <a:t>C  1      </a:t>
            </a:r>
            <a:r>
              <a:rPr lang="en-US" sz="1200" b="1">
                <a:solidFill>
                  <a:srgbClr val="1B2A49"/>
                </a:solidFill>
                <a:latin typeface="Calibri"/>
                <a:ea typeface="Calibri"/>
                <a:cs typeface="Calibri"/>
                <a:sym typeface="Calibri"/>
              </a:rPr>
              <a:t>Obtain the Dataset (T)</a:t>
            </a:r>
            <a:endParaRPr/>
          </a:p>
          <a:p>
            <a:pPr marL="139700" lvl="0" indent="0" algn="l" rtl="0">
              <a:lnSpc>
                <a:spcPct val="100000"/>
              </a:lnSpc>
              <a:spcBef>
                <a:spcPts val="0"/>
              </a:spcBef>
              <a:spcAft>
                <a:spcPts val="0"/>
              </a:spcAft>
              <a:buNone/>
            </a:pPr>
            <a:r>
              <a:rPr lang="en-US" sz="1200">
                <a:solidFill>
                  <a:srgbClr val="495468"/>
                </a:solidFill>
                <a:latin typeface="Calibri"/>
                <a:ea typeface="Calibri"/>
                <a:cs typeface="Calibri"/>
                <a:sym typeface="Calibri"/>
              </a:rPr>
              <a:t>Get the 5.37L granular list from CBIC/GSTN along with the methodology and parameters used to generate the report.</a:t>
            </a:r>
            <a:endParaRPr sz="1200">
              <a:solidFill>
                <a:srgbClr val="495468"/>
              </a:solidFill>
              <a:latin typeface="Calibri"/>
              <a:ea typeface="Calibri"/>
              <a:cs typeface="Calibri"/>
              <a:sym typeface="Calibri"/>
            </a:endParaRPr>
          </a:p>
          <a:p>
            <a:pPr marL="139700" lvl="0" indent="0" algn="l" rtl="0">
              <a:lnSpc>
                <a:spcPct val="100000"/>
              </a:lnSpc>
              <a:spcBef>
                <a:spcPts val="0"/>
              </a:spcBef>
              <a:spcAft>
                <a:spcPts val="0"/>
              </a:spcAft>
              <a:buNone/>
            </a:pPr>
            <a:r>
              <a:rPr lang="en-US" sz="1200">
                <a:solidFill>
                  <a:srgbClr val="495468"/>
                </a:solidFill>
                <a:latin typeface="Calibri"/>
                <a:ea typeface="Calibri"/>
                <a:cs typeface="Calibri"/>
                <a:sym typeface="Calibri"/>
              </a:rPr>
              <a:t>This is the foundation — nothing else can proceed without it.</a:t>
            </a:r>
            <a:endParaRPr sz="1200">
              <a:latin typeface="Calibri"/>
              <a:ea typeface="Calibri"/>
              <a:cs typeface="Calibri"/>
              <a:sym typeface="Calibri"/>
            </a:endParaRPr>
          </a:p>
        </p:txBody>
      </p:sp>
      <p:grpSp>
        <p:nvGrpSpPr>
          <p:cNvPr id="394" name="Google Shape;394;p25"/>
          <p:cNvGrpSpPr/>
          <p:nvPr/>
        </p:nvGrpSpPr>
        <p:grpSpPr>
          <a:xfrm>
            <a:off x="137160" y="3849623"/>
            <a:ext cx="4418838" cy="1081252"/>
            <a:chOff x="137160" y="3849623"/>
            <a:chExt cx="4418838" cy="1081252"/>
          </a:xfrm>
        </p:grpSpPr>
        <p:pic>
          <p:nvPicPr>
            <p:cNvPr id="395" name="Google Shape;395;p25"/>
            <p:cNvPicPr preferRelativeResize="0"/>
            <p:nvPr/>
          </p:nvPicPr>
          <p:blipFill rotWithShape="1">
            <a:blip r:embed="rId5">
              <a:alphaModFix/>
            </a:blip>
            <a:srcRect/>
            <a:stretch/>
          </p:blipFill>
          <p:spPr>
            <a:xfrm>
              <a:off x="137160" y="3849623"/>
              <a:ext cx="4418838" cy="1081252"/>
            </a:xfrm>
            <a:prstGeom prst="rect">
              <a:avLst/>
            </a:prstGeom>
            <a:noFill/>
            <a:ln>
              <a:noFill/>
            </a:ln>
          </p:spPr>
        </p:pic>
        <p:sp>
          <p:nvSpPr>
            <p:cNvPr id="396" name="Google Shape;396;p25"/>
            <p:cNvSpPr/>
            <p:nvPr/>
          </p:nvSpPr>
          <p:spPr>
            <a:xfrm>
              <a:off x="329184" y="3931919"/>
              <a:ext cx="4151629" cy="868679"/>
            </a:xfrm>
            <a:custGeom>
              <a:avLst/>
              <a:gdLst/>
              <a:ahLst/>
              <a:cxnLst/>
              <a:rect l="l" t="t" r="r" b="b"/>
              <a:pathLst>
                <a:path w="4151629" h="868679" extrusionOk="0">
                  <a:moveTo>
                    <a:pt x="0" y="868679"/>
                  </a:moveTo>
                  <a:lnTo>
                    <a:pt x="4151376" y="868679"/>
                  </a:lnTo>
                  <a:lnTo>
                    <a:pt x="4151376" y="0"/>
                  </a:lnTo>
                  <a:lnTo>
                    <a:pt x="0" y="0"/>
                  </a:lnTo>
                  <a:lnTo>
                    <a:pt x="0" y="868679"/>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7" name="Google Shape;397;p25"/>
            <p:cNvSpPr/>
            <p:nvPr/>
          </p:nvSpPr>
          <p:spPr>
            <a:xfrm>
              <a:off x="274320" y="3931919"/>
              <a:ext cx="4206240" cy="868679"/>
            </a:xfrm>
            <a:custGeom>
              <a:avLst/>
              <a:gdLst/>
              <a:ahLst/>
              <a:cxnLst/>
              <a:rect l="l" t="t" r="r" b="b"/>
              <a:pathLst>
                <a:path w="4206240" h="868679" extrusionOk="0">
                  <a:moveTo>
                    <a:pt x="0" y="868679"/>
                  </a:moveTo>
                  <a:lnTo>
                    <a:pt x="4206240" y="868679"/>
                  </a:lnTo>
                  <a:lnTo>
                    <a:pt x="4206240" y="0"/>
                  </a:lnTo>
                  <a:lnTo>
                    <a:pt x="0" y="0"/>
                  </a:lnTo>
                  <a:lnTo>
                    <a:pt x="0" y="868679"/>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8" name="Google Shape;398;p25"/>
            <p:cNvSpPr/>
            <p:nvPr/>
          </p:nvSpPr>
          <p:spPr>
            <a:xfrm>
              <a:off x="274320" y="3931919"/>
              <a:ext cx="55245" cy="868679"/>
            </a:xfrm>
            <a:custGeom>
              <a:avLst/>
              <a:gdLst/>
              <a:ahLst/>
              <a:cxnLst/>
              <a:rect l="l" t="t" r="r" b="b"/>
              <a:pathLst>
                <a:path w="55245" h="868679" extrusionOk="0">
                  <a:moveTo>
                    <a:pt x="54864" y="0"/>
                  </a:moveTo>
                  <a:lnTo>
                    <a:pt x="0" y="0"/>
                  </a:lnTo>
                  <a:lnTo>
                    <a:pt x="0" y="868679"/>
                  </a:lnTo>
                  <a:lnTo>
                    <a:pt x="54864" y="868679"/>
                  </a:lnTo>
                  <a:lnTo>
                    <a:pt x="54864"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399" name="Google Shape;399;p25"/>
            <p:cNvSpPr/>
            <p:nvPr/>
          </p:nvSpPr>
          <p:spPr>
            <a:xfrm>
              <a:off x="274320" y="3931919"/>
              <a:ext cx="55245" cy="868679"/>
            </a:xfrm>
            <a:custGeom>
              <a:avLst/>
              <a:gdLst/>
              <a:ahLst/>
              <a:cxnLst/>
              <a:rect l="l" t="t" r="r" b="b"/>
              <a:pathLst>
                <a:path w="55245" h="868679" extrusionOk="0">
                  <a:moveTo>
                    <a:pt x="0" y="868679"/>
                  </a:moveTo>
                  <a:lnTo>
                    <a:pt x="54864" y="868679"/>
                  </a:lnTo>
                  <a:lnTo>
                    <a:pt x="54864" y="0"/>
                  </a:lnTo>
                  <a:lnTo>
                    <a:pt x="0" y="0"/>
                  </a:lnTo>
                  <a:lnTo>
                    <a:pt x="0" y="868679"/>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grpSp>
      <p:sp>
        <p:nvSpPr>
          <p:cNvPr id="400" name="Google Shape;400;p25"/>
          <p:cNvSpPr txBox="1"/>
          <p:nvPr/>
        </p:nvSpPr>
        <p:spPr>
          <a:xfrm>
            <a:off x="335534" y="4010355"/>
            <a:ext cx="4138800" cy="750900"/>
          </a:xfrm>
          <a:prstGeom prst="rect">
            <a:avLst/>
          </a:prstGeom>
          <a:noFill/>
          <a:ln>
            <a:noFill/>
          </a:ln>
        </p:spPr>
        <p:txBody>
          <a:bodyPr spcFirstLastPara="1" wrap="square" lIns="0" tIns="12050" rIns="0" bIns="0" anchor="t" anchorCtr="0">
            <a:spAutoFit/>
          </a:bodyPr>
          <a:lstStyle/>
          <a:p>
            <a:pPr marL="139700" lvl="0" indent="0" algn="l" rtl="0">
              <a:lnSpc>
                <a:spcPct val="100000"/>
              </a:lnSpc>
              <a:spcBef>
                <a:spcPts val="0"/>
              </a:spcBef>
              <a:spcAft>
                <a:spcPts val="0"/>
              </a:spcAft>
              <a:buNone/>
            </a:pPr>
            <a:r>
              <a:rPr lang="en-US" sz="1200" b="1" baseline="30000" dirty="0">
                <a:solidFill>
                  <a:srgbClr val="C8A84B"/>
                </a:solidFill>
                <a:latin typeface="Calibri"/>
                <a:ea typeface="Calibri"/>
                <a:cs typeface="Calibri"/>
                <a:sym typeface="Calibri"/>
              </a:rPr>
              <a:t>C 2</a:t>
            </a:r>
            <a:r>
              <a:rPr lang="en-US" sz="1200" b="1" dirty="0">
                <a:solidFill>
                  <a:srgbClr val="1B2A49"/>
                </a:solidFill>
                <a:latin typeface="Calibri"/>
                <a:ea typeface="Calibri"/>
                <a:cs typeface="Calibri"/>
                <a:sym typeface="Calibri"/>
              </a:rPr>
              <a:t>   Segment into Risk Tiers (T+30 Days)</a:t>
            </a:r>
            <a:endParaRPr sz="1200" dirty="0">
              <a:latin typeface="Calibri"/>
              <a:ea typeface="Calibri"/>
              <a:cs typeface="Calibri"/>
              <a:sym typeface="Calibri"/>
            </a:endParaRPr>
          </a:p>
          <a:p>
            <a:pPr marL="139700" lvl="0" indent="0" algn="l" rtl="0">
              <a:lnSpc>
                <a:spcPct val="100000"/>
              </a:lnSpc>
              <a:spcBef>
                <a:spcPts val="0"/>
              </a:spcBef>
              <a:spcAft>
                <a:spcPts val="0"/>
              </a:spcAft>
              <a:buNone/>
            </a:pPr>
            <a:r>
              <a:rPr lang="en-US" sz="1200" dirty="0">
                <a:solidFill>
                  <a:srgbClr val="495468"/>
                </a:solidFill>
                <a:latin typeface="Calibri"/>
                <a:ea typeface="Calibri"/>
                <a:cs typeface="Calibri"/>
                <a:sym typeface="Calibri"/>
              </a:rPr>
              <a:t>Divide taxpayers by gap size, sector, and geography. Tier 1 = large gap + high-revenue sector → full scrutiny. Tier 2 = small gap → SMS nudge only.</a:t>
            </a:r>
            <a:endParaRPr sz="1200" dirty="0">
              <a:latin typeface="Calibri"/>
              <a:ea typeface="Calibri"/>
              <a:cs typeface="Calibri"/>
              <a:sym typeface="Calibri"/>
            </a:endParaRPr>
          </a:p>
        </p:txBody>
      </p:sp>
      <p:grpSp>
        <p:nvGrpSpPr>
          <p:cNvPr id="401" name="Google Shape;401;p25"/>
          <p:cNvGrpSpPr/>
          <p:nvPr/>
        </p:nvGrpSpPr>
        <p:grpSpPr>
          <a:xfrm>
            <a:off x="4572000" y="2889504"/>
            <a:ext cx="4418838" cy="1081252"/>
            <a:chOff x="4572000" y="2889504"/>
            <a:chExt cx="4418838" cy="1081252"/>
          </a:xfrm>
        </p:grpSpPr>
        <p:pic>
          <p:nvPicPr>
            <p:cNvPr id="402" name="Google Shape;402;p25"/>
            <p:cNvPicPr preferRelativeResize="0"/>
            <p:nvPr/>
          </p:nvPicPr>
          <p:blipFill rotWithShape="1">
            <a:blip r:embed="rId5">
              <a:alphaModFix/>
            </a:blip>
            <a:srcRect/>
            <a:stretch/>
          </p:blipFill>
          <p:spPr>
            <a:xfrm>
              <a:off x="4572000" y="2889504"/>
              <a:ext cx="4418838" cy="1081252"/>
            </a:xfrm>
            <a:prstGeom prst="rect">
              <a:avLst/>
            </a:prstGeom>
            <a:noFill/>
            <a:ln>
              <a:noFill/>
            </a:ln>
          </p:spPr>
        </p:pic>
        <p:sp>
          <p:nvSpPr>
            <p:cNvPr id="403" name="Google Shape;403;p25"/>
            <p:cNvSpPr/>
            <p:nvPr/>
          </p:nvSpPr>
          <p:spPr>
            <a:xfrm>
              <a:off x="4764023" y="2971800"/>
              <a:ext cx="4151629" cy="868679"/>
            </a:xfrm>
            <a:custGeom>
              <a:avLst/>
              <a:gdLst/>
              <a:ahLst/>
              <a:cxnLst/>
              <a:rect l="l" t="t" r="r" b="b"/>
              <a:pathLst>
                <a:path w="4151629" h="868679" extrusionOk="0">
                  <a:moveTo>
                    <a:pt x="0" y="868680"/>
                  </a:moveTo>
                  <a:lnTo>
                    <a:pt x="4151376" y="868680"/>
                  </a:lnTo>
                  <a:lnTo>
                    <a:pt x="4151376" y="0"/>
                  </a:lnTo>
                  <a:lnTo>
                    <a:pt x="0" y="0"/>
                  </a:lnTo>
                  <a:lnTo>
                    <a:pt x="0" y="86868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04" name="Google Shape;404;p25"/>
            <p:cNvSpPr/>
            <p:nvPr/>
          </p:nvSpPr>
          <p:spPr>
            <a:xfrm>
              <a:off x="4709160" y="2971800"/>
              <a:ext cx="4206240" cy="868679"/>
            </a:xfrm>
            <a:custGeom>
              <a:avLst/>
              <a:gdLst/>
              <a:ahLst/>
              <a:cxnLst/>
              <a:rect l="l" t="t" r="r" b="b"/>
              <a:pathLst>
                <a:path w="4206240" h="868679" extrusionOk="0">
                  <a:moveTo>
                    <a:pt x="0" y="868680"/>
                  </a:moveTo>
                  <a:lnTo>
                    <a:pt x="4206240" y="868680"/>
                  </a:lnTo>
                  <a:lnTo>
                    <a:pt x="4206240" y="0"/>
                  </a:lnTo>
                  <a:lnTo>
                    <a:pt x="0" y="0"/>
                  </a:lnTo>
                  <a:lnTo>
                    <a:pt x="0" y="86868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05" name="Google Shape;405;p25"/>
            <p:cNvSpPr/>
            <p:nvPr/>
          </p:nvSpPr>
          <p:spPr>
            <a:xfrm>
              <a:off x="4709160" y="2971800"/>
              <a:ext cx="55245" cy="868679"/>
            </a:xfrm>
            <a:custGeom>
              <a:avLst/>
              <a:gdLst/>
              <a:ahLst/>
              <a:cxnLst/>
              <a:rect l="l" t="t" r="r" b="b"/>
              <a:pathLst>
                <a:path w="55245" h="868679" extrusionOk="0">
                  <a:moveTo>
                    <a:pt x="54863" y="0"/>
                  </a:moveTo>
                  <a:lnTo>
                    <a:pt x="0" y="0"/>
                  </a:lnTo>
                  <a:lnTo>
                    <a:pt x="0" y="868680"/>
                  </a:lnTo>
                  <a:lnTo>
                    <a:pt x="54863" y="868680"/>
                  </a:lnTo>
                  <a:lnTo>
                    <a:pt x="54863"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06" name="Google Shape;406;p25"/>
            <p:cNvSpPr/>
            <p:nvPr/>
          </p:nvSpPr>
          <p:spPr>
            <a:xfrm>
              <a:off x="4709160" y="2971800"/>
              <a:ext cx="55245" cy="868679"/>
            </a:xfrm>
            <a:custGeom>
              <a:avLst/>
              <a:gdLst/>
              <a:ahLst/>
              <a:cxnLst/>
              <a:rect l="l" t="t" r="r" b="b"/>
              <a:pathLst>
                <a:path w="55245" h="868679" extrusionOk="0">
                  <a:moveTo>
                    <a:pt x="0" y="868680"/>
                  </a:moveTo>
                  <a:lnTo>
                    <a:pt x="54863" y="868680"/>
                  </a:lnTo>
                  <a:lnTo>
                    <a:pt x="54863" y="0"/>
                  </a:lnTo>
                  <a:lnTo>
                    <a:pt x="0" y="0"/>
                  </a:lnTo>
                  <a:lnTo>
                    <a:pt x="0" y="868680"/>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grpSp>
      <p:sp>
        <p:nvSpPr>
          <p:cNvPr id="407" name="Google Shape;407;p25"/>
          <p:cNvSpPr txBox="1"/>
          <p:nvPr/>
        </p:nvSpPr>
        <p:spPr>
          <a:xfrm>
            <a:off x="4770373" y="3049904"/>
            <a:ext cx="4138800" cy="750900"/>
          </a:xfrm>
          <a:prstGeom prst="rect">
            <a:avLst/>
          </a:prstGeom>
          <a:noFill/>
          <a:ln>
            <a:noFill/>
          </a:ln>
        </p:spPr>
        <p:txBody>
          <a:bodyPr spcFirstLastPara="1" wrap="square" lIns="0" tIns="12050" rIns="0" bIns="0" anchor="t" anchorCtr="0">
            <a:spAutoFit/>
          </a:bodyPr>
          <a:lstStyle/>
          <a:p>
            <a:pPr marL="140335" lvl="0" indent="0" algn="l" rtl="0">
              <a:lnSpc>
                <a:spcPct val="100000"/>
              </a:lnSpc>
              <a:spcBef>
                <a:spcPts val="0"/>
              </a:spcBef>
              <a:spcAft>
                <a:spcPts val="0"/>
              </a:spcAft>
              <a:buNone/>
            </a:pPr>
            <a:r>
              <a:rPr lang="en-US" sz="1200" b="1" baseline="30000">
                <a:solidFill>
                  <a:srgbClr val="C8A84B"/>
                </a:solidFill>
                <a:latin typeface="Calibri"/>
                <a:ea typeface="Calibri"/>
                <a:cs typeface="Calibri"/>
                <a:sym typeface="Calibri"/>
              </a:rPr>
              <a:t>C  3       </a:t>
            </a:r>
            <a:r>
              <a:rPr lang="en-US" sz="1200" b="1">
                <a:solidFill>
                  <a:srgbClr val="1B2A49"/>
                </a:solidFill>
                <a:latin typeface="Calibri"/>
                <a:ea typeface="Calibri"/>
                <a:cs typeface="Calibri"/>
                <a:sym typeface="Calibri"/>
              </a:rPr>
              <a:t>Advisory Notices to 50,000 Tier-1 (T + 60 Days)</a:t>
            </a:r>
            <a:endParaRPr sz="1200">
              <a:latin typeface="Calibri"/>
              <a:ea typeface="Calibri"/>
              <a:cs typeface="Calibri"/>
              <a:sym typeface="Calibri"/>
            </a:endParaRPr>
          </a:p>
          <a:p>
            <a:pPr marL="140335" lvl="0" indent="0" algn="l" rtl="0">
              <a:lnSpc>
                <a:spcPct val="100000"/>
              </a:lnSpc>
              <a:spcBef>
                <a:spcPts val="0"/>
              </a:spcBef>
              <a:spcAft>
                <a:spcPts val="0"/>
              </a:spcAft>
              <a:buNone/>
            </a:pPr>
            <a:r>
              <a:rPr lang="en-US" sz="1200">
                <a:solidFill>
                  <a:srgbClr val="495468"/>
                </a:solidFill>
                <a:latin typeface="Calibri"/>
                <a:ea typeface="Calibri"/>
                <a:cs typeface="Calibri"/>
                <a:sym typeface="Calibri"/>
              </a:rPr>
              <a:t>Soft compliance nudge letter: 'Your payments are below comparable peers. Review and self-correct.' Even 20% response at ₹50K avg = ₹500 Cr.</a:t>
            </a:r>
            <a:endParaRPr sz="1200">
              <a:latin typeface="Calibri"/>
              <a:ea typeface="Calibri"/>
              <a:cs typeface="Calibri"/>
              <a:sym typeface="Calibri"/>
            </a:endParaRPr>
          </a:p>
        </p:txBody>
      </p:sp>
      <p:grpSp>
        <p:nvGrpSpPr>
          <p:cNvPr id="408" name="Google Shape;408;p25"/>
          <p:cNvGrpSpPr/>
          <p:nvPr/>
        </p:nvGrpSpPr>
        <p:grpSpPr>
          <a:xfrm>
            <a:off x="4572000" y="3849623"/>
            <a:ext cx="4418838" cy="1081252"/>
            <a:chOff x="4572000" y="3849623"/>
            <a:chExt cx="4418838" cy="1081252"/>
          </a:xfrm>
        </p:grpSpPr>
        <p:pic>
          <p:nvPicPr>
            <p:cNvPr id="409" name="Google Shape;409;p25"/>
            <p:cNvPicPr preferRelativeResize="0"/>
            <p:nvPr/>
          </p:nvPicPr>
          <p:blipFill rotWithShape="1">
            <a:blip r:embed="rId5">
              <a:alphaModFix/>
            </a:blip>
            <a:srcRect/>
            <a:stretch/>
          </p:blipFill>
          <p:spPr>
            <a:xfrm>
              <a:off x="4572000" y="3849623"/>
              <a:ext cx="4418838" cy="1081252"/>
            </a:xfrm>
            <a:prstGeom prst="rect">
              <a:avLst/>
            </a:prstGeom>
            <a:noFill/>
            <a:ln>
              <a:noFill/>
            </a:ln>
          </p:spPr>
        </p:pic>
        <p:sp>
          <p:nvSpPr>
            <p:cNvPr id="410" name="Google Shape;410;p25"/>
            <p:cNvSpPr/>
            <p:nvPr/>
          </p:nvSpPr>
          <p:spPr>
            <a:xfrm>
              <a:off x="4764023" y="3931919"/>
              <a:ext cx="4151629" cy="868679"/>
            </a:xfrm>
            <a:custGeom>
              <a:avLst/>
              <a:gdLst/>
              <a:ahLst/>
              <a:cxnLst/>
              <a:rect l="l" t="t" r="r" b="b"/>
              <a:pathLst>
                <a:path w="4151629" h="868679" extrusionOk="0">
                  <a:moveTo>
                    <a:pt x="0" y="868679"/>
                  </a:moveTo>
                  <a:lnTo>
                    <a:pt x="4151376" y="868679"/>
                  </a:lnTo>
                  <a:lnTo>
                    <a:pt x="4151376" y="0"/>
                  </a:lnTo>
                  <a:lnTo>
                    <a:pt x="0" y="0"/>
                  </a:lnTo>
                  <a:lnTo>
                    <a:pt x="0" y="868679"/>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11" name="Google Shape;411;p25"/>
            <p:cNvSpPr/>
            <p:nvPr/>
          </p:nvSpPr>
          <p:spPr>
            <a:xfrm>
              <a:off x="4709160" y="3931919"/>
              <a:ext cx="4206240" cy="868679"/>
            </a:xfrm>
            <a:custGeom>
              <a:avLst/>
              <a:gdLst/>
              <a:ahLst/>
              <a:cxnLst/>
              <a:rect l="l" t="t" r="r" b="b"/>
              <a:pathLst>
                <a:path w="4206240" h="868679" extrusionOk="0">
                  <a:moveTo>
                    <a:pt x="0" y="868679"/>
                  </a:moveTo>
                  <a:lnTo>
                    <a:pt x="4206240" y="868679"/>
                  </a:lnTo>
                  <a:lnTo>
                    <a:pt x="4206240" y="0"/>
                  </a:lnTo>
                  <a:lnTo>
                    <a:pt x="0" y="0"/>
                  </a:lnTo>
                  <a:lnTo>
                    <a:pt x="0" y="868679"/>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12" name="Google Shape;412;p25"/>
            <p:cNvSpPr/>
            <p:nvPr/>
          </p:nvSpPr>
          <p:spPr>
            <a:xfrm>
              <a:off x="4709160" y="3931919"/>
              <a:ext cx="55245" cy="868679"/>
            </a:xfrm>
            <a:custGeom>
              <a:avLst/>
              <a:gdLst/>
              <a:ahLst/>
              <a:cxnLst/>
              <a:rect l="l" t="t" r="r" b="b"/>
              <a:pathLst>
                <a:path w="55245" h="868679" extrusionOk="0">
                  <a:moveTo>
                    <a:pt x="54863" y="0"/>
                  </a:moveTo>
                  <a:lnTo>
                    <a:pt x="0" y="0"/>
                  </a:lnTo>
                  <a:lnTo>
                    <a:pt x="0" y="868679"/>
                  </a:lnTo>
                  <a:lnTo>
                    <a:pt x="54863" y="868679"/>
                  </a:lnTo>
                  <a:lnTo>
                    <a:pt x="54863"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200"/>
            </a:p>
          </p:txBody>
        </p:sp>
        <p:sp>
          <p:nvSpPr>
            <p:cNvPr id="413" name="Google Shape;413;p25"/>
            <p:cNvSpPr/>
            <p:nvPr/>
          </p:nvSpPr>
          <p:spPr>
            <a:xfrm>
              <a:off x="4709160" y="3931919"/>
              <a:ext cx="55245" cy="868679"/>
            </a:xfrm>
            <a:custGeom>
              <a:avLst/>
              <a:gdLst/>
              <a:ahLst/>
              <a:cxnLst/>
              <a:rect l="l" t="t" r="r" b="b"/>
              <a:pathLst>
                <a:path w="55245" h="868679" extrusionOk="0">
                  <a:moveTo>
                    <a:pt x="0" y="868679"/>
                  </a:moveTo>
                  <a:lnTo>
                    <a:pt x="54863" y="868679"/>
                  </a:lnTo>
                  <a:lnTo>
                    <a:pt x="54863" y="0"/>
                  </a:lnTo>
                  <a:lnTo>
                    <a:pt x="0" y="0"/>
                  </a:lnTo>
                  <a:lnTo>
                    <a:pt x="0" y="868679"/>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200"/>
            </a:p>
          </p:txBody>
        </p:sp>
      </p:grpSp>
      <p:sp>
        <p:nvSpPr>
          <p:cNvPr id="414" name="Google Shape;414;p25"/>
          <p:cNvSpPr txBox="1"/>
          <p:nvPr/>
        </p:nvSpPr>
        <p:spPr>
          <a:xfrm>
            <a:off x="4770373" y="4010355"/>
            <a:ext cx="4138800" cy="750900"/>
          </a:xfrm>
          <a:prstGeom prst="rect">
            <a:avLst/>
          </a:prstGeom>
          <a:noFill/>
          <a:ln>
            <a:noFill/>
          </a:ln>
        </p:spPr>
        <p:txBody>
          <a:bodyPr spcFirstLastPara="1" wrap="square" lIns="0" tIns="12050" rIns="0" bIns="0" anchor="t" anchorCtr="0">
            <a:spAutoFit/>
          </a:bodyPr>
          <a:lstStyle/>
          <a:p>
            <a:pPr marL="140335" lvl="0" indent="0" algn="l" rtl="0">
              <a:lnSpc>
                <a:spcPct val="100000"/>
              </a:lnSpc>
              <a:spcBef>
                <a:spcPts val="0"/>
              </a:spcBef>
              <a:spcAft>
                <a:spcPts val="0"/>
              </a:spcAft>
              <a:buNone/>
            </a:pPr>
            <a:r>
              <a:rPr lang="en-US" sz="1200" b="1" baseline="30000">
                <a:solidFill>
                  <a:srgbClr val="C8A84B"/>
                </a:solidFill>
                <a:latin typeface="Calibri"/>
                <a:ea typeface="Calibri"/>
                <a:cs typeface="Calibri"/>
                <a:sym typeface="Calibri"/>
              </a:rPr>
              <a:t>C 4     </a:t>
            </a:r>
            <a:r>
              <a:rPr lang="en-US" sz="1200" b="1">
                <a:solidFill>
                  <a:srgbClr val="1B2A49"/>
                </a:solidFill>
                <a:latin typeface="Calibri"/>
                <a:ea typeface="Calibri"/>
                <a:cs typeface="Calibri"/>
                <a:sym typeface="Calibri"/>
              </a:rPr>
              <a:t>Track Voluntary Uplift (T + 90 days)</a:t>
            </a:r>
            <a:endParaRPr sz="1200">
              <a:latin typeface="Calibri"/>
              <a:ea typeface="Calibri"/>
              <a:cs typeface="Calibri"/>
              <a:sym typeface="Calibri"/>
            </a:endParaRPr>
          </a:p>
          <a:p>
            <a:pPr marL="140335" marR="579755" lvl="0" indent="0" algn="l" rtl="0">
              <a:lnSpc>
                <a:spcPct val="100000"/>
              </a:lnSpc>
              <a:spcBef>
                <a:spcPts val="0"/>
              </a:spcBef>
              <a:spcAft>
                <a:spcPts val="0"/>
              </a:spcAft>
              <a:buNone/>
            </a:pPr>
            <a:r>
              <a:rPr lang="en-US" sz="1200">
                <a:solidFill>
                  <a:srgbClr val="495468"/>
                </a:solidFill>
                <a:latin typeface="Calibri"/>
                <a:ea typeface="Calibri"/>
                <a:cs typeface="Calibri"/>
                <a:sym typeface="Calibri"/>
              </a:rPr>
              <a:t>Monitor whether flagged taxpayers improve their filings. Non-responders escalate to formal scrutiny. Measure before/after for CS reporting.</a:t>
            </a:r>
            <a:endParaRPr sz="1200">
              <a:latin typeface="Calibri"/>
              <a:ea typeface="Calibri"/>
              <a:cs typeface="Calibri"/>
              <a:sym typeface="Calibri"/>
            </a:endParaRPr>
          </a:p>
        </p:txBody>
      </p:sp>
      <p:sp>
        <p:nvSpPr>
          <p:cNvPr id="2" name="Rectangle 1">
            <a:extLst>
              <a:ext uri="{FF2B5EF4-FFF2-40B4-BE49-F238E27FC236}">
                <a16:creationId xmlns:a16="http://schemas.microsoft.com/office/drawing/2014/main" id="{419FDDED-C9F6-8F28-27BC-AD3A15F354B1}"/>
              </a:ext>
            </a:extLst>
          </p:cNvPr>
          <p:cNvSpPr/>
          <p:nvPr/>
        </p:nvSpPr>
        <p:spPr>
          <a:xfrm>
            <a:off x="-359769" y="4800598"/>
            <a:ext cx="7547957" cy="3127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FF0000"/>
                </a:solidFill>
              </a:rPr>
              <a:t>** For detailed data and methodology DO letter has already been written to CEO, GSTN</a:t>
            </a:r>
            <a:endParaRPr lang="en-IN" sz="1200" b="1" dirty="0">
              <a:solidFill>
                <a:srgbClr val="FF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419"/>
        <p:cNvGrpSpPr/>
        <p:nvPr/>
      </p:nvGrpSpPr>
      <p:grpSpPr>
        <a:xfrm>
          <a:off x="0" y="0"/>
          <a:ext cx="0" cy="0"/>
          <a:chOff x="0" y="0"/>
          <a:chExt cx="0" cy="0"/>
        </a:xfrm>
      </p:grpSpPr>
      <p:sp>
        <p:nvSpPr>
          <p:cNvPr id="420" name="Google Shape;420;p26"/>
          <p:cNvSpPr/>
          <p:nvPr/>
        </p:nvSpPr>
        <p:spPr>
          <a:xfrm>
            <a:off x="0" y="832103"/>
            <a:ext cx="9144000" cy="4311650"/>
          </a:xfrm>
          <a:custGeom>
            <a:avLst/>
            <a:gdLst/>
            <a:ahLst/>
            <a:cxnLst/>
            <a:rect l="l" t="t" r="r" b="b"/>
            <a:pathLst>
              <a:path w="9144000" h="4311650" extrusionOk="0">
                <a:moveTo>
                  <a:pt x="0" y="4311395"/>
                </a:moveTo>
                <a:lnTo>
                  <a:pt x="9144000" y="4311395"/>
                </a:lnTo>
                <a:lnTo>
                  <a:pt x="9144000" y="0"/>
                </a:lnTo>
                <a:lnTo>
                  <a:pt x="0" y="0"/>
                </a:lnTo>
                <a:lnTo>
                  <a:pt x="0" y="4311395"/>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421" name="Google Shape;421;p26"/>
          <p:cNvGrpSpPr/>
          <p:nvPr/>
        </p:nvGrpSpPr>
        <p:grpSpPr>
          <a:xfrm>
            <a:off x="0" y="-63"/>
            <a:ext cx="9144000" cy="832511"/>
            <a:chOff x="0" y="-63"/>
            <a:chExt cx="9144000" cy="832511"/>
          </a:xfrm>
        </p:grpSpPr>
        <p:sp>
          <p:nvSpPr>
            <p:cNvPr id="422" name="Google Shape;422;p26"/>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23" name="Google Shape;423;p26"/>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24" name="Google Shape;424;p26"/>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25" name="Google Shape;425;p26"/>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26" name="Google Shape;426;p26"/>
          <p:cNvSpPr txBox="1">
            <a:spLocks noGrp="1"/>
          </p:cNvSpPr>
          <p:nvPr>
            <p:ph type="title"/>
          </p:nvPr>
        </p:nvSpPr>
        <p:spPr>
          <a:xfrm>
            <a:off x="444500" y="159511"/>
            <a:ext cx="6854700" cy="254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500">
                <a:solidFill>
                  <a:srgbClr val="FFFFFF"/>
                </a:solidFill>
              </a:rPr>
              <a:t>STRUCTURAL GAP: GST / GSDP RATIO — ALL STATES VERIFIED (CBIC + STATE SURVEYS)</a:t>
            </a:r>
            <a:endParaRPr sz="1500"/>
          </a:p>
        </p:txBody>
      </p:sp>
      <p:sp>
        <p:nvSpPr>
          <p:cNvPr id="427" name="Google Shape;427;p26"/>
          <p:cNvSpPr txBox="1"/>
          <p:nvPr/>
        </p:nvSpPr>
        <p:spPr>
          <a:xfrm>
            <a:off x="444500" y="610870"/>
            <a:ext cx="3663300" cy="1479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00" i="1">
                <a:solidFill>
                  <a:srgbClr val="EFD080"/>
                </a:solidFill>
                <a:latin typeface="Calibri"/>
                <a:ea typeface="Calibri"/>
                <a:cs typeface="Calibri"/>
                <a:sym typeface="Calibri"/>
              </a:rPr>
              <a:t>Source: Post-Settlement SGST (CBIC) ÷ State GSDP (Official Economic Surveys / PRS India)</a:t>
            </a:r>
            <a:endParaRPr sz="800">
              <a:latin typeface="Calibri"/>
              <a:ea typeface="Calibri"/>
              <a:cs typeface="Calibri"/>
              <a:sym typeface="Calibri"/>
            </a:endParaRPr>
          </a:p>
        </p:txBody>
      </p:sp>
      <p:grpSp>
        <p:nvGrpSpPr>
          <p:cNvPr id="428" name="Google Shape;428;p26"/>
          <p:cNvGrpSpPr/>
          <p:nvPr/>
        </p:nvGrpSpPr>
        <p:grpSpPr>
          <a:xfrm>
            <a:off x="91439" y="832102"/>
            <a:ext cx="5197601" cy="4190238"/>
            <a:chOff x="91439" y="832102"/>
            <a:chExt cx="5197601" cy="4190238"/>
          </a:xfrm>
        </p:grpSpPr>
        <p:pic>
          <p:nvPicPr>
            <p:cNvPr id="429" name="Google Shape;429;p26"/>
            <p:cNvPicPr preferRelativeResize="0"/>
            <p:nvPr/>
          </p:nvPicPr>
          <p:blipFill rotWithShape="1">
            <a:blip r:embed="rId3">
              <a:alphaModFix/>
            </a:blip>
            <a:srcRect/>
            <a:stretch/>
          </p:blipFill>
          <p:spPr>
            <a:xfrm>
              <a:off x="91439" y="832102"/>
              <a:ext cx="5197601" cy="4190238"/>
            </a:xfrm>
            <a:prstGeom prst="rect">
              <a:avLst/>
            </a:prstGeom>
            <a:noFill/>
            <a:ln>
              <a:noFill/>
            </a:ln>
          </p:spPr>
        </p:pic>
        <p:sp>
          <p:nvSpPr>
            <p:cNvPr id="430" name="Google Shape;430;p26"/>
            <p:cNvSpPr/>
            <p:nvPr/>
          </p:nvSpPr>
          <p:spPr>
            <a:xfrm>
              <a:off x="228600" y="914463"/>
              <a:ext cx="4984115" cy="3977640"/>
            </a:xfrm>
            <a:custGeom>
              <a:avLst/>
              <a:gdLst/>
              <a:ahLst/>
              <a:cxnLst/>
              <a:rect l="l" t="t" r="r" b="b"/>
              <a:pathLst>
                <a:path w="4984115" h="3977640" extrusionOk="0">
                  <a:moveTo>
                    <a:pt x="4983607" y="0"/>
                  </a:moveTo>
                  <a:lnTo>
                    <a:pt x="0" y="0"/>
                  </a:lnTo>
                  <a:lnTo>
                    <a:pt x="0" y="3977640"/>
                  </a:lnTo>
                  <a:lnTo>
                    <a:pt x="4983607" y="3977640"/>
                  </a:lnTo>
                  <a:lnTo>
                    <a:pt x="49836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31" name="Google Shape;431;p26"/>
            <p:cNvSpPr/>
            <p:nvPr/>
          </p:nvSpPr>
          <p:spPr>
            <a:xfrm>
              <a:off x="228600" y="914463"/>
              <a:ext cx="4984115" cy="3977640"/>
            </a:xfrm>
            <a:custGeom>
              <a:avLst/>
              <a:gdLst/>
              <a:ahLst/>
              <a:cxnLst/>
              <a:rect l="l" t="t" r="r" b="b"/>
              <a:pathLst>
                <a:path w="4984115" h="3977640" extrusionOk="0">
                  <a:moveTo>
                    <a:pt x="0" y="3977640"/>
                  </a:moveTo>
                  <a:lnTo>
                    <a:pt x="4983607" y="3977640"/>
                  </a:lnTo>
                  <a:lnTo>
                    <a:pt x="4983607" y="0"/>
                  </a:lnTo>
                  <a:lnTo>
                    <a:pt x="0" y="0"/>
                  </a:lnTo>
                  <a:lnTo>
                    <a:pt x="0" y="397764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32" name="Google Shape;432;p26"/>
          <p:cNvSpPr txBox="1"/>
          <p:nvPr/>
        </p:nvSpPr>
        <p:spPr>
          <a:xfrm>
            <a:off x="444500" y="1020825"/>
            <a:ext cx="2254800" cy="1779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000" b="1">
                <a:solidFill>
                  <a:srgbClr val="1B2A49"/>
                </a:solidFill>
                <a:latin typeface="Calibri"/>
                <a:ea typeface="Calibri"/>
                <a:cs typeface="Calibri"/>
                <a:sym typeface="Calibri"/>
              </a:rPr>
              <a:t>GST / GSDP RATIO — STATE COMPARISON</a:t>
            </a:r>
            <a:endParaRPr sz="1000">
              <a:latin typeface="Calibri"/>
              <a:ea typeface="Calibri"/>
              <a:cs typeface="Calibri"/>
              <a:sym typeface="Calibri"/>
            </a:endParaRPr>
          </a:p>
        </p:txBody>
      </p:sp>
      <p:grpSp>
        <p:nvGrpSpPr>
          <p:cNvPr id="433" name="Google Shape;433;p26"/>
          <p:cNvGrpSpPr/>
          <p:nvPr/>
        </p:nvGrpSpPr>
        <p:grpSpPr>
          <a:xfrm>
            <a:off x="5257800" y="832102"/>
            <a:ext cx="3734562" cy="4190238"/>
            <a:chOff x="5257800" y="832102"/>
            <a:chExt cx="3734562" cy="4190238"/>
          </a:xfrm>
        </p:grpSpPr>
        <p:pic>
          <p:nvPicPr>
            <p:cNvPr id="434" name="Google Shape;434;p26"/>
            <p:cNvPicPr preferRelativeResize="0"/>
            <p:nvPr/>
          </p:nvPicPr>
          <p:blipFill rotWithShape="1">
            <a:blip r:embed="rId4">
              <a:alphaModFix/>
            </a:blip>
            <a:srcRect/>
            <a:stretch/>
          </p:blipFill>
          <p:spPr>
            <a:xfrm>
              <a:off x="5257800" y="832102"/>
              <a:ext cx="3734561" cy="4190238"/>
            </a:xfrm>
            <a:prstGeom prst="rect">
              <a:avLst/>
            </a:prstGeom>
            <a:noFill/>
            <a:ln>
              <a:noFill/>
            </a:ln>
          </p:spPr>
        </p:pic>
        <p:sp>
          <p:nvSpPr>
            <p:cNvPr id="435" name="Google Shape;435;p26"/>
            <p:cNvSpPr/>
            <p:nvPr/>
          </p:nvSpPr>
          <p:spPr>
            <a:xfrm>
              <a:off x="5394960" y="914463"/>
              <a:ext cx="3520440" cy="3977640"/>
            </a:xfrm>
            <a:custGeom>
              <a:avLst/>
              <a:gdLst/>
              <a:ahLst/>
              <a:cxnLst/>
              <a:rect l="l" t="t" r="r" b="b"/>
              <a:pathLst>
                <a:path w="3520440" h="3977640" extrusionOk="0">
                  <a:moveTo>
                    <a:pt x="3520440" y="0"/>
                  </a:moveTo>
                  <a:lnTo>
                    <a:pt x="0" y="0"/>
                  </a:lnTo>
                  <a:lnTo>
                    <a:pt x="0" y="3977640"/>
                  </a:lnTo>
                  <a:lnTo>
                    <a:pt x="3520440" y="3977640"/>
                  </a:lnTo>
                  <a:lnTo>
                    <a:pt x="352044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36" name="Google Shape;436;p26"/>
            <p:cNvSpPr/>
            <p:nvPr/>
          </p:nvSpPr>
          <p:spPr>
            <a:xfrm>
              <a:off x="5394960" y="914463"/>
              <a:ext cx="3520440" cy="3977640"/>
            </a:xfrm>
            <a:custGeom>
              <a:avLst/>
              <a:gdLst/>
              <a:ahLst/>
              <a:cxnLst/>
              <a:rect l="l" t="t" r="r" b="b"/>
              <a:pathLst>
                <a:path w="3520440" h="3977640" extrusionOk="0">
                  <a:moveTo>
                    <a:pt x="0" y="3977640"/>
                  </a:moveTo>
                  <a:lnTo>
                    <a:pt x="3520440" y="3977640"/>
                  </a:lnTo>
                  <a:lnTo>
                    <a:pt x="3520440" y="0"/>
                  </a:lnTo>
                  <a:lnTo>
                    <a:pt x="0" y="0"/>
                  </a:lnTo>
                  <a:lnTo>
                    <a:pt x="0" y="397764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37" name="Google Shape;437;p26"/>
          <p:cNvSpPr txBox="1"/>
          <p:nvPr/>
        </p:nvSpPr>
        <p:spPr>
          <a:xfrm>
            <a:off x="5418201" y="1080562"/>
            <a:ext cx="3489300" cy="196800"/>
          </a:xfrm>
          <a:prstGeom prst="rect">
            <a:avLst/>
          </a:prstGeom>
          <a:solidFill>
            <a:srgbClr val="1B2A49"/>
          </a:solid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b="1">
                <a:solidFill>
                  <a:schemeClr val="lt1"/>
                </a:solidFill>
                <a:latin typeface="Calibri"/>
                <a:ea typeface="Calibri"/>
                <a:cs typeface="Calibri"/>
                <a:sym typeface="Calibri"/>
              </a:rPr>
              <a:t>HOW CAN WE CLOSE THE GAP?</a:t>
            </a:r>
            <a:endParaRPr sz="1200">
              <a:solidFill>
                <a:schemeClr val="lt1"/>
              </a:solidFill>
              <a:latin typeface="Calibri"/>
              <a:ea typeface="Calibri"/>
              <a:cs typeface="Calibri"/>
              <a:sym typeface="Calibri"/>
            </a:endParaRPr>
          </a:p>
        </p:txBody>
      </p:sp>
      <p:sp>
        <p:nvSpPr>
          <p:cNvPr id="438" name="Google Shape;438;p26"/>
          <p:cNvSpPr txBox="1"/>
          <p:nvPr/>
        </p:nvSpPr>
        <p:spPr>
          <a:xfrm>
            <a:off x="5524880" y="1359426"/>
            <a:ext cx="3200400" cy="3303000"/>
          </a:xfrm>
          <a:prstGeom prst="rect">
            <a:avLst/>
          </a:prstGeom>
          <a:noFill/>
          <a:ln>
            <a:noFill/>
          </a:ln>
        </p:spPr>
        <p:txBody>
          <a:bodyPr spcFirstLastPara="1" wrap="square" lIns="0" tIns="12700" rIns="0" bIns="0" anchor="t" anchorCtr="0">
            <a:spAutoFit/>
          </a:bodyPr>
          <a:lstStyle/>
          <a:p>
            <a:pPr marL="12700" marR="5080" lvl="0" indent="0" algn="l" rtl="0">
              <a:spcBef>
                <a:spcPts val="0"/>
              </a:spcBef>
              <a:spcAft>
                <a:spcPts val="0"/>
              </a:spcAft>
              <a:buNone/>
            </a:pPr>
            <a:br>
              <a:rPr lang="en-US" sz="1100" b="1">
                <a:solidFill>
                  <a:srgbClr val="C0392B"/>
                </a:solidFill>
                <a:latin typeface="Calibri"/>
                <a:ea typeface="Calibri"/>
                <a:cs typeface="Calibri"/>
                <a:sym typeface="Calibri"/>
              </a:rPr>
            </a:br>
            <a:r>
              <a:rPr lang="en-US" sz="1100" b="1">
                <a:solidFill>
                  <a:srgbClr val="C0392B"/>
                </a:solidFill>
                <a:latin typeface="Calibri"/>
                <a:ea typeface="Calibri"/>
                <a:cs typeface="Calibri"/>
                <a:sym typeface="Calibri"/>
              </a:rPr>
              <a:t>1. Analysis of the Causes: </a:t>
            </a:r>
            <a:r>
              <a:rPr lang="en-US" sz="900">
                <a:solidFill>
                  <a:srgbClr val="495468"/>
                </a:solidFill>
                <a:latin typeface="Calibri"/>
                <a:ea typeface="Calibri"/>
                <a:cs typeface="Calibri"/>
                <a:sym typeface="Calibri"/>
              </a:rPr>
              <a:t>A deep dive into sectoral analysis is required to predict the causes of the gap in GST to GSDP Revenue data. Already, our service sector contributes nearly 47.7% to GSDP, but as per GST Revenue, its contribution is close to 25%.</a:t>
            </a:r>
            <a:endParaRPr/>
          </a:p>
          <a:p>
            <a:pPr marL="12700" marR="5080" lvl="0" indent="0" algn="l" rtl="0">
              <a:spcBef>
                <a:spcPts val="100"/>
              </a:spcBef>
              <a:spcAft>
                <a:spcPts val="0"/>
              </a:spcAft>
              <a:buNone/>
            </a:pPr>
            <a:endParaRPr sz="900">
              <a:solidFill>
                <a:srgbClr val="495468"/>
              </a:solidFill>
              <a:latin typeface="Calibri"/>
              <a:ea typeface="Calibri"/>
              <a:cs typeface="Calibri"/>
              <a:sym typeface="Calibri"/>
            </a:endParaRPr>
          </a:p>
          <a:p>
            <a:pPr marL="12700" marR="5080" lvl="0" indent="0" algn="l" rtl="0">
              <a:lnSpc>
                <a:spcPct val="100000"/>
              </a:lnSpc>
              <a:spcBef>
                <a:spcPts val="100"/>
              </a:spcBef>
              <a:spcAft>
                <a:spcPts val="0"/>
              </a:spcAft>
              <a:buNone/>
            </a:pPr>
            <a:r>
              <a:rPr lang="en-US" sz="1100" b="1">
                <a:solidFill>
                  <a:srgbClr val="C0392B"/>
                </a:solidFill>
                <a:latin typeface="Calibri"/>
                <a:ea typeface="Calibri"/>
                <a:cs typeface="Calibri"/>
                <a:sym typeface="Calibri"/>
              </a:rPr>
              <a:t>2. New Focused theme-based Scrutiny &amp; Audit: </a:t>
            </a:r>
            <a:r>
              <a:rPr lang="en-US" sz="900">
                <a:solidFill>
                  <a:srgbClr val="495468"/>
                </a:solidFill>
                <a:latin typeface="Calibri"/>
                <a:ea typeface="Calibri"/>
                <a:cs typeface="Calibri"/>
                <a:sym typeface="Calibri"/>
              </a:rPr>
              <a:t>A thematic Scrutiny and Audit will be conducted on sectors contributing lower revenue, though have higher contribution in the GSDP. </a:t>
            </a:r>
            <a:endParaRPr/>
          </a:p>
          <a:p>
            <a:pPr marL="12700" marR="5080" lvl="0" indent="0" algn="l" rtl="0">
              <a:lnSpc>
                <a:spcPct val="100000"/>
              </a:lnSpc>
              <a:spcBef>
                <a:spcPts val="100"/>
              </a:spcBef>
              <a:spcAft>
                <a:spcPts val="0"/>
              </a:spcAft>
              <a:buNone/>
            </a:pPr>
            <a:endParaRPr sz="900" b="1">
              <a:solidFill>
                <a:srgbClr val="495468"/>
              </a:solidFill>
              <a:latin typeface="Calibri"/>
              <a:ea typeface="Calibri"/>
              <a:cs typeface="Calibri"/>
              <a:sym typeface="Calibri"/>
            </a:endParaRPr>
          </a:p>
          <a:p>
            <a:pPr marL="12700" marR="5080" lvl="0" indent="0" algn="l" rtl="0">
              <a:lnSpc>
                <a:spcPct val="100000"/>
              </a:lnSpc>
              <a:spcBef>
                <a:spcPts val="100"/>
              </a:spcBef>
              <a:spcAft>
                <a:spcPts val="0"/>
              </a:spcAft>
              <a:buNone/>
            </a:pPr>
            <a:r>
              <a:rPr lang="en-US" sz="1100" b="1">
                <a:solidFill>
                  <a:srgbClr val="C0392B"/>
                </a:solidFill>
                <a:latin typeface="Calibri"/>
                <a:ea typeface="Calibri"/>
                <a:cs typeface="Calibri"/>
                <a:sym typeface="Calibri"/>
              </a:rPr>
              <a:t>3. Inter-Department Data Integration- </a:t>
            </a:r>
            <a:r>
              <a:rPr lang="en-US" sz="900">
                <a:solidFill>
                  <a:srgbClr val="495468"/>
                </a:solidFill>
                <a:latin typeface="Calibri"/>
                <a:ea typeface="Calibri"/>
                <a:cs typeface="Calibri"/>
                <a:sym typeface="Calibri"/>
              </a:rPr>
              <a:t>Data Integrations with multiple departments, like Electricity, Mining, Stamps and Registrations, to get new leads in sectors where contribution is relatively lower. This will also open an avenue to enhance the current taxpayer base.</a:t>
            </a:r>
            <a:endParaRPr/>
          </a:p>
          <a:p>
            <a:pPr marL="12700" marR="5080" lvl="0" indent="0" algn="l" rtl="0">
              <a:lnSpc>
                <a:spcPct val="100000"/>
              </a:lnSpc>
              <a:spcBef>
                <a:spcPts val="100"/>
              </a:spcBef>
              <a:spcAft>
                <a:spcPts val="0"/>
              </a:spcAft>
              <a:buNone/>
            </a:pPr>
            <a:endParaRPr sz="900">
              <a:solidFill>
                <a:srgbClr val="495468"/>
              </a:solidFill>
              <a:latin typeface="Calibri"/>
              <a:ea typeface="Calibri"/>
              <a:cs typeface="Calibri"/>
              <a:sym typeface="Calibri"/>
            </a:endParaRPr>
          </a:p>
          <a:p>
            <a:pPr marL="12700" marR="5080" lvl="0" indent="0" algn="l" rtl="0">
              <a:spcBef>
                <a:spcPts val="100"/>
              </a:spcBef>
              <a:spcAft>
                <a:spcPts val="0"/>
              </a:spcAft>
              <a:buNone/>
            </a:pPr>
            <a:r>
              <a:rPr lang="en-US" sz="1100" b="1">
                <a:solidFill>
                  <a:srgbClr val="C0392B"/>
                </a:solidFill>
                <a:latin typeface="Calibri"/>
                <a:ea typeface="Calibri"/>
                <a:cs typeface="Calibri"/>
                <a:sym typeface="Calibri"/>
              </a:rPr>
              <a:t>4. Focus on Top Taxpayers — </a:t>
            </a:r>
            <a:r>
              <a:rPr lang="en-US" sz="900">
                <a:solidFill>
                  <a:srgbClr val="495468"/>
                </a:solidFill>
                <a:latin typeface="Calibri"/>
                <a:ea typeface="Calibri"/>
                <a:cs typeface="Calibri"/>
                <a:sym typeface="Calibri"/>
              </a:rPr>
              <a:t>Peer-to-peer comparison of Top Taxpayers, especially in the service sector, to track sector outliers in terms of ITC%, Cash Deposits, and GST Tax Liability vs Turnover comparison.</a:t>
            </a:r>
            <a:endParaRPr/>
          </a:p>
          <a:p>
            <a:pPr marL="12700" marR="5080" lvl="0" indent="0" algn="l" rtl="0">
              <a:lnSpc>
                <a:spcPct val="100000"/>
              </a:lnSpc>
              <a:spcBef>
                <a:spcPts val="100"/>
              </a:spcBef>
              <a:spcAft>
                <a:spcPts val="0"/>
              </a:spcAft>
              <a:buNone/>
            </a:pPr>
            <a:endParaRPr sz="1100">
              <a:solidFill>
                <a:srgbClr val="2C3747"/>
              </a:solidFill>
              <a:latin typeface="Calibri"/>
              <a:ea typeface="Calibri"/>
              <a:cs typeface="Calibri"/>
              <a:sym typeface="Calibri"/>
            </a:endParaRPr>
          </a:p>
        </p:txBody>
      </p:sp>
      <p:graphicFrame>
        <p:nvGraphicFramePr>
          <p:cNvPr id="3" name="Table 2">
            <a:extLst>
              <a:ext uri="{FF2B5EF4-FFF2-40B4-BE49-F238E27FC236}">
                <a16:creationId xmlns:a16="http://schemas.microsoft.com/office/drawing/2014/main" id="{EF4E27F1-9C53-4B12-48CF-54C223E70006}"/>
              </a:ext>
            </a:extLst>
          </p:cNvPr>
          <p:cNvGraphicFramePr>
            <a:graphicFrameLocks noGrp="1"/>
          </p:cNvGraphicFramePr>
          <p:nvPr>
            <p:extLst>
              <p:ext uri="{D42A27DB-BD31-4B8C-83A1-F6EECF244321}">
                <p14:modId xmlns:p14="http://schemas.microsoft.com/office/powerpoint/2010/main" val="3236355897"/>
              </p:ext>
            </p:extLst>
          </p:nvPr>
        </p:nvGraphicFramePr>
        <p:xfrm>
          <a:off x="317220" y="1266518"/>
          <a:ext cx="4714800" cy="3517749"/>
        </p:xfrm>
        <a:graphic>
          <a:graphicData uri="http://schemas.openxmlformats.org/drawingml/2006/table">
            <a:tbl>
              <a:tblPr/>
              <a:tblGrid>
                <a:gridCol w="261635">
                  <a:extLst>
                    <a:ext uri="{9D8B030D-6E8A-4147-A177-3AD203B41FA5}">
                      <a16:colId xmlns:a16="http://schemas.microsoft.com/office/drawing/2014/main" val="2474280074"/>
                    </a:ext>
                  </a:extLst>
                </a:gridCol>
                <a:gridCol w="1095517">
                  <a:extLst>
                    <a:ext uri="{9D8B030D-6E8A-4147-A177-3AD203B41FA5}">
                      <a16:colId xmlns:a16="http://schemas.microsoft.com/office/drawing/2014/main" val="3768509195"/>
                    </a:ext>
                  </a:extLst>
                </a:gridCol>
                <a:gridCol w="479664">
                  <a:extLst>
                    <a:ext uri="{9D8B030D-6E8A-4147-A177-3AD203B41FA5}">
                      <a16:colId xmlns:a16="http://schemas.microsoft.com/office/drawing/2014/main" val="3881901445"/>
                    </a:ext>
                  </a:extLst>
                </a:gridCol>
                <a:gridCol w="479664">
                  <a:extLst>
                    <a:ext uri="{9D8B030D-6E8A-4147-A177-3AD203B41FA5}">
                      <a16:colId xmlns:a16="http://schemas.microsoft.com/office/drawing/2014/main" val="545424900"/>
                    </a:ext>
                  </a:extLst>
                </a:gridCol>
                <a:gridCol w="479664">
                  <a:extLst>
                    <a:ext uri="{9D8B030D-6E8A-4147-A177-3AD203B41FA5}">
                      <a16:colId xmlns:a16="http://schemas.microsoft.com/office/drawing/2014/main" val="2498206508"/>
                    </a:ext>
                  </a:extLst>
                </a:gridCol>
                <a:gridCol w="479664">
                  <a:extLst>
                    <a:ext uri="{9D8B030D-6E8A-4147-A177-3AD203B41FA5}">
                      <a16:colId xmlns:a16="http://schemas.microsoft.com/office/drawing/2014/main" val="1127063441"/>
                    </a:ext>
                  </a:extLst>
                </a:gridCol>
                <a:gridCol w="479664">
                  <a:extLst>
                    <a:ext uri="{9D8B030D-6E8A-4147-A177-3AD203B41FA5}">
                      <a16:colId xmlns:a16="http://schemas.microsoft.com/office/drawing/2014/main" val="3275924592"/>
                    </a:ext>
                  </a:extLst>
                </a:gridCol>
                <a:gridCol w="479664">
                  <a:extLst>
                    <a:ext uri="{9D8B030D-6E8A-4147-A177-3AD203B41FA5}">
                      <a16:colId xmlns:a16="http://schemas.microsoft.com/office/drawing/2014/main" val="706969762"/>
                    </a:ext>
                  </a:extLst>
                </a:gridCol>
                <a:gridCol w="479664">
                  <a:extLst>
                    <a:ext uri="{9D8B030D-6E8A-4147-A177-3AD203B41FA5}">
                      <a16:colId xmlns:a16="http://schemas.microsoft.com/office/drawing/2014/main" val="1247024661"/>
                    </a:ext>
                  </a:extLst>
                </a:gridCol>
              </a:tblGrid>
              <a:tr h="317809">
                <a:tc>
                  <a:txBody>
                    <a:bodyPr/>
                    <a:lstStyle/>
                    <a:p>
                      <a:pPr algn="ctr" fontAlgn="ctr">
                        <a:buNone/>
                      </a:pPr>
                      <a:r>
                        <a:rPr lang="en-US" sz="1000" b="1" i="0" u="none" strike="noStrike" dirty="0">
                          <a:solidFill>
                            <a:srgbClr val="FFFFFF"/>
                          </a:solidFill>
                          <a:effectLst/>
                          <a:latin typeface="Calibri" panose="020F0502020204030204" pitchFamily="34" charset="0"/>
                        </a:rPr>
                        <a:t>#</a:t>
                      </a:r>
                    </a:p>
                  </a:txBody>
                  <a:tcPr marL="4189" marR="4189" marT="4189" marB="0" anchor="ctr">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State/UT</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2019-20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2020-21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2021-22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2022-23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2023-24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2024-25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a:txBody>
                    <a:bodyPr/>
                    <a:lstStyle/>
                    <a:p>
                      <a:pPr algn="ctr" fontAlgn="ctr">
                        <a:buNone/>
                      </a:pPr>
                      <a:r>
                        <a:rPr lang="en-US" sz="1000" b="1" i="0" u="none" strike="noStrike">
                          <a:solidFill>
                            <a:srgbClr val="FFFFFF"/>
                          </a:solidFill>
                          <a:effectLst/>
                          <a:latin typeface="Calibri" panose="020F0502020204030204" pitchFamily="34" charset="0"/>
                        </a:rPr>
                        <a:t>2025-26</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extLst>
                  <a:ext uri="{0D108BD9-81ED-4DB2-BD59-A6C34878D82A}">
                    <a16:rowId xmlns:a16="http://schemas.microsoft.com/office/drawing/2014/main" val="364284172"/>
                  </a:ext>
                </a:extLst>
              </a:tr>
              <a:tr h="159997">
                <a:tc>
                  <a:txBody>
                    <a:bodyPr/>
                    <a:lstStyle/>
                    <a:p>
                      <a:pPr algn="ctr" fontAlgn="b">
                        <a:buNone/>
                      </a:pPr>
                      <a:r>
                        <a:rPr lang="en-US" sz="1000" b="0" i="0" u="none" strike="noStrike" dirty="0">
                          <a:solidFill>
                            <a:srgbClr val="000000"/>
                          </a:solidFill>
                          <a:effectLst/>
                          <a:latin typeface="Calibri" panose="020F0502020204030204" pitchFamily="34" charset="0"/>
                        </a:rPr>
                        <a:t>1</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Assam</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F7E"/>
                    </a:solidFill>
                  </a:tcPr>
                </a:tc>
                <a:tc>
                  <a:txBody>
                    <a:bodyPr/>
                    <a:lstStyle/>
                    <a:p>
                      <a:pPr algn="ctr" fontAlgn="ctr">
                        <a:buNone/>
                      </a:pPr>
                      <a:r>
                        <a:rPr lang="en-US" sz="1000" b="1" i="0" u="none" strike="noStrike">
                          <a:solidFill>
                            <a:srgbClr val="000000"/>
                          </a:solidFill>
                          <a:effectLst/>
                          <a:latin typeface="Calibri" panose="020F0502020204030204" pitchFamily="34" charset="0"/>
                        </a:rPr>
                        <a:t>2.45%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buNone/>
                      </a:pPr>
                      <a:r>
                        <a:rPr lang="en-US" sz="1000" b="1" i="0" u="none" strike="noStrike">
                          <a:solidFill>
                            <a:srgbClr val="000000"/>
                          </a:solidFill>
                          <a:effectLst/>
                          <a:latin typeface="Calibri" panose="020F0502020204030204" pitchFamily="34" charset="0"/>
                        </a:rPr>
                        <a:t>2.58%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buNone/>
                      </a:pPr>
                      <a:r>
                        <a:rPr lang="en-US" sz="1000" b="1" i="0" u="none" strike="noStrike">
                          <a:solidFill>
                            <a:srgbClr val="000000"/>
                          </a:solidFill>
                          <a:effectLst/>
                          <a:latin typeface="Calibri" panose="020F0502020204030204" pitchFamily="34" charset="0"/>
                        </a:rPr>
                        <a:t>2.65%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E984"/>
                    </a:solidFill>
                  </a:tcPr>
                </a:tc>
                <a:tc>
                  <a:txBody>
                    <a:bodyPr/>
                    <a:lstStyle/>
                    <a:p>
                      <a:pPr algn="ctr" fontAlgn="ctr">
                        <a:buNone/>
                      </a:pPr>
                      <a:r>
                        <a:rPr lang="en-US" sz="1000" b="1" i="0" u="none" strike="noStrike">
                          <a:solidFill>
                            <a:srgbClr val="000000"/>
                          </a:solidFill>
                          <a:effectLst/>
                          <a:latin typeface="Calibri" panose="020F0502020204030204" pitchFamily="34" charset="0"/>
                        </a:rPr>
                        <a:t>2.78%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buNone/>
                      </a:pPr>
                      <a:r>
                        <a:rPr lang="en-US" sz="1000" b="1" i="0" u="none" strike="noStrike">
                          <a:solidFill>
                            <a:srgbClr val="000000"/>
                          </a:solidFill>
                          <a:effectLst/>
                          <a:latin typeface="Calibri" panose="020F0502020204030204" pitchFamily="34" charset="0"/>
                        </a:rPr>
                        <a:t>2.42%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E"/>
                    </a:solidFill>
                  </a:tcPr>
                </a:tc>
                <a:tc>
                  <a:txBody>
                    <a:bodyPr/>
                    <a:lstStyle/>
                    <a:p>
                      <a:pPr algn="ctr" fontAlgn="ctr">
                        <a:buNone/>
                      </a:pPr>
                      <a:r>
                        <a:rPr lang="en-US" sz="1000" b="1" i="0" u="none" strike="noStrike">
                          <a:solidFill>
                            <a:srgbClr val="000000"/>
                          </a:solidFill>
                          <a:effectLst/>
                          <a:latin typeface="Calibri" panose="020F0502020204030204" pitchFamily="34" charset="0"/>
                        </a:rPr>
                        <a:t>2.39%</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77D"/>
                    </a:solidFill>
                  </a:tcPr>
                </a:tc>
                <a:extLst>
                  <a:ext uri="{0D108BD9-81ED-4DB2-BD59-A6C34878D82A}">
                    <a16:rowId xmlns:a16="http://schemas.microsoft.com/office/drawing/2014/main" val="2062627946"/>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2</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b">
                        <a:buNone/>
                      </a:pPr>
                      <a:r>
                        <a:rPr lang="en-US" sz="1000" b="0" i="0" u="none" strike="noStrike">
                          <a:solidFill>
                            <a:srgbClr val="000000"/>
                          </a:solidFill>
                          <a:effectLst/>
                          <a:latin typeface="Calibri" panose="020F0502020204030204" pitchFamily="34" charset="0"/>
                        </a:rPr>
                        <a:t>Rajasthan</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2.16%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C74"/>
                    </a:solidFill>
                  </a:tcPr>
                </a:tc>
                <a:tc>
                  <a:txBody>
                    <a:bodyPr/>
                    <a:lstStyle/>
                    <a:p>
                      <a:pPr algn="ctr" fontAlgn="ctr">
                        <a:buNone/>
                      </a:pPr>
                      <a:r>
                        <a:rPr lang="en-US" sz="1000" b="1" i="0" u="none" strike="noStrike">
                          <a:solidFill>
                            <a:srgbClr val="000000"/>
                          </a:solidFill>
                          <a:effectLst/>
                          <a:latin typeface="Calibri" panose="020F0502020204030204" pitchFamily="34" charset="0"/>
                        </a:rPr>
                        <a:t>2.12%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buNone/>
                      </a:pPr>
                      <a:r>
                        <a:rPr lang="en-US" sz="1000" b="1" i="0" u="none" strike="noStrike">
                          <a:solidFill>
                            <a:srgbClr val="000000"/>
                          </a:solidFill>
                          <a:effectLst/>
                          <a:latin typeface="Calibri" panose="020F0502020204030204" pitchFamily="34" charset="0"/>
                        </a:rPr>
                        <a:t>2.34%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E7B"/>
                    </a:solidFill>
                  </a:tcPr>
                </a:tc>
                <a:tc>
                  <a:txBody>
                    <a:bodyPr/>
                    <a:lstStyle/>
                    <a:p>
                      <a:pPr algn="ctr" fontAlgn="ctr">
                        <a:buNone/>
                      </a:pPr>
                      <a:r>
                        <a:rPr lang="en-US" sz="1000" b="1" i="0" u="none" strike="noStrike">
                          <a:solidFill>
                            <a:srgbClr val="000000"/>
                          </a:solidFill>
                          <a:effectLst/>
                          <a:latin typeface="Calibri" panose="020F0502020204030204" pitchFamily="34" charset="0"/>
                        </a:rPr>
                        <a:t>2.47%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buNone/>
                      </a:pPr>
                      <a:r>
                        <a:rPr lang="en-US" sz="1000" b="1" i="0" u="none" strike="noStrike">
                          <a:solidFill>
                            <a:srgbClr val="000000"/>
                          </a:solidFill>
                          <a:effectLst/>
                          <a:latin typeface="Calibri" panose="020F0502020204030204" pitchFamily="34" charset="0"/>
                        </a:rPr>
                        <a:t>2.56%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buNone/>
                      </a:pPr>
                      <a:r>
                        <a:rPr lang="en-US" sz="1000" b="1" i="0" u="none" strike="noStrike">
                          <a:solidFill>
                            <a:srgbClr val="000000"/>
                          </a:solidFill>
                          <a:effectLst/>
                          <a:latin typeface="Calibri" panose="020F0502020204030204" pitchFamily="34" charset="0"/>
                        </a:rPr>
                        <a:t>2.58%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983"/>
                    </a:solidFill>
                  </a:tcPr>
                </a:tc>
                <a:tc>
                  <a:txBody>
                    <a:bodyPr/>
                    <a:lstStyle/>
                    <a:p>
                      <a:pPr algn="ctr" fontAlgn="ctr">
                        <a:buNone/>
                      </a:pPr>
                      <a:r>
                        <a:rPr lang="en-US" sz="1000" b="1" i="0" u="none" strike="noStrike">
                          <a:solidFill>
                            <a:srgbClr val="000000"/>
                          </a:solidFill>
                          <a:effectLst/>
                          <a:latin typeface="Calibri" panose="020F0502020204030204" pitchFamily="34" charset="0"/>
                        </a:rPr>
                        <a:t>2.33%</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extLst>
                  <a:ext uri="{0D108BD9-81ED-4DB2-BD59-A6C34878D82A}">
                    <a16:rowId xmlns:a16="http://schemas.microsoft.com/office/drawing/2014/main" val="1303143755"/>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Madhya Pradesh</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sz="1000" b="1" i="0" u="none" strike="noStrike">
                          <a:solidFill>
                            <a:srgbClr val="000000"/>
                          </a:solidFill>
                          <a:effectLst/>
                          <a:latin typeface="Calibri" panose="020F0502020204030204" pitchFamily="34" charset="0"/>
                        </a:rPr>
                        <a:t>1.99%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D6E"/>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1.93%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C"/>
                    </a:solidFill>
                  </a:tcPr>
                </a:tc>
                <a:tc>
                  <a:txBody>
                    <a:bodyPr/>
                    <a:lstStyle/>
                    <a:p>
                      <a:pPr algn="ctr" fontAlgn="ctr">
                        <a:buNone/>
                      </a:pPr>
                      <a:r>
                        <a:rPr lang="en-US" sz="1000" b="1" i="0" u="none" strike="noStrike">
                          <a:solidFill>
                            <a:srgbClr val="000000"/>
                          </a:solidFill>
                          <a:effectLst/>
                          <a:latin typeface="Calibri" panose="020F0502020204030204" pitchFamily="34" charset="0"/>
                        </a:rPr>
                        <a:t>2.01%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06F"/>
                    </a:solidFill>
                  </a:tcPr>
                </a:tc>
                <a:tc>
                  <a:txBody>
                    <a:bodyPr/>
                    <a:lstStyle/>
                    <a:p>
                      <a:pPr algn="ctr" fontAlgn="ctr">
                        <a:buNone/>
                      </a:pPr>
                      <a:r>
                        <a:rPr lang="en-US" sz="1000" b="1" i="0" u="none" strike="noStrike">
                          <a:solidFill>
                            <a:srgbClr val="000000"/>
                          </a:solidFill>
                          <a:effectLst/>
                          <a:latin typeface="Calibri" panose="020F0502020204030204" pitchFamily="34" charset="0"/>
                        </a:rPr>
                        <a:t>2.10%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272"/>
                    </a:solidFill>
                  </a:tcPr>
                </a:tc>
                <a:tc>
                  <a:txBody>
                    <a:bodyPr/>
                    <a:lstStyle/>
                    <a:p>
                      <a:pPr algn="ctr" fontAlgn="ctr">
                        <a:buNone/>
                      </a:pPr>
                      <a:r>
                        <a:rPr lang="en-US" sz="1000" b="1" i="0" u="none" strike="noStrike">
                          <a:solidFill>
                            <a:srgbClr val="000000"/>
                          </a:solidFill>
                          <a:effectLst/>
                          <a:latin typeface="Calibri" panose="020F0502020204030204" pitchFamily="34" charset="0"/>
                        </a:rPr>
                        <a:t>2.33%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B7A"/>
                    </a:solidFill>
                  </a:tcPr>
                </a:tc>
                <a:tc>
                  <a:txBody>
                    <a:bodyPr/>
                    <a:lstStyle/>
                    <a:p>
                      <a:pPr algn="ctr" fontAlgn="ctr">
                        <a:buNone/>
                      </a:pPr>
                      <a:r>
                        <a:rPr lang="en-US" sz="1000" b="1" i="0" u="none" strike="noStrike">
                          <a:solidFill>
                            <a:srgbClr val="000000"/>
                          </a:solidFill>
                          <a:effectLst/>
                          <a:latin typeface="Calibri" panose="020F0502020204030204" pitchFamily="34" charset="0"/>
                        </a:rPr>
                        <a:t>2.28%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B279"/>
                    </a:solidFill>
                  </a:tcPr>
                </a:tc>
                <a:tc>
                  <a:txBody>
                    <a:bodyPr/>
                    <a:lstStyle/>
                    <a:p>
                      <a:pPr algn="ctr" fontAlgn="ctr">
                        <a:buNone/>
                      </a:pPr>
                      <a:r>
                        <a:rPr lang="en-US" sz="1000" b="1" i="0" u="none" strike="noStrike">
                          <a:solidFill>
                            <a:srgbClr val="000000"/>
                          </a:solidFill>
                          <a:effectLst/>
                          <a:latin typeface="Calibri" panose="020F0502020204030204" pitchFamily="34" charset="0"/>
                        </a:rPr>
                        <a:t>1.93%</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36D"/>
                    </a:solidFill>
                  </a:tcPr>
                </a:tc>
                <a:extLst>
                  <a:ext uri="{0D108BD9-81ED-4DB2-BD59-A6C34878D82A}">
                    <a16:rowId xmlns:a16="http://schemas.microsoft.com/office/drawing/2014/main" val="3935465435"/>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b">
                        <a:buNone/>
                      </a:pPr>
                      <a:r>
                        <a:rPr lang="en-US" sz="1000" b="0" i="0" u="none" strike="noStrike">
                          <a:solidFill>
                            <a:srgbClr val="000000"/>
                          </a:solidFill>
                          <a:effectLst/>
                          <a:latin typeface="Calibri" panose="020F0502020204030204" pitchFamily="34" charset="0"/>
                        </a:rPr>
                        <a:t>Odisha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sz="1000" b="1" i="0" u="none" strike="noStrike">
                          <a:solidFill>
                            <a:srgbClr val="000000"/>
                          </a:solidFill>
                          <a:effectLst/>
                          <a:latin typeface="Calibri" panose="020F0502020204030204" pitchFamily="34" charset="0"/>
                        </a:rPr>
                        <a:t>2.47%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57F"/>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2.57%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buNone/>
                      </a:pPr>
                      <a:r>
                        <a:rPr lang="en-US" sz="1000" b="1" i="0" u="none" strike="noStrike">
                          <a:solidFill>
                            <a:srgbClr val="000000"/>
                          </a:solidFill>
                          <a:effectLst/>
                          <a:latin typeface="Calibri" panose="020F0502020204030204" pitchFamily="34" charset="0"/>
                        </a:rPr>
                        <a:t>2.69%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4E884"/>
                    </a:solidFill>
                  </a:tcPr>
                </a:tc>
                <a:tc>
                  <a:txBody>
                    <a:bodyPr/>
                    <a:lstStyle/>
                    <a:p>
                      <a:pPr algn="ctr" fontAlgn="ctr">
                        <a:buNone/>
                      </a:pPr>
                      <a:r>
                        <a:rPr lang="en-US" sz="1000" b="1" i="0" u="none" strike="noStrike">
                          <a:solidFill>
                            <a:srgbClr val="000000"/>
                          </a:solidFill>
                          <a:effectLst/>
                          <a:latin typeface="Calibri" panose="020F0502020204030204" pitchFamily="34" charset="0"/>
                        </a:rPr>
                        <a:t>2.60%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B84"/>
                    </a:solidFill>
                  </a:tcPr>
                </a:tc>
                <a:tc>
                  <a:txBody>
                    <a:bodyPr/>
                    <a:lstStyle/>
                    <a:p>
                      <a:pPr algn="ctr" fontAlgn="ctr">
                        <a:buNone/>
                      </a:pPr>
                      <a:r>
                        <a:rPr lang="en-US" sz="1000" b="1" i="0" u="none" strike="noStrike">
                          <a:solidFill>
                            <a:srgbClr val="000000"/>
                          </a:solidFill>
                          <a:effectLst/>
                          <a:latin typeface="Calibri" panose="020F0502020204030204" pitchFamily="34" charset="0"/>
                        </a:rPr>
                        <a:t>3.01%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buNone/>
                      </a:pPr>
                      <a:r>
                        <a:rPr lang="en-US" sz="1000" b="1" i="0" u="none" strike="noStrike">
                          <a:solidFill>
                            <a:srgbClr val="000000"/>
                          </a:solidFill>
                          <a:effectLst/>
                          <a:latin typeface="Calibri" panose="020F0502020204030204" pitchFamily="34" charset="0"/>
                        </a:rPr>
                        <a:t>2.83%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383"/>
                    </a:solidFill>
                  </a:tcPr>
                </a:tc>
                <a:tc>
                  <a:txBody>
                    <a:bodyPr/>
                    <a:lstStyle/>
                    <a:p>
                      <a:pPr algn="ctr" fontAlgn="ctr">
                        <a:buNone/>
                      </a:pPr>
                      <a:r>
                        <a:rPr lang="en-US" sz="1000" b="1" i="0" u="none" strike="noStrike">
                          <a:solidFill>
                            <a:srgbClr val="000000"/>
                          </a:solidFill>
                          <a:effectLst/>
                          <a:latin typeface="Calibri" panose="020F0502020204030204" pitchFamily="34" charset="0"/>
                        </a:rPr>
                        <a:t>2.31%</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77A"/>
                    </a:solidFill>
                  </a:tcPr>
                </a:tc>
                <a:extLst>
                  <a:ext uri="{0D108BD9-81ED-4DB2-BD59-A6C34878D82A}">
                    <a16:rowId xmlns:a16="http://schemas.microsoft.com/office/drawing/2014/main" val="3200834062"/>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5</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b">
                        <a:buNone/>
                      </a:pPr>
                      <a:r>
                        <a:rPr lang="en-US" sz="1000" b="0" i="0" u="none" strike="noStrike">
                          <a:solidFill>
                            <a:srgbClr val="000000"/>
                          </a:solidFill>
                          <a:effectLst/>
                          <a:latin typeface="Calibri" panose="020F0502020204030204" pitchFamily="34" charset="0"/>
                        </a:rPr>
                        <a:t>Jharkhand</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2.55%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3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2.56%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582"/>
                    </a:solidFill>
                  </a:tcPr>
                </a:tc>
                <a:tc>
                  <a:txBody>
                    <a:bodyPr/>
                    <a:lstStyle/>
                    <a:p>
                      <a:pPr algn="ctr" fontAlgn="ctr">
                        <a:buNone/>
                      </a:pPr>
                      <a:r>
                        <a:rPr lang="en-US" sz="1000" b="1" i="0" u="none" strike="noStrike">
                          <a:solidFill>
                            <a:srgbClr val="000000"/>
                          </a:solidFill>
                          <a:effectLst/>
                          <a:latin typeface="Calibri" panose="020F0502020204030204" pitchFamily="34" charset="0"/>
                        </a:rPr>
                        <a:t>2.70%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tc>
                  <a:txBody>
                    <a:bodyPr/>
                    <a:lstStyle/>
                    <a:p>
                      <a:pPr algn="ctr" fontAlgn="ctr">
                        <a:buNone/>
                      </a:pPr>
                      <a:r>
                        <a:rPr lang="en-US" sz="1000" b="1" i="0" u="none" strike="noStrike">
                          <a:solidFill>
                            <a:srgbClr val="000000"/>
                          </a:solidFill>
                          <a:effectLst/>
                          <a:latin typeface="Calibri" panose="020F0502020204030204" pitchFamily="34" charset="0"/>
                        </a:rPr>
                        <a:t>2.92%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tc>
                  <a:txBody>
                    <a:bodyPr/>
                    <a:lstStyle/>
                    <a:p>
                      <a:pPr algn="ctr" fontAlgn="ctr">
                        <a:buNone/>
                      </a:pPr>
                      <a:r>
                        <a:rPr lang="en-US" sz="1000" b="1" i="0" u="none" strike="noStrike">
                          <a:solidFill>
                            <a:srgbClr val="000000"/>
                          </a:solidFill>
                          <a:effectLst/>
                          <a:latin typeface="Calibri" panose="020F0502020204030204" pitchFamily="34" charset="0"/>
                        </a:rPr>
                        <a:t>2.86%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EE283"/>
                    </a:solidFill>
                  </a:tcPr>
                </a:tc>
                <a:tc>
                  <a:txBody>
                    <a:bodyPr/>
                    <a:lstStyle/>
                    <a:p>
                      <a:pPr algn="ctr" fontAlgn="ctr">
                        <a:buNone/>
                      </a:pPr>
                      <a:r>
                        <a:rPr lang="en-US" sz="1000" b="1" i="0" u="none" strike="noStrike">
                          <a:solidFill>
                            <a:srgbClr val="000000"/>
                          </a:solidFill>
                          <a:effectLst/>
                          <a:latin typeface="Calibri" panose="020F0502020204030204" pitchFamily="34" charset="0"/>
                        </a:rPr>
                        <a:t>2.75%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CE683"/>
                    </a:solidFill>
                  </a:tcPr>
                </a:tc>
                <a:tc>
                  <a:txBody>
                    <a:bodyPr/>
                    <a:lstStyle/>
                    <a:p>
                      <a:pPr algn="ctr" fontAlgn="ctr">
                        <a:buNone/>
                      </a:pPr>
                      <a:r>
                        <a:rPr lang="en-US" sz="1000" b="1" i="0" u="none" strike="noStrike">
                          <a:solidFill>
                            <a:srgbClr val="000000"/>
                          </a:solidFill>
                          <a:effectLst/>
                          <a:latin typeface="Calibri" panose="020F0502020204030204" pitchFamily="34" charset="0"/>
                        </a:rPr>
                        <a:t>2.23%</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A77"/>
                    </a:solidFill>
                  </a:tcPr>
                </a:tc>
                <a:extLst>
                  <a:ext uri="{0D108BD9-81ED-4DB2-BD59-A6C34878D82A}">
                    <a16:rowId xmlns:a16="http://schemas.microsoft.com/office/drawing/2014/main" val="1617742052"/>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6</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AE9F8"/>
                    </a:solidFill>
                  </a:tcPr>
                </a:tc>
                <a:tc>
                  <a:txBody>
                    <a:bodyPr/>
                    <a:lstStyle/>
                    <a:p>
                      <a:pPr algn="ctr" fontAlgn="b">
                        <a:buNone/>
                      </a:pPr>
                      <a:r>
                        <a:rPr lang="en-US" sz="1000" b="0" i="0" u="none" strike="noStrike">
                          <a:solidFill>
                            <a:srgbClr val="000000"/>
                          </a:solidFill>
                          <a:effectLst/>
                          <a:latin typeface="Calibri" panose="020F0502020204030204" pitchFamily="34" charset="0"/>
                        </a:rPr>
                        <a:t>Chhattisgarh</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AE9F8"/>
                    </a:solidFill>
                  </a:tcPr>
                </a:tc>
                <a:tc>
                  <a:txBody>
                    <a:bodyPr/>
                    <a:lstStyle/>
                    <a:p>
                      <a:pPr algn="ctr" fontAlgn="ctr">
                        <a:buNone/>
                      </a:pPr>
                      <a:r>
                        <a:rPr lang="en-US" sz="1000" b="1" i="0" u="none" strike="noStrike">
                          <a:solidFill>
                            <a:srgbClr val="000000"/>
                          </a:solidFill>
                          <a:effectLst/>
                          <a:latin typeface="Calibri" panose="020F0502020204030204" pitchFamily="34" charset="0"/>
                        </a:rPr>
                        <a:t>2.25%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BAC77"/>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2.30%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CB679"/>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2.36%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CC07B"/>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ED980"/>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2.75%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CE683"/>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2.90%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9E0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2.24%</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BAB77"/>
                    </a:solidFill>
                  </a:tcPr>
                </a:tc>
                <a:extLst>
                  <a:ext uri="{0D108BD9-81ED-4DB2-BD59-A6C34878D82A}">
                    <a16:rowId xmlns:a16="http://schemas.microsoft.com/office/drawing/2014/main" val="2068220141"/>
                  </a:ext>
                </a:extLst>
              </a:tr>
              <a:tr h="159997">
                <a:tc>
                  <a:txBody>
                    <a:bodyPr/>
                    <a:lstStyle/>
                    <a:p>
                      <a:pPr algn="ctr" fontAlgn="b">
                        <a:buNone/>
                      </a:pPr>
                      <a:r>
                        <a:rPr lang="en-US" sz="1000" b="0" i="0" u="none" strike="noStrike" dirty="0">
                          <a:solidFill>
                            <a:srgbClr val="000000"/>
                          </a:solidFill>
                          <a:effectLst/>
                          <a:latin typeface="Calibri" panose="020F0502020204030204" pitchFamily="34" charset="0"/>
                        </a:rPr>
                        <a:t>1</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0" i="0" u="none" strike="noStrike">
                          <a:solidFill>
                            <a:srgbClr val="000000"/>
                          </a:solidFill>
                          <a:effectLst/>
                          <a:latin typeface="Calibri" panose="020F0502020204030204" pitchFamily="34" charset="0"/>
                        </a:rPr>
                        <a:t>Haryana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2.51%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B81"/>
                    </a:solidFill>
                  </a:tcPr>
                </a:tc>
                <a:tc>
                  <a:txBody>
                    <a:bodyPr/>
                    <a:lstStyle/>
                    <a:p>
                      <a:pPr algn="ctr" fontAlgn="ctr">
                        <a:buNone/>
                      </a:pPr>
                      <a:r>
                        <a:rPr lang="en-US" sz="1000" b="1" i="0" u="none" strike="noStrike">
                          <a:solidFill>
                            <a:srgbClr val="000000"/>
                          </a:solidFill>
                          <a:effectLst/>
                          <a:latin typeface="Calibri" panose="020F0502020204030204" pitchFamily="34" charset="0"/>
                        </a:rPr>
                        <a:t>2.64%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buNone/>
                      </a:pPr>
                      <a:r>
                        <a:rPr lang="en-US" sz="1000" b="1" i="0" u="none" strike="noStrike">
                          <a:solidFill>
                            <a:srgbClr val="000000"/>
                          </a:solidFill>
                          <a:effectLst/>
                          <a:latin typeface="Calibri" panose="020F0502020204030204" pitchFamily="34" charset="0"/>
                        </a:rPr>
                        <a:t>2.88%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buNone/>
                      </a:pPr>
                      <a:r>
                        <a:rPr lang="en-US" sz="1000" b="1" i="0" u="none" strike="noStrike">
                          <a:solidFill>
                            <a:srgbClr val="000000"/>
                          </a:solidFill>
                          <a:effectLst/>
                          <a:latin typeface="Calibri" panose="020F0502020204030204" pitchFamily="34" charset="0"/>
                        </a:rPr>
                        <a:t>3.11%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ED981"/>
                    </a:solidFill>
                  </a:tcPr>
                </a:tc>
                <a:tc>
                  <a:txBody>
                    <a:bodyPr/>
                    <a:lstStyle/>
                    <a:p>
                      <a:pPr algn="ctr" fontAlgn="ctr">
                        <a:buNone/>
                      </a:pPr>
                      <a:r>
                        <a:rPr lang="en-US" sz="1000" b="1" i="0" u="none" strike="noStrike">
                          <a:solidFill>
                            <a:srgbClr val="000000"/>
                          </a:solidFill>
                          <a:effectLst/>
                          <a:latin typeface="Calibri" panose="020F0502020204030204" pitchFamily="34" charset="0"/>
                        </a:rPr>
                        <a:t>3.19%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D680"/>
                    </a:solidFill>
                  </a:tcPr>
                </a:tc>
                <a:tc>
                  <a:txBody>
                    <a:bodyPr/>
                    <a:lstStyle/>
                    <a:p>
                      <a:pPr algn="ctr" fontAlgn="ctr">
                        <a:buNone/>
                      </a:pPr>
                      <a:r>
                        <a:rPr lang="en-US" sz="1000" b="1" i="0" u="none" strike="noStrike">
                          <a:solidFill>
                            <a:srgbClr val="000000"/>
                          </a:solidFill>
                          <a:effectLst/>
                          <a:latin typeface="Calibri" panose="020F0502020204030204" pitchFamily="34" charset="0"/>
                        </a:rPr>
                        <a:t>3.28%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AD380"/>
                    </a:solidFill>
                  </a:tcPr>
                </a:tc>
                <a:tc>
                  <a:txBody>
                    <a:bodyPr/>
                    <a:lstStyle/>
                    <a:p>
                      <a:pPr algn="ctr" fontAlgn="ctr">
                        <a:buNone/>
                      </a:pPr>
                      <a:r>
                        <a:rPr lang="en-US" sz="1000" b="1" i="0" u="none" strike="noStrike">
                          <a:solidFill>
                            <a:srgbClr val="000000"/>
                          </a:solidFill>
                          <a:effectLst/>
                          <a:latin typeface="Calibri" panose="020F0502020204030204" pitchFamily="34" charset="0"/>
                        </a:rPr>
                        <a:t>3.58%</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4C87D"/>
                    </a:solidFill>
                  </a:tcPr>
                </a:tc>
                <a:extLst>
                  <a:ext uri="{0D108BD9-81ED-4DB2-BD59-A6C34878D82A}">
                    <a16:rowId xmlns:a16="http://schemas.microsoft.com/office/drawing/2014/main" val="941276147"/>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1</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0" i="0" u="none" strike="noStrike">
                          <a:solidFill>
                            <a:srgbClr val="000000"/>
                          </a:solidFill>
                          <a:effectLst/>
                          <a:latin typeface="Calibri" panose="020F0502020204030204" pitchFamily="34" charset="0"/>
                        </a:rPr>
                        <a:t>Gujarat</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2.16%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D75"/>
                    </a:solidFill>
                  </a:tcPr>
                </a:tc>
                <a:tc>
                  <a:txBody>
                    <a:bodyPr/>
                    <a:lstStyle/>
                    <a:p>
                      <a:pPr algn="ctr" fontAlgn="ctr">
                        <a:buNone/>
                      </a:pPr>
                      <a:r>
                        <a:rPr lang="en-US" sz="1000" b="1" i="0" u="none" strike="noStrike">
                          <a:solidFill>
                            <a:srgbClr val="000000"/>
                          </a:solidFill>
                          <a:effectLst/>
                          <a:latin typeface="Calibri" panose="020F0502020204030204" pitchFamily="34" charset="0"/>
                        </a:rPr>
                        <a:t>2.07%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C71"/>
                    </a:solidFill>
                  </a:tcPr>
                </a:tc>
                <a:tc>
                  <a:txBody>
                    <a:bodyPr/>
                    <a:lstStyle/>
                    <a:p>
                      <a:pPr algn="ctr" fontAlgn="ctr">
                        <a:buNone/>
                      </a:pPr>
                      <a:r>
                        <a:rPr lang="en-US" sz="1000" b="1" i="0" u="none" strike="noStrike">
                          <a:solidFill>
                            <a:srgbClr val="000000"/>
                          </a:solidFill>
                          <a:effectLst/>
                          <a:latin typeface="Calibri" panose="020F0502020204030204" pitchFamily="34" charset="0"/>
                        </a:rPr>
                        <a:t>2.49%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buNone/>
                      </a:pPr>
                      <a:r>
                        <a:rPr lang="en-US" sz="1000" b="1" i="0" u="none" strike="noStrike">
                          <a:solidFill>
                            <a:srgbClr val="000000"/>
                          </a:solidFill>
                          <a:effectLst/>
                          <a:latin typeface="Calibri" panose="020F0502020204030204" pitchFamily="34" charset="0"/>
                        </a:rPr>
                        <a:t>2.57%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683"/>
                    </a:solidFill>
                  </a:tcPr>
                </a:tc>
                <a:tc>
                  <a:txBody>
                    <a:bodyPr/>
                    <a:lstStyle/>
                    <a:p>
                      <a:pPr algn="ctr" fontAlgn="ctr">
                        <a:buNone/>
                      </a:pPr>
                      <a:r>
                        <a:rPr lang="en-US" sz="1000" b="1" i="0" u="none" strike="noStrike">
                          <a:solidFill>
                            <a:srgbClr val="000000"/>
                          </a:solidFill>
                          <a:effectLst/>
                          <a:latin typeface="Calibri" panose="020F0502020204030204" pitchFamily="34" charset="0"/>
                        </a:rPr>
                        <a:t>2.62%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buNone/>
                      </a:pPr>
                      <a:r>
                        <a:rPr lang="en-US" sz="1000" b="1" i="0" u="none" strike="noStrike">
                          <a:solidFill>
                            <a:srgbClr val="000000"/>
                          </a:solidFill>
                          <a:effectLst/>
                          <a:latin typeface="Calibri" panose="020F0502020204030204" pitchFamily="34" charset="0"/>
                        </a:rPr>
                        <a:t>2.62%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EA84"/>
                    </a:solidFill>
                  </a:tcPr>
                </a:tc>
                <a:tc>
                  <a:txBody>
                    <a:bodyPr/>
                    <a:lstStyle/>
                    <a:p>
                      <a:pPr algn="ctr" fontAlgn="ctr">
                        <a:buNone/>
                      </a:pPr>
                      <a:r>
                        <a:rPr lang="en-US" sz="1000" b="1" i="0" u="none" strike="noStrike">
                          <a:solidFill>
                            <a:srgbClr val="000000"/>
                          </a:solidFill>
                          <a:effectLst/>
                          <a:latin typeface="Calibri" panose="020F0502020204030204" pitchFamily="34" charset="0"/>
                        </a:rPr>
                        <a:t>2.71%</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1E784"/>
                    </a:solidFill>
                  </a:tcPr>
                </a:tc>
                <a:extLst>
                  <a:ext uri="{0D108BD9-81ED-4DB2-BD59-A6C34878D82A}">
                    <a16:rowId xmlns:a16="http://schemas.microsoft.com/office/drawing/2014/main" val="713728966"/>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3</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Bihar</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2.52%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E81"/>
                    </a:solidFill>
                  </a:tcPr>
                </a:tc>
                <a:tc>
                  <a:txBody>
                    <a:bodyPr/>
                    <a:lstStyle/>
                    <a:p>
                      <a:pPr algn="ctr" fontAlgn="ctr">
                        <a:buNone/>
                      </a:pPr>
                      <a:r>
                        <a:rPr lang="en-US" sz="1000" b="1" i="0" u="none" strike="noStrike">
                          <a:solidFill>
                            <a:srgbClr val="000000"/>
                          </a:solidFill>
                          <a:effectLst/>
                          <a:latin typeface="Calibri" panose="020F0502020204030204" pitchFamily="34" charset="0"/>
                        </a:rPr>
                        <a:t>2.62%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B84"/>
                    </a:solidFill>
                  </a:tcPr>
                </a:tc>
                <a:tc>
                  <a:txBody>
                    <a:bodyPr/>
                    <a:lstStyle/>
                    <a:p>
                      <a:pPr algn="ctr" fontAlgn="ctr">
                        <a:buNone/>
                      </a:pPr>
                      <a:r>
                        <a:rPr lang="en-US" sz="1000" b="1" i="0" u="none" strike="noStrike">
                          <a:solidFill>
                            <a:srgbClr val="000000"/>
                          </a:solidFill>
                          <a:effectLst/>
                          <a:latin typeface="Calibri" panose="020F0502020204030204" pitchFamily="34" charset="0"/>
                        </a:rPr>
                        <a:t>2.98%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buNone/>
                      </a:pPr>
                      <a:r>
                        <a:rPr lang="en-US" sz="1000" b="1" i="0" u="none" strike="noStrike">
                          <a:solidFill>
                            <a:srgbClr val="000000"/>
                          </a:solidFill>
                          <a:effectLst/>
                          <a:latin typeface="Calibri" panose="020F0502020204030204" pitchFamily="34" charset="0"/>
                        </a:rPr>
                        <a:t>3.11%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D981"/>
                    </a:solidFill>
                  </a:tcPr>
                </a:tc>
                <a:tc>
                  <a:txBody>
                    <a:bodyPr/>
                    <a:lstStyle/>
                    <a:p>
                      <a:pPr algn="ctr" fontAlgn="ctr">
                        <a:buNone/>
                      </a:pPr>
                      <a:r>
                        <a:rPr lang="en-US" sz="1000" b="1" i="0" u="none" strike="noStrike">
                          <a:solidFill>
                            <a:srgbClr val="000000"/>
                          </a:solidFill>
                          <a:effectLst/>
                          <a:latin typeface="Calibri" panose="020F0502020204030204" pitchFamily="34" charset="0"/>
                        </a:rPr>
                        <a:t>3.35%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1D07F"/>
                    </a:solidFill>
                  </a:tcPr>
                </a:tc>
                <a:tc>
                  <a:txBody>
                    <a:bodyPr/>
                    <a:lstStyle/>
                    <a:p>
                      <a:pPr algn="ctr" fontAlgn="ctr">
                        <a:buNone/>
                      </a:pPr>
                      <a:r>
                        <a:rPr lang="en-US" sz="1000" b="1" i="0" u="none" strike="noStrike">
                          <a:solidFill>
                            <a:srgbClr val="000000"/>
                          </a:solidFill>
                          <a:effectLst/>
                          <a:latin typeface="Calibri" panose="020F0502020204030204" pitchFamily="34" charset="0"/>
                        </a:rPr>
                        <a:t>2.96%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2DE82"/>
                    </a:solidFill>
                  </a:tcPr>
                </a:tc>
                <a:tc>
                  <a:txBody>
                    <a:bodyPr/>
                    <a:lstStyle/>
                    <a:p>
                      <a:pPr algn="ctr" fontAlgn="ctr">
                        <a:buNone/>
                      </a:pPr>
                      <a:r>
                        <a:rPr lang="en-US" sz="1000" b="1" i="0" u="none" strike="noStrike">
                          <a:solidFill>
                            <a:srgbClr val="000000"/>
                          </a:solidFill>
                          <a:effectLst/>
                          <a:latin typeface="Calibri" panose="020F0502020204030204" pitchFamily="34" charset="0"/>
                        </a:rPr>
                        <a:t>2.91%</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7E082"/>
                    </a:solidFill>
                  </a:tcPr>
                </a:tc>
                <a:extLst>
                  <a:ext uri="{0D108BD9-81ED-4DB2-BD59-A6C34878D82A}">
                    <a16:rowId xmlns:a16="http://schemas.microsoft.com/office/drawing/2014/main" val="247799302"/>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4</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0" i="0" u="none" strike="noStrike">
                          <a:solidFill>
                            <a:srgbClr val="000000"/>
                          </a:solidFill>
                          <a:effectLst/>
                          <a:latin typeface="Calibri" panose="020F0502020204030204" pitchFamily="34" charset="0"/>
                        </a:rPr>
                        <a:t>Punjab</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2.42%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B7D"/>
                    </a:solidFill>
                  </a:tcPr>
                </a:tc>
                <a:tc>
                  <a:txBody>
                    <a:bodyPr/>
                    <a:lstStyle/>
                    <a:p>
                      <a:pPr algn="ctr" fontAlgn="ctr">
                        <a:buNone/>
                      </a:pPr>
                      <a:r>
                        <a:rPr lang="en-US" sz="1000" b="1" i="0" u="none" strike="noStrike">
                          <a:solidFill>
                            <a:srgbClr val="000000"/>
                          </a:solidFill>
                          <a:effectLst/>
                          <a:latin typeface="Calibri" panose="020F0502020204030204" pitchFamily="34" charset="0"/>
                        </a:rPr>
                        <a:t>2.39%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67D"/>
                    </a:solidFill>
                  </a:tcPr>
                </a:tc>
                <a:tc>
                  <a:txBody>
                    <a:bodyPr/>
                    <a:lstStyle/>
                    <a:p>
                      <a:pPr algn="ctr" fontAlgn="ctr">
                        <a:buNone/>
                      </a:pPr>
                      <a:r>
                        <a:rPr lang="en-US" sz="1000" b="1" i="0" u="none" strike="noStrike">
                          <a:solidFill>
                            <a:srgbClr val="000000"/>
                          </a:solidFill>
                          <a:effectLst/>
                          <a:latin typeface="Calibri" panose="020F0502020204030204" pitchFamily="34" charset="0"/>
                        </a:rPr>
                        <a:t>2.74%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683"/>
                    </a:solidFill>
                  </a:tcPr>
                </a:tc>
                <a:tc>
                  <a:txBody>
                    <a:bodyPr/>
                    <a:lstStyle/>
                    <a:p>
                      <a:pPr algn="ctr" fontAlgn="ctr">
                        <a:buNone/>
                      </a:pPr>
                      <a:r>
                        <a:rPr lang="en-US" sz="1000" b="1" i="0" u="none" strike="noStrike">
                          <a:solidFill>
                            <a:srgbClr val="000000"/>
                          </a:solidFill>
                          <a:effectLst/>
                          <a:latin typeface="Calibri" panose="020F0502020204030204" pitchFamily="34" charset="0"/>
                        </a:rPr>
                        <a:t>2.88%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182"/>
                    </a:solidFill>
                  </a:tcPr>
                </a:tc>
                <a:tc>
                  <a:txBody>
                    <a:bodyPr/>
                    <a:lstStyle/>
                    <a:p>
                      <a:pPr algn="ctr" fontAlgn="ctr">
                        <a:buNone/>
                      </a:pPr>
                      <a:r>
                        <a:rPr lang="en-US" sz="1000" b="1" i="0" u="none" strike="noStrike">
                          <a:solidFill>
                            <a:srgbClr val="000000"/>
                          </a:solidFill>
                          <a:effectLst/>
                          <a:latin typeface="Calibri" panose="020F0502020204030204" pitchFamily="34" charset="0"/>
                        </a:rPr>
                        <a:t>3.00%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DD82"/>
                    </a:solidFill>
                  </a:tcPr>
                </a:tc>
                <a:tc>
                  <a:txBody>
                    <a:bodyPr/>
                    <a:lstStyle/>
                    <a:p>
                      <a:pPr algn="ctr" fontAlgn="ctr">
                        <a:buNone/>
                      </a:pPr>
                      <a:r>
                        <a:rPr lang="en-US" sz="1000" b="1" i="0" u="none" strike="noStrike">
                          <a:solidFill>
                            <a:srgbClr val="000000"/>
                          </a:solidFill>
                          <a:effectLst/>
                          <a:latin typeface="Calibri" panose="020F0502020204030204" pitchFamily="34" charset="0"/>
                        </a:rPr>
                        <a:t>3.06%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DB81"/>
                    </a:solidFill>
                  </a:tcPr>
                </a:tc>
                <a:tc>
                  <a:txBody>
                    <a:bodyPr/>
                    <a:lstStyle/>
                    <a:p>
                      <a:pPr algn="ctr" fontAlgn="ctr">
                        <a:buNone/>
                      </a:pPr>
                      <a:r>
                        <a:rPr lang="en-US" sz="1000" b="1" i="0" u="none" strike="noStrike">
                          <a:solidFill>
                            <a:srgbClr val="000000"/>
                          </a:solidFill>
                          <a:effectLst/>
                          <a:latin typeface="Calibri" panose="020F0502020204030204" pitchFamily="34" charset="0"/>
                        </a:rPr>
                        <a:t>3.02%</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BDC81"/>
                    </a:solidFill>
                  </a:tcPr>
                </a:tc>
                <a:extLst>
                  <a:ext uri="{0D108BD9-81ED-4DB2-BD59-A6C34878D82A}">
                    <a16:rowId xmlns:a16="http://schemas.microsoft.com/office/drawing/2014/main" val="2062233609"/>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5</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b">
                        <a:buNone/>
                      </a:pPr>
                      <a:r>
                        <a:rPr lang="en-US" sz="1000" b="0" i="0" u="none" strike="noStrike" dirty="0">
                          <a:solidFill>
                            <a:srgbClr val="000000"/>
                          </a:solidFill>
                          <a:effectLst/>
                          <a:latin typeface="Calibri" panose="020F0502020204030204" pitchFamily="34" charset="0"/>
                        </a:rPr>
                        <a:t>Andhra Pradesh</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2.11%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373"/>
                    </a:solidFill>
                  </a:tcPr>
                </a:tc>
                <a:tc>
                  <a:txBody>
                    <a:bodyPr/>
                    <a:lstStyle/>
                    <a:p>
                      <a:pPr algn="ctr" fontAlgn="ctr">
                        <a:buNone/>
                      </a:pPr>
                      <a:r>
                        <a:rPr lang="en-US" sz="1000" b="1" i="0" u="none" strike="noStrike">
                          <a:solidFill>
                            <a:srgbClr val="000000"/>
                          </a:solidFill>
                          <a:effectLst/>
                          <a:latin typeface="Calibri" panose="020F0502020204030204" pitchFamily="34" charset="0"/>
                        </a:rPr>
                        <a:t>1.96%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786D"/>
                    </a:solidFill>
                  </a:tcPr>
                </a:tc>
                <a:tc>
                  <a:txBody>
                    <a:bodyPr/>
                    <a:lstStyle/>
                    <a:p>
                      <a:pPr algn="ctr" fontAlgn="ctr">
                        <a:buNone/>
                      </a:pPr>
                      <a:r>
                        <a:rPr lang="en-US" sz="1000" b="1" i="0" u="none" strike="noStrike">
                          <a:solidFill>
                            <a:srgbClr val="000000"/>
                          </a:solidFill>
                          <a:effectLst/>
                          <a:latin typeface="Calibri" panose="020F0502020204030204" pitchFamily="34" charset="0"/>
                        </a:rPr>
                        <a:t>2.12%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573"/>
                    </a:solidFill>
                  </a:tcPr>
                </a:tc>
                <a:tc>
                  <a:txBody>
                    <a:bodyPr/>
                    <a:lstStyle/>
                    <a:p>
                      <a:pPr algn="ctr" fontAlgn="ctr">
                        <a:buNone/>
                      </a:pPr>
                      <a:r>
                        <a:rPr lang="en-US" sz="1000" b="1" i="0" u="none" strike="noStrike">
                          <a:solidFill>
                            <a:srgbClr val="000000"/>
                          </a:solidFill>
                          <a:effectLst/>
                          <a:latin typeface="Calibri" panose="020F0502020204030204" pitchFamily="34" charset="0"/>
                        </a:rPr>
                        <a:t>2.19%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175"/>
                    </a:solidFill>
                  </a:tcPr>
                </a:tc>
                <a:tc>
                  <a:txBody>
                    <a:bodyPr/>
                    <a:lstStyle/>
                    <a:p>
                      <a:pPr algn="ctr" fontAlgn="ctr">
                        <a:buNone/>
                      </a:pPr>
                      <a:r>
                        <a:rPr lang="en-US" sz="1000" b="1" i="0" u="none" strike="noStrike">
                          <a:solidFill>
                            <a:srgbClr val="000000"/>
                          </a:solidFill>
                          <a:effectLst/>
                          <a:latin typeface="Calibri" panose="020F0502020204030204" pitchFamily="34" charset="0"/>
                        </a:rPr>
                        <a:t>2.18%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075"/>
                    </a:solidFill>
                  </a:tcPr>
                </a:tc>
                <a:tc>
                  <a:txBody>
                    <a:bodyPr/>
                    <a:lstStyle/>
                    <a:p>
                      <a:pPr algn="ctr" fontAlgn="ctr">
                        <a:buNone/>
                      </a:pPr>
                      <a:r>
                        <a:rPr lang="en-US" sz="1000" b="1" i="0" u="none" strike="noStrike">
                          <a:solidFill>
                            <a:srgbClr val="000000"/>
                          </a:solidFill>
                          <a:effectLst/>
                          <a:latin typeface="Calibri" panose="020F0502020204030204" pitchFamily="34" charset="0"/>
                        </a:rPr>
                        <a:t>2.03%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8570"/>
                    </a:solidFill>
                  </a:tcPr>
                </a:tc>
                <a:tc>
                  <a:txBody>
                    <a:bodyPr/>
                    <a:lstStyle/>
                    <a:p>
                      <a:pPr algn="ctr" fontAlgn="ctr">
                        <a:buNone/>
                      </a:pPr>
                      <a:r>
                        <a:rPr lang="en-US" sz="1000" b="1" i="0" u="none" strike="noStrike">
                          <a:solidFill>
                            <a:srgbClr val="000000"/>
                          </a:solidFill>
                          <a:effectLst/>
                          <a:latin typeface="Calibri" panose="020F0502020204030204" pitchFamily="34" charset="0"/>
                        </a:rPr>
                        <a:t>1.87%</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8696B"/>
                    </a:solidFill>
                  </a:tcPr>
                </a:tc>
                <a:extLst>
                  <a:ext uri="{0D108BD9-81ED-4DB2-BD59-A6C34878D82A}">
                    <a16:rowId xmlns:a16="http://schemas.microsoft.com/office/drawing/2014/main" val="1754391358"/>
                  </a:ext>
                </a:extLst>
              </a:tr>
              <a:tr h="159997">
                <a:tc>
                  <a:txBody>
                    <a:bodyPr/>
                    <a:lstStyle/>
                    <a:p>
                      <a:pPr algn="ctr" fontAlgn="b">
                        <a:buNone/>
                      </a:pPr>
                      <a:r>
                        <a:rPr lang="en-US" sz="1000" b="0" i="0" u="none" strike="noStrike">
                          <a:solidFill>
                            <a:srgbClr val="000000"/>
                          </a:solidFill>
                          <a:effectLst/>
                          <a:latin typeface="Calibri" panose="020F0502020204030204" pitchFamily="34" charset="0"/>
                        </a:rPr>
                        <a:t>2</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A6C9EC"/>
                    </a:solidFill>
                  </a:tcPr>
                </a:tc>
                <a:tc>
                  <a:txBody>
                    <a:bodyPr/>
                    <a:lstStyle/>
                    <a:p>
                      <a:pPr algn="ctr" fontAlgn="b">
                        <a:buNone/>
                      </a:pPr>
                      <a:r>
                        <a:rPr lang="en-US" sz="1000" b="0" i="0" u="none" strike="noStrike">
                          <a:solidFill>
                            <a:srgbClr val="000000"/>
                          </a:solidFill>
                          <a:effectLst/>
                          <a:latin typeface="Calibri" panose="020F0502020204030204" pitchFamily="34" charset="0"/>
                        </a:rPr>
                        <a:t>Uttar Pradesh</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A6C9EC"/>
                    </a:solidFill>
                  </a:tcPr>
                </a:tc>
                <a:tc>
                  <a:txBody>
                    <a:bodyPr/>
                    <a:lstStyle/>
                    <a:p>
                      <a:pPr algn="ctr" fontAlgn="ctr">
                        <a:buNone/>
                      </a:pPr>
                      <a:r>
                        <a:rPr lang="en-US" sz="1000" b="1" i="0" u="none" strike="noStrike">
                          <a:solidFill>
                            <a:srgbClr val="000000"/>
                          </a:solidFill>
                          <a:effectLst/>
                          <a:latin typeface="Calibri" panose="020F0502020204030204" pitchFamily="34" charset="0"/>
                        </a:rPr>
                        <a:t>2.77%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9E583"/>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2.70%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2E784"/>
                    </a:solidFill>
                  </a:tcPr>
                </a:tc>
                <a:tc>
                  <a:txBody>
                    <a:bodyPr/>
                    <a:lstStyle/>
                    <a:p>
                      <a:pPr algn="ctr" fontAlgn="ctr">
                        <a:buNone/>
                      </a:pPr>
                      <a:r>
                        <a:rPr lang="en-US" sz="1000" b="1" i="0" u="none" strike="noStrike">
                          <a:solidFill>
                            <a:srgbClr val="000000"/>
                          </a:solidFill>
                          <a:effectLst/>
                          <a:latin typeface="Calibri" panose="020F0502020204030204" pitchFamily="34" charset="0"/>
                        </a:rPr>
                        <a:t>2.94%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4DF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2.92%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D7E0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3.14%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BD881"/>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3.12%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DD881"/>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2.73%</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FE784"/>
                    </a:solidFill>
                  </a:tcPr>
                </a:tc>
                <a:extLst>
                  <a:ext uri="{0D108BD9-81ED-4DB2-BD59-A6C34878D82A}">
                    <a16:rowId xmlns:a16="http://schemas.microsoft.com/office/drawing/2014/main" val="2743357450"/>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1</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b">
                        <a:buNone/>
                      </a:pPr>
                      <a:r>
                        <a:rPr lang="en-US" sz="1000" b="0" i="0" u="none" strike="noStrike" dirty="0">
                          <a:solidFill>
                            <a:srgbClr val="FFFFFF"/>
                          </a:solidFill>
                          <a:effectLst/>
                          <a:latin typeface="Calibri" panose="020F0502020204030204" pitchFamily="34" charset="0"/>
                        </a:rPr>
                        <a:t>Kerala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2.38%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C47C"/>
                    </a:solidFill>
                  </a:tcPr>
                </a:tc>
                <a:tc>
                  <a:txBody>
                    <a:bodyPr/>
                    <a:lstStyle/>
                    <a:p>
                      <a:pPr algn="ctr" fontAlgn="ctr">
                        <a:buNone/>
                      </a:pPr>
                      <a:r>
                        <a:rPr lang="en-US" sz="1000" b="1" i="0" u="none" strike="noStrike">
                          <a:solidFill>
                            <a:srgbClr val="000000"/>
                          </a:solidFill>
                          <a:effectLst/>
                          <a:latin typeface="Calibri" panose="020F0502020204030204" pitchFamily="34" charset="0"/>
                        </a:rPr>
                        <a:t>2.50%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980"/>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2.57%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783"/>
                    </a:solidFill>
                  </a:tcPr>
                </a:tc>
                <a:tc>
                  <a:txBody>
                    <a:bodyPr/>
                    <a:lstStyle/>
                    <a:p>
                      <a:pPr algn="ctr" fontAlgn="ctr">
                        <a:buNone/>
                      </a:pPr>
                      <a:r>
                        <a:rPr lang="en-US" sz="1000" b="1" i="0" u="none" strike="noStrike">
                          <a:solidFill>
                            <a:srgbClr val="000000"/>
                          </a:solidFill>
                          <a:effectLst/>
                          <a:latin typeface="Calibri" panose="020F0502020204030204" pitchFamily="34" charset="0"/>
                        </a:rPr>
                        <a:t>2.79%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7E483"/>
                    </a:solidFill>
                  </a:tcPr>
                </a:tc>
                <a:tc>
                  <a:txBody>
                    <a:bodyPr/>
                    <a:lstStyle/>
                    <a:p>
                      <a:pPr algn="ctr" fontAlgn="ctr">
                        <a:buNone/>
                      </a:pPr>
                      <a:r>
                        <a:rPr lang="en-US" sz="1000" b="1" i="0" u="none" strike="noStrike">
                          <a:solidFill>
                            <a:srgbClr val="000000"/>
                          </a:solidFill>
                          <a:effectLst/>
                          <a:latin typeface="Calibri" panose="020F0502020204030204" pitchFamily="34" charset="0"/>
                        </a:rPr>
                        <a:t>2.70%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E884"/>
                    </a:solidFill>
                  </a:tcPr>
                </a:tc>
                <a:tc>
                  <a:txBody>
                    <a:bodyPr/>
                    <a:lstStyle/>
                    <a:p>
                      <a:pPr algn="ctr" fontAlgn="ctr">
                        <a:buNone/>
                      </a:pPr>
                      <a:r>
                        <a:rPr lang="en-US" sz="1000" b="1" i="0" u="none" strike="noStrike">
                          <a:solidFill>
                            <a:srgbClr val="000000"/>
                          </a:solidFill>
                          <a:effectLst/>
                          <a:latin typeface="Calibri" panose="020F0502020204030204" pitchFamily="34" charset="0"/>
                        </a:rPr>
                        <a:t>2.61%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B84"/>
                    </a:solidFill>
                  </a:tcPr>
                </a:tc>
                <a:tc>
                  <a:txBody>
                    <a:bodyPr/>
                    <a:lstStyle/>
                    <a:p>
                      <a:pPr algn="ctr" fontAlgn="ctr">
                        <a:buNone/>
                      </a:pPr>
                      <a:r>
                        <a:rPr lang="en-US" sz="1000" b="1" i="0" u="none" strike="noStrike">
                          <a:solidFill>
                            <a:srgbClr val="000000"/>
                          </a:solidFill>
                          <a:effectLst/>
                          <a:latin typeface="Calibri" panose="020F0502020204030204" pitchFamily="34" charset="0"/>
                        </a:rPr>
                        <a:t>2.45%</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17F"/>
                    </a:solidFill>
                  </a:tcPr>
                </a:tc>
                <a:extLst>
                  <a:ext uri="{0D108BD9-81ED-4DB2-BD59-A6C34878D82A}">
                    <a16:rowId xmlns:a16="http://schemas.microsoft.com/office/drawing/2014/main" val="2607349207"/>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2</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b">
                        <a:buNone/>
                      </a:pPr>
                      <a:r>
                        <a:rPr lang="en-US" sz="1000" b="0" i="0" u="none" strike="noStrike" dirty="0">
                          <a:solidFill>
                            <a:srgbClr val="FFFFFF"/>
                          </a:solidFill>
                          <a:effectLst/>
                          <a:latin typeface="Calibri" panose="020F0502020204030204" pitchFamily="34" charset="0"/>
                        </a:rPr>
                        <a:t>Tamil Nadu</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4D93D9"/>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2.31%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87A"/>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1.99%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97E6F"/>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2.24%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C77"/>
                    </a:solidFill>
                  </a:tcPr>
                </a:tc>
                <a:tc>
                  <a:txBody>
                    <a:bodyPr/>
                    <a:lstStyle/>
                    <a:p>
                      <a:pPr algn="ctr" fontAlgn="ctr">
                        <a:buNone/>
                      </a:pPr>
                      <a:r>
                        <a:rPr lang="en-US" sz="1000" b="1" i="0" u="none" strike="noStrike">
                          <a:solidFill>
                            <a:srgbClr val="000000"/>
                          </a:solidFill>
                          <a:effectLst/>
                          <a:latin typeface="Calibri" panose="020F0502020204030204" pitchFamily="34" charset="0"/>
                        </a:rPr>
                        <a:t>2.41%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2.33%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BA7A"/>
                    </a:solidFill>
                  </a:tcPr>
                </a:tc>
                <a:tc>
                  <a:txBody>
                    <a:bodyPr/>
                    <a:lstStyle/>
                    <a:p>
                      <a:pPr algn="ctr" fontAlgn="ctr">
                        <a:buNone/>
                      </a:pPr>
                      <a:r>
                        <a:rPr lang="en-US" sz="1000" b="1" i="0" u="none" strike="noStrike">
                          <a:solidFill>
                            <a:srgbClr val="000000"/>
                          </a:solidFill>
                          <a:effectLst/>
                          <a:latin typeface="Calibri" panose="020F0502020204030204" pitchFamily="34" charset="0"/>
                        </a:rPr>
                        <a:t>2.40%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C97D"/>
                    </a:solidFill>
                  </a:tcPr>
                </a:tc>
                <a:tc>
                  <a:txBody>
                    <a:bodyPr/>
                    <a:lstStyle/>
                    <a:p>
                      <a:pPr algn="ctr" fontAlgn="ctr">
                        <a:buNone/>
                      </a:pPr>
                      <a:r>
                        <a:rPr lang="en-US" sz="1000" b="1" i="0" u="none" strike="noStrike">
                          <a:solidFill>
                            <a:srgbClr val="000000"/>
                          </a:solidFill>
                          <a:effectLst/>
                          <a:latin typeface="Calibri" panose="020F0502020204030204" pitchFamily="34" charset="0"/>
                        </a:rPr>
                        <a:t>2.19%</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BA275"/>
                    </a:solidFill>
                  </a:tcPr>
                </a:tc>
                <a:extLst>
                  <a:ext uri="{0D108BD9-81ED-4DB2-BD59-A6C34878D82A}">
                    <a16:rowId xmlns:a16="http://schemas.microsoft.com/office/drawing/2014/main" val="3379079085"/>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3</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4D93D9"/>
                    </a:solidFill>
                  </a:tcPr>
                </a:tc>
                <a:tc>
                  <a:txBody>
                    <a:bodyPr/>
                    <a:lstStyle/>
                    <a:p>
                      <a:pPr algn="ctr" fontAlgn="b">
                        <a:buNone/>
                      </a:pPr>
                      <a:r>
                        <a:rPr lang="en-US" sz="1000" b="0" i="0" u="none" strike="noStrike" dirty="0">
                          <a:solidFill>
                            <a:srgbClr val="FFFFFF"/>
                          </a:solidFill>
                          <a:effectLst/>
                          <a:latin typeface="Calibri" panose="020F0502020204030204" pitchFamily="34" charset="0"/>
                        </a:rPr>
                        <a:t>West Bengal</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4D93D9"/>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2.24%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BAA77"/>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2.27%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BB078"/>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DC77D"/>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2.51%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EDC81"/>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DD47F"/>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2.46%</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DD37F"/>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2.21%</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BA576"/>
                    </a:solidFill>
                  </a:tcPr>
                </a:tc>
                <a:extLst>
                  <a:ext uri="{0D108BD9-81ED-4DB2-BD59-A6C34878D82A}">
                    <a16:rowId xmlns:a16="http://schemas.microsoft.com/office/drawing/2014/main" val="2878432470"/>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1</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b">
                        <a:buNone/>
                      </a:pPr>
                      <a:r>
                        <a:rPr lang="en-US" sz="1000" b="0" i="0" u="none" strike="noStrike">
                          <a:solidFill>
                            <a:srgbClr val="FFFFFF"/>
                          </a:solidFill>
                          <a:effectLst/>
                          <a:latin typeface="Calibri" panose="020F0502020204030204" pitchFamily="34" charset="0"/>
                        </a:rPr>
                        <a:t>Maharashtra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ctr">
                        <a:buNone/>
                      </a:pPr>
                      <a:r>
                        <a:rPr lang="en-US" sz="1000" b="1" i="0" u="none" strike="noStrike">
                          <a:solidFill>
                            <a:srgbClr val="000000"/>
                          </a:solidFill>
                          <a:effectLst/>
                          <a:latin typeface="Calibri" panose="020F0502020204030204" pitchFamily="34" charset="0"/>
                        </a:rPr>
                        <a:t>2.81%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4E483"/>
                    </a:solidFill>
                  </a:tcPr>
                </a:tc>
                <a:tc>
                  <a:txBody>
                    <a:bodyPr/>
                    <a:lstStyle/>
                    <a:p>
                      <a:pPr algn="ctr" fontAlgn="ctr">
                        <a:buNone/>
                      </a:pPr>
                      <a:r>
                        <a:rPr lang="en-US" sz="1000" b="1" i="0" u="none" strike="noStrike">
                          <a:solidFill>
                            <a:srgbClr val="000000"/>
                          </a:solidFill>
                          <a:effectLst/>
                          <a:latin typeface="Calibri" panose="020F0502020204030204" pitchFamily="34" charset="0"/>
                        </a:rPr>
                        <a:t>2.84%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1E383"/>
                    </a:solidFill>
                  </a:tcPr>
                </a:tc>
                <a:tc>
                  <a:txBody>
                    <a:bodyPr/>
                    <a:lstStyle/>
                    <a:p>
                      <a:pPr algn="ctr" fontAlgn="ctr">
                        <a:buNone/>
                      </a:pPr>
                      <a:r>
                        <a:rPr lang="en-US" sz="1000" b="1" i="0" u="none" strike="noStrike">
                          <a:solidFill>
                            <a:srgbClr val="000000"/>
                          </a:solidFill>
                          <a:effectLst/>
                          <a:latin typeface="Calibri" panose="020F0502020204030204" pitchFamily="34" charset="0"/>
                        </a:rPr>
                        <a:t>3.31%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D27F"/>
                    </a:solidFill>
                  </a:tcPr>
                </a:tc>
                <a:tc>
                  <a:txBody>
                    <a:bodyPr/>
                    <a:lstStyle/>
                    <a:p>
                      <a:pPr algn="ctr" fontAlgn="ctr">
                        <a:buNone/>
                      </a:pPr>
                      <a:r>
                        <a:rPr lang="en-US" sz="1000" b="1" i="0" u="none" strike="noStrike">
                          <a:solidFill>
                            <a:srgbClr val="000000"/>
                          </a:solidFill>
                          <a:effectLst/>
                          <a:latin typeface="Calibri" panose="020F0502020204030204" pitchFamily="34" charset="0"/>
                        </a:rPr>
                        <a:t>3.60%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82C77D"/>
                    </a:solidFill>
                  </a:tcPr>
                </a:tc>
                <a:tc>
                  <a:txBody>
                    <a:bodyPr/>
                    <a:lstStyle/>
                    <a:p>
                      <a:pPr algn="ctr" fontAlgn="ctr">
                        <a:buNone/>
                      </a:pPr>
                      <a:r>
                        <a:rPr lang="en-US" sz="1000" b="1" i="0" u="none" strike="noStrike">
                          <a:solidFill>
                            <a:srgbClr val="000000"/>
                          </a:solidFill>
                          <a:effectLst/>
                          <a:latin typeface="Calibri" panose="020F0502020204030204" pitchFamily="34" charset="0"/>
                        </a:rPr>
                        <a:t>3.84%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3BE7B"/>
                    </a:solidFill>
                  </a:tcPr>
                </a:tc>
                <a:tc>
                  <a:txBody>
                    <a:bodyPr/>
                    <a:lstStyle/>
                    <a:p>
                      <a:pPr algn="ctr" fontAlgn="ctr">
                        <a:buNone/>
                      </a:pPr>
                      <a:r>
                        <a:rPr lang="en-US" sz="1000" b="1" i="0" u="none" strike="noStrike">
                          <a:solidFill>
                            <a:srgbClr val="000000"/>
                          </a:solidFill>
                          <a:effectLst/>
                          <a:latin typeface="Calibri" panose="020F0502020204030204" pitchFamily="34" charset="0"/>
                        </a:rPr>
                        <a:t>3.80%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8C07C"/>
                    </a:solidFill>
                  </a:tcPr>
                </a:tc>
                <a:tc>
                  <a:txBody>
                    <a:bodyPr/>
                    <a:lstStyle/>
                    <a:p>
                      <a:pPr algn="ctr" fontAlgn="ctr">
                        <a:buNone/>
                      </a:pPr>
                      <a:r>
                        <a:rPr lang="en-US" sz="1000" b="1" i="0" u="none" strike="noStrike">
                          <a:solidFill>
                            <a:srgbClr val="000000"/>
                          </a:solidFill>
                          <a:effectLst/>
                          <a:latin typeface="Calibri" panose="020F0502020204030204" pitchFamily="34" charset="0"/>
                        </a:rPr>
                        <a:t>3.83%</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65BF7C"/>
                    </a:solidFill>
                  </a:tcPr>
                </a:tc>
                <a:extLst>
                  <a:ext uri="{0D108BD9-81ED-4DB2-BD59-A6C34878D82A}">
                    <a16:rowId xmlns:a16="http://schemas.microsoft.com/office/drawing/2014/main" val="3134343062"/>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2</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b">
                        <a:buNone/>
                      </a:pPr>
                      <a:r>
                        <a:rPr lang="en-US" sz="1000" b="0" i="0" u="none" strike="noStrike">
                          <a:solidFill>
                            <a:srgbClr val="FFFFFF"/>
                          </a:solidFill>
                          <a:effectLst/>
                          <a:latin typeface="Calibri" panose="020F0502020204030204" pitchFamily="34" charset="0"/>
                        </a:rPr>
                        <a:t>Telangana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ctr">
                        <a:buNone/>
                      </a:pPr>
                      <a:r>
                        <a:rPr lang="en-US" sz="1000" b="1" i="0" u="none" strike="noStrike">
                          <a:solidFill>
                            <a:srgbClr val="000000"/>
                          </a:solidFill>
                          <a:effectLst/>
                          <a:latin typeface="Calibri" panose="020F0502020204030204" pitchFamily="34" charset="0"/>
                        </a:rPr>
                        <a:t>2.45%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07E"/>
                    </a:solidFill>
                  </a:tcPr>
                </a:tc>
                <a:tc>
                  <a:txBody>
                    <a:bodyPr/>
                    <a:lstStyle/>
                    <a:p>
                      <a:pPr algn="ctr" fontAlgn="ctr">
                        <a:buNone/>
                      </a:pPr>
                      <a:r>
                        <a:rPr lang="en-US" sz="1000" b="1" i="0" u="none" strike="noStrike">
                          <a:solidFill>
                            <a:srgbClr val="000000"/>
                          </a:solidFill>
                          <a:effectLst/>
                          <a:latin typeface="Calibri" panose="020F0502020204030204" pitchFamily="34" charset="0"/>
                        </a:rPr>
                        <a:t>2.53%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DF81"/>
                    </a:solidFill>
                  </a:tcPr>
                </a:tc>
                <a:tc>
                  <a:txBody>
                    <a:bodyPr/>
                    <a:lstStyle/>
                    <a:p>
                      <a:pPr algn="ctr" fontAlgn="ctr">
                        <a:buNone/>
                      </a:pPr>
                      <a:r>
                        <a:rPr lang="en-US" sz="1000" b="1" i="0" u="none" strike="noStrike">
                          <a:solidFill>
                            <a:srgbClr val="000000"/>
                          </a:solidFill>
                          <a:effectLst/>
                          <a:latin typeface="Calibri" panose="020F0502020204030204" pitchFamily="34" charset="0"/>
                        </a:rPr>
                        <a:t>2.67%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6E984"/>
                    </a:solidFill>
                  </a:tcPr>
                </a:tc>
                <a:tc>
                  <a:txBody>
                    <a:bodyPr/>
                    <a:lstStyle/>
                    <a:p>
                      <a:pPr algn="ctr" fontAlgn="ctr">
                        <a:buNone/>
                      </a:pPr>
                      <a:r>
                        <a:rPr lang="en-US" sz="1000" b="1" i="0" u="none" strike="noStrike">
                          <a:solidFill>
                            <a:srgbClr val="000000"/>
                          </a:solidFill>
                          <a:effectLst/>
                          <a:latin typeface="Calibri" panose="020F0502020204030204" pitchFamily="34" charset="0"/>
                        </a:rPr>
                        <a:t>2.89%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BE182"/>
                    </a:solidFill>
                  </a:tcPr>
                </a:tc>
                <a:tc>
                  <a:txBody>
                    <a:bodyPr/>
                    <a:lstStyle/>
                    <a:p>
                      <a:pPr algn="ctr" fontAlgn="ctr">
                        <a:buNone/>
                      </a:pPr>
                      <a:r>
                        <a:rPr lang="en-US" sz="1000" b="1" i="0" u="none" strike="noStrike">
                          <a:solidFill>
                            <a:srgbClr val="000000"/>
                          </a:solidFill>
                          <a:effectLst/>
                          <a:latin typeface="Calibri" panose="020F0502020204030204" pitchFamily="34" charset="0"/>
                        </a:rPr>
                        <a:t>2.78%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buNone/>
                      </a:pPr>
                      <a:r>
                        <a:rPr lang="en-US" sz="1000" b="1" i="0" u="none" strike="noStrike">
                          <a:solidFill>
                            <a:srgbClr val="000000"/>
                          </a:solidFill>
                          <a:effectLst/>
                          <a:latin typeface="Calibri" panose="020F0502020204030204" pitchFamily="34" charset="0"/>
                        </a:rPr>
                        <a:t>2.69%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3E884"/>
                    </a:solidFill>
                  </a:tcPr>
                </a:tc>
                <a:tc>
                  <a:txBody>
                    <a:bodyPr/>
                    <a:lstStyle/>
                    <a:p>
                      <a:pPr algn="ctr" fontAlgn="ctr">
                        <a:buNone/>
                      </a:pPr>
                      <a:r>
                        <a:rPr lang="en-US" sz="1000" b="1" i="0" u="none" strike="noStrike">
                          <a:solidFill>
                            <a:srgbClr val="000000"/>
                          </a:solidFill>
                          <a:effectLst/>
                          <a:latin typeface="Calibri" panose="020F0502020204030204" pitchFamily="34" charset="0"/>
                        </a:rPr>
                        <a:t>2.54%</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extLst>
                  <a:ext uri="{0D108BD9-81ED-4DB2-BD59-A6C34878D82A}">
                    <a16:rowId xmlns:a16="http://schemas.microsoft.com/office/drawing/2014/main" val="3938263588"/>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3</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b">
                        <a:buNone/>
                      </a:pPr>
                      <a:r>
                        <a:rPr lang="en-US" sz="1000" b="0" i="0" u="none" strike="noStrike" dirty="0">
                          <a:solidFill>
                            <a:srgbClr val="FFFFFF"/>
                          </a:solidFill>
                          <a:effectLst/>
                          <a:latin typeface="Calibri" panose="020F0502020204030204" pitchFamily="34" charset="0"/>
                        </a:rPr>
                        <a:t>Karnataka</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ctr">
                        <a:buNone/>
                      </a:pPr>
                      <a:r>
                        <a:rPr lang="en-US" sz="1000" b="1" i="0" u="none" strike="noStrike">
                          <a:solidFill>
                            <a:srgbClr val="000000"/>
                          </a:solidFill>
                          <a:effectLst/>
                          <a:latin typeface="Calibri" panose="020F0502020204030204" pitchFamily="34" charset="0"/>
                        </a:rPr>
                        <a:t>2.62%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CEA84"/>
                    </a:solidFill>
                  </a:tcPr>
                </a:tc>
                <a:tc>
                  <a:txBody>
                    <a:bodyPr/>
                    <a:lstStyle/>
                    <a:p>
                      <a:pPr algn="ctr" fontAlgn="ctr">
                        <a:buNone/>
                      </a:pPr>
                      <a:r>
                        <a:rPr lang="en-US" sz="1000" b="1" i="0" u="none" strike="noStrike">
                          <a:solidFill>
                            <a:srgbClr val="000000"/>
                          </a:solidFill>
                          <a:effectLst/>
                          <a:latin typeface="Calibri" panose="020F0502020204030204" pitchFamily="34" charset="0"/>
                        </a:rPr>
                        <a:t>2.54%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EE1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2.72%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FE784"/>
                    </a:solidFill>
                  </a:tcPr>
                </a:tc>
                <a:tc>
                  <a:txBody>
                    <a:bodyPr/>
                    <a:lstStyle/>
                    <a:p>
                      <a:pPr algn="ctr" fontAlgn="ctr">
                        <a:buNone/>
                      </a:pPr>
                      <a:r>
                        <a:rPr lang="en-US" sz="1000" b="1" i="0" u="none" strike="noStrike">
                          <a:solidFill>
                            <a:srgbClr val="000000"/>
                          </a:solidFill>
                          <a:effectLst/>
                          <a:latin typeface="Calibri" panose="020F0502020204030204" pitchFamily="34" charset="0"/>
                        </a:rPr>
                        <a:t>2.82%</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tc>
                  <a:txBody>
                    <a:bodyPr/>
                    <a:lstStyle/>
                    <a:p>
                      <a:pPr algn="ctr" fontAlgn="ctr">
                        <a:buNone/>
                      </a:pPr>
                      <a:r>
                        <a:rPr lang="en-US" sz="1000" b="1" i="0" u="none" strike="noStrike">
                          <a:solidFill>
                            <a:srgbClr val="000000"/>
                          </a:solidFill>
                          <a:effectLst/>
                          <a:latin typeface="Calibri" panose="020F0502020204030204" pitchFamily="34" charset="0"/>
                        </a:rPr>
                        <a:t>2.94%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4DF82"/>
                    </a:solidFill>
                  </a:tcPr>
                </a:tc>
                <a:tc>
                  <a:txBody>
                    <a:bodyPr/>
                    <a:lstStyle/>
                    <a:p>
                      <a:pPr algn="ctr" fontAlgn="ctr">
                        <a:buNone/>
                      </a:pPr>
                      <a:r>
                        <a:rPr lang="en-US" sz="1000" b="1" i="0" u="none" strike="noStrike">
                          <a:solidFill>
                            <a:srgbClr val="000000"/>
                          </a:solidFill>
                          <a:effectLst/>
                          <a:latin typeface="Calibri" panose="020F0502020204030204" pitchFamily="34" charset="0"/>
                        </a:rPr>
                        <a:t>2.87%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182"/>
                    </a:solidFill>
                  </a:tcPr>
                </a:tc>
                <a:tc>
                  <a:txBody>
                    <a:bodyPr/>
                    <a:lstStyle/>
                    <a:p>
                      <a:pPr algn="ctr" fontAlgn="ctr">
                        <a:buNone/>
                      </a:pPr>
                      <a:r>
                        <a:rPr lang="en-US" sz="1000" b="1" i="0" u="none" strike="noStrike">
                          <a:solidFill>
                            <a:srgbClr val="000000"/>
                          </a:solidFill>
                          <a:effectLst/>
                          <a:latin typeface="Calibri" panose="020F0502020204030204" pitchFamily="34" charset="0"/>
                        </a:rPr>
                        <a:t>2.84%</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0E283"/>
                    </a:solidFill>
                  </a:tcPr>
                </a:tc>
                <a:extLst>
                  <a:ext uri="{0D108BD9-81ED-4DB2-BD59-A6C34878D82A}">
                    <a16:rowId xmlns:a16="http://schemas.microsoft.com/office/drawing/2014/main" val="4227211246"/>
                  </a:ext>
                </a:extLst>
              </a:tr>
              <a:tr h="159997">
                <a:tc>
                  <a:txBody>
                    <a:bodyPr/>
                    <a:lstStyle/>
                    <a:p>
                      <a:pPr algn="ctr" fontAlgn="b">
                        <a:buNone/>
                      </a:pPr>
                      <a:r>
                        <a:rPr lang="en-US" sz="1000" b="0" i="0" u="none" strike="noStrike" dirty="0">
                          <a:solidFill>
                            <a:srgbClr val="FFFFFF"/>
                          </a:solidFill>
                          <a:effectLst/>
                          <a:latin typeface="Calibri" panose="020F0502020204030204" pitchFamily="34" charset="0"/>
                        </a:rPr>
                        <a:t>4</a:t>
                      </a:r>
                    </a:p>
                  </a:txBody>
                  <a:tcPr marL="4189" marR="4189" marT="4189" marB="0" anchor="b">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b">
                        <a:buNone/>
                      </a:pPr>
                      <a:r>
                        <a:rPr lang="en-US" sz="1000" b="0" i="0" u="none" strike="noStrike" dirty="0">
                          <a:solidFill>
                            <a:srgbClr val="FFFFFF"/>
                          </a:solidFill>
                          <a:effectLst/>
                          <a:latin typeface="Calibri" panose="020F0502020204030204" pitchFamily="34" charset="0"/>
                        </a:rPr>
                        <a:t>Delhi</a:t>
                      </a:r>
                    </a:p>
                  </a:txBody>
                  <a:tcPr marL="4189" marR="4189" marT="4189"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215C98"/>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2.49%</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DD880"/>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2.17%</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9E75"/>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2.64%</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AEA84"/>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2.78%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E583"/>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2.91%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E0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2.98%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FDE82"/>
                    </a:solidFill>
                  </a:tcPr>
                </a:tc>
                <a:tc>
                  <a:txBody>
                    <a:bodyPr/>
                    <a:lstStyle/>
                    <a:p>
                      <a:pPr algn="ctr" fontAlgn="ctr">
                        <a:buNone/>
                      </a:pPr>
                      <a:r>
                        <a:rPr lang="en-US" sz="1000" b="1" i="0" u="none" strike="noStrike" dirty="0">
                          <a:solidFill>
                            <a:srgbClr val="000000"/>
                          </a:solidFill>
                          <a:effectLst/>
                          <a:latin typeface="Calibri" panose="020F0502020204030204" pitchFamily="34" charset="0"/>
                        </a:rPr>
                        <a:t>2.82%</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E383"/>
                    </a:solidFill>
                  </a:tcPr>
                </a:tc>
                <a:extLst>
                  <a:ext uri="{0D108BD9-81ED-4DB2-BD59-A6C34878D82A}">
                    <a16:rowId xmlns:a16="http://schemas.microsoft.com/office/drawing/2014/main" val="1272509917"/>
                  </a:ext>
                </a:extLst>
              </a:tr>
              <a:tr h="159997">
                <a:tc gridSpan="2">
                  <a:txBody>
                    <a:bodyPr/>
                    <a:lstStyle/>
                    <a:p>
                      <a:pPr algn="ctr" fontAlgn="ctr">
                        <a:buNone/>
                      </a:pPr>
                      <a:r>
                        <a:rPr lang="en-US" sz="1000" b="1" i="0" u="none" strike="noStrike">
                          <a:solidFill>
                            <a:srgbClr val="FFFFFF"/>
                          </a:solidFill>
                          <a:effectLst/>
                          <a:latin typeface="Calibri" panose="020F0502020204030204" pitchFamily="34" charset="0"/>
                        </a:rPr>
                        <a:t>National Total</a:t>
                      </a:r>
                    </a:p>
                  </a:txBody>
                  <a:tcPr marL="4189" marR="4189" marT="4189" marB="0" anchor="ctr">
                    <a:lnL w="1905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244062"/>
                    </a:solidFill>
                  </a:tcPr>
                </a:tc>
                <a:tc hMerge="1">
                  <a:txBody>
                    <a:bodyPr/>
                    <a:lstStyle/>
                    <a:p>
                      <a:endParaRPr lang="en-US"/>
                    </a:p>
                  </a:txBody>
                  <a:tcPr/>
                </a:tc>
                <a:tc>
                  <a:txBody>
                    <a:bodyPr/>
                    <a:lstStyle/>
                    <a:p>
                      <a:pPr algn="ctr" fontAlgn="ctr">
                        <a:buNone/>
                      </a:pPr>
                      <a:r>
                        <a:rPr lang="en-US" sz="1000" b="1" i="0" u="none" strike="noStrike" dirty="0">
                          <a:solidFill>
                            <a:srgbClr val="FFFFFF"/>
                          </a:solidFill>
                          <a:effectLst/>
                          <a:latin typeface="Calibri" panose="020F0502020204030204" pitchFamily="34" charset="0"/>
                        </a:rPr>
                        <a:t>2.51%</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a:solidFill>
                            <a:srgbClr val="FFFFFF"/>
                          </a:solidFill>
                          <a:effectLst/>
                          <a:latin typeface="Calibri" panose="020F0502020204030204" pitchFamily="34" charset="0"/>
                        </a:rPr>
                        <a:t>2.48%</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a:solidFill>
                            <a:srgbClr val="FFFFFF"/>
                          </a:solidFill>
                          <a:effectLst/>
                          <a:latin typeface="Calibri" panose="020F0502020204030204" pitchFamily="34" charset="0"/>
                        </a:rPr>
                        <a:t>2.73%</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a:solidFill>
                            <a:srgbClr val="FFFFFF"/>
                          </a:solidFill>
                          <a:effectLst/>
                          <a:latin typeface="Calibri" panose="020F0502020204030204" pitchFamily="34" charset="0"/>
                        </a:rPr>
                        <a:t>2.85%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2.90%</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2.95%</a:t>
                      </a:r>
                    </a:p>
                  </a:txBody>
                  <a:tcPr marL="4189" marR="4189" marT="418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tc>
                  <a:txBody>
                    <a:bodyPr/>
                    <a:lstStyle/>
                    <a:p>
                      <a:pPr algn="ctr" fontAlgn="ctr">
                        <a:buNone/>
                      </a:pPr>
                      <a:r>
                        <a:rPr lang="en-US" sz="1000" b="1" i="0" u="none" strike="noStrike" dirty="0">
                          <a:solidFill>
                            <a:srgbClr val="FFFFFF"/>
                          </a:solidFill>
                          <a:effectLst/>
                          <a:latin typeface="Calibri" panose="020F0502020204030204" pitchFamily="34" charset="0"/>
                        </a:rPr>
                        <a:t>2.98%</a:t>
                      </a:r>
                    </a:p>
                  </a:txBody>
                  <a:tcPr marL="4189" marR="4189" marT="4189" marB="0" anchor="ctr">
                    <a:lnL w="6350" cap="flat" cmpd="sng" algn="ctr">
                      <a:solidFill>
                        <a:srgbClr val="000000"/>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1F4E78"/>
                    </a:solidFill>
                  </a:tcPr>
                </a:tc>
                <a:extLst>
                  <a:ext uri="{0D108BD9-81ED-4DB2-BD59-A6C34878D82A}">
                    <a16:rowId xmlns:a16="http://schemas.microsoft.com/office/drawing/2014/main" val="3653630650"/>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444"/>
        <p:cNvGrpSpPr/>
        <p:nvPr/>
      </p:nvGrpSpPr>
      <p:grpSpPr>
        <a:xfrm>
          <a:off x="0" y="0"/>
          <a:ext cx="0" cy="0"/>
          <a:chOff x="0" y="0"/>
          <a:chExt cx="0" cy="0"/>
        </a:xfrm>
      </p:grpSpPr>
      <p:sp>
        <p:nvSpPr>
          <p:cNvPr id="445" name="Google Shape;445;p27"/>
          <p:cNvSpPr/>
          <p:nvPr/>
        </p:nvSpPr>
        <p:spPr>
          <a:xfrm>
            <a:off x="0" y="832103"/>
            <a:ext cx="9144000" cy="4311650"/>
          </a:xfrm>
          <a:custGeom>
            <a:avLst/>
            <a:gdLst/>
            <a:ahLst/>
            <a:cxnLst/>
            <a:rect l="l" t="t" r="r" b="b"/>
            <a:pathLst>
              <a:path w="9144000" h="4311650" extrusionOk="0">
                <a:moveTo>
                  <a:pt x="0" y="4311395"/>
                </a:moveTo>
                <a:lnTo>
                  <a:pt x="9144000" y="4311395"/>
                </a:lnTo>
                <a:lnTo>
                  <a:pt x="9144000" y="0"/>
                </a:lnTo>
                <a:lnTo>
                  <a:pt x="0" y="0"/>
                </a:lnTo>
                <a:lnTo>
                  <a:pt x="0" y="4311395"/>
                </a:lnTo>
                <a:close/>
              </a:path>
            </a:pathLst>
          </a:custGeom>
          <a:solidFill>
            <a:srgbClr val="F4F6F8"/>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grpSp>
        <p:nvGrpSpPr>
          <p:cNvPr id="446" name="Google Shape;446;p27"/>
          <p:cNvGrpSpPr/>
          <p:nvPr/>
        </p:nvGrpSpPr>
        <p:grpSpPr>
          <a:xfrm>
            <a:off x="0" y="-63"/>
            <a:ext cx="9144000" cy="832511"/>
            <a:chOff x="0" y="-63"/>
            <a:chExt cx="9144000" cy="832511"/>
          </a:xfrm>
        </p:grpSpPr>
        <p:sp>
          <p:nvSpPr>
            <p:cNvPr id="447" name="Google Shape;447;p27"/>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48" name="Google Shape;448;p27"/>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no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49" name="Google Shape;449;p27"/>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50" name="Google Shape;450;p27"/>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51" name="Google Shape;451;p27"/>
          <p:cNvSpPr txBox="1">
            <a:spLocks noGrp="1"/>
          </p:cNvSpPr>
          <p:nvPr>
            <p:ph type="title"/>
          </p:nvPr>
        </p:nvSpPr>
        <p:spPr>
          <a:xfrm>
            <a:off x="444500" y="159511"/>
            <a:ext cx="6854700" cy="2541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500">
                <a:solidFill>
                  <a:srgbClr val="FFFFFF"/>
                </a:solidFill>
              </a:rPr>
              <a:t>STRUCTURAL GAP: GST / GSDP RATIO — ALL STATES VERIFIED (CBIC + STATE SURVEYS)</a:t>
            </a:r>
            <a:endParaRPr sz="1500"/>
          </a:p>
        </p:txBody>
      </p:sp>
      <p:sp>
        <p:nvSpPr>
          <p:cNvPr id="452" name="Google Shape;452;p27"/>
          <p:cNvSpPr txBox="1"/>
          <p:nvPr/>
        </p:nvSpPr>
        <p:spPr>
          <a:xfrm>
            <a:off x="444500" y="610870"/>
            <a:ext cx="3663300" cy="1479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800" i="1">
                <a:solidFill>
                  <a:srgbClr val="EFD080"/>
                </a:solidFill>
                <a:latin typeface="Calibri"/>
                <a:ea typeface="Calibri"/>
                <a:cs typeface="Calibri"/>
                <a:sym typeface="Calibri"/>
              </a:rPr>
              <a:t>Source: Post-Settlement SGST (CBIC) ÷ State GSDP (Official Economic Surveys / PRS India)</a:t>
            </a:r>
            <a:endParaRPr sz="800">
              <a:latin typeface="Calibri"/>
              <a:ea typeface="Calibri"/>
              <a:cs typeface="Calibri"/>
              <a:sym typeface="Calibri"/>
            </a:endParaRPr>
          </a:p>
        </p:txBody>
      </p:sp>
      <p:grpSp>
        <p:nvGrpSpPr>
          <p:cNvPr id="453" name="Google Shape;453;p27"/>
          <p:cNvGrpSpPr/>
          <p:nvPr/>
        </p:nvGrpSpPr>
        <p:grpSpPr>
          <a:xfrm>
            <a:off x="91439" y="832102"/>
            <a:ext cx="5197601" cy="4190238"/>
            <a:chOff x="91439" y="832102"/>
            <a:chExt cx="5197601" cy="4190238"/>
          </a:xfrm>
        </p:grpSpPr>
        <p:pic>
          <p:nvPicPr>
            <p:cNvPr id="454" name="Google Shape;454;p27"/>
            <p:cNvPicPr preferRelativeResize="0"/>
            <p:nvPr/>
          </p:nvPicPr>
          <p:blipFill rotWithShape="1">
            <a:blip r:embed="rId3">
              <a:alphaModFix/>
            </a:blip>
            <a:srcRect/>
            <a:stretch/>
          </p:blipFill>
          <p:spPr>
            <a:xfrm>
              <a:off x="91439" y="832102"/>
              <a:ext cx="5197601" cy="4190238"/>
            </a:xfrm>
            <a:prstGeom prst="rect">
              <a:avLst/>
            </a:prstGeom>
            <a:noFill/>
            <a:ln>
              <a:noFill/>
            </a:ln>
          </p:spPr>
        </p:pic>
        <p:sp>
          <p:nvSpPr>
            <p:cNvPr id="455" name="Google Shape;455;p27"/>
            <p:cNvSpPr/>
            <p:nvPr/>
          </p:nvSpPr>
          <p:spPr>
            <a:xfrm>
              <a:off x="228600" y="914463"/>
              <a:ext cx="4984115" cy="3977640"/>
            </a:xfrm>
            <a:custGeom>
              <a:avLst/>
              <a:gdLst/>
              <a:ahLst/>
              <a:cxnLst/>
              <a:rect l="l" t="t" r="r" b="b"/>
              <a:pathLst>
                <a:path w="4984115" h="3977640" extrusionOk="0">
                  <a:moveTo>
                    <a:pt x="4983607" y="0"/>
                  </a:moveTo>
                  <a:lnTo>
                    <a:pt x="0" y="0"/>
                  </a:lnTo>
                  <a:lnTo>
                    <a:pt x="0" y="3977640"/>
                  </a:lnTo>
                  <a:lnTo>
                    <a:pt x="4983607" y="3977640"/>
                  </a:lnTo>
                  <a:lnTo>
                    <a:pt x="49836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56" name="Google Shape;456;p27"/>
            <p:cNvSpPr/>
            <p:nvPr/>
          </p:nvSpPr>
          <p:spPr>
            <a:xfrm>
              <a:off x="228600" y="914463"/>
              <a:ext cx="4984115" cy="3977640"/>
            </a:xfrm>
            <a:custGeom>
              <a:avLst/>
              <a:gdLst/>
              <a:ahLst/>
              <a:cxnLst/>
              <a:rect l="l" t="t" r="r" b="b"/>
              <a:pathLst>
                <a:path w="4984115" h="3977640" extrusionOk="0">
                  <a:moveTo>
                    <a:pt x="0" y="3977640"/>
                  </a:moveTo>
                  <a:lnTo>
                    <a:pt x="4983607" y="3977640"/>
                  </a:lnTo>
                  <a:lnTo>
                    <a:pt x="4983607" y="0"/>
                  </a:lnTo>
                  <a:lnTo>
                    <a:pt x="0" y="0"/>
                  </a:lnTo>
                  <a:lnTo>
                    <a:pt x="0" y="397764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57" name="Google Shape;457;p27"/>
          <p:cNvSpPr txBox="1"/>
          <p:nvPr/>
        </p:nvSpPr>
        <p:spPr>
          <a:xfrm>
            <a:off x="444500" y="1071347"/>
            <a:ext cx="3517800" cy="1815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100" b="1">
                <a:solidFill>
                  <a:srgbClr val="1B2A49"/>
                </a:solidFill>
                <a:latin typeface="Calibri"/>
                <a:ea typeface="Calibri"/>
                <a:cs typeface="Calibri"/>
                <a:sym typeface="Calibri"/>
              </a:rPr>
              <a:t>GST / GSDP RATIO — STATE COMPARISON</a:t>
            </a:r>
            <a:endParaRPr sz="1100">
              <a:latin typeface="Calibri"/>
              <a:ea typeface="Calibri"/>
              <a:cs typeface="Calibri"/>
              <a:sym typeface="Calibri"/>
            </a:endParaRPr>
          </a:p>
        </p:txBody>
      </p:sp>
      <p:grpSp>
        <p:nvGrpSpPr>
          <p:cNvPr id="458" name="Google Shape;458;p27"/>
          <p:cNvGrpSpPr/>
          <p:nvPr/>
        </p:nvGrpSpPr>
        <p:grpSpPr>
          <a:xfrm>
            <a:off x="5257800" y="832102"/>
            <a:ext cx="3734562" cy="4190238"/>
            <a:chOff x="5257800" y="832102"/>
            <a:chExt cx="3734562" cy="4190238"/>
          </a:xfrm>
        </p:grpSpPr>
        <p:pic>
          <p:nvPicPr>
            <p:cNvPr id="459" name="Google Shape;459;p27"/>
            <p:cNvPicPr preferRelativeResize="0"/>
            <p:nvPr/>
          </p:nvPicPr>
          <p:blipFill rotWithShape="1">
            <a:blip r:embed="rId4">
              <a:alphaModFix/>
            </a:blip>
            <a:srcRect/>
            <a:stretch/>
          </p:blipFill>
          <p:spPr>
            <a:xfrm>
              <a:off x="5257800" y="832102"/>
              <a:ext cx="3734561" cy="4190238"/>
            </a:xfrm>
            <a:prstGeom prst="rect">
              <a:avLst/>
            </a:prstGeom>
            <a:noFill/>
            <a:ln>
              <a:noFill/>
            </a:ln>
          </p:spPr>
        </p:pic>
        <p:sp>
          <p:nvSpPr>
            <p:cNvPr id="460" name="Google Shape;460;p27"/>
            <p:cNvSpPr/>
            <p:nvPr/>
          </p:nvSpPr>
          <p:spPr>
            <a:xfrm>
              <a:off x="5394960" y="914463"/>
              <a:ext cx="3520440" cy="3977640"/>
            </a:xfrm>
            <a:custGeom>
              <a:avLst/>
              <a:gdLst/>
              <a:ahLst/>
              <a:cxnLst/>
              <a:rect l="l" t="t" r="r" b="b"/>
              <a:pathLst>
                <a:path w="3520440" h="3977640" extrusionOk="0">
                  <a:moveTo>
                    <a:pt x="3520440" y="0"/>
                  </a:moveTo>
                  <a:lnTo>
                    <a:pt x="0" y="0"/>
                  </a:lnTo>
                  <a:lnTo>
                    <a:pt x="0" y="3977640"/>
                  </a:lnTo>
                  <a:lnTo>
                    <a:pt x="3520440" y="3977640"/>
                  </a:lnTo>
                  <a:lnTo>
                    <a:pt x="3520440"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61" name="Google Shape;461;p27"/>
            <p:cNvSpPr/>
            <p:nvPr/>
          </p:nvSpPr>
          <p:spPr>
            <a:xfrm>
              <a:off x="5394960" y="914463"/>
              <a:ext cx="3520440" cy="3977640"/>
            </a:xfrm>
            <a:custGeom>
              <a:avLst/>
              <a:gdLst/>
              <a:ahLst/>
              <a:cxnLst/>
              <a:rect l="l" t="t" r="r" b="b"/>
              <a:pathLst>
                <a:path w="3520440" h="3977640" extrusionOk="0">
                  <a:moveTo>
                    <a:pt x="0" y="3977640"/>
                  </a:moveTo>
                  <a:lnTo>
                    <a:pt x="3520440" y="3977640"/>
                  </a:lnTo>
                  <a:lnTo>
                    <a:pt x="3520440" y="0"/>
                  </a:lnTo>
                  <a:lnTo>
                    <a:pt x="0" y="0"/>
                  </a:lnTo>
                  <a:lnTo>
                    <a:pt x="0" y="3977640"/>
                  </a:lnTo>
                  <a:close/>
                </a:path>
              </a:pathLst>
            </a:custGeom>
            <a:noFill/>
            <a:ln w="12700" cap="flat" cmpd="sng">
              <a:solidFill>
                <a:srgbClr val="DFE6E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62" name="Google Shape;462;p27"/>
          <p:cNvSpPr txBox="1"/>
          <p:nvPr/>
        </p:nvSpPr>
        <p:spPr>
          <a:xfrm>
            <a:off x="5418201" y="1080562"/>
            <a:ext cx="3489300" cy="196800"/>
          </a:xfrm>
          <a:prstGeom prst="rect">
            <a:avLst/>
          </a:prstGeom>
          <a:solidFill>
            <a:srgbClr val="1B2A49"/>
          </a:solid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200" b="1">
                <a:solidFill>
                  <a:schemeClr val="lt1"/>
                </a:solidFill>
                <a:latin typeface="Calibri"/>
                <a:ea typeface="Calibri"/>
                <a:cs typeface="Calibri"/>
                <a:sym typeface="Calibri"/>
              </a:rPr>
              <a:t>HOW CAN WE CLOSE THE GAP?</a:t>
            </a:r>
            <a:endParaRPr sz="1200">
              <a:solidFill>
                <a:schemeClr val="lt1"/>
              </a:solidFill>
              <a:latin typeface="Calibri"/>
              <a:ea typeface="Calibri"/>
              <a:cs typeface="Calibri"/>
              <a:sym typeface="Calibri"/>
            </a:endParaRPr>
          </a:p>
        </p:txBody>
      </p:sp>
      <p:sp>
        <p:nvSpPr>
          <p:cNvPr id="463" name="Google Shape;463;p27"/>
          <p:cNvSpPr txBox="1"/>
          <p:nvPr/>
        </p:nvSpPr>
        <p:spPr>
          <a:xfrm>
            <a:off x="5524880" y="1359426"/>
            <a:ext cx="3200400" cy="3334200"/>
          </a:xfrm>
          <a:prstGeom prst="rect">
            <a:avLst/>
          </a:prstGeom>
          <a:noFill/>
          <a:ln>
            <a:noFill/>
          </a:ln>
        </p:spPr>
        <p:txBody>
          <a:bodyPr spcFirstLastPara="1" wrap="square" lIns="0" tIns="12700" rIns="0" bIns="0" anchor="t" anchorCtr="0">
            <a:spAutoFit/>
          </a:bodyPr>
          <a:lstStyle/>
          <a:p>
            <a:pPr marL="12700" marR="5080" lvl="0" indent="0" algn="l" rtl="0">
              <a:spcBef>
                <a:spcPts val="0"/>
              </a:spcBef>
              <a:spcAft>
                <a:spcPts val="0"/>
              </a:spcAft>
              <a:buNone/>
            </a:pPr>
            <a:br>
              <a:rPr lang="en-US" sz="1100" b="1">
                <a:solidFill>
                  <a:srgbClr val="C0392B"/>
                </a:solidFill>
                <a:latin typeface="Calibri"/>
                <a:ea typeface="Calibri"/>
                <a:cs typeface="Calibri"/>
                <a:sym typeface="Calibri"/>
              </a:rPr>
            </a:br>
            <a:r>
              <a:rPr lang="en-US" sz="1100" b="1">
                <a:solidFill>
                  <a:srgbClr val="C0392B"/>
                </a:solidFill>
                <a:latin typeface="Calibri"/>
                <a:ea typeface="Calibri"/>
                <a:cs typeface="Calibri"/>
                <a:sym typeface="Calibri"/>
              </a:rPr>
              <a:t>1. Sectoral Analysis: </a:t>
            </a:r>
            <a:r>
              <a:rPr lang="en-US" sz="900">
                <a:solidFill>
                  <a:srgbClr val="495468"/>
                </a:solidFill>
                <a:latin typeface="Calibri"/>
                <a:ea typeface="Calibri"/>
                <a:cs typeface="Calibri"/>
                <a:sym typeface="Calibri"/>
              </a:rPr>
              <a:t>A deep dive into sectoral analysis is required to predict the causes of the gap in GST to GSDP Revenue data. Already, our service sector in GSDP contributes nearly 47.7%, but as per the GST Revenue, the contribution is close to 25%.</a:t>
            </a:r>
            <a:endParaRPr/>
          </a:p>
          <a:p>
            <a:pPr marL="12700" marR="5080" lvl="0" indent="0" algn="l" rtl="0">
              <a:spcBef>
                <a:spcPts val="100"/>
              </a:spcBef>
              <a:spcAft>
                <a:spcPts val="0"/>
              </a:spcAft>
              <a:buNone/>
            </a:pPr>
            <a:endParaRPr sz="900">
              <a:solidFill>
                <a:srgbClr val="495468"/>
              </a:solidFill>
              <a:latin typeface="Calibri"/>
              <a:ea typeface="Calibri"/>
              <a:cs typeface="Calibri"/>
              <a:sym typeface="Calibri"/>
            </a:endParaRPr>
          </a:p>
          <a:p>
            <a:pPr marL="12700" marR="5080" lvl="0" indent="0" algn="l" rtl="0">
              <a:lnSpc>
                <a:spcPct val="100000"/>
              </a:lnSpc>
              <a:spcBef>
                <a:spcPts val="100"/>
              </a:spcBef>
              <a:spcAft>
                <a:spcPts val="0"/>
              </a:spcAft>
              <a:buNone/>
            </a:pPr>
            <a:r>
              <a:rPr lang="en-US" sz="1100" b="1">
                <a:solidFill>
                  <a:srgbClr val="C0392B"/>
                </a:solidFill>
                <a:latin typeface="Calibri"/>
                <a:ea typeface="Calibri"/>
                <a:cs typeface="Calibri"/>
                <a:sym typeface="Calibri"/>
              </a:rPr>
              <a:t>2. New Focused theme-based Scrutiny &amp; Audit: </a:t>
            </a:r>
            <a:r>
              <a:rPr lang="en-US" sz="900">
                <a:solidFill>
                  <a:srgbClr val="495468"/>
                </a:solidFill>
                <a:latin typeface="Calibri"/>
                <a:ea typeface="Calibri"/>
                <a:cs typeface="Calibri"/>
                <a:sym typeface="Calibri"/>
              </a:rPr>
              <a:t>A thematic Scrutiny and Audit will be conducted on sectors contributing lower revenue, though have higher contribution in the GSDP. </a:t>
            </a:r>
            <a:endParaRPr/>
          </a:p>
          <a:p>
            <a:pPr marL="12700" marR="5080" lvl="0" indent="0" algn="l" rtl="0">
              <a:lnSpc>
                <a:spcPct val="100000"/>
              </a:lnSpc>
              <a:spcBef>
                <a:spcPts val="100"/>
              </a:spcBef>
              <a:spcAft>
                <a:spcPts val="0"/>
              </a:spcAft>
              <a:buNone/>
            </a:pPr>
            <a:endParaRPr sz="900" b="1">
              <a:solidFill>
                <a:srgbClr val="495468"/>
              </a:solidFill>
              <a:latin typeface="Calibri"/>
              <a:ea typeface="Calibri"/>
              <a:cs typeface="Calibri"/>
              <a:sym typeface="Calibri"/>
            </a:endParaRPr>
          </a:p>
          <a:p>
            <a:pPr marL="12700" marR="5080" lvl="0" indent="0" algn="l" rtl="0">
              <a:lnSpc>
                <a:spcPct val="100000"/>
              </a:lnSpc>
              <a:spcBef>
                <a:spcPts val="100"/>
              </a:spcBef>
              <a:spcAft>
                <a:spcPts val="0"/>
              </a:spcAft>
              <a:buNone/>
            </a:pPr>
            <a:r>
              <a:rPr lang="en-US" sz="1100" b="1">
                <a:solidFill>
                  <a:srgbClr val="C0392B"/>
                </a:solidFill>
                <a:latin typeface="Calibri"/>
                <a:ea typeface="Calibri"/>
                <a:cs typeface="Calibri"/>
                <a:sym typeface="Calibri"/>
              </a:rPr>
              <a:t>3. Inter-Department Data Integration- </a:t>
            </a:r>
            <a:r>
              <a:rPr lang="en-US" sz="900">
                <a:solidFill>
                  <a:srgbClr val="495468"/>
                </a:solidFill>
                <a:latin typeface="Calibri"/>
                <a:ea typeface="Calibri"/>
                <a:cs typeface="Calibri"/>
                <a:sym typeface="Calibri"/>
              </a:rPr>
              <a:t>Data Integrations with multiple departments, like Electricity, Mining, Stamps and Registrations, will definitely provide new leads in sectors where contribution is relatively lower. This will also open an avenue for the enhancement of the current taxpayer base.</a:t>
            </a:r>
            <a:endParaRPr/>
          </a:p>
          <a:p>
            <a:pPr marL="12700" marR="5080" lvl="0" indent="0" algn="l" rtl="0">
              <a:lnSpc>
                <a:spcPct val="100000"/>
              </a:lnSpc>
              <a:spcBef>
                <a:spcPts val="100"/>
              </a:spcBef>
              <a:spcAft>
                <a:spcPts val="0"/>
              </a:spcAft>
              <a:buNone/>
            </a:pPr>
            <a:endParaRPr sz="900">
              <a:solidFill>
                <a:srgbClr val="495468"/>
              </a:solidFill>
              <a:latin typeface="Calibri"/>
              <a:ea typeface="Calibri"/>
              <a:cs typeface="Calibri"/>
              <a:sym typeface="Calibri"/>
            </a:endParaRPr>
          </a:p>
          <a:p>
            <a:pPr marL="12700" marR="5080" lvl="0" indent="0" algn="l" rtl="0">
              <a:spcBef>
                <a:spcPts val="100"/>
              </a:spcBef>
              <a:spcAft>
                <a:spcPts val="0"/>
              </a:spcAft>
              <a:buNone/>
            </a:pPr>
            <a:r>
              <a:rPr lang="en-US" sz="1100" b="1">
                <a:solidFill>
                  <a:srgbClr val="C0392B"/>
                </a:solidFill>
                <a:latin typeface="Calibri"/>
                <a:ea typeface="Calibri"/>
                <a:cs typeface="Calibri"/>
                <a:sym typeface="Calibri"/>
              </a:rPr>
              <a:t>4. Focus on Top Taxpayers — </a:t>
            </a:r>
            <a:r>
              <a:rPr lang="en-US" sz="900">
                <a:solidFill>
                  <a:srgbClr val="495468"/>
                </a:solidFill>
                <a:latin typeface="Calibri"/>
                <a:ea typeface="Calibri"/>
                <a:cs typeface="Calibri"/>
                <a:sym typeface="Calibri"/>
              </a:rPr>
              <a:t>Peer-to-peer comparison of Top Taxpayers, especially in the service sector, to track sector outliers in terms of ITC%, Cash Deposits, and GST Tax Liability vs Turnover comparison.</a:t>
            </a:r>
            <a:endParaRPr/>
          </a:p>
          <a:p>
            <a:pPr marL="12700" marR="5080" lvl="0" indent="0" algn="l" rtl="0">
              <a:lnSpc>
                <a:spcPct val="100000"/>
              </a:lnSpc>
              <a:spcBef>
                <a:spcPts val="100"/>
              </a:spcBef>
              <a:spcAft>
                <a:spcPts val="0"/>
              </a:spcAft>
              <a:buNone/>
            </a:pPr>
            <a:endParaRPr sz="1100">
              <a:solidFill>
                <a:srgbClr val="2C3747"/>
              </a:solidFill>
              <a:latin typeface="Calibri"/>
              <a:ea typeface="Calibri"/>
              <a:cs typeface="Calibri"/>
              <a:sym typeface="Calibri"/>
            </a:endParaRPr>
          </a:p>
        </p:txBody>
      </p:sp>
      <p:graphicFrame>
        <p:nvGraphicFramePr>
          <p:cNvPr id="464" name="Google Shape;464;p27"/>
          <p:cNvGraphicFramePr/>
          <p:nvPr/>
        </p:nvGraphicFramePr>
        <p:xfrm>
          <a:off x="317946" y="1728181"/>
          <a:ext cx="4762850" cy="1294095"/>
        </p:xfrm>
        <a:graphic>
          <a:graphicData uri="http://schemas.openxmlformats.org/drawingml/2006/table">
            <a:tbl>
              <a:tblPr>
                <a:noFill/>
                <a:tableStyleId>{C0668F59-ACE9-41EE-BF83-7E9F5C155E1C}</a:tableStyleId>
              </a:tblPr>
              <a:tblGrid>
                <a:gridCol w="246350">
                  <a:extLst>
                    <a:ext uri="{9D8B030D-6E8A-4147-A177-3AD203B41FA5}">
                      <a16:colId xmlns:a16="http://schemas.microsoft.com/office/drawing/2014/main" val="20000"/>
                    </a:ext>
                  </a:extLst>
                </a:gridCol>
                <a:gridCol w="903300">
                  <a:extLst>
                    <a:ext uri="{9D8B030D-6E8A-4147-A177-3AD203B41FA5}">
                      <a16:colId xmlns:a16="http://schemas.microsoft.com/office/drawing/2014/main" val="20001"/>
                    </a:ext>
                  </a:extLst>
                </a:gridCol>
                <a:gridCol w="451650">
                  <a:extLst>
                    <a:ext uri="{9D8B030D-6E8A-4147-A177-3AD203B41FA5}">
                      <a16:colId xmlns:a16="http://schemas.microsoft.com/office/drawing/2014/main" val="20002"/>
                    </a:ext>
                  </a:extLst>
                </a:gridCol>
                <a:gridCol w="451650">
                  <a:extLst>
                    <a:ext uri="{9D8B030D-6E8A-4147-A177-3AD203B41FA5}">
                      <a16:colId xmlns:a16="http://schemas.microsoft.com/office/drawing/2014/main" val="20003"/>
                    </a:ext>
                  </a:extLst>
                </a:gridCol>
                <a:gridCol w="451650">
                  <a:extLst>
                    <a:ext uri="{9D8B030D-6E8A-4147-A177-3AD203B41FA5}">
                      <a16:colId xmlns:a16="http://schemas.microsoft.com/office/drawing/2014/main" val="20004"/>
                    </a:ext>
                  </a:extLst>
                </a:gridCol>
                <a:gridCol w="451650">
                  <a:extLst>
                    <a:ext uri="{9D8B030D-6E8A-4147-A177-3AD203B41FA5}">
                      <a16:colId xmlns:a16="http://schemas.microsoft.com/office/drawing/2014/main" val="20005"/>
                    </a:ext>
                  </a:extLst>
                </a:gridCol>
                <a:gridCol w="451650">
                  <a:extLst>
                    <a:ext uri="{9D8B030D-6E8A-4147-A177-3AD203B41FA5}">
                      <a16:colId xmlns:a16="http://schemas.microsoft.com/office/drawing/2014/main" val="20006"/>
                    </a:ext>
                  </a:extLst>
                </a:gridCol>
                <a:gridCol w="451650">
                  <a:extLst>
                    <a:ext uri="{9D8B030D-6E8A-4147-A177-3AD203B41FA5}">
                      <a16:colId xmlns:a16="http://schemas.microsoft.com/office/drawing/2014/main" val="20007"/>
                    </a:ext>
                  </a:extLst>
                </a:gridCol>
                <a:gridCol w="451650">
                  <a:extLst>
                    <a:ext uri="{9D8B030D-6E8A-4147-A177-3AD203B41FA5}">
                      <a16:colId xmlns:a16="http://schemas.microsoft.com/office/drawing/2014/main" val="20008"/>
                    </a:ext>
                  </a:extLst>
                </a:gridCol>
                <a:gridCol w="451650">
                  <a:extLst>
                    <a:ext uri="{9D8B030D-6E8A-4147-A177-3AD203B41FA5}">
                      <a16:colId xmlns:a16="http://schemas.microsoft.com/office/drawing/2014/main" val="20009"/>
                    </a:ext>
                  </a:extLst>
                </a:gridCol>
              </a:tblGrid>
              <a:tr h="305325">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State/UT</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2018-19</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2019-20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2020-21</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2021-22</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2022-23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2023-24</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2024-25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2025-26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extLst>
                  <a:ext uri="{0D108BD9-81ED-4DB2-BD59-A6C34878D82A}">
                    <a16:rowId xmlns:a16="http://schemas.microsoft.com/office/drawing/2014/main" val="10000"/>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1</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Assam</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2E8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2.44%</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CF7E"/>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D07E"/>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2.58%</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9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2.65%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8E9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2.78%</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8E5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2.42%</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CB7E"/>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2.39%</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C77D"/>
                    </a:solidFill>
                  </a:tcPr>
                </a:tc>
                <a:extLst>
                  <a:ext uri="{0D108BD9-81ED-4DB2-BD59-A6C34878D82A}">
                    <a16:rowId xmlns:a16="http://schemas.microsoft.com/office/drawing/2014/main" val="10001"/>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Rajasthan</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2.54%</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2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2.16%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9C7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2.12%</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957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2.34%</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BE7B"/>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2.47%</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D57F"/>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2.58%</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9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BB7A"/>
                    </a:solidFill>
                  </a:tcPr>
                </a:tc>
                <a:extLst>
                  <a:ext uri="{0D108BD9-81ED-4DB2-BD59-A6C34878D82A}">
                    <a16:rowId xmlns:a16="http://schemas.microsoft.com/office/drawing/2014/main" val="10002"/>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MP</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2.28%</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B179"/>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1.99%</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7D6E"/>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1.93%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8736C"/>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2.01%</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806F"/>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2.10%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927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BB7A"/>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2.28%</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B279"/>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1.93%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8736D"/>
                    </a:solidFill>
                  </a:tcPr>
                </a:tc>
                <a:extLst>
                  <a:ext uri="{0D108BD9-81ED-4DB2-BD59-A6C34878D82A}">
                    <a16:rowId xmlns:a16="http://schemas.microsoft.com/office/drawing/2014/main" val="10003"/>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4</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Odisha</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DA80"/>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2.47%</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D57F"/>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2.57%</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7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2.69%</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4E8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2.60%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EB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3.01%</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DD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2.83%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2E3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2.31%</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B77A"/>
                    </a:solidFill>
                  </a:tcPr>
                </a:tc>
                <a:extLst>
                  <a:ext uri="{0D108BD9-81ED-4DB2-BD59-A6C34878D82A}">
                    <a16:rowId xmlns:a16="http://schemas.microsoft.com/office/drawing/2014/main" val="10004"/>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5</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Jharkhand</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CE6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3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2.56%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5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E7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2.92%</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7E0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2.86%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EE2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CE6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2.23%</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AA77"/>
                    </a:solidFill>
                  </a:tcPr>
                </a:tc>
                <a:extLst>
                  <a:ext uri="{0D108BD9-81ED-4DB2-BD59-A6C34878D82A}">
                    <a16:rowId xmlns:a16="http://schemas.microsoft.com/office/drawing/2014/main" val="10005"/>
                  </a:ext>
                </a:extLst>
              </a:tr>
              <a:tr h="152675">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6</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50"/>
                        <a:buFont typeface="Calibri"/>
                        <a:buNone/>
                      </a:pPr>
                      <a:r>
                        <a:rPr lang="en-US" sz="1050" b="1" i="0" u="none" strike="noStrike" cap="none">
                          <a:solidFill>
                            <a:srgbClr val="000000"/>
                          </a:solidFill>
                          <a:latin typeface="Calibri"/>
                          <a:ea typeface="Calibri"/>
                          <a:cs typeface="Calibri"/>
                          <a:sym typeface="Calibri"/>
                        </a:rPr>
                        <a:t>Chhattisgarh</a:t>
                      </a:r>
                      <a:endParaRPr/>
                    </a:p>
                  </a:txBody>
                  <a:tcPr marL="4775" marR="4775" marT="4775"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2.62%</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B84"/>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2.25%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AC77"/>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B679"/>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2.36%</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C07B"/>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2.49%</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D980"/>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2.75%</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CE683"/>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2.90%</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9E082"/>
                    </a:solidFill>
                  </a:tcPr>
                </a:tc>
                <a:tc>
                  <a:txBody>
                    <a:bodyPr/>
                    <a:lstStyle/>
                    <a:p>
                      <a:pPr marL="0" marR="0" lvl="0" indent="0" algn="ctr" rtl="0">
                        <a:spcBef>
                          <a:spcPts val="0"/>
                        </a:spcBef>
                        <a:spcAft>
                          <a:spcPts val="0"/>
                        </a:spcAft>
                        <a:buClr>
                          <a:srgbClr val="000000"/>
                        </a:buClr>
                        <a:buSzPts val="1000"/>
                        <a:buFont typeface="Calibri"/>
                        <a:buNone/>
                      </a:pPr>
                      <a:r>
                        <a:rPr lang="en-US" sz="1000" b="1" i="0" u="none" strike="noStrike" cap="none">
                          <a:solidFill>
                            <a:srgbClr val="000000"/>
                          </a:solidFill>
                          <a:latin typeface="Calibri"/>
                          <a:ea typeface="Calibri"/>
                          <a:cs typeface="Calibri"/>
                          <a:sym typeface="Calibri"/>
                        </a:rPr>
                        <a:t>2.24%</a:t>
                      </a:r>
                      <a:endParaRPr/>
                    </a:p>
                  </a:txBody>
                  <a:tcPr marL="4775" marR="4775" marT="47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AB77"/>
                    </a:solidFill>
                  </a:tcPr>
                </a:tc>
                <a:extLst>
                  <a:ext uri="{0D108BD9-81ED-4DB2-BD59-A6C34878D82A}">
                    <a16:rowId xmlns:a16="http://schemas.microsoft.com/office/drawing/2014/main" val="10006"/>
                  </a:ext>
                </a:extLst>
              </a:tr>
            </a:tbl>
          </a:graphicData>
        </a:graphic>
      </p:graphicFrame>
      <p:sp>
        <p:nvSpPr>
          <p:cNvPr id="465" name="Google Shape;465;p27"/>
          <p:cNvSpPr txBox="1"/>
          <p:nvPr/>
        </p:nvSpPr>
        <p:spPr>
          <a:xfrm>
            <a:off x="317946" y="3155557"/>
            <a:ext cx="46047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a:solidFill>
                  <a:srgbClr val="C0392B"/>
                </a:solidFill>
                <a:latin typeface="Calibri"/>
                <a:ea typeface="Calibri"/>
                <a:cs typeface="Calibri"/>
                <a:sym typeface="Calibri"/>
              </a:rPr>
              <a:t>2. High Service Sector + Higher GST Taxbase</a:t>
            </a:r>
            <a:endParaRPr sz="1000"/>
          </a:p>
        </p:txBody>
      </p:sp>
      <p:sp>
        <p:nvSpPr>
          <p:cNvPr id="466" name="Google Shape;466;p27"/>
          <p:cNvSpPr txBox="1"/>
          <p:nvPr/>
        </p:nvSpPr>
        <p:spPr>
          <a:xfrm>
            <a:off x="364128" y="1465514"/>
            <a:ext cx="46047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200" b="1">
                <a:solidFill>
                  <a:srgbClr val="C0392B"/>
                </a:solidFill>
                <a:latin typeface="Calibri"/>
                <a:ea typeface="Calibri"/>
                <a:cs typeface="Calibri"/>
                <a:sym typeface="Calibri"/>
              </a:rPr>
              <a:t>1. States with relatively weak Service Sector (20%-30%)</a:t>
            </a:r>
            <a:endParaRPr sz="1000"/>
          </a:p>
        </p:txBody>
      </p:sp>
      <p:graphicFrame>
        <p:nvGraphicFramePr>
          <p:cNvPr id="467" name="Google Shape;467;p27"/>
          <p:cNvGraphicFramePr/>
          <p:nvPr/>
        </p:nvGraphicFramePr>
        <p:xfrm>
          <a:off x="239693" y="3410785"/>
          <a:ext cx="4941125" cy="1215800"/>
        </p:xfrm>
        <a:graphic>
          <a:graphicData uri="http://schemas.openxmlformats.org/drawingml/2006/table">
            <a:tbl>
              <a:tblPr>
                <a:noFill/>
                <a:tableStyleId>{C0668F59-ACE9-41EE-BF83-7E9F5C155E1C}</a:tableStyleId>
              </a:tblPr>
              <a:tblGrid>
                <a:gridCol w="194725">
                  <a:extLst>
                    <a:ext uri="{9D8B030D-6E8A-4147-A177-3AD203B41FA5}">
                      <a16:colId xmlns:a16="http://schemas.microsoft.com/office/drawing/2014/main" val="20000"/>
                    </a:ext>
                  </a:extLst>
                </a:gridCol>
                <a:gridCol w="714000">
                  <a:extLst>
                    <a:ext uri="{9D8B030D-6E8A-4147-A177-3AD203B41FA5}">
                      <a16:colId xmlns:a16="http://schemas.microsoft.com/office/drawing/2014/main" val="20001"/>
                    </a:ext>
                  </a:extLst>
                </a:gridCol>
                <a:gridCol w="357000">
                  <a:extLst>
                    <a:ext uri="{9D8B030D-6E8A-4147-A177-3AD203B41FA5}">
                      <a16:colId xmlns:a16="http://schemas.microsoft.com/office/drawing/2014/main" val="20002"/>
                    </a:ext>
                  </a:extLst>
                </a:gridCol>
                <a:gridCol w="357000">
                  <a:extLst>
                    <a:ext uri="{9D8B030D-6E8A-4147-A177-3AD203B41FA5}">
                      <a16:colId xmlns:a16="http://schemas.microsoft.com/office/drawing/2014/main" val="20003"/>
                    </a:ext>
                  </a:extLst>
                </a:gridCol>
                <a:gridCol w="357000">
                  <a:extLst>
                    <a:ext uri="{9D8B030D-6E8A-4147-A177-3AD203B41FA5}">
                      <a16:colId xmlns:a16="http://schemas.microsoft.com/office/drawing/2014/main" val="20004"/>
                    </a:ext>
                  </a:extLst>
                </a:gridCol>
                <a:gridCol w="357000">
                  <a:extLst>
                    <a:ext uri="{9D8B030D-6E8A-4147-A177-3AD203B41FA5}">
                      <a16:colId xmlns:a16="http://schemas.microsoft.com/office/drawing/2014/main" val="20005"/>
                    </a:ext>
                  </a:extLst>
                </a:gridCol>
                <a:gridCol w="357000">
                  <a:extLst>
                    <a:ext uri="{9D8B030D-6E8A-4147-A177-3AD203B41FA5}">
                      <a16:colId xmlns:a16="http://schemas.microsoft.com/office/drawing/2014/main" val="20006"/>
                    </a:ext>
                  </a:extLst>
                </a:gridCol>
                <a:gridCol w="357000">
                  <a:extLst>
                    <a:ext uri="{9D8B030D-6E8A-4147-A177-3AD203B41FA5}">
                      <a16:colId xmlns:a16="http://schemas.microsoft.com/office/drawing/2014/main" val="20007"/>
                    </a:ext>
                  </a:extLst>
                </a:gridCol>
                <a:gridCol w="357000">
                  <a:extLst>
                    <a:ext uri="{9D8B030D-6E8A-4147-A177-3AD203B41FA5}">
                      <a16:colId xmlns:a16="http://schemas.microsoft.com/office/drawing/2014/main" val="20008"/>
                    </a:ext>
                  </a:extLst>
                </a:gridCol>
                <a:gridCol w="357000">
                  <a:extLst>
                    <a:ext uri="{9D8B030D-6E8A-4147-A177-3AD203B41FA5}">
                      <a16:colId xmlns:a16="http://schemas.microsoft.com/office/drawing/2014/main" val="20009"/>
                    </a:ext>
                  </a:extLst>
                </a:gridCol>
                <a:gridCol w="605375">
                  <a:extLst>
                    <a:ext uri="{9D8B030D-6E8A-4147-A177-3AD203B41FA5}">
                      <a16:colId xmlns:a16="http://schemas.microsoft.com/office/drawing/2014/main" val="20010"/>
                    </a:ext>
                  </a:extLst>
                </a:gridCol>
                <a:gridCol w="571025">
                  <a:extLst>
                    <a:ext uri="{9D8B030D-6E8A-4147-A177-3AD203B41FA5}">
                      <a16:colId xmlns:a16="http://schemas.microsoft.com/office/drawing/2014/main" val="20011"/>
                    </a:ext>
                  </a:extLst>
                </a:gridCol>
              </a:tblGrid>
              <a:tr h="468125">
                <a:tc>
                  <a:txBody>
                    <a:bodyPr/>
                    <a:lstStyle/>
                    <a:p>
                      <a:pPr marL="0" marR="0" lvl="0" indent="0" algn="ctr" rtl="0">
                        <a:spcBef>
                          <a:spcPts val="0"/>
                        </a:spcBef>
                        <a:spcAft>
                          <a:spcPts val="0"/>
                        </a:spcAft>
                        <a:buClr>
                          <a:srgbClr val="FFFFFF"/>
                        </a:buClr>
                        <a:buSzPts val="800"/>
                        <a:buFont typeface="Calibri"/>
                        <a:buNone/>
                      </a:pPr>
                      <a:r>
                        <a:rPr lang="en-US" sz="800" b="1" i="0" u="none" strike="noStrike" cap="none">
                          <a:solidFill>
                            <a:srgbClr val="FFFFFF"/>
                          </a:solidFill>
                          <a:latin typeface="Calibri"/>
                          <a:ea typeface="Calibri"/>
                          <a:cs typeface="Calibri"/>
                          <a:sym typeface="Calibri"/>
                        </a:rPr>
                        <a:t>#</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State/UT</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2018-19</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2019-20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2020-21</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2021-22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2022-23</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2023-24</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2024-25</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2025-26</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Approx. GST Service Sector%</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1"/>
                    </a:solidFill>
                  </a:tcPr>
                </a:tc>
                <a:tc>
                  <a:txBody>
                    <a:bodyPr/>
                    <a:lstStyle/>
                    <a:p>
                      <a:pPr marL="0" marR="0" lvl="0" indent="0" algn="ctr" rtl="0">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GST Taxpayers</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244062"/>
                    </a:solidFill>
                  </a:tcPr>
                </a:tc>
                <a:extLst>
                  <a:ext uri="{0D108BD9-81ED-4DB2-BD59-A6C34878D82A}">
                    <a16:rowId xmlns:a16="http://schemas.microsoft.com/office/drawing/2014/main" val="10000"/>
                  </a:ext>
                </a:extLst>
              </a:tr>
              <a:tr h="249225">
                <a:tc>
                  <a:txBody>
                    <a:bodyPr/>
                    <a:lstStyle/>
                    <a:p>
                      <a:pPr marL="0" marR="0" lvl="0" indent="0" algn="ctr" rtl="0">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1</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chemeClr val="dk1"/>
                        </a:buClr>
                        <a:buSzPts val="1050"/>
                        <a:buFont typeface="Calibri"/>
                        <a:buNone/>
                      </a:pPr>
                      <a:r>
                        <a:rPr lang="en-US" sz="1050" b="0" i="0" u="none" strike="noStrike" cap="none">
                          <a:solidFill>
                            <a:schemeClr val="dk1"/>
                          </a:solidFill>
                          <a:latin typeface="Calibri"/>
                          <a:ea typeface="Calibri"/>
                          <a:cs typeface="Calibri"/>
                          <a:sym typeface="Calibri"/>
                        </a:rPr>
                        <a:t>Gujarat</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2.43%</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CE7E"/>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2.16%</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A9D75"/>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2.07%</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8C7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2.49%</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D980"/>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2.57%</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EE683"/>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2.62%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CEA84"/>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2.62%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BEA84"/>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2.71%</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1E784"/>
                    </a:solidFill>
                  </a:tcPr>
                </a:tc>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30%-40%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 13,82,342 </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8"/>
                    </a:solidFill>
                  </a:tcPr>
                </a:tc>
                <a:extLst>
                  <a:ext uri="{0D108BD9-81ED-4DB2-BD59-A6C34878D82A}">
                    <a16:rowId xmlns:a16="http://schemas.microsoft.com/office/drawing/2014/main" val="10001"/>
                  </a:ext>
                </a:extLst>
              </a:tr>
              <a:tr h="249225">
                <a:tc>
                  <a:txBody>
                    <a:bodyPr/>
                    <a:lstStyle/>
                    <a:p>
                      <a:pPr marL="0" marR="0" lvl="0" indent="0" algn="ctr" rtl="0">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chemeClr val="dk1"/>
                        </a:buClr>
                        <a:buSzPts val="1050"/>
                        <a:buFont typeface="Calibri"/>
                        <a:buNone/>
                      </a:pPr>
                      <a:r>
                        <a:rPr lang="en-US" sz="1050" b="0" i="0" u="none" strike="noStrike" cap="none">
                          <a:solidFill>
                            <a:schemeClr val="dk1"/>
                          </a:solidFill>
                          <a:latin typeface="Calibri"/>
                          <a:ea typeface="Calibri"/>
                          <a:cs typeface="Calibri"/>
                          <a:sym typeface="Calibri"/>
                        </a:rPr>
                        <a:t>UP</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3.00%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DD82"/>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2.77%</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9E583"/>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2.70%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2E784"/>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2.94%</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F82"/>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2.92%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7E082"/>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3.14%</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BD88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3.12%</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DD88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2.73%</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FE784"/>
                    </a:solidFill>
                  </a:tcPr>
                </a:tc>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30%-40%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D966"/>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  21,37,377 </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8"/>
                    </a:solidFill>
                  </a:tcPr>
                </a:tc>
                <a:extLst>
                  <a:ext uri="{0D108BD9-81ED-4DB2-BD59-A6C34878D82A}">
                    <a16:rowId xmlns:a16="http://schemas.microsoft.com/office/drawing/2014/main" val="10002"/>
                  </a:ext>
                </a:extLst>
              </a:tr>
              <a:tr h="249225">
                <a:tc>
                  <a:txBody>
                    <a:bodyPr/>
                    <a:lstStyle/>
                    <a:p>
                      <a:pPr marL="0" marR="0" lvl="0" indent="0" algn="ctr" rtl="0">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3</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chemeClr val="dk1"/>
                        </a:buClr>
                        <a:buSzPts val="1000"/>
                        <a:buFont typeface="Calibri"/>
                        <a:buNone/>
                      </a:pPr>
                      <a:r>
                        <a:rPr lang="en-US" sz="1000" b="0" i="0" u="none" strike="noStrike" cap="none">
                          <a:solidFill>
                            <a:schemeClr val="dk1"/>
                          </a:solidFill>
                          <a:latin typeface="Calibri"/>
                          <a:ea typeface="Calibri"/>
                          <a:cs typeface="Calibri"/>
                          <a:sym typeface="Calibri"/>
                        </a:rPr>
                        <a:t>Maharashtra</a:t>
                      </a:r>
                      <a:endParaRPr sz="900" b="0" i="0" u="none" strike="noStrike" cap="none">
                        <a:solidFill>
                          <a:schemeClr val="dk1"/>
                        </a:solidFill>
                        <a:latin typeface="Calibri"/>
                        <a:ea typeface="Calibri"/>
                        <a:cs typeface="Calibri"/>
                        <a:sym typeface="Calibri"/>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AE5F1"/>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3.28%</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AD380"/>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2.81%</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4E483"/>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2.84%</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E1E383"/>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3.31%</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A6D27F"/>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3.60%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82C77D"/>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3.84%</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3BE7B"/>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3.80%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8C07C"/>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3.83%</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65BF7C"/>
                    </a:solidFill>
                  </a:tcPr>
                </a:tc>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50%-60%</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2D050"/>
                    </a:solidFill>
                  </a:tcPr>
                </a:tc>
                <a:tc>
                  <a:txBody>
                    <a:bodyPr/>
                    <a:lstStyle/>
                    <a:p>
                      <a:pPr marL="0" marR="0" lvl="0" indent="0" algn="ctr" rtl="0">
                        <a:spcBef>
                          <a:spcPts val="0"/>
                        </a:spcBef>
                        <a:spcAft>
                          <a:spcPts val="0"/>
                        </a:spcAft>
                        <a:buClr>
                          <a:srgbClr val="000000"/>
                        </a:buClr>
                        <a:buSzPts val="900"/>
                        <a:buFont typeface="Calibri"/>
                        <a:buNone/>
                      </a:pPr>
                      <a:r>
                        <a:rPr lang="en-US" sz="900" b="1" i="0" u="none" strike="noStrike" cap="none">
                          <a:solidFill>
                            <a:srgbClr val="000000"/>
                          </a:solidFill>
                          <a:latin typeface="Calibri"/>
                          <a:ea typeface="Calibri"/>
                          <a:cs typeface="Calibri"/>
                          <a:sym typeface="Calibri"/>
                        </a:rPr>
                        <a:t>  19,83,096 </a:t>
                      </a:r>
                      <a:endParaRPr/>
                    </a:p>
                  </a:txBody>
                  <a:tcPr marL="4300" marR="4300" marT="43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DE9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198">
          <a:extLst>
            <a:ext uri="{FF2B5EF4-FFF2-40B4-BE49-F238E27FC236}">
              <a16:creationId xmlns:a16="http://schemas.microsoft.com/office/drawing/2014/main" id="{2E616788-4F59-2D56-BD72-46EA57F132F5}"/>
            </a:ext>
          </a:extLst>
        </p:cNvPr>
        <p:cNvGrpSpPr/>
        <p:nvPr/>
      </p:nvGrpSpPr>
      <p:grpSpPr>
        <a:xfrm>
          <a:off x="0" y="0"/>
          <a:ext cx="0" cy="0"/>
          <a:chOff x="0" y="0"/>
          <a:chExt cx="0" cy="0"/>
        </a:xfrm>
      </p:grpSpPr>
      <p:sp>
        <p:nvSpPr>
          <p:cNvPr id="206" name="Google Shape;206;p19">
            <a:extLst>
              <a:ext uri="{FF2B5EF4-FFF2-40B4-BE49-F238E27FC236}">
                <a16:creationId xmlns:a16="http://schemas.microsoft.com/office/drawing/2014/main" id="{CD7BC2A0-4B5A-FC54-BAFE-5B43D8909FD5}"/>
              </a:ext>
            </a:extLst>
          </p:cNvPr>
          <p:cNvSpPr txBox="1">
            <a:spLocks noGrp="1"/>
          </p:cNvSpPr>
          <p:nvPr>
            <p:ph type="title"/>
          </p:nvPr>
        </p:nvSpPr>
        <p:spPr>
          <a:xfrm>
            <a:off x="2743200" y="1443030"/>
            <a:ext cx="3657600" cy="124393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en-US" sz="4000" dirty="0">
                <a:solidFill>
                  <a:srgbClr val="C8A84B"/>
                </a:solidFill>
              </a:rPr>
              <a:t>Major STEPS  </a:t>
            </a:r>
            <a:br>
              <a:rPr lang="en-US" sz="4000" dirty="0">
                <a:solidFill>
                  <a:srgbClr val="C8A84B"/>
                </a:solidFill>
              </a:rPr>
            </a:br>
            <a:r>
              <a:rPr lang="en-US" sz="4000" dirty="0">
                <a:solidFill>
                  <a:srgbClr val="C8A84B"/>
                </a:solidFill>
              </a:rPr>
              <a:t>ACTION PLAN</a:t>
            </a:r>
            <a:endParaRPr sz="4000" dirty="0"/>
          </a:p>
        </p:txBody>
      </p:sp>
    </p:spTree>
    <p:extLst>
      <p:ext uri="{BB962C8B-B14F-4D97-AF65-F5344CB8AC3E}">
        <p14:creationId xmlns:p14="http://schemas.microsoft.com/office/powerpoint/2010/main" val="1060937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472"/>
        <p:cNvGrpSpPr/>
        <p:nvPr/>
      </p:nvGrpSpPr>
      <p:grpSpPr>
        <a:xfrm>
          <a:off x="0" y="0"/>
          <a:ext cx="0" cy="0"/>
          <a:chOff x="0" y="0"/>
          <a:chExt cx="0" cy="0"/>
        </a:xfrm>
      </p:grpSpPr>
      <p:grpSp>
        <p:nvGrpSpPr>
          <p:cNvPr id="473" name="Google Shape;473;p28"/>
          <p:cNvGrpSpPr/>
          <p:nvPr/>
        </p:nvGrpSpPr>
        <p:grpSpPr>
          <a:xfrm>
            <a:off x="0" y="-63"/>
            <a:ext cx="9144000" cy="832511"/>
            <a:chOff x="0" y="-63"/>
            <a:chExt cx="9144000" cy="832511"/>
          </a:xfrm>
        </p:grpSpPr>
        <p:sp>
          <p:nvSpPr>
            <p:cNvPr id="474" name="Google Shape;474;p28"/>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75" name="Google Shape;475;p28"/>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76" name="Google Shape;476;p28"/>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77" name="Google Shape;477;p28"/>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78" name="Google Shape;478;p28"/>
          <p:cNvSpPr txBox="1">
            <a:spLocks noGrp="1"/>
          </p:cNvSpPr>
          <p:nvPr>
            <p:ph type="title"/>
          </p:nvPr>
        </p:nvSpPr>
        <p:spPr>
          <a:xfrm>
            <a:off x="444500" y="159511"/>
            <a:ext cx="6854700" cy="382156"/>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solidFill>
                  <a:schemeClr val="lt1"/>
                </a:solidFill>
              </a:rPr>
              <a:t>#1 Organizational strengthening</a:t>
            </a:r>
            <a:endParaRPr sz="2400" dirty="0">
              <a:solidFill>
                <a:schemeClr val="lt1"/>
              </a:solidFill>
            </a:endParaRPr>
          </a:p>
        </p:txBody>
      </p:sp>
      <p:sp>
        <p:nvSpPr>
          <p:cNvPr id="479" name="Google Shape;479;p28"/>
          <p:cNvSpPr txBox="1"/>
          <p:nvPr/>
        </p:nvSpPr>
        <p:spPr>
          <a:xfrm>
            <a:off x="-76200" y="536600"/>
            <a:ext cx="6629400" cy="215400"/>
          </a:xfrm>
          <a:prstGeom prst="rect">
            <a:avLst/>
          </a:prstGeom>
          <a:noFill/>
          <a:ln>
            <a:noFill/>
          </a:ln>
        </p:spPr>
        <p:txBody>
          <a:bodyPr spcFirstLastPara="1" wrap="square" lIns="91425" tIns="45700" rIns="91425" bIns="45700" anchor="t" anchorCtr="0">
            <a:spAutoFit/>
          </a:bodyPr>
          <a:lstStyle/>
          <a:p>
            <a:pPr marL="786765" lvl="0" indent="0" algn="l" rtl="0">
              <a:lnSpc>
                <a:spcPct val="100000"/>
              </a:lnSpc>
              <a:spcBef>
                <a:spcPts val="0"/>
              </a:spcBef>
              <a:spcAft>
                <a:spcPts val="0"/>
              </a:spcAft>
              <a:buNone/>
            </a:pPr>
            <a:r>
              <a:rPr lang="en-US" sz="800" i="1">
                <a:solidFill>
                  <a:srgbClr val="EFD080"/>
                </a:solidFill>
                <a:latin typeface="Calibri"/>
                <a:ea typeface="Calibri"/>
                <a:cs typeface="Calibri"/>
                <a:sym typeface="Calibri"/>
              </a:rPr>
              <a:t>Re-align Rajasthan Commercial Taxes Service to the current GST workload — end the VAT-era pyramid.</a:t>
            </a:r>
            <a:endParaRPr/>
          </a:p>
        </p:txBody>
      </p:sp>
      <p:graphicFrame>
        <p:nvGraphicFramePr>
          <p:cNvPr id="480" name="Google Shape;480;p28"/>
          <p:cNvGraphicFramePr/>
          <p:nvPr>
            <p:extLst>
              <p:ext uri="{D42A27DB-BD31-4B8C-83A1-F6EECF244321}">
                <p14:modId xmlns:p14="http://schemas.microsoft.com/office/powerpoint/2010/main" val="3042775189"/>
              </p:ext>
            </p:extLst>
          </p:nvPr>
        </p:nvGraphicFramePr>
        <p:xfrm>
          <a:off x="5719482" y="1253780"/>
          <a:ext cx="3334872" cy="1756791"/>
        </p:xfrm>
        <a:graphic>
          <a:graphicData uri="http://schemas.openxmlformats.org/drawingml/2006/table">
            <a:tbl>
              <a:tblPr firstRow="1" bandRow="1">
                <a:noFill/>
                <a:tableStyleId>{0E1360DE-2B03-4F70-B7EE-935E0FC2D80C}</a:tableStyleId>
              </a:tblPr>
              <a:tblGrid>
                <a:gridCol w="1667436">
                  <a:extLst>
                    <a:ext uri="{9D8B030D-6E8A-4147-A177-3AD203B41FA5}">
                      <a16:colId xmlns:a16="http://schemas.microsoft.com/office/drawing/2014/main" val="20000"/>
                    </a:ext>
                  </a:extLst>
                </a:gridCol>
                <a:gridCol w="1667436">
                  <a:extLst>
                    <a:ext uri="{9D8B030D-6E8A-4147-A177-3AD203B41FA5}">
                      <a16:colId xmlns:a16="http://schemas.microsoft.com/office/drawing/2014/main" val="20001"/>
                    </a:ext>
                  </a:extLst>
                </a:gridCol>
              </a:tblGrid>
              <a:tr h="0">
                <a:tc>
                  <a:txBody>
                    <a:bodyPr/>
                    <a:lstStyle/>
                    <a:p>
                      <a:pPr marL="0" marR="0" lvl="0" indent="0" algn="ctr" rtl="0">
                        <a:lnSpc>
                          <a:spcPct val="100000"/>
                        </a:lnSpc>
                        <a:spcBef>
                          <a:spcPts val="0"/>
                        </a:spcBef>
                        <a:spcAft>
                          <a:spcPts val="0"/>
                        </a:spcAft>
                        <a:buNone/>
                      </a:pPr>
                      <a:r>
                        <a:rPr lang="en-US" sz="1400" b="1" u="none" strike="noStrike" cap="none" dirty="0">
                          <a:solidFill>
                            <a:srgbClr val="FFFFFF"/>
                          </a:solidFill>
                          <a:latin typeface="Calibri"/>
                          <a:ea typeface="Calibri"/>
                          <a:cs typeface="Calibri"/>
                          <a:sym typeface="Calibri"/>
                        </a:rPr>
                        <a:t>Top Taxpayers</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B2A49"/>
                    </a:solidFill>
                  </a:tcPr>
                </a:tc>
                <a:tc>
                  <a:txBody>
                    <a:bodyPr/>
                    <a:lstStyle/>
                    <a:p>
                      <a:pPr marL="0" marR="0" lvl="0" indent="0" algn="ctr" rtl="0">
                        <a:lnSpc>
                          <a:spcPct val="100000"/>
                        </a:lnSpc>
                        <a:spcBef>
                          <a:spcPts val="0"/>
                        </a:spcBef>
                        <a:spcAft>
                          <a:spcPts val="0"/>
                        </a:spcAft>
                        <a:buNone/>
                      </a:pPr>
                      <a:r>
                        <a:rPr lang="en-US" sz="1400" b="1" u="none" strike="noStrike" cap="none" dirty="0">
                          <a:solidFill>
                            <a:srgbClr val="FFFFFF"/>
                          </a:solidFill>
                          <a:latin typeface="Calibri"/>
                          <a:ea typeface="Calibri"/>
                          <a:cs typeface="Calibri"/>
                          <a:sym typeface="Calibri"/>
                        </a:rPr>
                        <a:t>% share in Revenue</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B2A49"/>
                    </a:solidFill>
                  </a:tcPr>
                </a:tc>
                <a:extLst>
                  <a:ext uri="{0D108BD9-81ED-4DB2-BD59-A6C34878D82A}">
                    <a16:rowId xmlns:a16="http://schemas.microsoft.com/office/drawing/2014/main" val="10000"/>
                  </a:ext>
                </a:extLst>
              </a:tr>
              <a:tr h="98350">
                <a:tc>
                  <a:txBody>
                    <a:bodyPr/>
                    <a:lstStyle/>
                    <a:p>
                      <a:pPr marL="0" marR="0" lvl="0" indent="0" algn="ctr" rtl="0">
                        <a:lnSpc>
                          <a:spcPct val="100000"/>
                        </a:lnSpc>
                        <a:spcBef>
                          <a:spcPts val="0"/>
                        </a:spcBef>
                        <a:spcAft>
                          <a:spcPts val="0"/>
                        </a:spcAft>
                        <a:buNone/>
                      </a:pPr>
                      <a:r>
                        <a:rPr lang="en-US" sz="1400" u="none" strike="noStrike" cap="none" dirty="0">
                          <a:latin typeface="Calibri"/>
                          <a:ea typeface="Calibri"/>
                          <a:cs typeface="Calibri"/>
                          <a:sym typeface="Calibri"/>
                        </a:rPr>
                        <a:t>Top 500</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tc>
                  <a:txBody>
                    <a:bodyPr/>
                    <a:lstStyle/>
                    <a:p>
                      <a:pPr marL="0" marR="0" lvl="0" indent="0" algn="ctr" rtl="0">
                        <a:lnSpc>
                          <a:spcPct val="100000"/>
                        </a:lnSpc>
                        <a:spcBef>
                          <a:spcPts val="0"/>
                        </a:spcBef>
                        <a:spcAft>
                          <a:spcPts val="0"/>
                        </a:spcAft>
                        <a:buNone/>
                      </a:pPr>
                      <a:r>
                        <a:rPr lang="en-US" sz="1400" b="1" u="none" strike="noStrike" cap="none" dirty="0">
                          <a:latin typeface="Calibri"/>
                          <a:ea typeface="Calibri"/>
                          <a:cs typeface="Calibri"/>
                          <a:sym typeface="Calibri"/>
                        </a:rPr>
                        <a:t>48.37%</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extLst>
                  <a:ext uri="{0D108BD9-81ED-4DB2-BD59-A6C34878D82A}">
                    <a16:rowId xmlns:a16="http://schemas.microsoft.com/office/drawing/2014/main" val="10001"/>
                  </a:ext>
                </a:extLst>
              </a:tr>
              <a:tr h="98350">
                <a:tc>
                  <a:txBody>
                    <a:bodyPr/>
                    <a:lstStyle/>
                    <a:p>
                      <a:pPr marL="0" marR="0" lvl="0" indent="0" algn="ctr" rtl="0">
                        <a:lnSpc>
                          <a:spcPct val="100000"/>
                        </a:lnSpc>
                        <a:spcBef>
                          <a:spcPts val="0"/>
                        </a:spcBef>
                        <a:spcAft>
                          <a:spcPts val="0"/>
                        </a:spcAft>
                        <a:buNone/>
                      </a:pPr>
                      <a:r>
                        <a:rPr lang="en-US" sz="1400" u="none" strike="noStrike" cap="none" dirty="0">
                          <a:latin typeface="Calibri"/>
                          <a:ea typeface="Calibri"/>
                          <a:cs typeface="Calibri"/>
                          <a:sym typeface="Calibri"/>
                        </a:rPr>
                        <a:t>Top1000</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tc>
                  <a:txBody>
                    <a:bodyPr/>
                    <a:lstStyle/>
                    <a:p>
                      <a:pPr marL="0" marR="0" lvl="0" indent="0" algn="ctr" rtl="0">
                        <a:lnSpc>
                          <a:spcPct val="100000"/>
                        </a:lnSpc>
                        <a:spcBef>
                          <a:spcPts val="0"/>
                        </a:spcBef>
                        <a:spcAft>
                          <a:spcPts val="0"/>
                        </a:spcAft>
                        <a:buNone/>
                      </a:pPr>
                      <a:r>
                        <a:rPr lang="en-US" sz="1400" b="1" u="none" strike="noStrike" cap="none" dirty="0">
                          <a:latin typeface="Calibri"/>
                          <a:ea typeface="Calibri"/>
                          <a:cs typeface="Calibri"/>
                          <a:sym typeface="Calibri"/>
                        </a:rPr>
                        <a:t>58.13%</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extLst>
                  <a:ext uri="{0D108BD9-81ED-4DB2-BD59-A6C34878D82A}">
                    <a16:rowId xmlns:a16="http://schemas.microsoft.com/office/drawing/2014/main" val="10002"/>
                  </a:ext>
                </a:extLst>
              </a:tr>
              <a:tr h="98350">
                <a:tc>
                  <a:txBody>
                    <a:bodyPr/>
                    <a:lstStyle/>
                    <a:p>
                      <a:pPr marL="0" marR="0" lvl="0" indent="0" algn="ctr" rtl="0">
                        <a:lnSpc>
                          <a:spcPct val="100000"/>
                        </a:lnSpc>
                        <a:spcBef>
                          <a:spcPts val="0"/>
                        </a:spcBef>
                        <a:spcAft>
                          <a:spcPts val="0"/>
                        </a:spcAft>
                        <a:buNone/>
                      </a:pPr>
                      <a:r>
                        <a:rPr lang="en-US" sz="1400" u="none" strike="noStrike" cap="none" dirty="0">
                          <a:latin typeface="Calibri"/>
                          <a:ea typeface="Calibri"/>
                          <a:cs typeface="Calibri"/>
                          <a:sym typeface="Calibri"/>
                        </a:rPr>
                        <a:t>Top 5000</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tc>
                  <a:txBody>
                    <a:bodyPr/>
                    <a:lstStyle/>
                    <a:p>
                      <a:pPr marL="0" marR="0" lvl="0" indent="0" algn="ctr" rtl="0">
                        <a:lnSpc>
                          <a:spcPct val="100000"/>
                        </a:lnSpc>
                        <a:spcBef>
                          <a:spcPts val="0"/>
                        </a:spcBef>
                        <a:spcAft>
                          <a:spcPts val="0"/>
                        </a:spcAft>
                        <a:buNone/>
                      </a:pPr>
                      <a:r>
                        <a:rPr lang="en-US" sz="1400" b="1" u="none" strike="noStrike" cap="none" dirty="0">
                          <a:latin typeface="Calibri"/>
                          <a:ea typeface="Calibri"/>
                          <a:cs typeface="Calibri"/>
                          <a:sym typeface="Calibri"/>
                        </a:rPr>
                        <a:t>77.14%</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extLst>
                  <a:ext uri="{0D108BD9-81ED-4DB2-BD59-A6C34878D82A}">
                    <a16:rowId xmlns:a16="http://schemas.microsoft.com/office/drawing/2014/main" val="10003"/>
                  </a:ext>
                </a:extLst>
              </a:tr>
              <a:tr h="98350">
                <a:tc>
                  <a:txBody>
                    <a:bodyPr/>
                    <a:lstStyle/>
                    <a:p>
                      <a:pPr marL="0" marR="0" lvl="0" indent="0" algn="ctr" rtl="0">
                        <a:lnSpc>
                          <a:spcPct val="100000"/>
                        </a:lnSpc>
                        <a:spcBef>
                          <a:spcPts val="0"/>
                        </a:spcBef>
                        <a:spcAft>
                          <a:spcPts val="0"/>
                        </a:spcAft>
                        <a:buNone/>
                      </a:pPr>
                      <a:r>
                        <a:rPr lang="en-US" sz="1400" u="none" strike="noStrike" cap="none" dirty="0">
                          <a:latin typeface="Calibri"/>
                          <a:ea typeface="Calibri"/>
                          <a:cs typeface="Calibri"/>
                          <a:sym typeface="Calibri"/>
                        </a:rPr>
                        <a:t>Top 10000</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tc>
                  <a:txBody>
                    <a:bodyPr/>
                    <a:lstStyle/>
                    <a:p>
                      <a:pPr marL="0" marR="0" lvl="0" indent="0" algn="ctr" rtl="0">
                        <a:lnSpc>
                          <a:spcPct val="100000"/>
                        </a:lnSpc>
                        <a:spcBef>
                          <a:spcPts val="0"/>
                        </a:spcBef>
                        <a:spcAft>
                          <a:spcPts val="0"/>
                        </a:spcAft>
                        <a:buNone/>
                      </a:pPr>
                      <a:r>
                        <a:rPr lang="en-US" sz="1400" b="1" u="none" strike="noStrike" cap="none" dirty="0">
                          <a:latin typeface="Calibri"/>
                          <a:ea typeface="Calibri"/>
                          <a:cs typeface="Calibri"/>
                          <a:sym typeface="Calibri"/>
                        </a:rPr>
                        <a:t>83.89%</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extLst>
                  <a:ext uri="{0D108BD9-81ED-4DB2-BD59-A6C34878D82A}">
                    <a16:rowId xmlns:a16="http://schemas.microsoft.com/office/drawing/2014/main" val="10004"/>
                  </a:ext>
                </a:extLst>
              </a:tr>
              <a:tr h="98600">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Top 25000</a:t>
                      </a:r>
                      <a:endParaRPr sz="1400" u="none" strike="noStrike" cap="none">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tc>
                  <a:txBody>
                    <a:bodyPr/>
                    <a:lstStyle/>
                    <a:p>
                      <a:pPr marL="0" marR="0" lvl="0" indent="0" algn="ctr" rtl="0">
                        <a:lnSpc>
                          <a:spcPct val="100000"/>
                        </a:lnSpc>
                        <a:spcBef>
                          <a:spcPts val="0"/>
                        </a:spcBef>
                        <a:spcAft>
                          <a:spcPts val="0"/>
                        </a:spcAft>
                        <a:buNone/>
                      </a:pPr>
                      <a:r>
                        <a:rPr lang="en-US" sz="1400" b="1" u="none" strike="noStrike" cap="none" dirty="0">
                          <a:latin typeface="Calibri"/>
                          <a:ea typeface="Calibri"/>
                          <a:cs typeface="Calibri"/>
                          <a:sym typeface="Calibri"/>
                        </a:rPr>
                        <a:t>91.79%</a:t>
                      </a: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extLst>
                  <a:ext uri="{0D108BD9-81ED-4DB2-BD59-A6C34878D82A}">
                    <a16:rowId xmlns:a16="http://schemas.microsoft.com/office/drawing/2014/main" val="10005"/>
                  </a:ext>
                </a:extLst>
              </a:tr>
              <a:tr h="36600">
                <a:tc>
                  <a:txBody>
                    <a:bodyPr/>
                    <a:lstStyle/>
                    <a:p>
                      <a:pPr marL="0" marR="0" lvl="0" indent="0" algn="ctr" rtl="0">
                        <a:lnSpc>
                          <a:spcPct val="100000"/>
                        </a:lnSpc>
                        <a:spcBef>
                          <a:spcPts val="0"/>
                        </a:spcBef>
                        <a:spcAft>
                          <a:spcPts val="0"/>
                        </a:spcAft>
                        <a:buNone/>
                      </a:pPr>
                      <a:endParaRPr sz="700" u="none" strike="noStrike" cap="none">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DDE9F1"/>
                      </a:solidFill>
                      <a:prstDash val="solid"/>
                      <a:round/>
                      <a:headEnd type="none" w="sm" len="sm"/>
                      <a:tailEnd type="none" w="sm" len="sm"/>
                    </a:lnB>
                    <a:solidFill>
                      <a:srgbClr val="E9EBF5"/>
                    </a:solidFill>
                  </a:tcPr>
                </a:tc>
                <a:tc>
                  <a:txBody>
                    <a:bodyPr/>
                    <a:lstStyle/>
                    <a:p>
                      <a:pPr marL="0" marR="0" lvl="0" indent="0" algn="ctr" rtl="0">
                        <a:lnSpc>
                          <a:spcPct val="100000"/>
                        </a:lnSpc>
                        <a:spcBef>
                          <a:spcPts val="0"/>
                        </a:spcBef>
                        <a:spcAft>
                          <a:spcPts val="0"/>
                        </a:spcAft>
                        <a:buNone/>
                      </a:pPr>
                      <a:endParaRPr sz="700" u="none" strike="noStrike" cap="none" dirty="0">
                        <a:latin typeface="Times New Roman"/>
                        <a:ea typeface="Times New Roman"/>
                        <a:cs typeface="Times New Roman"/>
                        <a:sym typeface="Times New Roman"/>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9525" cap="flat" cmpd="sng">
                      <a:solidFill>
                        <a:srgbClr val="DDE9F1"/>
                      </a:solidFill>
                      <a:prstDash val="solid"/>
                      <a:round/>
                      <a:headEnd type="none" w="sm" len="sm"/>
                      <a:tailEnd type="none" w="sm" len="sm"/>
                    </a:lnB>
                    <a:solidFill>
                      <a:srgbClr val="E9EBF5"/>
                    </a:solidFill>
                  </a:tcPr>
                </a:tc>
                <a:extLst>
                  <a:ext uri="{0D108BD9-81ED-4DB2-BD59-A6C34878D82A}">
                    <a16:rowId xmlns:a16="http://schemas.microsoft.com/office/drawing/2014/main" val="10006"/>
                  </a:ext>
                </a:extLst>
              </a:tr>
              <a:tr h="61750">
                <a:tc>
                  <a:txBody>
                    <a:bodyPr/>
                    <a:lstStyle/>
                    <a:p>
                      <a:pPr marL="0" marR="0" lvl="0" indent="0" algn="ctr" rtl="0">
                        <a:lnSpc>
                          <a:spcPct val="58928"/>
                        </a:lnSpc>
                        <a:spcBef>
                          <a:spcPts val="0"/>
                        </a:spcBef>
                        <a:spcAft>
                          <a:spcPts val="0"/>
                        </a:spcAft>
                        <a:buNone/>
                      </a:pPr>
                      <a:r>
                        <a:rPr lang="en-US" sz="1400" u="none" strike="noStrike" cap="none" dirty="0">
                          <a:latin typeface="Calibri"/>
                          <a:ea typeface="Calibri"/>
                          <a:cs typeface="Calibri"/>
                          <a:sym typeface="Calibri"/>
                        </a:rPr>
                        <a:t>Top 1 Lakh</a:t>
                      </a:r>
                      <a:endParaRPr sz="1400" u="none" strike="noStrike" cap="none" dirty="0">
                        <a:latin typeface="Calibri"/>
                        <a:ea typeface="Calibri"/>
                        <a:cs typeface="Calibri"/>
                        <a:sym typeface="Calibri"/>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DDE9F1"/>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tc>
                  <a:txBody>
                    <a:bodyPr/>
                    <a:lstStyle/>
                    <a:p>
                      <a:pPr marL="0" marR="0" lvl="0" indent="0" algn="ctr" rtl="0">
                        <a:lnSpc>
                          <a:spcPct val="58928"/>
                        </a:lnSpc>
                        <a:spcBef>
                          <a:spcPts val="0"/>
                        </a:spcBef>
                        <a:spcAft>
                          <a:spcPts val="0"/>
                        </a:spcAft>
                        <a:buNone/>
                      </a:pPr>
                      <a:r>
                        <a:rPr lang="en-US" sz="1400" b="1" u="none" strike="noStrike" cap="none" dirty="0">
                          <a:latin typeface="Calibri"/>
                          <a:ea typeface="Calibri"/>
                          <a:cs typeface="Calibri"/>
                          <a:sym typeface="Calibri"/>
                        </a:rPr>
                        <a:t>98.70%</a:t>
                      </a:r>
                      <a:endParaRPr sz="1400" u="none" strike="noStrike" cap="none" dirty="0">
                        <a:latin typeface="Calibri"/>
                        <a:ea typeface="Calibri"/>
                        <a:cs typeface="Calibri"/>
                        <a:sym typeface="Calibri"/>
                      </a:endParaRPr>
                    </a:p>
                  </a:txBody>
                  <a:tcPr marL="0" marR="0" marT="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9525" cap="flat" cmpd="sng">
                      <a:solidFill>
                        <a:srgbClr val="DDE9F1"/>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extLst>
                  <a:ext uri="{0D108BD9-81ED-4DB2-BD59-A6C34878D82A}">
                    <a16:rowId xmlns:a16="http://schemas.microsoft.com/office/drawing/2014/main" val="10007"/>
                  </a:ext>
                </a:extLst>
              </a:tr>
            </a:tbl>
          </a:graphicData>
        </a:graphic>
      </p:graphicFrame>
      <p:sp>
        <p:nvSpPr>
          <p:cNvPr id="481" name="Google Shape;481;p28"/>
          <p:cNvSpPr txBox="1"/>
          <p:nvPr/>
        </p:nvSpPr>
        <p:spPr>
          <a:xfrm>
            <a:off x="-76200" y="804283"/>
            <a:ext cx="5589494" cy="3898463"/>
          </a:xfrm>
          <a:prstGeom prst="rect">
            <a:avLst/>
          </a:prstGeom>
          <a:noFill/>
          <a:ln>
            <a:noFill/>
          </a:ln>
        </p:spPr>
        <p:txBody>
          <a:bodyPr spcFirstLastPara="1" wrap="square" lIns="91425" tIns="45700" rIns="91425" bIns="45700" anchor="t" anchorCtr="0">
            <a:spAutoFit/>
          </a:bodyPr>
          <a:lstStyle/>
          <a:p>
            <a:pPr marL="164465" lvl="0" indent="0" algn="just" rtl="0">
              <a:lnSpc>
                <a:spcPct val="100000"/>
              </a:lnSpc>
              <a:spcBef>
                <a:spcPts val="0"/>
              </a:spcBef>
              <a:spcAft>
                <a:spcPts val="0"/>
              </a:spcAft>
              <a:buNone/>
            </a:pPr>
            <a:r>
              <a:rPr lang="en-US" sz="1600" b="1" dirty="0">
                <a:solidFill>
                  <a:srgbClr val="6B7B8E"/>
                </a:solidFill>
                <a:latin typeface="Calibri"/>
                <a:ea typeface="Calibri"/>
                <a:cs typeface="Calibri"/>
                <a:sym typeface="Calibri"/>
              </a:rPr>
              <a:t>How</a:t>
            </a:r>
            <a:endParaRPr sz="1600" dirty="0">
              <a:latin typeface="Calibri"/>
              <a:ea typeface="Calibri"/>
              <a:cs typeface="Calibri"/>
              <a:sym typeface="Calibri"/>
            </a:endParaRPr>
          </a:p>
          <a:p>
            <a:pPr marL="164465" lvl="0" indent="0" algn="just" rtl="0">
              <a:lnSpc>
                <a:spcPct val="100000"/>
              </a:lnSpc>
              <a:spcBef>
                <a:spcPts val="450"/>
              </a:spcBef>
              <a:spcAft>
                <a:spcPts val="0"/>
              </a:spcAft>
              <a:buNone/>
            </a:pPr>
            <a:r>
              <a:rPr lang="en-US" sz="1600" b="1" dirty="0">
                <a:solidFill>
                  <a:srgbClr val="1F3863"/>
                </a:solidFill>
                <a:latin typeface="Calibri"/>
                <a:ea typeface="Calibri"/>
                <a:cs typeface="Calibri"/>
                <a:sym typeface="Calibri"/>
              </a:rPr>
              <a:t>Operational levers</a:t>
            </a:r>
            <a:endParaRPr sz="1600" dirty="0">
              <a:latin typeface="Calibri"/>
              <a:ea typeface="Calibri"/>
              <a:cs typeface="Calibri"/>
              <a:sym typeface="Calibri"/>
            </a:endParaRPr>
          </a:p>
          <a:p>
            <a:pPr marL="462915" marR="525145" lvl="0" indent="-257810" algn="just" rtl="0">
              <a:lnSpc>
                <a:spcPct val="100000"/>
              </a:lnSpc>
              <a:spcBef>
                <a:spcPts val="495"/>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RCTS Cadre review with dedicated verticals: Refund &amp; ITC scrutiny, Big-Taxpayer Unit, Data Analytics Cell</a:t>
            </a:r>
            <a:endParaRPr sz="1600" dirty="0">
              <a:latin typeface="Calibri"/>
              <a:ea typeface="Calibri"/>
              <a:cs typeface="Calibri"/>
              <a:sym typeface="Calibri"/>
            </a:endParaRPr>
          </a:p>
          <a:p>
            <a:pPr marL="462915" marR="505459" lvl="0" indent="-257810" algn="just" rtl="0">
              <a:lnSpc>
                <a:spcPct val="100000"/>
              </a:lnSpc>
              <a:spcBef>
                <a:spcPts val="600"/>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Fill vacancies at ACCT / CTO levels, timely DPCs and postings.</a:t>
            </a:r>
            <a:endParaRPr sz="1600" dirty="0">
              <a:latin typeface="Calibri"/>
              <a:ea typeface="Calibri"/>
              <a:cs typeface="Calibri"/>
              <a:sym typeface="Calibri"/>
            </a:endParaRPr>
          </a:p>
          <a:p>
            <a:pPr marL="462915" lvl="0" indent="-257175" algn="just" rtl="0">
              <a:lnSpc>
                <a:spcPct val="100000"/>
              </a:lnSpc>
              <a:spcBef>
                <a:spcPts val="605"/>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Top-500 GSTIN State Big-Taxpayer Unit with continuity of officer engagement</a:t>
            </a:r>
          </a:p>
          <a:p>
            <a:pPr marL="462915" lvl="0" indent="-257175" algn="just" rtl="0">
              <a:lnSpc>
                <a:spcPct val="100000"/>
              </a:lnSpc>
              <a:spcBef>
                <a:spcPts val="605"/>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Creation and Strengthening of revision cell for the exercise of revisional authority of chief commissioner u/s section 108 if CGST ACT. This will help examine records of decisions passed by proper officers and if required modify annul or enhanced demands in these orders. </a:t>
            </a:r>
            <a:r>
              <a:rPr lang="en-US" sz="1600" b="1" dirty="0">
                <a:solidFill>
                  <a:srgbClr val="2C3D50"/>
                </a:solidFill>
                <a:latin typeface="Calibri"/>
                <a:ea typeface="Calibri"/>
                <a:cs typeface="Calibri"/>
                <a:sym typeface="Calibri"/>
              </a:rPr>
              <a:t>For this proposal is already submitted with Finance Dept.</a:t>
            </a:r>
            <a:endParaRPr sz="1600" b="1" dirty="0">
              <a:latin typeface="Calibri"/>
              <a:ea typeface="Calibri"/>
              <a:cs typeface="Calibri"/>
              <a:sym typeface="Calibri"/>
            </a:endParaRPr>
          </a:p>
        </p:txBody>
      </p:sp>
      <p:grpSp>
        <p:nvGrpSpPr>
          <p:cNvPr id="2" name="Google Shape;495;p29">
            <a:extLst>
              <a:ext uri="{FF2B5EF4-FFF2-40B4-BE49-F238E27FC236}">
                <a16:creationId xmlns:a16="http://schemas.microsoft.com/office/drawing/2014/main" id="{B2D6EB7E-03F9-6607-C3FB-2E4BC10A1345}"/>
              </a:ext>
            </a:extLst>
          </p:cNvPr>
          <p:cNvGrpSpPr/>
          <p:nvPr/>
        </p:nvGrpSpPr>
        <p:grpSpPr>
          <a:xfrm>
            <a:off x="5793291" y="3376169"/>
            <a:ext cx="3109196" cy="985520"/>
            <a:chOff x="5966459" y="3051810"/>
            <a:chExt cx="2812034" cy="1577339"/>
          </a:xfrm>
        </p:grpSpPr>
        <p:sp>
          <p:nvSpPr>
            <p:cNvPr id="3" name="Google Shape;496;p29">
              <a:extLst>
                <a:ext uri="{FF2B5EF4-FFF2-40B4-BE49-F238E27FC236}">
                  <a16:creationId xmlns:a16="http://schemas.microsoft.com/office/drawing/2014/main" id="{5F6A632B-E4EB-2894-3631-8850ED5DE581}"/>
                </a:ext>
              </a:extLst>
            </p:cNvPr>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 name="Google Shape;497;p29">
              <a:extLst>
                <a:ext uri="{FF2B5EF4-FFF2-40B4-BE49-F238E27FC236}">
                  <a16:creationId xmlns:a16="http://schemas.microsoft.com/office/drawing/2014/main" id="{85C570DF-585B-C895-A185-907B3205C146}"/>
                </a:ext>
              </a:extLst>
            </p:cNvPr>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 name="Google Shape;498;p29">
              <a:extLst>
                <a:ext uri="{FF2B5EF4-FFF2-40B4-BE49-F238E27FC236}">
                  <a16:creationId xmlns:a16="http://schemas.microsoft.com/office/drawing/2014/main" id="{3169CF94-11FA-991E-BC2A-94B7EE65C946}"/>
                </a:ext>
              </a:extLst>
            </p:cNvPr>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 name="Google Shape;499;p29">
              <a:extLst>
                <a:ext uri="{FF2B5EF4-FFF2-40B4-BE49-F238E27FC236}">
                  <a16:creationId xmlns:a16="http://schemas.microsoft.com/office/drawing/2014/main" id="{D2A8A65B-E884-2135-77A7-A3F14B50DDAA}"/>
                </a:ext>
              </a:extLst>
            </p:cNvPr>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7" name="Google Shape;500;p29">
            <a:extLst>
              <a:ext uri="{FF2B5EF4-FFF2-40B4-BE49-F238E27FC236}">
                <a16:creationId xmlns:a16="http://schemas.microsoft.com/office/drawing/2014/main" id="{7905AED7-4015-873B-F5B4-93D65291C453}"/>
              </a:ext>
            </a:extLst>
          </p:cNvPr>
          <p:cNvSpPr txBox="1"/>
          <p:nvPr/>
        </p:nvSpPr>
        <p:spPr>
          <a:xfrm>
            <a:off x="5823831" y="3376168"/>
            <a:ext cx="3048533" cy="831638"/>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200" b="1" dirty="0">
                <a:solidFill>
                  <a:srgbClr val="6B7B8E"/>
                </a:solidFill>
                <a:latin typeface="Calibri"/>
                <a:ea typeface="Calibri"/>
                <a:cs typeface="Calibri"/>
                <a:sym typeface="Calibri"/>
              </a:rPr>
              <a:t>E x p e c t e d  o u t c o m e</a:t>
            </a:r>
            <a:endParaRPr sz="1200" dirty="0">
              <a:latin typeface="Calibri"/>
              <a:ea typeface="Calibri"/>
              <a:cs typeface="Calibri"/>
              <a:sym typeface="Calibri"/>
            </a:endParaRPr>
          </a:p>
          <a:p>
            <a:pPr marL="282575" marR="24765" lvl="0" indent="-171450" algn="l" rtl="0">
              <a:lnSpc>
                <a:spcPct val="100000"/>
              </a:lnSpc>
              <a:spcBef>
                <a:spcPts val="225"/>
              </a:spcBef>
              <a:spcAft>
                <a:spcPts val="0"/>
              </a:spcAft>
              <a:buFont typeface="Arial" panose="020B0604020202020204" pitchFamily="34" charset="0"/>
              <a:buChar char="•"/>
            </a:pPr>
            <a:r>
              <a:rPr lang="en-US" sz="1200" dirty="0">
                <a:solidFill>
                  <a:srgbClr val="2C3D50"/>
                </a:solidFill>
                <a:latin typeface="Calibri"/>
                <a:ea typeface="Calibri"/>
                <a:cs typeface="Calibri"/>
                <a:sym typeface="Calibri"/>
              </a:rPr>
              <a:t>Better monitoring of field officers.</a:t>
            </a:r>
          </a:p>
          <a:p>
            <a:pPr marL="282575" marR="24765" lvl="0" indent="-171450" algn="l" rtl="0">
              <a:lnSpc>
                <a:spcPct val="100000"/>
              </a:lnSpc>
              <a:spcBef>
                <a:spcPts val="225"/>
              </a:spcBef>
              <a:spcAft>
                <a:spcPts val="0"/>
              </a:spcAft>
              <a:buFont typeface="Arial" panose="020B0604020202020204" pitchFamily="34" charset="0"/>
              <a:buChar char="•"/>
            </a:pPr>
            <a:r>
              <a:rPr lang="en-US" sz="1200" dirty="0">
                <a:solidFill>
                  <a:srgbClr val="2C3D50"/>
                </a:solidFill>
                <a:latin typeface="Calibri"/>
                <a:ea typeface="Calibri"/>
                <a:cs typeface="Calibri"/>
                <a:sym typeface="Calibri"/>
              </a:rPr>
              <a:t>Enhanced effectiveness by rationalizing of the workload.</a:t>
            </a:r>
            <a:endParaRPr sz="1200" dirty="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486"/>
        <p:cNvGrpSpPr/>
        <p:nvPr/>
      </p:nvGrpSpPr>
      <p:grpSpPr>
        <a:xfrm>
          <a:off x="0" y="0"/>
          <a:ext cx="0" cy="0"/>
          <a:chOff x="0" y="0"/>
          <a:chExt cx="0" cy="0"/>
        </a:xfrm>
      </p:grpSpPr>
      <p:grpSp>
        <p:nvGrpSpPr>
          <p:cNvPr id="487" name="Google Shape;487;p29"/>
          <p:cNvGrpSpPr/>
          <p:nvPr/>
        </p:nvGrpSpPr>
        <p:grpSpPr>
          <a:xfrm>
            <a:off x="0" y="-63"/>
            <a:ext cx="9144000" cy="832511"/>
            <a:chOff x="0" y="-63"/>
            <a:chExt cx="9144000" cy="832511"/>
          </a:xfrm>
        </p:grpSpPr>
        <p:sp>
          <p:nvSpPr>
            <p:cNvPr id="488" name="Google Shape;488;p29"/>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89" name="Google Shape;489;p29"/>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0" name="Google Shape;490;p29"/>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1" name="Google Shape;491;p29"/>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492" name="Google Shape;492;p29"/>
          <p:cNvSpPr txBox="1">
            <a:spLocks noGrp="1"/>
          </p:cNvSpPr>
          <p:nvPr>
            <p:ph type="title"/>
          </p:nvPr>
        </p:nvSpPr>
        <p:spPr>
          <a:xfrm>
            <a:off x="444500" y="159511"/>
            <a:ext cx="77652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solidFill>
                  <a:schemeClr val="lt1"/>
                </a:solidFill>
              </a:rPr>
              <a:t>#2 Housekeeping — Clean Databases &amp; Pendency Disposal</a:t>
            </a:r>
            <a:endParaRPr sz="2400" dirty="0">
              <a:solidFill>
                <a:schemeClr val="lt1"/>
              </a:solidFill>
            </a:endParaRPr>
          </a:p>
        </p:txBody>
      </p:sp>
      <p:sp>
        <p:nvSpPr>
          <p:cNvPr id="493" name="Google Shape;493;p29"/>
          <p:cNvSpPr txBox="1"/>
          <p:nvPr/>
        </p:nvSpPr>
        <p:spPr>
          <a:xfrm>
            <a:off x="-76200" y="536600"/>
            <a:ext cx="6629400" cy="215400"/>
          </a:xfrm>
          <a:prstGeom prst="rect">
            <a:avLst/>
          </a:prstGeom>
          <a:noFill/>
          <a:ln>
            <a:noFill/>
          </a:ln>
        </p:spPr>
        <p:txBody>
          <a:bodyPr spcFirstLastPara="1" wrap="square" lIns="91425" tIns="45700" rIns="91425" bIns="45700" anchor="t" anchorCtr="0">
            <a:spAutoFit/>
          </a:bodyPr>
          <a:lstStyle/>
          <a:p>
            <a:pPr marL="786765" lvl="0" indent="0" algn="l" rtl="0">
              <a:spcBef>
                <a:spcPts val="0"/>
              </a:spcBef>
              <a:spcAft>
                <a:spcPts val="0"/>
              </a:spcAft>
              <a:buNone/>
            </a:pPr>
            <a:r>
              <a:rPr lang="en-US" sz="800" i="1">
                <a:solidFill>
                  <a:srgbClr val="EFD080"/>
                </a:solidFill>
                <a:latin typeface="Calibri"/>
                <a:ea typeface="Calibri"/>
                <a:cs typeface="Calibri"/>
                <a:sym typeface="Calibri"/>
              </a:rPr>
              <a:t>Get the foundational data clean so analytics can actually work.</a:t>
            </a:r>
            <a:endParaRPr/>
          </a:p>
        </p:txBody>
      </p:sp>
      <p:sp>
        <p:nvSpPr>
          <p:cNvPr id="494" name="Google Shape;494;p29"/>
          <p:cNvSpPr txBox="1"/>
          <p:nvPr/>
        </p:nvSpPr>
        <p:spPr>
          <a:xfrm>
            <a:off x="283096" y="1013305"/>
            <a:ext cx="5111863" cy="4157508"/>
          </a:xfrm>
          <a:prstGeom prst="rect">
            <a:avLst/>
          </a:prstGeom>
          <a:noFill/>
          <a:ln>
            <a:noFill/>
          </a:ln>
        </p:spPr>
        <p:txBody>
          <a:bodyPr spcFirstLastPara="1" wrap="square" lIns="91425" tIns="45700" rIns="91425" bIns="45700" anchor="t" anchorCtr="0">
            <a:spAutoFit/>
          </a:bodyPr>
          <a:lstStyle/>
          <a:p>
            <a:pPr marL="164465" lvl="0" indent="0" algn="just" rtl="0">
              <a:lnSpc>
                <a:spcPct val="100000"/>
              </a:lnSpc>
              <a:spcBef>
                <a:spcPts val="0"/>
              </a:spcBef>
              <a:spcAft>
                <a:spcPts val="0"/>
              </a:spcAft>
              <a:buNone/>
            </a:pPr>
            <a:r>
              <a:rPr lang="en-US" sz="1600" b="1" dirty="0">
                <a:solidFill>
                  <a:srgbClr val="6B7B8E"/>
                </a:solidFill>
                <a:latin typeface="Calibri"/>
                <a:ea typeface="Calibri"/>
                <a:cs typeface="Calibri"/>
                <a:sym typeface="Calibri"/>
              </a:rPr>
              <a:t>How</a:t>
            </a:r>
            <a:endParaRPr sz="1600" dirty="0">
              <a:latin typeface="Calibri"/>
              <a:ea typeface="Calibri"/>
              <a:cs typeface="Calibri"/>
              <a:sym typeface="Calibri"/>
            </a:endParaRPr>
          </a:p>
          <a:p>
            <a:pPr marL="164465" lvl="0" indent="0" algn="just" rtl="0">
              <a:lnSpc>
                <a:spcPct val="100000"/>
              </a:lnSpc>
              <a:spcBef>
                <a:spcPts val="450"/>
              </a:spcBef>
              <a:spcAft>
                <a:spcPts val="0"/>
              </a:spcAft>
              <a:buNone/>
            </a:pPr>
            <a:r>
              <a:rPr lang="en-US" sz="1600" b="1" dirty="0">
                <a:solidFill>
                  <a:srgbClr val="1F3863"/>
                </a:solidFill>
                <a:latin typeface="Calibri"/>
                <a:ea typeface="Calibri"/>
                <a:cs typeface="Calibri"/>
                <a:sym typeface="Calibri"/>
              </a:rPr>
              <a:t>Operational levers</a:t>
            </a:r>
            <a:endParaRPr sz="1600" dirty="0">
              <a:latin typeface="Calibri"/>
              <a:ea typeface="Calibri"/>
              <a:cs typeface="Calibri"/>
              <a:sym typeface="Calibri"/>
            </a:endParaRPr>
          </a:p>
          <a:p>
            <a:pPr marL="285750" indent="-285750">
              <a:buFont typeface="Arial" panose="020B0604020202020204" pitchFamily="34" charset="0"/>
              <a:buChar char="•"/>
            </a:pPr>
            <a:r>
              <a:rPr lang="en-US" sz="1600" dirty="0">
                <a:solidFill>
                  <a:srgbClr val="2C3D50"/>
                </a:solidFill>
                <a:latin typeface="Calibri"/>
                <a:ea typeface="Calibri"/>
                <a:cs typeface="Calibri"/>
              </a:rPr>
              <a:t>Suo-moto cancellation of GSTINs for persistent non-filers.</a:t>
            </a:r>
          </a:p>
          <a:p>
            <a:pPr marL="285750" indent="-285750">
              <a:buFont typeface="Arial" panose="020B0604020202020204" pitchFamily="34" charset="0"/>
              <a:buChar char="•"/>
            </a:pPr>
            <a:r>
              <a:rPr lang="en-US" sz="1600" dirty="0">
                <a:solidFill>
                  <a:srgbClr val="2C3D50"/>
                </a:solidFill>
                <a:latin typeface="Calibri"/>
                <a:ea typeface="Calibri"/>
                <a:cs typeface="Calibri"/>
              </a:rPr>
              <a:t>Verification of taxpayers with suspicious e-Way Bill transactions.</a:t>
            </a:r>
          </a:p>
          <a:p>
            <a:pPr marL="285750" indent="-285750">
              <a:buFont typeface="Arial" panose="020B0604020202020204" pitchFamily="34" charset="0"/>
              <a:buChar char="•"/>
            </a:pPr>
            <a:r>
              <a:rPr lang="en-US" sz="1600" dirty="0">
                <a:solidFill>
                  <a:srgbClr val="2C3D50"/>
                </a:solidFill>
                <a:latin typeface="Calibri"/>
                <a:ea typeface="Calibri"/>
                <a:cs typeface="Calibri"/>
              </a:rPr>
              <a:t>Physical verification of new registrations with high inter-State sales and ITC claims.</a:t>
            </a:r>
            <a:endParaRPr sz="1600" dirty="0">
              <a:solidFill>
                <a:srgbClr val="2C3D50"/>
              </a:solidFill>
              <a:latin typeface="Calibri"/>
              <a:ea typeface="Calibri"/>
              <a:cs typeface="Calibri"/>
              <a:sym typeface="Calibri"/>
            </a:endParaRPr>
          </a:p>
          <a:p>
            <a:pPr marL="374015" lvl="0" indent="-257810" algn="just" rtl="0">
              <a:lnSpc>
                <a:spcPct val="100000"/>
              </a:lnSpc>
              <a:spcBef>
                <a:spcPts val="600"/>
              </a:spcBef>
              <a:spcAft>
                <a:spcPts val="0"/>
              </a:spcAft>
              <a:buClr>
                <a:srgbClr val="FF0000"/>
              </a:buClr>
              <a:buSzPts val="1600"/>
              <a:buFont typeface="Calibri"/>
              <a:buChar char="●"/>
            </a:pPr>
            <a:r>
              <a:rPr lang="en-US" sz="1600" dirty="0">
                <a:solidFill>
                  <a:srgbClr val="FF0000"/>
                </a:solidFill>
                <a:latin typeface="Calibri"/>
                <a:ea typeface="Calibri"/>
                <a:cs typeface="Calibri"/>
                <a:sym typeface="Calibri"/>
              </a:rPr>
              <a:t>28000 </a:t>
            </a:r>
            <a:r>
              <a:rPr lang="en-US" sz="1600" dirty="0">
                <a:solidFill>
                  <a:srgbClr val="2C3D50"/>
                </a:solidFill>
                <a:latin typeface="Calibri"/>
                <a:ea typeface="Calibri"/>
                <a:cs typeface="Calibri"/>
                <a:sym typeface="Calibri"/>
              </a:rPr>
              <a:t>pending SCNs as on 1</a:t>
            </a:r>
            <a:r>
              <a:rPr lang="en-US" sz="1600" baseline="30000" dirty="0">
                <a:solidFill>
                  <a:srgbClr val="2C3D50"/>
                </a:solidFill>
                <a:latin typeface="Calibri"/>
                <a:ea typeface="Calibri"/>
                <a:cs typeface="Calibri"/>
                <a:sym typeface="Calibri"/>
              </a:rPr>
              <a:t>st</a:t>
            </a:r>
            <a:r>
              <a:rPr lang="en-US" sz="1600" dirty="0">
                <a:solidFill>
                  <a:srgbClr val="2C3D50"/>
                </a:solidFill>
                <a:latin typeface="Calibri"/>
                <a:ea typeface="Calibri"/>
                <a:cs typeface="Calibri"/>
                <a:sym typeface="Calibri"/>
              </a:rPr>
              <a:t> May 2026 to be adjudicated/disposed on priority.</a:t>
            </a:r>
            <a:endParaRPr sz="1600" dirty="0">
              <a:latin typeface="Calibri"/>
              <a:ea typeface="Calibri"/>
              <a:cs typeface="Calibri"/>
              <a:sym typeface="Calibri"/>
            </a:endParaRPr>
          </a:p>
          <a:p>
            <a:pPr marL="374015" marR="5080" lvl="0" indent="-257810" algn="just" rtl="0">
              <a:lnSpc>
                <a:spcPct val="100000"/>
              </a:lnSpc>
              <a:spcBef>
                <a:spcPts val="600"/>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State-wide pendency dashboard (assessments, refunds, appeals) tracked bi-weekly.</a:t>
            </a:r>
            <a:endParaRPr dirty="0"/>
          </a:p>
          <a:p>
            <a:pPr marL="374015" marR="5080" lvl="0" indent="-257810" algn="just" rtl="0">
              <a:spcBef>
                <a:spcPts val="600"/>
              </a:spcBef>
              <a:spcAft>
                <a:spcPts val="0"/>
              </a:spcAft>
              <a:buClr>
                <a:srgbClr val="2C3D50"/>
              </a:buClr>
              <a:buSzPts val="1600"/>
              <a:buFont typeface="Calibri"/>
              <a:buChar char="●"/>
            </a:pPr>
            <a:r>
              <a:rPr lang="en-US" sz="1600" dirty="0">
                <a:solidFill>
                  <a:srgbClr val="2C3D50"/>
                </a:solidFill>
                <a:latin typeface="Calibri"/>
                <a:ea typeface="Calibri"/>
                <a:cs typeface="Calibri"/>
                <a:sym typeface="Calibri"/>
              </a:rPr>
              <a:t>GSTIN	PAN&lt;&gt;Aadhaar&lt;&gt;bank reconciliation; flag duplicate/clone GSTINs at the same address</a:t>
            </a:r>
            <a:endParaRPr sz="1600" dirty="0">
              <a:latin typeface="Calibri"/>
              <a:ea typeface="Calibri"/>
              <a:cs typeface="Calibri"/>
              <a:sym typeface="Calibri"/>
            </a:endParaRPr>
          </a:p>
          <a:p>
            <a:pPr marL="374015" marR="5080" lvl="0" indent="-156210" algn="l" rtl="0">
              <a:lnSpc>
                <a:spcPct val="100000"/>
              </a:lnSpc>
              <a:spcBef>
                <a:spcPts val="600"/>
              </a:spcBef>
              <a:spcAft>
                <a:spcPts val="0"/>
              </a:spcAft>
              <a:buSzPts val="1600"/>
              <a:buFont typeface="Arial"/>
              <a:buNone/>
            </a:pPr>
            <a:endParaRPr sz="1600" dirty="0">
              <a:latin typeface="Calibri"/>
              <a:ea typeface="Calibri"/>
              <a:cs typeface="Calibri"/>
              <a:sym typeface="Calibri"/>
            </a:endParaRPr>
          </a:p>
        </p:txBody>
      </p:sp>
      <p:grpSp>
        <p:nvGrpSpPr>
          <p:cNvPr id="495" name="Google Shape;495;p29"/>
          <p:cNvGrpSpPr/>
          <p:nvPr/>
        </p:nvGrpSpPr>
        <p:grpSpPr>
          <a:xfrm>
            <a:off x="5661152" y="3129280"/>
            <a:ext cx="3109196" cy="1946945"/>
            <a:chOff x="5966459" y="3051810"/>
            <a:chExt cx="2812034" cy="1577339"/>
          </a:xfrm>
        </p:grpSpPr>
        <p:sp>
          <p:nvSpPr>
            <p:cNvPr id="496" name="Google Shape;496;p29"/>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7" name="Google Shape;497;p29"/>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8" name="Google Shape;498;p29"/>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499" name="Google Shape;499;p29"/>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00" name="Google Shape;500;p29"/>
          <p:cNvSpPr txBox="1"/>
          <p:nvPr/>
        </p:nvSpPr>
        <p:spPr>
          <a:xfrm>
            <a:off x="5691692" y="3129280"/>
            <a:ext cx="2987449" cy="801600"/>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200" b="1" dirty="0">
                <a:solidFill>
                  <a:srgbClr val="6B7B8E"/>
                </a:solidFill>
                <a:latin typeface="Calibri"/>
                <a:ea typeface="Calibri"/>
                <a:cs typeface="Calibri"/>
                <a:sym typeface="Calibri"/>
              </a:rPr>
              <a:t>E x p e c t e d  o u t c o m e</a:t>
            </a:r>
            <a:endParaRPr sz="1200" dirty="0">
              <a:latin typeface="Calibri"/>
              <a:ea typeface="Calibri"/>
              <a:cs typeface="Calibri"/>
              <a:sym typeface="Calibri"/>
            </a:endParaRPr>
          </a:p>
          <a:p>
            <a:pPr marL="111125" marR="24765" lvl="0" indent="0" algn="l" rtl="0">
              <a:lnSpc>
                <a:spcPct val="100000"/>
              </a:lnSpc>
              <a:spcBef>
                <a:spcPts val="225"/>
              </a:spcBef>
              <a:spcAft>
                <a:spcPts val="0"/>
              </a:spcAft>
              <a:buNone/>
            </a:pPr>
            <a:r>
              <a:rPr lang="en-US" sz="1200" dirty="0">
                <a:solidFill>
                  <a:srgbClr val="2C3D50"/>
                </a:solidFill>
                <a:latin typeface="Calibri"/>
                <a:ea typeface="Calibri"/>
                <a:cs typeface="Calibri"/>
                <a:sym typeface="Calibri"/>
              </a:rPr>
              <a:t>Pendency &lt; 50% of inventory in 12 months; a cleaner base directly reduces the B2C-ratio reading.</a:t>
            </a:r>
            <a:endParaRPr sz="1200" dirty="0">
              <a:latin typeface="Calibri"/>
              <a:ea typeface="Calibri"/>
              <a:cs typeface="Calibri"/>
              <a:sym typeface="Calibri"/>
            </a:endParaRPr>
          </a:p>
        </p:txBody>
      </p:sp>
      <p:sp>
        <p:nvSpPr>
          <p:cNvPr id="501" name="Google Shape;501;p29"/>
          <p:cNvSpPr txBox="1"/>
          <p:nvPr/>
        </p:nvSpPr>
        <p:spPr>
          <a:xfrm>
            <a:off x="5782897" y="4061808"/>
            <a:ext cx="2896244" cy="5925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1200" b="1" dirty="0">
                <a:solidFill>
                  <a:srgbClr val="6B7B8E"/>
                </a:solidFill>
                <a:latin typeface="Calibri"/>
                <a:ea typeface="Calibri"/>
                <a:cs typeface="Calibri"/>
                <a:sym typeface="Calibri"/>
              </a:rPr>
              <a:t>Addresses following diagnostic points</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B2C Ratio Anomaly</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Peer band and cash anomaly</a:t>
            </a:r>
            <a:endParaRPr sz="1200" dirty="0">
              <a:solidFill>
                <a:schemeClr val="dk1"/>
              </a:solidFill>
              <a:latin typeface="Calibri"/>
              <a:ea typeface="Calibri"/>
              <a:cs typeface="Calibri"/>
              <a:sym typeface="Calibri"/>
            </a:endParaRPr>
          </a:p>
        </p:txBody>
      </p:sp>
      <p:graphicFrame>
        <p:nvGraphicFramePr>
          <p:cNvPr id="502" name="Google Shape;502;p29"/>
          <p:cNvGraphicFramePr/>
          <p:nvPr/>
        </p:nvGraphicFramePr>
        <p:xfrm>
          <a:off x="5793721" y="1239903"/>
          <a:ext cx="2840150" cy="1735625"/>
        </p:xfrm>
        <a:graphic>
          <a:graphicData uri="http://schemas.openxmlformats.org/drawingml/2006/table">
            <a:tbl>
              <a:tblPr firstRow="1" bandRow="1">
                <a:noFill/>
                <a:tableStyleId>{0E1360DE-2B03-4F70-B7EE-935E0FC2D80C}</a:tableStyleId>
              </a:tblPr>
              <a:tblGrid>
                <a:gridCol w="1731800">
                  <a:extLst>
                    <a:ext uri="{9D8B030D-6E8A-4147-A177-3AD203B41FA5}">
                      <a16:colId xmlns:a16="http://schemas.microsoft.com/office/drawing/2014/main" val="20000"/>
                    </a:ext>
                  </a:extLst>
                </a:gridCol>
                <a:gridCol w="1108350">
                  <a:extLst>
                    <a:ext uri="{9D8B030D-6E8A-4147-A177-3AD203B41FA5}">
                      <a16:colId xmlns:a16="http://schemas.microsoft.com/office/drawing/2014/main" val="20001"/>
                    </a:ext>
                  </a:extLst>
                </a:gridCol>
              </a:tblGrid>
              <a:tr h="347125">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Time frame</a:t>
                      </a:r>
                      <a:endParaRPr sz="1400" u="none" strike="noStrike" cap="none">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B2A49"/>
                    </a:solidFill>
                  </a:tcPr>
                </a:tc>
                <a:tc>
                  <a:txBody>
                    <a:bodyPr/>
                    <a:lstStyle/>
                    <a:p>
                      <a:pPr marL="0" marR="0" lvl="0" indent="0" algn="ctr" rtl="0">
                        <a:lnSpc>
                          <a:spcPct val="100000"/>
                        </a:lnSpc>
                        <a:spcBef>
                          <a:spcPts val="0"/>
                        </a:spcBef>
                        <a:spcAft>
                          <a:spcPts val="0"/>
                        </a:spcAft>
                        <a:buNone/>
                      </a:pPr>
                      <a:r>
                        <a:rPr lang="en-US" sz="1400" b="1" u="none" strike="noStrike" cap="none">
                          <a:solidFill>
                            <a:srgbClr val="FFFFFF"/>
                          </a:solidFill>
                          <a:latin typeface="Calibri"/>
                          <a:ea typeface="Calibri"/>
                          <a:cs typeface="Calibri"/>
                          <a:sym typeface="Calibri"/>
                        </a:rPr>
                        <a:t>Pending Cases</a:t>
                      </a:r>
                      <a:endParaRPr sz="1400" u="none" strike="noStrike" cap="none">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1B2A49"/>
                    </a:solidFill>
                  </a:tcPr>
                </a:tc>
                <a:extLst>
                  <a:ext uri="{0D108BD9-81ED-4DB2-BD59-A6C34878D82A}">
                    <a16:rowId xmlns:a16="http://schemas.microsoft.com/office/drawing/2014/main" val="10000"/>
                  </a:ext>
                </a:extLst>
              </a:tr>
              <a:tr h="34712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0-3 Months</a:t>
                      </a:r>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tc>
                  <a:txBody>
                    <a:bodyPr/>
                    <a:lstStyle/>
                    <a:p>
                      <a:pPr marL="0" marR="0" lvl="0" indent="0" algn="ctr" rtl="0">
                        <a:lnSpc>
                          <a:spcPct val="100000"/>
                        </a:lnSpc>
                        <a:spcBef>
                          <a:spcPts val="0"/>
                        </a:spcBef>
                        <a:spcAft>
                          <a:spcPts val="0"/>
                        </a:spcAft>
                        <a:buNone/>
                      </a:pP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extLst>
                  <a:ext uri="{0D108BD9-81ED-4DB2-BD59-A6C34878D82A}">
                    <a16:rowId xmlns:a16="http://schemas.microsoft.com/office/drawing/2014/main" val="10001"/>
                  </a:ext>
                </a:extLst>
              </a:tr>
              <a:tr h="34712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3-6 Months</a:t>
                      </a:r>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tc>
                  <a:txBody>
                    <a:bodyPr/>
                    <a:lstStyle/>
                    <a:p>
                      <a:pPr marL="0" marR="0" lvl="0" indent="0" algn="ctr" rtl="0">
                        <a:lnSpc>
                          <a:spcPct val="100000"/>
                        </a:lnSpc>
                        <a:spcBef>
                          <a:spcPts val="0"/>
                        </a:spcBef>
                        <a:spcAft>
                          <a:spcPts val="0"/>
                        </a:spcAft>
                        <a:buNone/>
                      </a:pP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extLst>
                  <a:ext uri="{0D108BD9-81ED-4DB2-BD59-A6C34878D82A}">
                    <a16:rowId xmlns:a16="http://schemas.microsoft.com/office/drawing/2014/main" val="10002"/>
                  </a:ext>
                </a:extLst>
              </a:tr>
              <a:tr h="347125">
                <a:tc>
                  <a:txBody>
                    <a:bodyPr/>
                    <a:lstStyle/>
                    <a:p>
                      <a:pPr marL="0" marR="0" lvl="0" indent="0" algn="ctr" rtl="0">
                        <a:lnSpc>
                          <a:spcPct val="100000"/>
                        </a:lnSpc>
                        <a:spcBef>
                          <a:spcPts val="0"/>
                        </a:spcBef>
                        <a:spcAft>
                          <a:spcPts val="0"/>
                        </a:spcAft>
                        <a:buNone/>
                      </a:pPr>
                      <a:r>
                        <a:rPr lang="en-US" sz="1400" u="none" strike="noStrike" cap="none">
                          <a:latin typeface="Calibri"/>
                          <a:ea typeface="Calibri"/>
                          <a:cs typeface="Calibri"/>
                          <a:sym typeface="Calibri"/>
                        </a:rPr>
                        <a:t>6-12 Months</a:t>
                      </a:r>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tc>
                  <a:txBody>
                    <a:bodyPr/>
                    <a:lstStyle/>
                    <a:p>
                      <a:pPr marL="0" marR="0" lvl="0" indent="0" algn="ctr" rtl="0">
                        <a:lnSpc>
                          <a:spcPct val="100000"/>
                        </a:lnSpc>
                        <a:spcBef>
                          <a:spcPts val="0"/>
                        </a:spcBef>
                        <a:spcAft>
                          <a:spcPts val="0"/>
                        </a:spcAft>
                        <a:buNone/>
                      </a:pP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CFD4EA"/>
                    </a:solidFill>
                  </a:tcPr>
                </a:tc>
                <a:extLst>
                  <a:ext uri="{0D108BD9-81ED-4DB2-BD59-A6C34878D82A}">
                    <a16:rowId xmlns:a16="http://schemas.microsoft.com/office/drawing/2014/main" val="10003"/>
                  </a:ext>
                </a:extLst>
              </a:tr>
              <a:tr h="347125">
                <a:tc>
                  <a:txBody>
                    <a:bodyPr/>
                    <a:lstStyle/>
                    <a:p>
                      <a:pPr marL="0" marR="0" lvl="0" indent="0" algn="ctr" rtl="0">
                        <a:lnSpc>
                          <a:spcPct val="100000"/>
                        </a:lnSpc>
                        <a:spcBef>
                          <a:spcPts val="0"/>
                        </a:spcBef>
                        <a:spcAft>
                          <a:spcPts val="0"/>
                        </a:spcAft>
                        <a:buNone/>
                      </a:pPr>
                      <a:r>
                        <a:rPr lang="en-US" sz="1400" u="none" strike="noStrike" cap="none" dirty="0">
                          <a:latin typeface="Calibri"/>
                          <a:ea typeface="Calibri"/>
                          <a:cs typeface="Calibri"/>
                          <a:sym typeface="Calibri"/>
                        </a:rPr>
                        <a:t>More than 12 Months</a:t>
                      </a:r>
                      <a:endParaRPr dirty="0"/>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tc>
                  <a:txBody>
                    <a:bodyPr/>
                    <a:lstStyle/>
                    <a:p>
                      <a:pPr marL="0" marR="0" lvl="0" indent="0" algn="ctr" rtl="0">
                        <a:lnSpc>
                          <a:spcPct val="100000"/>
                        </a:lnSpc>
                        <a:spcBef>
                          <a:spcPts val="0"/>
                        </a:spcBef>
                        <a:spcAft>
                          <a:spcPts val="0"/>
                        </a:spcAft>
                        <a:buNone/>
                      </a:pPr>
                      <a:endParaRPr sz="1400" u="none" strike="noStrike" cap="none" dirty="0">
                        <a:latin typeface="Calibri"/>
                        <a:ea typeface="Calibri"/>
                        <a:cs typeface="Calibri"/>
                        <a:sym typeface="Calibri"/>
                      </a:endParaRPr>
                    </a:p>
                  </a:txBody>
                  <a:tcPr marL="0" marR="0" marT="38100" marB="0">
                    <a:lnL w="12700" cap="flat" cmpd="sng">
                      <a:solidFill>
                        <a:srgbClr val="000000"/>
                      </a:solidFill>
                      <a:prstDash val="solid"/>
                      <a:round/>
                      <a:headEnd type="none" w="sm" len="sm"/>
                      <a:tailEnd type="none" w="sm" len="sm"/>
                    </a:lnL>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lnB w="12700" cap="flat" cmpd="sng">
                      <a:solidFill>
                        <a:srgbClr val="000000"/>
                      </a:solidFill>
                      <a:prstDash val="solid"/>
                      <a:round/>
                      <a:headEnd type="none" w="sm" len="sm"/>
                      <a:tailEnd type="none" w="sm" len="sm"/>
                    </a:lnB>
                    <a:solidFill>
                      <a:srgbClr val="E9EB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507"/>
        <p:cNvGrpSpPr/>
        <p:nvPr/>
      </p:nvGrpSpPr>
      <p:grpSpPr>
        <a:xfrm>
          <a:off x="0" y="0"/>
          <a:ext cx="0" cy="0"/>
          <a:chOff x="0" y="0"/>
          <a:chExt cx="0" cy="0"/>
        </a:xfrm>
      </p:grpSpPr>
      <p:grpSp>
        <p:nvGrpSpPr>
          <p:cNvPr id="508" name="Google Shape;508;p30"/>
          <p:cNvGrpSpPr/>
          <p:nvPr/>
        </p:nvGrpSpPr>
        <p:grpSpPr>
          <a:xfrm>
            <a:off x="0" y="-63"/>
            <a:ext cx="9144000" cy="832511"/>
            <a:chOff x="0" y="-63"/>
            <a:chExt cx="9144000" cy="832511"/>
          </a:xfrm>
        </p:grpSpPr>
        <p:sp>
          <p:nvSpPr>
            <p:cNvPr id="509" name="Google Shape;509;p30"/>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endParaRPr>
            </a:p>
          </p:txBody>
        </p:sp>
        <p:sp>
          <p:nvSpPr>
            <p:cNvPr id="510" name="Google Shape;510;p30"/>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endParaRPr>
            </a:p>
          </p:txBody>
        </p:sp>
        <p:sp>
          <p:nvSpPr>
            <p:cNvPr id="511" name="Google Shape;511;p30"/>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endParaRPr>
            </a:p>
          </p:txBody>
        </p:sp>
        <p:sp>
          <p:nvSpPr>
            <p:cNvPr id="512" name="Google Shape;512;p30"/>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SzPts val="1800"/>
                <a:buFont typeface="Arial"/>
                <a:buNone/>
              </a:pPr>
              <a:endParaRPr sz="1800" b="0" i="0" u="none" strike="noStrike" cap="none">
                <a:solidFill>
                  <a:srgbClr val="000000"/>
                </a:solidFill>
              </a:endParaRPr>
            </a:p>
          </p:txBody>
        </p:sp>
      </p:grpSp>
      <p:sp>
        <p:nvSpPr>
          <p:cNvPr id="513" name="Google Shape;513;p30"/>
          <p:cNvSpPr txBox="1">
            <a:spLocks noGrp="1"/>
          </p:cNvSpPr>
          <p:nvPr>
            <p:ph type="title"/>
          </p:nvPr>
        </p:nvSpPr>
        <p:spPr>
          <a:xfrm>
            <a:off x="444500" y="159511"/>
            <a:ext cx="80898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rgbClr val="FFFFFF"/>
                </a:solidFill>
              </a:rPr>
              <a:t>#3 </a:t>
            </a:r>
            <a:r>
              <a:rPr lang="en-US" sz="2400">
                <a:solidFill>
                  <a:schemeClr val="lt1"/>
                </a:solidFill>
              </a:rPr>
              <a:t>AI Tools for Monitoring, Audit, Enforcement &amp; Scrutiny</a:t>
            </a:r>
            <a:endParaRPr sz="2400">
              <a:solidFill>
                <a:schemeClr val="lt1"/>
              </a:solidFill>
            </a:endParaRPr>
          </a:p>
        </p:txBody>
      </p:sp>
      <p:sp>
        <p:nvSpPr>
          <p:cNvPr id="514" name="Google Shape;514;p30"/>
          <p:cNvSpPr txBox="1"/>
          <p:nvPr/>
        </p:nvSpPr>
        <p:spPr>
          <a:xfrm>
            <a:off x="-76200" y="536600"/>
            <a:ext cx="6629400" cy="377100"/>
          </a:xfrm>
          <a:prstGeom prst="rect">
            <a:avLst/>
          </a:prstGeom>
          <a:noFill/>
          <a:ln>
            <a:noFill/>
          </a:ln>
        </p:spPr>
        <p:txBody>
          <a:bodyPr spcFirstLastPara="1" wrap="square" lIns="91425" tIns="45700" rIns="91425" bIns="45700" anchor="t" anchorCtr="0">
            <a:spAutoFit/>
          </a:bodyPr>
          <a:lstStyle/>
          <a:p>
            <a:pPr marL="786765" lvl="0" indent="0" algn="l" rtl="0">
              <a:spcBef>
                <a:spcPts val="0"/>
              </a:spcBef>
              <a:spcAft>
                <a:spcPts val="0"/>
              </a:spcAft>
              <a:buNone/>
            </a:pPr>
            <a:r>
              <a:rPr lang="en-US" sz="800" i="1">
                <a:solidFill>
                  <a:srgbClr val="C8A84B"/>
                </a:solidFill>
                <a:latin typeface="Calibri"/>
                <a:ea typeface="Calibri"/>
                <a:cs typeface="Calibri"/>
                <a:sym typeface="Calibri"/>
              </a:rPr>
              <a:t>Industrialize AI/ML against the exact anomalies the diagnostic flags</a:t>
            </a:r>
            <a:r>
              <a:rPr lang="en-US" sz="800" i="1">
                <a:solidFill>
                  <a:srgbClr val="2C5F7B"/>
                </a:solidFill>
                <a:latin typeface="Calibri"/>
                <a:ea typeface="Calibri"/>
                <a:cs typeface="Calibri"/>
                <a:sym typeface="Calibri"/>
              </a:rPr>
              <a:t>.</a:t>
            </a:r>
            <a:endParaRPr sz="800">
              <a:latin typeface="Calibri"/>
              <a:ea typeface="Calibri"/>
              <a:cs typeface="Calibri"/>
              <a:sym typeface="Calibri"/>
            </a:endParaRPr>
          </a:p>
          <a:p>
            <a:pPr marL="786765" marR="0" lvl="0" indent="0" algn="l" rtl="0">
              <a:lnSpc>
                <a:spcPct val="100000"/>
              </a:lnSpc>
              <a:spcBef>
                <a:spcPts val="260"/>
              </a:spcBef>
              <a:spcAft>
                <a:spcPts val="0"/>
              </a:spcAft>
              <a:buClr>
                <a:srgbClr val="EFD080"/>
              </a:buClr>
              <a:buSzPts val="800"/>
              <a:buFont typeface="Calibri"/>
              <a:buNone/>
            </a:pPr>
            <a:r>
              <a:rPr lang="en-US" sz="800" b="0" i="1" u="none" strike="noStrike" cap="none">
                <a:solidFill>
                  <a:srgbClr val="EFD080"/>
                </a:solidFill>
                <a:latin typeface="Calibri"/>
                <a:ea typeface="Calibri"/>
                <a:cs typeface="Calibri"/>
                <a:sym typeface="Calibri"/>
              </a:rPr>
              <a:t>.</a:t>
            </a:r>
            <a:endParaRPr/>
          </a:p>
        </p:txBody>
      </p:sp>
      <p:sp>
        <p:nvSpPr>
          <p:cNvPr id="515" name="Google Shape;515;p30"/>
          <p:cNvSpPr txBox="1"/>
          <p:nvPr/>
        </p:nvSpPr>
        <p:spPr>
          <a:xfrm>
            <a:off x="76200" y="771860"/>
            <a:ext cx="8715600" cy="2112600"/>
          </a:xfrm>
          <a:prstGeom prst="rect">
            <a:avLst/>
          </a:prstGeom>
          <a:noFill/>
          <a:ln>
            <a:noFill/>
          </a:ln>
        </p:spPr>
        <p:txBody>
          <a:bodyPr spcFirstLastPara="1" wrap="square" lIns="91425" tIns="45700" rIns="91425" bIns="45700" anchor="t" anchorCtr="0">
            <a:spAutoFit/>
          </a:bodyPr>
          <a:lstStyle/>
          <a:p>
            <a:pPr marL="164465" marR="0" lvl="0" indent="0" algn="just" rtl="0">
              <a:lnSpc>
                <a:spcPct val="100000"/>
              </a:lnSpc>
              <a:spcBef>
                <a:spcPts val="0"/>
              </a:spcBef>
              <a:spcAft>
                <a:spcPts val="0"/>
              </a:spcAft>
              <a:buClr>
                <a:srgbClr val="6B7B8E"/>
              </a:buClr>
              <a:buSzPts val="1600"/>
              <a:buFont typeface="Calibri"/>
              <a:buNone/>
            </a:pPr>
            <a:r>
              <a:rPr lang="en-US" sz="1600" b="1" i="0" u="none" strike="noStrike" cap="none" dirty="0">
                <a:solidFill>
                  <a:srgbClr val="6B7B8E"/>
                </a:solidFill>
                <a:latin typeface="Calibri"/>
                <a:ea typeface="Calibri"/>
                <a:cs typeface="Calibri"/>
                <a:sym typeface="Calibri"/>
              </a:rPr>
              <a:t>How</a:t>
            </a:r>
            <a:endParaRPr sz="1600" b="0" i="0" u="none" strike="noStrike" cap="none" dirty="0">
              <a:solidFill>
                <a:srgbClr val="000000"/>
              </a:solidFill>
              <a:latin typeface="Calibri"/>
              <a:ea typeface="Calibri"/>
              <a:cs typeface="Calibri"/>
              <a:sym typeface="Calibri"/>
            </a:endParaRPr>
          </a:p>
          <a:p>
            <a:pPr marL="164465" marR="0" lvl="0" indent="0" algn="just" rtl="0">
              <a:lnSpc>
                <a:spcPct val="100000"/>
              </a:lnSpc>
              <a:spcBef>
                <a:spcPts val="450"/>
              </a:spcBef>
              <a:spcAft>
                <a:spcPts val="0"/>
              </a:spcAft>
              <a:buClr>
                <a:srgbClr val="1F3863"/>
              </a:buClr>
              <a:buSzPts val="1600"/>
              <a:buFont typeface="Calibri"/>
              <a:buNone/>
            </a:pPr>
            <a:r>
              <a:rPr lang="en-US" sz="1600" b="1" i="0" u="none" strike="noStrike" cap="none" dirty="0">
                <a:solidFill>
                  <a:srgbClr val="1F3863"/>
                </a:solidFill>
                <a:latin typeface="Calibri"/>
                <a:ea typeface="Calibri"/>
                <a:cs typeface="Calibri"/>
                <a:sym typeface="Calibri"/>
              </a:rPr>
              <a:t>Operational levers</a:t>
            </a:r>
            <a:endParaRPr sz="1600" b="0" i="0" u="none" strike="noStrike" cap="none" dirty="0">
              <a:solidFill>
                <a:srgbClr val="000000"/>
              </a:solidFill>
              <a:latin typeface="Calibri"/>
              <a:ea typeface="Calibri"/>
              <a:cs typeface="Calibri"/>
              <a:sym typeface="Calibri"/>
            </a:endParaRPr>
          </a:p>
          <a:p>
            <a:pPr marL="360001" marR="135255" lvl="1" indent="-257810" algn="just" rtl="0">
              <a:spcBef>
                <a:spcPts val="300"/>
              </a:spcBef>
              <a:spcAft>
                <a:spcPts val="0"/>
              </a:spcAft>
              <a:buClr>
                <a:srgbClr val="2C3D50"/>
              </a:buClr>
              <a:buSzPts val="1400"/>
              <a:buFont typeface="Calibri"/>
              <a:buChar char="●"/>
            </a:pPr>
            <a:r>
              <a:rPr lang="en-US" sz="1400" dirty="0">
                <a:solidFill>
                  <a:srgbClr val="2C3D50"/>
                </a:solidFill>
                <a:latin typeface="Calibri"/>
                <a:ea typeface="Calibri"/>
                <a:cs typeface="Calibri"/>
                <a:sym typeface="Calibri"/>
              </a:rPr>
              <a:t>Data Request from CBIC/GSTN to understand the methodology behind the peer band distribution.</a:t>
            </a:r>
            <a:endParaRPr dirty="0"/>
          </a:p>
          <a:p>
            <a:pPr marL="360001" marR="135255" lvl="1" indent="-257810" algn="just" rtl="0">
              <a:spcBef>
                <a:spcPts val="300"/>
              </a:spcBef>
              <a:spcAft>
                <a:spcPts val="0"/>
              </a:spcAft>
              <a:buClr>
                <a:srgbClr val="2C3D50"/>
              </a:buClr>
              <a:buSzPts val="1400"/>
              <a:buFont typeface="Calibri"/>
              <a:buChar char="●"/>
            </a:pPr>
            <a:r>
              <a:rPr lang="en-US" sz="1400" dirty="0">
                <a:solidFill>
                  <a:srgbClr val="2C3D50"/>
                </a:solidFill>
                <a:latin typeface="Calibri"/>
                <a:ea typeface="Calibri"/>
                <a:cs typeface="Calibri"/>
                <a:sym typeface="Calibri"/>
              </a:rPr>
              <a:t>Once the list of 5.37 L taxpayers is received, Data Analysis on these taxpayers will be conducted at the state level to issue ASMT-10 wherever required.</a:t>
            </a:r>
            <a:endParaRPr sz="1400" dirty="0">
              <a:latin typeface="Calibri"/>
              <a:ea typeface="Calibri"/>
              <a:cs typeface="Calibri"/>
              <a:sym typeface="Calibri"/>
            </a:endParaRPr>
          </a:p>
          <a:p>
            <a:pPr marL="360001" marR="5080" lvl="2" indent="-257810" algn="just" rtl="0">
              <a:spcBef>
                <a:spcPts val="300"/>
              </a:spcBef>
              <a:spcAft>
                <a:spcPts val="0"/>
              </a:spcAft>
              <a:buClr>
                <a:srgbClr val="2C3D50"/>
              </a:buClr>
              <a:buSzPts val="1400"/>
              <a:buFont typeface="Calibri"/>
              <a:buChar char="●"/>
            </a:pPr>
            <a:r>
              <a:rPr lang="en-US" sz="1400" dirty="0">
                <a:solidFill>
                  <a:srgbClr val="2C3D50"/>
                </a:solidFill>
                <a:latin typeface="Calibri"/>
                <a:ea typeface="Calibri"/>
                <a:cs typeface="Calibri"/>
                <a:sym typeface="Calibri"/>
              </a:rPr>
              <a:t>Graph-network analysis on GSTR-1 and e-way bill for the identified taxpayers</a:t>
            </a:r>
            <a:endParaRPr dirty="0"/>
          </a:p>
          <a:p>
            <a:pPr marL="360001" lvl="2" indent="-257175" algn="just" rtl="0">
              <a:spcBef>
                <a:spcPts val="300"/>
              </a:spcBef>
              <a:spcAft>
                <a:spcPts val="0"/>
              </a:spcAft>
              <a:buClr>
                <a:srgbClr val="2C3D50"/>
              </a:buClr>
              <a:buSzPts val="1400"/>
              <a:buFont typeface="Calibri"/>
              <a:buChar char="●"/>
            </a:pPr>
            <a:r>
              <a:rPr lang="en-US" sz="1400" dirty="0">
                <a:solidFill>
                  <a:srgbClr val="2C3D50"/>
                </a:solidFill>
                <a:latin typeface="Calibri"/>
                <a:ea typeface="Calibri"/>
                <a:cs typeface="Calibri"/>
                <a:sym typeface="Calibri"/>
              </a:rPr>
              <a:t>AI / ML use cases to detect tax evasion and fake taxpayers.</a:t>
            </a:r>
            <a:endParaRPr dirty="0"/>
          </a:p>
          <a:p>
            <a:pPr marL="374015" lvl="0" indent="0" algn="l" rtl="0">
              <a:lnSpc>
                <a:spcPct val="100000"/>
              </a:lnSpc>
              <a:spcBef>
                <a:spcPts val="0"/>
              </a:spcBef>
              <a:spcAft>
                <a:spcPts val="0"/>
              </a:spcAft>
              <a:buNone/>
            </a:pPr>
            <a:endParaRPr sz="1600" dirty="0">
              <a:latin typeface="Calibri"/>
              <a:ea typeface="Calibri"/>
              <a:cs typeface="Calibri"/>
              <a:sym typeface="Calibri"/>
            </a:endParaRPr>
          </a:p>
        </p:txBody>
      </p:sp>
      <p:graphicFrame>
        <p:nvGraphicFramePr>
          <p:cNvPr id="516" name="Google Shape;516;p30"/>
          <p:cNvGraphicFramePr/>
          <p:nvPr>
            <p:extLst>
              <p:ext uri="{D42A27DB-BD31-4B8C-83A1-F6EECF244321}">
                <p14:modId xmlns:p14="http://schemas.microsoft.com/office/powerpoint/2010/main" val="1727975288"/>
              </p:ext>
            </p:extLst>
          </p:nvPr>
        </p:nvGraphicFramePr>
        <p:xfrm>
          <a:off x="76200" y="2669922"/>
          <a:ext cx="8942613" cy="2468500"/>
        </p:xfrm>
        <a:graphic>
          <a:graphicData uri="http://schemas.openxmlformats.org/drawingml/2006/table">
            <a:tbl>
              <a:tblPr>
                <a:noFill/>
                <a:tableStyleId>{C0668F59-ACE9-41EE-BF83-7E9F5C155E1C}</a:tableStyleId>
              </a:tblPr>
              <a:tblGrid>
                <a:gridCol w="909025">
                  <a:extLst>
                    <a:ext uri="{9D8B030D-6E8A-4147-A177-3AD203B41FA5}">
                      <a16:colId xmlns:a16="http://schemas.microsoft.com/office/drawing/2014/main" val="20000"/>
                    </a:ext>
                  </a:extLst>
                </a:gridCol>
                <a:gridCol w="577750">
                  <a:extLst>
                    <a:ext uri="{9D8B030D-6E8A-4147-A177-3AD203B41FA5}">
                      <a16:colId xmlns:a16="http://schemas.microsoft.com/office/drawing/2014/main" val="20001"/>
                    </a:ext>
                  </a:extLst>
                </a:gridCol>
                <a:gridCol w="484575">
                  <a:extLst>
                    <a:ext uri="{9D8B030D-6E8A-4147-A177-3AD203B41FA5}">
                      <a16:colId xmlns:a16="http://schemas.microsoft.com/office/drawing/2014/main" val="20002"/>
                    </a:ext>
                  </a:extLst>
                </a:gridCol>
                <a:gridCol w="596400">
                  <a:extLst>
                    <a:ext uri="{9D8B030D-6E8A-4147-A177-3AD203B41FA5}">
                      <a16:colId xmlns:a16="http://schemas.microsoft.com/office/drawing/2014/main" val="20003"/>
                    </a:ext>
                  </a:extLst>
                </a:gridCol>
                <a:gridCol w="605700">
                  <a:extLst>
                    <a:ext uri="{9D8B030D-6E8A-4147-A177-3AD203B41FA5}">
                      <a16:colId xmlns:a16="http://schemas.microsoft.com/office/drawing/2014/main" val="20004"/>
                    </a:ext>
                  </a:extLst>
                </a:gridCol>
                <a:gridCol w="521850">
                  <a:extLst>
                    <a:ext uri="{9D8B030D-6E8A-4147-A177-3AD203B41FA5}">
                      <a16:colId xmlns:a16="http://schemas.microsoft.com/office/drawing/2014/main" val="20005"/>
                    </a:ext>
                  </a:extLst>
                </a:gridCol>
                <a:gridCol w="465925">
                  <a:extLst>
                    <a:ext uri="{9D8B030D-6E8A-4147-A177-3AD203B41FA5}">
                      <a16:colId xmlns:a16="http://schemas.microsoft.com/office/drawing/2014/main" val="20006"/>
                    </a:ext>
                  </a:extLst>
                </a:gridCol>
                <a:gridCol w="531150">
                  <a:extLst>
                    <a:ext uri="{9D8B030D-6E8A-4147-A177-3AD203B41FA5}">
                      <a16:colId xmlns:a16="http://schemas.microsoft.com/office/drawing/2014/main" val="20007"/>
                    </a:ext>
                  </a:extLst>
                </a:gridCol>
                <a:gridCol w="577750">
                  <a:extLst>
                    <a:ext uri="{9D8B030D-6E8A-4147-A177-3AD203B41FA5}">
                      <a16:colId xmlns:a16="http://schemas.microsoft.com/office/drawing/2014/main" val="20008"/>
                    </a:ext>
                  </a:extLst>
                </a:gridCol>
                <a:gridCol w="651703">
                  <a:extLst>
                    <a:ext uri="{9D8B030D-6E8A-4147-A177-3AD203B41FA5}">
                      <a16:colId xmlns:a16="http://schemas.microsoft.com/office/drawing/2014/main" val="20009"/>
                    </a:ext>
                  </a:extLst>
                </a:gridCol>
                <a:gridCol w="636814">
                  <a:extLst>
                    <a:ext uri="{9D8B030D-6E8A-4147-A177-3AD203B41FA5}">
                      <a16:colId xmlns:a16="http://schemas.microsoft.com/office/drawing/2014/main" val="20010"/>
                    </a:ext>
                  </a:extLst>
                </a:gridCol>
                <a:gridCol w="587828">
                  <a:extLst>
                    <a:ext uri="{9D8B030D-6E8A-4147-A177-3AD203B41FA5}">
                      <a16:colId xmlns:a16="http://schemas.microsoft.com/office/drawing/2014/main" val="20011"/>
                    </a:ext>
                  </a:extLst>
                </a:gridCol>
                <a:gridCol w="604158">
                  <a:extLst>
                    <a:ext uri="{9D8B030D-6E8A-4147-A177-3AD203B41FA5}">
                      <a16:colId xmlns:a16="http://schemas.microsoft.com/office/drawing/2014/main" val="20012"/>
                    </a:ext>
                  </a:extLst>
                </a:gridCol>
                <a:gridCol w="538722">
                  <a:extLst>
                    <a:ext uri="{9D8B030D-6E8A-4147-A177-3AD203B41FA5}">
                      <a16:colId xmlns:a16="http://schemas.microsoft.com/office/drawing/2014/main" val="20013"/>
                    </a:ext>
                  </a:extLst>
                </a:gridCol>
                <a:gridCol w="653263">
                  <a:extLst>
                    <a:ext uri="{9D8B030D-6E8A-4147-A177-3AD203B41FA5}">
                      <a16:colId xmlns:a16="http://schemas.microsoft.com/office/drawing/2014/main" val="20014"/>
                    </a:ext>
                  </a:extLst>
                </a:gridCol>
              </a:tblGrid>
              <a:tr h="261537">
                <a:tc>
                  <a:txBody>
                    <a:bodyPr/>
                    <a:lstStyle/>
                    <a:p>
                      <a:pPr marL="0" marR="0" lvl="0" indent="0" algn="ctr" rtl="0">
                        <a:spcBef>
                          <a:spcPts val="0"/>
                        </a:spcBef>
                        <a:spcAft>
                          <a:spcPts val="0"/>
                        </a:spcAft>
                        <a:buClr>
                          <a:schemeClr val="lt1"/>
                        </a:buClr>
                        <a:buSzPts val="900"/>
                        <a:buFont typeface="Arial"/>
                        <a:buNone/>
                      </a:pPr>
                      <a:r>
                        <a:rPr lang="en-US" sz="800" b="1" i="0" u="none" strike="noStrike" cap="none" dirty="0">
                          <a:solidFill>
                            <a:schemeClr val="lt1"/>
                          </a:solidFill>
                          <a:latin typeface="Arial"/>
                          <a:ea typeface="Arial"/>
                          <a:cs typeface="Arial"/>
                          <a:sym typeface="Arial"/>
                        </a:rPr>
                        <a:t>Turnover vs cash</a:t>
                      </a:r>
                      <a:endParaRPr sz="1200"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Zero Cash</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0 to 10K</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10k to 25K</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5K to 50K</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50K to 1L</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1L to 5L</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5L to 10L</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10L to 20L</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20L to 50L</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50L to 1Cr</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1Cr to 2.5Cr</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a:solidFill>
                            <a:schemeClr val="lt1"/>
                          </a:solidFill>
                          <a:latin typeface="Arial"/>
                          <a:ea typeface="Arial"/>
                          <a:cs typeface="Arial"/>
                          <a:sym typeface="Arial"/>
                        </a:rPr>
                        <a:t>2.5Cr to 5Cr</a:t>
                      </a:r>
                      <a:endParaRPr sz="120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dirty="0">
                          <a:solidFill>
                            <a:schemeClr val="lt1"/>
                          </a:solidFill>
                          <a:latin typeface="Arial"/>
                          <a:ea typeface="Arial"/>
                          <a:cs typeface="Arial"/>
                          <a:sym typeface="Arial"/>
                        </a:rPr>
                        <a:t>above 5Cr</a:t>
                      </a:r>
                      <a:endParaRPr sz="1200"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900"/>
                        <a:buFont typeface="Arial"/>
                        <a:buNone/>
                      </a:pPr>
                      <a:r>
                        <a:rPr lang="en-US" sz="800" b="1" i="0" u="none" strike="noStrike" cap="none" dirty="0">
                          <a:solidFill>
                            <a:schemeClr val="lt1"/>
                          </a:solidFill>
                          <a:latin typeface="Arial"/>
                          <a:ea typeface="Arial"/>
                          <a:cs typeface="Arial"/>
                          <a:sym typeface="Arial"/>
                        </a:rPr>
                        <a:t>Grand Total</a:t>
                      </a:r>
                      <a:endParaRPr sz="1200"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extLst>
                  <a:ext uri="{0D108BD9-81ED-4DB2-BD59-A6C34878D82A}">
                    <a16:rowId xmlns:a16="http://schemas.microsoft.com/office/drawing/2014/main" val="10000"/>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Above 500Cr</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5</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24</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59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307</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596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1"/>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100Cr to 500Cr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56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64</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278</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191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225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346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249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349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261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430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2,647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2"/>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dirty="0">
                          <a:solidFill>
                            <a:srgbClr val="000000"/>
                          </a:solidFill>
                          <a:latin typeface="Arial"/>
                          <a:ea typeface="Arial"/>
                          <a:cs typeface="Arial"/>
                          <a:sym typeface="Arial"/>
                        </a:rPr>
                        <a:t>50Cr to 100Cr</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317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74</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96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129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541</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343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354</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455</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no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377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450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227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155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3,647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3"/>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25Cr to 50Cr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1033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367</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199</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236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340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1493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815</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746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876</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668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667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254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7,751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4"/>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10Cr to 25Cr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3990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1233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757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930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1299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4819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2151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2072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2814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1483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884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118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22,556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5"/>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5Cr to 10Cr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5249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2182</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1407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1717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2474</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6948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2898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3151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3157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1002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396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30,584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6"/>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2.5Cr to 5Cr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9282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5476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3263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3381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4037</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10623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4853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4254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2724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775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48,676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7"/>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1Cr to 2.5Cr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23939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14405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6409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6319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7499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19574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7893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4862</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2960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93,876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8"/>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40L to 1 Cr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41601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20571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7864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7433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8779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22474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7831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3763</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a:solidFill>
                            <a:srgbClr val="000000"/>
                          </a:solidFill>
                          <a:latin typeface="Arial"/>
                          <a:ea typeface="Arial"/>
                          <a:cs typeface="Arial"/>
                          <a:sym typeface="Arial"/>
                        </a:rPr>
                        <a:t>       1,20,324 </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09"/>
                  </a:ext>
                </a:extLst>
              </a:tr>
              <a:tr h="0">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20L to 40 L</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34180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15036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5587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4974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6079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15777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3129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84,767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10"/>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0 to 20 L</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117655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55145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15610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12477</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11649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12919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6</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1</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2</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2,25,474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11"/>
                  </a:ext>
                </a:extLst>
              </a:tr>
              <a:tr h="171331">
                <a:tc>
                  <a:txBody>
                    <a:bodyPr/>
                    <a:lstStyle/>
                    <a:p>
                      <a:pPr marL="0" marR="0" lvl="0" indent="0" algn="ctr" rtl="0">
                        <a:spcBef>
                          <a:spcPts val="0"/>
                        </a:spcBef>
                        <a:spcAft>
                          <a:spcPts val="0"/>
                        </a:spcAft>
                        <a:buClr>
                          <a:srgbClr val="000000"/>
                        </a:buClr>
                        <a:buSzPts val="900"/>
                        <a:buFont typeface="Arial"/>
                        <a:buNone/>
                      </a:pPr>
                      <a:r>
                        <a:rPr lang="en-US" sz="900" b="1" i="0" u="none" strike="noStrike" cap="none">
                          <a:solidFill>
                            <a:srgbClr val="000000"/>
                          </a:solidFill>
                          <a:latin typeface="Arial"/>
                          <a:ea typeface="Arial"/>
                          <a:cs typeface="Arial"/>
                          <a:sym typeface="Arial"/>
                        </a:rPr>
                        <a:t>Zero Turnover</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AE9F8"/>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251959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5B8B7"/>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429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48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30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14</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18</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9</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5</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2</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0</a:t>
                      </a:r>
                      <a:endParaRPr/>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000000"/>
                        </a:buClr>
                        <a:buSzPts val="1000"/>
                        <a:buFont typeface="Arial"/>
                        <a:buNone/>
                      </a:pPr>
                      <a:r>
                        <a:rPr lang="en-US" sz="1000" b="0" i="0" u="none" strike="noStrike" cap="none" dirty="0">
                          <a:solidFill>
                            <a:srgbClr val="000000"/>
                          </a:solidFill>
                          <a:latin typeface="Arial"/>
                          <a:ea typeface="Arial"/>
                          <a:cs typeface="Arial"/>
                          <a:sym typeface="Arial"/>
                        </a:rPr>
                        <a:t>0</a:t>
                      </a:r>
                      <a:endParaRPr dirty="0"/>
                    </a:p>
                  </a:txBody>
                  <a:tcPr marL="6350" marR="6350" marT="635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rgbClr val="000000"/>
                        </a:buClr>
                        <a:buSzPts val="800"/>
                        <a:buFont typeface="Arial"/>
                        <a:buNone/>
                      </a:pPr>
                      <a:r>
                        <a:rPr lang="en-US" sz="800" b="1" i="0" u="none" strike="noStrike" cap="none" dirty="0">
                          <a:solidFill>
                            <a:srgbClr val="000000"/>
                          </a:solidFill>
                          <a:latin typeface="Arial"/>
                          <a:ea typeface="Arial"/>
                          <a:cs typeface="Arial"/>
                          <a:sym typeface="Arial"/>
                        </a:rPr>
                        <a:t>       2,52,514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C8A84B"/>
                    </a:solidFill>
                  </a:tcPr>
                </a:tc>
                <a:extLst>
                  <a:ext uri="{0D108BD9-81ED-4DB2-BD59-A6C34878D82A}">
                    <a16:rowId xmlns:a16="http://schemas.microsoft.com/office/drawing/2014/main" val="10012"/>
                  </a:ext>
                </a:extLst>
              </a:tr>
              <a:tr h="163572">
                <a:tc>
                  <a:txBody>
                    <a:bodyPr/>
                    <a:lstStyle/>
                    <a:p>
                      <a:pPr marL="0" marR="0" lvl="0" indent="0" algn="ctr" rtl="0">
                        <a:spcBef>
                          <a:spcPts val="0"/>
                        </a:spcBef>
                        <a:spcAft>
                          <a:spcPts val="0"/>
                        </a:spcAft>
                        <a:buClr>
                          <a:schemeClr val="lt1"/>
                        </a:buClr>
                        <a:buSzPts val="800"/>
                        <a:buFont typeface="Arial"/>
                        <a:buNone/>
                      </a:pPr>
                      <a:r>
                        <a:rPr lang="en-US" sz="800" b="1" i="0" u="none" strike="noStrike" cap="none">
                          <a:solidFill>
                            <a:schemeClr val="lt1"/>
                          </a:solidFill>
                          <a:latin typeface="Arial"/>
                          <a:ea typeface="Arial"/>
                          <a:cs typeface="Arial"/>
                          <a:sym typeface="Arial"/>
                        </a:rPr>
                        <a:t> Grand Total </a:t>
                      </a:r>
                      <a:endParaRPr/>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4,89,336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1,15,034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41,249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37,637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42,372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95,488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30,138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19,473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13,389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4,601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2,819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913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963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tc>
                  <a:txBody>
                    <a:bodyPr/>
                    <a:lstStyle/>
                    <a:p>
                      <a:pPr marL="0" marR="0" lvl="0" indent="0" algn="ctr" rtl="0">
                        <a:spcBef>
                          <a:spcPts val="0"/>
                        </a:spcBef>
                        <a:spcAft>
                          <a:spcPts val="0"/>
                        </a:spcAft>
                        <a:buClr>
                          <a:schemeClr val="lt1"/>
                        </a:buClr>
                        <a:buSzPts val="800"/>
                        <a:buFont typeface="Arial"/>
                        <a:buNone/>
                      </a:pPr>
                      <a:r>
                        <a:rPr lang="en-US" sz="800" b="1" i="0" u="none" strike="noStrike" cap="none" dirty="0">
                          <a:solidFill>
                            <a:schemeClr val="lt1"/>
                          </a:solidFill>
                          <a:latin typeface="Arial"/>
                          <a:ea typeface="Arial"/>
                          <a:cs typeface="Arial"/>
                          <a:sym typeface="Arial"/>
                        </a:rPr>
                        <a:t>       8,93,412 </a:t>
                      </a:r>
                      <a:endParaRPr dirty="0"/>
                    </a:p>
                  </a:txBody>
                  <a:tcPr marL="2900" marR="2900" marT="29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1B2A49"/>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FE3A2A-7DDA-17E5-6A82-1812AA2CA319}"/>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63617AD1-081B-BA41-EBA8-CF770BFE91DD}"/>
              </a:ext>
            </a:extLst>
          </p:cNvPr>
          <p:cNvGrpSpPr/>
          <p:nvPr/>
        </p:nvGrpSpPr>
        <p:grpSpPr>
          <a:xfrm>
            <a:off x="-6350" y="-6413"/>
            <a:ext cx="9156700" cy="845185"/>
            <a:chOff x="-6350" y="-6413"/>
            <a:chExt cx="9156700" cy="845185"/>
          </a:xfrm>
          <a:solidFill>
            <a:srgbClr val="1B2A49"/>
          </a:solidFill>
        </p:grpSpPr>
        <p:sp>
          <p:nvSpPr>
            <p:cNvPr id="4" name="object 4">
              <a:extLst>
                <a:ext uri="{FF2B5EF4-FFF2-40B4-BE49-F238E27FC236}">
                  <a16:creationId xmlns:a16="http://schemas.microsoft.com/office/drawing/2014/main" id="{FB9D9633-E86B-1070-1CB2-6D3513DC625D}"/>
                </a:ext>
              </a:extLst>
            </p:cNvPr>
            <p:cNvSpPr/>
            <p:nvPr/>
          </p:nvSpPr>
          <p:spPr>
            <a:xfrm>
              <a:off x="0" y="-63"/>
              <a:ext cx="9144000" cy="777875"/>
            </a:xfrm>
            <a:custGeom>
              <a:avLst/>
              <a:gdLst/>
              <a:ahLst/>
              <a:cxnLst/>
              <a:rect l="l" t="t" r="r" b="b"/>
              <a:pathLst>
                <a:path w="9144000" h="777875">
                  <a:moveTo>
                    <a:pt x="9144000" y="0"/>
                  </a:moveTo>
                  <a:lnTo>
                    <a:pt x="0" y="0"/>
                  </a:lnTo>
                  <a:lnTo>
                    <a:pt x="0" y="777303"/>
                  </a:lnTo>
                  <a:lnTo>
                    <a:pt x="9144000" y="777303"/>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a:extLst>
                <a:ext uri="{FF2B5EF4-FFF2-40B4-BE49-F238E27FC236}">
                  <a16:creationId xmlns:a16="http://schemas.microsoft.com/office/drawing/2014/main" id="{8D0BB376-F8D6-C2AC-75C9-EE38F56EFD60}"/>
                </a:ext>
              </a:extLst>
            </p:cNvPr>
            <p:cNvSpPr/>
            <p:nvPr/>
          </p:nvSpPr>
          <p:spPr>
            <a:xfrm>
              <a:off x="0" y="-63"/>
              <a:ext cx="9144000" cy="777875"/>
            </a:xfrm>
            <a:custGeom>
              <a:avLst/>
              <a:gdLst/>
              <a:ahLst/>
              <a:cxnLst/>
              <a:rect l="l" t="t" r="r" b="b"/>
              <a:pathLst>
                <a:path w="9144000" h="777875">
                  <a:moveTo>
                    <a:pt x="0" y="777303"/>
                  </a:moveTo>
                  <a:lnTo>
                    <a:pt x="9144000" y="777303"/>
                  </a:lnTo>
                  <a:lnTo>
                    <a:pt x="9144000" y="0"/>
                  </a:lnTo>
                  <a:lnTo>
                    <a:pt x="0" y="0"/>
                  </a:lnTo>
                  <a:lnTo>
                    <a:pt x="0" y="777303"/>
                  </a:lnTo>
                  <a:close/>
                </a:path>
              </a:pathLst>
            </a:custGeom>
            <a:grpFill/>
            <a:ln w="12700">
              <a:solidFill>
                <a:srgbClr val="1B2A4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83D80AB8-40AE-511B-09E4-B578CA0AC6CC}"/>
                </a:ext>
              </a:extLst>
            </p:cNvPr>
            <p:cNvSpPr/>
            <p:nvPr/>
          </p:nvSpPr>
          <p:spPr>
            <a:xfrm>
              <a:off x="0" y="777204"/>
              <a:ext cx="9144000" cy="55244"/>
            </a:xfrm>
            <a:custGeom>
              <a:avLst/>
              <a:gdLst/>
              <a:ahLst/>
              <a:cxnLst/>
              <a:rect l="l" t="t" r="r" b="b"/>
              <a:pathLst>
                <a:path w="9144000" h="55244">
                  <a:moveTo>
                    <a:pt x="9144000" y="0"/>
                  </a:moveTo>
                  <a:lnTo>
                    <a:pt x="0" y="0"/>
                  </a:lnTo>
                  <a:lnTo>
                    <a:pt x="0" y="54899"/>
                  </a:lnTo>
                  <a:lnTo>
                    <a:pt x="9144000" y="54899"/>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91F1C714-2076-4ADD-7680-F0ED6C2BC36F}"/>
                </a:ext>
              </a:extLst>
            </p:cNvPr>
            <p:cNvSpPr/>
            <p:nvPr/>
          </p:nvSpPr>
          <p:spPr>
            <a:xfrm>
              <a:off x="0" y="777204"/>
              <a:ext cx="9144000" cy="55244"/>
            </a:xfrm>
            <a:custGeom>
              <a:avLst/>
              <a:gdLst/>
              <a:ahLst/>
              <a:cxnLst/>
              <a:rect l="l" t="t" r="r" b="b"/>
              <a:pathLst>
                <a:path w="9144000" h="55244">
                  <a:moveTo>
                    <a:pt x="0" y="54899"/>
                  </a:moveTo>
                  <a:lnTo>
                    <a:pt x="9144000" y="54899"/>
                  </a:lnTo>
                  <a:lnTo>
                    <a:pt x="9144000" y="0"/>
                  </a:lnTo>
                  <a:lnTo>
                    <a:pt x="0" y="0"/>
                  </a:lnTo>
                  <a:lnTo>
                    <a:pt x="0" y="54899"/>
                  </a:lnTo>
                  <a:close/>
                </a:path>
              </a:pathLst>
            </a:custGeom>
            <a:grpFill/>
            <a:ln w="12700">
              <a:solidFill>
                <a:srgbClr val="C8A84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a:extLst>
              <a:ext uri="{FF2B5EF4-FFF2-40B4-BE49-F238E27FC236}">
                <a16:creationId xmlns:a16="http://schemas.microsoft.com/office/drawing/2014/main" id="{C944EF13-22FF-AEB6-423C-884AD2C5CED9}"/>
              </a:ext>
            </a:extLst>
          </p:cNvPr>
          <p:cNvSpPr txBox="1">
            <a:spLocks noGrp="1"/>
          </p:cNvSpPr>
          <p:nvPr>
            <p:ph type="title"/>
          </p:nvPr>
        </p:nvSpPr>
        <p:spPr>
          <a:xfrm>
            <a:off x="444500" y="159511"/>
            <a:ext cx="7765160" cy="382156"/>
          </a:xfrm>
          <a:prstGeom prst="rect">
            <a:avLst/>
          </a:prstGeom>
        </p:spPr>
        <p:txBody>
          <a:bodyPr vert="horz" wrap="square" lIns="0" tIns="12700" rIns="0" bIns="0" rtlCol="0">
            <a:spAutoFit/>
          </a:bodyPr>
          <a:lstStyle/>
          <a:p>
            <a:pPr marL="12700">
              <a:lnSpc>
                <a:spcPct val="100000"/>
              </a:lnSpc>
              <a:spcBef>
                <a:spcPts val="100"/>
              </a:spcBef>
            </a:pPr>
            <a:r>
              <a:rPr lang="en-US" sz="2400">
                <a:solidFill>
                  <a:schemeClr val="bg1"/>
                </a:solidFill>
              </a:rPr>
              <a:t>#4 </a:t>
            </a:r>
            <a:r>
              <a:rPr lang="en-IN" sz="2400">
                <a:solidFill>
                  <a:schemeClr val="bg1"/>
                </a:solidFill>
              </a:rPr>
              <a:t>Informers &amp; Government-Servant Reward Scheme</a:t>
            </a:r>
            <a:endParaRPr sz="2400">
              <a:solidFill>
                <a:schemeClr val="bg1"/>
              </a:solidFill>
            </a:endParaRPr>
          </a:p>
        </p:txBody>
      </p:sp>
      <p:sp>
        <p:nvSpPr>
          <p:cNvPr id="70" name="TextBox 69">
            <a:extLst>
              <a:ext uri="{FF2B5EF4-FFF2-40B4-BE49-F238E27FC236}">
                <a16:creationId xmlns:a16="http://schemas.microsoft.com/office/drawing/2014/main" id="{D9C3B6DD-2EAB-0EFC-59EB-CB6E119C62D2}"/>
              </a:ext>
            </a:extLst>
          </p:cNvPr>
          <p:cNvSpPr txBox="1"/>
          <p:nvPr/>
        </p:nvSpPr>
        <p:spPr>
          <a:xfrm>
            <a:off x="-76200" y="536600"/>
            <a:ext cx="6629400" cy="377026"/>
          </a:xfrm>
          <a:prstGeom prst="rect">
            <a:avLst/>
          </a:prstGeom>
          <a:noFill/>
        </p:spPr>
        <p:txBody>
          <a:bodyPr wrap="square">
            <a:spAutoFit/>
          </a:bodyPr>
          <a:lstStyle/>
          <a:p>
            <a:pPr marL="786765" marR="0" lvl="0" indent="0" defTabSz="914400" eaLnBrk="1" fontAlgn="auto" latinLnBrk="0" hangingPunct="1">
              <a:lnSpc>
                <a:spcPct val="100000"/>
              </a:lnSpc>
              <a:spcBef>
                <a:spcPts val="260"/>
              </a:spcBef>
              <a:spcAft>
                <a:spcPts val="0"/>
              </a:spcAft>
              <a:buClrTx/>
              <a:buSzTx/>
              <a:buFontTx/>
              <a:buNone/>
              <a:tabLst/>
              <a:defRPr/>
            </a:pPr>
            <a:r>
              <a:rPr kumimoji="0" lang="en-US" sz="800" b="0" i="1" u="none" strike="noStrike" kern="0" cap="none" spc="0" normalizeH="0" baseline="0" noProof="0">
                <a:ln>
                  <a:noFill/>
                </a:ln>
                <a:solidFill>
                  <a:srgbClr val="EFD080"/>
                </a:solidFill>
                <a:effectLst/>
                <a:uLnTx/>
                <a:uFillTx/>
                <a:latin typeface="Calibri"/>
                <a:cs typeface="Calibri"/>
              </a:rPr>
              <a:t>Operationalize the existing but dormant reward scheme — generate field intelligence.</a:t>
            </a:r>
          </a:p>
          <a:p>
            <a:pPr marL="786765" marR="0" lvl="0" indent="0" defTabSz="914400" eaLnBrk="1" fontAlgn="auto" latinLnBrk="0" hangingPunct="1">
              <a:lnSpc>
                <a:spcPct val="100000"/>
              </a:lnSpc>
              <a:spcBef>
                <a:spcPts val="260"/>
              </a:spcBef>
              <a:spcAft>
                <a:spcPts val="0"/>
              </a:spcAft>
              <a:buClrTx/>
              <a:buSzTx/>
              <a:buFontTx/>
              <a:buNone/>
              <a:tabLst/>
              <a:defRPr/>
            </a:pPr>
            <a:endParaRPr kumimoji="0" lang="en-US" sz="800" b="0" i="1" u="none" strike="noStrike" kern="0" cap="none" spc="0" normalizeH="0" baseline="0" noProof="0">
              <a:ln>
                <a:noFill/>
              </a:ln>
              <a:solidFill>
                <a:srgbClr val="EFD080"/>
              </a:solidFill>
              <a:effectLst/>
              <a:uLnTx/>
              <a:uFillTx/>
              <a:latin typeface="Calibri"/>
              <a:cs typeface="Calibri"/>
            </a:endParaRPr>
          </a:p>
        </p:txBody>
      </p:sp>
      <p:sp>
        <p:nvSpPr>
          <p:cNvPr id="74" name="TextBox 73">
            <a:extLst>
              <a:ext uri="{FF2B5EF4-FFF2-40B4-BE49-F238E27FC236}">
                <a16:creationId xmlns:a16="http://schemas.microsoft.com/office/drawing/2014/main" id="{7805E8A6-C233-23EB-E9BC-07DC099925A3}"/>
              </a:ext>
            </a:extLst>
          </p:cNvPr>
          <p:cNvSpPr txBox="1"/>
          <p:nvPr/>
        </p:nvSpPr>
        <p:spPr>
          <a:xfrm>
            <a:off x="-103246" y="864234"/>
            <a:ext cx="6557762" cy="4619213"/>
          </a:xfrm>
          <a:prstGeom prst="rect">
            <a:avLst/>
          </a:prstGeom>
          <a:noFill/>
        </p:spPr>
        <p:txBody>
          <a:bodyPr wrap="square">
            <a:spAutoFit/>
          </a:bodyPr>
          <a:lstStyle/>
          <a:p>
            <a:pPr marL="164465" marR="0" lvl="0" indent="0" algn="just" defTabSz="914400" eaLnBrk="1" fontAlgn="auto" latinLnBrk="0" hangingPunct="1">
              <a:lnSpc>
                <a:spcPct val="100000"/>
              </a:lnSpc>
              <a:spcBef>
                <a:spcPts val="695"/>
              </a:spcBef>
              <a:spcAft>
                <a:spcPts val="0"/>
              </a:spcAft>
              <a:buClrTx/>
              <a:buSzTx/>
              <a:buFontTx/>
              <a:buNone/>
              <a:tabLst/>
              <a:defRPr/>
            </a:pPr>
            <a:r>
              <a:rPr kumimoji="0" lang="en-US" sz="1500" b="1" i="0" u="none" strike="noStrike" kern="0" cap="none" spc="0" normalizeH="0" baseline="0" noProof="0" dirty="0">
                <a:ln>
                  <a:noFill/>
                </a:ln>
                <a:solidFill>
                  <a:srgbClr val="6B7B8E"/>
                </a:solidFill>
                <a:effectLst/>
                <a:uLnTx/>
                <a:uFillTx/>
                <a:latin typeface="Calibri"/>
                <a:cs typeface="Calibri"/>
              </a:rPr>
              <a:t>H</a:t>
            </a:r>
            <a:r>
              <a:rPr kumimoji="0" lang="en-US" sz="1500" b="1" i="0" u="none" strike="noStrike" kern="0" cap="none" spc="-60" normalizeH="0" baseline="0" noProof="0" dirty="0">
                <a:ln>
                  <a:noFill/>
                </a:ln>
                <a:solidFill>
                  <a:srgbClr val="6B7B8E"/>
                </a:solidFill>
                <a:effectLst/>
                <a:uLnTx/>
                <a:uFillTx/>
                <a:latin typeface="Calibri"/>
                <a:cs typeface="Calibri"/>
              </a:rPr>
              <a:t> </a:t>
            </a:r>
            <a:r>
              <a:rPr kumimoji="0" lang="en-US" sz="1500" b="1" i="0" u="none" strike="noStrike" kern="0" cap="none" spc="0" normalizeH="0" baseline="0" noProof="0" dirty="0">
                <a:ln>
                  <a:noFill/>
                </a:ln>
                <a:solidFill>
                  <a:srgbClr val="6B7B8E"/>
                </a:solidFill>
                <a:effectLst/>
                <a:uLnTx/>
                <a:uFillTx/>
                <a:latin typeface="Calibri"/>
                <a:cs typeface="Calibri"/>
              </a:rPr>
              <a:t>o</a:t>
            </a:r>
            <a:r>
              <a:rPr kumimoji="0" lang="en-US" sz="1500" b="1" i="0" u="none" strike="noStrike" kern="0" cap="none" spc="-50" normalizeH="0" baseline="0" noProof="0" dirty="0">
                <a:ln>
                  <a:noFill/>
                </a:ln>
                <a:solidFill>
                  <a:srgbClr val="6B7B8E"/>
                </a:solidFill>
                <a:effectLst/>
                <a:uLnTx/>
                <a:uFillTx/>
                <a:latin typeface="Calibri"/>
                <a:cs typeface="Calibri"/>
              </a:rPr>
              <a:t> w</a:t>
            </a:r>
            <a:endParaRPr kumimoji="0" lang="en-US" sz="1500" b="0" i="0" u="none" strike="noStrike" kern="0" cap="none" spc="0" normalizeH="0" baseline="0" noProof="0" dirty="0">
              <a:ln>
                <a:noFill/>
              </a:ln>
              <a:solidFill>
                <a:sysClr val="windowText" lastClr="000000"/>
              </a:solidFill>
              <a:effectLst/>
              <a:uLnTx/>
              <a:uFillTx/>
              <a:latin typeface="Calibri"/>
              <a:cs typeface="Calibri"/>
            </a:endParaRPr>
          </a:p>
          <a:p>
            <a:pPr marL="164465" marR="0" lvl="0" indent="0" algn="just" defTabSz="914400" eaLnBrk="1" fontAlgn="auto" latinLnBrk="0" hangingPunct="1">
              <a:lnSpc>
                <a:spcPct val="100000"/>
              </a:lnSpc>
              <a:spcBef>
                <a:spcPts val="450"/>
              </a:spcBef>
              <a:spcAft>
                <a:spcPts val="0"/>
              </a:spcAft>
              <a:buClrTx/>
              <a:buSzTx/>
              <a:buFontTx/>
              <a:buNone/>
              <a:tabLst/>
              <a:defRPr/>
            </a:pPr>
            <a:r>
              <a:rPr kumimoji="0" lang="en-US" sz="1500" b="1" i="0" u="none" strike="noStrike" kern="0" cap="none" spc="-10" normalizeH="0" baseline="0" noProof="0" dirty="0">
                <a:ln>
                  <a:noFill/>
                </a:ln>
                <a:solidFill>
                  <a:srgbClr val="1F3863"/>
                </a:solidFill>
                <a:effectLst/>
                <a:uLnTx/>
                <a:uFillTx/>
                <a:latin typeface="Calibri"/>
                <a:cs typeface="Calibri"/>
              </a:rPr>
              <a:t>Operational</a:t>
            </a:r>
            <a:r>
              <a:rPr kumimoji="0" lang="en-US" sz="1500" b="1" i="0" u="none" strike="noStrike" kern="0" cap="none" spc="20" normalizeH="0" baseline="0" noProof="0" dirty="0">
                <a:ln>
                  <a:noFill/>
                </a:ln>
                <a:solidFill>
                  <a:srgbClr val="1F3863"/>
                </a:solidFill>
                <a:effectLst/>
                <a:uLnTx/>
                <a:uFillTx/>
                <a:latin typeface="Calibri"/>
                <a:cs typeface="Calibri"/>
              </a:rPr>
              <a:t> </a:t>
            </a:r>
            <a:r>
              <a:rPr kumimoji="0" lang="en-US" sz="1500" b="1" i="0" u="none" strike="noStrike" kern="0" cap="none" spc="-10" normalizeH="0" baseline="0" noProof="0" dirty="0">
                <a:ln>
                  <a:noFill/>
                </a:ln>
                <a:solidFill>
                  <a:srgbClr val="1F3863"/>
                </a:solidFill>
                <a:effectLst/>
                <a:uLnTx/>
                <a:uFillTx/>
                <a:latin typeface="Calibri"/>
                <a:cs typeface="Calibri"/>
              </a:rPr>
              <a:t>levers</a:t>
            </a:r>
            <a:endParaRPr kumimoji="0" lang="en-US" sz="1500" b="0" i="0" u="none" strike="noStrike" kern="0" cap="none" spc="0" normalizeH="0" baseline="0" noProof="0" dirty="0">
              <a:ln>
                <a:noFill/>
              </a:ln>
              <a:solidFill>
                <a:sysClr val="windowText" lastClr="000000"/>
              </a:solidFill>
              <a:effectLst/>
              <a:uLnTx/>
              <a:uFillTx/>
              <a:latin typeface="Calibri"/>
              <a:cs typeface="Calibri"/>
            </a:endParaRPr>
          </a:p>
          <a:p>
            <a:pPr marL="504825" marR="631190" lvl="0" indent="-257810" algn="just" defTabSz="914400" eaLnBrk="1" fontAlgn="auto" latinLnBrk="0" hangingPunct="1">
              <a:lnSpc>
                <a:spcPct val="100000"/>
              </a:lnSpc>
              <a:spcBef>
                <a:spcPts val="1235"/>
              </a:spcBef>
              <a:spcAft>
                <a:spcPts val="0"/>
              </a:spcAft>
              <a:buClrTx/>
              <a:buSzTx/>
              <a:buFontTx/>
              <a:buChar char="●"/>
              <a:tabLst>
                <a:tab pos="504825" algn="l"/>
              </a:tabLst>
              <a:defRPr/>
            </a:pPr>
            <a:r>
              <a:rPr kumimoji="0" lang="en-US" sz="1500" b="0" i="0" u="none" strike="noStrike" kern="0" cap="none" spc="0" normalizeH="0" baseline="0" noProof="0" dirty="0">
                <a:ln>
                  <a:noFill/>
                </a:ln>
                <a:solidFill>
                  <a:srgbClr val="2C3D50"/>
                </a:solidFill>
                <a:effectLst/>
                <a:uLnTx/>
                <a:uFillTx/>
                <a:latin typeface="Calibri"/>
                <a:cs typeface="Calibri"/>
              </a:rPr>
              <a:t>SOP</a:t>
            </a:r>
            <a:r>
              <a:rPr kumimoji="0" lang="en-US" sz="1500" b="0" i="0" u="none" strike="noStrike" kern="0" cap="none" spc="-1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at</a:t>
            </a:r>
            <a:r>
              <a:rPr kumimoji="0" lang="en-US" sz="1500" b="0" i="0" u="none" strike="noStrike" kern="0" cap="none" spc="-5" normalizeH="0" baseline="0" noProof="0" dirty="0">
                <a:ln>
                  <a:noFill/>
                </a:ln>
                <a:solidFill>
                  <a:srgbClr val="2C3D50"/>
                </a:solidFill>
                <a:effectLst/>
                <a:uLnTx/>
                <a:uFillTx/>
                <a:latin typeface="Calibri"/>
                <a:cs typeface="Calibri"/>
              </a:rPr>
              <a:t> the </a:t>
            </a:r>
            <a:r>
              <a:rPr kumimoji="0" lang="en-US" sz="1500" b="0" i="0" u="none" strike="noStrike" kern="0" cap="none" spc="-10" normalizeH="0" baseline="0" noProof="0" dirty="0">
                <a:ln>
                  <a:noFill/>
                </a:ln>
                <a:solidFill>
                  <a:srgbClr val="2C3D50"/>
                </a:solidFill>
                <a:effectLst/>
                <a:uLnTx/>
                <a:uFillTx/>
                <a:latin typeface="Calibri"/>
                <a:cs typeface="Calibri"/>
              </a:rPr>
              <a:t>department</a:t>
            </a:r>
            <a:r>
              <a:rPr kumimoji="0" lang="en-US" sz="1500" b="0" i="0" u="none" strike="noStrike" kern="0" cap="none" spc="-5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level</a:t>
            </a:r>
            <a:r>
              <a:rPr kumimoji="0" lang="en-US" sz="1500" b="0" i="0" u="none" strike="noStrike" kern="0" cap="none" spc="-2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is ready</a:t>
            </a:r>
            <a:r>
              <a:rPr kumimoji="0" lang="en-US" sz="1500" b="0" i="0" u="none" strike="noStrike" kern="0" cap="none" spc="-4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and</a:t>
            </a:r>
            <a:r>
              <a:rPr kumimoji="0" lang="en-US" sz="1500" b="0" i="0" u="none" strike="noStrike" kern="0" cap="none" spc="-2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will be</a:t>
            </a:r>
            <a:r>
              <a:rPr kumimoji="0" lang="en-US" sz="1500" b="0" i="0" u="none" strike="noStrike" kern="0" cap="none" spc="-1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issued</a:t>
            </a:r>
            <a:r>
              <a:rPr kumimoji="0" lang="en-US" sz="1500" b="0" i="0" u="none" strike="noStrike" kern="0" cap="none" spc="-1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this</a:t>
            </a:r>
            <a:r>
              <a:rPr kumimoji="0" lang="en-US" sz="1500" b="0" i="0" u="none" strike="noStrike" kern="0" cap="none" spc="-2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month.</a:t>
            </a:r>
            <a:r>
              <a:rPr kumimoji="0" lang="en-US" sz="1500" b="0" i="0" u="none" strike="noStrike" kern="0" cap="none" spc="-35" normalizeH="0" baseline="0" noProof="0" dirty="0">
                <a:ln>
                  <a:noFill/>
                </a:ln>
                <a:solidFill>
                  <a:srgbClr val="2C3D50"/>
                </a:solidFill>
                <a:effectLst/>
                <a:uLnTx/>
                <a:uFillTx/>
                <a:latin typeface="Calibri"/>
                <a:cs typeface="Calibri"/>
              </a:rPr>
              <a:t> </a:t>
            </a:r>
            <a:r>
              <a:rPr kumimoji="0" lang="en-US" sz="1500" b="0" i="0" u="none" strike="noStrike" kern="0" cap="none" spc="-25" normalizeH="0" baseline="0" noProof="0" dirty="0">
                <a:ln>
                  <a:noFill/>
                </a:ln>
                <a:solidFill>
                  <a:srgbClr val="2C3D50"/>
                </a:solidFill>
                <a:effectLst/>
                <a:uLnTx/>
                <a:uFillTx/>
                <a:latin typeface="Calibri"/>
                <a:cs typeface="Calibri"/>
              </a:rPr>
              <a:t>For </a:t>
            </a:r>
            <a:r>
              <a:rPr kumimoji="0" lang="en-US" sz="1500" b="0" i="0" u="none" strike="noStrike" kern="0" cap="none" spc="-10" normalizeH="0" baseline="0" noProof="0" dirty="0">
                <a:ln>
                  <a:noFill/>
                </a:ln>
                <a:solidFill>
                  <a:srgbClr val="2C3D50"/>
                </a:solidFill>
                <a:effectLst/>
                <a:uLnTx/>
                <a:uFillTx/>
                <a:latin typeface="Calibri"/>
                <a:cs typeface="Calibri"/>
              </a:rPr>
              <a:t>operationalizing</a:t>
            </a:r>
            <a:r>
              <a:rPr kumimoji="0" lang="en-US" sz="1500" b="0" i="0" u="none" strike="noStrike" kern="0" cap="none" spc="-2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the</a:t>
            </a:r>
            <a:r>
              <a:rPr kumimoji="0" lang="en-US" sz="1500" b="0" i="0" u="none" strike="noStrike" kern="0" cap="none" spc="-10" normalizeH="0" baseline="0" noProof="0" dirty="0">
                <a:ln>
                  <a:noFill/>
                </a:ln>
                <a:solidFill>
                  <a:srgbClr val="2C3D50"/>
                </a:solidFill>
                <a:effectLst/>
                <a:uLnTx/>
                <a:uFillTx/>
                <a:latin typeface="Calibri"/>
                <a:cs typeface="Calibri"/>
              </a:rPr>
              <a:t> existing</a:t>
            </a:r>
            <a:r>
              <a:rPr kumimoji="0" lang="en-US" sz="1500" b="0" i="0" u="none" strike="noStrike" kern="0" cap="none" spc="0" normalizeH="0" baseline="0" noProof="0" dirty="0">
                <a:ln>
                  <a:noFill/>
                </a:ln>
                <a:solidFill>
                  <a:srgbClr val="2C3D50"/>
                </a:solidFill>
                <a:effectLst/>
                <a:uLnTx/>
                <a:uFillTx/>
                <a:latin typeface="Calibri"/>
                <a:cs typeface="Calibri"/>
              </a:rPr>
              <a:t> finance</a:t>
            </a:r>
            <a:r>
              <a:rPr kumimoji="0" lang="en-US" sz="1500" b="0" i="0" u="none" strike="noStrike" kern="0" cap="none" spc="-10" normalizeH="0" baseline="0" noProof="0" dirty="0">
                <a:ln>
                  <a:noFill/>
                </a:ln>
                <a:solidFill>
                  <a:srgbClr val="2C3D50"/>
                </a:solidFill>
                <a:effectLst/>
                <a:uLnTx/>
                <a:uFillTx/>
                <a:latin typeface="Calibri"/>
                <a:cs typeface="Calibri"/>
              </a:rPr>
              <a:t> department</a:t>
            </a:r>
            <a:r>
              <a:rPr kumimoji="0" lang="en-US" sz="1500" b="0" i="0" u="none" strike="noStrike" kern="0" cap="none" spc="-3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scheme</a:t>
            </a:r>
            <a:r>
              <a:rPr kumimoji="0" lang="en-US" sz="1500" b="0" i="0" u="none" strike="noStrike" kern="0" cap="none" spc="3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in</a:t>
            </a:r>
            <a:r>
              <a:rPr kumimoji="0" lang="en-US" sz="1500" b="0" i="0" u="none" strike="noStrike" kern="0" cap="none" spc="5" normalizeH="0" baseline="0" noProof="0" dirty="0">
                <a:ln>
                  <a:noFill/>
                </a:ln>
                <a:solidFill>
                  <a:srgbClr val="2C3D50"/>
                </a:solidFill>
                <a:effectLst/>
                <a:uLnTx/>
                <a:uFillTx/>
                <a:latin typeface="Calibri"/>
                <a:cs typeface="Calibri"/>
              </a:rPr>
              <a:t> </a:t>
            </a:r>
            <a:r>
              <a:rPr kumimoji="0" lang="en-US" sz="1500" b="0" i="0" u="none" strike="noStrike" kern="0" cap="none" spc="-20" normalizeH="0" baseline="0" noProof="0" dirty="0">
                <a:ln>
                  <a:noFill/>
                </a:ln>
                <a:solidFill>
                  <a:srgbClr val="2C3D50"/>
                </a:solidFill>
                <a:effectLst/>
                <a:uLnTx/>
                <a:uFillTx/>
                <a:latin typeface="Calibri"/>
                <a:cs typeface="Calibri"/>
              </a:rPr>
              <a:t>CTD.</a:t>
            </a:r>
            <a:endParaRPr kumimoji="0" lang="en-US" sz="1500" b="0" i="0" u="none" strike="noStrike" kern="0" cap="none" spc="0" normalizeH="0" baseline="0" noProof="0" dirty="0">
              <a:ln>
                <a:noFill/>
              </a:ln>
              <a:solidFill>
                <a:sysClr val="windowText" lastClr="000000"/>
              </a:solidFill>
              <a:effectLst/>
              <a:uLnTx/>
              <a:uFillTx/>
              <a:latin typeface="Calibri"/>
              <a:cs typeface="Calibri"/>
            </a:endParaRPr>
          </a:p>
          <a:p>
            <a:pPr marL="504825" marR="235585" lvl="0" indent="-257810" algn="just" defTabSz="914400" eaLnBrk="1" fontAlgn="auto" latinLnBrk="0" hangingPunct="1">
              <a:lnSpc>
                <a:spcPct val="100000"/>
              </a:lnSpc>
              <a:spcBef>
                <a:spcPts val="600"/>
              </a:spcBef>
              <a:spcAft>
                <a:spcPts val="0"/>
              </a:spcAft>
              <a:buClrTx/>
              <a:buSzTx/>
              <a:buFontTx/>
              <a:buChar char="●"/>
              <a:tabLst>
                <a:tab pos="504825" algn="l"/>
              </a:tabLst>
              <a:defRPr/>
            </a:pPr>
            <a:r>
              <a:rPr kumimoji="0" lang="en-US" sz="1500" b="0" i="0" u="none" strike="noStrike" kern="0" cap="none" spc="0" normalizeH="0" baseline="0" noProof="0" dirty="0">
                <a:ln>
                  <a:noFill/>
                </a:ln>
                <a:solidFill>
                  <a:srgbClr val="2C3D50"/>
                </a:solidFill>
                <a:effectLst/>
                <a:uLnTx/>
                <a:uFillTx/>
                <a:latin typeface="Calibri"/>
                <a:cs typeface="Calibri"/>
              </a:rPr>
              <a:t>For</a:t>
            </a:r>
            <a:r>
              <a:rPr kumimoji="0" lang="en-US" sz="1500" b="0" i="0" u="none" strike="noStrike" kern="0" cap="none" spc="-2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this,</a:t>
            </a:r>
            <a:r>
              <a:rPr kumimoji="0" lang="en-US" sz="1500" b="0" i="0" u="none" strike="noStrike" kern="0" cap="none" spc="-20" normalizeH="0" baseline="0" noProof="0" dirty="0">
                <a:ln>
                  <a:noFill/>
                </a:ln>
                <a:solidFill>
                  <a:srgbClr val="2C3D50"/>
                </a:solidFill>
                <a:effectLst/>
                <a:uLnTx/>
                <a:uFillTx/>
                <a:latin typeface="Calibri"/>
                <a:cs typeface="Calibri"/>
              </a:rPr>
              <a:t> a </a:t>
            </a:r>
            <a:r>
              <a:rPr kumimoji="0" lang="en-US" sz="1500" b="0" i="0" u="none" strike="noStrike" kern="0" cap="none" spc="-10" normalizeH="0" baseline="0" noProof="0" dirty="0">
                <a:ln>
                  <a:noFill/>
                </a:ln>
                <a:solidFill>
                  <a:srgbClr val="2C3D50"/>
                </a:solidFill>
                <a:effectLst/>
                <a:uLnTx/>
                <a:uFillTx/>
                <a:latin typeface="Calibri"/>
                <a:cs typeface="Calibri"/>
              </a:rPr>
              <a:t>token</a:t>
            </a:r>
            <a:r>
              <a:rPr kumimoji="0" lang="en-US" sz="1500" b="0" i="0" u="none" strike="noStrike" kern="0" cap="none" spc="-1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amount</a:t>
            </a:r>
            <a:r>
              <a:rPr kumimoji="0" lang="en-US" sz="1500" b="0" i="0" u="none" strike="noStrike" kern="0" cap="none" spc="-3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of</a:t>
            </a:r>
            <a:r>
              <a:rPr kumimoji="0" lang="en-US" sz="1500" b="0" i="0" u="none" strike="noStrike" kern="0" cap="none" spc="-1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1</a:t>
            </a:r>
            <a:r>
              <a:rPr kumimoji="0" lang="en-US" sz="1500" b="0" i="0" u="none" strike="noStrike" kern="0" cap="none" spc="-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Rs.</a:t>
            </a:r>
            <a:r>
              <a:rPr kumimoji="0" lang="en-US" sz="1500" b="0" i="0" u="none" strike="noStrike" kern="0" cap="none" spc="-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is</a:t>
            </a:r>
            <a:r>
              <a:rPr kumimoji="0" lang="en-US" sz="1500" b="0" i="0" u="none" strike="noStrike" kern="0" cap="none" spc="-10" normalizeH="0" baseline="0" noProof="0" dirty="0">
                <a:ln>
                  <a:noFill/>
                </a:ln>
                <a:solidFill>
                  <a:srgbClr val="2C3D50"/>
                </a:solidFill>
                <a:effectLst/>
                <a:uLnTx/>
                <a:uFillTx/>
                <a:latin typeface="Calibri"/>
                <a:cs typeface="Calibri"/>
              </a:rPr>
              <a:t> allotted</a:t>
            </a:r>
            <a:r>
              <a:rPr kumimoji="0" lang="en-US" sz="1500" b="0" i="0" u="none" strike="noStrike" kern="0" cap="none" spc="-3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in</a:t>
            </a:r>
            <a:r>
              <a:rPr kumimoji="0" lang="en-US" sz="1500" b="0" i="0" u="none" strike="noStrike" kern="0" cap="none" spc="-2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the</a:t>
            </a:r>
            <a:r>
              <a:rPr kumimoji="0" lang="en-US" sz="1500" b="0" i="0" u="none" strike="noStrike" kern="0" cap="none" spc="-1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budget</a:t>
            </a:r>
            <a:r>
              <a:rPr kumimoji="0" lang="en-US" sz="1500" b="0" i="0" u="none" strike="noStrike" kern="0" cap="none" spc="-40" normalizeH="0" baseline="0" noProof="0" dirty="0">
                <a:ln>
                  <a:noFill/>
                </a:ln>
                <a:solidFill>
                  <a:srgbClr val="2C3D50"/>
                </a:solidFill>
                <a:effectLst/>
                <a:uLnTx/>
                <a:uFillTx/>
                <a:latin typeface="Calibri"/>
                <a:cs typeface="Calibri"/>
              </a:rPr>
              <a:t> </a:t>
            </a:r>
            <a:r>
              <a:rPr kumimoji="0" lang="en-US" sz="1500" b="0" i="0" u="none" strike="noStrike" kern="0" cap="none" spc="-25" normalizeH="0" baseline="0" noProof="0" dirty="0">
                <a:ln>
                  <a:noFill/>
                </a:ln>
                <a:solidFill>
                  <a:srgbClr val="2C3D50"/>
                </a:solidFill>
                <a:effectLst/>
                <a:uLnTx/>
                <a:uFillTx/>
                <a:latin typeface="Calibri"/>
                <a:cs typeface="Calibri"/>
              </a:rPr>
              <a:t>and </a:t>
            </a:r>
            <a:r>
              <a:rPr kumimoji="0" lang="en-US" sz="1500" b="1" i="0" u="none" strike="noStrike" kern="0" cap="none" spc="0" normalizeH="0" baseline="0" noProof="0" dirty="0">
                <a:ln>
                  <a:noFill/>
                </a:ln>
                <a:solidFill>
                  <a:srgbClr val="2C3D50"/>
                </a:solidFill>
                <a:effectLst/>
                <a:uLnTx/>
                <a:uFillTx/>
                <a:latin typeface="Calibri"/>
                <a:cs typeface="Calibri"/>
              </a:rPr>
              <a:t>proposal for the budget will be sent.</a:t>
            </a:r>
          </a:p>
          <a:p>
            <a:pPr marL="504825" marR="155575" lvl="0" indent="-257810" algn="just" defTabSz="914400" eaLnBrk="1" fontAlgn="auto" latinLnBrk="0" hangingPunct="1">
              <a:lnSpc>
                <a:spcPct val="100000"/>
              </a:lnSpc>
              <a:spcBef>
                <a:spcPts val="600"/>
              </a:spcBef>
              <a:spcAft>
                <a:spcPts val="0"/>
              </a:spcAft>
              <a:buClrTx/>
              <a:buSzTx/>
              <a:buFontTx/>
              <a:buChar char="●"/>
              <a:tabLst>
                <a:tab pos="504825" algn="l"/>
              </a:tabLst>
              <a:defRPr/>
            </a:pPr>
            <a:r>
              <a:rPr kumimoji="0" lang="en-US" sz="1500" b="0" i="0" u="none" strike="noStrike" kern="0" cap="none" spc="0" normalizeH="0" baseline="0" noProof="0" dirty="0">
                <a:ln>
                  <a:noFill/>
                </a:ln>
                <a:solidFill>
                  <a:srgbClr val="2C3D50"/>
                </a:solidFill>
                <a:effectLst/>
                <a:uLnTx/>
                <a:uFillTx/>
                <a:latin typeface="Calibri"/>
                <a:cs typeface="Calibri"/>
              </a:rPr>
              <a:t>Sensitize</a:t>
            </a:r>
            <a:r>
              <a:rPr kumimoji="0" lang="en-US" sz="1500" b="0" i="0" u="none" strike="noStrike" kern="0" cap="none" spc="-3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Police,</a:t>
            </a:r>
            <a:r>
              <a:rPr kumimoji="0" lang="en-US" sz="1500" b="0" i="0" u="none" strike="noStrike" kern="0" cap="none" spc="-5" normalizeH="0" baseline="0" noProof="0" dirty="0">
                <a:ln>
                  <a:noFill/>
                </a:ln>
                <a:solidFill>
                  <a:srgbClr val="2C3D50"/>
                </a:solidFill>
                <a:effectLst/>
                <a:uLnTx/>
                <a:uFillTx/>
                <a:latin typeface="Calibri"/>
                <a:cs typeface="Calibri"/>
              </a:rPr>
              <a:t> </a:t>
            </a:r>
            <a:r>
              <a:rPr kumimoji="0" lang="en-US" sz="1500" b="0" i="0" u="none" strike="noStrike" kern="0" cap="none" spc="-20" normalizeH="0" baseline="0" noProof="0" dirty="0">
                <a:ln>
                  <a:noFill/>
                </a:ln>
                <a:solidFill>
                  <a:srgbClr val="2C3D50"/>
                </a:solidFill>
                <a:effectLst/>
                <a:uLnTx/>
                <a:uFillTx/>
                <a:latin typeface="Calibri"/>
                <a:cs typeface="Calibri"/>
              </a:rPr>
              <a:t>Transport,</a:t>
            </a:r>
            <a:r>
              <a:rPr kumimoji="0" lang="en-US" sz="1500" b="0" i="0" u="none" strike="noStrike" kern="0" cap="none" spc="-5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Mining,</a:t>
            </a:r>
            <a:r>
              <a:rPr kumimoji="0" lang="en-US" sz="1500" b="0" i="0" u="none" strike="noStrike" kern="0" cap="none" spc="-3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Excise, RIICO</a:t>
            </a:r>
            <a:r>
              <a:rPr kumimoji="0" lang="en-US" sz="1500" b="0" i="0" u="none" strike="noStrike" kern="0" cap="none" spc="-1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field</a:t>
            </a:r>
            <a:r>
              <a:rPr kumimoji="0" lang="en-US" sz="1500" b="0" i="0" u="none" strike="noStrike" kern="0" cap="none" spc="-3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staff,</a:t>
            </a:r>
            <a:r>
              <a:rPr kumimoji="0" lang="en-US" sz="1500" b="0" i="0" u="none" strike="noStrike" kern="0" cap="none" spc="-25"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and</a:t>
            </a:r>
            <a:r>
              <a:rPr kumimoji="0" lang="en-US" sz="1500" b="0" i="0" u="none" strike="noStrike" kern="0" cap="none" spc="-30" normalizeH="0" baseline="0" noProof="0" dirty="0">
                <a:ln>
                  <a:noFill/>
                </a:ln>
                <a:solidFill>
                  <a:srgbClr val="2C3D50"/>
                </a:solidFill>
                <a:effectLst/>
                <a:uLnTx/>
                <a:uFillTx/>
                <a:latin typeface="Calibri"/>
                <a:cs typeface="Calibri"/>
              </a:rPr>
              <a:t> </a:t>
            </a:r>
            <a:r>
              <a:rPr kumimoji="0" lang="en-US" sz="1500" b="0" i="0" u="none" strike="noStrike" kern="0" cap="none" spc="-10" normalizeH="0" baseline="0" noProof="0" dirty="0">
                <a:ln>
                  <a:noFill/>
                </a:ln>
                <a:solidFill>
                  <a:srgbClr val="2C3D50"/>
                </a:solidFill>
                <a:effectLst/>
                <a:uLnTx/>
                <a:uFillTx/>
                <a:latin typeface="Calibri"/>
                <a:cs typeface="Calibri"/>
              </a:rPr>
              <a:t>citizens</a:t>
            </a:r>
            <a:r>
              <a:rPr kumimoji="0" lang="en-US" sz="1500" b="0" i="0" u="none" strike="noStrike" kern="0" cap="none" spc="-40" normalizeH="0" baseline="0" noProof="0" dirty="0">
                <a:ln>
                  <a:noFill/>
                </a:ln>
                <a:solidFill>
                  <a:srgbClr val="2C3D50"/>
                </a:solidFill>
                <a:effectLst/>
                <a:uLnTx/>
                <a:uFillTx/>
                <a:latin typeface="Calibri"/>
                <a:cs typeface="Calibri"/>
              </a:rPr>
              <a:t> </a:t>
            </a:r>
            <a:r>
              <a:rPr kumimoji="0" lang="en-US" sz="1500" b="0" i="0" u="none" strike="noStrike" kern="0" cap="none" spc="0" normalizeH="0" baseline="0" noProof="0" dirty="0">
                <a:ln>
                  <a:noFill/>
                </a:ln>
                <a:solidFill>
                  <a:srgbClr val="2C3D50"/>
                </a:solidFill>
                <a:effectLst/>
                <a:uLnTx/>
                <a:uFillTx/>
                <a:latin typeface="Calibri"/>
                <a:cs typeface="Calibri"/>
              </a:rPr>
              <a:t>to</a:t>
            </a:r>
            <a:r>
              <a:rPr kumimoji="0" lang="en-US" sz="1500" b="0" i="0" u="none" strike="noStrike" kern="0" cap="none" spc="-15" normalizeH="0" baseline="0" noProof="0" dirty="0">
                <a:ln>
                  <a:noFill/>
                </a:ln>
                <a:solidFill>
                  <a:srgbClr val="2C3D50"/>
                </a:solidFill>
                <a:effectLst/>
                <a:uLnTx/>
                <a:uFillTx/>
                <a:latin typeface="Calibri"/>
                <a:cs typeface="Calibri"/>
              </a:rPr>
              <a:t> </a:t>
            </a:r>
            <a:r>
              <a:rPr kumimoji="0" lang="en-US" sz="1500" b="0" i="0" u="none" strike="noStrike" kern="0" cap="none" spc="-25" normalizeH="0" baseline="0" noProof="0" dirty="0">
                <a:ln>
                  <a:noFill/>
                </a:ln>
                <a:solidFill>
                  <a:srgbClr val="2C3D50"/>
                </a:solidFill>
                <a:effectLst/>
                <a:uLnTx/>
                <a:uFillTx/>
                <a:latin typeface="Calibri"/>
                <a:cs typeface="Calibri"/>
              </a:rPr>
              <a:t>the </a:t>
            </a:r>
            <a:r>
              <a:rPr kumimoji="0" lang="en-US" sz="1500" b="0" i="0" u="none" strike="noStrike" kern="0" cap="none" spc="-10" normalizeH="0" baseline="0" noProof="0" dirty="0">
                <a:ln>
                  <a:noFill/>
                </a:ln>
                <a:solidFill>
                  <a:srgbClr val="2C3D50"/>
                </a:solidFill>
                <a:effectLst/>
                <a:uLnTx/>
                <a:uFillTx/>
                <a:latin typeface="Calibri"/>
                <a:cs typeface="Calibri"/>
              </a:rPr>
              <a:t>scheme.</a:t>
            </a:r>
            <a:endParaRPr kumimoji="0" lang="en-US" sz="1500" b="0" i="0" u="none" strike="noStrike" kern="0" cap="none" spc="0" normalizeH="0" baseline="0" noProof="0" dirty="0">
              <a:ln>
                <a:noFill/>
              </a:ln>
              <a:solidFill>
                <a:sysClr val="windowText" lastClr="000000"/>
              </a:solidFill>
              <a:effectLst/>
              <a:uLnTx/>
              <a:uFillTx/>
              <a:latin typeface="Calibri"/>
              <a:cs typeface="Calibri"/>
            </a:endParaRPr>
          </a:p>
          <a:p>
            <a:pPr marL="504825" marR="925830" lvl="0" indent="-257810" algn="just">
              <a:spcBef>
                <a:spcPts val="600"/>
              </a:spcBef>
              <a:buClrTx/>
              <a:buFontTx/>
              <a:buChar char="●"/>
              <a:tabLst>
                <a:tab pos="504825" algn="l"/>
              </a:tabLst>
              <a:defRPr/>
            </a:pPr>
            <a:r>
              <a:rPr lang="en-US" sz="1500" spc="-10" dirty="0">
                <a:solidFill>
                  <a:srgbClr val="2C3D50"/>
                </a:solidFill>
                <a:latin typeface="Calibri"/>
                <a:cs typeface="Calibri"/>
              </a:rPr>
              <a:t>An Informant Management System, ‘Sutra </a:t>
            </a:r>
            <a:r>
              <a:rPr lang="en-US" sz="1500" spc="-10" dirty="0" err="1">
                <a:solidFill>
                  <a:srgbClr val="2C3D50"/>
                </a:solidFill>
                <a:latin typeface="Calibri"/>
                <a:cs typeface="Calibri"/>
              </a:rPr>
              <a:t>Dhaar</a:t>
            </a:r>
            <a:r>
              <a:rPr lang="en-US" sz="1500" spc="-10" dirty="0">
                <a:solidFill>
                  <a:srgbClr val="2C3D50"/>
                </a:solidFill>
                <a:latin typeface="Calibri"/>
                <a:cs typeface="Calibri"/>
              </a:rPr>
              <a:t>’, will be created on the ITMS portal with automatic anonymization, secure case routing to the concerned Enforcement Wing, and escrow-style reward mapping under the Reward Scheme, 2021.</a:t>
            </a:r>
          </a:p>
          <a:p>
            <a:pPr marL="504825" marR="925830" indent="-257810">
              <a:spcBef>
                <a:spcPts val="600"/>
              </a:spcBef>
              <a:buClrTx/>
              <a:buFontTx/>
              <a:buChar char="●"/>
              <a:tabLst>
                <a:tab pos="504825" algn="l"/>
              </a:tabLst>
              <a:defRPr/>
            </a:pPr>
            <a:r>
              <a:rPr lang="en-US" sz="1500" b="1" spc="-10" dirty="0">
                <a:solidFill>
                  <a:srgbClr val="2C3D50"/>
                </a:solidFill>
                <a:latin typeface="Calibri"/>
                <a:cs typeface="Calibri"/>
                <a:sym typeface="Calibri"/>
              </a:rPr>
              <a:t>Strengthen Human Intelligence Reports</a:t>
            </a:r>
            <a:r>
              <a:rPr lang="en-US" sz="1500" spc="-10" dirty="0">
                <a:solidFill>
                  <a:srgbClr val="2C3D50"/>
                </a:solidFill>
                <a:latin typeface="Calibri"/>
                <a:cs typeface="Calibri"/>
                <a:sym typeface="Calibri"/>
              </a:rPr>
              <a:t> :</a:t>
            </a:r>
            <a:r>
              <a:rPr lang="en-US" sz="1500" spc="-10" dirty="0">
                <a:solidFill>
                  <a:srgbClr val="2C3D50"/>
                </a:solidFill>
                <a:latin typeface="Calibri"/>
                <a:cs typeface="Calibri"/>
              </a:rPr>
              <a:t> </a:t>
            </a:r>
            <a:r>
              <a:rPr lang="en-US" sz="1500" spc="-10" dirty="0">
                <a:solidFill>
                  <a:srgbClr val="2C3D50"/>
                </a:solidFill>
                <a:latin typeface="Calibri"/>
                <a:cs typeface="Calibri"/>
                <a:sym typeface="Calibri"/>
              </a:rPr>
              <a:t>Leverage field intelligence, market surveys, enforcement inputs, and local trade information to validate analytical findings and identify sectors exhibiting abnormal B2C patterns.</a:t>
            </a:r>
            <a:endParaRPr lang="en-US" sz="1500" spc="-10" dirty="0">
              <a:solidFill>
                <a:srgbClr val="2C3D50"/>
              </a:solidFill>
              <a:latin typeface="Calibri"/>
              <a:cs typeface="Calibri"/>
            </a:endParaRPr>
          </a:p>
          <a:p>
            <a:pPr marL="374015" marR="5080" lvl="0" indent="-257810" algn="just" defTabSz="914400" eaLnBrk="1" fontAlgn="auto" latinLnBrk="0" hangingPunct="1">
              <a:lnSpc>
                <a:spcPct val="100000"/>
              </a:lnSpc>
              <a:spcBef>
                <a:spcPts val="600"/>
              </a:spcBef>
              <a:spcAft>
                <a:spcPts val="0"/>
              </a:spcAft>
              <a:buClrTx/>
              <a:buSzTx/>
              <a:buFontTx/>
              <a:buChar char="●"/>
              <a:tabLst>
                <a:tab pos="374015" algn="l"/>
              </a:tabLst>
              <a:defRPr/>
            </a:pPr>
            <a:endParaRPr kumimoji="0" lang="en-US" sz="150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 name="object 26">
            <a:extLst>
              <a:ext uri="{FF2B5EF4-FFF2-40B4-BE49-F238E27FC236}">
                <a16:creationId xmlns:a16="http://schemas.microsoft.com/office/drawing/2014/main" id="{B49A25B1-2532-5769-051A-C42E3ED76967}"/>
              </a:ext>
            </a:extLst>
          </p:cNvPr>
          <p:cNvGrpSpPr/>
          <p:nvPr/>
        </p:nvGrpSpPr>
        <p:grpSpPr>
          <a:xfrm>
            <a:off x="6471920" y="3093820"/>
            <a:ext cx="2600960" cy="1513079"/>
            <a:chOff x="5966459" y="3051810"/>
            <a:chExt cx="2812034" cy="1577340"/>
          </a:xfrm>
        </p:grpSpPr>
        <p:sp>
          <p:nvSpPr>
            <p:cNvPr id="9" name="object 27">
              <a:extLst>
                <a:ext uri="{FF2B5EF4-FFF2-40B4-BE49-F238E27FC236}">
                  <a16:creationId xmlns:a16="http://schemas.microsoft.com/office/drawing/2014/main" id="{F044C98B-6CCC-02CA-4C5C-243236C3736A}"/>
                </a:ext>
              </a:extLst>
            </p:cNvPr>
            <p:cNvSpPr/>
            <p:nvPr/>
          </p:nvSpPr>
          <p:spPr>
            <a:xfrm>
              <a:off x="6021323" y="3051810"/>
              <a:ext cx="2757170" cy="1577340"/>
            </a:xfrm>
            <a:custGeom>
              <a:avLst/>
              <a:gdLst/>
              <a:ahLst/>
              <a:cxnLst/>
              <a:rect l="l" t="t" r="r" b="b"/>
              <a:pathLst>
                <a:path w="2757170" h="1577339">
                  <a:moveTo>
                    <a:pt x="0" y="1577339"/>
                  </a:moveTo>
                  <a:lnTo>
                    <a:pt x="2756916" y="1577339"/>
                  </a:lnTo>
                  <a:lnTo>
                    <a:pt x="2756916" y="0"/>
                  </a:lnTo>
                  <a:lnTo>
                    <a:pt x="0" y="0"/>
                  </a:lnTo>
                  <a:lnTo>
                    <a:pt x="0" y="1577339"/>
                  </a:lnTo>
                  <a:close/>
                </a:path>
              </a:pathLst>
            </a:custGeom>
            <a:solidFill>
              <a:srgbClr val="F4F8FA"/>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0" name="object 28">
              <a:extLst>
                <a:ext uri="{FF2B5EF4-FFF2-40B4-BE49-F238E27FC236}">
                  <a16:creationId xmlns:a16="http://schemas.microsoft.com/office/drawing/2014/main" id="{4FCEABFC-8E4F-B097-D0EF-A3D087B7046F}"/>
                </a:ext>
              </a:extLst>
            </p:cNvPr>
            <p:cNvSpPr/>
            <p:nvPr/>
          </p:nvSpPr>
          <p:spPr>
            <a:xfrm>
              <a:off x="5966459" y="3051810"/>
              <a:ext cx="2811780" cy="1577340"/>
            </a:xfrm>
            <a:custGeom>
              <a:avLst/>
              <a:gdLst/>
              <a:ahLst/>
              <a:cxnLst/>
              <a:rect l="l" t="t" r="r" b="b"/>
              <a:pathLst>
                <a:path w="2811779" h="1577339">
                  <a:moveTo>
                    <a:pt x="0" y="1577339"/>
                  </a:moveTo>
                  <a:lnTo>
                    <a:pt x="2811780" y="1577339"/>
                  </a:lnTo>
                  <a:lnTo>
                    <a:pt x="2811780" y="0"/>
                  </a:lnTo>
                  <a:lnTo>
                    <a:pt x="0" y="0"/>
                  </a:lnTo>
                  <a:lnTo>
                    <a:pt x="0" y="1577339"/>
                  </a:lnTo>
                  <a:close/>
                </a:path>
              </a:pathLst>
            </a:custGeom>
            <a:ln w="9525">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1" name="object 29">
              <a:extLst>
                <a:ext uri="{FF2B5EF4-FFF2-40B4-BE49-F238E27FC236}">
                  <a16:creationId xmlns:a16="http://schemas.microsoft.com/office/drawing/2014/main" id="{130C146A-5B93-C402-8126-412DE36EEC04}"/>
                </a:ext>
              </a:extLst>
            </p:cNvPr>
            <p:cNvSpPr/>
            <p:nvPr/>
          </p:nvSpPr>
          <p:spPr>
            <a:xfrm>
              <a:off x="5966459" y="3051810"/>
              <a:ext cx="55244" cy="1577340"/>
            </a:xfrm>
            <a:custGeom>
              <a:avLst/>
              <a:gdLst/>
              <a:ahLst/>
              <a:cxnLst/>
              <a:rect l="l" t="t" r="r" b="b"/>
              <a:pathLst>
                <a:path w="55245" h="1577339">
                  <a:moveTo>
                    <a:pt x="54863" y="0"/>
                  </a:moveTo>
                  <a:lnTo>
                    <a:pt x="0" y="0"/>
                  </a:lnTo>
                  <a:lnTo>
                    <a:pt x="0" y="1577339"/>
                  </a:lnTo>
                  <a:lnTo>
                    <a:pt x="54863" y="1577339"/>
                  </a:lnTo>
                  <a:lnTo>
                    <a:pt x="54863" y="0"/>
                  </a:lnTo>
                  <a:close/>
                </a:path>
              </a:pathLst>
            </a:custGeom>
            <a:solidFill>
              <a:srgbClr val="5A8F69"/>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2" name="object 30">
              <a:extLst>
                <a:ext uri="{FF2B5EF4-FFF2-40B4-BE49-F238E27FC236}">
                  <a16:creationId xmlns:a16="http://schemas.microsoft.com/office/drawing/2014/main" id="{3A50428C-B965-3C64-79C5-EDEC6EBF92B2}"/>
                </a:ext>
              </a:extLst>
            </p:cNvPr>
            <p:cNvSpPr/>
            <p:nvPr/>
          </p:nvSpPr>
          <p:spPr>
            <a:xfrm>
              <a:off x="5966459" y="3051810"/>
              <a:ext cx="55244" cy="1577340"/>
            </a:xfrm>
            <a:custGeom>
              <a:avLst/>
              <a:gdLst/>
              <a:ahLst/>
              <a:cxnLst/>
              <a:rect l="l" t="t" r="r" b="b"/>
              <a:pathLst>
                <a:path w="55245" h="1577339">
                  <a:moveTo>
                    <a:pt x="0" y="1577339"/>
                  </a:moveTo>
                  <a:lnTo>
                    <a:pt x="54863" y="1577339"/>
                  </a:lnTo>
                  <a:lnTo>
                    <a:pt x="54863" y="0"/>
                  </a:lnTo>
                  <a:lnTo>
                    <a:pt x="0" y="0"/>
                  </a:lnTo>
                  <a:lnTo>
                    <a:pt x="0" y="1577339"/>
                  </a:lnTo>
                  <a:close/>
                </a:path>
              </a:pathLst>
            </a:custGeom>
            <a:solidFill>
              <a:srgbClr val="C8A84B"/>
            </a:solidFill>
            <a:ln w="12700">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3" name="object 31">
            <a:extLst>
              <a:ext uri="{FF2B5EF4-FFF2-40B4-BE49-F238E27FC236}">
                <a16:creationId xmlns:a16="http://schemas.microsoft.com/office/drawing/2014/main" id="{45A7DF77-4D60-D489-682A-A7AEF0195A4E}"/>
              </a:ext>
            </a:extLst>
          </p:cNvPr>
          <p:cNvSpPr txBox="1"/>
          <p:nvPr/>
        </p:nvSpPr>
        <p:spPr>
          <a:xfrm>
            <a:off x="6573762" y="3137487"/>
            <a:ext cx="2570237" cy="1385636"/>
          </a:xfrm>
          <a:prstGeom prst="rect">
            <a:avLst/>
          </a:prstGeom>
        </p:spPr>
        <p:txBody>
          <a:bodyPr vert="horz" wrap="square" lIns="0" tIns="41275" rIns="0" bIns="0" rtlCol="0">
            <a:spAutoFit/>
          </a:bodyPr>
          <a:lstStyle/>
          <a:p>
            <a:pPr marL="111125" marR="0" lvl="0" indent="0" defTabSz="914400" eaLnBrk="1" fontAlgn="auto" latinLnBrk="0" hangingPunct="1">
              <a:lnSpc>
                <a:spcPct val="100000"/>
              </a:lnSpc>
              <a:spcBef>
                <a:spcPts val="325"/>
              </a:spcBef>
              <a:spcAft>
                <a:spcPts val="0"/>
              </a:spcAft>
              <a:buClrTx/>
              <a:buSzTx/>
              <a:buFontTx/>
              <a:buNone/>
              <a:tabLst/>
              <a:defRPr/>
            </a:pPr>
            <a:r>
              <a:rPr kumimoji="0" lang="en-IN" sz="1400" b="1" i="0" u="none" strike="noStrike" kern="0" cap="none" spc="0" normalizeH="0" baseline="0" noProof="0" dirty="0">
                <a:ln>
                  <a:noFill/>
                </a:ln>
                <a:solidFill>
                  <a:srgbClr val="6B7B8E"/>
                </a:solidFill>
                <a:effectLst/>
                <a:uLnTx/>
                <a:uFillTx/>
                <a:latin typeface="Calibri"/>
                <a:cs typeface="Calibri"/>
              </a:rPr>
              <a:t>E</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x</a:t>
            </a:r>
            <a:r>
              <a:rPr kumimoji="0" lang="en-IN" sz="1400" b="1" i="0" u="none" strike="noStrike" kern="0" cap="none" spc="-4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p</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e</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c</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t</a:t>
            </a:r>
            <a:r>
              <a:rPr kumimoji="0" lang="en-IN" sz="1400" b="1" i="0" u="none" strike="noStrike" kern="0" cap="none" spc="-4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e</a:t>
            </a:r>
            <a:r>
              <a:rPr kumimoji="0" lang="en-IN" sz="1400" b="1" i="0" u="none" strike="noStrike" kern="0" cap="none" spc="-5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d</a:t>
            </a:r>
            <a:r>
              <a:rPr kumimoji="0" lang="en-IN" sz="1400" b="1" i="0" u="none" strike="noStrike" kern="0" cap="none" spc="42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o</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u</a:t>
            </a:r>
            <a:r>
              <a:rPr kumimoji="0" lang="en-IN" sz="1400" b="1" i="0" u="none" strike="noStrike" kern="0" cap="none" spc="-4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t</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c</a:t>
            </a:r>
            <a:r>
              <a:rPr kumimoji="0" lang="en-IN" sz="1400" b="1" i="0" u="none" strike="noStrike" kern="0" cap="none" spc="-45"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o</a:t>
            </a:r>
            <a:r>
              <a:rPr kumimoji="0" lang="en-IN" sz="1400" b="1" i="0" u="none" strike="noStrike" kern="0" cap="none" spc="-50" normalizeH="0" baseline="0" noProof="0" dirty="0">
                <a:ln>
                  <a:noFill/>
                </a:ln>
                <a:solidFill>
                  <a:srgbClr val="6B7B8E"/>
                </a:solidFill>
                <a:effectLst/>
                <a:uLnTx/>
                <a:uFillTx/>
                <a:latin typeface="Calibri"/>
                <a:cs typeface="Calibri"/>
              </a:rPr>
              <a:t> </a:t>
            </a:r>
            <a:r>
              <a:rPr kumimoji="0" lang="en-IN" sz="1400" b="1" i="0" u="none" strike="noStrike" kern="0" cap="none" spc="0" normalizeH="0" baseline="0" noProof="0" dirty="0">
                <a:ln>
                  <a:noFill/>
                </a:ln>
                <a:solidFill>
                  <a:srgbClr val="6B7B8E"/>
                </a:solidFill>
                <a:effectLst/>
                <a:uLnTx/>
                <a:uFillTx/>
                <a:latin typeface="Calibri"/>
                <a:cs typeface="Calibri"/>
              </a:rPr>
              <a:t>m</a:t>
            </a:r>
            <a:r>
              <a:rPr kumimoji="0" lang="en-IN" sz="1400" b="1" i="0" u="none" strike="noStrike" kern="0" cap="none" spc="-50" normalizeH="0" baseline="0" noProof="0" dirty="0">
                <a:ln>
                  <a:noFill/>
                </a:ln>
                <a:solidFill>
                  <a:srgbClr val="6B7B8E"/>
                </a:solidFill>
                <a:effectLst/>
                <a:uLnTx/>
                <a:uFillTx/>
                <a:latin typeface="Calibri"/>
                <a:cs typeface="Calibri"/>
              </a:rPr>
              <a:t> e</a:t>
            </a:r>
            <a:endParaRPr kumimoji="0" lang="en-IN" sz="1400" b="0" i="0" u="none" strike="noStrike" kern="0" cap="none" spc="0" normalizeH="0" baseline="0" noProof="0" dirty="0">
              <a:ln>
                <a:noFill/>
              </a:ln>
              <a:solidFill>
                <a:sysClr val="windowText" lastClr="000000"/>
              </a:solidFill>
              <a:effectLst/>
              <a:uLnTx/>
              <a:uFillTx/>
              <a:latin typeface="Calibri"/>
              <a:cs typeface="Calibri"/>
            </a:endParaRPr>
          </a:p>
          <a:p>
            <a:pPr marL="111125" marR="24765" lvl="0" indent="0" defTabSz="914400" eaLnBrk="1" fontAlgn="auto" latinLnBrk="0" hangingPunct="1">
              <a:lnSpc>
                <a:spcPct val="100000"/>
              </a:lnSpc>
              <a:spcBef>
                <a:spcPts val="225"/>
              </a:spcBef>
              <a:spcAft>
                <a:spcPts val="0"/>
              </a:spcAft>
              <a:buClrTx/>
              <a:buSzTx/>
              <a:buFontTx/>
              <a:buNone/>
              <a:tabLst/>
              <a:defRPr/>
            </a:pPr>
            <a:r>
              <a:rPr kumimoji="0" lang="en-IN" sz="1400" b="0" i="0" u="none" strike="noStrike" kern="0" cap="none" spc="0" normalizeH="0" baseline="0" noProof="0" dirty="0">
                <a:ln>
                  <a:noFill/>
                </a:ln>
                <a:solidFill>
                  <a:srgbClr val="2C3D50"/>
                </a:solidFill>
                <a:effectLst/>
                <a:uLnTx/>
                <a:uFillTx/>
                <a:latin typeface="Calibri"/>
                <a:cs typeface="Calibri"/>
              </a:rPr>
              <a:t>Field </a:t>
            </a:r>
            <a:r>
              <a:rPr kumimoji="0" lang="en-IN" sz="1400" b="0" i="0" u="none" strike="noStrike" kern="0" cap="none" spc="-10" normalizeH="0" baseline="0" noProof="0" dirty="0">
                <a:ln>
                  <a:noFill/>
                </a:ln>
                <a:solidFill>
                  <a:srgbClr val="2C3D50"/>
                </a:solidFill>
                <a:effectLst/>
                <a:uLnTx/>
                <a:uFillTx/>
                <a:latin typeface="Calibri"/>
                <a:cs typeface="Calibri"/>
              </a:rPr>
              <a:t>intelligence</a:t>
            </a:r>
            <a:r>
              <a:rPr kumimoji="0" lang="en-IN" sz="1400" b="0" i="0" u="none" strike="noStrike" kern="0" cap="none" spc="-20"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pipeline</a:t>
            </a:r>
            <a:r>
              <a:rPr kumimoji="0" lang="en-IN" sz="1400" b="0" i="0" u="none" strike="noStrike" kern="0" cap="none" spc="-25" normalizeH="0" baseline="0" noProof="0" dirty="0">
                <a:ln>
                  <a:noFill/>
                </a:ln>
                <a:solidFill>
                  <a:srgbClr val="2C3D50"/>
                </a:solidFill>
                <a:effectLst/>
                <a:uLnTx/>
                <a:uFillTx/>
                <a:latin typeface="Calibri"/>
                <a:cs typeface="Calibri"/>
              </a:rPr>
              <a:t> </a:t>
            </a:r>
            <a:r>
              <a:rPr kumimoji="0" lang="en-IN" sz="1400" b="0" i="0" u="none" strike="noStrike" kern="0" cap="none" spc="-10" normalizeH="0" baseline="0" noProof="0" dirty="0">
                <a:ln>
                  <a:noFill/>
                </a:ln>
                <a:solidFill>
                  <a:srgbClr val="2C3D50"/>
                </a:solidFill>
                <a:effectLst/>
                <a:uLnTx/>
                <a:uFillTx/>
                <a:latin typeface="Calibri"/>
                <a:cs typeface="Calibri"/>
              </a:rPr>
              <a:t>restarted; catalyses</a:t>
            </a:r>
            <a:r>
              <a:rPr kumimoji="0" lang="en-IN" sz="1400" b="0" i="0" u="none" strike="noStrike" kern="0" cap="none" spc="-25"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cases</a:t>
            </a:r>
            <a:r>
              <a:rPr kumimoji="0" lang="en-IN" sz="1400" b="0" i="0" u="none" strike="noStrike" kern="0" cap="none" spc="-20"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data</a:t>
            </a:r>
            <a:r>
              <a:rPr kumimoji="0" lang="en-IN" sz="1400" b="0" i="0" u="none" strike="noStrike" kern="0" cap="none" spc="-50"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alone</a:t>
            </a:r>
            <a:r>
              <a:rPr kumimoji="0" lang="en-IN" sz="1400" b="0" i="0" u="none" strike="noStrike" kern="0" cap="none" spc="-35"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misses</a:t>
            </a:r>
            <a:r>
              <a:rPr kumimoji="0" lang="en-IN" sz="1400" b="0" i="0" u="none" strike="noStrike" kern="0" cap="none" spc="-25" normalizeH="0" baseline="0" noProof="0" dirty="0">
                <a:ln>
                  <a:noFill/>
                </a:ln>
                <a:solidFill>
                  <a:srgbClr val="2C3D50"/>
                </a:solidFill>
                <a:effectLst/>
                <a:uLnTx/>
                <a:uFillTx/>
                <a:latin typeface="Calibri"/>
                <a:cs typeface="Calibri"/>
              </a:rPr>
              <a:t> </a:t>
            </a:r>
            <a:r>
              <a:rPr kumimoji="0" lang="en-IN" sz="1400" b="0" i="0" u="none" strike="noStrike" kern="0" cap="none" spc="-10" normalizeH="0" baseline="0" noProof="0" dirty="0">
                <a:ln>
                  <a:noFill/>
                </a:ln>
                <a:solidFill>
                  <a:srgbClr val="2C3D50"/>
                </a:solidFill>
                <a:effectLst/>
                <a:uLnTx/>
                <a:uFillTx/>
                <a:latin typeface="Calibri"/>
                <a:cs typeface="Calibri"/>
              </a:rPr>
              <a:t>(cash- </a:t>
            </a:r>
            <a:r>
              <a:rPr kumimoji="0" lang="en-IN" sz="1400" b="0" i="0" u="none" strike="noStrike" kern="0" cap="none" spc="0" normalizeH="0" baseline="0" noProof="0" dirty="0">
                <a:ln>
                  <a:noFill/>
                </a:ln>
                <a:solidFill>
                  <a:srgbClr val="2C3D50"/>
                </a:solidFill>
                <a:effectLst/>
                <a:uLnTx/>
                <a:uFillTx/>
                <a:latin typeface="Calibri"/>
                <a:cs typeface="Calibri"/>
              </a:rPr>
              <a:t>leg</a:t>
            </a:r>
            <a:r>
              <a:rPr kumimoji="0" lang="en-IN" sz="1400" b="0" i="0" u="none" strike="noStrike" kern="0" cap="none" spc="-10" normalizeH="0" baseline="0" noProof="0" dirty="0">
                <a:ln>
                  <a:noFill/>
                </a:ln>
                <a:solidFill>
                  <a:srgbClr val="2C3D50"/>
                </a:solidFill>
                <a:effectLst/>
                <a:uLnTx/>
                <a:uFillTx/>
                <a:latin typeface="Calibri"/>
                <a:cs typeface="Calibri"/>
              </a:rPr>
              <a:t> evasion,</a:t>
            </a:r>
            <a:r>
              <a:rPr kumimoji="0" lang="en-IN" sz="1400" b="0" i="0" u="none" strike="noStrike" kern="0" cap="none" spc="-30" normalizeH="0" baseline="0" noProof="0" dirty="0">
                <a:ln>
                  <a:noFill/>
                </a:ln>
                <a:solidFill>
                  <a:srgbClr val="2C3D50"/>
                </a:solidFill>
                <a:effectLst/>
                <a:uLnTx/>
                <a:uFillTx/>
                <a:latin typeface="Calibri"/>
                <a:cs typeface="Calibri"/>
              </a:rPr>
              <a:t> </a:t>
            </a:r>
            <a:r>
              <a:rPr kumimoji="0" lang="en-IN" sz="1400" b="0" i="0" u="none" strike="noStrike" kern="0" cap="none" spc="0" normalizeH="0" baseline="0" noProof="0" dirty="0">
                <a:ln>
                  <a:noFill/>
                </a:ln>
                <a:solidFill>
                  <a:srgbClr val="2C3D50"/>
                </a:solidFill>
                <a:effectLst/>
                <a:uLnTx/>
                <a:uFillTx/>
                <a:latin typeface="Calibri"/>
                <a:cs typeface="Calibri"/>
              </a:rPr>
              <a:t>parallel</a:t>
            </a:r>
            <a:r>
              <a:rPr kumimoji="0" lang="en-IN" sz="1400" b="0" i="0" u="none" strike="noStrike" kern="0" cap="none" spc="-35" normalizeH="0" baseline="0" noProof="0" dirty="0">
                <a:ln>
                  <a:noFill/>
                </a:ln>
                <a:solidFill>
                  <a:srgbClr val="2C3D50"/>
                </a:solidFill>
                <a:effectLst/>
                <a:uLnTx/>
                <a:uFillTx/>
                <a:latin typeface="Calibri"/>
                <a:cs typeface="Calibri"/>
              </a:rPr>
              <a:t> </a:t>
            </a:r>
            <a:r>
              <a:rPr kumimoji="0" lang="en-IN" sz="1400" b="0" i="0" u="none" strike="noStrike" kern="0" cap="none" spc="-10" normalizeH="0" baseline="0" noProof="0" dirty="0">
                <a:ln>
                  <a:noFill/>
                </a:ln>
                <a:solidFill>
                  <a:srgbClr val="2C3D50"/>
                </a:solidFill>
                <a:effectLst/>
                <a:uLnTx/>
                <a:uFillTx/>
                <a:latin typeface="Calibri"/>
                <a:cs typeface="Calibri"/>
              </a:rPr>
              <a:t>invoicing).</a:t>
            </a:r>
            <a:endParaRPr kumimoji="0" lang="en-IN" sz="1400" b="0" i="0" u="none" strike="noStrike" kern="0" cap="none" spc="0" normalizeH="0" baseline="0" noProof="0" dirty="0">
              <a:ln>
                <a:noFill/>
              </a:ln>
              <a:solidFill>
                <a:sysClr val="windowText" lastClr="000000"/>
              </a:solidFill>
              <a:effectLst/>
              <a:uLnTx/>
              <a:uFillTx/>
              <a:latin typeface="Calibri"/>
              <a:cs typeface="Calibri"/>
            </a:endParaRPr>
          </a:p>
          <a:p>
            <a:pPr marL="111125" marR="24765" lvl="0" indent="0" defTabSz="914400" eaLnBrk="1" fontAlgn="auto" latinLnBrk="0" hangingPunct="1">
              <a:lnSpc>
                <a:spcPct val="100000"/>
              </a:lnSpc>
              <a:spcBef>
                <a:spcPts val="225"/>
              </a:spcBef>
              <a:spcAft>
                <a:spcPts val="0"/>
              </a:spcAft>
              <a:buClrTx/>
              <a:buSzTx/>
              <a:buFontTx/>
              <a:buNone/>
              <a:tabLst/>
              <a:defRPr/>
            </a:pPr>
            <a:endParaRPr kumimoji="0" lang="en-IN" sz="1400" b="0" i="0" u="none" strike="noStrike" kern="0" cap="none" spc="0" normalizeH="0" baseline="0" noProof="0" dirty="0">
              <a:ln>
                <a:noFill/>
              </a:ln>
              <a:solidFill>
                <a:sysClr val="windowText" lastClr="000000"/>
              </a:solidFill>
              <a:effectLst/>
              <a:uLnTx/>
              <a:uFillTx/>
              <a:latin typeface="Calibri"/>
              <a:cs typeface="Calibri"/>
            </a:endParaRPr>
          </a:p>
        </p:txBody>
      </p:sp>
      <p:grpSp>
        <p:nvGrpSpPr>
          <p:cNvPr id="21" name="object 26">
            <a:extLst>
              <a:ext uri="{FF2B5EF4-FFF2-40B4-BE49-F238E27FC236}">
                <a16:creationId xmlns:a16="http://schemas.microsoft.com/office/drawing/2014/main" id="{CCCD7C38-5A59-BBBB-5A9E-639C40B88100}"/>
              </a:ext>
            </a:extLst>
          </p:cNvPr>
          <p:cNvGrpSpPr/>
          <p:nvPr/>
        </p:nvGrpSpPr>
        <p:grpSpPr>
          <a:xfrm>
            <a:off x="6471919" y="1013534"/>
            <a:ext cx="2600725" cy="1150546"/>
            <a:chOff x="5960109" y="3045460"/>
            <a:chExt cx="2823210" cy="1590040"/>
          </a:xfrm>
        </p:grpSpPr>
        <p:sp>
          <p:nvSpPr>
            <p:cNvPr id="22" name="object 27">
              <a:extLst>
                <a:ext uri="{FF2B5EF4-FFF2-40B4-BE49-F238E27FC236}">
                  <a16:creationId xmlns:a16="http://schemas.microsoft.com/office/drawing/2014/main" id="{1887BECC-057D-733A-86C7-8C6808436CDC}"/>
                </a:ext>
              </a:extLst>
            </p:cNvPr>
            <p:cNvSpPr/>
            <p:nvPr/>
          </p:nvSpPr>
          <p:spPr>
            <a:xfrm>
              <a:off x="6021323" y="3051810"/>
              <a:ext cx="2757170" cy="1577340"/>
            </a:xfrm>
            <a:custGeom>
              <a:avLst/>
              <a:gdLst/>
              <a:ahLst/>
              <a:cxnLst/>
              <a:rect l="l" t="t" r="r" b="b"/>
              <a:pathLst>
                <a:path w="2757170" h="1577339">
                  <a:moveTo>
                    <a:pt x="0" y="1577339"/>
                  </a:moveTo>
                  <a:lnTo>
                    <a:pt x="2756916" y="1577339"/>
                  </a:lnTo>
                  <a:lnTo>
                    <a:pt x="2756916" y="0"/>
                  </a:lnTo>
                  <a:lnTo>
                    <a:pt x="0" y="0"/>
                  </a:lnTo>
                  <a:lnTo>
                    <a:pt x="0" y="1577339"/>
                  </a:lnTo>
                  <a:close/>
                </a:path>
              </a:pathLst>
            </a:custGeom>
            <a:solidFill>
              <a:srgbClr val="F4F8FA"/>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8">
              <a:extLst>
                <a:ext uri="{FF2B5EF4-FFF2-40B4-BE49-F238E27FC236}">
                  <a16:creationId xmlns:a16="http://schemas.microsoft.com/office/drawing/2014/main" id="{D175B7C9-F00C-F098-495B-AE8E23D8D001}"/>
                </a:ext>
              </a:extLst>
            </p:cNvPr>
            <p:cNvSpPr/>
            <p:nvPr/>
          </p:nvSpPr>
          <p:spPr>
            <a:xfrm>
              <a:off x="5966459" y="3051810"/>
              <a:ext cx="2811780" cy="1577340"/>
            </a:xfrm>
            <a:custGeom>
              <a:avLst/>
              <a:gdLst/>
              <a:ahLst/>
              <a:cxnLst/>
              <a:rect l="l" t="t" r="r" b="b"/>
              <a:pathLst>
                <a:path w="2811779" h="1577339">
                  <a:moveTo>
                    <a:pt x="0" y="1577339"/>
                  </a:moveTo>
                  <a:lnTo>
                    <a:pt x="2811780" y="1577339"/>
                  </a:lnTo>
                  <a:lnTo>
                    <a:pt x="2811780" y="0"/>
                  </a:lnTo>
                  <a:lnTo>
                    <a:pt x="0" y="0"/>
                  </a:lnTo>
                  <a:lnTo>
                    <a:pt x="0" y="1577339"/>
                  </a:lnTo>
                  <a:close/>
                </a:path>
              </a:pathLst>
            </a:custGeom>
            <a:ln w="9525">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29">
              <a:extLst>
                <a:ext uri="{FF2B5EF4-FFF2-40B4-BE49-F238E27FC236}">
                  <a16:creationId xmlns:a16="http://schemas.microsoft.com/office/drawing/2014/main" id="{F06805AA-82E2-6A92-8177-5579F6B3C53A}"/>
                </a:ext>
              </a:extLst>
            </p:cNvPr>
            <p:cNvSpPr/>
            <p:nvPr/>
          </p:nvSpPr>
          <p:spPr>
            <a:xfrm>
              <a:off x="5966459" y="3051810"/>
              <a:ext cx="55244" cy="1577340"/>
            </a:xfrm>
            <a:custGeom>
              <a:avLst/>
              <a:gdLst/>
              <a:ahLst/>
              <a:cxnLst/>
              <a:rect l="l" t="t" r="r" b="b"/>
              <a:pathLst>
                <a:path w="55245" h="1577339">
                  <a:moveTo>
                    <a:pt x="54863" y="0"/>
                  </a:moveTo>
                  <a:lnTo>
                    <a:pt x="0" y="0"/>
                  </a:lnTo>
                  <a:lnTo>
                    <a:pt x="0" y="1577339"/>
                  </a:lnTo>
                  <a:lnTo>
                    <a:pt x="54863" y="1577339"/>
                  </a:lnTo>
                  <a:lnTo>
                    <a:pt x="54863" y="0"/>
                  </a:lnTo>
                  <a:close/>
                </a:path>
              </a:pathLst>
            </a:custGeom>
            <a:solidFill>
              <a:srgbClr val="5A8F69"/>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5" name="object 30">
              <a:extLst>
                <a:ext uri="{FF2B5EF4-FFF2-40B4-BE49-F238E27FC236}">
                  <a16:creationId xmlns:a16="http://schemas.microsoft.com/office/drawing/2014/main" id="{FF16892C-1E4A-F258-1F1E-09626971E479}"/>
                </a:ext>
              </a:extLst>
            </p:cNvPr>
            <p:cNvSpPr/>
            <p:nvPr/>
          </p:nvSpPr>
          <p:spPr>
            <a:xfrm>
              <a:off x="5966459" y="3051810"/>
              <a:ext cx="55244" cy="1577340"/>
            </a:xfrm>
            <a:custGeom>
              <a:avLst/>
              <a:gdLst/>
              <a:ahLst/>
              <a:cxnLst/>
              <a:rect l="l" t="t" r="r" b="b"/>
              <a:pathLst>
                <a:path w="55245" h="1577339">
                  <a:moveTo>
                    <a:pt x="0" y="1577339"/>
                  </a:moveTo>
                  <a:lnTo>
                    <a:pt x="54863" y="1577339"/>
                  </a:lnTo>
                  <a:lnTo>
                    <a:pt x="54863" y="0"/>
                  </a:lnTo>
                  <a:lnTo>
                    <a:pt x="0" y="0"/>
                  </a:lnTo>
                  <a:lnTo>
                    <a:pt x="0" y="1577339"/>
                  </a:lnTo>
                  <a:close/>
                </a:path>
              </a:pathLst>
            </a:custGeom>
            <a:solidFill>
              <a:srgbClr val="C8A84B"/>
            </a:solidFill>
            <a:ln w="12700">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7" name="object 25">
            <a:extLst>
              <a:ext uri="{FF2B5EF4-FFF2-40B4-BE49-F238E27FC236}">
                <a16:creationId xmlns:a16="http://schemas.microsoft.com/office/drawing/2014/main" id="{5ECD56A5-8ACE-378E-4DBC-0A3293C4C4E7}"/>
              </a:ext>
            </a:extLst>
          </p:cNvPr>
          <p:cNvSpPr txBox="1"/>
          <p:nvPr/>
        </p:nvSpPr>
        <p:spPr>
          <a:xfrm>
            <a:off x="6664960" y="1115587"/>
            <a:ext cx="2245060" cy="900246"/>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45" normalizeH="0" baseline="0" noProof="0" dirty="0">
                <a:ln>
                  <a:noFill/>
                </a:ln>
                <a:solidFill>
                  <a:srgbClr val="6B7B8E"/>
                </a:solidFill>
                <a:effectLst/>
                <a:uLnTx/>
                <a:uFillTx/>
                <a:latin typeface="Calibri"/>
                <a:cs typeface="Calibri"/>
              </a:rPr>
              <a:t>Addresses following diagnostic points</a:t>
            </a:r>
          </a:p>
          <a:p>
            <a:pPr marL="171450" marR="0" lvl="0" indent="-171450" algn="l" defTabSz="91440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400" b="0" i="0" u="none" strike="noStrike" kern="0" cap="none" spc="-45" normalizeH="0" baseline="0" noProof="0" dirty="0" err="1">
                <a:ln>
                  <a:noFill/>
                </a:ln>
                <a:solidFill>
                  <a:prstClr val="black"/>
                </a:solidFill>
                <a:effectLst/>
                <a:uLnTx/>
                <a:uFillTx/>
                <a:latin typeface="Calibri"/>
                <a:cs typeface="Calibri"/>
              </a:rPr>
              <a:t>Eway</a:t>
            </a:r>
            <a:r>
              <a:rPr kumimoji="0" lang="en-US" sz="1400" b="0" i="0" u="none" strike="noStrike" kern="0" cap="none" spc="-45" normalizeH="0" baseline="0" noProof="0" dirty="0">
                <a:ln>
                  <a:noFill/>
                </a:ln>
                <a:solidFill>
                  <a:prstClr val="black"/>
                </a:solidFill>
                <a:effectLst/>
                <a:uLnTx/>
                <a:uFillTx/>
                <a:latin typeface="Calibri"/>
                <a:cs typeface="Calibri"/>
              </a:rPr>
              <a:t> bill to revenue</a:t>
            </a:r>
          </a:p>
          <a:p>
            <a:pPr marL="171450" marR="0" lvl="0" indent="-171450" algn="l" defTabSz="91440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sz="1400" b="0" i="0" u="none" strike="noStrike" kern="0" cap="none" spc="-45" normalizeH="0" baseline="0" noProof="0" dirty="0">
                <a:ln>
                  <a:noFill/>
                </a:ln>
                <a:solidFill>
                  <a:prstClr val="black"/>
                </a:solidFill>
                <a:effectLst/>
                <a:uLnTx/>
                <a:uFillTx/>
                <a:latin typeface="Calibri"/>
                <a:cs typeface="Calibri"/>
              </a:rPr>
              <a:t>B2C Ratio anomaly</a:t>
            </a:r>
          </a:p>
        </p:txBody>
      </p:sp>
    </p:spTree>
    <p:extLst>
      <p:ext uri="{BB962C8B-B14F-4D97-AF65-F5344CB8AC3E}">
        <p14:creationId xmlns:p14="http://schemas.microsoft.com/office/powerpoint/2010/main" val="13253458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546"/>
        <p:cNvGrpSpPr/>
        <p:nvPr/>
      </p:nvGrpSpPr>
      <p:grpSpPr>
        <a:xfrm>
          <a:off x="0" y="0"/>
          <a:ext cx="0" cy="0"/>
          <a:chOff x="0" y="0"/>
          <a:chExt cx="0" cy="0"/>
        </a:xfrm>
      </p:grpSpPr>
      <p:grpSp>
        <p:nvGrpSpPr>
          <p:cNvPr id="547" name="Google Shape;547;p32"/>
          <p:cNvGrpSpPr/>
          <p:nvPr/>
        </p:nvGrpSpPr>
        <p:grpSpPr>
          <a:xfrm>
            <a:off x="0" y="-63"/>
            <a:ext cx="9144000" cy="832511"/>
            <a:chOff x="0" y="-63"/>
            <a:chExt cx="9144000" cy="832511"/>
          </a:xfrm>
        </p:grpSpPr>
        <p:sp>
          <p:nvSpPr>
            <p:cNvPr id="548" name="Google Shape;548;p32"/>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49" name="Google Shape;549;p32"/>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0" name="Google Shape;550;p32"/>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1" name="Google Shape;551;p32"/>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52" name="Google Shape;552;p32"/>
          <p:cNvSpPr txBox="1">
            <a:spLocks noGrp="1"/>
          </p:cNvSpPr>
          <p:nvPr>
            <p:ph type="title"/>
          </p:nvPr>
        </p:nvSpPr>
        <p:spPr>
          <a:xfrm>
            <a:off x="444500" y="159511"/>
            <a:ext cx="77652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chemeClr val="lt1"/>
                </a:solidFill>
              </a:rPr>
              <a:t>#5 Expedite Legal cases disposal</a:t>
            </a:r>
            <a:endParaRPr sz="2400">
              <a:solidFill>
                <a:schemeClr val="lt1"/>
              </a:solidFill>
            </a:endParaRPr>
          </a:p>
        </p:txBody>
      </p:sp>
      <p:sp>
        <p:nvSpPr>
          <p:cNvPr id="553" name="Google Shape;553;p32"/>
          <p:cNvSpPr txBox="1"/>
          <p:nvPr/>
        </p:nvSpPr>
        <p:spPr>
          <a:xfrm>
            <a:off x="-76200" y="536600"/>
            <a:ext cx="6629400" cy="784800"/>
          </a:xfrm>
          <a:prstGeom prst="rect">
            <a:avLst/>
          </a:prstGeom>
          <a:noFill/>
          <a:ln>
            <a:noFill/>
          </a:ln>
        </p:spPr>
        <p:txBody>
          <a:bodyPr spcFirstLastPara="1" wrap="square" lIns="91425" tIns="45700" rIns="91425" bIns="45700" anchor="t" anchorCtr="0">
            <a:spAutoFit/>
          </a:bodyPr>
          <a:lstStyle/>
          <a:p>
            <a:pPr marL="786765" lvl="0" indent="0" algn="l" rtl="0">
              <a:spcBef>
                <a:spcPts val="0"/>
              </a:spcBef>
              <a:spcAft>
                <a:spcPts val="0"/>
              </a:spcAft>
              <a:buNone/>
            </a:pPr>
            <a:r>
              <a:rPr lang="en-US" sz="800" i="1">
                <a:solidFill>
                  <a:srgbClr val="EFD080"/>
                </a:solidFill>
                <a:latin typeface="Calibri"/>
                <a:ea typeface="Calibri"/>
                <a:cs typeface="Calibri"/>
                <a:sym typeface="Calibri"/>
              </a:rPr>
              <a:t>Convert audit and enforcement detections into actual realization through a strong, motivated legal team.</a:t>
            </a:r>
            <a:endParaRPr/>
          </a:p>
          <a:p>
            <a:pPr marL="786765" lvl="0" indent="0" algn="l" rtl="0">
              <a:spcBef>
                <a:spcPts val="260"/>
              </a:spcBef>
              <a:spcAft>
                <a:spcPts val="0"/>
              </a:spcAft>
              <a:buNone/>
            </a:pPr>
            <a:endParaRPr sz="800" i="1">
              <a:solidFill>
                <a:srgbClr val="EFD080"/>
              </a:solidFill>
              <a:latin typeface="Calibri"/>
              <a:ea typeface="Calibri"/>
              <a:cs typeface="Calibri"/>
              <a:sym typeface="Calibri"/>
            </a:endParaRPr>
          </a:p>
          <a:p>
            <a:pPr marL="786765" lvl="0" indent="0" algn="l" rtl="0">
              <a:spcBef>
                <a:spcPts val="260"/>
              </a:spcBef>
              <a:spcAft>
                <a:spcPts val="0"/>
              </a:spcAft>
              <a:buNone/>
            </a:pPr>
            <a:endParaRPr sz="2400" b="1">
              <a:solidFill>
                <a:schemeClr val="lt1"/>
              </a:solidFill>
              <a:latin typeface="Calibri"/>
              <a:ea typeface="Calibri"/>
              <a:cs typeface="Calibri"/>
              <a:sym typeface="Calibri"/>
            </a:endParaRPr>
          </a:p>
        </p:txBody>
      </p:sp>
      <p:sp>
        <p:nvSpPr>
          <p:cNvPr id="554" name="Google Shape;554;p32"/>
          <p:cNvSpPr txBox="1"/>
          <p:nvPr/>
        </p:nvSpPr>
        <p:spPr>
          <a:xfrm>
            <a:off x="414931" y="963088"/>
            <a:ext cx="5286274" cy="4739719"/>
          </a:xfrm>
          <a:prstGeom prst="rect">
            <a:avLst/>
          </a:prstGeom>
          <a:noFill/>
          <a:ln>
            <a:noFill/>
          </a:ln>
        </p:spPr>
        <p:txBody>
          <a:bodyPr spcFirstLastPara="1" wrap="square" lIns="91425" tIns="45700" rIns="91425" bIns="45700" anchor="t" anchorCtr="0">
            <a:spAutoFit/>
          </a:bodyPr>
          <a:lstStyle/>
          <a:p>
            <a:pPr marL="164465" lvl="0" indent="0" algn="just" rtl="0">
              <a:lnSpc>
                <a:spcPct val="100000"/>
              </a:lnSpc>
              <a:spcBef>
                <a:spcPts val="0"/>
              </a:spcBef>
              <a:spcAft>
                <a:spcPts val="0"/>
              </a:spcAft>
              <a:buNone/>
            </a:pPr>
            <a:r>
              <a:rPr lang="en-US" sz="1600" b="1" dirty="0">
                <a:solidFill>
                  <a:srgbClr val="6B7B8E"/>
                </a:solidFill>
                <a:latin typeface="Calibri"/>
                <a:ea typeface="Calibri"/>
                <a:cs typeface="Calibri"/>
                <a:sym typeface="Calibri"/>
              </a:rPr>
              <a:t>H o w</a:t>
            </a:r>
            <a:endParaRPr sz="1600" dirty="0">
              <a:latin typeface="Calibri"/>
              <a:ea typeface="Calibri"/>
              <a:cs typeface="Calibri"/>
              <a:sym typeface="Calibri"/>
            </a:endParaRPr>
          </a:p>
          <a:p>
            <a:pPr marL="164465" lvl="0" indent="0" algn="just" rtl="0">
              <a:lnSpc>
                <a:spcPct val="100000"/>
              </a:lnSpc>
              <a:spcBef>
                <a:spcPts val="450"/>
              </a:spcBef>
              <a:spcAft>
                <a:spcPts val="0"/>
              </a:spcAft>
              <a:buNone/>
            </a:pPr>
            <a:r>
              <a:rPr lang="en-US" sz="1600" b="1" dirty="0">
                <a:solidFill>
                  <a:srgbClr val="1F3863"/>
                </a:solidFill>
                <a:latin typeface="Calibri"/>
                <a:ea typeface="Calibri"/>
                <a:cs typeface="Calibri"/>
                <a:sym typeface="Calibri"/>
              </a:rPr>
              <a:t>Operational levers</a:t>
            </a:r>
            <a:endParaRPr sz="1600" dirty="0">
              <a:latin typeface="Calibri"/>
              <a:ea typeface="Calibri"/>
              <a:cs typeface="Calibri"/>
              <a:sym typeface="Calibri"/>
            </a:endParaRPr>
          </a:p>
          <a:p>
            <a:pPr marL="269875" marR="5080" lvl="0" indent="-257810" algn="l" rtl="0">
              <a:lnSpc>
                <a:spcPct val="100000"/>
              </a:lnSpc>
              <a:spcBef>
                <a:spcPts val="100"/>
              </a:spcBef>
              <a:spcAft>
                <a:spcPts val="0"/>
              </a:spcAft>
              <a:buClr>
                <a:srgbClr val="2C3D50"/>
              </a:buClr>
              <a:buSzPts val="1600"/>
              <a:buFont typeface="Calibri"/>
              <a:buChar char="●"/>
            </a:pPr>
            <a:r>
              <a:rPr lang="en-US" sz="1700" dirty="0">
                <a:solidFill>
                  <a:srgbClr val="2C3D50"/>
                </a:solidFill>
                <a:latin typeface="Calibri"/>
                <a:ea typeface="Calibri"/>
                <a:cs typeface="Calibri"/>
                <a:sym typeface="Calibri"/>
              </a:rPr>
              <a:t>Urgent approval of the pending Panel Lawyers proposal for High Court, commercial courts and NCLT — engage a team of professional GST-specialist counsels.</a:t>
            </a:r>
            <a:endParaRPr sz="1700" dirty="0">
              <a:latin typeface="Calibri"/>
              <a:ea typeface="Calibri"/>
              <a:cs typeface="Calibri"/>
              <a:sym typeface="Calibri"/>
            </a:endParaRPr>
          </a:p>
          <a:p>
            <a:pPr marL="269875" marR="306705" lvl="0" indent="-257810" algn="l" rtl="0">
              <a:lnSpc>
                <a:spcPct val="100000"/>
              </a:lnSpc>
              <a:spcBef>
                <a:spcPts val="600"/>
              </a:spcBef>
              <a:spcAft>
                <a:spcPts val="0"/>
              </a:spcAft>
              <a:buClr>
                <a:srgbClr val="2C3D50"/>
              </a:buClr>
              <a:buSzPts val="1600"/>
              <a:buFont typeface="Calibri"/>
              <a:buChar char="●"/>
            </a:pPr>
            <a:r>
              <a:rPr lang="en-US" sz="1700" dirty="0">
                <a:solidFill>
                  <a:srgbClr val="2C3D50"/>
                </a:solidFill>
                <a:latin typeface="Calibri"/>
                <a:ea typeface="Calibri"/>
                <a:cs typeface="Calibri"/>
                <a:sym typeface="Calibri"/>
              </a:rPr>
              <a:t>Appointment of panel lawyers at GSTAT; </a:t>
            </a:r>
            <a:endParaRPr sz="1700" dirty="0"/>
          </a:p>
          <a:p>
            <a:pPr marL="269875" marR="306705" lvl="0" indent="-257810" algn="l" rtl="0">
              <a:lnSpc>
                <a:spcPct val="100000"/>
              </a:lnSpc>
              <a:spcBef>
                <a:spcPts val="600"/>
              </a:spcBef>
              <a:spcAft>
                <a:spcPts val="0"/>
              </a:spcAft>
              <a:buClr>
                <a:srgbClr val="2C3D50"/>
              </a:buClr>
              <a:buSzPts val="1600"/>
              <a:buFont typeface="Calibri"/>
              <a:buChar char="●"/>
            </a:pPr>
            <a:r>
              <a:rPr lang="en-US" sz="1700" dirty="0">
                <a:solidFill>
                  <a:srgbClr val="2C3D50"/>
                </a:solidFill>
                <a:latin typeface="Calibri"/>
                <a:ea typeface="Calibri"/>
                <a:cs typeface="Calibri"/>
                <a:sym typeface="Calibri"/>
              </a:rPr>
              <a:t>Strengthen the Appellate Authority bench-strength and infrastructure through cadre reorganization</a:t>
            </a:r>
            <a:endParaRPr sz="1700" dirty="0">
              <a:latin typeface="Calibri"/>
              <a:ea typeface="Calibri"/>
              <a:cs typeface="Calibri"/>
              <a:sym typeface="Calibri"/>
            </a:endParaRPr>
          </a:p>
          <a:p>
            <a:pPr marL="269875" marR="158115" lvl="0" indent="-257810" algn="l" rtl="0">
              <a:lnSpc>
                <a:spcPct val="100000"/>
              </a:lnSpc>
              <a:spcBef>
                <a:spcPts val="605"/>
              </a:spcBef>
              <a:spcAft>
                <a:spcPts val="0"/>
              </a:spcAft>
              <a:buClr>
                <a:srgbClr val="2C3D50"/>
              </a:buClr>
              <a:buSzPts val="1600"/>
              <a:buFont typeface="Calibri"/>
              <a:buChar char="●"/>
            </a:pPr>
            <a:r>
              <a:rPr lang="en-US" sz="1700" dirty="0">
                <a:solidFill>
                  <a:srgbClr val="2C3D50"/>
                </a:solidFill>
                <a:latin typeface="Calibri"/>
                <a:ea typeface="Calibri"/>
                <a:cs typeface="Calibri"/>
                <a:sym typeface="Calibri"/>
              </a:rPr>
              <a:t>Departmental SOP — every significant audit/enforcement case to be monitored at HQ level; publish win-rate KPIs; CPE training in GST jurisprudence</a:t>
            </a:r>
            <a:endParaRPr sz="1700" dirty="0">
              <a:latin typeface="Calibri"/>
              <a:ea typeface="Calibri"/>
              <a:cs typeface="Calibri"/>
              <a:sym typeface="Calibri"/>
            </a:endParaRPr>
          </a:p>
          <a:p>
            <a:pPr marL="504825" marR="925830" lvl="0" indent="-156210" algn="l" rtl="0">
              <a:lnSpc>
                <a:spcPct val="100000"/>
              </a:lnSpc>
              <a:spcBef>
                <a:spcPts val="600"/>
              </a:spcBef>
              <a:spcAft>
                <a:spcPts val="0"/>
              </a:spcAft>
              <a:buSzPts val="1600"/>
              <a:buFont typeface="Arial"/>
              <a:buNone/>
            </a:pPr>
            <a:endParaRPr sz="1600" dirty="0">
              <a:latin typeface="Calibri"/>
              <a:ea typeface="Calibri"/>
              <a:cs typeface="Calibri"/>
              <a:sym typeface="Calibri"/>
            </a:endParaRPr>
          </a:p>
          <a:p>
            <a:pPr marL="374015" marR="5080" lvl="0" indent="-156210" algn="just" rtl="0">
              <a:spcBef>
                <a:spcPts val="600"/>
              </a:spcBef>
              <a:spcAft>
                <a:spcPts val="0"/>
              </a:spcAft>
              <a:buSzPts val="1600"/>
              <a:buFont typeface="Arial"/>
              <a:buNone/>
            </a:pPr>
            <a:endParaRPr sz="1600" dirty="0">
              <a:latin typeface="Calibri"/>
              <a:ea typeface="Calibri"/>
              <a:cs typeface="Calibri"/>
              <a:sym typeface="Calibri"/>
            </a:endParaRPr>
          </a:p>
          <a:p>
            <a:pPr marL="374015" marR="5080" lvl="0" indent="-156210" algn="l" rtl="0">
              <a:lnSpc>
                <a:spcPct val="100000"/>
              </a:lnSpc>
              <a:spcBef>
                <a:spcPts val="600"/>
              </a:spcBef>
              <a:spcAft>
                <a:spcPts val="0"/>
              </a:spcAft>
              <a:buSzPts val="1600"/>
              <a:buFont typeface="Arial"/>
              <a:buNone/>
            </a:pPr>
            <a:endParaRPr sz="1600" dirty="0">
              <a:latin typeface="Calibri"/>
              <a:ea typeface="Calibri"/>
              <a:cs typeface="Calibri"/>
              <a:sym typeface="Calibri"/>
            </a:endParaRPr>
          </a:p>
        </p:txBody>
      </p:sp>
      <p:grpSp>
        <p:nvGrpSpPr>
          <p:cNvPr id="555" name="Google Shape;555;p32"/>
          <p:cNvGrpSpPr/>
          <p:nvPr/>
        </p:nvGrpSpPr>
        <p:grpSpPr>
          <a:xfrm>
            <a:off x="5905635" y="3095490"/>
            <a:ext cx="3105048" cy="1802425"/>
            <a:chOff x="5966459" y="3051810"/>
            <a:chExt cx="2812034" cy="1577339"/>
          </a:xfrm>
        </p:grpSpPr>
        <p:sp>
          <p:nvSpPr>
            <p:cNvPr id="556" name="Google Shape;556;p32"/>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7" name="Google Shape;557;p32"/>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8" name="Google Shape;558;p32"/>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59" name="Google Shape;559;p32"/>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60" name="Google Shape;560;p32"/>
          <p:cNvSpPr txBox="1"/>
          <p:nvPr/>
        </p:nvSpPr>
        <p:spPr>
          <a:xfrm>
            <a:off x="5982694" y="3137487"/>
            <a:ext cx="2746500" cy="1767900"/>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200" b="1" dirty="0">
                <a:solidFill>
                  <a:srgbClr val="6B7B8E"/>
                </a:solidFill>
                <a:latin typeface="Calibri"/>
                <a:ea typeface="Calibri"/>
                <a:cs typeface="Calibri"/>
                <a:sym typeface="Calibri"/>
              </a:rPr>
              <a:t>E x p e c t e d o u t c o m e</a:t>
            </a:r>
            <a:endParaRPr sz="1200" dirty="0">
              <a:latin typeface="Calibri"/>
              <a:ea typeface="Calibri"/>
              <a:cs typeface="Calibri"/>
              <a:sym typeface="Calibri"/>
            </a:endParaRPr>
          </a:p>
          <a:p>
            <a:pPr marL="111125" marR="34290" lvl="0" indent="0" algn="l" rtl="0">
              <a:lnSpc>
                <a:spcPct val="100000"/>
              </a:lnSpc>
              <a:spcBef>
                <a:spcPts val="284"/>
              </a:spcBef>
              <a:spcAft>
                <a:spcPts val="0"/>
              </a:spcAft>
              <a:buNone/>
            </a:pPr>
            <a:r>
              <a:rPr lang="en-US" sz="1200" dirty="0">
                <a:solidFill>
                  <a:srgbClr val="2C3D50"/>
                </a:solidFill>
                <a:latin typeface="Calibri"/>
                <a:ea typeface="Calibri"/>
                <a:cs typeface="Calibri"/>
                <a:sym typeface="Calibri"/>
              </a:rPr>
              <a:t>GSTAT has just become operational — every favorable ruling creates a long-term, recurring revenue impact. Stronger representation directly raises realization from already-detected audit, enforcement and fake-ITC cases (the largest stock of unrealized demand on the books).</a:t>
            </a:r>
            <a:endParaRPr sz="1200" dirty="0">
              <a:latin typeface="Calibri"/>
              <a:ea typeface="Calibri"/>
              <a:cs typeface="Calibri"/>
              <a:sym typeface="Calibri"/>
            </a:endParaRPr>
          </a:p>
          <a:p>
            <a:pPr marL="111125" marR="24765" lvl="0" indent="0" algn="l" rtl="0">
              <a:lnSpc>
                <a:spcPct val="100000"/>
              </a:lnSpc>
              <a:spcBef>
                <a:spcPts val="225"/>
              </a:spcBef>
              <a:spcAft>
                <a:spcPts val="0"/>
              </a:spcAft>
              <a:buNone/>
            </a:pPr>
            <a:endParaRPr sz="1200" dirty="0">
              <a:latin typeface="Calibri"/>
              <a:ea typeface="Calibri"/>
              <a:cs typeface="Calibri"/>
              <a:sym typeface="Calibri"/>
            </a:endParaRPr>
          </a:p>
        </p:txBody>
      </p:sp>
      <p:grpSp>
        <p:nvGrpSpPr>
          <p:cNvPr id="561" name="Google Shape;561;p32"/>
          <p:cNvGrpSpPr/>
          <p:nvPr/>
        </p:nvGrpSpPr>
        <p:grpSpPr>
          <a:xfrm>
            <a:off x="5887781" y="1139659"/>
            <a:ext cx="3122620" cy="959008"/>
            <a:chOff x="5966459" y="3051810"/>
            <a:chExt cx="2812034" cy="1577339"/>
          </a:xfrm>
        </p:grpSpPr>
        <p:sp>
          <p:nvSpPr>
            <p:cNvPr id="562" name="Google Shape;562;p32"/>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3" name="Google Shape;563;p32"/>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4" name="Google Shape;564;p32"/>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565" name="Google Shape;565;p32"/>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566" name="Google Shape;566;p32"/>
          <p:cNvSpPr txBox="1"/>
          <p:nvPr/>
        </p:nvSpPr>
        <p:spPr>
          <a:xfrm>
            <a:off x="6019178" y="1247667"/>
            <a:ext cx="2804781" cy="7899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1200" b="1" dirty="0">
                <a:solidFill>
                  <a:srgbClr val="6B7B8E"/>
                </a:solidFill>
                <a:latin typeface="Calibri"/>
                <a:ea typeface="Calibri"/>
                <a:cs typeface="Calibri"/>
                <a:sym typeface="Calibri"/>
              </a:rPr>
              <a:t>Addresses following diagnostic points</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Growth Lag</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B2C Ratio anomaly</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Peer band and cash anomaly</a:t>
            </a:r>
            <a:endParaRPr sz="1200" dirty="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7B05EE8-AF26-C34E-7366-C588C6EEC73C}"/>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95816912-FE46-C0A8-CDCF-8438C13EE4E3}"/>
              </a:ext>
            </a:extLst>
          </p:cNvPr>
          <p:cNvGrpSpPr/>
          <p:nvPr/>
        </p:nvGrpSpPr>
        <p:grpSpPr>
          <a:xfrm>
            <a:off x="-6350" y="-6413"/>
            <a:ext cx="9156700" cy="845185"/>
            <a:chOff x="-6350" y="-6413"/>
            <a:chExt cx="9156700" cy="845185"/>
          </a:xfrm>
          <a:solidFill>
            <a:srgbClr val="1B2A49"/>
          </a:solidFill>
        </p:grpSpPr>
        <p:sp>
          <p:nvSpPr>
            <p:cNvPr id="4" name="object 4">
              <a:extLst>
                <a:ext uri="{FF2B5EF4-FFF2-40B4-BE49-F238E27FC236}">
                  <a16:creationId xmlns:a16="http://schemas.microsoft.com/office/drawing/2014/main" id="{5FE8362E-BD63-F023-7562-A9959FFEA680}"/>
                </a:ext>
              </a:extLst>
            </p:cNvPr>
            <p:cNvSpPr/>
            <p:nvPr/>
          </p:nvSpPr>
          <p:spPr>
            <a:xfrm>
              <a:off x="0" y="-63"/>
              <a:ext cx="9144000" cy="777875"/>
            </a:xfrm>
            <a:custGeom>
              <a:avLst/>
              <a:gdLst/>
              <a:ahLst/>
              <a:cxnLst/>
              <a:rect l="l" t="t" r="r" b="b"/>
              <a:pathLst>
                <a:path w="9144000" h="777875">
                  <a:moveTo>
                    <a:pt x="9144000" y="0"/>
                  </a:moveTo>
                  <a:lnTo>
                    <a:pt x="0" y="0"/>
                  </a:lnTo>
                  <a:lnTo>
                    <a:pt x="0" y="777303"/>
                  </a:lnTo>
                  <a:lnTo>
                    <a:pt x="9144000" y="777303"/>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a:extLst>
                <a:ext uri="{FF2B5EF4-FFF2-40B4-BE49-F238E27FC236}">
                  <a16:creationId xmlns:a16="http://schemas.microsoft.com/office/drawing/2014/main" id="{047574D3-4721-F045-1058-170174D869C7}"/>
                </a:ext>
              </a:extLst>
            </p:cNvPr>
            <p:cNvSpPr/>
            <p:nvPr/>
          </p:nvSpPr>
          <p:spPr>
            <a:xfrm>
              <a:off x="0" y="-63"/>
              <a:ext cx="9144000" cy="777875"/>
            </a:xfrm>
            <a:custGeom>
              <a:avLst/>
              <a:gdLst/>
              <a:ahLst/>
              <a:cxnLst/>
              <a:rect l="l" t="t" r="r" b="b"/>
              <a:pathLst>
                <a:path w="9144000" h="777875">
                  <a:moveTo>
                    <a:pt x="0" y="777303"/>
                  </a:moveTo>
                  <a:lnTo>
                    <a:pt x="9144000" y="777303"/>
                  </a:lnTo>
                  <a:lnTo>
                    <a:pt x="9144000" y="0"/>
                  </a:lnTo>
                  <a:lnTo>
                    <a:pt x="0" y="0"/>
                  </a:lnTo>
                  <a:lnTo>
                    <a:pt x="0" y="777303"/>
                  </a:lnTo>
                  <a:close/>
                </a:path>
              </a:pathLst>
            </a:custGeom>
            <a:grpFill/>
            <a:ln w="12700">
              <a:solidFill>
                <a:srgbClr val="1B2A4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B18491FF-FB41-C77B-55AC-13AF41D90F76}"/>
                </a:ext>
              </a:extLst>
            </p:cNvPr>
            <p:cNvSpPr/>
            <p:nvPr/>
          </p:nvSpPr>
          <p:spPr>
            <a:xfrm>
              <a:off x="0" y="777204"/>
              <a:ext cx="9144000" cy="55244"/>
            </a:xfrm>
            <a:custGeom>
              <a:avLst/>
              <a:gdLst/>
              <a:ahLst/>
              <a:cxnLst/>
              <a:rect l="l" t="t" r="r" b="b"/>
              <a:pathLst>
                <a:path w="9144000" h="55244">
                  <a:moveTo>
                    <a:pt x="9144000" y="0"/>
                  </a:moveTo>
                  <a:lnTo>
                    <a:pt x="0" y="0"/>
                  </a:lnTo>
                  <a:lnTo>
                    <a:pt x="0" y="54899"/>
                  </a:lnTo>
                  <a:lnTo>
                    <a:pt x="9144000" y="54899"/>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E39F9E18-C163-1E54-5697-145ECD8EEB2C}"/>
                </a:ext>
              </a:extLst>
            </p:cNvPr>
            <p:cNvSpPr/>
            <p:nvPr/>
          </p:nvSpPr>
          <p:spPr>
            <a:xfrm>
              <a:off x="0" y="777204"/>
              <a:ext cx="9144000" cy="55244"/>
            </a:xfrm>
            <a:custGeom>
              <a:avLst/>
              <a:gdLst/>
              <a:ahLst/>
              <a:cxnLst/>
              <a:rect l="l" t="t" r="r" b="b"/>
              <a:pathLst>
                <a:path w="9144000" h="55244">
                  <a:moveTo>
                    <a:pt x="0" y="54899"/>
                  </a:moveTo>
                  <a:lnTo>
                    <a:pt x="9144000" y="54899"/>
                  </a:lnTo>
                  <a:lnTo>
                    <a:pt x="9144000" y="0"/>
                  </a:lnTo>
                  <a:lnTo>
                    <a:pt x="0" y="0"/>
                  </a:lnTo>
                  <a:lnTo>
                    <a:pt x="0" y="54899"/>
                  </a:lnTo>
                  <a:close/>
                </a:path>
              </a:pathLst>
            </a:custGeom>
            <a:grpFill/>
            <a:ln w="12700">
              <a:solidFill>
                <a:srgbClr val="C8A84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a:extLst>
              <a:ext uri="{FF2B5EF4-FFF2-40B4-BE49-F238E27FC236}">
                <a16:creationId xmlns:a16="http://schemas.microsoft.com/office/drawing/2014/main" id="{15BA4E29-3888-AFA9-D68C-78F0B5FC8FFB}"/>
              </a:ext>
            </a:extLst>
          </p:cNvPr>
          <p:cNvSpPr txBox="1">
            <a:spLocks noGrp="1"/>
          </p:cNvSpPr>
          <p:nvPr>
            <p:ph type="title"/>
          </p:nvPr>
        </p:nvSpPr>
        <p:spPr>
          <a:xfrm>
            <a:off x="444500" y="159511"/>
            <a:ext cx="8359258" cy="382156"/>
          </a:xfrm>
          <a:prstGeom prst="rect">
            <a:avLst/>
          </a:prstGeom>
        </p:spPr>
        <p:txBody>
          <a:bodyPr vert="horz" wrap="square" lIns="0" tIns="12700" rIns="0" bIns="0" rtlCol="0">
            <a:spAutoFit/>
          </a:bodyPr>
          <a:lstStyle/>
          <a:p>
            <a:pPr marL="12700">
              <a:lnSpc>
                <a:spcPct val="100000"/>
              </a:lnSpc>
              <a:spcBef>
                <a:spcPts val="100"/>
              </a:spcBef>
            </a:pPr>
            <a:r>
              <a:rPr lang="en-US" sz="2400">
                <a:solidFill>
                  <a:schemeClr val="bg1"/>
                </a:solidFill>
              </a:rPr>
              <a:t>#6 Data-Driven Enforcement &amp; Special Drives</a:t>
            </a:r>
            <a:endParaRPr sz="2400">
              <a:solidFill>
                <a:schemeClr val="bg1"/>
              </a:solidFill>
            </a:endParaRPr>
          </a:p>
        </p:txBody>
      </p:sp>
      <p:sp>
        <p:nvSpPr>
          <p:cNvPr id="2" name="Google Shape;336;p24">
            <a:extLst>
              <a:ext uri="{FF2B5EF4-FFF2-40B4-BE49-F238E27FC236}">
                <a16:creationId xmlns:a16="http://schemas.microsoft.com/office/drawing/2014/main" id="{87B1F012-E3A9-1BF3-D8F0-416F38D2CC61}"/>
              </a:ext>
            </a:extLst>
          </p:cNvPr>
          <p:cNvSpPr txBox="1"/>
          <p:nvPr/>
        </p:nvSpPr>
        <p:spPr>
          <a:xfrm>
            <a:off x="220329" y="1013349"/>
            <a:ext cx="5817102" cy="3936975"/>
          </a:xfrm>
          <a:prstGeom prst="rect">
            <a:avLst/>
          </a:prstGeom>
          <a:noFill/>
          <a:ln>
            <a:noFill/>
          </a:ln>
        </p:spPr>
        <p:txBody>
          <a:bodyPr spcFirstLastPara="1" wrap="square" lIns="0" tIns="12700" rIns="0" bIns="0" anchor="t" anchorCtr="0">
            <a:spAutoFit/>
          </a:bodyPr>
          <a:lstStyle/>
          <a:p>
            <a:pPr lvl="0">
              <a:buClrTx/>
              <a:defRPr sz="1400" b="1"/>
            </a:pPr>
            <a:r>
              <a:rPr lang="en-US" b="1" dirty="0">
                <a:solidFill>
                  <a:srgbClr val="C0392B"/>
                </a:solidFill>
                <a:latin typeface="Calibri"/>
                <a:ea typeface="Calibri"/>
                <a:cs typeface="Calibri"/>
                <a:sym typeface="Calibri"/>
              </a:rPr>
              <a:t>1. </a:t>
            </a:r>
            <a:r>
              <a:rPr lang="en-IN" b="1" dirty="0">
                <a:solidFill>
                  <a:srgbClr val="C0392B"/>
                </a:solidFill>
                <a:latin typeface="Calibri"/>
                <a:ea typeface="Calibri"/>
                <a:cs typeface="Calibri"/>
              </a:rPr>
              <a:t>Sector-Based Enforcement</a:t>
            </a:r>
            <a:r>
              <a:rPr lang="en-US" b="1" dirty="0">
                <a:solidFill>
                  <a:srgbClr val="C0392B"/>
                </a:solidFill>
                <a:latin typeface="Calibri"/>
                <a:ea typeface="Calibri"/>
                <a:cs typeface="Calibri"/>
                <a:sym typeface="Calibri"/>
              </a:rPr>
              <a:t>:</a:t>
            </a:r>
            <a:r>
              <a:rPr lang="en-US" sz="1600" b="1" dirty="0">
                <a:solidFill>
                  <a:srgbClr val="C0392B"/>
                </a:solidFill>
                <a:latin typeface="Calibri"/>
                <a:ea typeface="Calibri"/>
                <a:cs typeface="Calibri"/>
                <a:sym typeface="Calibri"/>
              </a:rPr>
              <a:t> </a:t>
            </a:r>
            <a:r>
              <a:rPr lang="en-US" sz="1200" b="1" dirty="0">
                <a:solidFill>
                  <a:srgbClr val="495468"/>
                </a:solidFill>
                <a:latin typeface="Calibri"/>
                <a:ea typeface="Calibri"/>
                <a:cs typeface="Calibri"/>
              </a:rPr>
              <a:t>Identify sectors exhibiting abnormal B2C ratios, revenue growth lag, and GST-to-GSDP gaps.</a:t>
            </a:r>
            <a:br>
              <a:rPr lang="en-US" sz="1100" dirty="0">
                <a:solidFill>
                  <a:sysClr val="windowText" lastClr="000000"/>
                </a:solidFill>
              </a:rPr>
            </a:br>
            <a:r>
              <a:rPr lang="en-US" b="1" dirty="0">
                <a:solidFill>
                  <a:srgbClr val="C0392B"/>
                </a:solidFill>
                <a:latin typeface="Calibri"/>
                <a:ea typeface="Calibri"/>
                <a:cs typeface="Calibri"/>
              </a:rPr>
              <a:t>Focus : </a:t>
            </a:r>
            <a:r>
              <a:rPr lang="en-US" sz="1200" dirty="0">
                <a:solidFill>
                  <a:srgbClr val="495468"/>
                </a:solidFill>
                <a:latin typeface="Calibri"/>
                <a:ea typeface="Calibri"/>
                <a:cs typeface="Calibri"/>
              </a:rPr>
              <a:t>Automobile and spare parts, Electrical machinery, Finance and banking, construction, Iron steel, Support services.</a:t>
            </a:r>
          </a:p>
          <a:p>
            <a:pPr lvl="0">
              <a:buClrTx/>
              <a:defRPr sz="1400" b="1"/>
            </a:pPr>
            <a:endParaRPr lang="en-US" sz="1050" dirty="0">
              <a:solidFill>
                <a:srgbClr val="495468"/>
              </a:solidFill>
              <a:latin typeface="Calibri"/>
              <a:ea typeface="Calibri"/>
              <a:cs typeface="Calibri"/>
            </a:endParaRPr>
          </a:p>
          <a:p>
            <a:pPr lvl="0">
              <a:buClrTx/>
              <a:defRPr/>
            </a:pPr>
            <a:r>
              <a:rPr lang="en-IN" b="1" dirty="0">
                <a:solidFill>
                  <a:srgbClr val="C0392B"/>
                </a:solidFill>
                <a:latin typeface="Calibri"/>
                <a:ea typeface="Calibri"/>
                <a:cs typeface="Calibri"/>
              </a:rPr>
              <a:t>2. Analytics-Based Taxpayer Selection : </a:t>
            </a:r>
            <a:r>
              <a:rPr lang="en-US" sz="1200" b="1" dirty="0">
                <a:solidFill>
                  <a:srgbClr val="495468"/>
                </a:solidFill>
                <a:latin typeface="Calibri"/>
                <a:ea typeface="Calibri"/>
                <a:cs typeface="Calibri"/>
              </a:rPr>
              <a:t>Identify sector-specific outliers through B2C ratio analysis.</a:t>
            </a:r>
            <a:br>
              <a:rPr lang="en-US" sz="1100" dirty="0">
                <a:solidFill>
                  <a:sysClr val="windowText" lastClr="000000"/>
                </a:solidFill>
              </a:rPr>
            </a:br>
            <a:r>
              <a:rPr lang="en-US" b="1" dirty="0">
                <a:solidFill>
                  <a:srgbClr val="C0392B"/>
                </a:solidFill>
                <a:latin typeface="Calibri"/>
                <a:ea typeface="Calibri"/>
                <a:cs typeface="Calibri"/>
              </a:rPr>
              <a:t>Detect taxpayers showing : </a:t>
            </a:r>
            <a:r>
              <a:rPr lang="en-US" sz="1200" b="1" dirty="0">
                <a:solidFill>
                  <a:srgbClr val="495468"/>
                </a:solidFill>
                <a:latin typeface="Calibri"/>
                <a:ea typeface="Calibri"/>
                <a:cs typeface="Calibri"/>
              </a:rPr>
              <a:t>B2C Ratio analysis, Peer band comparison, Cash Payment anomalies, Revenue growth deviations, E-way bill vs Revenue mismatch</a:t>
            </a:r>
            <a:br>
              <a:rPr lang="en-US" sz="1050" b="1" dirty="0">
                <a:solidFill>
                  <a:srgbClr val="495468"/>
                </a:solidFill>
                <a:latin typeface="Calibri"/>
                <a:ea typeface="Calibri"/>
                <a:cs typeface="Calibri"/>
              </a:rPr>
            </a:br>
            <a:endParaRPr lang="en-US" sz="1050" b="1" dirty="0">
              <a:solidFill>
                <a:srgbClr val="495468"/>
              </a:solidFill>
              <a:latin typeface="Calibri"/>
              <a:ea typeface="Calibri"/>
              <a:cs typeface="Calibri"/>
            </a:endParaRPr>
          </a:p>
          <a:p>
            <a:pPr lvl="0">
              <a:buClrTx/>
              <a:defRPr sz="1400" b="1"/>
            </a:pPr>
            <a:r>
              <a:rPr lang="en-IN" b="1" dirty="0">
                <a:solidFill>
                  <a:srgbClr val="C0392B"/>
                </a:solidFill>
                <a:latin typeface="Calibri"/>
                <a:ea typeface="Calibri"/>
                <a:cs typeface="Calibri"/>
              </a:rPr>
              <a:t>3. Theme-Based Special Drives : </a:t>
            </a:r>
          </a:p>
          <a:p>
            <a:pPr lvl="0">
              <a:buClrTx/>
              <a:defRPr/>
            </a:pPr>
            <a:r>
              <a:rPr lang="en-US" b="1" dirty="0">
                <a:solidFill>
                  <a:srgbClr val="C0392B"/>
                </a:solidFill>
                <a:latin typeface="Calibri"/>
                <a:ea typeface="Calibri"/>
                <a:cs typeface="Calibri"/>
              </a:rPr>
              <a:t>Area Specific campaigns: </a:t>
            </a:r>
            <a:r>
              <a:rPr lang="en-US" sz="1200" b="1" dirty="0">
                <a:solidFill>
                  <a:srgbClr val="495468"/>
                </a:solidFill>
                <a:latin typeface="Calibri"/>
                <a:ea typeface="Calibri"/>
                <a:cs typeface="Calibri"/>
              </a:rPr>
              <a:t>Kishangarh Makrana marble belt, Major commercial hubs </a:t>
            </a:r>
          </a:p>
          <a:p>
            <a:pPr lvl="0">
              <a:buClrTx/>
              <a:defRPr/>
            </a:pPr>
            <a:r>
              <a:rPr lang="en-US" b="1" dirty="0">
                <a:solidFill>
                  <a:srgbClr val="C0392B"/>
                </a:solidFill>
                <a:latin typeface="Calibri"/>
                <a:ea typeface="Calibri"/>
                <a:cs typeface="Calibri"/>
              </a:rPr>
              <a:t>Focused campaigns in high-risk sectors : </a:t>
            </a:r>
            <a:r>
              <a:rPr lang="en-US" sz="1200" b="1" dirty="0">
                <a:solidFill>
                  <a:srgbClr val="495468"/>
                </a:solidFill>
                <a:latin typeface="Calibri"/>
                <a:ea typeface="Calibri"/>
                <a:cs typeface="Calibri"/>
              </a:rPr>
              <a:t>Marble &amp; Stone, Tobacco Products, Timber &amp; Plywood, Hotels &amp; Tourism, Restaurants &amp; Banquets, Jewelry &amp; Textile Trade</a:t>
            </a:r>
            <a:br>
              <a:rPr lang="en-US" dirty="0">
                <a:solidFill>
                  <a:sysClr val="windowText" lastClr="000000"/>
                </a:solidFill>
              </a:rPr>
            </a:br>
            <a:endParaRPr lang="en-US" dirty="0">
              <a:solidFill>
                <a:sysClr val="windowText" lastClr="000000"/>
              </a:solidFill>
            </a:endParaRPr>
          </a:p>
          <a:p>
            <a:pPr lvl="0">
              <a:buClrTx/>
              <a:defRPr sz="1400" b="1"/>
            </a:pPr>
            <a:r>
              <a:rPr lang="en-IN" b="1" dirty="0">
                <a:solidFill>
                  <a:srgbClr val="C0392B"/>
                </a:solidFill>
                <a:latin typeface="Calibri"/>
                <a:ea typeface="Calibri"/>
                <a:cs typeface="Calibri"/>
              </a:rPr>
              <a:t>4. Intelligence &amp; Inter-Agency Coordination</a:t>
            </a:r>
          </a:p>
          <a:p>
            <a:pPr lvl="0">
              <a:buClrTx/>
              <a:defRPr sz="1100"/>
            </a:pPr>
            <a:r>
              <a:rPr lang="en-IN" sz="1200" b="1" dirty="0">
                <a:solidFill>
                  <a:srgbClr val="495468"/>
                </a:solidFill>
                <a:latin typeface="Calibri"/>
                <a:ea typeface="Calibri"/>
                <a:cs typeface="Calibri"/>
              </a:rPr>
              <a:t>• Strengthen Human Intelligence inputs</a:t>
            </a:r>
          </a:p>
          <a:p>
            <a:pPr lvl="0">
              <a:buClrTx/>
              <a:defRPr/>
            </a:pPr>
            <a:r>
              <a:rPr lang="en-IN" sz="1200" b="1" dirty="0">
                <a:solidFill>
                  <a:srgbClr val="495468"/>
                </a:solidFill>
                <a:latin typeface="Calibri"/>
                <a:ea typeface="Calibri"/>
                <a:cs typeface="Calibri"/>
              </a:rPr>
              <a:t>• Market surveys and field verification</a:t>
            </a:r>
          </a:p>
          <a:p>
            <a:pPr lvl="0">
              <a:buClrTx/>
              <a:defRPr/>
            </a:pPr>
            <a:r>
              <a:rPr lang="en-IN" sz="1200" b="1" dirty="0">
                <a:solidFill>
                  <a:srgbClr val="495468"/>
                </a:solidFill>
                <a:latin typeface="Calibri"/>
                <a:ea typeface="Calibri"/>
                <a:cs typeface="Calibri"/>
              </a:rPr>
              <a:t>• Coordination with CBIC/ DGCI for interstate fraud networks.</a:t>
            </a:r>
          </a:p>
          <a:p>
            <a:pPr lvl="0">
              <a:buClrTx/>
              <a:defRPr/>
            </a:pPr>
            <a:r>
              <a:rPr lang="en-IN" sz="1200" b="1" dirty="0">
                <a:solidFill>
                  <a:srgbClr val="495468"/>
                </a:solidFill>
                <a:latin typeface="Calibri"/>
                <a:ea typeface="Calibri"/>
                <a:cs typeface="Calibri"/>
              </a:rPr>
              <a:t>• Aadhaar e-KYC verification for high risk taxpayers</a:t>
            </a:r>
          </a:p>
        </p:txBody>
      </p:sp>
      <p:grpSp>
        <p:nvGrpSpPr>
          <p:cNvPr id="14" name="object 26">
            <a:extLst>
              <a:ext uri="{FF2B5EF4-FFF2-40B4-BE49-F238E27FC236}">
                <a16:creationId xmlns:a16="http://schemas.microsoft.com/office/drawing/2014/main" id="{081579FA-2F51-FF4D-78F9-85C9EF954673}"/>
              </a:ext>
            </a:extLst>
          </p:cNvPr>
          <p:cNvGrpSpPr/>
          <p:nvPr/>
        </p:nvGrpSpPr>
        <p:grpSpPr>
          <a:xfrm>
            <a:off x="6163509" y="937386"/>
            <a:ext cx="2980491" cy="1356074"/>
            <a:chOff x="5960109" y="3045460"/>
            <a:chExt cx="2823210" cy="1590040"/>
          </a:xfrm>
        </p:grpSpPr>
        <p:sp>
          <p:nvSpPr>
            <p:cNvPr id="15" name="object 27">
              <a:extLst>
                <a:ext uri="{FF2B5EF4-FFF2-40B4-BE49-F238E27FC236}">
                  <a16:creationId xmlns:a16="http://schemas.microsoft.com/office/drawing/2014/main" id="{AE27F710-2B2F-43F0-2017-C238691E239B}"/>
                </a:ext>
              </a:extLst>
            </p:cNvPr>
            <p:cNvSpPr/>
            <p:nvPr/>
          </p:nvSpPr>
          <p:spPr>
            <a:xfrm>
              <a:off x="6021323" y="3051810"/>
              <a:ext cx="2757170" cy="1577340"/>
            </a:xfrm>
            <a:custGeom>
              <a:avLst/>
              <a:gdLst/>
              <a:ahLst/>
              <a:cxnLst/>
              <a:rect l="l" t="t" r="r" b="b"/>
              <a:pathLst>
                <a:path w="2757170" h="1577339">
                  <a:moveTo>
                    <a:pt x="0" y="1577339"/>
                  </a:moveTo>
                  <a:lnTo>
                    <a:pt x="2756916" y="1577339"/>
                  </a:lnTo>
                  <a:lnTo>
                    <a:pt x="2756916" y="0"/>
                  </a:lnTo>
                  <a:lnTo>
                    <a:pt x="0" y="0"/>
                  </a:lnTo>
                  <a:lnTo>
                    <a:pt x="0" y="1577339"/>
                  </a:lnTo>
                  <a:close/>
                </a:path>
              </a:pathLst>
            </a:custGeom>
            <a:solidFill>
              <a:srgbClr val="F4F8FA"/>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6" name="object 28">
              <a:extLst>
                <a:ext uri="{FF2B5EF4-FFF2-40B4-BE49-F238E27FC236}">
                  <a16:creationId xmlns:a16="http://schemas.microsoft.com/office/drawing/2014/main" id="{76C3A436-D9B5-2769-887A-61AA5863BB57}"/>
                </a:ext>
              </a:extLst>
            </p:cNvPr>
            <p:cNvSpPr/>
            <p:nvPr/>
          </p:nvSpPr>
          <p:spPr>
            <a:xfrm>
              <a:off x="5966459" y="3051810"/>
              <a:ext cx="2811780" cy="1577340"/>
            </a:xfrm>
            <a:custGeom>
              <a:avLst/>
              <a:gdLst/>
              <a:ahLst/>
              <a:cxnLst/>
              <a:rect l="l" t="t" r="r" b="b"/>
              <a:pathLst>
                <a:path w="2811779" h="1577339">
                  <a:moveTo>
                    <a:pt x="0" y="1577339"/>
                  </a:moveTo>
                  <a:lnTo>
                    <a:pt x="2811780" y="1577339"/>
                  </a:lnTo>
                  <a:lnTo>
                    <a:pt x="2811780" y="0"/>
                  </a:lnTo>
                  <a:lnTo>
                    <a:pt x="0" y="0"/>
                  </a:lnTo>
                  <a:lnTo>
                    <a:pt x="0" y="1577339"/>
                  </a:lnTo>
                  <a:close/>
                </a:path>
              </a:pathLst>
            </a:custGeom>
            <a:ln w="9525">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7" name="object 29">
              <a:extLst>
                <a:ext uri="{FF2B5EF4-FFF2-40B4-BE49-F238E27FC236}">
                  <a16:creationId xmlns:a16="http://schemas.microsoft.com/office/drawing/2014/main" id="{62CE35FB-7DFC-5F97-2A83-73AC14FD4FE6}"/>
                </a:ext>
              </a:extLst>
            </p:cNvPr>
            <p:cNvSpPr/>
            <p:nvPr/>
          </p:nvSpPr>
          <p:spPr>
            <a:xfrm>
              <a:off x="5966459" y="3051810"/>
              <a:ext cx="55244" cy="1577340"/>
            </a:xfrm>
            <a:custGeom>
              <a:avLst/>
              <a:gdLst/>
              <a:ahLst/>
              <a:cxnLst/>
              <a:rect l="l" t="t" r="r" b="b"/>
              <a:pathLst>
                <a:path w="55245" h="1577339">
                  <a:moveTo>
                    <a:pt x="54863" y="0"/>
                  </a:moveTo>
                  <a:lnTo>
                    <a:pt x="0" y="0"/>
                  </a:lnTo>
                  <a:lnTo>
                    <a:pt x="0" y="1577339"/>
                  </a:lnTo>
                  <a:lnTo>
                    <a:pt x="54863" y="1577339"/>
                  </a:lnTo>
                  <a:lnTo>
                    <a:pt x="54863" y="0"/>
                  </a:lnTo>
                  <a:close/>
                </a:path>
              </a:pathLst>
            </a:custGeom>
            <a:solidFill>
              <a:srgbClr val="5A8F69"/>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18" name="object 30">
              <a:extLst>
                <a:ext uri="{FF2B5EF4-FFF2-40B4-BE49-F238E27FC236}">
                  <a16:creationId xmlns:a16="http://schemas.microsoft.com/office/drawing/2014/main" id="{142CF634-4508-07B9-1A50-725685A7783D}"/>
                </a:ext>
              </a:extLst>
            </p:cNvPr>
            <p:cNvSpPr/>
            <p:nvPr/>
          </p:nvSpPr>
          <p:spPr>
            <a:xfrm>
              <a:off x="5966459" y="3051810"/>
              <a:ext cx="55244" cy="1577340"/>
            </a:xfrm>
            <a:custGeom>
              <a:avLst/>
              <a:gdLst/>
              <a:ahLst/>
              <a:cxnLst/>
              <a:rect l="l" t="t" r="r" b="b"/>
              <a:pathLst>
                <a:path w="55245" h="1577339">
                  <a:moveTo>
                    <a:pt x="0" y="1577339"/>
                  </a:moveTo>
                  <a:lnTo>
                    <a:pt x="54863" y="1577339"/>
                  </a:lnTo>
                  <a:lnTo>
                    <a:pt x="54863" y="0"/>
                  </a:lnTo>
                  <a:lnTo>
                    <a:pt x="0" y="0"/>
                  </a:lnTo>
                  <a:lnTo>
                    <a:pt x="0" y="1577339"/>
                  </a:lnTo>
                  <a:close/>
                </a:path>
              </a:pathLst>
            </a:custGeom>
            <a:solidFill>
              <a:srgbClr val="C8A84B"/>
            </a:solidFill>
            <a:ln w="12700">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19" name="object 25">
            <a:extLst>
              <a:ext uri="{FF2B5EF4-FFF2-40B4-BE49-F238E27FC236}">
                <a16:creationId xmlns:a16="http://schemas.microsoft.com/office/drawing/2014/main" id="{7EB44F16-24DD-43DD-021D-6292533FD814}"/>
              </a:ext>
            </a:extLst>
          </p:cNvPr>
          <p:cNvSpPr txBox="1"/>
          <p:nvPr/>
        </p:nvSpPr>
        <p:spPr>
          <a:xfrm>
            <a:off x="6305737" y="1013349"/>
            <a:ext cx="2700386" cy="1595309"/>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45" normalizeH="0" baseline="0" noProof="0" dirty="0">
                <a:ln>
                  <a:noFill/>
                </a:ln>
                <a:solidFill>
                  <a:srgbClr val="6B7B8E"/>
                </a:solidFill>
                <a:effectLst/>
                <a:uLnTx/>
                <a:uFillTx/>
                <a:latin typeface="Calibri"/>
                <a:cs typeface="Calibri"/>
              </a:rPr>
              <a:t>Addresses following diagnostic points</a:t>
            </a:r>
          </a:p>
          <a:p>
            <a:pPr lvl="0">
              <a:buClrTx/>
              <a:defRPr/>
            </a:pPr>
            <a:r>
              <a:rPr lang="en-US" sz="1200" dirty="0">
                <a:solidFill>
                  <a:srgbClr val="2C3D50"/>
                </a:solidFill>
                <a:latin typeface="Calibri"/>
                <a:ea typeface="Calibri"/>
                <a:cs typeface="Calibri"/>
              </a:rPr>
              <a:t>• B2C Ratio Anomaly</a:t>
            </a:r>
          </a:p>
          <a:p>
            <a:pPr lvl="0">
              <a:buClrTx/>
              <a:defRPr/>
            </a:pPr>
            <a:r>
              <a:rPr lang="en-US" sz="1200" dirty="0">
                <a:solidFill>
                  <a:srgbClr val="2C3D50"/>
                </a:solidFill>
                <a:latin typeface="Calibri"/>
                <a:ea typeface="Calibri"/>
                <a:cs typeface="Calibri"/>
              </a:rPr>
              <a:t>• Peer Band Deviation</a:t>
            </a:r>
          </a:p>
          <a:p>
            <a:pPr lvl="0">
              <a:buClrTx/>
              <a:defRPr/>
            </a:pPr>
            <a:r>
              <a:rPr lang="en-US" sz="1200" dirty="0">
                <a:solidFill>
                  <a:srgbClr val="2C3D50"/>
                </a:solidFill>
                <a:latin typeface="Calibri"/>
                <a:ea typeface="Calibri"/>
                <a:cs typeface="Calibri"/>
              </a:rPr>
              <a:t>• Cash Payment Anomaly</a:t>
            </a:r>
          </a:p>
          <a:p>
            <a:pPr lvl="0">
              <a:buClrTx/>
              <a:defRPr/>
            </a:pPr>
            <a:r>
              <a:rPr lang="en-US" sz="1200" dirty="0">
                <a:solidFill>
                  <a:srgbClr val="2C3D50"/>
                </a:solidFill>
                <a:latin typeface="Calibri"/>
                <a:ea typeface="Calibri"/>
                <a:cs typeface="Calibri"/>
              </a:rPr>
              <a:t>• Revenue vs GSDP Gap</a:t>
            </a:r>
          </a:p>
          <a:p>
            <a:pPr lvl="0">
              <a:buClrTx/>
              <a:defRPr/>
            </a:pPr>
            <a:r>
              <a:rPr lang="en-US" sz="1200" dirty="0">
                <a:solidFill>
                  <a:srgbClr val="2C3D50"/>
                </a:solidFill>
                <a:latin typeface="Calibri"/>
                <a:ea typeface="Calibri"/>
                <a:cs typeface="Calibri"/>
              </a:rPr>
              <a:t>• e-Way Bill vs Revenue Mismatch</a:t>
            </a:r>
          </a:p>
          <a:p>
            <a:pPr lvl="0">
              <a:buClrTx/>
              <a:defRPr/>
            </a:pPr>
            <a:endParaRPr lang="en-US" dirty="0">
              <a:solidFill>
                <a:sysClr val="windowText" lastClr="000000"/>
              </a:solidFill>
            </a:endParaRPr>
          </a:p>
          <a:p>
            <a:pPr marL="171450" marR="0" lvl="0" indent="-171450" algn="l" defTabSz="91440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lang="en-US" sz="1400" b="0" i="0" u="none" strike="noStrike" kern="0" cap="none" spc="-45" normalizeH="0" baseline="0" noProof="0" dirty="0">
              <a:ln>
                <a:noFill/>
              </a:ln>
              <a:solidFill>
                <a:prstClr val="black"/>
              </a:solidFill>
              <a:effectLst/>
              <a:uLnTx/>
              <a:uFillTx/>
              <a:latin typeface="Calibri"/>
              <a:cs typeface="Calibri"/>
            </a:endParaRPr>
          </a:p>
        </p:txBody>
      </p:sp>
      <p:grpSp>
        <p:nvGrpSpPr>
          <p:cNvPr id="20" name="object 26">
            <a:extLst>
              <a:ext uri="{FF2B5EF4-FFF2-40B4-BE49-F238E27FC236}">
                <a16:creationId xmlns:a16="http://schemas.microsoft.com/office/drawing/2014/main" id="{D56A7C3B-DF94-3E79-F80B-41CE799F9DEB}"/>
              </a:ext>
            </a:extLst>
          </p:cNvPr>
          <p:cNvGrpSpPr/>
          <p:nvPr/>
        </p:nvGrpSpPr>
        <p:grpSpPr>
          <a:xfrm>
            <a:off x="6156961" y="2926339"/>
            <a:ext cx="2911326" cy="1366993"/>
            <a:chOff x="5960109" y="3045460"/>
            <a:chExt cx="2823210" cy="1590040"/>
          </a:xfrm>
        </p:grpSpPr>
        <p:sp>
          <p:nvSpPr>
            <p:cNvPr id="21" name="object 27">
              <a:extLst>
                <a:ext uri="{FF2B5EF4-FFF2-40B4-BE49-F238E27FC236}">
                  <a16:creationId xmlns:a16="http://schemas.microsoft.com/office/drawing/2014/main" id="{6E6844F7-8FF0-A67A-EBF9-43F3C815D606}"/>
                </a:ext>
              </a:extLst>
            </p:cNvPr>
            <p:cNvSpPr/>
            <p:nvPr/>
          </p:nvSpPr>
          <p:spPr>
            <a:xfrm>
              <a:off x="6021323" y="3051810"/>
              <a:ext cx="2757170" cy="1577340"/>
            </a:xfrm>
            <a:custGeom>
              <a:avLst/>
              <a:gdLst/>
              <a:ahLst/>
              <a:cxnLst/>
              <a:rect l="l" t="t" r="r" b="b"/>
              <a:pathLst>
                <a:path w="2757170" h="1577339">
                  <a:moveTo>
                    <a:pt x="0" y="1577339"/>
                  </a:moveTo>
                  <a:lnTo>
                    <a:pt x="2756916" y="1577339"/>
                  </a:lnTo>
                  <a:lnTo>
                    <a:pt x="2756916" y="0"/>
                  </a:lnTo>
                  <a:lnTo>
                    <a:pt x="0" y="0"/>
                  </a:lnTo>
                  <a:lnTo>
                    <a:pt x="0" y="1577339"/>
                  </a:lnTo>
                  <a:close/>
                </a:path>
              </a:pathLst>
            </a:custGeom>
            <a:solidFill>
              <a:srgbClr val="F4F8FA"/>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2" name="object 28">
              <a:extLst>
                <a:ext uri="{FF2B5EF4-FFF2-40B4-BE49-F238E27FC236}">
                  <a16:creationId xmlns:a16="http://schemas.microsoft.com/office/drawing/2014/main" id="{36D18E9A-DC34-A100-C5FA-C0B1228B718D}"/>
                </a:ext>
              </a:extLst>
            </p:cNvPr>
            <p:cNvSpPr/>
            <p:nvPr/>
          </p:nvSpPr>
          <p:spPr>
            <a:xfrm>
              <a:off x="5966459" y="3051810"/>
              <a:ext cx="2811780" cy="1577340"/>
            </a:xfrm>
            <a:custGeom>
              <a:avLst/>
              <a:gdLst/>
              <a:ahLst/>
              <a:cxnLst/>
              <a:rect l="l" t="t" r="r" b="b"/>
              <a:pathLst>
                <a:path w="2811779" h="1577339">
                  <a:moveTo>
                    <a:pt x="0" y="1577339"/>
                  </a:moveTo>
                  <a:lnTo>
                    <a:pt x="2811780" y="1577339"/>
                  </a:lnTo>
                  <a:lnTo>
                    <a:pt x="2811780" y="0"/>
                  </a:lnTo>
                  <a:lnTo>
                    <a:pt x="0" y="0"/>
                  </a:lnTo>
                  <a:lnTo>
                    <a:pt x="0" y="1577339"/>
                  </a:lnTo>
                  <a:close/>
                </a:path>
              </a:pathLst>
            </a:custGeom>
            <a:ln w="9525">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3" name="object 29">
              <a:extLst>
                <a:ext uri="{FF2B5EF4-FFF2-40B4-BE49-F238E27FC236}">
                  <a16:creationId xmlns:a16="http://schemas.microsoft.com/office/drawing/2014/main" id="{4D04D60F-BDCA-26DF-CD6D-CB486FAE44CD}"/>
                </a:ext>
              </a:extLst>
            </p:cNvPr>
            <p:cNvSpPr/>
            <p:nvPr/>
          </p:nvSpPr>
          <p:spPr>
            <a:xfrm>
              <a:off x="5966459" y="3051810"/>
              <a:ext cx="55244" cy="1577340"/>
            </a:xfrm>
            <a:custGeom>
              <a:avLst/>
              <a:gdLst/>
              <a:ahLst/>
              <a:cxnLst/>
              <a:rect l="l" t="t" r="r" b="b"/>
              <a:pathLst>
                <a:path w="55245" h="1577339">
                  <a:moveTo>
                    <a:pt x="54863" y="0"/>
                  </a:moveTo>
                  <a:lnTo>
                    <a:pt x="0" y="0"/>
                  </a:lnTo>
                  <a:lnTo>
                    <a:pt x="0" y="1577339"/>
                  </a:lnTo>
                  <a:lnTo>
                    <a:pt x="54863" y="1577339"/>
                  </a:lnTo>
                  <a:lnTo>
                    <a:pt x="54863" y="0"/>
                  </a:lnTo>
                  <a:close/>
                </a:path>
              </a:pathLst>
            </a:custGeom>
            <a:solidFill>
              <a:srgbClr val="5A8F69"/>
            </a:solidFill>
            <a:ln>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24" name="object 30">
              <a:extLst>
                <a:ext uri="{FF2B5EF4-FFF2-40B4-BE49-F238E27FC236}">
                  <a16:creationId xmlns:a16="http://schemas.microsoft.com/office/drawing/2014/main" id="{02E5856D-C0C2-6770-193F-7BB33367E1FE}"/>
                </a:ext>
              </a:extLst>
            </p:cNvPr>
            <p:cNvSpPr/>
            <p:nvPr/>
          </p:nvSpPr>
          <p:spPr>
            <a:xfrm>
              <a:off x="5966459" y="3051810"/>
              <a:ext cx="55244" cy="1577340"/>
            </a:xfrm>
            <a:custGeom>
              <a:avLst/>
              <a:gdLst/>
              <a:ahLst/>
              <a:cxnLst/>
              <a:rect l="l" t="t" r="r" b="b"/>
              <a:pathLst>
                <a:path w="55245" h="1577339">
                  <a:moveTo>
                    <a:pt x="0" y="1577339"/>
                  </a:moveTo>
                  <a:lnTo>
                    <a:pt x="54863" y="1577339"/>
                  </a:lnTo>
                  <a:lnTo>
                    <a:pt x="54863" y="0"/>
                  </a:lnTo>
                  <a:lnTo>
                    <a:pt x="0" y="0"/>
                  </a:lnTo>
                  <a:lnTo>
                    <a:pt x="0" y="1577339"/>
                  </a:lnTo>
                  <a:close/>
                </a:path>
              </a:pathLst>
            </a:custGeom>
            <a:solidFill>
              <a:srgbClr val="C8A84B"/>
            </a:solidFill>
            <a:ln w="12700">
              <a:solidFill>
                <a:schemeClr val="tx1"/>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25" name="object 25">
            <a:extLst>
              <a:ext uri="{FF2B5EF4-FFF2-40B4-BE49-F238E27FC236}">
                <a16:creationId xmlns:a16="http://schemas.microsoft.com/office/drawing/2014/main" id="{302D9D5B-42CB-EC48-004A-B261EFA9FA4D}"/>
              </a:ext>
            </a:extLst>
          </p:cNvPr>
          <p:cNvSpPr txBox="1"/>
          <p:nvPr/>
        </p:nvSpPr>
        <p:spPr>
          <a:xfrm>
            <a:off x="6305737" y="2926339"/>
            <a:ext cx="2757311" cy="1810752"/>
          </a:xfrm>
          <a:prstGeom prst="rect">
            <a:avLst/>
          </a:prstGeom>
        </p:spPr>
        <p:txBody>
          <a:bodyPr vert="horz" wrap="square" lIns="0" tIns="12700" rIns="0" bIns="0" rtlCol="0">
            <a:spAutoFit/>
          </a:bodyPr>
          <a:lstStyle/>
          <a:p>
            <a:pPr marL="0" marR="0" lvl="0" indent="0" algn="ctr" defTabSz="914400" eaLnBrk="1" fontAlgn="auto" latinLnBrk="0" hangingPunct="1">
              <a:lnSpc>
                <a:spcPct val="100000"/>
              </a:lnSpc>
              <a:spcBef>
                <a:spcPts val="100"/>
              </a:spcBef>
              <a:spcAft>
                <a:spcPts val="0"/>
              </a:spcAft>
              <a:buClrTx/>
              <a:buSzTx/>
              <a:buFontTx/>
              <a:buNone/>
              <a:tabLst/>
              <a:defRPr/>
            </a:pPr>
            <a:r>
              <a:rPr kumimoji="0" lang="en-US" sz="1400" b="1" i="0" u="none" strike="noStrike" kern="0" cap="none" spc="-45" normalizeH="0" baseline="0" noProof="0" dirty="0">
                <a:ln>
                  <a:noFill/>
                </a:ln>
                <a:solidFill>
                  <a:srgbClr val="6B7B8E"/>
                </a:solidFill>
                <a:effectLst/>
                <a:uLnTx/>
                <a:uFillTx/>
                <a:latin typeface="Calibri"/>
                <a:cs typeface="Calibri"/>
              </a:rPr>
              <a:t>Expected Outcome</a:t>
            </a:r>
          </a:p>
          <a:p>
            <a:pPr lvl="0">
              <a:buClrTx/>
              <a:defRPr/>
            </a:pPr>
            <a:r>
              <a:rPr lang="en-US" sz="1200" dirty="0">
                <a:solidFill>
                  <a:srgbClr val="2C3D50"/>
                </a:solidFill>
                <a:latin typeface="Calibri"/>
                <a:ea typeface="Calibri"/>
                <a:cs typeface="Calibri"/>
              </a:rPr>
              <a:t>• Identification of sectoral outliers</a:t>
            </a:r>
          </a:p>
          <a:p>
            <a:pPr lvl="0">
              <a:buClrTx/>
              <a:defRPr/>
            </a:pPr>
            <a:r>
              <a:rPr lang="en-US" sz="1200" dirty="0">
                <a:solidFill>
                  <a:srgbClr val="2C3D50"/>
                </a:solidFill>
                <a:latin typeface="Calibri"/>
                <a:ea typeface="Calibri"/>
                <a:cs typeface="Calibri"/>
              </a:rPr>
              <a:t>• Improved detection of suppression and fake invoicing.</a:t>
            </a:r>
          </a:p>
          <a:p>
            <a:pPr lvl="0">
              <a:buClrTx/>
              <a:defRPr/>
            </a:pPr>
            <a:r>
              <a:rPr lang="en-IN" sz="1200" dirty="0">
                <a:solidFill>
                  <a:srgbClr val="2C3D50"/>
                </a:solidFill>
                <a:latin typeface="Calibri"/>
                <a:ea typeface="Calibri"/>
                <a:cs typeface="Calibri"/>
              </a:rPr>
              <a:t>• Stronger intelligence-led enforcement</a:t>
            </a:r>
          </a:p>
          <a:p>
            <a:pPr lvl="0">
              <a:buClrTx/>
              <a:defRPr/>
            </a:pPr>
            <a:r>
              <a:rPr lang="en-IN" sz="1200" dirty="0">
                <a:solidFill>
                  <a:srgbClr val="2C3D50"/>
                </a:solidFill>
                <a:latin typeface="Calibri"/>
                <a:ea typeface="Calibri"/>
                <a:cs typeface="Calibri"/>
              </a:rPr>
              <a:t>• Improved compliance</a:t>
            </a:r>
          </a:p>
          <a:p>
            <a:pPr lvl="0">
              <a:buClrTx/>
              <a:defRPr/>
            </a:pPr>
            <a:endParaRPr lang="en-US" dirty="0">
              <a:solidFill>
                <a:sysClr val="windowText" lastClr="000000"/>
              </a:solidFill>
            </a:endParaRPr>
          </a:p>
          <a:p>
            <a:pPr lvl="0">
              <a:buClrTx/>
              <a:defRPr/>
            </a:pPr>
            <a:endParaRPr lang="en-US" dirty="0">
              <a:solidFill>
                <a:sysClr val="windowText" lastClr="000000"/>
              </a:solidFill>
            </a:endParaRPr>
          </a:p>
          <a:p>
            <a:pPr marL="171450" marR="0" lvl="0" indent="-171450" algn="l" defTabSz="914400" eaLnBrk="1" fontAlgn="auto" latinLnBrk="0" hangingPunct="1">
              <a:lnSpc>
                <a:spcPct val="100000"/>
              </a:lnSpc>
              <a:spcBef>
                <a:spcPts val="100"/>
              </a:spcBef>
              <a:spcAft>
                <a:spcPts val="0"/>
              </a:spcAft>
              <a:buClrTx/>
              <a:buSzTx/>
              <a:buFont typeface="Arial" panose="020B0604020202020204" pitchFamily="34" charset="0"/>
              <a:buChar char="•"/>
              <a:tabLst/>
              <a:defRPr/>
            </a:pPr>
            <a:endParaRPr kumimoji="0" lang="en-US" sz="1400" b="0" i="0" u="none" strike="noStrike" kern="0" cap="none" spc="-45" normalizeH="0" baseline="0" noProof="0" dirty="0">
              <a:ln>
                <a:noFill/>
              </a:ln>
              <a:solidFill>
                <a:prstClr val="black"/>
              </a:solidFill>
              <a:effectLst/>
              <a:uLnTx/>
              <a:uFillTx/>
              <a:latin typeface="Calibri"/>
              <a:cs typeface="Calibri"/>
            </a:endParaRPr>
          </a:p>
        </p:txBody>
      </p:sp>
    </p:spTree>
    <p:extLst>
      <p:ext uri="{BB962C8B-B14F-4D97-AF65-F5344CB8AC3E}">
        <p14:creationId xmlns:p14="http://schemas.microsoft.com/office/powerpoint/2010/main" val="4207230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638"/>
        <p:cNvGrpSpPr/>
        <p:nvPr/>
      </p:nvGrpSpPr>
      <p:grpSpPr>
        <a:xfrm>
          <a:off x="0" y="0"/>
          <a:ext cx="0" cy="0"/>
          <a:chOff x="0" y="0"/>
          <a:chExt cx="0" cy="0"/>
        </a:xfrm>
      </p:grpSpPr>
      <p:grpSp>
        <p:nvGrpSpPr>
          <p:cNvPr id="639" name="Google Shape;639;p36"/>
          <p:cNvGrpSpPr/>
          <p:nvPr/>
        </p:nvGrpSpPr>
        <p:grpSpPr>
          <a:xfrm>
            <a:off x="0" y="-63"/>
            <a:ext cx="9144000" cy="832511"/>
            <a:chOff x="0" y="-63"/>
            <a:chExt cx="9144000" cy="832511"/>
          </a:xfrm>
        </p:grpSpPr>
        <p:sp>
          <p:nvSpPr>
            <p:cNvPr id="640" name="Google Shape;640;p36"/>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41" name="Google Shape;641;p36"/>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42" name="Google Shape;642;p36"/>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43" name="Google Shape;643;p36"/>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44" name="Google Shape;644;p36"/>
          <p:cNvSpPr txBox="1">
            <a:spLocks noGrp="1"/>
          </p:cNvSpPr>
          <p:nvPr>
            <p:ph type="title"/>
          </p:nvPr>
        </p:nvSpPr>
        <p:spPr>
          <a:xfrm>
            <a:off x="444500" y="159511"/>
            <a:ext cx="83592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dirty="0">
                <a:solidFill>
                  <a:schemeClr val="lt1"/>
                </a:solidFill>
              </a:rPr>
              <a:t>#7 Enforcement Wing Strengthening — Fake ITC / Layer Cracking</a:t>
            </a:r>
            <a:endParaRPr sz="2400" dirty="0">
              <a:solidFill>
                <a:schemeClr val="lt1"/>
              </a:solidFill>
            </a:endParaRPr>
          </a:p>
        </p:txBody>
      </p:sp>
      <p:sp>
        <p:nvSpPr>
          <p:cNvPr id="645" name="Google Shape;645;p36"/>
          <p:cNvSpPr txBox="1"/>
          <p:nvPr/>
        </p:nvSpPr>
        <p:spPr>
          <a:xfrm>
            <a:off x="-76200" y="536600"/>
            <a:ext cx="6629400" cy="946500"/>
          </a:xfrm>
          <a:prstGeom prst="rect">
            <a:avLst/>
          </a:prstGeom>
          <a:noFill/>
          <a:ln>
            <a:noFill/>
          </a:ln>
        </p:spPr>
        <p:txBody>
          <a:bodyPr spcFirstLastPara="1" wrap="square" lIns="91425" tIns="45700" rIns="91425" bIns="45700" anchor="t" anchorCtr="0">
            <a:spAutoFit/>
          </a:bodyPr>
          <a:lstStyle/>
          <a:p>
            <a:pPr marL="786765" lvl="0" indent="0" algn="l" rtl="0">
              <a:spcBef>
                <a:spcPts val="0"/>
              </a:spcBef>
              <a:spcAft>
                <a:spcPts val="0"/>
              </a:spcAft>
              <a:buNone/>
            </a:pPr>
            <a:r>
              <a:rPr lang="en-US" sz="800" i="1">
                <a:solidFill>
                  <a:srgbClr val="EFD080"/>
                </a:solidFill>
                <a:latin typeface="Calibri"/>
                <a:ea typeface="Calibri"/>
                <a:cs typeface="Calibri"/>
                <a:sym typeface="Calibri"/>
              </a:rPr>
              <a:t>Build muscle to dismantle fake-invoicing layers (proposal already submitted).</a:t>
            </a:r>
            <a:endParaRPr/>
          </a:p>
          <a:p>
            <a:pPr marL="786765" lvl="0" indent="0" algn="l" rtl="0">
              <a:spcBef>
                <a:spcPts val="260"/>
              </a:spcBef>
              <a:spcAft>
                <a:spcPts val="0"/>
              </a:spcAft>
              <a:buNone/>
            </a:pPr>
            <a:endParaRPr sz="800" i="1">
              <a:solidFill>
                <a:srgbClr val="EFD080"/>
              </a:solidFill>
              <a:latin typeface="Calibri"/>
              <a:ea typeface="Calibri"/>
              <a:cs typeface="Calibri"/>
              <a:sym typeface="Calibri"/>
            </a:endParaRPr>
          </a:p>
          <a:p>
            <a:pPr marL="786765" lvl="0" indent="0" algn="l" rtl="0">
              <a:spcBef>
                <a:spcPts val="260"/>
              </a:spcBef>
              <a:spcAft>
                <a:spcPts val="0"/>
              </a:spcAft>
              <a:buNone/>
            </a:pPr>
            <a:endParaRPr sz="800" i="1">
              <a:solidFill>
                <a:srgbClr val="EFD080"/>
              </a:solidFill>
              <a:latin typeface="Calibri"/>
              <a:ea typeface="Calibri"/>
              <a:cs typeface="Calibri"/>
              <a:sym typeface="Calibri"/>
            </a:endParaRPr>
          </a:p>
          <a:p>
            <a:pPr marL="786765" lvl="0" indent="0" algn="l" rtl="0">
              <a:spcBef>
                <a:spcPts val="260"/>
              </a:spcBef>
              <a:spcAft>
                <a:spcPts val="0"/>
              </a:spcAft>
              <a:buNone/>
            </a:pPr>
            <a:endParaRPr sz="2400" b="1">
              <a:solidFill>
                <a:schemeClr val="lt1"/>
              </a:solidFill>
              <a:latin typeface="Calibri"/>
              <a:ea typeface="Calibri"/>
              <a:cs typeface="Calibri"/>
              <a:sym typeface="Calibri"/>
            </a:endParaRPr>
          </a:p>
        </p:txBody>
      </p:sp>
      <p:sp>
        <p:nvSpPr>
          <p:cNvPr id="646" name="Google Shape;646;p36"/>
          <p:cNvSpPr txBox="1"/>
          <p:nvPr/>
        </p:nvSpPr>
        <p:spPr>
          <a:xfrm>
            <a:off x="404045" y="854228"/>
            <a:ext cx="6182690" cy="4419118"/>
          </a:xfrm>
          <a:prstGeom prst="rect">
            <a:avLst/>
          </a:prstGeom>
          <a:noFill/>
          <a:ln>
            <a:noFill/>
          </a:ln>
        </p:spPr>
        <p:txBody>
          <a:bodyPr spcFirstLastPara="1" wrap="square" lIns="91425" tIns="45700" rIns="91425" bIns="45700" anchor="t" anchorCtr="0">
            <a:spAutoFit/>
          </a:bodyPr>
          <a:lstStyle/>
          <a:p>
            <a:pPr marL="164465" lvl="0" indent="0" algn="just" rtl="0">
              <a:lnSpc>
                <a:spcPct val="100000"/>
              </a:lnSpc>
              <a:spcBef>
                <a:spcPts val="0"/>
              </a:spcBef>
              <a:spcAft>
                <a:spcPts val="0"/>
              </a:spcAft>
              <a:buNone/>
            </a:pPr>
            <a:r>
              <a:rPr lang="en-US" sz="1600" b="1" dirty="0">
                <a:solidFill>
                  <a:srgbClr val="6B7B8E"/>
                </a:solidFill>
                <a:latin typeface="Calibri"/>
                <a:ea typeface="Calibri"/>
                <a:cs typeface="Calibri"/>
                <a:sym typeface="Calibri"/>
              </a:rPr>
              <a:t>H o w</a:t>
            </a:r>
            <a:endParaRPr sz="1600" dirty="0">
              <a:latin typeface="Calibri"/>
              <a:ea typeface="Calibri"/>
              <a:cs typeface="Calibri"/>
              <a:sym typeface="Calibri"/>
            </a:endParaRPr>
          </a:p>
          <a:p>
            <a:pPr marL="164465" lvl="0" indent="0" algn="just" rtl="0">
              <a:lnSpc>
                <a:spcPct val="100000"/>
              </a:lnSpc>
              <a:spcBef>
                <a:spcPts val="450"/>
              </a:spcBef>
              <a:spcAft>
                <a:spcPts val="0"/>
              </a:spcAft>
              <a:buNone/>
            </a:pPr>
            <a:r>
              <a:rPr lang="en-US" sz="1600" b="1" dirty="0">
                <a:solidFill>
                  <a:srgbClr val="1F3863"/>
                </a:solidFill>
                <a:latin typeface="Calibri"/>
                <a:ea typeface="Calibri"/>
                <a:cs typeface="Calibri"/>
                <a:sym typeface="Calibri"/>
              </a:rPr>
              <a:t>Operational levers</a:t>
            </a:r>
            <a:endParaRPr sz="1600" dirty="0">
              <a:latin typeface="Calibri"/>
              <a:ea typeface="Calibri"/>
              <a:cs typeface="Calibri"/>
              <a:sym typeface="Calibri"/>
            </a:endParaRPr>
          </a:p>
          <a:p>
            <a:pPr marL="285750" indent="-285750">
              <a:buFont typeface="Arial" panose="020B0604020202020204" pitchFamily="34" charset="0"/>
              <a:buChar char="•"/>
            </a:pPr>
            <a:r>
              <a:rPr lang="en-US" sz="1600" b="1" dirty="0">
                <a:solidFill>
                  <a:srgbClr val="1B2A49"/>
                </a:solidFill>
                <a:latin typeface="Calibri"/>
                <a:ea typeface="Calibri"/>
                <a:cs typeface="Calibri"/>
              </a:rPr>
              <a:t>Forensic Accounting, Cyber Investigation &amp; Prosecution Cells : </a:t>
            </a:r>
            <a:r>
              <a:rPr lang="en-US" sz="1600" dirty="0">
                <a:solidFill>
                  <a:srgbClr val="2C3D50"/>
                </a:solidFill>
                <a:latin typeface="Calibri"/>
                <a:ea typeface="Calibri"/>
                <a:cs typeface="Calibri"/>
              </a:rPr>
              <a:t>In-house wing equipped to extract and examine seized digital devices (mobile phones, laptops, Tally backups, and hard drives) and to forensically analyze </a:t>
            </a:r>
            <a:r>
              <a:rPr lang="en-US" sz="1600" dirty="0" err="1">
                <a:solidFill>
                  <a:srgbClr val="2C3D50"/>
                </a:solidFill>
                <a:latin typeface="Calibri"/>
                <a:ea typeface="Calibri"/>
                <a:cs typeface="Calibri"/>
              </a:rPr>
              <a:t>kacchi</a:t>
            </a:r>
            <a:r>
              <a:rPr lang="en-US" sz="1600" dirty="0">
                <a:solidFill>
                  <a:srgbClr val="2C3D50"/>
                </a:solidFill>
                <a:latin typeface="Calibri"/>
                <a:ea typeface="Calibri"/>
                <a:cs typeface="Calibri"/>
              </a:rPr>
              <a:t> </a:t>
            </a:r>
            <a:r>
              <a:rPr lang="en-US" sz="1600" dirty="0" err="1">
                <a:solidFill>
                  <a:srgbClr val="2C3D50"/>
                </a:solidFill>
                <a:latin typeface="Calibri"/>
                <a:ea typeface="Calibri"/>
                <a:cs typeface="Calibri"/>
              </a:rPr>
              <a:t>parchis</a:t>
            </a:r>
            <a:r>
              <a:rPr lang="en-US" sz="1600" dirty="0">
                <a:solidFill>
                  <a:srgbClr val="2C3D50"/>
                </a:solidFill>
                <a:latin typeface="Calibri"/>
                <a:ea typeface="Calibri"/>
                <a:cs typeface="Calibri"/>
              </a:rPr>
              <a:t> and other informal records, while maintaining a chain of custody compliant with Section 63 of the (BSA), 2023.</a:t>
            </a:r>
          </a:p>
          <a:p>
            <a:pPr marL="285750" indent="-285750">
              <a:buFont typeface="Arial" panose="020B0604020202020204" pitchFamily="34" charset="0"/>
              <a:buChar char="•"/>
            </a:pPr>
            <a:r>
              <a:rPr lang="en-US" sz="1600" b="1" dirty="0">
                <a:solidFill>
                  <a:srgbClr val="1B2A49"/>
                </a:solidFill>
                <a:latin typeface="Calibri"/>
                <a:ea typeface="Calibri"/>
                <a:cs typeface="Calibri"/>
              </a:rPr>
              <a:t>Digital Search &amp; Seizure Toolkit : </a:t>
            </a:r>
            <a:r>
              <a:rPr lang="en-US" sz="1600" dirty="0">
                <a:solidFill>
                  <a:srgbClr val="2C3D50"/>
                </a:solidFill>
                <a:latin typeface="Calibri"/>
                <a:ea typeface="Calibri"/>
                <a:cs typeface="Calibri"/>
              </a:rPr>
              <a:t>Technology-enabled investigation framework for digital evidence collection, data extraction, document analysis, and forensic examination during search and seizure operations.</a:t>
            </a:r>
          </a:p>
          <a:p>
            <a:pPr marL="285750" indent="-285750">
              <a:buFont typeface="Arial" panose="020B0604020202020204" pitchFamily="34" charset="0"/>
              <a:buChar char="•"/>
            </a:pPr>
            <a:r>
              <a:rPr lang="en-US" sz="1600" b="1" dirty="0">
                <a:solidFill>
                  <a:srgbClr val="1B2A49"/>
                </a:solidFill>
                <a:latin typeface="Calibri"/>
                <a:ea typeface="Calibri"/>
                <a:cs typeface="Calibri"/>
              </a:rPr>
              <a:t>Proposal Submitted to Finance Department : </a:t>
            </a:r>
            <a:r>
              <a:rPr lang="en-US" sz="1600" dirty="0">
                <a:solidFill>
                  <a:srgbClr val="2C3D50"/>
                </a:solidFill>
                <a:latin typeface="Calibri"/>
                <a:ea typeface="Calibri"/>
                <a:cs typeface="Calibri"/>
              </a:rPr>
              <a:t>Proposal for establishment of specialized investigation capabilities and deployment of digital enforcement tools has already been submitted for approval.</a:t>
            </a:r>
            <a:endParaRPr sz="1600" dirty="0">
              <a:solidFill>
                <a:srgbClr val="2C3D50"/>
              </a:solidFill>
              <a:latin typeface="Calibri"/>
              <a:ea typeface="Calibri"/>
              <a:cs typeface="Calibri"/>
              <a:sym typeface="Calibri"/>
            </a:endParaRPr>
          </a:p>
          <a:p>
            <a:pPr marL="374015" marR="5080" lvl="0" indent="-156210" algn="l" rtl="0">
              <a:lnSpc>
                <a:spcPct val="100000"/>
              </a:lnSpc>
              <a:spcBef>
                <a:spcPts val="600"/>
              </a:spcBef>
              <a:spcAft>
                <a:spcPts val="0"/>
              </a:spcAft>
              <a:buSzPts val="1600"/>
              <a:buFont typeface="Arial"/>
              <a:buNone/>
            </a:pPr>
            <a:endParaRPr sz="1600" dirty="0">
              <a:latin typeface="Calibri"/>
              <a:ea typeface="Calibri"/>
              <a:cs typeface="Calibri"/>
              <a:sym typeface="Calibri"/>
            </a:endParaRPr>
          </a:p>
        </p:txBody>
      </p:sp>
      <p:grpSp>
        <p:nvGrpSpPr>
          <p:cNvPr id="647" name="Google Shape;647;p36"/>
          <p:cNvGrpSpPr/>
          <p:nvPr/>
        </p:nvGrpSpPr>
        <p:grpSpPr>
          <a:xfrm>
            <a:off x="6741228" y="2703812"/>
            <a:ext cx="2337398" cy="1802425"/>
            <a:chOff x="5966459" y="3051810"/>
            <a:chExt cx="2812034" cy="1577339"/>
          </a:xfrm>
        </p:grpSpPr>
        <p:sp>
          <p:nvSpPr>
            <p:cNvPr id="648" name="Google Shape;648;p36"/>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49" name="Google Shape;649;p36"/>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0" name="Google Shape;650;p36"/>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1" name="Google Shape;651;p36"/>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52" name="Google Shape;652;p36"/>
          <p:cNvSpPr txBox="1"/>
          <p:nvPr/>
        </p:nvSpPr>
        <p:spPr>
          <a:xfrm>
            <a:off x="6831569" y="2983676"/>
            <a:ext cx="2246845" cy="1016304"/>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200" b="1" dirty="0">
                <a:solidFill>
                  <a:srgbClr val="6B7B8E"/>
                </a:solidFill>
                <a:latin typeface="Calibri"/>
                <a:ea typeface="Calibri"/>
                <a:cs typeface="Calibri"/>
                <a:sym typeface="Calibri"/>
              </a:rPr>
              <a:t>E x p e c t e d o u t c o m e</a:t>
            </a:r>
            <a:endParaRPr sz="1200" dirty="0">
              <a:latin typeface="Calibri"/>
              <a:ea typeface="Calibri"/>
              <a:cs typeface="Calibri"/>
              <a:sym typeface="Calibri"/>
            </a:endParaRPr>
          </a:p>
          <a:p>
            <a:pPr marL="111125" lvl="0" algn="l" rtl="0">
              <a:lnSpc>
                <a:spcPct val="100000"/>
              </a:lnSpc>
              <a:spcBef>
                <a:spcPts val="225"/>
              </a:spcBef>
              <a:spcAft>
                <a:spcPts val="0"/>
              </a:spcAft>
            </a:pPr>
            <a:r>
              <a:rPr lang="en-US" sz="1200" dirty="0">
                <a:solidFill>
                  <a:srgbClr val="2C3D50"/>
                </a:solidFill>
                <a:latin typeface="Calibri"/>
                <a:ea typeface="Calibri"/>
                <a:cs typeface="Calibri"/>
                <a:sym typeface="Calibri"/>
              </a:rPr>
              <a:t>Visible arrests / prosecutions break the</a:t>
            </a:r>
            <a:r>
              <a:rPr lang="en-US" sz="1200" dirty="0">
                <a:latin typeface="Calibri"/>
                <a:ea typeface="Calibri"/>
                <a:cs typeface="Calibri"/>
                <a:sym typeface="Calibri"/>
              </a:rPr>
              <a:t> </a:t>
            </a:r>
            <a:r>
              <a:rPr lang="en-US" sz="1200" dirty="0">
                <a:solidFill>
                  <a:srgbClr val="2C3D50"/>
                </a:solidFill>
                <a:latin typeface="Calibri"/>
                <a:ea typeface="Calibri"/>
                <a:cs typeface="Calibri"/>
                <a:sym typeface="Calibri"/>
              </a:rPr>
              <a:t>low-risk-high-reward perception.</a:t>
            </a:r>
            <a:endParaRPr sz="1200" dirty="0">
              <a:latin typeface="Calibri"/>
              <a:ea typeface="Calibri"/>
              <a:cs typeface="Calibri"/>
              <a:sym typeface="Calibri"/>
            </a:endParaRPr>
          </a:p>
          <a:p>
            <a:pPr marL="111125" marR="24765" lvl="0" indent="0" algn="l" rtl="0">
              <a:lnSpc>
                <a:spcPct val="100000"/>
              </a:lnSpc>
              <a:spcBef>
                <a:spcPts val="225"/>
              </a:spcBef>
              <a:spcAft>
                <a:spcPts val="0"/>
              </a:spcAft>
              <a:buNone/>
            </a:pPr>
            <a:endParaRPr sz="1200" dirty="0">
              <a:latin typeface="Calibri"/>
              <a:ea typeface="Calibri"/>
              <a:cs typeface="Calibri"/>
              <a:sym typeface="Calibri"/>
            </a:endParaRPr>
          </a:p>
        </p:txBody>
      </p:sp>
      <p:grpSp>
        <p:nvGrpSpPr>
          <p:cNvPr id="653" name="Google Shape;653;p36"/>
          <p:cNvGrpSpPr/>
          <p:nvPr/>
        </p:nvGrpSpPr>
        <p:grpSpPr>
          <a:xfrm>
            <a:off x="6694713" y="918800"/>
            <a:ext cx="2384129" cy="1025113"/>
            <a:chOff x="5966459" y="3051810"/>
            <a:chExt cx="2812034" cy="1577339"/>
          </a:xfrm>
        </p:grpSpPr>
        <p:sp>
          <p:nvSpPr>
            <p:cNvPr id="654" name="Google Shape;654;p36"/>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5" name="Google Shape;655;p36"/>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6" name="Google Shape;656;p36"/>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7" name="Google Shape;657;p36"/>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58" name="Google Shape;658;p36"/>
          <p:cNvSpPr txBox="1"/>
          <p:nvPr/>
        </p:nvSpPr>
        <p:spPr>
          <a:xfrm>
            <a:off x="6831334" y="945976"/>
            <a:ext cx="2301900" cy="5925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1200" b="1" dirty="0">
                <a:solidFill>
                  <a:srgbClr val="6B7B8E"/>
                </a:solidFill>
                <a:latin typeface="Calibri"/>
                <a:ea typeface="Calibri"/>
                <a:cs typeface="Calibri"/>
                <a:sym typeface="Calibri"/>
              </a:rPr>
              <a:t>Addresses following diagnostic points</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B2C Ratio anomaly</a:t>
            </a:r>
            <a:endParaRPr dirty="0"/>
          </a:p>
          <a:p>
            <a:pPr marL="171450" lvl="0" indent="-171450" algn="l" rtl="0">
              <a:lnSpc>
                <a:spcPct val="100000"/>
              </a:lnSpc>
              <a:spcBef>
                <a:spcPts val="100"/>
              </a:spcBef>
              <a:spcAft>
                <a:spcPts val="0"/>
              </a:spcAft>
              <a:buClr>
                <a:schemeClr val="dk1"/>
              </a:buClr>
              <a:buSzPts val="1200"/>
              <a:buFont typeface="Arial"/>
              <a:buChar char="•"/>
            </a:pPr>
            <a:r>
              <a:rPr lang="en-US" sz="1200" dirty="0">
                <a:solidFill>
                  <a:schemeClr val="dk1"/>
                </a:solidFill>
                <a:latin typeface="Calibri"/>
                <a:ea typeface="Calibri"/>
                <a:cs typeface="Calibri"/>
                <a:sym typeface="Calibri"/>
              </a:rPr>
              <a:t>Peer band and cash anomaly</a:t>
            </a:r>
            <a:endParaRPr sz="1200" dirty="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D8A0E88A-6D32-8F2E-3DA5-C817C2B4E2F1}"/>
            </a:ext>
          </a:extLst>
        </p:cNvPr>
        <p:cNvGrpSpPr/>
        <p:nvPr/>
      </p:nvGrpSpPr>
      <p:grpSpPr>
        <a:xfrm>
          <a:off x="0" y="0"/>
          <a:ext cx="0" cy="0"/>
          <a:chOff x="0" y="0"/>
          <a:chExt cx="0" cy="0"/>
        </a:xfrm>
      </p:grpSpPr>
      <p:grpSp>
        <p:nvGrpSpPr>
          <p:cNvPr id="199" name="Google Shape;199;p19">
            <a:extLst>
              <a:ext uri="{FF2B5EF4-FFF2-40B4-BE49-F238E27FC236}">
                <a16:creationId xmlns:a16="http://schemas.microsoft.com/office/drawing/2014/main" id="{8CA8BBC0-C11D-66C3-8466-75EAB193615F}"/>
              </a:ext>
            </a:extLst>
          </p:cNvPr>
          <p:cNvGrpSpPr/>
          <p:nvPr/>
        </p:nvGrpSpPr>
        <p:grpSpPr>
          <a:xfrm>
            <a:off x="0" y="0"/>
            <a:ext cx="9144127" cy="5143500"/>
            <a:chOff x="0" y="0"/>
            <a:chExt cx="9144127" cy="5143500"/>
          </a:xfrm>
        </p:grpSpPr>
        <p:sp>
          <p:nvSpPr>
            <p:cNvPr id="200" name="Google Shape;200;p19">
              <a:extLst>
                <a:ext uri="{FF2B5EF4-FFF2-40B4-BE49-F238E27FC236}">
                  <a16:creationId xmlns:a16="http://schemas.microsoft.com/office/drawing/2014/main" id="{C9F7C30B-E640-2B2B-237C-8F7023B319CE}"/>
                </a:ext>
              </a:extLst>
            </p:cNvPr>
            <p:cNvSpPr/>
            <p:nvPr/>
          </p:nvSpPr>
          <p:spPr>
            <a:xfrm>
              <a:off x="164592" y="0"/>
              <a:ext cx="8979535" cy="5143500"/>
            </a:xfrm>
            <a:custGeom>
              <a:avLst/>
              <a:gdLst/>
              <a:ahLst/>
              <a:cxnLst/>
              <a:rect l="l" t="t" r="r" b="b"/>
              <a:pathLst>
                <a:path w="8979535" h="5143500" extrusionOk="0">
                  <a:moveTo>
                    <a:pt x="0" y="5143500"/>
                  </a:moveTo>
                  <a:lnTo>
                    <a:pt x="8979408" y="5143500"/>
                  </a:lnTo>
                  <a:lnTo>
                    <a:pt x="8979408" y="0"/>
                  </a:lnTo>
                  <a:lnTo>
                    <a:pt x="0" y="0"/>
                  </a:lnTo>
                  <a:lnTo>
                    <a:pt x="0" y="514350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1" name="Google Shape;201;p19">
              <a:extLst>
                <a:ext uri="{FF2B5EF4-FFF2-40B4-BE49-F238E27FC236}">
                  <a16:creationId xmlns:a16="http://schemas.microsoft.com/office/drawing/2014/main" id="{38EE31D2-504B-BC2F-C53F-6457F220B228}"/>
                </a:ext>
              </a:extLst>
            </p:cNvPr>
            <p:cNvSpPr/>
            <p:nvPr/>
          </p:nvSpPr>
          <p:spPr>
            <a:xfrm>
              <a:off x="0" y="0"/>
              <a:ext cx="165100" cy="5143500"/>
            </a:xfrm>
            <a:custGeom>
              <a:avLst/>
              <a:gdLst/>
              <a:ahLst/>
              <a:cxnLst/>
              <a:rect l="l" t="t" r="r" b="b"/>
              <a:pathLst>
                <a:path w="165100" h="5143500" extrusionOk="0">
                  <a:moveTo>
                    <a:pt x="164592" y="0"/>
                  </a:moveTo>
                  <a:lnTo>
                    <a:pt x="0" y="0"/>
                  </a:lnTo>
                  <a:lnTo>
                    <a:pt x="0" y="5143500"/>
                  </a:lnTo>
                  <a:lnTo>
                    <a:pt x="164592" y="5143500"/>
                  </a:lnTo>
                  <a:lnTo>
                    <a:pt x="164592"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2" name="Google Shape;202;p19">
              <a:extLst>
                <a:ext uri="{FF2B5EF4-FFF2-40B4-BE49-F238E27FC236}">
                  <a16:creationId xmlns:a16="http://schemas.microsoft.com/office/drawing/2014/main" id="{45B8DD28-E1AC-292C-0635-A6570856989E}"/>
                </a:ext>
              </a:extLst>
            </p:cNvPr>
            <p:cNvSpPr/>
            <p:nvPr/>
          </p:nvSpPr>
          <p:spPr>
            <a:xfrm>
              <a:off x="0" y="0"/>
              <a:ext cx="165100" cy="5143500"/>
            </a:xfrm>
            <a:custGeom>
              <a:avLst/>
              <a:gdLst/>
              <a:ahLst/>
              <a:cxnLst/>
              <a:rect l="l" t="t" r="r" b="b"/>
              <a:pathLst>
                <a:path w="165100" h="5143500" extrusionOk="0">
                  <a:moveTo>
                    <a:pt x="0" y="5143500"/>
                  </a:moveTo>
                  <a:lnTo>
                    <a:pt x="164592" y="5143500"/>
                  </a:lnTo>
                  <a:lnTo>
                    <a:pt x="164592" y="0"/>
                  </a:lnTo>
                  <a:lnTo>
                    <a:pt x="0" y="0"/>
                  </a:lnTo>
                  <a:lnTo>
                    <a:pt x="0" y="5143500"/>
                  </a:lnTo>
                  <a:close/>
                </a:path>
              </a:pathLst>
            </a:custGeom>
            <a:noFill/>
            <a:ln w="12675"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3" name="Google Shape;203;p19">
              <a:extLst>
                <a:ext uri="{FF2B5EF4-FFF2-40B4-BE49-F238E27FC236}">
                  <a16:creationId xmlns:a16="http://schemas.microsoft.com/office/drawing/2014/main" id="{7AAEC702-E619-FBD0-1786-112AEBA50559}"/>
                </a:ext>
              </a:extLst>
            </p:cNvPr>
            <p:cNvSpPr/>
            <p:nvPr/>
          </p:nvSpPr>
          <p:spPr>
            <a:xfrm>
              <a:off x="4114800" y="457200"/>
              <a:ext cx="914400" cy="914400"/>
            </a:xfrm>
            <a:custGeom>
              <a:avLst/>
              <a:gdLst/>
              <a:ahLst/>
              <a:cxnLst/>
              <a:rect l="l" t="t" r="r" b="b"/>
              <a:pathLst>
                <a:path w="914400" h="914400" extrusionOk="0">
                  <a:moveTo>
                    <a:pt x="457200" y="0"/>
                  </a:moveTo>
                  <a:lnTo>
                    <a:pt x="410458" y="2360"/>
                  </a:lnTo>
                  <a:lnTo>
                    <a:pt x="365066" y="9289"/>
                  </a:lnTo>
                  <a:lnTo>
                    <a:pt x="321253" y="20557"/>
                  </a:lnTo>
                  <a:lnTo>
                    <a:pt x="279249" y="35933"/>
                  </a:lnTo>
                  <a:lnTo>
                    <a:pt x="239283" y="55187"/>
                  </a:lnTo>
                  <a:lnTo>
                    <a:pt x="201587" y="78090"/>
                  </a:lnTo>
                  <a:lnTo>
                    <a:pt x="166390" y="104411"/>
                  </a:lnTo>
                  <a:lnTo>
                    <a:pt x="133921" y="133921"/>
                  </a:lnTo>
                  <a:lnTo>
                    <a:pt x="104411" y="166390"/>
                  </a:lnTo>
                  <a:lnTo>
                    <a:pt x="78090" y="201587"/>
                  </a:lnTo>
                  <a:lnTo>
                    <a:pt x="55187" y="239283"/>
                  </a:lnTo>
                  <a:lnTo>
                    <a:pt x="35933" y="279249"/>
                  </a:lnTo>
                  <a:lnTo>
                    <a:pt x="20557" y="321253"/>
                  </a:lnTo>
                  <a:lnTo>
                    <a:pt x="9289" y="365066"/>
                  </a:lnTo>
                  <a:lnTo>
                    <a:pt x="2360" y="410458"/>
                  </a:lnTo>
                  <a:lnTo>
                    <a:pt x="0" y="457200"/>
                  </a:lnTo>
                  <a:lnTo>
                    <a:pt x="2360" y="503941"/>
                  </a:lnTo>
                  <a:lnTo>
                    <a:pt x="9289" y="549333"/>
                  </a:lnTo>
                  <a:lnTo>
                    <a:pt x="20557" y="593146"/>
                  </a:lnTo>
                  <a:lnTo>
                    <a:pt x="35933" y="635150"/>
                  </a:lnTo>
                  <a:lnTo>
                    <a:pt x="55187" y="675116"/>
                  </a:lnTo>
                  <a:lnTo>
                    <a:pt x="78090" y="712812"/>
                  </a:lnTo>
                  <a:lnTo>
                    <a:pt x="104411" y="748009"/>
                  </a:lnTo>
                  <a:lnTo>
                    <a:pt x="133921" y="780478"/>
                  </a:lnTo>
                  <a:lnTo>
                    <a:pt x="166390" y="809988"/>
                  </a:lnTo>
                  <a:lnTo>
                    <a:pt x="201587" y="836309"/>
                  </a:lnTo>
                  <a:lnTo>
                    <a:pt x="239283" y="859212"/>
                  </a:lnTo>
                  <a:lnTo>
                    <a:pt x="279249" y="878466"/>
                  </a:lnTo>
                  <a:lnTo>
                    <a:pt x="321253" y="893842"/>
                  </a:lnTo>
                  <a:lnTo>
                    <a:pt x="365066" y="905110"/>
                  </a:lnTo>
                  <a:lnTo>
                    <a:pt x="410458" y="912039"/>
                  </a:lnTo>
                  <a:lnTo>
                    <a:pt x="457200" y="914400"/>
                  </a:lnTo>
                  <a:lnTo>
                    <a:pt x="503941" y="912039"/>
                  </a:lnTo>
                  <a:lnTo>
                    <a:pt x="549333" y="905110"/>
                  </a:lnTo>
                  <a:lnTo>
                    <a:pt x="593146" y="893842"/>
                  </a:lnTo>
                  <a:lnTo>
                    <a:pt x="635150" y="878466"/>
                  </a:lnTo>
                  <a:lnTo>
                    <a:pt x="675116" y="859212"/>
                  </a:lnTo>
                  <a:lnTo>
                    <a:pt x="712812" y="836309"/>
                  </a:lnTo>
                  <a:lnTo>
                    <a:pt x="748009" y="809988"/>
                  </a:lnTo>
                  <a:lnTo>
                    <a:pt x="780478" y="780478"/>
                  </a:lnTo>
                  <a:lnTo>
                    <a:pt x="809988" y="748009"/>
                  </a:lnTo>
                  <a:lnTo>
                    <a:pt x="836309" y="712812"/>
                  </a:lnTo>
                  <a:lnTo>
                    <a:pt x="859212" y="675116"/>
                  </a:lnTo>
                  <a:lnTo>
                    <a:pt x="878466" y="635150"/>
                  </a:lnTo>
                  <a:lnTo>
                    <a:pt x="893842" y="593146"/>
                  </a:lnTo>
                  <a:lnTo>
                    <a:pt x="905110" y="549333"/>
                  </a:lnTo>
                  <a:lnTo>
                    <a:pt x="912039" y="503941"/>
                  </a:lnTo>
                  <a:lnTo>
                    <a:pt x="914400" y="457200"/>
                  </a:lnTo>
                  <a:lnTo>
                    <a:pt x="912039" y="410458"/>
                  </a:lnTo>
                  <a:lnTo>
                    <a:pt x="905110" y="365066"/>
                  </a:lnTo>
                  <a:lnTo>
                    <a:pt x="893842" y="321253"/>
                  </a:lnTo>
                  <a:lnTo>
                    <a:pt x="878466" y="279249"/>
                  </a:lnTo>
                  <a:lnTo>
                    <a:pt x="859212" y="239283"/>
                  </a:lnTo>
                  <a:lnTo>
                    <a:pt x="836309" y="201587"/>
                  </a:lnTo>
                  <a:lnTo>
                    <a:pt x="809988" y="166390"/>
                  </a:lnTo>
                  <a:lnTo>
                    <a:pt x="780478" y="133921"/>
                  </a:lnTo>
                  <a:lnTo>
                    <a:pt x="748009" y="104411"/>
                  </a:lnTo>
                  <a:lnTo>
                    <a:pt x="712812" y="78090"/>
                  </a:lnTo>
                  <a:lnTo>
                    <a:pt x="675116" y="55187"/>
                  </a:lnTo>
                  <a:lnTo>
                    <a:pt x="635150" y="35933"/>
                  </a:lnTo>
                  <a:lnTo>
                    <a:pt x="593146" y="20557"/>
                  </a:lnTo>
                  <a:lnTo>
                    <a:pt x="549333" y="9289"/>
                  </a:lnTo>
                  <a:lnTo>
                    <a:pt x="503941" y="2360"/>
                  </a:lnTo>
                  <a:lnTo>
                    <a:pt x="4572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04" name="Google Shape;204;p19">
              <a:extLst>
                <a:ext uri="{FF2B5EF4-FFF2-40B4-BE49-F238E27FC236}">
                  <a16:creationId xmlns:a16="http://schemas.microsoft.com/office/drawing/2014/main" id="{5166CB2D-A009-320E-AD4E-89A57F0437CB}"/>
                </a:ext>
              </a:extLst>
            </p:cNvPr>
            <p:cNvSpPr/>
            <p:nvPr/>
          </p:nvSpPr>
          <p:spPr>
            <a:xfrm>
              <a:off x="4114800" y="457200"/>
              <a:ext cx="914400" cy="914400"/>
            </a:xfrm>
            <a:custGeom>
              <a:avLst/>
              <a:gdLst/>
              <a:ahLst/>
              <a:cxnLst/>
              <a:rect l="l" t="t" r="r" b="b"/>
              <a:pathLst>
                <a:path w="914400" h="914400" extrusionOk="0">
                  <a:moveTo>
                    <a:pt x="0" y="457200"/>
                  </a:moveTo>
                  <a:lnTo>
                    <a:pt x="2360" y="410458"/>
                  </a:lnTo>
                  <a:lnTo>
                    <a:pt x="9289" y="365066"/>
                  </a:lnTo>
                  <a:lnTo>
                    <a:pt x="20557" y="321253"/>
                  </a:lnTo>
                  <a:lnTo>
                    <a:pt x="35933" y="279249"/>
                  </a:lnTo>
                  <a:lnTo>
                    <a:pt x="55187" y="239283"/>
                  </a:lnTo>
                  <a:lnTo>
                    <a:pt x="78090" y="201587"/>
                  </a:lnTo>
                  <a:lnTo>
                    <a:pt x="104411" y="166390"/>
                  </a:lnTo>
                  <a:lnTo>
                    <a:pt x="133921" y="133921"/>
                  </a:lnTo>
                  <a:lnTo>
                    <a:pt x="166390" y="104411"/>
                  </a:lnTo>
                  <a:lnTo>
                    <a:pt x="201587" y="78090"/>
                  </a:lnTo>
                  <a:lnTo>
                    <a:pt x="239283" y="55187"/>
                  </a:lnTo>
                  <a:lnTo>
                    <a:pt x="279249" y="35933"/>
                  </a:lnTo>
                  <a:lnTo>
                    <a:pt x="321253" y="20557"/>
                  </a:lnTo>
                  <a:lnTo>
                    <a:pt x="365066" y="9289"/>
                  </a:lnTo>
                  <a:lnTo>
                    <a:pt x="410458" y="2360"/>
                  </a:lnTo>
                  <a:lnTo>
                    <a:pt x="457200" y="0"/>
                  </a:lnTo>
                  <a:lnTo>
                    <a:pt x="503941" y="2360"/>
                  </a:lnTo>
                  <a:lnTo>
                    <a:pt x="549333" y="9289"/>
                  </a:lnTo>
                  <a:lnTo>
                    <a:pt x="593146" y="20557"/>
                  </a:lnTo>
                  <a:lnTo>
                    <a:pt x="635150" y="35933"/>
                  </a:lnTo>
                  <a:lnTo>
                    <a:pt x="675116" y="55187"/>
                  </a:lnTo>
                  <a:lnTo>
                    <a:pt x="712812" y="78090"/>
                  </a:lnTo>
                  <a:lnTo>
                    <a:pt x="748009" y="104411"/>
                  </a:lnTo>
                  <a:lnTo>
                    <a:pt x="780478" y="133921"/>
                  </a:lnTo>
                  <a:lnTo>
                    <a:pt x="809988" y="166390"/>
                  </a:lnTo>
                  <a:lnTo>
                    <a:pt x="836309" y="201587"/>
                  </a:lnTo>
                  <a:lnTo>
                    <a:pt x="859212" y="239283"/>
                  </a:lnTo>
                  <a:lnTo>
                    <a:pt x="878466" y="279249"/>
                  </a:lnTo>
                  <a:lnTo>
                    <a:pt x="893842" y="321253"/>
                  </a:lnTo>
                  <a:lnTo>
                    <a:pt x="905110" y="365066"/>
                  </a:lnTo>
                  <a:lnTo>
                    <a:pt x="912039" y="410458"/>
                  </a:lnTo>
                  <a:lnTo>
                    <a:pt x="914400" y="457200"/>
                  </a:lnTo>
                  <a:lnTo>
                    <a:pt x="912039" y="503941"/>
                  </a:lnTo>
                  <a:lnTo>
                    <a:pt x="905110" y="549333"/>
                  </a:lnTo>
                  <a:lnTo>
                    <a:pt x="893842" y="593146"/>
                  </a:lnTo>
                  <a:lnTo>
                    <a:pt x="878466" y="635150"/>
                  </a:lnTo>
                  <a:lnTo>
                    <a:pt x="859212" y="675116"/>
                  </a:lnTo>
                  <a:lnTo>
                    <a:pt x="836309" y="712812"/>
                  </a:lnTo>
                  <a:lnTo>
                    <a:pt x="809988" y="748009"/>
                  </a:lnTo>
                  <a:lnTo>
                    <a:pt x="780478" y="780478"/>
                  </a:lnTo>
                  <a:lnTo>
                    <a:pt x="748009" y="809988"/>
                  </a:lnTo>
                  <a:lnTo>
                    <a:pt x="712812" y="836309"/>
                  </a:lnTo>
                  <a:lnTo>
                    <a:pt x="675116" y="859212"/>
                  </a:lnTo>
                  <a:lnTo>
                    <a:pt x="635150" y="878466"/>
                  </a:lnTo>
                  <a:lnTo>
                    <a:pt x="593146" y="893842"/>
                  </a:lnTo>
                  <a:lnTo>
                    <a:pt x="549333" y="905110"/>
                  </a:lnTo>
                  <a:lnTo>
                    <a:pt x="503941" y="912039"/>
                  </a:lnTo>
                  <a:lnTo>
                    <a:pt x="457200" y="914400"/>
                  </a:lnTo>
                  <a:lnTo>
                    <a:pt x="410458" y="912039"/>
                  </a:lnTo>
                  <a:lnTo>
                    <a:pt x="365066" y="905110"/>
                  </a:lnTo>
                  <a:lnTo>
                    <a:pt x="321253" y="893842"/>
                  </a:lnTo>
                  <a:lnTo>
                    <a:pt x="279249" y="878466"/>
                  </a:lnTo>
                  <a:lnTo>
                    <a:pt x="239283" y="859212"/>
                  </a:lnTo>
                  <a:lnTo>
                    <a:pt x="201587" y="836309"/>
                  </a:lnTo>
                  <a:lnTo>
                    <a:pt x="166390" y="809988"/>
                  </a:lnTo>
                  <a:lnTo>
                    <a:pt x="133921" y="780478"/>
                  </a:lnTo>
                  <a:lnTo>
                    <a:pt x="104411" y="748009"/>
                  </a:lnTo>
                  <a:lnTo>
                    <a:pt x="78090" y="712812"/>
                  </a:lnTo>
                  <a:lnTo>
                    <a:pt x="55187" y="675116"/>
                  </a:lnTo>
                  <a:lnTo>
                    <a:pt x="35933" y="635150"/>
                  </a:lnTo>
                  <a:lnTo>
                    <a:pt x="20557" y="593146"/>
                  </a:lnTo>
                  <a:lnTo>
                    <a:pt x="9289" y="549333"/>
                  </a:lnTo>
                  <a:lnTo>
                    <a:pt x="2360" y="503941"/>
                  </a:lnTo>
                  <a:lnTo>
                    <a:pt x="0" y="457200"/>
                  </a:lnTo>
                  <a:close/>
                </a:path>
              </a:pathLst>
            </a:custGeom>
            <a:noFill/>
            <a:ln w="25400" cap="flat" cmpd="sng">
              <a:solidFill>
                <a:srgbClr val="EFD08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05" name="Google Shape;205;p19">
              <a:extLst>
                <a:ext uri="{FF2B5EF4-FFF2-40B4-BE49-F238E27FC236}">
                  <a16:creationId xmlns:a16="http://schemas.microsoft.com/office/drawing/2014/main" id="{0D5BC4B0-B471-1278-E817-A68EBF861083}"/>
                </a:ext>
              </a:extLst>
            </p:cNvPr>
            <p:cNvPicPr preferRelativeResize="0"/>
            <p:nvPr/>
          </p:nvPicPr>
          <p:blipFill rotWithShape="1">
            <a:blip r:embed="rId3">
              <a:alphaModFix/>
            </a:blip>
            <a:srcRect/>
            <a:stretch/>
          </p:blipFill>
          <p:spPr>
            <a:xfrm>
              <a:off x="4180332" y="583691"/>
              <a:ext cx="782574" cy="745998"/>
            </a:xfrm>
            <a:prstGeom prst="rect">
              <a:avLst/>
            </a:prstGeom>
            <a:noFill/>
            <a:ln>
              <a:noFill/>
            </a:ln>
          </p:spPr>
        </p:pic>
      </p:grpSp>
      <p:sp>
        <p:nvSpPr>
          <p:cNvPr id="206" name="Google Shape;206;p19">
            <a:extLst>
              <a:ext uri="{FF2B5EF4-FFF2-40B4-BE49-F238E27FC236}">
                <a16:creationId xmlns:a16="http://schemas.microsoft.com/office/drawing/2014/main" id="{8571411C-7571-A5EC-DF55-CFAFAE3721D3}"/>
              </a:ext>
            </a:extLst>
          </p:cNvPr>
          <p:cNvSpPr txBox="1">
            <a:spLocks noGrp="1"/>
          </p:cNvSpPr>
          <p:nvPr>
            <p:ph type="title"/>
          </p:nvPr>
        </p:nvSpPr>
        <p:spPr>
          <a:xfrm>
            <a:off x="3229288" y="2089050"/>
            <a:ext cx="5016600" cy="4827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000" dirty="0">
                <a:solidFill>
                  <a:srgbClr val="C8A84B"/>
                </a:solidFill>
              </a:rPr>
              <a:t>THANK YOU !!!</a:t>
            </a:r>
            <a:endParaRPr sz="3000" dirty="0"/>
          </a:p>
        </p:txBody>
      </p:sp>
      <p:grpSp>
        <p:nvGrpSpPr>
          <p:cNvPr id="208" name="Google Shape;208;p19">
            <a:extLst>
              <a:ext uri="{FF2B5EF4-FFF2-40B4-BE49-F238E27FC236}">
                <a16:creationId xmlns:a16="http://schemas.microsoft.com/office/drawing/2014/main" id="{68AAAE15-E41F-47CD-6E04-07E06D222A73}"/>
              </a:ext>
            </a:extLst>
          </p:cNvPr>
          <p:cNvGrpSpPr/>
          <p:nvPr/>
        </p:nvGrpSpPr>
        <p:grpSpPr>
          <a:xfrm>
            <a:off x="2743200" y="2743200"/>
            <a:ext cx="3657600" cy="36830"/>
            <a:chOff x="2743200" y="2743200"/>
            <a:chExt cx="3657600" cy="36830"/>
          </a:xfrm>
        </p:grpSpPr>
        <p:sp>
          <p:nvSpPr>
            <p:cNvPr id="209" name="Google Shape;209;p19">
              <a:extLst>
                <a:ext uri="{FF2B5EF4-FFF2-40B4-BE49-F238E27FC236}">
                  <a16:creationId xmlns:a16="http://schemas.microsoft.com/office/drawing/2014/main" id="{08159BA2-C1B7-3BA7-EEE5-B14858039B6D}"/>
                </a:ext>
              </a:extLst>
            </p:cNvPr>
            <p:cNvSpPr/>
            <p:nvPr/>
          </p:nvSpPr>
          <p:spPr>
            <a:xfrm>
              <a:off x="2743200" y="2743200"/>
              <a:ext cx="3657600" cy="36830"/>
            </a:xfrm>
            <a:custGeom>
              <a:avLst/>
              <a:gdLst/>
              <a:ahLst/>
              <a:cxnLst/>
              <a:rect l="l" t="t" r="r" b="b"/>
              <a:pathLst>
                <a:path w="3657600" h="36830" extrusionOk="0">
                  <a:moveTo>
                    <a:pt x="3657600" y="0"/>
                  </a:moveTo>
                  <a:lnTo>
                    <a:pt x="0" y="0"/>
                  </a:lnTo>
                  <a:lnTo>
                    <a:pt x="0" y="36575"/>
                  </a:lnTo>
                  <a:lnTo>
                    <a:pt x="3657600" y="36575"/>
                  </a:lnTo>
                  <a:lnTo>
                    <a:pt x="3657600" y="0"/>
                  </a:lnTo>
                  <a:close/>
                </a:path>
              </a:pathLst>
            </a:custGeom>
            <a:solidFill>
              <a:srgbClr val="C8A84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210" name="Google Shape;210;p19">
              <a:extLst>
                <a:ext uri="{FF2B5EF4-FFF2-40B4-BE49-F238E27FC236}">
                  <a16:creationId xmlns:a16="http://schemas.microsoft.com/office/drawing/2014/main" id="{992C53C1-4CAA-B5FB-B9CC-DEC392043AB4}"/>
                </a:ext>
              </a:extLst>
            </p:cNvPr>
            <p:cNvSpPr/>
            <p:nvPr/>
          </p:nvSpPr>
          <p:spPr>
            <a:xfrm>
              <a:off x="2743200" y="2743200"/>
              <a:ext cx="3657600" cy="36830"/>
            </a:xfrm>
            <a:custGeom>
              <a:avLst/>
              <a:gdLst/>
              <a:ahLst/>
              <a:cxnLst/>
              <a:rect l="l" t="t" r="r" b="b"/>
              <a:pathLst>
                <a:path w="3657600" h="36830" extrusionOk="0">
                  <a:moveTo>
                    <a:pt x="0" y="36575"/>
                  </a:moveTo>
                  <a:lnTo>
                    <a:pt x="3657600" y="36575"/>
                  </a:lnTo>
                  <a:lnTo>
                    <a:pt x="3657600" y="0"/>
                  </a:lnTo>
                  <a:lnTo>
                    <a:pt x="0" y="0"/>
                  </a:lnTo>
                  <a:lnTo>
                    <a:pt x="0" y="36575"/>
                  </a:lnTo>
                  <a:close/>
                </a:path>
              </a:pathLst>
            </a:custGeom>
            <a:no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Tree>
    <p:extLst>
      <p:ext uri="{BB962C8B-B14F-4D97-AF65-F5344CB8AC3E}">
        <p14:creationId xmlns:p14="http://schemas.microsoft.com/office/powerpoint/2010/main" val="2228284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29936540-3E38-F6B2-BC88-38B06BA31F22}"/>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6A9228B3-6B07-43D6-2514-97F8412586B8}"/>
              </a:ext>
            </a:extLst>
          </p:cNvPr>
          <p:cNvGrpSpPr/>
          <p:nvPr/>
        </p:nvGrpSpPr>
        <p:grpSpPr>
          <a:xfrm>
            <a:off x="-6350" y="-6413"/>
            <a:ext cx="9156700" cy="845185"/>
            <a:chOff x="-6350" y="-6413"/>
            <a:chExt cx="9156700" cy="845185"/>
          </a:xfrm>
          <a:solidFill>
            <a:srgbClr val="1B2A49"/>
          </a:solidFill>
        </p:grpSpPr>
        <p:sp>
          <p:nvSpPr>
            <p:cNvPr id="4" name="object 4">
              <a:extLst>
                <a:ext uri="{FF2B5EF4-FFF2-40B4-BE49-F238E27FC236}">
                  <a16:creationId xmlns:a16="http://schemas.microsoft.com/office/drawing/2014/main" id="{4DFDA295-1E09-4687-F39A-29E3BB2F290C}"/>
                </a:ext>
              </a:extLst>
            </p:cNvPr>
            <p:cNvSpPr/>
            <p:nvPr/>
          </p:nvSpPr>
          <p:spPr>
            <a:xfrm>
              <a:off x="0" y="-63"/>
              <a:ext cx="9144000" cy="777875"/>
            </a:xfrm>
            <a:custGeom>
              <a:avLst/>
              <a:gdLst/>
              <a:ahLst/>
              <a:cxnLst/>
              <a:rect l="l" t="t" r="r" b="b"/>
              <a:pathLst>
                <a:path w="9144000" h="777875">
                  <a:moveTo>
                    <a:pt x="9144000" y="0"/>
                  </a:moveTo>
                  <a:lnTo>
                    <a:pt x="0" y="0"/>
                  </a:lnTo>
                  <a:lnTo>
                    <a:pt x="0" y="777303"/>
                  </a:lnTo>
                  <a:lnTo>
                    <a:pt x="9144000" y="777303"/>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5" name="object 5">
              <a:extLst>
                <a:ext uri="{FF2B5EF4-FFF2-40B4-BE49-F238E27FC236}">
                  <a16:creationId xmlns:a16="http://schemas.microsoft.com/office/drawing/2014/main" id="{7B239A8A-AB94-8C14-4EF6-6FB46A0B4D5D}"/>
                </a:ext>
              </a:extLst>
            </p:cNvPr>
            <p:cNvSpPr/>
            <p:nvPr/>
          </p:nvSpPr>
          <p:spPr>
            <a:xfrm>
              <a:off x="0" y="-63"/>
              <a:ext cx="9144000" cy="777875"/>
            </a:xfrm>
            <a:custGeom>
              <a:avLst/>
              <a:gdLst/>
              <a:ahLst/>
              <a:cxnLst/>
              <a:rect l="l" t="t" r="r" b="b"/>
              <a:pathLst>
                <a:path w="9144000" h="777875">
                  <a:moveTo>
                    <a:pt x="0" y="777303"/>
                  </a:moveTo>
                  <a:lnTo>
                    <a:pt x="9144000" y="777303"/>
                  </a:lnTo>
                  <a:lnTo>
                    <a:pt x="9144000" y="0"/>
                  </a:lnTo>
                  <a:lnTo>
                    <a:pt x="0" y="0"/>
                  </a:lnTo>
                  <a:lnTo>
                    <a:pt x="0" y="777303"/>
                  </a:lnTo>
                  <a:close/>
                </a:path>
              </a:pathLst>
            </a:custGeom>
            <a:grpFill/>
            <a:ln w="12700">
              <a:solidFill>
                <a:srgbClr val="1B2A49"/>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6" name="object 6">
              <a:extLst>
                <a:ext uri="{FF2B5EF4-FFF2-40B4-BE49-F238E27FC236}">
                  <a16:creationId xmlns:a16="http://schemas.microsoft.com/office/drawing/2014/main" id="{74A1B501-F1E8-897A-EC58-760FA0B3919B}"/>
                </a:ext>
              </a:extLst>
            </p:cNvPr>
            <p:cNvSpPr/>
            <p:nvPr/>
          </p:nvSpPr>
          <p:spPr>
            <a:xfrm>
              <a:off x="0" y="777204"/>
              <a:ext cx="9144000" cy="55244"/>
            </a:xfrm>
            <a:custGeom>
              <a:avLst/>
              <a:gdLst/>
              <a:ahLst/>
              <a:cxnLst/>
              <a:rect l="l" t="t" r="r" b="b"/>
              <a:pathLst>
                <a:path w="9144000" h="55244">
                  <a:moveTo>
                    <a:pt x="9144000" y="0"/>
                  </a:moveTo>
                  <a:lnTo>
                    <a:pt x="0" y="0"/>
                  </a:lnTo>
                  <a:lnTo>
                    <a:pt x="0" y="54899"/>
                  </a:lnTo>
                  <a:lnTo>
                    <a:pt x="9144000" y="54899"/>
                  </a:lnTo>
                  <a:lnTo>
                    <a:pt x="9144000" y="0"/>
                  </a:lnTo>
                  <a:close/>
                </a:path>
              </a:pathLst>
            </a:custGeom>
            <a:grp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sp>
          <p:nvSpPr>
            <p:cNvPr id="7" name="object 7">
              <a:extLst>
                <a:ext uri="{FF2B5EF4-FFF2-40B4-BE49-F238E27FC236}">
                  <a16:creationId xmlns:a16="http://schemas.microsoft.com/office/drawing/2014/main" id="{4EB23E8D-3DDF-5A34-3E7B-DA79EB8AA0F7}"/>
                </a:ext>
              </a:extLst>
            </p:cNvPr>
            <p:cNvSpPr/>
            <p:nvPr/>
          </p:nvSpPr>
          <p:spPr>
            <a:xfrm>
              <a:off x="0" y="777204"/>
              <a:ext cx="9144000" cy="55244"/>
            </a:xfrm>
            <a:custGeom>
              <a:avLst/>
              <a:gdLst/>
              <a:ahLst/>
              <a:cxnLst/>
              <a:rect l="l" t="t" r="r" b="b"/>
              <a:pathLst>
                <a:path w="9144000" h="55244">
                  <a:moveTo>
                    <a:pt x="0" y="54899"/>
                  </a:moveTo>
                  <a:lnTo>
                    <a:pt x="9144000" y="54899"/>
                  </a:lnTo>
                  <a:lnTo>
                    <a:pt x="9144000" y="0"/>
                  </a:lnTo>
                  <a:lnTo>
                    <a:pt x="0" y="0"/>
                  </a:lnTo>
                  <a:lnTo>
                    <a:pt x="0" y="54899"/>
                  </a:lnTo>
                  <a:close/>
                </a:path>
              </a:pathLst>
            </a:custGeom>
            <a:grpFill/>
            <a:ln w="12700">
              <a:solidFill>
                <a:srgbClr val="C8A84B"/>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ysClr val="windowText" lastClr="000000"/>
                </a:solidFill>
                <a:effectLst/>
                <a:uLnTx/>
                <a:uFillTx/>
              </a:endParaRPr>
            </a:p>
          </p:txBody>
        </p:sp>
      </p:grpSp>
      <p:sp>
        <p:nvSpPr>
          <p:cNvPr id="8" name="object 8">
            <a:extLst>
              <a:ext uri="{FF2B5EF4-FFF2-40B4-BE49-F238E27FC236}">
                <a16:creationId xmlns:a16="http://schemas.microsoft.com/office/drawing/2014/main" id="{62680E11-563D-6155-BE70-F3DADDCBE465}"/>
              </a:ext>
            </a:extLst>
          </p:cNvPr>
          <p:cNvSpPr txBox="1">
            <a:spLocks noGrp="1"/>
          </p:cNvSpPr>
          <p:nvPr>
            <p:ph type="title"/>
          </p:nvPr>
        </p:nvSpPr>
        <p:spPr>
          <a:xfrm>
            <a:off x="444500" y="159511"/>
            <a:ext cx="8359258" cy="382156"/>
          </a:xfrm>
          <a:prstGeom prst="rect">
            <a:avLst/>
          </a:prstGeom>
        </p:spPr>
        <p:txBody>
          <a:bodyPr vert="horz" wrap="square" lIns="0" tIns="12700" rIns="0" bIns="0" rtlCol="0">
            <a:spAutoFit/>
          </a:bodyPr>
          <a:lstStyle/>
          <a:p>
            <a:pPr marL="12700">
              <a:lnSpc>
                <a:spcPct val="100000"/>
              </a:lnSpc>
              <a:spcBef>
                <a:spcPts val="100"/>
              </a:spcBef>
            </a:pPr>
            <a:r>
              <a:rPr lang="en-US" sz="2400">
                <a:solidFill>
                  <a:schemeClr val="bg1"/>
                </a:solidFill>
              </a:rPr>
              <a:t>#6 Data-Driven Enforcement &amp; Special Drives</a:t>
            </a:r>
            <a:endParaRPr sz="2400">
              <a:solidFill>
                <a:schemeClr val="bg1"/>
              </a:solidFill>
            </a:endParaRPr>
          </a:p>
        </p:txBody>
      </p:sp>
      <p:sp>
        <p:nvSpPr>
          <p:cNvPr id="47" name="Rounded Rectangle 5">
            <a:extLst>
              <a:ext uri="{FF2B5EF4-FFF2-40B4-BE49-F238E27FC236}">
                <a16:creationId xmlns:a16="http://schemas.microsoft.com/office/drawing/2014/main" id="{5389B469-FD7D-8FCC-D775-350411090460}"/>
              </a:ext>
            </a:extLst>
          </p:cNvPr>
          <p:cNvSpPr/>
          <p:nvPr/>
        </p:nvSpPr>
        <p:spPr>
          <a:xfrm>
            <a:off x="174715" y="937386"/>
            <a:ext cx="2103120" cy="3056126"/>
          </a:xfrm>
          <a:prstGeom prst="roundRect">
            <a:avLst/>
          </a:prstGeom>
          <a:solidFill>
            <a:schemeClr val="accent6">
              <a:lumMod val="20000"/>
              <a:lumOff val="80000"/>
            </a:schemeClr>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48" name="TextBox 47">
            <a:extLst>
              <a:ext uri="{FF2B5EF4-FFF2-40B4-BE49-F238E27FC236}">
                <a16:creationId xmlns:a16="http://schemas.microsoft.com/office/drawing/2014/main" id="{BC38B819-07E2-13FB-F016-DA2F85A39043}"/>
              </a:ext>
            </a:extLst>
          </p:cNvPr>
          <p:cNvSpPr txBox="1"/>
          <p:nvPr/>
        </p:nvSpPr>
        <p:spPr>
          <a:xfrm>
            <a:off x="220435" y="1028826"/>
            <a:ext cx="1537600" cy="523220"/>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sz="1400" b="1"/>
            </a:pPr>
            <a:r>
              <a:rPr kumimoji="0" sz="1400" b="1" i="0" u="none" strike="noStrike" kern="0" cap="none" spc="0" normalizeH="0" baseline="0" noProof="0" dirty="0">
                <a:ln>
                  <a:noFill/>
                </a:ln>
                <a:solidFill>
                  <a:sysClr val="windowText" lastClr="000000"/>
                </a:solidFill>
                <a:effectLst/>
                <a:uLnTx/>
                <a:uFillTx/>
              </a:rPr>
              <a:t>1. Sector-Based</a:t>
            </a:r>
          </a:p>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rPr>
              <a:t>Enforcement</a:t>
            </a:r>
          </a:p>
        </p:txBody>
      </p:sp>
      <p:sp>
        <p:nvSpPr>
          <p:cNvPr id="49" name="TextBox 48">
            <a:extLst>
              <a:ext uri="{FF2B5EF4-FFF2-40B4-BE49-F238E27FC236}">
                <a16:creationId xmlns:a16="http://schemas.microsoft.com/office/drawing/2014/main" id="{AB95A6A0-E028-1CE0-178A-D4AF4CF4C827}"/>
              </a:ext>
            </a:extLst>
          </p:cNvPr>
          <p:cNvSpPr txBox="1"/>
          <p:nvPr/>
        </p:nvSpPr>
        <p:spPr>
          <a:xfrm>
            <a:off x="220436" y="1577466"/>
            <a:ext cx="2011680" cy="178510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sz="1100"/>
            </a:pPr>
            <a:r>
              <a:rPr kumimoji="0" sz="1100" b="0" i="0" u="none" strike="noStrike" kern="0" cap="none" spc="0" normalizeH="0" baseline="0" noProof="0" dirty="0">
                <a:ln>
                  <a:noFill/>
                </a:ln>
                <a:solidFill>
                  <a:sysClr val="windowText" lastClr="000000"/>
                </a:solidFill>
                <a:effectLst/>
                <a:uLnTx/>
                <a:uFillTx/>
              </a:rPr>
              <a:t>• </a:t>
            </a:r>
            <a:r>
              <a:rPr kumimoji="0" lang="en-US" sz="1100" b="0" i="0" u="none" strike="noStrike" kern="0" cap="none" spc="0" normalizeH="0" baseline="0" noProof="0" dirty="0">
                <a:ln>
                  <a:noFill/>
                </a:ln>
                <a:solidFill>
                  <a:sysClr val="windowText" lastClr="000000"/>
                </a:solidFill>
                <a:effectLst/>
                <a:uLnTx/>
                <a:uFillTx/>
              </a:rPr>
              <a:t>Identify sectors exhibiting abnormal B2C ratios, revenue growth lag, and GST-to-GSDP gaps.</a:t>
            </a:r>
            <a:endParaRPr kumimoji="0" sz="11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rPr>
              <a:t>• </a:t>
            </a:r>
            <a:r>
              <a:rPr kumimoji="0" sz="1200" b="1" i="0" u="none" strike="noStrike" kern="0" cap="none" spc="0" normalizeH="0" baseline="0" noProof="0" dirty="0">
                <a:ln>
                  <a:noFill/>
                </a:ln>
                <a:solidFill>
                  <a:sysClr val="windowText" lastClr="000000"/>
                </a:solidFill>
                <a:effectLst/>
                <a:uLnTx/>
                <a:uFillTx/>
              </a:rPr>
              <a:t>Focus: </a:t>
            </a:r>
            <a:r>
              <a:rPr kumimoji="0" lang="en-US" sz="1200" b="0" i="0" u="none" strike="noStrike" kern="0" cap="none" spc="0" normalizeH="0" baseline="0" noProof="0" dirty="0">
                <a:ln>
                  <a:noFill/>
                </a:ln>
                <a:solidFill>
                  <a:sysClr val="windowText" lastClr="000000"/>
                </a:solidFill>
                <a:effectLst/>
                <a:uLnTx/>
                <a:uFillTx/>
              </a:rPr>
              <a:t>Automobile and spare parts, Electrical machinery, Finance and banking, construction, Iron steel, Support services.</a:t>
            </a:r>
            <a:endParaRPr kumimoji="0" sz="1800" b="0" i="0" u="none" strike="noStrike" kern="0" cap="none" spc="0" normalizeH="0" baseline="0" noProof="0" dirty="0">
              <a:ln>
                <a:noFill/>
              </a:ln>
              <a:solidFill>
                <a:sysClr val="windowText" lastClr="000000"/>
              </a:solidFill>
              <a:effectLst/>
              <a:uLnTx/>
              <a:uFillTx/>
            </a:endParaRPr>
          </a:p>
        </p:txBody>
      </p:sp>
      <p:sp>
        <p:nvSpPr>
          <p:cNvPr id="50" name="Rounded Rectangle 8">
            <a:extLst>
              <a:ext uri="{FF2B5EF4-FFF2-40B4-BE49-F238E27FC236}">
                <a16:creationId xmlns:a16="http://schemas.microsoft.com/office/drawing/2014/main" id="{B676988A-2F7C-4C48-F5C2-B9B83C392C5A}"/>
              </a:ext>
            </a:extLst>
          </p:cNvPr>
          <p:cNvSpPr/>
          <p:nvPr/>
        </p:nvSpPr>
        <p:spPr>
          <a:xfrm>
            <a:off x="2414995" y="937386"/>
            <a:ext cx="2103120" cy="3108960"/>
          </a:xfrm>
          <a:prstGeom prst="roundRect">
            <a:avLst/>
          </a:prstGeom>
          <a:solidFill>
            <a:schemeClr val="accent6">
              <a:lumMod val="20000"/>
              <a:lumOff val="80000"/>
            </a:schemeClr>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1" name="TextBox 50">
            <a:extLst>
              <a:ext uri="{FF2B5EF4-FFF2-40B4-BE49-F238E27FC236}">
                <a16:creationId xmlns:a16="http://schemas.microsoft.com/office/drawing/2014/main" id="{91FC7A62-C141-67A9-ED50-107D4CB0CFCF}"/>
              </a:ext>
            </a:extLst>
          </p:cNvPr>
          <p:cNvSpPr txBox="1"/>
          <p:nvPr/>
        </p:nvSpPr>
        <p:spPr>
          <a:xfrm>
            <a:off x="2460715" y="1028826"/>
            <a:ext cx="1814920" cy="523220"/>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sz="1400" b="1"/>
            </a:pPr>
            <a:r>
              <a:rPr kumimoji="0" sz="1400" b="1" i="0" u="none" strike="noStrike" kern="0" cap="none" spc="0" normalizeH="0" baseline="0" noProof="0" dirty="0">
                <a:ln>
                  <a:noFill/>
                </a:ln>
                <a:solidFill>
                  <a:sysClr val="windowText" lastClr="000000"/>
                </a:solidFill>
                <a:effectLst/>
                <a:uLnTx/>
                <a:uFillTx/>
              </a:rPr>
              <a:t>2. Analytics-Based</a:t>
            </a:r>
          </a:p>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rPr>
              <a:t>Taxpayer Selection</a:t>
            </a:r>
          </a:p>
        </p:txBody>
      </p:sp>
      <p:sp>
        <p:nvSpPr>
          <p:cNvPr id="52" name="TextBox 51">
            <a:extLst>
              <a:ext uri="{FF2B5EF4-FFF2-40B4-BE49-F238E27FC236}">
                <a16:creationId xmlns:a16="http://schemas.microsoft.com/office/drawing/2014/main" id="{B97D3031-1EBF-8605-DEE4-8517B9EE5C9D}"/>
              </a:ext>
            </a:extLst>
          </p:cNvPr>
          <p:cNvSpPr txBox="1"/>
          <p:nvPr/>
        </p:nvSpPr>
        <p:spPr>
          <a:xfrm>
            <a:off x="2460715" y="1577466"/>
            <a:ext cx="2057400" cy="2077492"/>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sz="1100"/>
            </a:pPr>
            <a:r>
              <a:rPr kumimoji="0" sz="1100" b="0" i="0" u="none" strike="noStrike" kern="0" cap="none" spc="0" normalizeH="0" baseline="0" noProof="0" dirty="0">
                <a:ln>
                  <a:noFill/>
                </a:ln>
                <a:solidFill>
                  <a:sysClr val="windowText" lastClr="000000"/>
                </a:solidFill>
                <a:effectLst/>
                <a:uLnTx/>
                <a:uFillTx/>
              </a:rPr>
              <a:t>• </a:t>
            </a:r>
            <a:r>
              <a:rPr kumimoji="0" lang="en-US" sz="1100" b="0" i="0" u="none" strike="noStrike" kern="0" cap="none" spc="0" normalizeH="0" baseline="0" noProof="0" dirty="0">
                <a:ln>
                  <a:noFill/>
                </a:ln>
                <a:solidFill>
                  <a:sysClr val="windowText" lastClr="000000"/>
                </a:solidFill>
                <a:effectLst/>
                <a:uLnTx/>
                <a:uFillTx/>
              </a:rPr>
              <a:t>Identify sector-specific outliers through B2C ratio analysis.</a:t>
            </a:r>
            <a:endParaRPr kumimoji="0" sz="11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sz="1800" b="0" i="0" u="none" strike="noStrike" kern="0" cap="none" spc="0" normalizeH="0" baseline="0" noProof="0" dirty="0">
                <a:ln>
                  <a:noFill/>
                </a:ln>
                <a:solidFill>
                  <a:sysClr val="windowText" lastClr="000000"/>
                </a:solidFill>
                <a:effectLst/>
                <a:uLnTx/>
                <a:uFillTx/>
              </a:rPr>
              <a:t>• </a:t>
            </a:r>
            <a:r>
              <a:rPr kumimoji="0" lang="en-US" sz="1200" b="1" i="0" u="none" strike="noStrike" kern="0" cap="none" spc="0" normalizeH="0" baseline="0" noProof="0" dirty="0">
                <a:ln>
                  <a:noFill/>
                </a:ln>
                <a:solidFill>
                  <a:sysClr val="windowText" lastClr="000000"/>
                </a:solidFill>
                <a:effectLst/>
                <a:uLnTx/>
                <a:uFillTx/>
              </a:rPr>
              <a:t>Detect taxpayers showing</a:t>
            </a:r>
            <a:br>
              <a:rPr kumimoji="0" lang="en-US" sz="1100" b="0" i="0" u="none" strike="noStrike" kern="0" cap="none" spc="0" normalizeH="0" baseline="0" noProof="0" dirty="0">
                <a:ln>
                  <a:noFill/>
                </a:ln>
                <a:solidFill>
                  <a:sysClr val="windowText" lastClr="000000"/>
                </a:solidFill>
                <a:effectLst/>
                <a:uLnTx/>
                <a:uFillTx/>
              </a:rPr>
            </a:br>
            <a:r>
              <a:rPr kumimoji="0" lang="en-US" sz="1100" b="0" i="0" u="none" strike="noStrike" kern="0" cap="none" spc="0" normalizeH="0" baseline="0" noProof="0" dirty="0">
                <a:ln>
                  <a:noFill/>
                </a:ln>
                <a:solidFill>
                  <a:sysClr val="windowText" lastClr="000000"/>
                </a:solidFill>
                <a:effectLst/>
                <a:uLnTx/>
                <a:uFillTx/>
              </a:rPr>
              <a:t>- B2C Ratio analysis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rPr>
              <a:t>- Peer band comparison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rPr>
              <a:t>- Cash Payment anomalies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rPr>
              <a:t>- Revenue growth deviations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sysClr val="windowText" lastClr="000000"/>
                </a:solidFill>
                <a:effectLst/>
                <a:uLnTx/>
                <a:uFillTx/>
              </a:rPr>
              <a:t>- E-way bill vs Revenue mismatch</a:t>
            </a:r>
          </a:p>
        </p:txBody>
      </p:sp>
      <p:sp>
        <p:nvSpPr>
          <p:cNvPr id="53" name="Rounded Rectangle 11">
            <a:extLst>
              <a:ext uri="{FF2B5EF4-FFF2-40B4-BE49-F238E27FC236}">
                <a16:creationId xmlns:a16="http://schemas.microsoft.com/office/drawing/2014/main" id="{AC6CF72E-861A-F086-A0B7-598B1D39542B}"/>
              </a:ext>
            </a:extLst>
          </p:cNvPr>
          <p:cNvSpPr/>
          <p:nvPr/>
        </p:nvSpPr>
        <p:spPr>
          <a:xfrm>
            <a:off x="4655275" y="937386"/>
            <a:ext cx="2103120" cy="3108960"/>
          </a:xfrm>
          <a:prstGeom prst="roundRect">
            <a:avLst/>
          </a:prstGeom>
          <a:solidFill>
            <a:schemeClr val="accent6">
              <a:lumMod val="20000"/>
              <a:lumOff val="80000"/>
            </a:schemeClr>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4" name="TextBox 53">
            <a:extLst>
              <a:ext uri="{FF2B5EF4-FFF2-40B4-BE49-F238E27FC236}">
                <a16:creationId xmlns:a16="http://schemas.microsoft.com/office/drawing/2014/main" id="{9E537E0A-643F-DDED-D1FE-3A3384D8D4C5}"/>
              </a:ext>
            </a:extLst>
          </p:cNvPr>
          <p:cNvSpPr txBox="1"/>
          <p:nvPr/>
        </p:nvSpPr>
        <p:spPr>
          <a:xfrm>
            <a:off x="4700995" y="1028826"/>
            <a:ext cx="1556836" cy="523220"/>
          </a:xfrm>
          <a:prstGeom prst="rect">
            <a:avLst/>
          </a:prstGeom>
          <a:no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sz="1400" b="1"/>
            </a:pPr>
            <a:r>
              <a:rPr kumimoji="0" sz="1400" b="1" i="0" u="none" strike="noStrike" kern="0" cap="none" spc="0" normalizeH="0" baseline="0" noProof="0" dirty="0">
                <a:ln>
                  <a:noFill/>
                </a:ln>
                <a:solidFill>
                  <a:sysClr val="windowText" lastClr="000000"/>
                </a:solidFill>
                <a:effectLst/>
                <a:uLnTx/>
                <a:uFillTx/>
              </a:rPr>
              <a:t>3. Theme-Based</a:t>
            </a:r>
          </a:p>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rPr>
              <a:t>Special Drives</a:t>
            </a:r>
          </a:p>
        </p:txBody>
      </p:sp>
      <p:sp>
        <p:nvSpPr>
          <p:cNvPr id="55" name="TextBox 54">
            <a:extLst>
              <a:ext uri="{FF2B5EF4-FFF2-40B4-BE49-F238E27FC236}">
                <a16:creationId xmlns:a16="http://schemas.microsoft.com/office/drawing/2014/main" id="{B0A9C7CF-2159-373D-D56D-F64031CA9251}"/>
              </a:ext>
            </a:extLst>
          </p:cNvPr>
          <p:cNvSpPr txBox="1"/>
          <p:nvPr/>
        </p:nvSpPr>
        <p:spPr>
          <a:xfrm>
            <a:off x="4700995" y="1577466"/>
            <a:ext cx="2057400" cy="2123658"/>
          </a:xfrm>
          <a:prstGeom prst="rect">
            <a:avLst/>
          </a:prstGeom>
          <a:noFill/>
        </p:spPr>
        <p:txBody>
          <a:bodyPr wrap="square">
            <a:spAutoFit/>
          </a:bodyPr>
          <a:lstStyle/>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ysClr val="windowText" lastClr="000000"/>
                </a:solidFill>
                <a:effectLst/>
                <a:uLnTx/>
                <a:uFillTx/>
              </a:rPr>
              <a:t>Area Specific campaigns:</a:t>
            </a:r>
            <a:br>
              <a:rPr kumimoji="0" lang="en-US" sz="1100" b="0" i="0" u="none" strike="noStrike" kern="0" cap="none" spc="0" normalizeH="0" baseline="0" noProof="0" dirty="0">
                <a:ln>
                  <a:noFill/>
                </a:ln>
                <a:solidFill>
                  <a:sysClr val="windowText" lastClr="000000"/>
                </a:solidFill>
                <a:effectLst/>
                <a:uLnTx/>
                <a:uFillTx/>
              </a:rPr>
            </a:br>
            <a:r>
              <a:rPr kumimoji="0" lang="en-US" sz="1100" b="0" i="0" u="none" strike="noStrike" kern="0" cap="none" spc="0" normalizeH="0" baseline="0" noProof="0" dirty="0">
                <a:ln>
                  <a:noFill/>
                </a:ln>
                <a:solidFill>
                  <a:sysClr val="windowText" lastClr="000000"/>
                </a:solidFill>
                <a:effectLst/>
                <a:uLnTx/>
                <a:uFillTx/>
              </a:rPr>
              <a:t>- Kishangarh </a:t>
            </a:r>
            <a:r>
              <a:rPr kumimoji="0" lang="en-US" sz="1100" b="0" i="0" u="none" strike="noStrike" kern="0" cap="none" spc="0" normalizeH="0" baseline="0" noProof="0" dirty="0" err="1">
                <a:ln>
                  <a:noFill/>
                </a:ln>
                <a:solidFill>
                  <a:sysClr val="windowText" lastClr="000000"/>
                </a:solidFill>
                <a:effectLst/>
                <a:uLnTx/>
                <a:uFillTx/>
              </a:rPr>
              <a:t>makrana</a:t>
            </a:r>
            <a:r>
              <a:rPr kumimoji="0" lang="en-US" sz="1100" b="0" i="0" u="none" strike="noStrike" kern="0" cap="none" spc="0" normalizeH="0" baseline="0" noProof="0" dirty="0">
                <a:ln>
                  <a:noFill/>
                </a:ln>
                <a:solidFill>
                  <a:sysClr val="windowText" lastClr="000000"/>
                </a:solidFill>
                <a:effectLst/>
                <a:uLnTx/>
                <a:uFillTx/>
              </a:rPr>
              <a:t> marble belt, Major commercial hubs </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dirty="0">
                <a:ln>
                  <a:noFill/>
                </a:ln>
                <a:solidFill>
                  <a:sysClr val="windowText" lastClr="000000"/>
                </a:solidFill>
                <a:effectLst/>
                <a:uLnTx/>
                <a:uFillTx/>
              </a:rPr>
              <a:t>Focused campaigns in high-risk sectors - Marble &amp; </a:t>
            </a:r>
            <a:r>
              <a:rPr kumimoji="0" lang="en-US" sz="1100" b="0" i="0" u="none" strike="noStrike" kern="0" cap="none" spc="0" normalizeH="0" baseline="0" noProof="0" dirty="0" err="1">
                <a:ln>
                  <a:noFill/>
                </a:ln>
                <a:solidFill>
                  <a:sysClr val="windowText" lastClr="000000"/>
                </a:solidFill>
                <a:effectLst/>
                <a:uLnTx/>
                <a:uFillTx/>
              </a:rPr>
              <a:t>Stone,Tobacco</a:t>
            </a:r>
            <a:r>
              <a:rPr kumimoji="0" lang="en-US" sz="1100" b="0" i="0" u="none" strike="noStrike" kern="0" cap="none" spc="0" normalizeH="0" baseline="0" noProof="0" dirty="0">
                <a:ln>
                  <a:noFill/>
                </a:ln>
                <a:solidFill>
                  <a:sysClr val="windowText" lastClr="000000"/>
                </a:solidFill>
                <a:effectLst/>
                <a:uLnTx/>
                <a:uFillTx/>
              </a:rPr>
              <a:t> Products, Timber &amp; Plywood, Hotels &amp; Tourism, Restaurants &amp; Banquets, </a:t>
            </a:r>
            <a:r>
              <a:rPr kumimoji="0" lang="en-US" sz="1100" b="0" i="0" u="none" strike="noStrike" kern="0" cap="none" spc="0" normalizeH="0" baseline="0" noProof="0" dirty="0" err="1">
                <a:ln>
                  <a:noFill/>
                </a:ln>
                <a:solidFill>
                  <a:sysClr val="windowText" lastClr="000000"/>
                </a:solidFill>
                <a:effectLst/>
                <a:uLnTx/>
                <a:uFillTx/>
              </a:rPr>
              <a:t>Jewellery</a:t>
            </a:r>
            <a:r>
              <a:rPr kumimoji="0" lang="en-US" sz="1100" b="0" i="0" u="none" strike="noStrike" kern="0" cap="none" spc="0" normalizeH="0" baseline="0" noProof="0" dirty="0">
                <a:ln>
                  <a:noFill/>
                </a:ln>
                <a:solidFill>
                  <a:sysClr val="windowText" lastClr="000000"/>
                </a:solidFill>
                <a:effectLst/>
                <a:uLnTx/>
                <a:uFillTx/>
              </a:rPr>
              <a:t> &amp; Textile Trade</a:t>
            </a:r>
          </a:p>
          <a:p>
            <a:pPr marL="171450" marR="0" lvl="0" indent="-171450" defTabSz="914400" eaLnBrk="1" fontAlgn="auto" latinLnBrk="0" hangingPunct="1">
              <a:lnSpc>
                <a:spcPct val="100000"/>
              </a:lnSpc>
              <a:spcBef>
                <a:spcPts val="0"/>
              </a:spcBef>
              <a:spcAft>
                <a:spcPts val="0"/>
              </a:spcAft>
              <a:buClrTx/>
              <a:buSzTx/>
              <a:buFontTx/>
              <a:buChar char="-"/>
              <a:tabLst/>
              <a:defRPr/>
            </a:pPr>
            <a:endParaRPr kumimoji="0" sz="1100" b="0" i="0" u="none" strike="noStrike" kern="0" cap="none" spc="0" normalizeH="0" baseline="0" noProof="0" dirty="0">
              <a:ln>
                <a:noFill/>
              </a:ln>
              <a:solidFill>
                <a:sysClr val="windowText" lastClr="000000"/>
              </a:solidFill>
              <a:effectLst/>
              <a:uLnTx/>
              <a:uFillTx/>
            </a:endParaRPr>
          </a:p>
        </p:txBody>
      </p:sp>
      <p:sp>
        <p:nvSpPr>
          <p:cNvPr id="56" name="Rounded Rectangle 14">
            <a:extLst>
              <a:ext uri="{FF2B5EF4-FFF2-40B4-BE49-F238E27FC236}">
                <a16:creationId xmlns:a16="http://schemas.microsoft.com/office/drawing/2014/main" id="{A1CDFA6C-79F9-4AB4-DC1C-034A8FE22098}"/>
              </a:ext>
            </a:extLst>
          </p:cNvPr>
          <p:cNvSpPr/>
          <p:nvPr/>
        </p:nvSpPr>
        <p:spPr>
          <a:xfrm>
            <a:off x="6895555" y="937386"/>
            <a:ext cx="2103120" cy="3108960"/>
          </a:xfrm>
          <a:prstGeom prst="roundRect">
            <a:avLst/>
          </a:prstGeom>
          <a:solidFill>
            <a:schemeClr val="accent6">
              <a:lumMod val="20000"/>
              <a:lumOff val="80000"/>
            </a:schemeClr>
          </a:solidFill>
          <a:ln>
            <a:solidFill>
              <a:srgbClr val="B4B4B4"/>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57" name="TextBox 56">
            <a:extLst>
              <a:ext uri="{FF2B5EF4-FFF2-40B4-BE49-F238E27FC236}">
                <a16:creationId xmlns:a16="http://schemas.microsoft.com/office/drawing/2014/main" id="{BE1FD19A-3AE8-5555-529F-6002D7FA163F}"/>
              </a:ext>
            </a:extLst>
          </p:cNvPr>
          <p:cNvSpPr txBox="1"/>
          <p:nvPr/>
        </p:nvSpPr>
        <p:spPr>
          <a:xfrm>
            <a:off x="6941275" y="1028826"/>
            <a:ext cx="1965960" cy="73866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sz="1400" b="1"/>
            </a:pPr>
            <a:r>
              <a:rPr kumimoji="0" sz="1400" b="1" i="0" u="none" strike="noStrike" kern="0" cap="none" spc="0" normalizeH="0" baseline="0" noProof="0" dirty="0">
                <a:ln>
                  <a:noFill/>
                </a:ln>
                <a:solidFill>
                  <a:sysClr val="windowText" lastClr="000000"/>
                </a:solidFill>
                <a:effectLst/>
                <a:uLnTx/>
                <a:uFillTx/>
              </a:rPr>
              <a:t>4. Intelligence &amp;</a:t>
            </a:r>
          </a:p>
          <a:p>
            <a:pPr marL="0" marR="0" lvl="0" indent="0" defTabSz="914400" eaLnBrk="1" fontAlgn="auto" latinLnBrk="0" hangingPunct="1">
              <a:lnSpc>
                <a:spcPct val="100000"/>
              </a:lnSpc>
              <a:spcBef>
                <a:spcPts val="0"/>
              </a:spcBef>
              <a:spcAft>
                <a:spcPts val="0"/>
              </a:spcAft>
              <a:buClrTx/>
              <a:buSzTx/>
              <a:buFontTx/>
              <a:buNone/>
              <a:tabLst/>
              <a:defRPr/>
            </a:pPr>
            <a:r>
              <a:rPr kumimoji="0" sz="1400" b="1" i="0" u="none" strike="noStrike" kern="0" cap="none" spc="0" normalizeH="0" baseline="0" noProof="0" dirty="0">
                <a:ln>
                  <a:noFill/>
                </a:ln>
                <a:solidFill>
                  <a:sysClr val="windowText" lastClr="000000"/>
                </a:solidFill>
                <a:effectLst/>
                <a:uLnTx/>
                <a:uFillTx/>
              </a:rPr>
              <a:t>Inter-Agency Coordination</a:t>
            </a:r>
          </a:p>
        </p:txBody>
      </p:sp>
      <p:sp>
        <p:nvSpPr>
          <p:cNvPr id="58" name="TextBox 57">
            <a:extLst>
              <a:ext uri="{FF2B5EF4-FFF2-40B4-BE49-F238E27FC236}">
                <a16:creationId xmlns:a16="http://schemas.microsoft.com/office/drawing/2014/main" id="{563B9154-0FE4-A6D2-820A-8E8EA2D8E5AE}"/>
              </a:ext>
            </a:extLst>
          </p:cNvPr>
          <p:cNvSpPr txBox="1"/>
          <p:nvPr/>
        </p:nvSpPr>
        <p:spPr>
          <a:xfrm>
            <a:off x="6941275" y="1704466"/>
            <a:ext cx="1908810" cy="195438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sz="1100"/>
            </a:pPr>
            <a:r>
              <a:rPr kumimoji="0" sz="1100" b="0" i="0" u="none" strike="noStrike" kern="0" cap="none" spc="0" normalizeH="0" baseline="0" noProof="0" dirty="0">
                <a:ln>
                  <a:noFill/>
                </a:ln>
                <a:solidFill>
                  <a:sysClr val="windowText" lastClr="000000"/>
                </a:solidFill>
                <a:effectLst/>
                <a:uLnTx/>
                <a:uFillTx/>
              </a:rPr>
              <a:t>• Strengthen </a:t>
            </a:r>
            <a:r>
              <a:rPr kumimoji="0" lang="en-US" sz="1100" b="0" i="0" u="none" strike="noStrike" kern="0" cap="none" spc="0" normalizeH="0" baseline="0" noProof="0" dirty="0">
                <a:ln>
                  <a:noFill/>
                </a:ln>
                <a:solidFill>
                  <a:sysClr val="windowText" lastClr="000000"/>
                </a:solidFill>
                <a:effectLst/>
                <a:uLnTx/>
                <a:uFillTx/>
              </a:rPr>
              <a:t>Human Intelligence inputs</a:t>
            </a:r>
            <a:endParaRPr kumimoji="0" sz="11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ysClr val="windowText" lastClr="000000"/>
                </a:solidFill>
                <a:effectLst/>
                <a:uLnTx/>
                <a:uFillTx/>
              </a:rPr>
              <a:t>• </a:t>
            </a:r>
            <a:r>
              <a:rPr kumimoji="0" lang="en-US" sz="1100" b="0" i="0" u="none" strike="noStrike" kern="0" cap="none" spc="0" normalizeH="0" baseline="0" noProof="0" dirty="0">
                <a:ln>
                  <a:noFill/>
                </a:ln>
                <a:solidFill>
                  <a:sysClr val="windowText" lastClr="000000"/>
                </a:solidFill>
                <a:effectLst/>
                <a:uLnTx/>
                <a:uFillTx/>
              </a:rPr>
              <a:t>Market surveys and f</a:t>
            </a:r>
            <a:r>
              <a:rPr kumimoji="0" sz="1100" b="0" i="0" u="none" strike="noStrike" kern="0" cap="none" spc="0" normalizeH="0" baseline="0" noProof="0" dirty="0">
                <a:ln>
                  <a:noFill/>
                </a:ln>
                <a:solidFill>
                  <a:sysClr val="windowText" lastClr="000000"/>
                </a:solidFill>
                <a:effectLst/>
                <a:uLnTx/>
                <a:uFillTx/>
              </a:rPr>
              <a:t>ield verification</a:t>
            </a:r>
          </a:p>
          <a:p>
            <a:pPr marL="0" marR="0" lvl="0" indent="0" defTabSz="91440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ysClr val="windowText" lastClr="000000"/>
                </a:solidFill>
                <a:effectLst/>
                <a:uLnTx/>
                <a:uFillTx/>
              </a:rPr>
              <a:t>• </a:t>
            </a:r>
            <a:r>
              <a:rPr kumimoji="0" lang="en-US" sz="1100" b="0" i="0" u="none" strike="noStrike" kern="0" cap="none" spc="0" normalizeH="0" baseline="0" noProof="0" dirty="0">
                <a:ln>
                  <a:noFill/>
                </a:ln>
                <a:solidFill>
                  <a:sysClr val="windowText" lastClr="000000"/>
                </a:solidFill>
                <a:effectLst/>
                <a:uLnTx/>
                <a:uFillTx/>
              </a:rPr>
              <a:t>C</a:t>
            </a:r>
            <a:r>
              <a:rPr kumimoji="0" sz="1100" b="0" i="0" u="none" strike="noStrike" kern="0" cap="none" spc="0" normalizeH="0" baseline="0" noProof="0" dirty="0">
                <a:ln>
                  <a:noFill/>
                </a:ln>
                <a:solidFill>
                  <a:sysClr val="windowText" lastClr="000000"/>
                </a:solidFill>
                <a:effectLst/>
                <a:uLnTx/>
                <a:uFillTx/>
              </a:rPr>
              <a:t>oordination</a:t>
            </a:r>
            <a:r>
              <a:rPr kumimoji="0" lang="en-US" sz="1100" b="0" i="0" u="none" strike="noStrike" kern="0" cap="none" spc="0" normalizeH="0" baseline="0" noProof="0" dirty="0">
                <a:ln>
                  <a:noFill/>
                </a:ln>
                <a:solidFill>
                  <a:sysClr val="windowText" lastClr="000000"/>
                </a:solidFill>
                <a:effectLst/>
                <a:uLnTx/>
                <a:uFillTx/>
              </a:rPr>
              <a:t> with CBIC/ DGCI for interstate fraud networks.</a:t>
            </a:r>
            <a:endParaRPr kumimoji="0" sz="11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sz="1100" b="0" i="0" u="none" strike="noStrike" kern="0" cap="none" spc="0" normalizeH="0" baseline="0" noProof="0" dirty="0">
                <a:ln>
                  <a:noFill/>
                </a:ln>
                <a:solidFill>
                  <a:sysClr val="windowText" lastClr="000000"/>
                </a:solidFill>
                <a:effectLst/>
                <a:uLnTx/>
                <a:uFillTx/>
              </a:rPr>
              <a:t>• Aadhaar e-KYC verification</a:t>
            </a:r>
            <a:r>
              <a:rPr kumimoji="0" lang="en-US" sz="1100" b="0" i="0" u="none" strike="noStrike" kern="0" cap="none" spc="0" normalizeH="0" baseline="0" noProof="0" dirty="0">
                <a:ln>
                  <a:noFill/>
                </a:ln>
                <a:solidFill>
                  <a:sysClr val="windowText" lastClr="000000"/>
                </a:solidFill>
                <a:effectLst/>
                <a:uLnTx/>
                <a:uFillTx/>
              </a:rPr>
              <a:t> for high risk taxpayers</a:t>
            </a:r>
            <a:br>
              <a:rPr kumimoji="0" lang="en-US" sz="1100" b="0" i="0" u="none" strike="noStrike" kern="0" cap="none" spc="0" normalizeH="0" baseline="0" noProof="0" dirty="0">
                <a:ln>
                  <a:noFill/>
                </a:ln>
                <a:solidFill>
                  <a:sysClr val="windowText" lastClr="000000"/>
                </a:solidFill>
                <a:effectLst/>
                <a:uLnTx/>
                <a:uFillTx/>
              </a:rPr>
            </a:br>
            <a:endParaRPr kumimoji="0" sz="1100" b="0" i="0" u="none" strike="noStrike" kern="0" cap="none" spc="0" normalizeH="0" baseline="0" noProof="0" dirty="0">
              <a:ln>
                <a:noFill/>
              </a:ln>
              <a:solidFill>
                <a:sysClr val="windowText" lastClr="000000"/>
              </a:solidFill>
              <a:effectLst/>
              <a:uLnTx/>
              <a:uFillTx/>
            </a:endParaRPr>
          </a:p>
        </p:txBody>
      </p:sp>
      <p:sp>
        <p:nvSpPr>
          <p:cNvPr id="59" name="Rounded Rectangle 17">
            <a:extLst>
              <a:ext uri="{FF2B5EF4-FFF2-40B4-BE49-F238E27FC236}">
                <a16:creationId xmlns:a16="http://schemas.microsoft.com/office/drawing/2014/main" id="{8B8BCF32-E375-0FD7-9BAF-0998F07546D5}"/>
              </a:ext>
            </a:extLst>
          </p:cNvPr>
          <p:cNvSpPr/>
          <p:nvPr/>
        </p:nvSpPr>
        <p:spPr>
          <a:xfrm>
            <a:off x="174715" y="4114454"/>
            <a:ext cx="4389120" cy="932412"/>
          </a:xfrm>
          <a:prstGeom prst="roundRect">
            <a:avLst/>
          </a:prstGeom>
          <a:solidFill>
            <a:schemeClr val="accent3">
              <a:lumMod val="20000"/>
              <a:lumOff val="80000"/>
            </a:schemeClr>
          </a:solidFill>
          <a:ln>
            <a:solidFill>
              <a:srgbClr val="082A5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Rounded Rectangle 19">
            <a:extLst>
              <a:ext uri="{FF2B5EF4-FFF2-40B4-BE49-F238E27FC236}">
                <a16:creationId xmlns:a16="http://schemas.microsoft.com/office/drawing/2014/main" id="{11C2F87F-14D5-258C-391E-3E1B78C49A5D}"/>
              </a:ext>
            </a:extLst>
          </p:cNvPr>
          <p:cNvSpPr/>
          <p:nvPr/>
        </p:nvSpPr>
        <p:spPr>
          <a:xfrm>
            <a:off x="4746715" y="4082555"/>
            <a:ext cx="4389120" cy="899219"/>
          </a:xfrm>
          <a:prstGeom prst="roundRect">
            <a:avLst/>
          </a:prstGeom>
          <a:solidFill>
            <a:schemeClr val="accent3">
              <a:lumMod val="20000"/>
              <a:lumOff val="80000"/>
            </a:schemeClr>
          </a:solidFill>
          <a:ln>
            <a:solidFill>
              <a:srgbClr val="1E783C"/>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mn-ea"/>
              <a:cs typeface="+mn-cs"/>
            </a:endParaRPr>
          </a:p>
        </p:txBody>
      </p:sp>
      <p:sp>
        <p:nvSpPr>
          <p:cNvPr id="61" name="TextBox 60">
            <a:extLst>
              <a:ext uri="{FF2B5EF4-FFF2-40B4-BE49-F238E27FC236}">
                <a16:creationId xmlns:a16="http://schemas.microsoft.com/office/drawing/2014/main" id="{7000290F-EBFE-963D-4E2A-E9B7FED01938}"/>
              </a:ext>
            </a:extLst>
          </p:cNvPr>
          <p:cNvSpPr txBox="1"/>
          <p:nvPr/>
        </p:nvSpPr>
        <p:spPr>
          <a:xfrm>
            <a:off x="4799375" y="4145932"/>
            <a:ext cx="2433232" cy="86177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b="1"/>
            </a:pPr>
            <a:r>
              <a:rPr kumimoji="0" sz="1400" b="1" i="0" u="none" strike="noStrike" kern="0" cap="none" spc="0" normalizeH="0" baseline="0" noProof="0" dirty="0">
                <a:ln>
                  <a:noFill/>
                </a:ln>
                <a:solidFill>
                  <a:sysClr val="windowText" lastClr="000000"/>
                </a:solidFill>
                <a:effectLst/>
                <a:uLnTx/>
                <a:uFillTx/>
              </a:rPr>
              <a:t>EXPECTED OUTCOME</a:t>
            </a:r>
            <a:endParaRPr kumimoji="0" sz="1800" b="1"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Identification of sectoral outliers</a:t>
            </a:r>
          </a:p>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Improved detection of suppression and fake invoicing</a:t>
            </a:r>
            <a:r>
              <a:rPr kumimoji="0" lang="en-US" sz="1200" b="0" i="0" u="none" strike="noStrike" kern="0" cap="none" spc="0" normalizeH="0" baseline="0" noProof="0" dirty="0">
                <a:ln>
                  <a:noFill/>
                </a:ln>
                <a:solidFill>
                  <a:sysClr val="windowText" lastClr="000000"/>
                </a:solidFill>
                <a:effectLst/>
                <a:uLnTx/>
                <a:uFillTx/>
              </a:rPr>
              <a:t>.</a:t>
            </a:r>
            <a:endParaRPr kumimoji="0" sz="1200" b="0" i="0" u="none" strike="noStrike" kern="0" cap="none" spc="0" normalizeH="0" baseline="0" noProof="0" dirty="0">
              <a:ln>
                <a:noFill/>
              </a:ln>
              <a:solidFill>
                <a:sysClr val="windowText" lastClr="000000"/>
              </a:solidFill>
              <a:effectLst/>
              <a:uLnTx/>
              <a:uFillTx/>
            </a:endParaRPr>
          </a:p>
        </p:txBody>
      </p:sp>
      <p:sp>
        <p:nvSpPr>
          <p:cNvPr id="62" name="TextBox 61">
            <a:extLst>
              <a:ext uri="{FF2B5EF4-FFF2-40B4-BE49-F238E27FC236}">
                <a16:creationId xmlns:a16="http://schemas.microsoft.com/office/drawing/2014/main" id="{3F43D607-25EA-983E-CBEA-0980CD4FA3DB}"/>
              </a:ext>
            </a:extLst>
          </p:cNvPr>
          <p:cNvSpPr txBox="1"/>
          <p:nvPr/>
        </p:nvSpPr>
        <p:spPr>
          <a:xfrm>
            <a:off x="174715" y="4147345"/>
            <a:ext cx="4480560" cy="30777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b="1"/>
            </a:pPr>
            <a:r>
              <a:rPr kumimoji="0" sz="1400" b="1" i="0" u="none" strike="noStrike" kern="0" cap="none" spc="0" normalizeH="0" baseline="0" noProof="0">
                <a:ln>
                  <a:noFill/>
                </a:ln>
                <a:solidFill>
                  <a:sysClr val="windowText" lastClr="000000"/>
                </a:solidFill>
                <a:effectLst/>
                <a:uLnTx/>
                <a:uFillTx/>
              </a:rPr>
              <a:t>ADDRESSES FOLLOWING DIAGNOSTIC POINTS</a:t>
            </a:r>
          </a:p>
        </p:txBody>
      </p:sp>
      <p:sp>
        <p:nvSpPr>
          <p:cNvPr id="63" name="TextBox 62">
            <a:extLst>
              <a:ext uri="{FF2B5EF4-FFF2-40B4-BE49-F238E27FC236}">
                <a16:creationId xmlns:a16="http://schemas.microsoft.com/office/drawing/2014/main" id="{61F89C2A-079F-2782-E285-DA6B724467C4}"/>
              </a:ext>
            </a:extLst>
          </p:cNvPr>
          <p:cNvSpPr txBox="1"/>
          <p:nvPr/>
        </p:nvSpPr>
        <p:spPr>
          <a:xfrm>
            <a:off x="128995" y="4432642"/>
            <a:ext cx="2286000" cy="587574"/>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B2C Ratio Anomaly</a:t>
            </a:r>
          </a:p>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Peer Band Deviation</a:t>
            </a:r>
          </a:p>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Cash Payment Anomaly</a:t>
            </a:r>
          </a:p>
        </p:txBody>
      </p:sp>
      <p:sp>
        <p:nvSpPr>
          <p:cNvPr id="64" name="TextBox 63">
            <a:extLst>
              <a:ext uri="{FF2B5EF4-FFF2-40B4-BE49-F238E27FC236}">
                <a16:creationId xmlns:a16="http://schemas.microsoft.com/office/drawing/2014/main" id="{E4DE9E34-1D1E-7F25-488A-132338140CA8}"/>
              </a:ext>
            </a:extLst>
          </p:cNvPr>
          <p:cNvSpPr txBox="1"/>
          <p:nvPr/>
        </p:nvSpPr>
        <p:spPr>
          <a:xfrm>
            <a:off x="2225175" y="4403264"/>
            <a:ext cx="2286000" cy="830997"/>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 Revenue vs GSDP Gap</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rPr>
              <a:t>• e-Way Bill vs Revenue Mismatch</a:t>
            </a:r>
          </a:p>
          <a:p>
            <a:pPr marL="0" marR="0" lvl="0" indent="0" defTabSz="914400" eaLnBrk="1" fontAlgn="auto" latinLnBrk="0" hangingPunct="1">
              <a:lnSpc>
                <a:spcPct val="100000"/>
              </a:lnSpc>
              <a:spcBef>
                <a:spcPts val="0"/>
              </a:spcBef>
              <a:spcAft>
                <a:spcPts val="0"/>
              </a:spcAft>
              <a:buClrTx/>
              <a:buSzTx/>
              <a:buFontTx/>
              <a:buNone/>
              <a:tabLst/>
              <a:defRPr/>
            </a:pPr>
            <a:endParaRPr kumimoji="0" sz="1200" b="0" i="0" u="none" strike="noStrike" kern="0" cap="none" spc="0" normalizeH="0" baseline="0" noProof="0" dirty="0">
              <a:ln>
                <a:noFill/>
              </a:ln>
              <a:solidFill>
                <a:sysClr val="windowText" lastClr="000000"/>
              </a:solidFill>
              <a:effectLst/>
              <a:uLnTx/>
              <a:uFillTx/>
            </a:endParaRPr>
          </a:p>
        </p:txBody>
      </p:sp>
      <p:sp>
        <p:nvSpPr>
          <p:cNvPr id="65" name="TextBox 64">
            <a:extLst>
              <a:ext uri="{FF2B5EF4-FFF2-40B4-BE49-F238E27FC236}">
                <a16:creationId xmlns:a16="http://schemas.microsoft.com/office/drawing/2014/main" id="{1437EB15-1293-23AA-EFD8-6F0D809F6ED9}"/>
              </a:ext>
            </a:extLst>
          </p:cNvPr>
          <p:cNvSpPr txBox="1"/>
          <p:nvPr/>
        </p:nvSpPr>
        <p:spPr>
          <a:xfrm>
            <a:off x="7232607" y="4335443"/>
            <a:ext cx="2433232" cy="646331"/>
          </a:xfrm>
          <a:prstGeom prst="rect">
            <a:avLst/>
          </a:prstGeom>
          <a:noFill/>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Stronger intelligence-led enforcement</a:t>
            </a:r>
          </a:p>
          <a:p>
            <a:pPr marL="0" marR="0" lvl="0" indent="0" defTabSz="91440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ysClr val="windowText" lastClr="000000"/>
                </a:solidFill>
                <a:effectLst/>
                <a:uLnTx/>
                <a:uFillTx/>
              </a:rPr>
              <a:t>• Improved compliance</a:t>
            </a:r>
          </a:p>
        </p:txBody>
      </p:sp>
    </p:spTree>
    <p:extLst>
      <p:ext uri="{BB962C8B-B14F-4D97-AF65-F5344CB8AC3E}">
        <p14:creationId xmlns:p14="http://schemas.microsoft.com/office/powerpoint/2010/main" val="1171955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570"/>
        <p:cNvGrpSpPr/>
        <p:nvPr/>
      </p:nvGrpSpPr>
      <p:grpSpPr>
        <a:xfrm>
          <a:off x="0" y="0"/>
          <a:ext cx="0" cy="0"/>
          <a:chOff x="0" y="0"/>
          <a:chExt cx="0" cy="0"/>
        </a:xfrm>
      </p:grpSpPr>
      <p:pic>
        <p:nvPicPr>
          <p:cNvPr id="571" name="Google Shape;571;p33" descr="a_clean_corporate_presentation_slide_infographic.png"/>
          <p:cNvPicPr preferRelativeResize="0"/>
          <p:nvPr/>
        </p:nvPicPr>
        <p:blipFill rotWithShape="1">
          <a:blip r:embed="rId3">
            <a:alphaModFix/>
          </a:blip>
          <a:srcRect/>
          <a:stretch/>
        </p:blipFill>
        <p:spPr>
          <a:xfrm>
            <a:off x="106326" y="0"/>
            <a:ext cx="8474149"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Shape 602"/>
        <p:cNvGrpSpPr/>
        <p:nvPr/>
      </p:nvGrpSpPr>
      <p:grpSpPr>
        <a:xfrm>
          <a:off x="0" y="0"/>
          <a:ext cx="0" cy="0"/>
          <a:chOff x="0" y="0"/>
          <a:chExt cx="0" cy="0"/>
        </a:xfrm>
      </p:grpSpPr>
      <p:grpSp>
        <p:nvGrpSpPr>
          <p:cNvPr id="603" name="Google Shape;603;p35"/>
          <p:cNvGrpSpPr/>
          <p:nvPr/>
        </p:nvGrpSpPr>
        <p:grpSpPr>
          <a:xfrm>
            <a:off x="0" y="-63"/>
            <a:ext cx="9144000" cy="832511"/>
            <a:chOff x="0" y="-63"/>
            <a:chExt cx="9144000" cy="832511"/>
          </a:xfrm>
        </p:grpSpPr>
        <p:sp>
          <p:nvSpPr>
            <p:cNvPr id="604" name="Google Shape;604;p35"/>
            <p:cNvSpPr/>
            <p:nvPr/>
          </p:nvSpPr>
          <p:spPr>
            <a:xfrm>
              <a:off x="0" y="-63"/>
              <a:ext cx="9144000" cy="777875"/>
            </a:xfrm>
            <a:custGeom>
              <a:avLst/>
              <a:gdLst/>
              <a:ahLst/>
              <a:cxnLst/>
              <a:rect l="l" t="t" r="r" b="b"/>
              <a:pathLst>
                <a:path w="9144000" h="777875" extrusionOk="0">
                  <a:moveTo>
                    <a:pt x="9144000" y="0"/>
                  </a:moveTo>
                  <a:lnTo>
                    <a:pt x="0" y="0"/>
                  </a:lnTo>
                  <a:lnTo>
                    <a:pt x="0" y="777303"/>
                  </a:lnTo>
                  <a:lnTo>
                    <a:pt x="9144000" y="777303"/>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5" name="Google Shape;605;p35"/>
            <p:cNvSpPr/>
            <p:nvPr/>
          </p:nvSpPr>
          <p:spPr>
            <a:xfrm>
              <a:off x="0" y="-63"/>
              <a:ext cx="9144000" cy="777875"/>
            </a:xfrm>
            <a:custGeom>
              <a:avLst/>
              <a:gdLst/>
              <a:ahLst/>
              <a:cxnLst/>
              <a:rect l="l" t="t" r="r" b="b"/>
              <a:pathLst>
                <a:path w="9144000" h="777875" extrusionOk="0">
                  <a:moveTo>
                    <a:pt x="0" y="777303"/>
                  </a:moveTo>
                  <a:lnTo>
                    <a:pt x="9144000" y="777303"/>
                  </a:lnTo>
                  <a:lnTo>
                    <a:pt x="9144000" y="0"/>
                  </a:lnTo>
                  <a:lnTo>
                    <a:pt x="0" y="0"/>
                  </a:lnTo>
                  <a:lnTo>
                    <a:pt x="0" y="777303"/>
                  </a:lnTo>
                  <a:close/>
                </a:path>
              </a:pathLst>
            </a:custGeom>
            <a:solidFill>
              <a:srgbClr val="1B2A49"/>
            </a:solidFill>
            <a:ln w="12700" cap="flat" cmpd="sng">
              <a:solidFill>
                <a:srgbClr val="1B2A4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6" name="Google Shape;606;p35"/>
            <p:cNvSpPr/>
            <p:nvPr/>
          </p:nvSpPr>
          <p:spPr>
            <a:xfrm>
              <a:off x="0" y="777204"/>
              <a:ext cx="9144000" cy="55244"/>
            </a:xfrm>
            <a:custGeom>
              <a:avLst/>
              <a:gdLst/>
              <a:ahLst/>
              <a:cxnLst/>
              <a:rect l="l" t="t" r="r" b="b"/>
              <a:pathLst>
                <a:path w="9144000" h="55244" extrusionOk="0">
                  <a:moveTo>
                    <a:pt x="9144000" y="0"/>
                  </a:moveTo>
                  <a:lnTo>
                    <a:pt x="0" y="0"/>
                  </a:lnTo>
                  <a:lnTo>
                    <a:pt x="0" y="54899"/>
                  </a:lnTo>
                  <a:lnTo>
                    <a:pt x="9144000" y="54899"/>
                  </a:lnTo>
                  <a:lnTo>
                    <a:pt x="9144000" y="0"/>
                  </a:lnTo>
                  <a:close/>
                </a:path>
              </a:pathLst>
            </a:custGeom>
            <a:solidFill>
              <a:srgbClr val="1B2A4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07" name="Google Shape;607;p35"/>
            <p:cNvSpPr/>
            <p:nvPr/>
          </p:nvSpPr>
          <p:spPr>
            <a:xfrm>
              <a:off x="0" y="777204"/>
              <a:ext cx="9144000" cy="55244"/>
            </a:xfrm>
            <a:custGeom>
              <a:avLst/>
              <a:gdLst/>
              <a:ahLst/>
              <a:cxnLst/>
              <a:rect l="l" t="t" r="r" b="b"/>
              <a:pathLst>
                <a:path w="9144000" h="55244" extrusionOk="0">
                  <a:moveTo>
                    <a:pt x="0" y="54899"/>
                  </a:moveTo>
                  <a:lnTo>
                    <a:pt x="9144000" y="54899"/>
                  </a:lnTo>
                  <a:lnTo>
                    <a:pt x="9144000" y="0"/>
                  </a:lnTo>
                  <a:lnTo>
                    <a:pt x="0" y="0"/>
                  </a:lnTo>
                  <a:lnTo>
                    <a:pt x="0" y="54899"/>
                  </a:lnTo>
                  <a:close/>
                </a:path>
              </a:pathLst>
            </a:custGeom>
            <a:solidFill>
              <a:srgbClr val="1B2A49"/>
            </a:solidFill>
            <a:ln w="12700" cap="flat" cmpd="sng">
              <a:solidFill>
                <a:srgbClr val="C8A84B"/>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08" name="Google Shape;608;p35"/>
          <p:cNvSpPr txBox="1">
            <a:spLocks noGrp="1"/>
          </p:cNvSpPr>
          <p:nvPr>
            <p:ph type="title"/>
          </p:nvPr>
        </p:nvSpPr>
        <p:spPr>
          <a:xfrm>
            <a:off x="444500" y="159511"/>
            <a:ext cx="8359200" cy="382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solidFill>
                  <a:schemeClr val="lt1"/>
                </a:solidFill>
              </a:rPr>
              <a:t>#6 Data-Driven Enforcement &amp; Special Drives</a:t>
            </a:r>
            <a:endParaRPr sz="2400">
              <a:solidFill>
                <a:schemeClr val="lt1"/>
              </a:solidFill>
            </a:endParaRPr>
          </a:p>
        </p:txBody>
      </p:sp>
      <p:sp>
        <p:nvSpPr>
          <p:cNvPr id="609" name="Google Shape;609;p35"/>
          <p:cNvSpPr txBox="1"/>
          <p:nvPr/>
        </p:nvSpPr>
        <p:spPr>
          <a:xfrm>
            <a:off x="2059789" y="-494997"/>
            <a:ext cx="5398500" cy="338700"/>
          </a:xfrm>
          <a:prstGeom prst="rect">
            <a:avLst/>
          </a:prstGeom>
          <a:noFill/>
          <a:ln>
            <a:noFill/>
          </a:ln>
        </p:spPr>
        <p:txBody>
          <a:bodyPr spcFirstLastPara="1" wrap="square" lIns="91425" tIns="45700" rIns="91425" bIns="45700" anchor="t" anchorCtr="0">
            <a:spAutoFit/>
          </a:bodyPr>
          <a:lstStyle/>
          <a:p>
            <a:pPr marL="164465" lvl="0" indent="0" algn="just" rtl="0">
              <a:lnSpc>
                <a:spcPct val="100000"/>
              </a:lnSpc>
              <a:spcBef>
                <a:spcPts val="0"/>
              </a:spcBef>
              <a:spcAft>
                <a:spcPts val="0"/>
              </a:spcAft>
              <a:buNone/>
            </a:pPr>
            <a:r>
              <a:rPr lang="en-US" sz="1600" b="1">
                <a:solidFill>
                  <a:srgbClr val="6B7B8E"/>
                </a:solidFill>
                <a:latin typeface="Calibri"/>
                <a:ea typeface="Calibri"/>
                <a:cs typeface="Calibri"/>
                <a:sym typeface="Calibri"/>
              </a:rPr>
              <a:t>H o w</a:t>
            </a:r>
            <a:r>
              <a:rPr lang="en-US" sz="1600">
                <a:latin typeface="Calibri"/>
                <a:ea typeface="Calibri"/>
                <a:cs typeface="Calibri"/>
                <a:sym typeface="Calibri"/>
              </a:rPr>
              <a:t> </a:t>
            </a:r>
            <a:r>
              <a:rPr lang="en-US" sz="1600" b="1">
                <a:solidFill>
                  <a:srgbClr val="1F3863"/>
                </a:solidFill>
                <a:latin typeface="Calibri"/>
                <a:ea typeface="Calibri"/>
                <a:cs typeface="Calibri"/>
                <a:sym typeface="Calibri"/>
              </a:rPr>
              <a:t>Operational levers</a:t>
            </a:r>
            <a:endParaRPr sz="1600">
              <a:latin typeface="Calibri"/>
              <a:ea typeface="Calibri"/>
              <a:cs typeface="Calibri"/>
              <a:sym typeface="Calibri"/>
            </a:endParaRPr>
          </a:p>
        </p:txBody>
      </p:sp>
      <p:grpSp>
        <p:nvGrpSpPr>
          <p:cNvPr id="610" name="Google Shape;610;p35"/>
          <p:cNvGrpSpPr/>
          <p:nvPr/>
        </p:nvGrpSpPr>
        <p:grpSpPr>
          <a:xfrm>
            <a:off x="6609993" y="3213606"/>
            <a:ext cx="2413569" cy="1802425"/>
            <a:chOff x="5966459" y="3051810"/>
            <a:chExt cx="2812034" cy="1577339"/>
          </a:xfrm>
        </p:grpSpPr>
        <p:sp>
          <p:nvSpPr>
            <p:cNvPr id="611" name="Google Shape;611;p35"/>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2" name="Google Shape;612;p35"/>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3" name="Google Shape;613;p35"/>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4" name="Google Shape;614;p35"/>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15" name="Google Shape;615;p35"/>
          <p:cNvSpPr txBox="1"/>
          <p:nvPr/>
        </p:nvSpPr>
        <p:spPr>
          <a:xfrm>
            <a:off x="6733961" y="3259309"/>
            <a:ext cx="2241900" cy="2167800"/>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400" b="1">
                <a:solidFill>
                  <a:srgbClr val="6B7B8E"/>
                </a:solidFill>
                <a:latin typeface="Calibri"/>
                <a:ea typeface="Calibri"/>
                <a:cs typeface="Calibri"/>
                <a:sym typeface="Calibri"/>
              </a:rPr>
              <a:t>E x p e c t e d o u t c o m e:</a:t>
            </a:r>
            <a:endParaRPr/>
          </a:p>
          <a:p>
            <a:pPr marL="111125" lvl="0" indent="0" algn="l" rtl="0">
              <a:lnSpc>
                <a:spcPct val="100000"/>
              </a:lnSpc>
              <a:spcBef>
                <a:spcPts val="0"/>
              </a:spcBef>
              <a:spcAft>
                <a:spcPts val="0"/>
              </a:spcAft>
              <a:buNone/>
            </a:pPr>
            <a:endParaRPr sz="1200">
              <a:latin typeface="Calibri"/>
              <a:ea typeface="Calibri"/>
              <a:cs typeface="Calibri"/>
              <a:sym typeface="Calibri"/>
            </a:endParaRPr>
          </a:p>
          <a:p>
            <a:pPr marL="0" lvl="0" indent="0" algn="l" rtl="0">
              <a:spcBef>
                <a:spcPts val="0"/>
              </a:spcBef>
              <a:spcAft>
                <a:spcPts val="0"/>
              </a:spcAft>
              <a:buNone/>
            </a:pPr>
            <a:r>
              <a:rPr lang="en-US" sz="1200"/>
              <a:t>• Identification of sectoral outliers</a:t>
            </a:r>
            <a:endParaRPr/>
          </a:p>
          <a:p>
            <a:pPr marL="0" lvl="0" indent="0" algn="l" rtl="0">
              <a:spcBef>
                <a:spcPts val="0"/>
              </a:spcBef>
              <a:spcAft>
                <a:spcPts val="0"/>
              </a:spcAft>
              <a:buNone/>
            </a:pPr>
            <a:r>
              <a:rPr lang="en-US" sz="1200"/>
              <a:t>• Improved detection of suppression and fake invoicing.</a:t>
            </a:r>
            <a:endParaRPr/>
          </a:p>
          <a:p>
            <a:pPr marL="0" lvl="0" indent="0" algn="l" rtl="0">
              <a:spcBef>
                <a:spcPts val="0"/>
              </a:spcBef>
              <a:spcAft>
                <a:spcPts val="0"/>
              </a:spcAft>
              <a:buNone/>
            </a:pPr>
            <a:r>
              <a:rPr lang="en-US" sz="1200"/>
              <a:t>• Stronger intelligence-led enforcement</a:t>
            </a:r>
            <a:endParaRPr/>
          </a:p>
          <a:p>
            <a:pPr marL="0" lvl="0" indent="0" algn="l" rtl="0">
              <a:spcBef>
                <a:spcPts val="0"/>
              </a:spcBef>
              <a:spcAft>
                <a:spcPts val="0"/>
              </a:spcAft>
              <a:buNone/>
            </a:pPr>
            <a:r>
              <a:rPr lang="en-US" sz="1200"/>
              <a:t>• Improved compliance</a:t>
            </a:r>
            <a:endParaRPr/>
          </a:p>
          <a:p>
            <a:pPr marL="0" lvl="0" indent="0" algn="l" rtl="0">
              <a:spcBef>
                <a:spcPts val="0"/>
              </a:spcBef>
              <a:spcAft>
                <a:spcPts val="0"/>
              </a:spcAft>
              <a:buNone/>
            </a:pPr>
            <a:endParaRPr sz="1200"/>
          </a:p>
          <a:p>
            <a:pPr marL="111125" lvl="0" indent="0" algn="l" rtl="0">
              <a:lnSpc>
                <a:spcPct val="100000"/>
              </a:lnSpc>
              <a:spcBef>
                <a:spcPts val="0"/>
              </a:spcBef>
              <a:spcAft>
                <a:spcPts val="0"/>
              </a:spcAft>
              <a:buNone/>
            </a:pPr>
            <a:endParaRPr sz="1200">
              <a:latin typeface="Calibri"/>
              <a:ea typeface="Calibri"/>
              <a:cs typeface="Calibri"/>
              <a:sym typeface="Calibri"/>
            </a:endParaRPr>
          </a:p>
          <a:p>
            <a:pPr marL="111125" marR="24765" lvl="0" indent="0" algn="l" rtl="0">
              <a:lnSpc>
                <a:spcPct val="100000"/>
              </a:lnSpc>
              <a:spcBef>
                <a:spcPts val="225"/>
              </a:spcBef>
              <a:spcAft>
                <a:spcPts val="0"/>
              </a:spcAft>
              <a:buNone/>
            </a:pPr>
            <a:endParaRPr sz="1200">
              <a:latin typeface="Calibri"/>
              <a:ea typeface="Calibri"/>
              <a:cs typeface="Calibri"/>
              <a:sym typeface="Calibri"/>
            </a:endParaRPr>
          </a:p>
        </p:txBody>
      </p:sp>
      <p:grpSp>
        <p:nvGrpSpPr>
          <p:cNvPr id="616" name="Google Shape;616;p35"/>
          <p:cNvGrpSpPr/>
          <p:nvPr/>
        </p:nvGrpSpPr>
        <p:grpSpPr>
          <a:xfrm>
            <a:off x="6632741" y="1128490"/>
            <a:ext cx="2410757" cy="1914574"/>
            <a:chOff x="5966459" y="3051810"/>
            <a:chExt cx="2812034" cy="1577339"/>
          </a:xfrm>
        </p:grpSpPr>
        <p:sp>
          <p:nvSpPr>
            <p:cNvPr id="617" name="Google Shape;617;p35"/>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8" name="Google Shape;618;p35"/>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19" name="Google Shape;619;p35"/>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w="9525"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20" name="Google Shape;620;p35"/>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solidFill>
              <a:srgbClr val="C8A84B"/>
            </a:solidFill>
            <a:ln w="1270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21" name="Google Shape;621;p35"/>
          <p:cNvSpPr txBox="1"/>
          <p:nvPr/>
        </p:nvSpPr>
        <p:spPr>
          <a:xfrm>
            <a:off x="6759551" y="1247667"/>
            <a:ext cx="2286300" cy="21315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None/>
            </a:pPr>
            <a:r>
              <a:rPr lang="en-US" sz="1400" b="1">
                <a:solidFill>
                  <a:srgbClr val="6B7B8E"/>
                </a:solidFill>
                <a:latin typeface="Calibri"/>
                <a:ea typeface="Calibri"/>
                <a:cs typeface="Calibri"/>
                <a:sym typeface="Calibri"/>
              </a:rPr>
              <a:t>Addresses the following diagnostic points:</a:t>
            </a:r>
            <a:endParaRPr/>
          </a:p>
          <a:p>
            <a:pPr marL="0" lvl="0" indent="0" algn="ctr" rtl="0">
              <a:lnSpc>
                <a:spcPct val="100000"/>
              </a:lnSpc>
              <a:spcBef>
                <a:spcPts val="100"/>
              </a:spcBef>
              <a:spcAft>
                <a:spcPts val="0"/>
              </a:spcAft>
              <a:buNone/>
            </a:pPr>
            <a:endParaRPr sz="1200" b="1">
              <a:solidFill>
                <a:srgbClr val="6B7B8E"/>
              </a:solidFill>
              <a:latin typeface="Calibri"/>
              <a:ea typeface="Calibri"/>
              <a:cs typeface="Calibri"/>
              <a:sym typeface="Calibri"/>
            </a:endParaRPr>
          </a:p>
          <a:p>
            <a:pPr marL="0" lvl="0" indent="0" algn="l" rtl="0">
              <a:spcBef>
                <a:spcPts val="0"/>
              </a:spcBef>
              <a:spcAft>
                <a:spcPts val="0"/>
              </a:spcAft>
              <a:buNone/>
            </a:pPr>
            <a:r>
              <a:rPr lang="en-US" sz="1200"/>
              <a:t>• B2C Ratio Anomaly</a:t>
            </a:r>
            <a:endParaRPr/>
          </a:p>
          <a:p>
            <a:pPr marL="0" lvl="0" indent="0" algn="l" rtl="0">
              <a:spcBef>
                <a:spcPts val="0"/>
              </a:spcBef>
              <a:spcAft>
                <a:spcPts val="0"/>
              </a:spcAft>
              <a:buNone/>
            </a:pPr>
            <a:r>
              <a:rPr lang="en-US" sz="1200"/>
              <a:t>• Peer Band Deviation</a:t>
            </a:r>
            <a:endParaRPr/>
          </a:p>
          <a:p>
            <a:pPr marL="0" lvl="0" indent="0" algn="l" rtl="0">
              <a:spcBef>
                <a:spcPts val="0"/>
              </a:spcBef>
              <a:spcAft>
                <a:spcPts val="0"/>
              </a:spcAft>
              <a:buNone/>
            </a:pPr>
            <a:r>
              <a:rPr lang="en-US" sz="1200"/>
              <a:t>• Cash Payment Anomaly</a:t>
            </a:r>
            <a:endParaRPr/>
          </a:p>
          <a:p>
            <a:pPr marL="0" lvl="0" indent="0" algn="l" rtl="0">
              <a:spcBef>
                <a:spcPts val="0"/>
              </a:spcBef>
              <a:spcAft>
                <a:spcPts val="0"/>
              </a:spcAft>
              <a:buNone/>
            </a:pPr>
            <a:r>
              <a:rPr lang="en-US" sz="1200"/>
              <a:t>• Revenue vs GSDP Gap</a:t>
            </a:r>
            <a:endParaRPr/>
          </a:p>
          <a:p>
            <a:pPr marL="0" lvl="0" indent="0" algn="l" rtl="0">
              <a:spcBef>
                <a:spcPts val="0"/>
              </a:spcBef>
              <a:spcAft>
                <a:spcPts val="0"/>
              </a:spcAft>
              <a:buNone/>
            </a:pPr>
            <a:r>
              <a:rPr lang="en-US" sz="1200"/>
              <a:t>• e-Way Bill vs Revenue Mismatch</a:t>
            </a:r>
            <a:endParaRPr/>
          </a:p>
          <a:p>
            <a:pPr marL="0" lvl="0" indent="0" algn="l" rtl="0">
              <a:spcBef>
                <a:spcPts val="0"/>
              </a:spcBef>
              <a:spcAft>
                <a:spcPts val="0"/>
              </a:spcAft>
              <a:buNone/>
            </a:pPr>
            <a:endParaRPr sz="1200"/>
          </a:p>
          <a:p>
            <a:pPr marL="171450" lvl="0" indent="-95250" algn="l" rtl="0">
              <a:lnSpc>
                <a:spcPct val="100000"/>
              </a:lnSpc>
              <a:spcBef>
                <a:spcPts val="100"/>
              </a:spcBef>
              <a:spcAft>
                <a:spcPts val="0"/>
              </a:spcAft>
              <a:buSzPts val="1200"/>
              <a:buFont typeface="Arial"/>
              <a:buNone/>
            </a:pPr>
            <a:endParaRPr sz="1200">
              <a:solidFill>
                <a:schemeClr val="dk1"/>
              </a:solidFill>
              <a:latin typeface="Calibri"/>
              <a:ea typeface="Calibri"/>
              <a:cs typeface="Calibri"/>
              <a:sym typeface="Calibri"/>
            </a:endParaRPr>
          </a:p>
        </p:txBody>
      </p:sp>
      <p:sp>
        <p:nvSpPr>
          <p:cNvPr id="622" name="Google Shape;622;p35"/>
          <p:cNvSpPr/>
          <p:nvPr/>
        </p:nvSpPr>
        <p:spPr>
          <a:xfrm>
            <a:off x="98176" y="1031291"/>
            <a:ext cx="2491500" cy="1969800"/>
          </a:xfrm>
          <a:prstGeom prst="roundRect">
            <a:avLst>
              <a:gd name="adj" fmla="val 16667"/>
            </a:avLst>
          </a:prstGeom>
          <a:solidFill>
            <a:srgbClr val="C8A84B"/>
          </a:solidFill>
          <a:ln w="9525" cap="flat" cmpd="sng">
            <a:solidFill>
              <a:srgbClr val="B4B4B4"/>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3" name="Google Shape;623;p35"/>
          <p:cNvSpPr txBox="1"/>
          <p:nvPr/>
        </p:nvSpPr>
        <p:spPr>
          <a:xfrm>
            <a:off x="228599" y="1122731"/>
            <a:ext cx="23232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400" b="1"/>
              <a:t>1. Sector-Based Enforcement</a:t>
            </a:r>
            <a:endParaRPr/>
          </a:p>
        </p:txBody>
      </p:sp>
      <p:sp>
        <p:nvSpPr>
          <p:cNvPr id="624" name="Google Shape;624;p35"/>
          <p:cNvSpPr txBox="1"/>
          <p:nvPr/>
        </p:nvSpPr>
        <p:spPr>
          <a:xfrm>
            <a:off x="228601" y="1671371"/>
            <a:ext cx="2323200" cy="1215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100" dirty="0"/>
              <a:t>• Identify sectors with abnormal B2C ratios.</a:t>
            </a:r>
            <a:endParaRPr sz="1800" dirty="0"/>
          </a:p>
          <a:p>
            <a:pPr marL="0" lvl="1" indent="0" algn="l" rtl="0">
              <a:spcBef>
                <a:spcPts val="0"/>
              </a:spcBef>
              <a:spcAft>
                <a:spcPts val="0"/>
              </a:spcAft>
              <a:buNone/>
            </a:pPr>
            <a:r>
              <a:rPr lang="en-US" sz="1800" dirty="0"/>
              <a:t>• </a:t>
            </a:r>
            <a:r>
              <a:rPr lang="en-US" sz="1200" b="1" dirty="0"/>
              <a:t>Focus: </a:t>
            </a:r>
            <a:r>
              <a:rPr lang="en-US" sz="1100" dirty="0"/>
              <a:t>Tobacco, Pan Masala, Iron &amp; Steel, Timber &amp; Plywood, Dry Fruits, Edible Oil, Electronics Goods, Sanitary items</a:t>
            </a:r>
            <a:endParaRPr sz="1800" dirty="0"/>
          </a:p>
        </p:txBody>
      </p:sp>
      <p:sp>
        <p:nvSpPr>
          <p:cNvPr id="625" name="Google Shape;625;p35"/>
          <p:cNvSpPr/>
          <p:nvPr/>
        </p:nvSpPr>
        <p:spPr>
          <a:xfrm>
            <a:off x="2667989" y="1031291"/>
            <a:ext cx="3779400" cy="1969800"/>
          </a:xfrm>
          <a:prstGeom prst="roundRect">
            <a:avLst>
              <a:gd name="adj" fmla="val 16667"/>
            </a:avLst>
          </a:prstGeom>
          <a:solidFill>
            <a:srgbClr val="1B2A49"/>
          </a:solidFill>
          <a:ln w="9525" cap="flat" cmpd="sng">
            <a:solidFill>
              <a:srgbClr val="B4B4B4"/>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6" name="Google Shape;626;p35"/>
          <p:cNvSpPr txBox="1"/>
          <p:nvPr/>
        </p:nvSpPr>
        <p:spPr>
          <a:xfrm>
            <a:off x="2779777" y="1139841"/>
            <a:ext cx="3779400" cy="307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400" b="1">
                <a:solidFill>
                  <a:schemeClr val="lt1"/>
                </a:solidFill>
              </a:rPr>
              <a:t>2. Analytics-Based Taxpayer Selection</a:t>
            </a:r>
            <a:endParaRPr/>
          </a:p>
        </p:txBody>
      </p:sp>
      <p:sp>
        <p:nvSpPr>
          <p:cNvPr id="627" name="Google Shape;627;p35"/>
          <p:cNvSpPr txBox="1"/>
          <p:nvPr/>
        </p:nvSpPr>
        <p:spPr>
          <a:xfrm>
            <a:off x="2798332" y="1483628"/>
            <a:ext cx="3593400" cy="1385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100">
                <a:solidFill>
                  <a:schemeClr val="lt1"/>
                </a:solidFill>
              </a:rPr>
              <a:t>• Identify sector-specific outliers through B2C ratio analysis.</a:t>
            </a:r>
            <a:endParaRPr sz="1800">
              <a:solidFill>
                <a:schemeClr val="lt1"/>
              </a:solidFill>
            </a:endParaRPr>
          </a:p>
          <a:p>
            <a:pPr marL="0" lvl="0" indent="0" algn="l" rtl="0">
              <a:spcBef>
                <a:spcPts val="0"/>
              </a:spcBef>
              <a:spcAft>
                <a:spcPts val="0"/>
              </a:spcAft>
              <a:buNone/>
            </a:pPr>
            <a:r>
              <a:rPr lang="en-US" sz="1800">
                <a:solidFill>
                  <a:schemeClr val="lt1"/>
                </a:solidFill>
              </a:rPr>
              <a:t>• </a:t>
            </a:r>
            <a:r>
              <a:rPr lang="en-US" sz="1200" b="1">
                <a:solidFill>
                  <a:schemeClr val="lt1"/>
                </a:solidFill>
              </a:rPr>
              <a:t>Detect taxpayers showing</a:t>
            </a:r>
            <a:br>
              <a:rPr lang="en-US" sz="1100">
                <a:solidFill>
                  <a:schemeClr val="lt1"/>
                </a:solidFill>
              </a:rPr>
            </a:br>
            <a:r>
              <a:rPr lang="en-US" sz="1100">
                <a:solidFill>
                  <a:schemeClr val="lt1"/>
                </a:solidFill>
              </a:rPr>
              <a:t>- Lower tax payment than peer groups</a:t>
            </a:r>
            <a:endParaRPr/>
          </a:p>
          <a:p>
            <a:pPr marL="0" lvl="0" indent="0" algn="l" rtl="0">
              <a:spcBef>
                <a:spcPts val="0"/>
              </a:spcBef>
              <a:spcAft>
                <a:spcPts val="0"/>
              </a:spcAft>
              <a:buNone/>
            </a:pPr>
            <a:r>
              <a:rPr lang="en-US" sz="1100">
                <a:solidFill>
                  <a:schemeClr val="lt1"/>
                </a:solidFill>
              </a:rPr>
              <a:t>- Abnormal cash utilization patterns</a:t>
            </a:r>
            <a:br>
              <a:rPr lang="en-US" sz="1100">
                <a:solidFill>
                  <a:schemeClr val="lt1"/>
                </a:solidFill>
              </a:rPr>
            </a:br>
            <a:r>
              <a:rPr lang="en-US" sz="1100">
                <a:solidFill>
                  <a:schemeClr val="lt1"/>
                </a:solidFill>
              </a:rPr>
              <a:t>- High Eway Bill to revenue mismatch</a:t>
            </a:r>
            <a:br>
              <a:rPr lang="en-US" sz="1100">
                <a:solidFill>
                  <a:schemeClr val="lt1"/>
                </a:solidFill>
              </a:rPr>
            </a:br>
            <a:r>
              <a:rPr lang="en-US" sz="1100">
                <a:solidFill>
                  <a:schemeClr val="lt1"/>
                </a:solidFill>
              </a:rPr>
              <a:t>- Revenue growth lag compared to sector averages.</a:t>
            </a:r>
            <a:endParaRPr sz="1100">
              <a:solidFill>
                <a:schemeClr val="lt1"/>
              </a:solidFill>
            </a:endParaRPr>
          </a:p>
        </p:txBody>
      </p:sp>
      <p:sp>
        <p:nvSpPr>
          <p:cNvPr id="628" name="Google Shape;628;p35"/>
          <p:cNvSpPr/>
          <p:nvPr/>
        </p:nvSpPr>
        <p:spPr>
          <a:xfrm>
            <a:off x="98177" y="3130291"/>
            <a:ext cx="2490600" cy="1931700"/>
          </a:xfrm>
          <a:prstGeom prst="roundRect">
            <a:avLst>
              <a:gd name="adj" fmla="val 16667"/>
            </a:avLst>
          </a:prstGeom>
          <a:solidFill>
            <a:srgbClr val="1B2A49"/>
          </a:solidFill>
          <a:ln w="9525" cap="flat" cmpd="sng">
            <a:solidFill>
              <a:srgbClr val="B4B4B4"/>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29" name="Google Shape;629;p35"/>
          <p:cNvSpPr txBox="1"/>
          <p:nvPr/>
        </p:nvSpPr>
        <p:spPr>
          <a:xfrm>
            <a:off x="215465" y="3184153"/>
            <a:ext cx="15567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400" b="1">
                <a:solidFill>
                  <a:schemeClr val="lt1"/>
                </a:solidFill>
              </a:rPr>
              <a:t>3. Theme-Based</a:t>
            </a:r>
            <a:endParaRPr/>
          </a:p>
          <a:p>
            <a:pPr marL="0" lvl="0" indent="0" algn="l" rtl="0">
              <a:spcBef>
                <a:spcPts val="0"/>
              </a:spcBef>
              <a:spcAft>
                <a:spcPts val="0"/>
              </a:spcAft>
              <a:buNone/>
            </a:pPr>
            <a:r>
              <a:rPr lang="en-US" sz="1400" b="1">
                <a:solidFill>
                  <a:schemeClr val="lt1"/>
                </a:solidFill>
              </a:rPr>
              <a:t>Special Drives</a:t>
            </a:r>
            <a:endParaRPr/>
          </a:p>
        </p:txBody>
      </p:sp>
      <p:sp>
        <p:nvSpPr>
          <p:cNvPr id="630" name="Google Shape;630;p35"/>
          <p:cNvSpPr txBox="1"/>
          <p:nvPr/>
        </p:nvSpPr>
        <p:spPr>
          <a:xfrm>
            <a:off x="168245" y="3676949"/>
            <a:ext cx="2832600" cy="13851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100">
                <a:solidFill>
                  <a:schemeClr val="lt1"/>
                </a:solidFill>
              </a:rPr>
              <a:t>• Seasonal drives during</a:t>
            </a:r>
            <a:endParaRPr/>
          </a:p>
          <a:p>
            <a:pPr marL="0" lvl="0" indent="0" algn="l" rtl="0">
              <a:spcBef>
                <a:spcPts val="0"/>
              </a:spcBef>
              <a:spcAft>
                <a:spcPts val="0"/>
              </a:spcAft>
              <a:buNone/>
            </a:pPr>
            <a:r>
              <a:rPr lang="en-US" sz="1100">
                <a:solidFill>
                  <a:schemeClr val="lt1"/>
                </a:solidFill>
              </a:rPr>
              <a:t>- Diwali</a:t>
            </a:r>
            <a:br>
              <a:rPr lang="en-US" sz="1100">
                <a:solidFill>
                  <a:schemeClr val="lt1"/>
                </a:solidFill>
              </a:rPr>
            </a:br>
            <a:r>
              <a:rPr lang="en-US" sz="1100">
                <a:solidFill>
                  <a:schemeClr val="lt1"/>
                </a:solidFill>
              </a:rPr>
              <a:t>- Wedding seasons</a:t>
            </a:r>
            <a:br>
              <a:rPr lang="en-US" sz="1100">
                <a:solidFill>
                  <a:schemeClr val="lt1"/>
                </a:solidFill>
              </a:rPr>
            </a:br>
            <a:r>
              <a:rPr lang="en-US" sz="1100">
                <a:solidFill>
                  <a:schemeClr val="lt1"/>
                </a:solidFill>
              </a:rPr>
              <a:t>- Tourist seasons</a:t>
            </a:r>
            <a:endParaRPr sz="1800">
              <a:solidFill>
                <a:schemeClr val="lt1"/>
              </a:solidFill>
            </a:endParaRPr>
          </a:p>
          <a:p>
            <a:pPr marL="0" lvl="0" indent="0" algn="l" rtl="0">
              <a:spcBef>
                <a:spcPts val="0"/>
              </a:spcBef>
              <a:spcAft>
                <a:spcPts val="0"/>
              </a:spcAft>
              <a:buNone/>
            </a:pPr>
            <a:r>
              <a:rPr lang="en-US" sz="1800">
                <a:solidFill>
                  <a:schemeClr val="lt1"/>
                </a:solidFill>
              </a:rPr>
              <a:t>• </a:t>
            </a:r>
            <a:r>
              <a:rPr lang="en-US" sz="1200" b="1">
                <a:solidFill>
                  <a:schemeClr val="lt1"/>
                </a:solidFill>
              </a:rPr>
              <a:t>Area-specific campaigns:</a:t>
            </a:r>
            <a:br>
              <a:rPr lang="en-US" sz="1100">
                <a:solidFill>
                  <a:schemeClr val="lt1"/>
                </a:solidFill>
              </a:rPr>
            </a:br>
            <a:r>
              <a:rPr lang="en-US" sz="1100">
                <a:solidFill>
                  <a:schemeClr val="lt1"/>
                </a:solidFill>
              </a:rPr>
              <a:t>- Kishangarh Makrana marble belt</a:t>
            </a:r>
            <a:endParaRPr/>
          </a:p>
          <a:p>
            <a:pPr marL="0" lvl="0" indent="0" algn="l" rtl="0">
              <a:spcBef>
                <a:spcPts val="0"/>
              </a:spcBef>
              <a:spcAft>
                <a:spcPts val="0"/>
              </a:spcAft>
              <a:buNone/>
            </a:pPr>
            <a:r>
              <a:rPr lang="en-US" sz="1100">
                <a:solidFill>
                  <a:schemeClr val="lt1"/>
                </a:solidFill>
              </a:rPr>
              <a:t>- Major commercial hubs</a:t>
            </a:r>
            <a:endParaRPr sz="1100">
              <a:solidFill>
                <a:schemeClr val="lt1"/>
              </a:solidFill>
            </a:endParaRPr>
          </a:p>
        </p:txBody>
      </p:sp>
      <p:sp>
        <p:nvSpPr>
          <p:cNvPr id="631" name="Google Shape;631;p35"/>
          <p:cNvSpPr/>
          <p:nvPr/>
        </p:nvSpPr>
        <p:spPr>
          <a:xfrm>
            <a:off x="2667989" y="3167869"/>
            <a:ext cx="3779400" cy="1894200"/>
          </a:xfrm>
          <a:prstGeom prst="roundRect">
            <a:avLst>
              <a:gd name="adj" fmla="val 16667"/>
            </a:avLst>
          </a:prstGeom>
          <a:solidFill>
            <a:srgbClr val="C8A84B"/>
          </a:solidFill>
          <a:ln w="9525" cap="flat" cmpd="sng">
            <a:solidFill>
              <a:srgbClr val="B4B4B4"/>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lvl="0" indent="0" algn="ctr" rtl="0">
              <a:spcBef>
                <a:spcPts val="0"/>
              </a:spcBef>
              <a:spcAft>
                <a:spcPts val="0"/>
              </a:spcAft>
              <a:buNone/>
            </a:pPr>
            <a:endParaRPr sz="1800">
              <a:solidFill>
                <a:schemeClr val="lt1"/>
              </a:solidFill>
            </a:endParaRPr>
          </a:p>
        </p:txBody>
      </p:sp>
      <p:sp>
        <p:nvSpPr>
          <p:cNvPr id="632" name="Google Shape;632;p35"/>
          <p:cNvSpPr txBox="1"/>
          <p:nvPr/>
        </p:nvSpPr>
        <p:spPr>
          <a:xfrm>
            <a:off x="2880949" y="3259309"/>
            <a:ext cx="2554800" cy="5232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400" b="1"/>
              <a:t>4. Intelligence &amp;</a:t>
            </a:r>
            <a:endParaRPr/>
          </a:p>
          <a:p>
            <a:pPr marL="0" lvl="0" indent="0" algn="l" rtl="0">
              <a:spcBef>
                <a:spcPts val="0"/>
              </a:spcBef>
              <a:spcAft>
                <a:spcPts val="0"/>
              </a:spcAft>
              <a:buNone/>
            </a:pPr>
            <a:r>
              <a:rPr lang="en-US" sz="1400" b="1"/>
              <a:t>Inter-Agency Coordination</a:t>
            </a:r>
            <a:endParaRPr/>
          </a:p>
        </p:txBody>
      </p:sp>
      <p:sp>
        <p:nvSpPr>
          <p:cNvPr id="633" name="Google Shape;633;p35"/>
          <p:cNvSpPr txBox="1"/>
          <p:nvPr/>
        </p:nvSpPr>
        <p:spPr>
          <a:xfrm>
            <a:off x="2880948" y="3858739"/>
            <a:ext cx="3547500" cy="1200288"/>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100" dirty="0"/>
              <a:t>• </a:t>
            </a:r>
            <a:r>
              <a:rPr lang="en-US" sz="1200" dirty="0"/>
              <a:t>Strengthen Human Intelligence inputs</a:t>
            </a:r>
            <a:endParaRPr sz="1200" dirty="0"/>
          </a:p>
          <a:p>
            <a:pPr marL="0" lvl="0" indent="0" algn="l" rtl="0">
              <a:spcBef>
                <a:spcPts val="0"/>
              </a:spcBef>
              <a:spcAft>
                <a:spcPts val="0"/>
              </a:spcAft>
              <a:buNone/>
            </a:pPr>
            <a:r>
              <a:rPr lang="en-US" sz="1200" dirty="0"/>
              <a:t>• Market surveys and field verification</a:t>
            </a:r>
            <a:endParaRPr sz="1600" dirty="0"/>
          </a:p>
          <a:p>
            <a:pPr marL="0" lvl="0" indent="0" algn="l" rtl="0">
              <a:spcBef>
                <a:spcPts val="0"/>
              </a:spcBef>
              <a:spcAft>
                <a:spcPts val="0"/>
              </a:spcAft>
              <a:buNone/>
            </a:pPr>
            <a:r>
              <a:rPr lang="en-US" sz="1200" dirty="0"/>
              <a:t>• Coordination with CBIC/ DGCI for interstate fraud networks.</a:t>
            </a:r>
            <a:endParaRPr sz="1200" dirty="0"/>
          </a:p>
          <a:p>
            <a:pPr marL="0" lvl="0" indent="0" algn="l" rtl="0">
              <a:spcBef>
                <a:spcPts val="0"/>
              </a:spcBef>
              <a:spcAft>
                <a:spcPts val="0"/>
              </a:spcAft>
              <a:buNone/>
            </a:pPr>
            <a:r>
              <a:rPr lang="en-US" sz="1200" dirty="0"/>
              <a:t>• Aadhaar e-KYC verification for high-risk taxpayers</a:t>
            </a:r>
            <a:endParaRPr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663"/>
        <p:cNvGrpSpPr/>
        <p:nvPr/>
      </p:nvGrpSpPr>
      <p:grpSpPr>
        <a:xfrm>
          <a:off x="0" y="0"/>
          <a:ext cx="0" cy="0"/>
          <a:chOff x="0" y="0"/>
          <a:chExt cx="0" cy="0"/>
        </a:xfrm>
      </p:grpSpPr>
      <p:sp>
        <p:nvSpPr>
          <p:cNvPr id="664" name="Google Shape;664;p37"/>
          <p:cNvSpPr txBox="1"/>
          <p:nvPr/>
        </p:nvSpPr>
        <p:spPr>
          <a:xfrm>
            <a:off x="336550" y="267970"/>
            <a:ext cx="732900" cy="732900"/>
          </a:xfrm>
          <a:prstGeom prst="rect">
            <a:avLst/>
          </a:prstGeom>
          <a:solidFill>
            <a:srgbClr val="497B9A"/>
          </a:solidFill>
          <a:ln>
            <a:noFill/>
          </a:ln>
        </p:spPr>
        <p:txBody>
          <a:bodyPr spcFirstLastPara="1" wrap="square" lIns="0" tIns="139050" rIns="0" bIns="0" anchor="t" anchorCtr="0">
            <a:spAutoFit/>
          </a:bodyPr>
          <a:lstStyle/>
          <a:p>
            <a:pPr marL="194310" lvl="0" indent="0" algn="l" rtl="0">
              <a:lnSpc>
                <a:spcPct val="100000"/>
              </a:lnSpc>
              <a:spcBef>
                <a:spcPts val="0"/>
              </a:spcBef>
              <a:spcAft>
                <a:spcPts val="0"/>
              </a:spcAft>
              <a:buNone/>
            </a:pPr>
            <a:r>
              <a:rPr lang="en-US" sz="2700" b="1">
                <a:solidFill>
                  <a:srgbClr val="FFFFFF"/>
                </a:solidFill>
                <a:latin typeface="Calibri"/>
                <a:ea typeface="Calibri"/>
                <a:cs typeface="Calibri"/>
                <a:sym typeface="Calibri"/>
              </a:rPr>
              <a:t>T8</a:t>
            </a:r>
            <a:endParaRPr sz="2700">
              <a:latin typeface="Calibri"/>
              <a:ea typeface="Calibri"/>
              <a:cs typeface="Calibri"/>
              <a:sym typeface="Calibri"/>
            </a:endParaRPr>
          </a:p>
        </p:txBody>
      </p:sp>
      <p:sp>
        <p:nvSpPr>
          <p:cNvPr id="665" name="Google Shape;665;p37"/>
          <p:cNvSpPr txBox="1"/>
          <p:nvPr/>
        </p:nvSpPr>
        <p:spPr>
          <a:xfrm>
            <a:off x="518261" y="831596"/>
            <a:ext cx="4703400" cy="342900"/>
          </a:xfrm>
          <a:prstGeom prst="rect">
            <a:avLst/>
          </a:prstGeom>
          <a:noFill/>
          <a:ln>
            <a:noFill/>
          </a:ln>
        </p:spPr>
        <p:txBody>
          <a:bodyPr spcFirstLastPara="1" wrap="square" lIns="0" tIns="15225" rIns="0" bIns="0" anchor="t" anchorCtr="0">
            <a:spAutoFit/>
          </a:bodyPr>
          <a:lstStyle/>
          <a:p>
            <a:pPr marL="681990" lvl="0" indent="0" algn="l" rtl="0">
              <a:lnSpc>
                <a:spcPct val="100000"/>
              </a:lnSpc>
              <a:spcBef>
                <a:spcPts val="0"/>
              </a:spcBef>
              <a:spcAft>
                <a:spcPts val="0"/>
              </a:spcAft>
              <a:buNone/>
            </a:pPr>
            <a:r>
              <a:rPr lang="en-US" sz="950" i="1">
                <a:solidFill>
                  <a:srgbClr val="2C5F7B"/>
                </a:solidFill>
                <a:latin typeface="Calibri"/>
                <a:ea typeface="Calibri"/>
                <a:cs typeface="Calibri"/>
                <a:sym typeface="Calibri"/>
              </a:rPr>
              <a:t>A bundle of targeted, time-bound campaigns that build momentum and morale.</a:t>
            </a:r>
            <a:endParaRPr sz="950">
              <a:latin typeface="Calibri"/>
              <a:ea typeface="Calibri"/>
              <a:cs typeface="Calibri"/>
              <a:sym typeface="Calibri"/>
            </a:endParaRPr>
          </a:p>
          <a:p>
            <a:pPr marL="12700" lvl="0" indent="0" algn="l" rtl="0">
              <a:lnSpc>
                <a:spcPct val="100000"/>
              </a:lnSpc>
              <a:spcBef>
                <a:spcPts val="550"/>
              </a:spcBef>
              <a:spcAft>
                <a:spcPts val="0"/>
              </a:spcAft>
              <a:buNone/>
            </a:pPr>
            <a:r>
              <a:rPr lang="en-US" sz="650" b="1">
                <a:solidFill>
                  <a:srgbClr val="6B7B8E"/>
                </a:solidFill>
                <a:latin typeface="Calibri"/>
                <a:ea typeface="Calibri"/>
                <a:cs typeface="Calibri"/>
                <a:sym typeface="Calibri"/>
              </a:rPr>
              <a:t>T H E M E</a:t>
            </a:r>
            <a:endParaRPr sz="650">
              <a:latin typeface="Calibri"/>
              <a:ea typeface="Calibri"/>
              <a:cs typeface="Calibri"/>
              <a:sym typeface="Calibri"/>
            </a:endParaRPr>
          </a:p>
        </p:txBody>
      </p:sp>
      <p:sp>
        <p:nvSpPr>
          <p:cNvPr id="666" name="Google Shape;666;p37"/>
          <p:cNvSpPr txBox="1">
            <a:spLocks noGrp="1"/>
          </p:cNvSpPr>
          <p:nvPr>
            <p:ph type="title"/>
          </p:nvPr>
        </p:nvSpPr>
        <p:spPr>
          <a:xfrm>
            <a:off x="1187602" y="336549"/>
            <a:ext cx="6306300" cy="3240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a:t>Special Enforcement Theme based Drives</a:t>
            </a:r>
            <a:endParaRPr/>
          </a:p>
        </p:txBody>
      </p:sp>
      <p:grpSp>
        <p:nvGrpSpPr>
          <p:cNvPr id="667" name="Google Shape;667;p37"/>
          <p:cNvGrpSpPr/>
          <p:nvPr/>
        </p:nvGrpSpPr>
        <p:grpSpPr>
          <a:xfrm>
            <a:off x="342900" y="1337310"/>
            <a:ext cx="5486654" cy="3291840"/>
            <a:chOff x="342900" y="1337310"/>
            <a:chExt cx="5486654" cy="3291840"/>
          </a:xfrm>
        </p:grpSpPr>
        <p:sp>
          <p:nvSpPr>
            <p:cNvPr id="668" name="Google Shape;668;p37"/>
            <p:cNvSpPr/>
            <p:nvPr/>
          </p:nvSpPr>
          <p:spPr>
            <a:xfrm>
              <a:off x="397764" y="1337310"/>
              <a:ext cx="5431790" cy="3291840"/>
            </a:xfrm>
            <a:custGeom>
              <a:avLst/>
              <a:gdLst/>
              <a:ahLst/>
              <a:cxnLst/>
              <a:rect l="l" t="t" r="r" b="b"/>
              <a:pathLst>
                <a:path w="5431790" h="3291840" extrusionOk="0">
                  <a:moveTo>
                    <a:pt x="0" y="3291840"/>
                  </a:moveTo>
                  <a:lnTo>
                    <a:pt x="5431536" y="3291840"/>
                  </a:lnTo>
                  <a:lnTo>
                    <a:pt x="5431536" y="0"/>
                  </a:lnTo>
                  <a:lnTo>
                    <a:pt x="0" y="0"/>
                  </a:lnTo>
                  <a:lnTo>
                    <a:pt x="0" y="3291840"/>
                  </a:lnTo>
                  <a:close/>
                </a:path>
              </a:pathLst>
            </a:custGeom>
            <a:solidFill>
              <a:srgbClr val="F4F8FA"/>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69" name="Google Shape;669;p37"/>
            <p:cNvSpPr/>
            <p:nvPr/>
          </p:nvSpPr>
          <p:spPr>
            <a:xfrm>
              <a:off x="342900" y="1337310"/>
              <a:ext cx="5486400" cy="3291840"/>
            </a:xfrm>
            <a:custGeom>
              <a:avLst/>
              <a:gdLst/>
              <a:ahLst/>
              <a:cxnLst/>
              <a:rect l="l" t="t" r="r" b="b"/>
              <a:pathLst>
                <a:path w="5486400" h="3291840" extrusionOk="0">
                  <a:moveTo>
                    <a:pt x="0" y="3291840"/>
                  </a:moveTo>
                  <a:lnTo>
                    <a:pt x="5486400" y="3291840"/>
                  </a:lnTo>
                  <a:lnTo>
                    <a:pt x="5486400" y="0"/>
                  </a:lnTo>
                  <a:lnTo>
                    <a:pt x="0" y="0"/>
                  </a:lnTo>
                  <a:lnTo>
                    <a:pt x="0" y="3291840"/>
                  </a:lnTo>
                  <a:close/>
                </a:path>
              </a:pathLst>
            </a:custGeom>
            <a:noFill/>
            <a:ln w="9525" cap="flat" cmpd="sng">
              <a:solidFill>
                <a:srgbClr val="DDE9F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0" name="Google Shape;670;p37"/>
            <p:cNvSpPr/>
            <p:nvPr/>
          </p:nvSpPr>
          <p:spPr>
            <a:xfrm>
              <a:off x="342900" y="1337310"/>
              <a:ext cx="55245" cy="3291840"/>
            </a:xfrm>
            <a:custGeom>
              <a:avLst/>
              <a:gdLst/>
              <a:ahLst/>
              <a:cxnLst/>
              <a:rect l="l" t="t" r="r" b="b"/>
              <a:pathLst>
                <a:path w="55245" h="3291840" extrusionOk="0">
                  <a:moveTo>
                    <a:pt x="54864" y="0"/>
                  </a:moveTo>
                  <a:lnTo>
                    <a:pt x="0" y="0"/>
                  </a:lnTo>
                  <a:lnTo>
                    <a:pt x="0" y="3291840"/>
                  </a:lnTo>
                  <a:lnTo>
                    <a:pt x="54864" y="3291840"/>
                  </a:lnTo>
                  <a:lnTo>
                    <a:pt x="54864" y="0"/>
                  </a:lnTo>
                  <a:close/>
                </a:path>
              </a:pathLst>
            </a:custGeom>
            <a:solidFill>
              <a:srgbClr val="497B9A"/>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1" name="Google Shape;671;p37"/>
            <p:cNvSpPr/>
            <p:nvPr/>
          </p:nvSpPr>
          <p:spPr>
            <a:xfrm>
              <a:off x="342900" y="1337310"/>
              <a:ext cx="55245" cy="3291840"/>
            </a:xfrm>
            <a:custGeom>
              <a:avLst/>
              <a:gdLst/>
              <a:ahLst/>
              <a:cxnLst/>
              <a:rect l="l" t="t" r="r" b="b"/>
              <a:pathLst>
                <a:path w="55245" h="3291840" extrusionOk="0">
                  <a:moveTo>
                    <a:pt x="0" y="3291840"/>
                  </a:moveTo>
                  <a:lnTo>
                    <a:pt x="54864" y="3291840"/>
                  </a:lnTo>
                  <a:lnTo>
                    <a:pt x="54864" y="0"/>
                  </a:lnTo>
                  <a:lnTo>
                    <a:pt x="0" y="0"/>
                  </a:lnTo>
                  <a:lnTo>
                    <a:pt x="0" y="3291840"/>
                  </a:lnTo>
                  <a:close/>
                </a:path>
              </a:pathLst>
            </a:custGeom>
            <a:noFill/>
            <a:ln w="12700" cap="flat" cmpd="sng">
              <a:solidFill>
                <a:srgbClr val="497B9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72" name="Google Shape;672;p37"/>
          <p:cNvSpPr txBox="1"/>
          <p:nvPr/>
        </p:nvSpPr>
        <p:spPr>
          <a:xfrm>
            <a:off x="522223" y="1442669"/>
            <a:ext cx="285000" cy="152400"/>
          </a:xfrm>
          <a:prstGeom prst="rect">
            <a:avLst/>
          </a:prstGeom>
          <a:noFill/>
          <a:ln>
            <a:noFill/>
          </a:ln>
        </p:spPr>
        <p:txBody>
          <a:bodyPr spcFirstLastPara="1" wrap="square" lIns="0" tIns="16500" rIns="0" bIns="0" anchor="t" anchorCtr="0">
            <a:spAutoFit/>
          </a:bodyPr>
          <a:lstStyle/>
          <a:p>
            <a:pPr marL="12700" lvl="0" indent="0" algn="l" rtl="0">
              <a:lnSpc>
                <a:spcPct val="100000"/>
              </a:lnSpc>
              <a:spcBef>
                <a:spcPts val="0"/>
              </a:spcBef>
              <a:spcAft>
                <a:spcPts val="0"/>
              </a:spcAft>
              <a:buNone/>
            </a:pPr>
            <a:r>
              <a:rPr lang="en-US" sz="800" b="1">
                <a:solidFill>
                  <a:srgbClr val="6B7B8E"/>
                </a:solidFill>
                <a:latin typeface="Calibri"/>
                <a:ea typeface="Calibri"/>
                <a:cs typeface="Calibri"/>
                <a:sym typeface="Calibri"/>
              </a:rPr>
              <a:t>H o w</a:t>
            </a:r>
            <a:endParaRPr sz="800">
              <a:latin typeface="Calibri"/>
              <a:ea typeface="Calibri"/>
              <a:cs typeface="Calibri"/>
              <a:sym typeface="Calibri"/>
            </a:endParaRPr>
          </a:p>
        </p:txBody>
      </p:sp>
      <p:sp>
        <p:nvSpPr>
          <p:cNvPr id="673" name="Google Shape;673;p37"/>
          <p:cNvSpPr txBox="1"/>
          <p:nvPr/>
        </p:nvSpPr>
        <p:spPr>
          <a:xfrm>
            <a:off x="522223" y="1638680"/>
            <a:ext cx="1331700" cy="2325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1350" b="1">
                <a:solidFill>
                  <a:srgbClr val="1F3863"/>
                </a:solidFill>
                <a:latin typeface="Calibri"/>
                <a:ea typeface="Calibri"/>
                <a:cs typeface="Calibri"/>
                <a:sym typeface="Calibri"/>
              </a:rPr>
              <a:t>Operational levers</a:t>
            </a:r>
            <a:endParaRPr sz="1350">
              <a:latin typeface="Calibri"/>
              <a:ea typeface="Calibri"/>
              <a:cs typeface="Calibri"/>
              <a:sym typeface="Calibri"/>
            </a:endParaRPr>
          </a:p>
        </p:txBody>
      </p:sp>
      <p:sp>
        <p:nvSpPr>
          <p:cNvPr id="674" name="Google Shape;674;p37"/>
          <p:cNvSpPr txBox="1"/>
          <p:nvPr/>
        </p:nvSpPr>
        <p:spPr>
          <a:xfrm>
            <a:off x="575462" y="1998980"/>
            <a:ext cx="5169600" cy="2388900"/>
          </a:xfrm>
          <a:prstGeom prst="rect">
            <a:avLst/>
          </a:prstGeom>
          <a:noFill/>
          <a:ln>
            <a:noFill/>
          </a:ln>
        </p:spPr>
        <p:txBody>
          <a:bodyPr spcFirstLastPara="1" wrap="square" lIns="0" tIns="12700" rIns="0" bIns="0" anchor="t" anchorCtr="0">
            <a:spAutoFit/>
          </a:bodyPr>
          <a:lstStyle/>
          <a:p>
            <a:pPr marL="333375" marR="144145" lvl="0" indent="-257810" algn="l" rtl="0">
              <a:lnSpc>
                <a:spcPct val="100000"/>
              </a:lnSpc>
              <a:spcBef>
                <a:spcPts val="0"/>
              </a:spcBef>
              <a:spcAft>
                <a:spcPts val="0"/>
              </a:spcAft>
              <a:buClr>
                <a:srgbClr val="2C3D50"/>
              </a:buClr>
              <a:buSzPts val="1400"/>
              <a:buFont typeface="Calibri"/>
              <a:buChar char="●"/>
            </a:pPr>
            <a:r>
              <a:rPr lang="en-US" sz="1400">
                <a:solidFill>
                  <a:srgbClr val="2C3D50"/>
                </a:solidFill>
                <a:latin typeface="Calibri"/>
                <a:ea typeface="Calibri"/>
                <a:cs typeface="Calibri"/>
                <a:sym typeface="Calibri"/>
              </a:rPr>
              <a:t>40-GTA Drive: top 40 GTAs search and seizures operation were conducted on 22</a:t>
            </a:r>
            <a:r>
              <a:rPr lang="en-US" sz="1350" baseline="30000">
                <a:solidFill>
                  <a:srgbClr val="2C3D50"/>
                </a:solidFill>
                <a:latin typeface="Calibri"/>
                <a:ea typeface="Calibri"/>
                <a:cs typeface="Calibri"/>
                <a:sym typeface="Calibri"/>
              </a:rPr>
              <a:t>nd </a:t>
            </a:r>
            <a:r>
              <a:rPr lang="en-US" sz="1400">
                <a:solidFill>
                  <a:srgbClr val="2C3D50"/>
                </a:solidFill>
                <a:latin typeface="Calibri"/>
                <a:ea typeface="Calibri"/>
                <a:cs typeface="Calibri"/>
                <a:sym typeface="Calibri"/>
              </a:rPr>
              <a:t>May — match consignment notes, e-way bills, FASTag, RCM</a:t>
            </a:r>
            <a:endParaRPr sz="1400">
              <a:latin typeface="Calibri"/>
              <a:ea typeface="Calibri"/>
              <a:cs typeface="Calibri"/>
              <a:sym typeface="Calibri"/>
            </a:endParaRPr>
          </a:p>
          <a:p>
            <a:pPr marL="333375" marR="262255" lvl="0" indent="-257810" algn="l" rtl="0">
              <a:lnSpc>
                <a:spcPct val="100000"/>
              </a:lnSpc>
              <a:spcBef>
                <a:spcPts val="600"/>
              </a:spcBef>
              <a:spcAft>
                <a:spcPts val="0"/>
              </a:spcAft>
              <a:buClr>
                <a:srgbClr val="2C3D50"/>
              </a:buClr>
              <a:buSzPts val="1400"/>
              <a:buFont typeface="Calibri"/>
              <a:buChar char="●"/>
            </a:pPr>
            <a:r>
              <a:rPr lang="en-US" sz="1400">
                <a:solidFill>
                  <a:srgbClr val="2C3D50"/>
                </a:solidFill>
                <a:latin typeface="Calibri"/>
                <a:ea typeface="Calibri"/>
                <a:cs typeface="Calibri"/>
                <a:sym typeface="Calibri"/>
              </a:rPr>
              <a:t>Similarly, more service sectors will be identified on technical parameter.  Enforcement, audit and scrutiny actions in any one sector will be undertaken each month.</a:t>
            </a:r>
            <a:endParaRPr sz="1400">
              <a:latin typeface="Calibri"/>
              <a:ea typeface="Calibri"/>
              <a:cs typeface="Calibri"/>
              <a:sym typeface="Calibri"/>
            </a:endParaRPr>
          </a:p>
          <a:p>
            <a:pPr marL="333375" marR="413384" lvl="0" indent="-257810" algn="l" rtl="0">
              <a:lnSpc>
                <a:spcPct val="100000"/>
              </a:lnSpc>
              <a:spcBef>
                <a:spcPts val="605"/>
              </a:spcBef>
              <a:spcAft>
                <a:spcPts val="0"/>
              </a:spcAft>
              <a:buClr>
                <a:srgbClr val="2C3D50"/>
              </a:buClr>
              <a:buSzPts val="1400"/>
              <a:buFont typeface="Calibri"/>
              <a:buChar char="●"/>
            </a:pPr>
            <a:r>
              <a:rPr lang="en-US" sz="1400">
                <a:solidFill>
                  <a:srgbClr val="2C3D50"/>
                </a:solidFill>
                <a:latin typeface="Calibri"/>
                <a:ea typeface="Calibri"/>
                <a:cs typeface="Calibri"/>
                <a:sym typeface="Calibri"/>
              </a:rPr>
              <a:t>Pre-Diwali / pre-wedding-season drives; Kishangarh-Makrana marble mandi reconciliation with mining royalty</a:t>
            </a:r>
            <a:endParaRPr sz="1400">
              <a:latin typeface="Calibri"/>
              <a:ea typeface="Calibri"/>
              <a:cs typeface="Calibri"/>
              <a:sym typeface="Calibri"/>
            </a:endParaRPr>
          </a:p>
          <a:p>
            <a:pPr marL="333375" lvl="0" indent="-257175" algn="l" rtl="0">
              <a:lnSpc>
                <a:spcPct val="100000"/>
              </a:lnSpc>
              <a:spcBef>
                <a:spcPts val="600"/>
              </a:spcBef>
              <a:spcAft>
                <a:spcPts val="0"/>
              </a:spcAft>
              <a:buClr>
                <a:srgbClr val="2C3D50"/>
              </a:buClr>
              <a:buSzPts val="1400"/>
              <a:buFont typeface="Calibri"/>
              <a:buChar char="●"/>
            </a:pPr>
            <a:r>
              <a:rPr lang="en-US" sz="1400">
                <a:solidFill>
                  <a:srgbClr val="2C3D50"/>
                </a:solidFill>
                <a:latin typeface="Calibri"/>
                <a:ea typeface="Calibri"/>
                <a:cs typeface="Calibri"/>
                <a:sym typeface="Calibri"/>
              </a:rPr>
              <a:t>GSTIN-Aadhaar e-KYC re-verification for high-risk HSNs (Ch.39, 71,</a:t>
            </a:r>
            <a:endParaRPr sz="1400">
              <a:latin typeface="Calibri"/>
              <a:ea typeface="Calibri"/>
              <a:cs typeface="Calibri"/>
              <a:sym typeface="Calibri"/>
            </a:endParaRPr>
          </a:p>
          <a:p>
            <a:pPr marL="333375" lvl="0" indent="0" algn="l" rtl="0">
              <a:lnSpc>
                <a:spcPct val="100000"/>
              </a:lnSpc>
              <a:spcBef>
                <a:spcPts val="0"/>
              </a:spcBef>
              <a:spcAft>
                <a:spcPts val="0"/>
              </a:spcAft>
              <a:buNone/>
            </a:pPr>
            <a:r>
              <a:rPr lang="en-US" sz="1400">
                <a:solidFill>
                  <a:srgbClr val="2C3D50"/>
                </a:solidFill>
                <a:latin typeface="Calibri"/>
                <a:ea typeface="Calibri"/>
                <a:cs typeface="Calibri"/>
                <a:sym typeface="Calibri"/>
              </a:rPr>
              <a:t>72–81, 23)</a:t>
            </a:r>
            <a:endParaRPr sz="1400">
              <a:latin typeface="Calibri"/>
              <a:ea typeface="Calibri"/>
              <a:cs typeface="Calibri"/>
              <a:sym typeface="Calibri"/>
            </a:endParaRPr>
          </a:p>
        </p:txBody>
      </p:sp>
      <p:grpSp>
        <p:nvGrpSpPr>
          <p:cNvPr id="675" name="Google Shape;675;p37"/>
          <p:cNvGrpSpPr/>
          <p:nvPr/>
        </p:nvGrpSpPr>
        <p:grpSpPr>
          <a:xfrm>
            <a:off x="5966459" y="3051810"/>
            <a:ext cx="2812034" cy="1577339"/>
            <a:chOff x="5966459" y="3051810"/>
            <a:chExt cx="2812034" cy="1577339"/>
          </a:xfrm>
        </p:grpSpPr>
        <p:sp>
          <p:nvSpPr>
            <p:cNvPr id="676" name="Google Shape;676;p37"/>
            <p:cNvSpPr/>
            <p:nvPr/>
          </p:nvSpPr>
          <p:spPr>
            <a:xfrm>
              <a:off x="6021323" y="3051810"/>
              <a:ext cx="2757170" cy="1577339"/>
            </a:xfrm>
            <a:custGeom>
              <a:avLst/>
              <a:gdLst/>
              <a:ahLst/>
              <a:cxnLst/>
              <a:rect l="l" t="t" r="r" b="b"/>
              <a:pathLst>
                <a:path w="2757170" h="1577339" extrusionOk="0">
                  <a:moveTo>
                    <a:pt x="0" y="1577339"/>
                  </a:moveTo>
                  <a:lnTo>
                    <a:pt x="2756916" y="1577339"/>
                  </a:lnTo>
                  <a:lnTo>
                    <a:pt x="2756916" y="0"/>
                  </a:lnTo>
                  <a:lnTo>
                    <a:pt x="0" y="0"/>
                  </a:lnTo>
                  <a:lnTo>
                    <a:pt x="0" y="1577339"/>
                  </a:lnTo>
                  <a:close/>
                </a:path>
              </a:pathLst>
            </a:custGeom>
            <a:solidFill>
              <a:srgbClr val="F4F8FA"/>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7" name="Google Shape;677;p37"/>
            <p:cNvSpPr/>
            <p:nvPr/>
          </p:nvSpPr>
          <p:spPr>
            <a:xfrm>
              <a:off x="5966459" y="3051810"/>
              <a:ext cx="2811779" cy="1577339"/>
            </a:xfrm>
            <a:custGeom>
              <a:avLst/>
              <a:gdLst/>
              <a:ahLst/>
              <a:cxnLst/>
              <a:rect l="l" t="t" r="r" b="b"/>
              <a:pathLst>
                <a:path w="2811779" h="1577339" extrusionOk="0">
                  <a:moveTo>
                    <a:pt x="0" y="1577339"/>
                  </a:moveTo>
                  <a:lnTo>
                    <a:pt x="2811780" y="1577339"/>
                  </a:lnTo>
                  <a:lnTo>
                    <a:pt x="2811780" y="0"/>
                  </a:lnTo>
                  <a:lnTo>
                    <a:pt x="0" y="0"/>
                  </a:lnTo>
                  <a:lnTo>
                    <a:pt x="0" y="1577339"/>
                  </a:lnTo>
                  <a:close/>
                </a:path>
              </a:pathLst>
            </a:custGeom>
            <a:noFill/>
            <a:ln w="9525" cap="flat" cmpd="sng">
              <a:solidFill>
                <a:srgbClr val="DDE9F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8" name="Google Shape;678;p37"/>
            <p:cNvSpPr/>
            <p:nvPr/>
          </p:nvSpPr>
          <p:spPr>
            <a:xfrm>
              <a:off x="5966459" y="3051810"/>
              <a:ext cx="55245" cy="1577339"/>
            </a:xfrm>
            <a:custGeom>
              <a:avLst/>
              <a:gdLst/>
              <a:ahLst/>
              <a:cxnLst/>
              <a:rect l="l" t="t" r="r" b="b"/>
              <a:pathLst>
                <a:path w="55245" h="1577339" extrusionOk="0">
                  <a:moveTo>
                    <a:pt x="54863" y="0"/>
                  </a:moveTo>
                  <a:lnTo>
                    <a:pt x="0" y="0"/>
                  </a:lnTo>
                  <a:lnTo>
                    <a:pt x="0" y="1577339"/>
                  </a:lnTo>
                  <a:lnTo>
                    <a:pt x="54863" y="1577339"/>
                  </a:lnTo>
                  <a:lnTo>
                    <a:pt x="54863" y="0"/>
                  </a:lnTo>
                  <a:close/>
                </a:path>
              </a:pathLst>
            </a:custGeom>
            <a:solidFill>
              <a:srgbClr val="5A8F6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79" name="Google Shape;679;p37"/>
            <p:cNvSpPr/>
            <p:nvPr/>
          </p:nvSpPr>
          <p:spPr>
            <a:xfrm>
              <a:off x="5966459" y="3051810"/>
              <a:ext cx="55245" cy="1577339"/>
            </a:xfrm>
            <a:custGeom>
              <a:avLst/>
              <a:gdLst/>
              <a:ahLst/>
              <a:cxnLst/>
              <a:rect l="l" t="t" r="r" b="b"/>
              <a:pathLst>
                <a:path w="55245" h="1577339" extrusionOk="0">
                  <a:moveTo>
                    <a:pt x="0" y="1577339"/>
                  </a:moveTo>
                  <a:lnTo>
                    <a:pt x="54863" y="1577339"/>
                  </a:lnTo>
                  <a:lnTo>
                    <a:pt x="54863" y="0"/>
                  </a:lnTo>
                  <a:lnTo>
                    <a:pt x="0" y="0"/>
                  </a:lnTo>
                  <a:lnTo>
                    <a:pt x="0" y="1577339"/>
                  </a:lnTo>
                  <a:close/>
                </a:path>
              </a:pathLst>
            </a:custGeom>
            <a:noFill/>
            <a:ln w="12700" cap="flat" cmpd="sng">
              <a:solidFill>
                <a:srgbClr val="5A8F69"/>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80" name="Google Shape;680;p37"/>
          <p:cNvSpPr txBox="1"/>
          <p:nvPr/>
        </p:nvSpPr>
        <p:spPr>
          <a:xfrm>
            <a:off x="6027673" y="3099435"/>
            <a:ext cx="2746500" cy="814800"/>
          </a:xfrm>
          <a:prstGeom prst="rect">
            <a:avLst/>
          </a:prstGeom>
          <a:noFill/>
          <a:ln>
            <a:noFill/>
          </a:ln>
        </p:spPr>
        <p:txBody>
          <a:bodyPr spcFirstLastPara="1" wrap="square" lIns="0" tIns="41275" rIns="0" bIns="0" anchor="t" anchorCtr="0">
            <a:spAutoFit/>
          </a:bodyPr>
          <a:lstStyle/>
          <a:p>
            <a:pPr marL="111125" lvl="0" indent="0" algn="l" rtl="0">
              <a:lnSpc>
                <a:spcPct val="100000"/>
              </a:lnSpc>
              <a:spcBef>
                <a:spcPts val="0"/>
              </a:spcBef>
              <a:spcAft>
                <a:spcPts val="0"/>
              </a:spcAft>
              <a:buNone/>
            </a:pPr>
            <a:r>
              <a:rPr lang="en-US" sz="1200" b="1">
                <a:solidFill>
                  <a:srgbClr val="6B7B8E"/>
                </a:solidFill>
                <a:latin typeface="Calibri"/>
                <a:ea typeface="Calibri"/>
                <a:cs typeface="Calibri"/>
                <a:sym typeface="Calibri"/>
              </a:rPr>
              <a:t>E x p e c t e d o u t c o m e</a:t>
            </a:r>
            <a:endParaRPr sz="1200">
              <a:latin typeface="Calibri"/>
              <a:ea typeface="Calibri"/>
              <a:cs typeface="Calibri"/>
              <a:sym typeface="Calibri"/>
            </a:endParaRPr>
          </a:p>
          <a:p>
            <a:pPr marL="111125" marR="90805" lvl="0" indent="0" algn="l" rtl="0">
              <a:lnSpc>
                <a:spcPct val="100000"/>
              </a:lnSpc>
              <a:spcBef>
                <a:spcPts val="225"/>
              </a:spcBef>
              <a:spcAft>
                <a:spcPts val="0"/>
              </a:spcAft>
              <a:buNone/>
            </a:pPr>
            <a:r>
              <a:rPr lang="en-US" sz="1200">
                <a:solidFill>
                  <a:srgbClr val="2C3D50"/>
                </a:solidFill>
                <a:latin typeface="Calibri"/>
                <a:ea typeface="Calibri"/>
                <a:cs typeface="Calibri"/>
                <a:sym typeface="Calibri"/>
              </a:rPr>
              <a:t>Each drive delivers ₹100–250 cr incremental collection; builds deterrence and departmental morale.</a:t>
            </a:r>
            <a:endParaRPr sz="1200">
              <a:latin typeface="Calibri"/>
              <a:ea typeface="Calibri"/>
              <a:cs typeface="Calibri"/>
              <a:sym typeface="Calibri"/>
            </a:endParaRPr>
          </a:p>
        </p:txBody>
      </p:sp>
      <p:sp>
        <p:nvSpPr>
          <p:cNvPr id="681" name="Google Shape;681;p37"/>
          <p:cNvSpPr/>
          <p:nvPr/>
        </p:nvSpPr>
        <p:spPr>
          <a:xfrm>
            <a:off x="342900" y="4834890"/>
            <a:ext cx="8435340" cy="0"/>
          </a:xfrm>
          <a:custGeom>
            <a:avLst/>
            <a:gdLst/>
            <a:ahLst/>
            <a:cxnLst/>
            <a:rect l="l" t="t" r="r" b="b"/>
            <a:pathLst>
              <a:path w="8435340" h="120000" extrusionOk="0">
                <a:moveTo>
                  <a:pt x="0" y="0"/>
                </a:moveTo>
                <a:lnTo>
                  <a:pt x="8435340" y="0"/>
                </a:lnTo>
              </a:path>
            </a:pathLst>
          </a:custGeom>
          <a:noFill/>
          <a:ln w="9525" cap="flat" cmpd="sng">
            <a:solidFill>
              <a:srgbClr val="C7D5D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82" name="Google Shape;682;p37"/>
          <p:cNvSpPr txBox="1"/>
          <p:nvPr/>
        </p:nvSpPr>
        <p:spPr>
          <a:xfrm>
            <a:off x="421640" y="4918049"/>
            <a:ext cx="1993800" cy="1284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650" i="1">
                <a:solidFill>
                  <a:srgbClr val="6B7B8E"/>
                </a:solidFill>
                <a:latin typeface="Calibri"/>
                <a:ea typeface="Calibri"/>
                <a:cs typeface="Calibri"/>
                <a:sym typeface="Calibri"/>
              </a:rPr>
              <a:t>Action Plan | Commercial Taxes Department, Rajasthan</a:t>
            </a:r>
            <a:endParaRPr sz="650">
              <a:latin typeface="Calibri"/>
              <a:ea typeface="Calibri"/>
              <a:cs typeface="Calibri"/>
              <a:sym typeface="Calibri"/>
            </a:endParaRPr>
          </a:p>
        </p:txBody>
      </p:sp>
      <p:sp>
        <p:nvSpPr>
          <p:cNvPr id="683" name="Google Shape;683;p37"/>
          <p:cNvSpPr txBox="1"/>
          <p:nvPr/>
        </p:nvSpPr>
        <p:spPr>
          <a:xfrm>
            <a:off x="8431530" y="4918049"/>
            <a:ext cx="268500" cy="128400"/>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650">
                <a:solidFill>
                  <a:srgbClr val="6B7B8E"/>
                </a:solidFill>
                <a:latin typeface="Calibri"/>
                <a:ea typeface="Calibri"/>
                <a:cs typeface="Calibri"/>
                <a:sym typeface="Calibri"/>
              </a:rPr>
              <a:t>15 / 16</a:t>
            </a:r>
            <a:endParaRPr sz="650">
              <a:latin typeface="Calibri"/>
              <a:ea typeface="Calibri"/>
              <a:cs typeface="Calibri"/>
              <a:sym typeface="Calibri"/>
            </a:endParaRPr>
          </a:p>
        </p:txBody>
      </p:sp>
      <p:sp>
        <p:nvSpPr>
          <p:cNvPr id="684" name="Google Shape;684;p37"/>
          <p:cNvSpPr txBox="1"/>
          <p:nvPr/>
        </p:nvSpPr>
        <p:spPr>
          <a:xfrm>
            <a:off x="5994081" y="1302005"/>
            <a:ext cx="2301900" cy="97470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1200" b="1">
                <a:solidFill>
                  <a:srgbClr val="6B7B8E"/>
                </a:solidFill>
                <a:latin typeface="Calibri"/>
                <a:ea typeface="Calibri"/>
                <a:cs typeface="Calibri"/>
                <a:sym typeface="Calibri"/>
              </a:rPr>
              <a:t>Addresses following diagnostic points</a:t>
            </a:r>
            <a:br>
              <a:rPr lang="en-US" sz="1200" b="1">
                <a:solidFill>
                  <a:srgbClr val="6B7B8E"/>
                </a:solidFill>
                <a:latin typeface="Calibri"/>
                <a:ea typeface="Calibri"/>
                <a:cs typeface="Calibri"/>
                <a:sym typeface="Calibri"/>
              </a:rPr>
            </a:br>
            <a:endParaRPr sz="1200" b="1">
              <a:solidFill>
                <a:srgbClr val="6B7B8E"/>
              </a:solidFill>
              <a:latin typeface="Calibri"/>
              <a:ea typeface="Calibri"/>
              <a:cs typeface="Calibri"/>
              <a:sym typeface="Calibri"/>
            </a:endParaRPr>
          </a:p>
          <a:p>
            <a:pPr marL="171450" lvl="0" indent="-171450" algn="l" rtl="0">
              <a:lnSpc>
                <a:spcPct val="100000"/>
              </a:lnSpc>
              <a:spcBef>
                <a:spcPts val="10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Eway bill to revenue</a:t>
            </a:r>
            <a:endParaRPr/>
          </a:p>
          <a:p>
            <a:pPr marL="171450" lvl="0" indent="-171450" algn="l" rtl="0">
              <a:lnSpc>
                <a:spcPct val="100000"/>
              </a:lnSpc>
              <a:spcBef>
                <a:spcPts val="10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Growth Lag</a:t>
            </a:r>
            <a:endParaRPr/>
          </a:p>
          <a:p>
            <a:pPr marL="171450" lvl="0" indent="-171450" algn="l" rtl="0">
              <a:lnSpc>
                <a:spcPct val="100000"/>
              </a:lnSpc>
              <a:spcBef>
                <a:spcPts val="100"/>
              </a:spcBef>
              <a:spcAft>
                <a:spcPts val="0"/>
              </a:spcAft>
              <a:buClr>
                <a:schemeClr val="dk1"/>
              </a:buClr>
              <a:buSzPts val="1200"/>
              <a:buFont typeface="Arial"/>
              <a:buChar char="•"/>
            </a:pPr>
            <a:r>
              <a:rPr lang="en-US" sz="1200">
                <a:solidFill>
                  <a:schemeClr val="dk1"/>
                </a:solidFill>
                <a:latin typeface="Calibri"/>
                <a:ea typeface="Calibri"/>
                <a:cs typeface="Calibri"/>
                <a:sym typeface="Calibri"/>
              </a:rPr>
              <a:t>Peer band and cash anomaly</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e4c2e77-0f92-4431-9efb-2793f6bf4af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D6B3DEB6B1CE3489E898AF9A4E71F4E" ma:contentTypeVersion="14" ma:contentTypeDescription="Create a new document." ma:contentTypeScope="" ma:versionID="c3bb8614aae59ad3f6dd356bd068e764">
  <xsd:schema xmlns:xsd="http://www.w3.org/2001/XMLSchema" xmlns:xs="http://www.w3.org/2001/XMLSchema" xmlns:p="http://schemas.microsoft.com/office/2006/metadata/properties" xmlns:ns3="be4c2e77-0f92-4431-9efb-2793f6bf4af2" xmlns:ns4="2265fab1-f434-4b2c-a419-a6dafc28ceae" targetNamespace="http://schemas.microsoft.com/office/2006/metadata/properties" ma:root="true" ma:fieldsID="41ed7b06483eb58af50ea89aeccc229a" ns3:_="" ns4:_="">
    <xsd:import namespace="be4c2e77-0f92-4431-9efb-2793f6bf4af2"/>
    <xsd:import namespace="2265fab1-f434-4b2c-a419-a6dafc28cea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4c2e77-0f92-4431-9efb-2793f6bf4af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265fab1-f434-4b2c-a419-a6dafc28ceae"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A0C7C6A-11D7-4BB7-9FED-03650951AD7B}">
  <ds:schemaRefs>
    <ds:schemaRef ds:uri="http://schemas.microsoft.com/sharepoint/v3/contenttype/forms"/>
  </ds:schemaRefs>
</ds:datastoreItem>
</file>

<file path=customXml/itemProps2.xml><?xml version="1.0" encoding="utf-8"?>
<ds:datastoreItem xmlns:ds="http://schemas.openxmlformats.org/officeDocument/2006/customXml" ds:itemID="{85007FFF-B401-4665-9670-F04339CD8DA9}">
  <ds:schemaRefs>
    <ds:schemaRef ds:uri="http://schemas.microsoft.com/office/2006/documentManagement/types"/>
    <ds:schemaRef ds:uri="http://www.w3.org/XML/1998/namespace"/>
    <ds:schemaRef ds:uri="http://purl.org/dc/terms/"/>
    <ds:schemaRef ds:uri="http://schemas.microsoft.com/office/2006/metadata/properties"/>
    <ds:schemaRef ds:uri="http://purl.org/dc/elements/1.1/"/>
    <ds:schemaRef ds:uri="http://schemas.microsoft.com/office/infopath/2007/PartnerControls"/>
    <ds:schemaRef ds:uri="http://purl.org/dc/dcmitype/"/>
    <ds:schemaRef ds:uri="http://schemas.openxmlformats.org/package/2006/metadata/core-properties"/>
    <ds:schemaRef ds:uri="2265fab1-f434-4b2c-a419-a6dafc28ceae"/>
    <ds:schemaRef ds:uri="be4c2e77-0f92-4431-9efb-2793f6bf4af2"/>
  </ds:schemaRefs>
</ds:datastoreItem>
</file>

<file path=customXml/itemProps3.xml><?xml version="1.0" encoding="utf-8"?>
<ds:datastoreItem xmlns:ds="http://schemas.openxmlformats.org/officeDocument/2006/customXml" ds:itemID="{949DD3D0-D8E6-491E-BF18-2824264768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4c2e77-0f92-4431-9efb-2793f6bf4af2"/>
    <ds:schemaRef ds:uri="2265fab1-f434-4b2c-a419-a6dafc28cea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180</TotalTime>
  <Words>4533</Words>
  <Application>Microsoft Office PowerPoint</Application>
  <PresentationFormat>On-screen Show (16:9)</PresentationFormat>
  <Paragraphs>1040</Paragraphs>
  <Slides>21</Slides>
  <Notes>21</Notes>
  <HiddenSlides>4</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21</vt:i4>
      </vt:variant>
    </vt:vector>
  </HeadingPairs>
  <TitlesOfParts>
    <vt:vector size="29" baseType="lpstr">
      <vt:lpstr>Arial</vt:lpstr>
      <vt:lpstr>Calibri</vt:lpstr>
      <vt:lpstr>Quattrocento Sans</vt:lpstr>
      <vt:lpstr>Times New Roman</vt:lpstr>
      <vt:lpstr>Wingdings</vt:lpstr>
      <vt:lpstr>Office Theme</vt:lpstr>
      <vt:lpstr>1_Office Theme</vt:lpstr>
      <vt:lpstr>2_Office Theme</vt:lpstr>
      <vt:lpstr>GST REVENUE AUGMENTATION</vt:lpstr>
      <vt:lpstr>RAJASTHAN'S GST POSITION: KEY FINDINGS</vt:lpstr>
      <vt:lpstr>DATA VERIFICATION: THREE-METRIC COMPARISON — ALL 6 STATES</vt:lpstr>
      <vt:lpstr>PowerPoint Presentation</vt:lpstr>
      <vt:lpstr>PROBLEM #1: B2C RATIO (7× vs Benchmark 4.5×)</vt:lpstr>
      <vt:lpstr>PROBLEM #2: ANOMALY BAND — 5.37 LAKH UNDER-PAYING TAXPAYERS</vt:lpstr>
      <vt:lpstr>STRUCTURAL GAP: GST / GSDP RATIO — ALL STATES VERIFIED (CBIC + STATE SURVEYS)</vt:lpstr>
      <vt:lpstr>STRUCTURAL GAP: GST / GSDP RATIO — ALL STATES VERIFIED (CBIC + STATE SURVEYS)</vt:lpstr>
      <vt:lpstr>Major STEPS   ACTION PLAN</vt:lpstr>
      <vt:lpstr>#1 Organizational strengthening</vt:lpstr>
      <vt:lpstr>#2 Housekeeping — Clean Databases &amp; Pendency Disposal</vt:lpstr>
      <vt:lpstr>#3 AI Tools for Monitoring, Audit, Enforcement &amp; Scrutiny</vt:lpstr>
      <vt:lpstr>#4 Informers &amp; Government-Servant Reward Scheme</vt:lpstr>
      <vt:lpstr>#5 Expedite Legal cases disposal</vt:lpstr>
      <vt:lpstr>#6 Data-Driven Enforcement &amp; Special Drives</vt:lpstr>
      <vt:lpstr>#7 Enforcement Wing Strengthening — Fake ITC / Layer Cracking</vt:lpstr>
      <vt:lpstr>THANK YOU !!!</vt:lpstr>
      <vt:lpstr>#6 Data-Driven Enforcement &amp; Special Drives</vt:lpstr>
      <vt:lpstr>PowerPoint Presentation</vt:lpstr>
      <vt:lpstr>#6 Data-Driven Enforcement &amp; Special Drives</vt:lpstr>
      <vt:lpstr>Special Enforcement Theme based Drives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Jain, Anant</cp:lastModifiedBy>
  <cp:revision>30</cp:revision>
  <dcterms:modified xsi:type="dcterms:W3CDTF">2026-06-15T07:09:37Z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0x0101000D6B3DEB6B1CE3489E898AF9A4E71F4E</vt:lpwstr>
  </property>
</Properties>
</file>