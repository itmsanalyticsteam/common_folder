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1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7BD6"/>
    <a:srgbClr val="1B2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55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ECF27-53AD-E739-B934-09F08D9AF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D75B1-BE7D-3AD9-8482-8CBC3C0ED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0724D5-C92C-F44B-00DF-4783B4068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1D775-F9C5-2368-E5AF-273A7C11D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79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11612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9127" y="265076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Rajasthan's IGST Deduction Shortfall</a:t>
            </a:r>
            <a:endParaRPr lang="en-US" sz="3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6590BD0-DD08-F3D4-11F4-0C09A24FA5BC}"/>
              </a:ext>
            </a:extLst>
          </p:cNvPr>
          <p:cNvGrpSpPr/>
          <p:nvPr/>
        </p:nvGrpSpPr>
        <p:grpSpPr>
          <a:xfrm>
            <a:off x="182880" y="1497061"/>
            <a:ext cx="11683055" cy="3510873"/>
            <a:chOff x="182880" y="1497062"/>
            <a:chExt cx="11823192" cy="2670046"/>
          </a:xfrm>
        </p:grpSpPr>
        <p:sp>
          <p:nvSpPr>
            <p:cNvPr id="33" name="Shape 26"/>
            <p:cNvSpPr/>
            <p:nvPr/>
          </p:nvSpPr>
          <p:spPr>
            <a:xfrm>
              <a:off x="502920" y="1661654"/>
              <a:ext cx="7123175" cy="0"/>
            </a:xfrm>
            <a:prstGeom prst="line">
              <a:avLst/>
            </a:prstGeom>
            <a:noFill/>
            <a:ln w="12700">
              <a:solidFill>
                <a:srgbClr val="D7DEE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Shape 27"/>
            <p:cNvSpPr/>
            <p:nvPr/>
          </p:nvSpPr>
          <p:spPr>
            <a:xfrm>
              <a:off x="7223760" y="1661654"/>
              <a:ext cx="4480560" cy="0"/>
            </a:xfrm>
            <a:prstGeom prst="line">
              <a:avLst/>
            </a:prstGeom>
            <a:noFill/>
            <a:ln w="12700">
              <a:solidFill>
                <a:srgbClr val="D7DEE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 29"/>
            <p:cNvSpPr/>
            <p:nvPr/>
          </p:nvSpPr>
          <p:spPr>
            <a:xfrm>
              <a:off x="5021428" y="1497062"/>
              <a:ext cx="2148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spc="12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SHORTFALL</a:t>
              </a:r>
              <a:endParaRPr lang="en-US" sz="1200" dirty="0"/>
            </a:p>
          </p:txBody>
        </p:sp>
        <p:sp>
          <p:nvSpPr>
            <p:cNvPr id="37" name="Shape 30"/>
            <p:cNvSpPr/>
            <p:nvPr/>
          </p:nvSpPr>
          <p:spPr>
            <a:xfrm>
              <a:off x="502920" y="1999982"/>
              <a:ext cx="3063240" cy="868680"/>
            </a:xfrm>
            <a:prstGeom prst="roundRect">
              <a:avLst>
                <a:gd name="adj" fmla="val 9474"/>
              </a:avLst>
            </a:prstGeom>
            <a:solidFill>
              <a:srgbClr val="3E7BD6"/>
            </a:solidFill>
            <a:ln/>
            <a:effectLst>
              <a:outerShdw blurRad="76200" dist="25400" dir="5400000" algn="bl" rotWithShape="0">
                <a:srgbClr val="1B2A63">
                  <a:alpha val="16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 31"/>
            <p:cNvSpPr/>
            <p:nvPr/>
          </p:nvSpPr>
          <p:spPr>
            <a:xfrm>
              <a:off x="502920" y="2127998"/>
              <a:ext cx="3063240" cy="740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₹984 Cr</a:t>
              </a:r>
              <a:endParaRPr lang="en-US" sz="2700" dirty="0"/>
            </a:p>
          </p:txBody>
        </p:sp>
        <p:sp>
          <p:nvSpPr>
            <p:cNvPr id="39" name="Text 32"/>
            <p:cNvSpPr/>
            <p:nvPr/>
          </p:nvSpPr>
          <p:spPr>
            <a:xfrm>
              <a:off x="182880" y="2991997"/>
              <a:ext cx="37033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Deducted from Rajasthan</a:t>
              </a:r>
              <a:endParaRPr lang="en-US" sz="1600" dirty="0"/>
            </a:p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 Apr 2025 as per GSTC decision</a:t>
              </a:r>
              <a:endParaRPr lang="en-US" sz="1600" dirty="0"/>
            </a:p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(proportionate cut)</a:t>
              </a:r>
              <a:endParaRPr lang="en-US" sz="1600" dirty="0"/>
            </a:p>
          </p:txBody>
        </p:sp>
        <p:sp>
          <p:nvSpPr>
            <p:cNvPr id="40" name="Text 33"/>
            <p:cNvSpPr/>
            <p:nvPr/>
          </p:nvSpPr>
          <p:spPr>
            <a:xfrm>
              <a:off x="3813048" y="1999982"/>
              <a:ext cx="45720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b="1" dirty="0">
                  <a:solidFill>
                    <a:srgbClr val="1B2A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</a:t>
              </a:r>
              <a:endParaRPr lang="en-US" sz="4800" dirty="0"/>
            </a:p>
          </p:txBody>
        </p:sp>
        <p:sp>
          <p:nvSpPr>
            <p:cNvPr id="41" name="Shape 34"/>
            <p:cNvSpPr/>
            <p:nvPr/>
          </p:nvSpPr>
          <p:spPr>
            <a:xfrm>
              <a:off x="4562856" y="1999982"/>
              <a:ext cx="3063240" cy="868680"/>
            </a:xfrm>
            <a:prstGeom prst="roundRect">
              <a:avLst>
                <a:gd name="adj" fmla="val 9474"/>
              </a:avLst>
            </a:prstGeom>
            <a:solidFill>
              <a:srgbClr val="3E7BD6"/>
            </a:solidFill>
            <a:ln/>
            <a:effectLst>
              <a:outerShdw blurRad="76200" dist="25400" dir="5400000" algn="bl" rotWithShape="0">
                <a:srgbClr val="1B2A63">
                  <a:alpha val="16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 35"/>
            <p:cNvSpPr/>
            <p:nvPr/>
          </p:nvSpPr>
          <p:spPr>
            <a:xfrm>
              <a:off x="4562856" y="2127998"/>
              <a:ext cx="3063240" cy="740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₹225 Cr</a:t>
              </a:r>
              <a:endParaRPr lang="en-US" sz="2700" dirty="0"/>
            </a:p>
          </p:txBody>
        </p:sp>
        <p:sp>
          <p:nvSpPr>
            <p:cNvPr id="43" name="Text 36"/>
            <p:cNvSpPr/>
            <p:nvPr/>
          </p:nvSpPr>
          <p:spPr>
            <a:xfrm>
              <a:off x="4270248" y="2997739"/>
              <a:ext cx="3948720" cy="11693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IGST Amt. shown in 4D-2</a:t>
              </a:r>
            </a:p>
            <a:p>
              <a:pPr algn="ctr">
                <a:lnSpc>
                  <a:spcPct val="115000"/>
                </a:lnSpc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Amount reported in 4D2 from Apr'22 to Mar'25 — total ₹450 Cr;</a:t>
              </a:r>
            </a:p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SGST Portion is half, i.e. ₹225 Cr</a:t>
              </a:r>
            </a:p>
          </p:txBody>
        </p:sp>
        <p:sp>
          <p:nvSpPr>
            <p:cNvPr id="44" name="Text 37"/>
            <p:cNvSpPr/>
            <p:nvPr/>
          </p:nvSpPr>
          <p:spPr>
            <a:xfrm>
              <a:off x="7872984" y="1999982"/>
              <a:ext cx="45720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b="1" dirty="0">
                  <a:solidFill>
                    <a:srgbClr val="1B2A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</a:t>
              </a:r>
              <a:endParaRPr lang="en-US" sz="4800" dirty="0"/>
            </a:p>
          </p:txBody>
        </p:sp>
        <p:sp>
          <p:nvSpPr>
            <p:cNvPr id="45" name="Shape 38"/>
            <p:cNvSpPr/>
            <p:nvPr/>
          </p:nvSpPr>
          <p:spPr>
            <a:xfrm>
              <a:off x="8622792" y="1999982"/>
              <a:ext cx="3063240" cy="868680"/>
            </a:xfrm>
            <a:prstGeom prst="roundRect">
              <a:avLst>
                <a:gd name="adj" fmla="val 9474"/>
              </a:avLst>
            </a:prstGeom>
            <a:solidFill>
              <a:srgbClr val="C0392B"/>
            </a:solidFill>
            <a:ln/>
            <a:effectLst>
              <a:outerShdw blurRad="76200" dist="25400" dir="5400000" algn="bl" rotWithShape="0">
                <a:srgbClr val="1B2A63">
                  <a:alpha val="16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 39"/>
            <p:cNvSpPr/>
            <p:nvPr/>
          </p:nvSpPr>
          <p:spPr>
            <a:xfrm>
              <a:off x="8622792" y="2127998"/>
              <a:ext cx="3063240" cy="740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₹759 Cr</a:t>
              </a:r>
              <a:endParaRPr lang="en-US" sz="2700" dirty="0"/>
            </a:p>
          </p:txBody>
        </p:sp>
        <p:sp>
          <p:nvSpPr>
            <p:cNvPr id="47" name="Text 40"/>
            <p:cNvSpPr/>
            <p:nvPr/>
          </p:nvSpPr>
          <p:spPr>
            <a:xfrm>
              <a:off x="8302752" y="2960102"/>
              <a:ext cx="37033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Extra Amount</a:t>
              </a:r>
            </a:p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Deducted</a:t>
              </a:r>
            </a:p>
          </p:txBody>
        </p:sp>
      </p:grpSp>
      <p:sp>
        <p:nvSpPr>
          <p:cNvPr id="48" name="Shape 41"/>
          <p:cNvSpPr/>
          <p:nvPr/>
        </p:nvSpPr>
        <p:spPr>
          <a:xfrm>
            <a:off x="502920" y="5093837"/>
            <a:ext cx="11183112" cy="658368"/>
          </a:xfrm>
          <a:prstGeom prst="roundRect">
            <a:avLst>
              <a:gd name="adj" fmla="val 11111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2"/>
          <p:cNvSpPr/>
          <p:nvPr/>
        </p:nvSpPr>
        <p:spPr>
          <a:xfrm>
            <a:off x="704088" y="5194421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0" name="Image 5" descr="/home/claude/icons_white/f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13293"/>
            <a:ext cx="219456" cy="219456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1344168" y="5185277"/>
            <a:ext cx="10177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GST Agenda proposed : Deduction of IGST Amount to be limited to the amount reported in 4D2</a:t>
            </a:r>
            <a:endParaRPr lang="en-US" dirty="0"/>
          </a:p>
        </p:txBody>
      </p:sp>
      <p:sp>
        <p:nvSpPr>
          <p:cNvPr id="52" name="Shape 44"/>
          <p:cNvSpPr/>
          <p:nvPr/>
        </p:nvSpPr>
        <p:spPr>
          <a:xfrm>
            <a:off x="502920" y="6162625"/>
            <a:ext cx="11183112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5"/>
          <p:cNvSpPr/>
          <p:nvPr/>
        </p:nvSpPr>
        <p:spPr>
          <a:xfrm>
            <a:off x="502920" y="654710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IGST settlement data — GSTN 4D2 lapsed-ITC reversal filings, as of Apr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A50A36-2815-2585-855B-AB304AF8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>
            <a:extLst>
              <a:ext uri="{FF2B5EF4-FFF2-40B4-BE49-F238E27FC236}">
                <a16:creationId xmlns:a16="http://schemas.microsoft.com/office/drawing/2014/main" id="{9CF90099-E2E0-1526-7B0B-AB699AE22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116128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E1425C7-A345-3926-1FBB-A1FC1BD2CC07}"/>
              </a:ext>
            </a:extLst>
          </p:cNvPr>
          <p:cNvSpPr/>
          <p:nvPr/>
        </p:nvSpPr>
        <p:spPr>
          <a:xfrm>
            <a:off x="499127" y="265076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3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2024-25: GSTR-2B vs 3B Gap Still Unsettled</a:t>
            </a:r>
            <a:endParaRPr lang="en-US" sz="3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8465411-1EDF-DEB1-DE99-825EEC1DA4B6}"/>
              </a:ext>
            </a:extLst>
          </p:cNvPr>
          <p:cNvGrpSpPr/>
          <p:nvPr/>
        </p:nvGrpSpPr>
        <p:grpSpPr>
          <a:xfrm>
            <a:off x="182880" y="1497061"/>
            <a:ext cx="11683055" cy="3510873"/>
            <a:chOff x="182880" y="1497062"/>
            <a:chExt cx="11823192" cy="2670046"/>
          </a:xfrm>
        </p:grpSpPr>
        <p:sp>
          <p:nvSpPr>
            <p:cNvPr id="33" name="Shape 26">
              <a:extLst>
                <a:ext uri="{FF2B5EF4-FFF2-40B4-BE49-F238E27FC236}">
                  <a16:creationId xmlns:a16="http://schemas.microsoft.com/office/drawing/2014/main" id="{6AA0F8E4-F310-63F2-96C0-C7B76BA43589}"/>
                </a:ext>
              </a:extLst>
            </p:cNvPr>
            <p:cNvSpPr/>
            <p:nvPr/>
          </p:nvSpPr>
          <p:spPr>
            <a:xfrm>
              <a:off x="502920" y="1661654"/>
              <a:ext cx="6865550" cy="0"/>
            </a:xfrm>
            <a:prstGeom prst="line">
              <a:avLst/>
            </a:prstGeom>
            <a:noFill/>
            <a:ln w="12700">
              <a:solidFill>
                <a:srgbClr val="D7DEE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Shape 27">
              <a:extLst>
                <a:ext uri="{FF2B5EF4-FFF2-40B4-BE49-F238E27FC236}">
                  <a16:creationId xmlns:a16="http://schemas.microsoft.com/office/drawing/2014/main" id="{510AEFE5-FA70-CC8D-C034-126C3B0BCBBB}"/>
                </a:ext>
              </a:extLst>
            </p:cNvPr>
            <p:cNvSpPr/>
            <p:nvPr/>
          </p:nvSpPr>
          <p:spPr>
            <a:xfrm>
              <a:off x="7223760" y="1661654"/>
              <a:ext cx="4480560" cy="0"/>
            </a:xfrm>
            <a:prstGeom prst="line">
              <a:avLst/>
            </a:prstGeom>
            <a:noFill/>
            <a:ln w="12700">
              <a:solidFill>
                <a:srgbClr val="D7DEEA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 29">
              <a:extLst>
                <a:ext uri="{FF2B5EF4-FFF2-40B4-BE49-F238E27FC236}">
                  <a16:creationId xmlns:a16="http://schemas.microsoft.com/office/drawing/2014/main" id="{707E515C-5A35-92B8-FD13-0327E077AD3C}"/>
                </a:ext>
              </a:extLst>
            </p:cNvPr>
            <p:cNvSpPr/>
            <p:nvPr/>
          </p:nvSpPr>
          <p:spPr>
            <a:xfrm>
              <a:off x="5021428" y="1497062"/>
              <a:ext cx="21488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spc="12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SHORTFALL</a:t>
              </a:r>
              <a:endParaRPr lang="en-US" sz="1200" dirty="0"/>
            </a:p>
          </p:txBody>
        </p:sp>
        <p:sp>
          <p:nvSpPr>
            <p:cNvPr id="37" name="Shape 30">
              <a:extLst>
                <a:ext uri="{FF2B5EF4-FFF2-40B4-BE49-F238E27FC236}">
                  <a16:creationId xmlns:a16="http://schemas.microsoft.com/office/drawing/2014/main" id="{5D70C7DE-38D2-0172-E635-A22EFD955342}"/>
                </a:ext>
              </a:extLst>
            </p:cNvPr>
            <p:cNvSpPr/>
            <p:nvPr/>
          </p:nvSpPr>
          <p:spPr>
            <a:xfrm>
              <a:off x="502920" y="1999982"/>
              <a:ext cx="3063240" cy="868680"/>
            </a:xfrm>
            <a:prstGeom prst="roundRect">
              <a:avLst>
                <a:gd name="adj" fmla="val 9474"/>
              </a:avLst>
            </a:prstGeom>
            <a:solidFill>
              <a:srgbClr val="3E7BD6"/>
            </a:solidFill>
            <a:ln/>
            <a:effectLst>
              <a:outerShdw blurRad="76200" dist="25400" dir="5400000" algn="bl" rotWithShape="0">
                <a:srgbClr val="1B2A63">
                  <a:alpha val="16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 31">
              <a:extLst>
                <a:ext uri="{FF2B5EF4-FFF2-40B4-BE49-F238E27FC236}">
                  <a16:creationId xmlns:a16="http://schemas.microsoft.com/office/drawing/2014/main" id="{C6B1B736-C126-5836-BBFE-79805A4AF477}"/>
                </a:ext>
              </a:extLst>
            </p:cNvPr>
            <p:cNvSpPr/>
            <p:nvPr/>
          </p:nvSpPr>
          <p:spPr>
            <a:xfrm>
              <a:off x="502920" y="2127998"/>
              <a:ext cx="3063240" cy="740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GSTR 2B </a:t>
              </a:r>
              <a:b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(Auto populated)</a:t>
              </a:r>
              <a:endParaRPr lang="en-US" sz="2700" dirty="0"/>
            </a:p>
          </p:txBody>
        </p:sp>
        <p:sp>
          <p:nvSpPr>
            <p:cNvPr id="39" name="Text 32">
              <a:extLst>
                <a:ext uri="{FF2B5EF4-FFF2-40B4-BE49-F238E27FC236}">
                  <a16:creationId xmlns:a16="http://schemas.microsoft.com/office/drawing/2014/main" id="{521D56CE-7D84-F06A-4208-F59243C1B245}"/>
                </a:ext>
              </a:extLst>
            </p:cNvPr>
            <p:cNvSpPr/>
            <p:nvPr/>
          </p:nvSpPr>
          <p:spPr>
            <a:xfrm>
              <a:off x="182880" y="2991997"/>
              <a:ext cx="37033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15000"/>
                </a:lnSpc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Eligible ITC reflected</a:t>
              </a:r>
            </a:p>
            <a:p>
              <a:pPr algn="ctr">
                <a:lnSpc>
                  <a:spcPct val="115000"/>
                </a:lnSpc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 GSTR-2B for FY 2024-25</a:t>
              </a:r>
            </a:p>
          </p:txBody>
        </p:sp>
        <p:sp>
          <p:nvSpPr>
            <p:cNvPr id="40" name="Text 33">
              <a:extLst>
                <a:ext uri="{FF2B5EF4-FFF2-40B4-BE49-F238E27FC236}">
                  <a16:creationId xmlns:a16="http://schemas.microsoft.com/office/drawing/2014/main" id="{428A52F8-F958-34E5-75B0-886E13AB5B0C}"/>
                </a:ext>
              </a:extLst>
            </p:cNvPr>
            <p:cNvSpPr/>
            <p:nvPr/>
          </p:nvSpPr>
          <p:spPr>
            <a:xfrm>
              <a:off x="3748485" y="1999982"/>
              <a:ext cx="647823" cy="9977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b="1" dirty="0">
                  <a:solidFill>
                    <a:srgbClr val="1B2A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</a:t>
              </a:r>
              <a:endParaRPr lang="en-US" sz="4800" dirty="0"/>
            </a:p>
          </p:txBody>
        </p:sp>
        <p:sp>
          <p:nvSpPr>
            <p:cNvPr id="41" name="Shape 34">
              <a:extLst>
                <a:ext uri="{FF2B5EF4-FFF2-40B4-BE49-F238E27FC236}">
                  <a16:creationId xmlns:a16="http://schemas.microsoft.com/office/drawing/2014/main" id="{2438CAE8-D63A-DA85-9156-FC17367D5260}"/>
                </a:ext>
              </a:extLst>
            </p:cNvPr>
            <p:cNvSpPr/>
            <p:nvPr/>
          </p:nvSpPr>
          <p:spPr>
            <a:xfrm>
              <a:off x="4562856" y="1999982"/>
              <a:ext cx="3063240" cy="868680"/>
            </a:xfrm>
            <a:prstGeom prst="roundRect">
              <a:avLst>
                <a:gd name="adj" fmla="val 9474"/>
              </a:avLst>
            </a:prstGeom>
            <a:solidFill>
              <a:srgbClr val="3E7BD6"/>
            </a:solidFill>
            <a:ln/>
            <a:effectLst>
              <a:outerShdw blurRad="76200" dist="25400" dir="5400000" algn="bl" rotWithShape="0">
                <a:srgbClr val="1B2A63">
                  <a:alpha val="16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 35">
              <a:extLst>
                <a:ext uri="{FF2B5EF4-FFF2-40B4-BE49-F238E27FC236}">
                  <a16:creationId xmlns:a16="http://schemas.microsoft.com/office/drawing/2014/main" id="{39A8C476-E1E2-EF84-364C-AAE0E21D4A65}"/>
                </a:ext>
              </a:extLst>
            </p:cNvPr>
            <p:cNvSpPr/>
            <p:nvPr/>
          </p:nvSpPr>
          <p:spPr>
            <a:xfrm>
              <a:off x="4562856" y="2127998"/>
              <a:ext cx="3063240" cy="740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8000"/>
                </a:lnSpc>
              </a:pPr>
              <a: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GSTR-3B</a:t>
              </a:r>
            </a:p>
            <a:p>
              <a:pPr algn="ctr">
                <a:lnSpc>
                  <a:spcPct val="108000"/>
                </a:lnSpc>
              </a:pPr>
              <a: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(Claimed)</a:t>
              </a:r>
            </a:p>
          </p:txBody>
        </p:sp>
        <p:sp>
          <p:nvSpPr>
            <p:cNvPr id="43" name="Text 36">
              <a:extLst>
                <a:ext uri="{FF2B5EF4-FFF2-40B4-BE49-F238E27FC236}">
                  <a16:creationId xmlns:a16="http://schemas.microsoft.com/office/drawing/2014/main" id="{4E7E992C-D670-0D27-6488-467881ECCCD5}"/>
                </a:ext>
              </a:extLst>
            </p:cNvPr>
            <p:cNvSpPr/>
            <p:nvPr/>
          </p:nvSpPr>
          <p:spPr>
            <a:xfrm>
              <a:off x="4270248" y="2997739"/>
              <a:ext cx="3948720" cy="11693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15000"/>
                </a:lnSpc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ITC actually claimed</a:t>
              </a:r>
            </a:p>
            <a:p>
              <a:pPr algn="ctr">
                <a:lnSpc>
                  <a:spcPct val="115000"/>
                </a:lnSpc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and reported in GSTR-3B</a:t>
              </a:r>
            </a:p>
          </p:txBody>
        </p:sp>
        <p:sp>
          <p:nvSpPr>
            <p:cNvPr id="44" name="Text 37">
              <a:extLst>
                <a:ext uri="{FF2B5EF4-FFF2-40B4-BE49-F238E27FC236}">
                  <a16:creationId xmlns:a16="http://schemas.microsoft.com/office/drawing/2014/main" id="{CC43D463-0852-A2AB-973E-0A193DACBE04}"/>
                </a:ext>
              </a:extLst>
            </p:cNvPr>
            <p:cNvSpPr/>
            <p:nvPr/>
          </p:nvSpPr>
          <p:spPr>
            <a:xfrm>
              <a:off x="7872984" y="1999982"/>
              <a:ext cx="45720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b="1" dirty="0">
                  <a:solidFill>
                    <a:srgbClr val="1B2A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</a:t>
              </a:r>
              <a:endParaRPr lang="en-US" sz="4800" dirty="0"/>
            </a:p>
          </p:txBody>
        </p:sp>
        <p:sp>
          <p:nvSpPr>
            <p:cNvPr id="45" name="Shape 38">
              <a:extLst>
                <a:ext uri="{FF2B5EF4-FFF2-40B4-BE49-F238E27FC236}">
                  <a16:creationId xmlns:a16="http://schemas.microsoft.com/office/drawing/2014/main" id="{CCEEDB16-35D7-BDFA-4332-84450550D440}"/>
                </a:ext>
              </a:extLst>
            </p:cNvPr>
            <p:cNvSpPr/>
            <p:nvPr/>
          </p:nvSpPr>
          <p:spPr>
            <a:xfrm>
              <a:off x="8622792" y="1999982"/>
              <a:ext cx="3063240" cy="868680"/>
            </a:xfrm>
            <a:prstGeom prst="roundRect">
              <a:avLst>
                <a:gd name="adj" fmla="val 9474"/>
              </a:avLst>
            </a:prstGeom>
            <a:solidFill>
              <a:srgbClr val="C0392B"/>
            </a:solidFill>
            <a:ln/>
            <a:effectLst>
              <a:outerShdw blurRad="76200" dist="25400" dir="5400000" algn="bl" rotWithShape="0">
                <a:srgbClr val="1B2A63">
                  <a:alpha val="16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 39">
              <a:extLst>
                <a:ext uri="{FF2B5EF4-FFF2-40B4-BE49-F238E27FC236}">
                  <a16:creationId xmlns:a16="http://schemas.microsoft.com/office/drawing/2014/main" id="{689E068B-D37C-BECC-6292-7910A80711E6}"/>
                </a:ext>
              </a:extLst>
            </p:cNvPr>
            <p:cNvSpPr/>
            <p:nvPr/>
          </p:nvSpPr>
          <p:spPr>
            <a:xfrm>
              <a:off x="8622792" y="2127998"/>
              <a:ext cx="3063240" cy="7406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Gap Identified</a:t>
              </a:r>
              <a:b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₹847 Cr</a:t>
              </a:r>
            </a:p>
          </p:txBody>
        </p:sp>
        <p:sp>
          <p:nvSpPr>
            <p:cNvPr id="47" name="Text 40">
              <a:extLst>
                <a:ext uri="{FF2B5EF4-FFF2-40B4-BE49-F238E27FC236}">
                  <a16:creationId xmlns:a16="http://schemas.microsoft.com/office/drawing/2014/main" id="{2BDC97BC-DB5F-85C4-2FEB-AB193FA7E71E}"/>
                </a:ext>
              </a:extLst>
            </p:cNvPr>
            <p:cNvSpPr/>
            <p:nvPr/>
          </p:nvSpPr>
          <p:spPr>
            <a:xfrm>
              <a:off x="8302752" y="2960102"/>
              <a:ext cx="37033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ct val="115000"/>
                </a:lnSpc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₹847 Cr difference,</a:t>
              </a:r>
            </a:p>
            <a:p>
              <a:pPr algn="ctr">
                <a:lnSpc>
                  <a:spcPct val="115000"/>
                </a:lnSpc>
              </a:pPr>
              <a:r>
                <a:rPr lang="en-US" sz="1600" b="1" dirty="0">
                  <a:solidFill>
                    <a:srgbClr val="13204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still unclaimed</a:t>
              </a:r>
            </a:p>
          </p:txBody>
        </p:sp>
      </p:grpSp>
      <p:sp>
        <p:nvSpPr>
          <p:cNvPr id="48" name="Shape 41">
            <a:extLst>
              <a:ext uri="{FF2B5EF4-FFF2-40B4-BE49-F238E27FC236}">
                <a16:creationId xmlns:a16="http://schemas.microsoft.com/office/drawing/2014/main" id="{C23408C2-F322-94DB-C533-170DC68AFA30}"/>
              </a:ext>
            </a:extLst>
          </p:cNvPr>
          <p:cNvSpPr/>
          <p:nvPr/>
        </p:nvSpPr>
        <p:spPr>
          <a:xfrm>
            <a:off x="276447" y="4839467"/>
            <a:ext cx="11409585" cy="912738"/>
          </a:xfrm>
          <a:prstGeom prst="roundRect">
            <a:avLst>
              <a:gd name="adj" fmla="val 11111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2">
            <a:extLst>
              <a:ext uri="{FF2B5EF4-FFF2-40B4-BE49-F238E27FC236}">
                <a16:creationId xmlns:a16="http://schemas.microsoft.com/office/drawing/2014/main" id="{C1662F58-CD10-2DE3-5BF3-DEE62F03291B}"/>
              </a:ext>
            </a:extLst>
          </p:cNvPr>
          <p:cNvSpPr/>
          <p:nvPr/>
        </p:nvSpPr>
        <p:spPr>
          <a:xfrm>
            <a:off x="484632" y="5049875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0" name="Image 5" descr="/home/claude/icons_white/filealt.png">
            <a:extLst>
              <a:ext uri="{FF2B5EF4-FFF2-40B4-BE49-F238E27FC236}">
                <a16:creationId xmlns:a16="http://schemas.microsoft.com/office/drawing/2014/main" id="{B33671EC-D19D-9971-1ADA-952DCC240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70" y="5168747"/>
            <a:ext cx="219456" cy="219456"/>
          </a:xfrm>
          <a:prstGeom prst="rect">
            <a:avLst/>
          </a:prstGeom>
        </p:spPr>
      </p:pic>
      <p:sp>
        <p:nvSpPr>
          <p:cNvPr id="51" name="Text 43">
            <a:extLst>
              <a:ext uri="{FF2B5EF4-FFF2-40B4-BE49-F238E27FC236}">
                <a16:creationId xmlns:a16="http://schemas.microsoft.com/office/drawing/2014/main" id="{396BFEEB-2F88-3D72-EC64-42360A244B30}"/>
              </a:ext>
            </a:extLst>
          </p:cNvPr>
          <p:cNvSpPr/>
          <p:nvPr/>
        </p:nvSpPr>
        <p:spPr>
          <a:xfrm>
            <a:off x="1115568" y="5012091"/>
            <a:ext cx="10177272" cy="51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GST Agenda proposed : A provision for allocation of amount against such unclaimed ITC to state may be created  </a:t>
            </a:r>
            <a:endParaRPr lang="en-US" dirty="0"/>
          </a:p>
        </p:txBody>
      </p:sp>
      <p:sp>
        <p:nvSpPr>
          <p:cNvPr id="52" name="Shape 44">
            <a:extLst>
              <a:ext uri="{FF2B5EF4-FFF2-40B4-BE49-F238E27FC236}">
                <a16:creationId xmlns:a16="http://schemas.microsoft.com/office/drawing/2014/main" id="{296CAB08-0F4A-FDE8-595A-366F12681C80}"/>
              </a:ext>
            </a:extLst>
          </p:cNvPr>
          <p:cNvSpPr/>
          <p:nvPr/>
        </p:nvSpPr>
        <p:spPr>
          <a:xfrm>
            <a:off x="502920" y="6162625"/>
            <a:ext cx="11183112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5">
            <a:extLst>
              <a:ext uri="{FF2B5EF4-FFF2-40B4-BE49-F238E27FC236}">
                <a16:creationId xmlns:a16="http://schemas.microsoft.com/office/drawing/2014/main" id="{AF9A5B1B-72AE-86AC-514A-4AC730BC25A5}"/>
              </a:ext>
            </a:extLst>
          </p:cNvPr>
          <p:cNvSpPr/>
          <p:nvPr/>
        </p:nvSpPr>
        <p:spPr>
          <a:xfrm>
            <a:off x="502920" y="654710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IGST settlement data — GSTN 4D2 lapsed-ITC reversal filings, as of Apr 2025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47058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10789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46304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Taxpayer Example: Shriram General Insurance Co. Ltd.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59781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Month-wise IGST ITC reconciliation for FY 2024-25 shows a recurring 2B − 3B shortfall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186759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67512" y="1186759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  </a:t>
            </a:r>
            <a:r>
              <a:rPr lang="en-US" sz="1400" b="1" dirty="0">
                <a:solidFill>
                  <a:srgbClr val="13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08AAKCS2509K1Z3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8698" y="1259911"/>
            <a:ext cx="0" cy="310896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463290" y="1186759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NAME  </a:t>
            </a:r>
            <a:r>
              <a:rPr lang="en-US" sz="1200" b="1" dirty="0">
                <a:solidFill>
                  <a:srgbClr val="13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Shriram General Insurance Company Limited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94476" y="1259911"/>
            <a:ext cx="0" cy="310896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259068" y="1186759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 </a:t>
            </a:r>
            <a:r>
              <a:rPr lang="en-US" sz="1100" b="1" dirty="0">
                <a:solidFill>
                  <a:srgbClr val="13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890254" y="1259911"/>
            <a:ext cx="0" cy="310896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054846" y="1186759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UPDATED  </a:t>
            </a:r>
            <a:r>
              <a:rPr lang="en-US" sz="1100" b="1" dirty="0">
                <a:solidFill>
                  <a:srgbClr val="13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26-07-2025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792108"/>
              </p:ext>
            </p:extLst>
          </p:nvPr>
        </p:nvGraphicFramePr>
        <p:xfrm>
          <a:off x="372862" y="1774926"/>
          <a:ext cx="11585269" cy="3789680"/>
        </p:xfrm>
        <a:graphic>
          <a:graphicData uri="http://schemas.openxmlformats.org/drawingml/2006/table">
            <a:tbl>
              <a:tblPr/>
              <a:tblGrid>
                <a:gridCol w="1799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8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86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8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Tax Period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ITC Claimed in 3B (₹ Cr)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ITC Auto-Drafted in 2B (₹ Cr)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Shortfall (−) / Excess (+) (₹ Cr)</a:t>
                      </a:r>
                      <a:endParaRPr lang="en-US" sz="16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4F"/>
                          </a:solidFill>
                        </a:rPr>
                        <a:t>Apr-24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6.49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6.49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9AA3B5"/>
                          </a:solidFill>
                        </a:rPr>
                        <a:t>0.00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4F"/>
                          </a:solidFill>
                        </a:rPr>
                        <a:t>May-24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11.58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11.58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9AA3B5"/>
                          </a:solidFill>
                        </a:rPr>
                        <a:t>0.00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4F"/>
                          </a:solidFill>
                        </a:rPr>
                        <a:t>Jun-24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6.99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6.99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9AA3B5"/>
                          </a:solidFill>
                        </a:rPr>
                        <a:t>0.00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4F"/>
                          </a:solidFill>
                        </a:rPr>
                        <a:t>Jul-24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5.09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5.09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9AA3B5"/>
                          </a:solidFill>
                        </a:rPr>
                        <a:t>0.00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4F"/>
                          </a:solidFill>
                        </a:rPr>
                        <a:t>Aug-24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4.04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11.67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-7.63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4F"/>
                          </a:solidFill>
                        </a:rPr>
                        <a:t>Sep-24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7.17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7.17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9AA3B5"/>
                          </a:solidFill>
                        </a:rPr>
                        <a:t>0.00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4F"/>
                          </a:solidFill>
                        </a:rPr>
                        <a:t>Oct-24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1.52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6.84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-5.32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4F"/>
                          </a:solidFill>
                        </a:rPr>
                        <a:t>Nov-24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5.25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16.84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-11.60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4F"/>
                          </a:solidFill>
                        </a:rPr>
                        <a:t>Dec-24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3.26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5.21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-1.95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4F"/>
                          </a:solidFill>
                        </a:rPr>
                        <a:t>Jan-25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3.44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5.34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-1.89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4F"/>
                          </a:solidFill>
                        </a:rPr>
                        <a:t>Feb-25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25.12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34.99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-9.86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4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4F"/>
                          </a:solidFill>
                        </a:rPr>
                        <a:t>Mar-25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16.96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3F4658"/>
                          </a:solidFill>
                        </a:rPr>
                        <a:t>26.10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-9.14</a:t>
                      </a:r>
                      <a:endParaRPr lang="en-US" sz="14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9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8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96.91</a:t>
                      </a:r>
                      <a:endParaRPr lang="en-US" sz="18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144.30</a:t>
                      </a:r>
                      <a:endParaRPr lang="en-US" sz="18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F5A623"/>
                          </a:solidFill>
                        </a:rPr>
                        <a:t>-47.38</a:t>
                      </a:r>
                      <a:endParaRPr lang="en-US" sz="1800" dirty="0"/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502920" y="5803990"/>
            <a:ext cx="11183112" cy="640080"/>
          </a:xfrm>
          <a:prstGeom prst="roundRect">
            <a:avLst>
              <a:gd name="adj" fmla="val 11429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04088" y="589543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1" descr="/home/claude/icons_white/gap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601430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44168" y="5895430"/>
            <a:ext cx="10177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IGST ITC (2B − 3B) for FY 2024-25: 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₹47.38 Cr</a:t>
            </a: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02920" y="6517222"/>
            <a:ext cx="11183112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502920" y="654710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GSTR-2B and GSTR-3B reconciliation, taxpayer GSTIN 08AAKCS2509K1Z3, FY 2024-25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346</Words>
  <Application>Microsoft Office PowerPoint</Application>
  <PresentationFormat>Widescreen</PresentationFormat>
  <Paragraphs>100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Jain, Anant</cp:lastModifiedBy>
  <cp:revision>15</cp:revision>
  <dcterms:created xsi:type="dcterms:W3CDTF">2026-08-10T13:14:18Z</dcterms:created>
  <dcterms:modified xsi:type="dcterms:W3CDTF">2026-08-13T10:39:42Z</dcterms:modified>
</cp:coreProperties>
</file>