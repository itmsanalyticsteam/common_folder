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96" r:id="rId3"/>
    <p:sldMasterId id="2147483709" r:id="rId4"/>
  </p:sldMasterIdLst>
  <p:notesMasterIdLst>
    <p:notesMasterId r:id="rId29"/>
  </p:notesMasterIdLst>
  <p:sldIdLst>
    <p:sldId id="2147476454" r:id="rId5"/>
    <p:sldId id="2147476456" r:id="rId6"/>
    <p:sldId id="2147476475" r:id="rId7"/>
    <p:sldId id="262" r:id="rId8"/>
    <p:sldId id="2147476467" r:id="rId9"/>
    <p:sldId id="2147476468" r:id="rId10"/>
    <p:sldId id="266" r:id="rId11"/>
    <p:sldId id="2147476464" r:id="rId12"/>
    <p:sldId id="2147476469" r:id="rId13"/>
    <p:sldId id="2147476474" r:id="rId14"/>
    <p:sldId id="2147476459" r:id="rId15"/>
    <p:sldId id="2146847309" r:id="rId16"/>
    <p:sldId id="257" r:id="rId17"/>
    <p:sldId id="2146847310" r:id="rId18"/>
    <p:sldId id="2147476471" r:id="rId19"/>
    <p:sldId id="2147476472" r:id="rId20"/>
    <p:sldId id="2147476473" r:id="rId21"/>
    <p:sldId id="275" r:id="rId22"/>
    <p:sldId id="256" r:id="rId23"/>
    <p:sldId id="2146847307" r:id="rId24"/>
    <p:sldId id="295" r:id="rId25"/>
    <p:sldId id="2147476476" r:id="rId26"/>
    <p:sldId id="2147476477" r:id="rId27"/>
    <p:sldId id="294" r:id="rId28"/>
  </p:sldIdLst>
  <p:sldSz cx="16256000" cy="9144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FDF3EC"/>
    <a:srgbClr val="FFFFFF"/>
    <a:srgbClr val="C6EFCE"/>
    <a:srgbClr val="FFC7CE"/>
    <a:srgbClr val="C9DAF8"/>
    <a:srgbClr val="5B9BD5"/>
    <a:srgbClr val="153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EAC36-D205-4048-A843-675F1878E1AE}" v="733" dt="2026-08-03T11:11:19.094"/>
    <p1510:client id="{517B3630-5EAD-42B9-AF33-E9D55F7C03DF}" v="2" dt="2026-08-03T12:10:12.652"/>
    <p1510:client id="{870ABBE9-5E35-4D45-8E91-E77F3B0AEC9A}" v="1206" dt="2026-08-03T10:47:56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 snapToGrid="0">
      <p:cViewPr varScale="1">
        <p:scale>
          <a:sx n="42" d="100"/>
          <a:sy n="42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, Sanjay" userId="60319415-94c6-468a-8729-9365d416f1f4" providerId="ADAL" clId="{1694087F-124E-4687-AF2F-0418E7DCCD31}"/>
    <pc:docChg chg="custSel modSld">
      <pc:chgData name="Giri, Sanjay" userId="60319415-94c6-468a-8729-9365d416f1f4" providerId="ADAL" clId="{1694087F-124E-4687-AF2F-0418E7DCCD31}" dt="2026-08-03T12:11:34.917" v="11" actId="403"/>
      <pc:docMkLst>
        <pc:docMk/>
      </pc:docMkLst>
      <pc:sldChg chg="modSp mod">
        <pc:chgData name="Giri, Sanjay" userId="60319415-94c6-468a-8729-9365d416f1f4" providerId="ADAL" clId="{1694087F-124E-4687-AF2F-0418E7DCCD31}" dt="2026-08-03T12:11:02.880" v="8" actId="207"/>
        <pc:sldMkLst>
          <pc:docMk/>
          <pc:sldMk cId="0" sldId="275"/>
        </pc:sldMkLst>
        <pc:graphicFrameChg chg="modGraphic">
          <ac:chgData name="Giri, Sanjay" userId="60319415-94c6-468a-8729-9365d416f1f4" providerId="ADAL" clId="{1694087F-124E-4687-AF2F-0418E7DCCD31}" dt="2026-08-03T12:11:02.880" v="8" actId="207"/>
          <ac:graphicFrameMkLst>
            <pc:docMk/>
            <pc:sldMk cId="0" sldId="275"/>
            <ac:graphicFrameMk id="48" creationId="{C58E40CD-8AB3-224C-7EDA-7FF32CA60251}"/>
          </ac:graphicFrameMkLst>
        </pc:graphicFrameChg>
      </pc:sldChg>
      <pc:sldChg chg="modSp mod">
        <pc:chgData name="Giri, Sanjay" userId="60319415-94c6-468a-8729-9365d416f1f4" providerId="ADAL" clId="{1694087F-124E-4687-AF2F-0418E7DCCD31}" dt="2026-08-03T12:11:34.917" v="11" actId="403"/>
        <pc:sldMkLst>
          <pc:docMk/>
          <pc:sldMk cId="3898232390" sldId="2147476477"/>
        </pc:sldMkLst>
        <pc:graphicFrameChg chg="mod modGraphic">
          <ac:chgData name="Giri, Sanjay" userId="60319415-94c6-468a-8729-9365d416f1f4" providerId="ADAL" clId="{1694087F-124E-4687-AF2F-0418E7DCCD31}" dt="2026-08-03T12:11:15.749" v="9" actId="207"/>
          <ac:graphicFrameMkLst>
            <pc:docMk/>
            <pc:sldMk cId="3898232390" sldId="2147476477"/>
            <ac:graphicFrameMk id="16" creationId="{EB814CCE-93FD-0BEB-CF03-470BB4F211B3}"/>
          </ac:graphicFrameMkLst>
        </pc:graphicFrameChg>
        <pc:graphicFrameChg chg="mod modGraphic">
          <ac:chgData name="Giri, Sanjay" userId="60319415-94c6-468a-8729-9365d416f1f4" providerId="ADAL" clId="{1694087F-124E-4687-AF2F-0418E7DCCD31}" dt="2026-08-03T12:11:34.917" v="11" actId="403"/>
          <ac:graphicFrameMkLst>
            <pc:docMk/>
            <pc:sldMk cId="3898232390" sldId="2147476477"/>
            <ac:graphicFrameMk id="18" creationId="{6B089208-7575-DF10-AC5E-DB2BCE27992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Score</c:v>
                </c:pt>
              </c:strCache>
            </c:strRef>
          </c:tx>
          <c:spPr>
            <a:solidFill>
              <a:srgbClr val="E268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44-43ED-B174-7F6B2F742986}"/>
              </c:ext>
            </c:extLst>
          </c:dPt>
          <c:dPt>
            <c:idx val="1"/>
            <c:invertIfNegative val="0"/>
            <c:bubble3D val="0"/>
            <c:spPr>
              <a:solidFill>
                <a:srgbClr val="ED88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44-43ED-B174-7F6B2F742986}"/>
              </c:ext>
            </c:extLst>
          </c:dPt>
          <c:dPt>
            <c:idx val="2"/>
            <c:invertIfNegative val="0"/>
            <c:bubble3D val="0"/>
            <c:spPr>
              <a:solidFill>
                <a:srgbClr val="EE98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44-43ED-B174-7F6B2F742986}"/>
              </c:ext>
            </c:extLst>
          </c:dPt>
          <c:dPt>
            <c:idx val="3"/>
            <c:invertIfNegative val="0"/>
            <c:bubble3D val="0"/>
            <c:spPr>
              <a:solidFill>
                <a:srgbClr val="EFA7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44-43ED-B174-7F6B2F742986}"/>
              </c:ext>
            </c:extLst>
          </c:dPt>
          <c:dPt>
            <c:idx val="4"/>
            <c:invertIfNegative val="0"/>
            <c:bubble3D val="0"/>
            <c:spPr>
              <a:solidFill>
                <a:srgbClr val="F0B9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44-43ED-B174-7F6B2F742986}"/>
              </c:ext>
            </c:extLst>
          </c:dPt>
          <c:dPt>
            <c:idx val="5"/>
            <c:invertIfNegative val="0"/>
            <c:bubble3D val="0"/>
            <c:spPr>
              <a:solidFill>
                <a:srgbClr val="F0C6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344-43ED-B174-7F6B2F742986}"/>
              </c:ext>
            </c:extLst>
          </c:dPt>
          <c:dPt>
            <c:idx val="6"/>
            <c:invertIfNegative val="0"/>
            <c:bubble3D val="0"/>
            <c:spPr>
              <a:solidFill>
                <a:srgbClr val="F0C6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44-43ED-B174-7F6B2F742986}"/>
              </c:ext>
            </c:extLst>
          </c:dPt>
          <c:dPt>
            <c:idx val="7"/>
            <c:invertIfNegative val="0"/>
            <c:bubble3D val="0"/>
            <c:spPr>
              <a:solidFill>
                <a:srgbClr val="F0C6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344-43ED-B174-7F6B2F742986}"/>
              </c:ext>
            </c:extLst>
          </c:dPt>
          <c:dPt>
            <c:idx val="8"/>
            <c:invertIfNegative val="0"/>
            <c:bubble3D val="0"/>
            <c:spPr>
              <a:solidFill>
                <a:srgbClr val="EBCE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344-43ED-B174-7F6B2F742986}"/>
              </c:ext>
            </c:extLst>
          </c:dPt>
          <c:dPt>
            <c:idx val="9"/>
            <c:invertIfNegative val="0"/>
            <c:bubble3D val="0"/>
            <c:spPr>
              <a:solidFill>
                <a:srgbClr val="DFD2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344-43ED-B174-7F6B2F742986}"/>
              </c:ext>
            </c:extLst>
          </c:dPt>
          <c:dPt>
            <c:idx val="10"/>
            <c:invertIfNegative val="0"/>
            <c:bubble3D val="0"/>
            <c:spPr>
              <a:solidFill>
                <a:srgbClr val="CBD2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344-43ED-B174-7F6B2F742986}"/>
              </c:ext>
            </c:extLst>
          </c:dPt>
          <c:dPt>
            <c:idx val="11"/>
            <c:invertIfNegative val="0"/>
            <c:bubble3D val="0"/>
            <c:spPr>
              <a:solidFill>
                <a:srgbClr val="B9CE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344-43ED-B174-7F6B2F742986}"/>
              </c:ext>
            </c:extLst>
          </c:dPt>
          <c:dPt>
            <c:idx val="12"/>
            <c:invertIfNegative val="0"/>
            <c:bubble3D val="0"/>
            <c:spPr>
              <a:solidFill>
                <a:srgbClr val="83BE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F344-43ED-B174-7F6B2F742986}"/>
              </c:ext>
            </c:extLst>
          </c:dPt>
          <c:dPt>
            <c:idx val="13"/>
            <c:invertIfNegative val="0"/>
            <c:bubble3D val="0"/>
            <c:spPr>
              <a:solidFill>
                <a:srgbClr val="5CAA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F344-43ED-B174-7F6B2F742986}"/>
              </c:ext>
            </c:extLst>
          </c:dPt>
          <c:dPt>
            <c:idx val="14"/>
            <c:invertIfNegative val="0"/>
            <c:bubble3D val="0"/>
            <c:spPr>
              <a:solidFill>
                <a:srgbClr val="3E91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F344-43ED-B174-7F6B2F74298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Uttarakhand</c:v>
                </c:pt>
                <c:pt idx="1">
                  <c:v>Odisha</c:v>
                </c:pt>
                <c:pt idx="2">
                  <c:v>Madhya Pradesh</c:v>
                </c:pt>
                <c:pt idx="3">
                  <c:v>Punjab</c:v>
                </c:pt>
                <c:pt idx="4">
                  <c:v>Andhra Pradesh</c:v>
                </c:pt>
                <c:pt idx="5">
                  <c:v>Tamil Nadu</c:v>
                </c:pt>
                <c:pt idx="6">
                  <c:v>Haryana</c:v>
                </c:pt>
                <c:pt idx="7">
                  <c:v>Karnataka</c:v>
                </c:pt>
                <c:pt idx="8">
                  <c:v>Kerala</c:v>
                </c:pt>
                <c:pt idx="9">
                  <c:v>Uttar Pradesh</c:v>
                </c:pt>
                <c:pt idx="10">
                  <c:v>West Bengal</c:v>
                </c:pt>
                <c:pt idx="11">
                  <c:v>Himachal Pradesh</c:v>
                </c:pt>
                <c:pt idx="12">
                  <c:v>Rajasthan</c:v>
                </c:pt>
                <c:pt idx="13">
                  <c:v>Maharashtra</c:v>
                </c:pt>
                <c:pt idx="14">
                  <c:v>Gujarat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47.2</c:v>
                </c:pt>
                <c:pt idx="1">
                  <c:v>48.6</c:v>
                </c:pt>
                <c:pt idx="2">
                  <c:v>48.8</c:v>
                </c:pt>
                <c:pt idx="3">
                  <c:v>49</c:v>
                </c:pt>
                <c:pt idx="4">
                  <c:v>49.9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50.4</c:v>
                </c:pt>
                <c:pt idx="9">
                  <c:v>50.9</c:v>
                </c:pt>
                <c:pt idx="10">
                  <c:v>52.2</c:v>
                </c:pt>
                <c:pt idx="11">
                  <c:v>52.6</c:v>
                </c:pt>
                <c:pt idx="12">
                  <c:v>56.9</c:v>
                </c:pt>
                <c:pt idx="13">
                  <c:v>58.4</c:v>
                </c:pt>
                <c:pt idx="14">
                  <c:v>60.8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F344-43ED-B174-7F6B2F7429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984101872"/>
        <c:axId val="1984099696"/>
      </c:barChart>
      <c:catAx>
        <c:axId val="19841018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1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1984099696"/>
        <c:crosses val="autoZero"/>
        <c:auto val="1"/>
        <c:lblAlgn val="ctr"/>
        <c:lblOffset val="100"/>
        <c:noMultiLvlLbl val="1"/>
      </c:catAx>
      <c:valAx>
        <c:axId val="1984099696"/>
        <c:scaling>
          <c:orientation val="minMax"/>
          <c:max val="64"/>
          <c:min val="44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1984101872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BDBFF0-9B31-47FC-B3E7-AC72EF3ED1D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AEF6856-C239-4AE7-ACEC-CFB04ED7CD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9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37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Directions of HCM review, 9th July 2026: study best practices from AP and Gujarat.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Enforcement directions and progress on anti-evasion activities, FY2026-27.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697F-D9E0-C459-FF55-023F4E3C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AC377-87BD-588A-191E-80091679E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F2819-6A94-3AF7-6DDF-DEADDDB50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A1B02-4419-DF8B-4114-FCA75AA76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975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E148-5526-7125-C16F-73E9E81C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401C3-52E7-D014-2F44-9BEC93BE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E5CF9-9E96-D057-D51F-4F74B299D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6385C-32F6-FAF8-9971-D410C61EE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24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59D2-4C48-7A5F-53F7-56406BE8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95B43-A883-A38D-DBDE-BBB4248D1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AD4B7-42E9-4440-13C4-EFC3970B1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F3C48-9515-7A79-E568-EB733512E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4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9B79-D90E-DD2E-7190-4B80D258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5901C-DA4E-8B7C-BFAB-DAB59D052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31F6A-863E-3D53-B6D8-5718672F2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C3EA7-2600-839A-DBE6-2BBAFA5BD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965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A8FA-9A1A-6AF3-AE39-FF87748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3FB98-5BA9-4DB0-9613-4421A98DC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7852E-2B53-F832-BD93-15626CFDE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03276-AF8D-B15C-441A-4EF5B531E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F6856-C239-4AE7-ACEC-CFB04ED7CD3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23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C799-7A5B-5319-BE63-DDED919C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5FC47-8703-C8CE-10C7-1AB7A2A24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B8064-B64C-035C-CC38-57676B61B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07E9F-B845-D844-7AFD-CAD0B375D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575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7800-C7E6-8D49-9BF8-316C138A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A262E-7D9F-8B8E-436F-11953160B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DC15A-5382-4039-EC07-93C177CCF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AEADD-7C95-321B-222B-B3005B030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0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6232-F17E-15D6-E529-D55D2696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B41F3-2182-6428-883D-949761A04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95F10-4378-D646-BCF5-ADC57A67C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1FBB6-E652-C519-0C41-3393A0AEF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328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Fake firm detection and revenue from intelligence reports; cleaning the taxpayer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26C6-7917-35D1-96CE-9C804387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89485-A22F-8B66-7754-A764C9476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B1344-A0C9-77E3-45F4-C7985A66C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21A9F-DDFE-81A1-1C93-2DDFB7558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771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>
          <a:extLst>
            <a:ext uri="{FF2B5EF4-FFF2-40B4-BE49-F238E27FC236}">
              <a16:creationId xmlns:a16="http://schemas.microsoft.com/office/drawing/2014/main" id="{B7580E36-9E66-348C-70B6-1F6375A5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:notes">
            <a:extLst>
              <a:ext uri="{FF2B5EF4-FFF2-40B4-BE49-F238E27FC236}">
                <a16:creationId xmlns:a16="http://schemas.microsoft.com/office/drawing/2014/main" id="{EA92DDCB-38A2-F85A-2099-D1AA1BA24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6" name="Google Shape;636;p18:notes">
            <a:extLst>
              <a:ext uri="{FF2B5EF4-FFF2-40B4-BE49-F238E27FC236}">
                <a16:creationId xmlns:a16="http://schemas.microsoft.com/office/drawing/2014/main" id="{55F1FC28-9DFE-2A0A-3DE3-2C90725C0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18:notes">
            <a:extLst>
              <a:ext uri="{FF2B5EF4-FFF2-40B4-BE49-F238E27FC236}">
                <a16:creationId xmlns:a16="http://schemas.microsoft.com/office/drawing/2014/main" id="{777C43DD-1561-C570-103D-A3D32F67CB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5741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2: anomaly-detected taxpayers paying lower tax vs peer band; current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59E0-81BE-1F9B-19D8-2DB5448A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B9A2F-129F-0366-25D3-191AA52C0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FD5F7-10AF-51C8-D016-3D7F17D41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Scrutiny and recovery directions and progress, including faceless scrutiny implementation.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9F946-1EF6-2803-EE21-D7051C791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117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Litigation status: panel lawyer permissions and cases pending across forums.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103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653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4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80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03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6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804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73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68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814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050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04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06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0005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947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8168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276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7756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413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7498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492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596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0941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32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8B7B-7AEC-4C3E-AD65-6FCBA2723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82E99-34D1-45CC-9EDE-FED2670F1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9DAAF-C8AF-400F-8545-7C53AFC8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DC1F3-213A-4939-B948-37D4145A9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5426B-ED38-462E-B09D-C3E6F104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375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CCA3-A456-4773-8C62-B8811105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958E-92ED-4CDB-9571-B1C2D74F5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A4E33-CB45-4772-88B7-0B888FE1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2146B-D45F-4317-9282-C634EEA5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3E7A6-883B-4F15-91C4-03C9E722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5685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5A12-F472-4FAF-BE9A-D8DEE736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EDF4A-C8F1-4B78-90BB-1BA74FB95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C6F42-B887-47A3-B11A-82F37794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79741-E8B1-4BB9-871E-B98C19EF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DD563-B61C-40DA-9EEF-AB11BBD5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333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BDFF-D2C1-4735-B127-D9F849DA2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7643-9E09-4BB5-9A26-2A9FA5A55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26FD0-EC83-4913-836C-C963689E4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C3461-BB84-440F-AEFC-C6CBD223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47CE6-8BC8-47F9-9052-89153701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D226B-CF20-4BB4-BB5F-ED3A93C8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A10F-6F75-4AD0-AC0C-02E3C051D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75016-29FD-4E5D-A4B0-F715D0CFA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E5871-8B88-4795-92D3-B32BB9ECB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E7373-177B-45F5-A5DE-3580C66C2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66F2E-E66A-4398-BB9F-B04F6F9D0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93509-337A-4250-AFF4-FF12D2BF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EA736-548C-4948-9481-F7872771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8D10F-6586-4466-9A5C-6762E97F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0670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CECF-9BAE-481E-9ED7-A2BE75BA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94C36-CE09-4551-92FD-3F81B982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B5F8A-43A2-4036-88E1-D4606B95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C41BE-AFC1-4280-A4FC-F0955A8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4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BEFEB-83A2-467D-AEB3-2E41287F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4DA3C-80C0-416A-84CC-E564B00A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1267B-66D8-47C9-9BD6-29B0A8FE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916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FF02-BC23-4646-A0FF-056866DC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5E7B-D137-4C87-A1A6-A62FCFE1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2179-F7F3-43FF-B8A9-0A1B49DB9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3049C-3E71-4337-8C72-80751A9F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C7EA4-32EF-4572-BD9F-26352989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BAB82-1E39-4F13-8764-E8C8F1DA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2117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A54C-1ABB-4AD7-9734-7F35ED44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B7AE8-C522-466C-AFE8-77B50B51F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6414F-419C-48D9-BD0D-74C5ED2A4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DDABC-EF81-4B41-8538-045E01BC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9D66-9D60-4CDC-AB84-7B7BCAEE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06EC0-FD78-4EE1-94BD-56B82552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836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5C0B-14C8-4428-ABBE-B32A1CF8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5F800-8F14-4D83-8741-A4D9116E6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D0996-0560-4CFC-8763-36250142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D270-C442-439E-8B38-D7F46E35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D768-3E14-4299-B203-C932B45F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6807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34374-56F0-4041-85C9-AAC66F689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682D1-87D2-4547-8C28-7D45C07D6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601A4-A746-4DBE-8339-3D3F0705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182A0-655D-4CBE-AD02-B39BF7F0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9E8AB-F421-4C6D-B33A-FD6E3D05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4858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6357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2585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9259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2111292" y="598309"/>
            <a:ext cx="11211200" cy="53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67" b="1" i="0">
                <a:solidFill>
                  <a:srgbClr val="1F3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718423" y="2489126"/>
            <a:ext cx="9637333" cy="21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12760" lvl="0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23" b="1" i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625519" lvl="1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438278" lvl="2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251037" lvl="3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063797" lvl="4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876557" lvl="5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689315" lvl="6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6502075" lvl="7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7314834" lvl="8" indent="-406379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ftr" idx="11"/>
          </p:nvPr>
        </p:nvSpPr>
        <p:spPr>
          <a:xfrm>
            <a:off x="5527040" y="8503921"/>
            <a:ext cx="52021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dt" idx="10"/>
          </p:nvPr>
        </p:nvSpPr>
        <p:spPr>
          <a:xfrm>
            <a:off x="812800" y="8503921"/>
            <a:ext cx="37386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sldNum" idx="12"/>
          </p:nvPr>
        </p:nvSpPr>
        <p:spPr>
          <a:xfrm>
            <a:off x="11704320" y="8503922"/>
            <a:ext cx="37386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6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E1163-0576-4046-999C-E6BBB9442AB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2CD6-3D2E-4AAA-9FEC-E12B1A633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727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2A710-34D9-4723-BF35-59A1E466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94AA0-514D-4686-87C9-AB3457784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36167-FD52-4F19-96EC-3FB6D0388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B6D8C-00E0-4AA4-931B-95544CCF241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28769-001A-4D8D-A83E-A12BA65A3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147BB-C223-4885-A175-8C169B265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0C2FF-3DF7-4A3A-90B9-7735C85F2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9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3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2" r:id="rId2"/>
    <p:sldLayoutId id="2147483713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30DB-CA1E-4D15-8355-A0B0503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5367000" cy="1143000"/>
          </a:xfrm>
        </p:spPr>
        <p:txBody>
          <a:bodyPr>
            <a:normAutofit/>
          </a:bodyPr>
          <a:lstStyle/>
          <a:p>
            <a:pPr algn="l"/>
            <a:r>
              <a:rPr lang="en-IN" sz="3467" b="1">
                <a:solidFill>
                  <a:srgbClr val="1A3257"/>
                </a:solidFill>
                <a:latin typeface="Georgia" pitchFamily="34" charset="0"/>
              </a:rPr>
              <a:t>GST &amp; VAT Revenue Apr to July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DE8C3F-8E99-4785-9AA7-74B2E2F5D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85434"/>
              </p:ext>
            </p:extLst>
          </p:nvPr>
        </p:nvGraphicFramePr>
        <p:xfrm>
          <a:off x="660838" y="1676400"/>
          <a:ext cx="7137581" cy="5692833"/>
        </p:xfrm>
        <a:graphic>
          <a:graphicData uri="http://schemas.openxmlformats.org/drawingml/2006/table">
            <a:tbl>
              <a:tblPr/>
              <a:tblGrid>
                <a:gridCol w="885870">
                  <a:extLst>
                    <a:ext uri="{9D8B030D-6E8A-4147-A177-3AD203B41FA5}">
                      <a16:colId xmlns:a16="http://schemas.microsoft.com/office/drawing/2014/main" val="543381258"/>
                    </a:ext>
                  </a:extLst>
                </a:gridCol>
                <a:gridCol w="1515857">
                  <a:extLst>
                    <a:ext uri="{9D8B030D-6E8A-4147-A177-3AD203B41FA5}">
                      <a16:colId xmlns:a16="http://schemas.microsoft.com/office/drawing/2014/main" val="400071351"/>
                    </a:ext>
                  </a:extLst>
                </a:gridCol>
                <a:gridCol w="1634287">
                  <a:extLst>
                    <a:ext uri="{9D8B030D-6E8A-4147-A177-3AD203B41FA5}">
                      <a16:colId xmlns:a16="http://schemas.microsoft.com/office/drawing/2014/main" val="406991325"/>
                    </a:ext>
                  </a:extLst>
                </a:gridCol>
                <a:gridCol w="1634287">
                  <a:extLst>
                    <a:ext uri="{9D8B030D-6E8A-4147-A177-3AD203B41FA5}">
                      <a16:colId xmlns:a16="http://schemas.microsoft.com/office/drawing/2014/main" val="8315392"/>
                    </a:ext>
                  </a:extLst>
                </a:gridCol>
                <a:gridCol w="1467280">
                  <a:extLst>
                    <a:ext uri="{9D8B030D-6E8A-4147-A177-3AD203B41FA5}">
                      <a16:colId xmlns:a16="http://schemas.microsoft.com/office/drawing/2014/main" val="1588977595"/>
                    </a:ext>
                  </a:extLst>
                </a:gridCol>
              </a:tblGrid>
              <a:tr h="536128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GST Net Revenue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19859"/>
                  </a:ext>
                </a:extLst>
              </a:tr>
              <a:tr h="5842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2025-26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2026-27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Growth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55838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(4646)</a:t>
                      </a: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(2.20%)</a:t>
                      </a:r>
                      <a:endParaRPr lang="en-I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29.69%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764276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(3819)</a:t>
                      </a:r>
                      <a:endParaRPr lang="en-I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(9.39%)</a:t>
                      </a:r>
                    </a:p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-6.04%*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912122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158354"/>
                  </a:ext>
                </a:extLst>
              </a:tr>
              <a:tr h="7216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261554"/>
                  </a:ext>
                </a:extLst>
              </a:tr>
              <a:tr h="140320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Up to 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14,416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15,764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9.35%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6834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01A4DE-D756-4952-A46F-4E7DF2E0E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773070"/>
              </p:ext>
            </p:extLst>
          </p:nvPr>
        </p:nvGraphicFramePr>
        <p:xfrm>
          <a:off x="8482256" y="1676400"/>
          <a:ext cx="6960943" cy="5692831"/>
        </p:xfrm>
        <a:graphic>
          <a:graphicData uri="http://schemas.openxmlformats.org/drawingml/2006/table">
            <a:tbl>
              <a:tblPr/>
              <a:tblGrid>
                <a:gridCol w="890499">
                  <a:extLst>
                    <a:ext uri="{9D8B030D-6E8A-4147-A177-3AD203B41FA5}">
                      <a16:colId xmlns:a16="http://schemas.microsoft.com/office/drawing/2014/main" val="2017212267"/>
                    </a:ext>
                  </a:extLst>
                </a:gridCol>
                <a:gridCol w="1091175">
                  <a:extLst>
                    <a:ext uri="{9D8B030D-6E8A-4147-A177-3AD203B41FA5}">
                      <a16:colId xmlns:a16="http://schemas.microsoft.com/office/drawing/2014/main" val="1382796083"/>
                    </a:ext>
                  </a:extLst>
                </a:gridCol>
                <a:gridCol w="1718287">
                  <a:extLst>
                    <a:ext uri="{9D8B030D-6E8A-4147-A177-3AD203B41FA5}">
                      <a16:colId xmlns:a16="http://schemas.microsoft.com/office/drawing/2014/main" val="2648979898"/>
                    </a:ext>
                  </a:extLst>
                </a:gridCol>
                <a:gridCol w="1718287">
                  <a:extLst>
                    <a:ext uri="{9D8B030D-6E8A-4147-A177-3AD203B41FA5}">
                      <a16:colId xmlns:a16="http://schemas.microsoft.com/office/drawing/2014/main" val="862954740"/>
                    </a:ext>
                  </a:extLst>
                </a:gridCol>
                <a:gridCol w="1542695">
                  <a:extLst>
                    <a:ext uri="{9D8B030D-6E8A-4147-A177-3AD203B41FA5}">
                      <a16:colId xmlns:a16="http://schemas.microsoft.com/office/drawing/2014/main" val="1426351379"/>
                    </a:ext>
                  </a:extLst>
                </a:gridCol>
              </a:tblGrid>
              <a:tr h="716580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VAT Net Revenue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964043"/>
                  </a:ext>
                </a:extLst>
              </a:tr>
              <a:tr h="7165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2025-26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FY 2026-27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Growth 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82680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20401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21510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77986"/>
                  </a:ext>
                </a:extLst>
              </a:tr>
              <a:tr h="7165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06903"/>
                  </a:ext>
                </a:extLst>
              </a:tr>
              <a:tr h="1393351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Up to July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8,172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9,238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13.04%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9607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662DC0-B612-4B6A-8207-D8FB61D96126}"/>
              </a:ext>
            </a:extLst>
          </p:cNvPr>
          <p:cNvSpPr txBox="1"/>
          <p:nvPr/>
        </p:nvSpPr>
        <p:spPr>
          <a:xfrm>
            <a:off x="692770" y="7674114"/>
            <a:ext cx="128256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*538 Cr was deducted in the May’26, due to which growth has dropped to -6.04%, whereas it is actually 9.38%.               </a:t>
            </a:r>
            <a:b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Reasons being ascertained by TRU.</a:t>
            </a:r>
            <a:endParaRPr lang="en-IN" sz="2000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7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30DB-CA1E-4D15-8355-A0B05032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5367000" cy="868362"/>
          </a:xfrm>
        </p:spPr>
        <p:txBody>
          <a:bodyPr>
            <a:normAutofit/>
          </a:bodyPr>
          <a:lstStyle/>
          <a:p>
            <a:pPr algn="l"/>
            <a:r>
              <a:rPr lang="en-IN" sz="3467" b="1">
                <a:solidFill>
                  <a:srgbClr val="1A3257"/>
                </a:solidFill>
                <a:latin typeface="Georgia" pitchFamily="34" charset="0"/>
              </a:rPr>
              <a:t>Revenue &amp; Turnover Analysis Apr to July (2025 vs 2026)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B71433-6BAF-42B0-8C8F-40AD7F703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299792"/>
              </p:ext>
            </p:extLst>
          </p:nvPr>
        </p:nvGraphicFramePr>
        <p:xfrm>
          <a:off x="374105" y="1284517"/>
          <a:ext cx="15507790" cy="7573959"/>
        </p:xfrm>
        <a:graphic>
          <a:graphicData uri="http://schemas.openxmlformats.org/drawingml/2006/table">
            <a:tbl>
              <a:tblPr/>
              <a:tblGrid>
                <a:gridCol w="4153676">
                  <a:extLst>
                    <a:ext uri="{9D8B030D-6E8A-4147-A177-3AD203B41FA5}">
                      <a16:colId xmlns:a16="http://schemas.microsoft.com/office/drawing/2014/main" val="280902963"/>
                    </a:ext>
                  </a:extLst>
                </a:gridCol>
                <a:gridCol w="1505115">
                  <a:extLst>
                    <a:ext uri="{9D8B030D-6E8A-4147-A177-3AD203B41FA5}">
                      <a16:colId xmlns:a16="http://schemas.microsoft.com/office/drawing/2014/main" val="1990356188"/>
                    </a:ext>
                  </a:extLst>
                </a:gridCol>
                <a:gridCol w="1505115">
                  <a:extLst>
                    <a:ext uri="{9D8B030D-6E8A-4147-A177-3AD203B41FA5}">
                      <a16:colId xmlns:a16="http://schemas.microsoft.com/office/drawing/2014/main" val="4693258"/>
                    </a:ext>
                  </a:extLst>
                </a:gridCol>
                <a:gridCol w="1271311">
                  <a:extLst>
                    <a:ext uri="{9D8B030D-6E8A-4147-A177-3AD203B41FA5}">
                      <a16:colId xmlns:a16="http://schemas.microsoft.com/office/drawing/2014/main" val="1195184915"/>
                    </a:ext>
                  </a:extLst>
                </a:gridCol>
                <a:gridCol w="1373599">
                  <a:extLst>
                    <a:ext uri="{9D8B030D-6E8A-4147-A177-3AD203B41FA5}">
                      <a16:colId xmlns:a16="http://schemas.microsoft.com/office/drawing/2014/main" val="2055720624"/>
                    </a:ext>
                  </a:extLst>
                </a:gridCol>
                <a:gridCol w="1373599">
                  <a:extLst>
                    <a:ext uri="{9D8B030D-6E8A-4147-A177-3AD203B41FA5}">
                      <a16:colId xmlns:a16="http://schemas.microsoft.com/office/drawing/2014/main" val="141290763"/>
                    </a:ext>
                  </a:extLst>
                </a:gridCol>
                <a:gridCol w="657574">
                  <a:extLst>
                    <a:ext uri="{9D8B030D-6E8A-4147-A177-3AD203B41FA5}">
                      <a16:colId xmlns:a16="http://schemas.microsoft.com/office/drawing/2014/main" val="3336486655"/>
                    </a:ext>
                  </a:extLst>
                </a:gridCol>
                <a:gridCol w="1285922">
                  <a:extLst>
                    <a:ext uri="{9D8B030D-6E8A-4147-A177-3AD203B41FA5}">
                      <a16:colId xmlns:a16="http://schemas.microsoft.com/office/drawing/2014/main" val="4256327405"/>
                    </a:ext>
                  </a:extLst>
                </a:gridCol>
                <a:gridCol w="1285922">
                  <a:extLst>
                    <a:ext uri="{9D8B030D-6E8A-4147-A177-3AD203B41FA5}">
                      <a16:colId xmlns:a16="http://schemas.microsoft.com/office/drawing/2014/main" val="1059204583"/>
                    </a:ext>
                  </a:extLst>
                </a:gridCol>
                <a:gridCol w="1095957">
                  <a:extLst>
                    <a:ext uri="{9D8B030D-6E8A-4147-A177-3AD203B41FA5}">
                      <a16:colId xmlns:a16="http://schemas.microsoft.com/office/drawing/2014/main" val="3882349919"/>
                    </a:ext>
                  </a:extLst>
                </a:gridCol>
              </a:tblGrid>
              <a:tr h="10600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Sector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Turnover</a:t>
                      </a:r>
                    </a:p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(Apr-July'25)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Turnover </a:t>
                      </a:r>
                    </a:p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(Apr-July'26)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Buoyancy %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Liability (I+C+S)'25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Liability (I+C+S)'26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Change %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Net Revenue to State'25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Net Revenue to State’26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Change % 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137952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Sectors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6,74,833.62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8,08,749.38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72,784.54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72,414.79 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9063" marR="9063" marT="9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14,416</a:t>
                      </a:r>
                      <a:endParaRPr lang="en-IN" sz="1800" b="1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15,764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+9.35%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11892"/>
                  </a:ext>
                </a:extLst>
              </a:tr>
              <a:tr h="465278">
                <a:tc gridSpan="10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Rate reduced after GST2.0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646071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Vehicle/Automobile &amp; Spare Parts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31,834.99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37,641.53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7,830.42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6,431.08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-18%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1,994.50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1,966.20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60399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Electrical machinery and equipment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45,314.41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58,666.66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7,377.23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7,275.19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1,561.26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1,474.01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-6%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00660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Machinery &amp; Air Conditioning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21,609.34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25,338.81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4,207.40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4,230.17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860.92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832.22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-3%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91249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 &amp; Banking Services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45,281.19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50,431.84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2,024.03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1,917.20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621.35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680.21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1800" b="1" i="0" u="none" strike="noStrike" kern="120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357471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Construction/Real Estate/ Cement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59,583.98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58,993.72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11,025.37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9,248.03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-16%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1,844.03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1,426.45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-23%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730421"/>
                  </a:ext>
                </a:extLst>
              </a:tr>
              <a:tr h="465278"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 Change in Rates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187577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Iron and steel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26,827.71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28,701.26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4,683.63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5,024.54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906.57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968.93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046546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Plastics and articles thereof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11,913.42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15,408.86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2,093.29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2,552.13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411.41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480.29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246383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 services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7,207.77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7,891.62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1091.3564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1184.60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392.59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425.88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409139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Articles of iron or steel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6,145.57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8,553.79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1068.3116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1,460.64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281.38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364.61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85566"/>
                  </a:ext>
                </a:extLst>
              </a:tr>
              <a:tr h="465278"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 Increased after 2.0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89950"/>
                  </a:ext>
                </a:extLst>
              </a:tr>
              <a:tr h="4652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 and Energy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70,648.26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75,859.98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1,552.62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1,701.55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760.20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1078.48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b="1" i="0" u="none" strike="noStrike" dirty="0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79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67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15360" cy="1402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121920"/>
            <a:ext cx="1548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– Impact of GST 2.0 on Revenue (Apr–Jul 2026)</a:t>
            </a:r>
            <a:endParaRPr lang="en-US" sz="2933"/>
          </a:p>
        </p:txBody>
      </p:sp>
      <p:sp>
        <p:nvSpPr>
          <p:cNvPr id="4" name="Text 2"/>
          <p:cNvSpPr/>
          <p:nvPr/>
        </p:nvSpPr>
        <p:spPr>
          <a:xfrm>
            <a:off x="365760" y="643838"/>
            <a:ext cx="1548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i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2.0 reduced the average effective tax rate from 9.15% to 8.22%,</a:t>
            </a:r>
            <a:endParaRPr lang="en-US" sz="1467" dirty="0"/>
          </a:p>
          <a:p>
            <a:pPr algn="ctr"/>
            <a:r>
              <a:rPr lang="en-US" sz="1467" i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Rajasthan achieved 9.35% growth in Net Revenue through strong turnover growth and improved compliance.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37368" y="1693912"/>
            <a:ext cx="390144" cy="390144"/>
          </a:xfrm>
          <a:prstGeom prst="roundRect">
            <a:avLst>
              <a:gd name="adj" fmla="val 15625"/>
            </a:avLst>
          </a:prstGeom>
          <a:solidFill>
            <a:srgbClr val="2956A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37368" y="169391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/>
          </a:p>
        </p:txBody>
      </p:sp>
      <p:sp>
        <p:nvSpPr>
          <p:cNvPr id="7" name="Text 5"/>
          <p:cNvSpPr/>
          <p:nvPr/>
        </p:nvSpPr>
        <p:spPr>
          <a:xfrm>
            <a:off x="836906" y="1656334"/>
            <a:ext cx="6096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IMPACT OF GST 2.0</a:t>
            </a:r>
            <a:endParaRPr lang="en-US" sz="1733"/>
          </a:p>
        </p:txBody>
      </p:sp>
      <p:sp>
        <p:nvSpPr>
          <p:cNvPr id="8" name="Text 6"/>
          <p:cNvSpPr/>
          <p:nvPr/>
        </p:nvSpPr>
        <p:spPr>
          <a:xfrm>
            <a:off x="934442" y="1904015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EFFECTIVE TAX RATE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417535" y="2294993"/>
            <a:ext cx="1912092" cy="1168183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504448" y="2435738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2025–26</a:t>
            </a:r>
            <a:endParaRPr lang="en-US" sz="1600"/>
          </a:p>
          <a:p>
            <a:pPr algn="ctr"/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/>
          </a:p>
          <a:p>
            <a:pPr algn="ctr"/>
            <a:endParaRPr lang="en-US" sz="1600"/>
          </a:p>
          <a:p>
            <a:pPr algn="ctr"/>
            <a:r>
              <a:rPr lang="en-US" sz="3200" b="1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9.15%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2394812" y="2646855"/>
            <a:ext cx="521480" cy="5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/>
          </a:p>
        </p:txBody>
      </p:sp>
      <p:sp>
        <p:nvSpPr>
          <p:cNvPr id="12" name="Shape 10"/>
          <p:cNvSpPr/>
          <p:nvPr/>
        </p:nvSpPr>
        <p:spPr>
          <a:xfrm>
            <a:off x="2981476" y="2294993"/>
            <a:ext cx="1825179" cy="1196332"/>
          </a:xfrm>
          <a:prstGeom prst="roundRect">
            <a:avLst>
              <a:gd name="adj" fmla="val 7143"/>
            </a:avLst>
          </a:prstGeom>
          <a:solidFill>
            <a:srgbClr val="EDF1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2981476" y="2435738"/>
            <a:ext cx="1825179" cy="98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</a:t>
            </a:r>
            <a:endParaRPr lang="en-US" sz="1600" dirty="0"/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(Apr–Jul)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32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8.22%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702" y="3706837"/>
            <a:ext cx="3650357" cy="422235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1B7A3D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767176" y="3700873"/>
            <a:ext cx="3650357" cy="422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4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~11% in average effective tax rate</a:t>
            </a:r>
            <a:endParaRPr lang="en-US" sz="1400" b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78D9DB9-EF17-3BCE-0BD8-F1710A6763EA}"/>
              </a:ext>
            </a:extLst>
          </p:cNvPr>
          <p:cNvGrpSpPr/>
          <p:nvPr/>
        </p:nvGrpSpPr>
        <p:grpSpPr>
          <a:xfrm>
            <a:off x="5388746" y="1867773"/>
            <a:ext cx="5771158" cy="2060232"/>
            <a:chOff x="5608320" y="2194560"/>
            <a:chExt cx="5486400" cy="1463040"/>
          </a:xfrm>
        </p:grpSpPr>
        <p:sp>
          <p:nvSpPr>
            <p:cNvPr id="16" name="Text 14"/>
            <p:cNvSpPr/>
            <p:nvPr/>
          </p:nvSpPr>
          <p:spPr>
            <a:xfrm>
              <a:off x="5608320" y="2194560"/>
              <a:ext cx="5486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GST 2.0 resulted in a </a:t>
              </a:r>
              <a:r>
                <a:rPr lang="en-US" b="1">
                  <a:solidFill>
                    <a:srgbClr val="2956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substantial reduction</a:t>
              </a:r>
              <a:r>
                <a:rPr lang="en-US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 the average effective tax rate across sectors.</a:t>
              </a:r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5608320" y="2743200"/>
              <a:ext cx="5486400" cy="426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Several major sectors witnessed </a:t>
              </a:r>
              <a:r>
                <a:rPr lang="en-US" b="1">
                  <a:solidFill>
                    <a:srgbClr val="2956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GST rate reduction</a:t>
              </a:r>
              <a:r>
                <a:rPr lang="en-US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(28% → 18%, 12% → 5%).</a:t>
              </a:r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5608320" y="3230880"/>
              <a:ext cx="5486400" cy="426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Therefore, a </a:t>
              </a:r>
              <a:r>
                <a:rPr lang="en-US" b="1">
                  <a:solidFill>
                    <a:srgbClr val="2956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overall tax liability</a:t>
              </a:r>
              <a:r>
                <a:rPr lang="en-US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was expected despite higher turnover.</a:t>
              </a:r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391D2A9-27BC-343B-7370-34E1A1862BF2}"/>
              </a:ext>
            </a:extLst>
          </p:cNvPr>
          <p:cNvGrpSpPr/>
          <p:nvPr/>
        </p:nvGrpSpPr>
        <p:grpSpPr>
          <a:xfrm>
            <a:off x="11484746" y="1803804"/>
            <a:ext cx="4267200" cy="2521123"/>
            <a:chOff x="11460480" y="2133600"/>
            <a:chExt cx="4267200" cy="1828800"/>
          </a:xfrm>
        </p:grpSpPr>
        <p:sp>
          <p:nvSpPr>
            <p:cNvPr id="19" name="Shape 17"/>
            <p:cNvSpPr/>
            <p:nvPr/>
          </p:nvSpPr>
          <p:spPr>
            <a:xfrm>
              <a:off x="11460480" y="2133600"/>
              <a:ext cx="4267200" cy="1828800"/>
            </a:xfrm>
            <a:prstGeom prst="roundRect">
              <a:avLst>
                <a:gd name="adj" fmla="val 6667"/>
              </a:avLst>
            </a:prstGeom>
            <a:solidFill>
              <a:srgbClr val="F0FFF0"/>
            </a:solidFill>
            <a:ln w="12700">
              <a:solidFill>
                <a:srgbClr val="1B7A3D"/>
              </a:solidFill>
              <a:prstDash val="solid"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0" name="Text 18"/>
            <p:cNvSpPr/>
            <p:nvPr/>
          </p:nvSpPr>
          <p:spPr>
            <a:xfrm>
              <a:off x="11704320" y="2194560"/>
              <a:ext cx="3674225" cy="890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Yet, Rajasthan's
Net Revenue increased by
</a:t>
              </a:r>
              <a:r>
                <a:rPr lang="en-US" sz="5400" b="1">
                  <a:solidFill>
                    <a:srgbClr val="1B7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9.35%</a:t>
              </a:r>
              <a:r>
                <a:rPr lang="en-US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1704320" y="3230880"/>
              <a:ext cx="377952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0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clearly indicates that the increase in </a:t>
              </a:r>
              <a:r>
                <a:rPr lang="en-US" sz="1400" b="1">
                  <a:solidFill>
                    <a:srgbClr val="E85D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economic activity</a:t>
              </a:r>
              <a:r>
                <a:rPr lang="en-US" sz="140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and </a:t>
              </a:r>
              <a:r>
                <a:rPr lang="en-US" sz="1400" b="1">
                  <a:solidFill>
                    <a:srgbClr val="E85D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improved compliance</a:t>
              </a:r>
              <a:r>
                <a:rPr lang="en-US" sz="140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has more than compensated for the reduction in tax rates.</a:t>
              </a:r>
              <a:endParaRPr lang="en-US" sz="1400"/>
            </a:p>
          </p:txBody>
        </p:sp>
      </p:grpSp>
      <p:sp>
        <p:nvSpPr>
          <p:cNvPr id="22" name="Shape 20"/>
          <p:cNvSpPr/>
          <p:nvPr/>
        </p:nvSpPr>
        <p:spPr>
          <a:xfrm>
            <a:off x="387472" y="4402314"/>
            <a:ext cx="390144" cy="390144"/>
          </a:xfrm>
          <a:prstGeom prst="roundRect">
            <a:avLst>
              <a:gd name="adj" fmla="val 15625"/>
            </a:avLst>
          </a:prstGeom>
          <a:solidFill>
            <a:srgbClr val="2956A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387472" y="440231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/>
          </a:p>
        </p:txBody>
      </p:sp>
      <p:sp>
        <p:nvSpPr>
          <p:cNvPr id="24" name="Text 22"/>
          <p:cNvSpPr/>
          <p:nvPr/>
        </p:nvSpPr>
        <p:spPr>
          <a:xfrm>
            <a:off x="912062" y="4489996"/>
            <a:ext cx="6096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SUMMARY (APR–JUL)</a:t>
            </a:r>
            <a:endParaRPr lang="en-US" sz="1733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0D6AA6D-DE30-7125-ECE7-B43AF7F0C328}"/>
              </a:ext>
            </a:extLst>
          </p:cNvPr>
          <p:cNvGrpSpPr/>
          <p:nvPr/>
        </p:nvGrpSpPr>
        <p:grpSpPr>
          <a:xfrm>
            <a:off x="475154" y="4896518"/>
            <a:ext cx="15374447" cy="2400142"/>
            <a:chOff x="597074" y="4889326"/>
            <a:chExt cx="14996160" cy="1767840"/>
          </a:xfrm>
        </p:grpSpPr>
        <p:sp>
          <p:nvSpPr>
            <p:cNvPr id="25" name="Shape 23"/>
            <p:cNvSpPr/>
            <p:nvPr/>
          </p:nvSpPr>
          <p:spPr>
            <a:xfrm>
              <a:off x="597074" y="4889326"/>
              <a:ext cx="4632960" cy="1767840"/>
            </a:xfrm>
            <a:prstGeom prst="roundRect">
              <a:avLst>
                <a:gd name="adj" fmla="val 6897"/>
              </a:avLst>
            </a:prstGeom>
            <a:solidFill>
              <a:srgbClr val="EAF0F8"/>
            </a:solidFill>
            <a:ln w="6350">
              <a:solidFill>
                <a:srgbClr val="C8D6E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26" name="Text 24"/>
            <p:cNvSpPr/>
            <p:nvPr/>
          </p:nvSpPr>
          <p:spPr>
            <a:xfrm>
              <a:off x="718994" y="49868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2956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TURNOVER</a:t>
              </a:r>
              <a:endParaRPr lang="en-US" sz="2000"/>
            </a:p>
          </p:txBody>
        </p:sp>
        <p:sp>
          <p:nvSpPr>
            <p:cNvPr id="27" name="Text 25"/>
            <p:cNvSpPr/>
            <p:nvPr/>
          </p:nvSpPr>
          <p:spPr>
            <a:xfrm>
              <a:off x="718994" y="52916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₹6.75 Lakh Cr</a:t>
              </a:r>
              <a:endParaRPr lang="en-US" sz="3200"/>
            </a:p>
          </p:txBody>
        </p:sp>
        <p:sp>
          <p:nvSpPr>
            <p:cNvPr id="28" name="Text 26"/>
            <p:cNvSpPr/>
            <p:nvPr/>
          </p:nvSpPr>
          <p:spPr>
            <a:xfrm>
              <a:off x="718994" y="5535502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2025)</a:t>
              </a:r>
              <a:endParaRPr lang="en-US" sz="1400"/>
            </a:p>
          </p:txBody>
        </p:sp>
        <p:sp>
          <p:nvSpPr>
            <p:cNvPr id="29" name="Text 27"/>
            <p:cNvSpPr/>
            <p:nvPr/>
          </p:nvSpPr>
          <p:spPr>
            <a:xfrm>
              <a:off x="718994" y="574276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718994" y="588907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₹8.09 Lakh Cr</a:t>
              </a:r>
              <a:endParaRPr lang="en-US" sz="3200"/>
            </a:p>
          </p:txBody>
        </p:sp>
        <p:sp>
          <p:nvSpPr>
            <p:cNvPr id="31" name="Text 29"/>
            <p:cNvSpPr/>
            <p:nvPr/>
          </p:nvSpPr>
          <p:spPr>
            <a:xfrm>
              <a:off x="718994" y="613291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2026)</a:t>
              </a:r>
              <a:endParaRPr lang="en-US" sz="1400"/>
            </a:p>
          </p:txBody>
        </p:sp>
        <p:sp>
          <p:nvSpPr>
            <p:cNvPr id="32" name="Shape 30"/>
            <p:cNvSpPr/>
            <p:nvPr/>
          </p:nvSpPr>
          <p:spPr>
            <a:xfrm>
              <a:off x="2303954" y="6352366"/>
              <a:ext cx="1219200" cy="268224"/>
            </a:xfrm>
            <a:prstGeom prst="roundRect">
              <a:avLst>
                <a:gd name="adj" fmla="val 22727"/>
              </a:avLst>
            </a:prstGeom>
            <a:solidFill>
              <a:srgbClr val="1B7A3D"/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3" name="Text 31"/>
            <p:cNvSpPr/>
            <p:nvPr/>
          </p:nvSpPr>
          <p:spPr>
            <a:xfrm>
              <a:off x="2303954" y="6352366"/>
              <a:ext cx="12192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+20%</a:t>
              </a:r>
              <a:endParaRPr 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5778674" y="4889326"/>
              <a:ext cx="4632960" cy="1767840"/>
            </a:xfrm>
            <a:prstGeom prst="roundRect">
              <a:avLst>
                <a:gd name="adj" fmla="val 6897"/>
              </a:avLst>
            </a:prstGeom>
            <a:solidFill>
              <a:srgbClr val="EAF0F8"/>
            </a:solidFill>
            <a:ln w="6350">
              <a:solidFill>
                <a:srgbClr val="C8D6E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35" name="Text 33"/>
            <p:cNvSpPr/>
            <p:nvPr/>
          </p:nvSpPr>
          <p:spPr>
            <a:xfrm>
              <a:off x="5900594" y="49868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E85D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TAX LIABILITY</a:t>
              </a:r>
              <a:endParaRPr lang="en-US" sz="2000"/>
            </a:p>
          </p:txBody>
        </p:sp>
        <p:sp>
          <p:nvSpPr>
            <p:cNvPr id="36" name="Text 34"/>
            <p:cNvSpPr/>
            <p:nvPr/>
          </p:nvSpPr>
          <p:spPr>
            <a:xfrm>
              <a:off x="5900594" y="52916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₹72,785 Cr</a:t>
              </a:r>
              <a:endParaRPr lang="en-US" sz="3200"/>
            </a:p>
          </p:txBody>
        </p:sp>
        <p:sp>
          <p:nvSpPr>
            <p:cNvPr id="37" name="Text 35"/>
            <p:cNvSpPr/>
            <p:nvPr/>
          </p:nvSpPr>
          <p:spPr>
            <a:xfrm>
              <a:off x="5900594" y="5535502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2025)</a:t>
              </a:r>
              <a:endParaRPr lang="en-US" sz="1400"/>
            </a:p>
          </p:txBody>
        </p:sp>
        <p:sp>
          <p:nvSpPr>
            <p:cNvPr id="38" name="Text 36"/>
            <p:cNvSpPr/>
            <p:nvPr/>
          </p:nvSpPr>
          <p:spPr>
            <a:xfrm>
              <a:off x="5900594" y="574276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5900594" y="588907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₹72,415 Cr</a:t>
              </a:r>
              <a:endParaRPr lang="en-US" sz="3200"/>
            </a:p>
          </p:txBody>
        </p:sp>
        <p:sp>
          <p:nvSpPr>
            <p:cNvPr id="40" name="Text 38"/>
            <p:cNvSpPr/>
            <p:nvPr/>
          </p:nvSpPr>
          <p:spPr>
            <a:xfrm>
              <a:off x="5900594" y="613291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2026)</a:t>
              </a:r>
              <a:endParaRPr lang="en-US" sz="1400"/>
            </a:p>
          </p:txBody>
        </p:sp>
        <p:sp>
          <p:nvSpPr>
            <p:cNvPr id="41" name="Shape 39"/>
            <p:cNvSpPr/>
            <p:nvPr/>
          </p:nvSpPr>
          <p:spPr>
            <a:xfrm>
              <a:off x="7485554" y="6352366"/>
              <a:ext cx="1219200" cy="268224"/>
            </a:xfrm>
            <a:prstGeom prst="roundRect">
              <a:avLst>
                <a:gd name="adj" fmla="val 22727"/>
              </a:avLst>
            </a:prstGeom>
            <a:solidFill>
              <a:srgbClr val="D4380D"/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42" name="Text 40"/>
            <p:cNvSpPr/>
            <p:nvPr/>
          </p:nvSpPr>
          <p:spPr>
            <a:xfrm>
              <a:off x="7485554" y="6352366"/>
              <a:ext cx="12192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-1%</a:t>
              </a:r>
              <a:endParaRPr lang="en-US"/>
            </a:p>
          </p:txBody>
        </p:sp>
        <p:sp>
          <p:nvSpPr>
            <p:cNvPr id="43" name="Shape 41"/>
            <p:cNvSpPr/>
            <p:nvPr/>
          </p:nvSpPr>
          <p:spPr>
            <a:xfrm>
              <a:off x="10960274" y="4889326"/>
              <a:ext cx="4632960" cy="1767840"/>
            </a:xfrm>
            <a:prstGeom prst="roundRect">
              <a:avLst>
                <a:gd name="adj" fmla="val 6897"/>
              </a:avLst>
            </a:prstGeom>
            <a:solidFill>
              <a:srgbClr val="EAF0F8"/>
            </a:solidFill>
            <a:ln w="6350">
              <a:solidFill>
                <a:srgbClr val="C8D6E5"/>
              </a:solidFill>
              <a:prstDash val="solid"/>
            </a:ln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44" name="Text 42"/>
            <p:cNvSpPr/>
            <p:nvPr/>
          </p:nvSpPr>
          <p:spPr>
            <a:xfrm>
              <a:off x="11082194" y="49868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1B7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 REVENUE TO STATE</a:t>
              </a:r>
              <a:endParaRPr lang="en-US" sz="2000"/>
            </a:p>
          </p:txBody>
        </p:sp>
        <p:sp>
          <p:nvSpPr>
            <p:cNvPr id="45" name="Text 43"/>
            <p:cNvSpPr/>
            <p:nvPr/>
          </p:nvSpPr>
          <p:spPr>
            <a:xfrm>
              <a:off x="11082194" y="5291662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₹14,416 Cr</a:t>
              </a:r>
              <a:endParaRPr lang="en-US" sz="3200"/>
            </a:p>
          </p:txBody>
        </p:sp>
        <p:sp>
          <p:nvSpPr>
            <p:cNvPr id="46" name="Text 44"/>
            <p:cNvSpPr/>
            <p:nvPr/>
          </p:nvSpPr>
          <p:spPr>
            <a:xfrm>
              <a:off x="11082194" y="5535502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2025)</a:t>
              </a:r>
              <a:endParaRPr lang="en-US" sz="1400"/>
            </a:p>
          </p:txBody>
        </p:sp>
        <p:sp>
          <p:nvSpPr>
            <p:cNvPr id="47" name="Text 45"/>
            <p:cNvSpPr/>
            <p:nvPr/>
          </p:nvSpPr>
          <p:spPr>
            <a:xfrm>
              <a:off x="11082194" y="5742766"/>
              <a:ext cx="4389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11082194" y="588907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200" b="1">
                  <a:solidFill>
                    <a:srgbClr val="1A366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₹15,764 Cr</a:t>
              </a:r>
              <a:endParaRPr lang="en-US" sz="3200"/>
            </a:p>
          </p:txBody>
        </p:sp>
        <p:sp>
          <p:nvSpPr>
            <p:cNvPr id="49" name="Text 47"/>
            <p:cNvSpPr/>
            <p:nvPr/>
          </p:nvSpPr>
          <p:spPr>
            <a:xfrm>
              <a:off x="11082194" y="6132910"/>
              <a:ext cx="43891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(Apr–Jul 2026)</a:t>
              </a:r>
              <a:endParaRPr lang="en-US" sz="1400"/>
            </a:p>
          </p:txBody>
        </p:sp>
        <p:sp>
          <p:nvSpPr>
            <p:cNvPr id="50" name="Shape 48"/>
            <p:cNvSpPr/>
            <p:nvPr/>
          </p:nvSpPr>
          <p:spPr>
            <a:xfrm>
              <a:off x="12667154" y="6352366"/>
              <a:ext cx="1219200" cy="268224"/>
            </a:xfrm>
            <a:prstGeom prst="roundRect">
              <a:avLst>
                <a:gd name="adj" fmla="val 22727"/>
              </a:avLst>
            </a:prstGeom>
            <a:solidFill>
              <a:srgbClr val="1B7A3D"/>
            </a:solidFill>
            <a:ln/>
          </p:spPr>
          <p:txBody>
            <a:bodyPr/>
            <a:lstStyle/>
            <a:p>
              <a:endParaRPr lang="en-US" sz="3600"/>
            </a:p>
          </p:txBody>
        </p:sp>
        <p:sp>
          <p:nvSpPr>
            <p:cNvPr id="51" name="Text 49"/>
            <p:cNvSpPr/>
            <p:nvPr/>
          </p:nvSpPr>
          <p:spPr>
            <a:xfrm>
              <a:off x="12667154" y="6352366"/>
              <a:ext cx="121920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+9.35%</a:t>
              </a:r>
              <a:endParaRPr lang="en-US"/>
            </a:p>
          </p:txBody>
        </p:sp>
      </p:grpSp>
      <p:sp>
        <p:nvSpPr>
          <p:cNvPr id="52" name="Shape 50"/>
          <p:cNvSpPr/>
          <p:nvPr/>
        </p:nvSpPr>
        <p:spPr>
          <a:xfrm>
            <a:off x="25052" y="7695590"/>
            <a:ext cx="16215360" cy="12801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3" name="Shape 51"/>
          <p:cNvSpPr/>
          <p:nvPr/>
        </p:nvSpPr>
        <p:spPr>
          <a:xfrm>
            <a:off x="487680" y="7955964"/>
            <a:ext cx="390144" cy="390144"/>
          </a:xfrm>
          <a:prstGeom prst="roundRect">
            <a:avLst>
              <a:gd name="adj" fmla="val 15625"/>
            </a:avLst>
          </a:prstGeom>
          <a:solidFill>
            <a:srgbClr val="E85D2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4" name="Text 52"/>
          <p:cNvSpPr/>
          <p:nvPr/>
        </p:nvSpPr>
        <p:spPr>
          <a:xfrm>
            <a:off x="487680" y="7918386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/>
          </a:p>
        </p:txBody>
      </p:sp>
      <p:sp>
        <p:nvSpPr>
          <p:cNvPr id="55" name="Text 53"/>
          <p:cNvSpPr/>
          <p:nvPr/>
        </p:nvSpPr>
        <p:spPr>
          <a:xfrm>
            <a:off x="999744" y="7930912"/>
            <a:ext cx="3657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D438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/>
          </a:p>
        </p:txBody>
      </p:sp>
      <p:sp>
        <p:nvSpPr>
          <p:cNvPr id="56" name="Text 54"/>
          <p:cNvSpPr/>
          <p:nvPr/>
        </p:nvSpPr>
        <p:spPr>
          <a:xfrm>
            <a:off x="3474720" y="787847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significant reduction in average effective tax rate from </a:t>
            </a:r>
            <a:r>
              <a:rPr lang="en-US" sz="2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9.15% to 8.22%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GST 2.0,
</a:t>
            </a:r>
            <a:r>
              <a:rPr lang="en-US" sz="2000" b="1" dirty="0">
                <a:solidFill>
                  <a:srgbClr val="29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compliance, effective tax administration and robust collections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enabled
</a:t>
            </a:r>
            <a:r>
              <a:rPr lang="en-US" sz="2400" b="1" dirty="0">
                <a:solidFill>
                  <a:srgbClr val="1A3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Rajasthan's Net Revenue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grow by </a:t>
            </a:r>
            <a:r>
              <a:rPr lang="en-US" sz="24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9.35%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Apr–Jul 2026.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0136"/>
            <a:ext cx="16205200" cy="478365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32353"/>
              </a:lnSpc>
            </a:pPr>
            <a:r>
              <a:rPr lang="en-US" sz="1600" b="1" kern="0" spc="140">
                <a:solidFill>
                  <a:srgbClr val="AB4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VISIT LEARNINGS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762000" y="749300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14576"/>
              </a:lnSpc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Directions of HCM Review</a:t>
            </a:r>
          </a:p>
        </p:txBody>
      </p:sp>
      <p:sp>
        <p:nvSpPr>
          <p:cNvPr id="4" name="Text 2"/>
          <p:cNvSpPr/>
          <p:nvPr/>
        </p:nvSpPr>
        <p:spPr>
          <a:xfrm>
            <a:off x="762000" y="1372394"/>
            <a:ext cx="16205200" cy="3386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>
                <a:solidFill>
                  <a:srgbClr val="645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9th July 2026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762000" y="1931194"/>
            <a:ext cx="7934987" cy="1989658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778"/>
          </a:p>
        </p:txBody>
      </p:sp>
      <p:sp>
        <p:nvSpPr>
          <p:cNvPr id="6" name="Shape 4"/>
          <p:cNvSpPr/>
          <p:nvPr/>
        </p:nvSpPr>
        <p:spPr>
          <a:xfrm>
            <a:off x="760334" y="3916675"/>
            <a:ext cx="7934987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7" name="Shape 5"/>
          <p:cNvSpPr/>
          <p:nvPr/>
        </p:nvSpPr>
        <p:spPr>
          <a:xfrm>
            <a:off x="762000" y="1861084"/>
            <a:ext cx="7934987" cy="134805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8" name="Shape 6"/>
          <p:cNvSpPr/>
          <p:nvPr/>
        </p:nvSpPr>
        <p:spPr>
          <a:xfrm>
            <a:off x="762000" y="1931193"/>
            <a:ext cx="45719" cy="1964255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9" name="Shape 7"/>
          <p:cNvSpPr/>
          <p:nvPr/>
        </p:nvSpPr>
        <p:spPr>
          <a:xfrm flipH="1">
            <a:off x="8642800" y="2007846"/>
            <a:ext cx="45719" cy="1922155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10" name="Text 8"/>
          <p:cNvSpPr/>
          <p:nvPr/>
        </p:nvSpPr>
        <p:spPr>
          <a:xfrm>
            <a:off x="1007534" y="2082354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400" b="1" kern="0" spc="10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980644" y="2733966"/>
            <a:ext cx="250692" cy="2624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1244" b="1">
                <a:solidFill>
                  <a:srgbClr val="AB4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44"/>
          </a:p>
        </p:txBody>
      </p:sp>
      <p:sp>
        <p:nvSpPr>
          <p:cNvPr id="12" name="Text 10"/>
          <p:cNvSpPr/>
          <p:nvPr/>
        </p:nvSpPr>
        <p:spPr>
          <a:xfrm>
            <a:off x="1282136" y="2739414"/>
            <a:ext cx="7387961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200" b="1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&amp; study best practices from AP &amp; Gujarat.</a:t>
            </a:r>
            <a:endParaRPr lang="en-US" sz="2200" b="1"/>
          </a:p>
        </p:txBody>
      </p:sp>
      <p:sp>
        <p:nvSpPr>
          <p:cNvPr id="13" name="Text 11"/>
          <p:cNvSpPr/>
          <p:nvPr/>
        </p:nvSpPr>
        <p:spPr>
          <a:xfrm>
            <a:off x="980644" y="3295123"/>
            <a:ext cx="250692" cy="2624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1244" b="1">
                <a:solidFill>
                  <a:srgbClr val="AB4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44"/>
          </a:p>
        </p:txBody>
      </p:sp>
      <p:sp>
        <p:nvSpPr>
          <p:cNvPr id="14" name="Text 12"/>
          <p:cNvSpPr/>
          <p:nvPr/>
        </p:nvSpPr>
        <p:spPr>
          <a:xfrm>
            <a:off x="1282135" y="3295121"/>
            <a:ext cx="7365746" cy="250311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000" b="1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 action plan for their phase-wise implementation.</a:t>
            </a:r>
            <a:endParaRPr lang="en-US" sz="2000" b="1"/>
          </a:p>
        </p:txBody>
      </p:sp>
      <p:sp>
        <p:nvSpPr>
          <p:cNvPr id="15" name="Shape 13"/>
          <p:cNvSpPr/>
          <p:nvPr/>
        </p:nvSpPr>
        <p:spPr>
          <a:xfrm>
            <a:off x="762000" y="4120619"/>
            <a:ext cx="7908097" cy="4185181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sp>
        <p:nvSpPr>
          <p:cNvPr id="16" name="Shape 14"/>
          <p:cNvSpPr/>
          <p:nvPr/>
        </p:nvSpPr>
        <p:spPr>
          <a:xfrm>
            <a:off x="762000" y="11532790"/>
            <a:ext cx="7934987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7" name="Shape 15"/>
          <p:cNvSpPr/>
          <p:nvPr/>
        </p:nvSpPr>
        <p:spPr>
          <a:xfrm>
            <a:off x="762000" y="4174067"/>
            <a:ext cx="7934987" cy="93133"/>
          </a:xfrm>
          <a:prstGeom prst="rect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IN" sz="1778"/>
          </a:p>
        </p:txBody>
      </p:sp>
      <p:sp>
        <p:nvSpPr>
          <p:cNvPr id="18" name="Shape 16"/>
          <p:cNvSpPr/>
          <p:nvPr/>
        </p:nvSpPr>
        <p:spPr>
          <a:xfrm>
            <a:off x="762001" y="4267201"/>
            <a:ext cx="45719" cy="4038600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19" name="Shape 17"/>
          <p:cNvSpPr/>
          <p:nvPr/>
        </p:nvSpPr>
        <p:spPr>
          <a:xfrm flipH="1">
            <a:off x="8648738" y="4191018"/>
            <a:ext cx="45719" cy="415634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20" name="Text 18"/>
          <p:cNvSpPr/>
          <p:nvPr/>
        </p:nvSpPr>
        <p:spPr>
          <a:xfrm>
            <a:off x="1007534" y="4301499"/>
            <a:ext cx="8188312" cy="469901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fontScale="92500" lnSpcReduction="20000"/>
          </a:bodyPr>
          <a:lstStyle/>
          <a:p>
            <a:pPr>
              <a:lnSpc>
                <a:spcPct val="132353"/>
              </a:lnSpc>
            </a:pPr>
            <a:r>
              <a:rPr lang="en-US" sz="2800" b="1" kern="0" spc="100">
                <a:solidFill>
                  <a:srgbClr val="145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980644" y="5019172"/>
            <a:ext cx="5428424" cy="387613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>
              <a:lnSpc>
                <a:spcPct val="130435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to Andhra Pradesh planned for </a:t>
            </a:r>
            <a:r>
              <a:rPr lang="en-US" sz="2400" b="1" i="1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 &amp; 5th August</a:t>
            </a: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7534" y="5960533"/>
            <a:ext cx="8188312" cy="2878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7534" y="6419983"/>
            <a:ext cx="7667237" cy="165721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 marL="342900" indent="-342900">
              <a:lnSpc>
                <a:spcPct val="136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A3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from Gujarat</a:t>
            </a:r>
            <a:r>
              <a:rPr lang="en-US" sz="2400" dirty="0"/>
              <a:t> - </a:t>
            </a:r>
            <a:r>
              <a:rPr lang="en-US" sz="2400" dirty="0">
                <a:solidFill>
                  <a:srgbClr val="645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takeaways from the Gujarat study visit are consolidated on the following two slides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167448" y="5054644"/>
            <a:ext cx="5613928" cy="3555956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9525">
            <a:solidFill>
              <a:srgbClr val="DDD4C2"/>
            </a:solidFill>
            <a:prstDash val="solid"/>
          </a:ln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995243" y="4793892"/>
            <a:ext cx="4329588" cy="3795759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10167448" y="1081317"/>
            <a:ext cx="5613928" cy="3790817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9525">
            <a:solidFill>
              <a:srgbClr val="DDD4C2"/>
            </a:solidFill>
            <a:prstDash val="solid"/>
          </a:ln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160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95243" y="1276213"/>
            <a:ext cx="3586030" cy="358603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5000818" y="8758767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38</a:t>
            </a:r>
            <a:endParaRPr lang="en-US" sz="867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D615F5-DCB2-56C5-52F5-0D89107656BB}"/>
              </a:ext>
            </a:extLst>
          </p:cNvPr>
          <p:cNvSpPr txBox="1"/>
          <p:nvPr/>
        </p:nvSpPr>
        <p:spPr>
          <a:xfrm rot="19434328">
            <a:off x="11621994" y="6622339"/>
            <a:ext cx="1995226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>
                <a:solidFill>
                  <a:schemeClr val="bg1"/>
                </a:solidFill>
              </a:rPr>
              <a:t>Andhra Pradesh</a:t>
            </a:r>
            <a:endParaRPr lang="en-IN" sz="2133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1376"/>
            <a:ext cx="11216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Key Takeaways for Adaptation in Rajasthan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926592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observed during the study visit — review &amp; revision and audit planning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1686270"/>
            <a:ext cx="7368033" cy="653113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5632" y="1978878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5632" y="197887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pic>
        <p:nvPicPr>
          <p:cNvPr id="8" name="Image 0" descr="/home/claude/work/icon-review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083552" y="197887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5232" y="1954494"/>
            <a:ext cx="551078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Review &amp; Revision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1116" y="2710397"/>
            <a:ext cx="6986524" cy="221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Review Branch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head office </a:t>
            </a:r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selection &amp; Targets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orders dropping high-value Show Cause Notices, substantial refund orders, registration cancellations and cases of wilful misstatement or fraud</a:t>
            </a:r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fixed for each division: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85 cases per month</a:t>
            </a: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1020 cases per year</a:t>
            </a:r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of AI-Models </a:t>
            </a: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 ascertain quality of appellate orders and assist in decision regarding further appeal</a:t>
            </a:r>
          </a:p>
        </p:txBody>
      </p:sp>
      <p:sp>
        <p:nvSpPr>
          <p:cNvPr id="11" name="Shape 8"/>
          <p:cNvSpPr/>
          <p:nvPr/>
        </p:nvSpPr>
        <p:spPr>
          <a:xfrm>
            <a:off x="736600" y="6887680"/>
            <a:ext cx="6761480" cy="113690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65632" y="7075495"/>
            <a:ext cx="6487029" cy="761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quality orders  ·  reduced litigation  ·  timely appeal and revision of orders affecting Govt. revenue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279253" y="1686270"/>
            <a:ext cx="7637272" cy="653113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56320" y="1978878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56320" y="197887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pic>
        <p:nvPicPr>
          <p:cNvPr id="16" name="Image 1" descr="/home/claude/work/icon-audit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4874240" y="1978878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65920" y="1954494"/>
            <a:ext cx="551078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Planning &amp; Case Selection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9119108" y="2911566"/>
            <a:ext cx="6072632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spcAft>
                <a:spcPts val="667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selection committee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finalize the annual audit plan</a:t>
            </a:r>
          </a:p>
          <a:p>
            <a:pPr marL="203195" indent="-203195"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taxpayers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profiled and taken up based on multiple risk parameters</a:t>
            </a:r>
          </a:p>
          <a:p>
            <a:pPr marL="203195" indent="-203195"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Sector-focused, thematic and emerging-risk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audits, with repeat audit where prior-year recovery was substantial and risk parameters persist</a:t>
            </a:r>
          </a:p>
        </p:txBody>
      </p:sp>
      <p:sp>
        <p:nvSpPr>
          <p:cNvPr id="19" name="Shape 15"/>
          <p:cNvSpPr/>
          <p:nvPr/>
        </p:nvSpPr>
        <p:spPr>
          <a:xfrm>
            <a:off x="8656320" y="6895301"/>
            <a:ext cx="6998208" cy="113690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900160" y="7075494"/>
            <a:ext cx="6714148" cy="761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recovery per audit and better deployment of limited officer strength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1376"/>
            <a:ext cx="112166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Key Takeaways for Adaptation in Rajasthan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926592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observed during the study visit — registration control and risk-based identification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579360" cy="7147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5632" y="1755648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5632" y="175564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pic>
        <p:nvPicPr>
          <p:cNvPr id="8" name="Image 0" descr="/home/claude/work/icon-registration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083552" y="17556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5232" y="1731264"/>
            <a:ext cx="56083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Control &amp; Bank account verification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97712" y="2778252"/>
            <a:ext cx="6465824" cy="440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lnSpc>
                <a:spcPct val="98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PAN-based search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time of registration to minimize already-cancelled firms obtaining fresh registration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monitoring of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registration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 months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operation to prevent misuse of ITC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</a:t>
            </a: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non-filer monitoring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identification of dormant and suspicious taxpayers for follow-up action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7412736"/>
            <a:ext cx="6832600" cy="96926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60704" y="7708392"/>
            <a:ext cx="6686296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control at source — bogus firms stopped before ITC leakage begins</a:t>
            </a:r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8339328" y="1463040"/>
            <a:ext cx="7579360" cy="7147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508" dir="5400000" algn="bl" rotWithShape="0">
              <a:srgbClr val="9AA9B8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56320" y="1755648"/>
            <a:ext cx="487680" cy="487680"/>
          </a:xfrm>
          <a:prstGeom prst="ellipse">
            <a:avLst/>
          </a:prstGeom>
          <a:solidFill>
            <a:srgbClr val="0B2E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56320" y="1755648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pic>
        <p:nvPicPr>
          <p:cNvPr id="16" name="Image 1" descr="/home/claude/work/icon-ris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4874240" y="1755648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65920" y="1731264"/>
            <a:ext cx="551078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2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924544" y="2660904"/>
            <a:ext cx="6339840" cy="504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risk profile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taxpayer built from returns, e-way bill movement, registration history and third-party data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Early-bird predictive detection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e-way bill data — commodity wise, location wise analysis of supply and purchase (for example, consignments originating from North-Eastern States)</a:t>
            </a:r>
            <a:endParaRPr lang="en-US" sz="2600" dirty="0"/>
          </a:p>
          <a:p>
            <a:pPr marL="203195" indent="-203195">
              <a:lnSpc>
                <a:spcPct val="98000"/>
              </a:lnSpc>
              <a:spcAft>
                <a:spcPts val="667"/>
              </a:spcAft>
              <a:buSzPct val="100000"/>
              <a:buChar char="•"/>
            </a:pPr>
            <a:r>
              <a:rPr lang="en-US" sz="26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contingency fund</a:t>
            </a:r>
            <a:r>
              <a:rPr lang="en-US" sz="26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provided every year for raid, checking and field operations, and developing own intelligence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705088" y="7412736"/>
            <a:ext cx="6632448" cy="969264"/>
          </a:xfrm>
          <a:prstGeom prst="roundRect">
            <a:avLst>
              <a:gd name="adj" fmla="val 15789"/>
            </a:avLst>
          </a:prstGeom>
          <a:solidFill>
            <a:srgbClr val="F1F6FB"/>
          </a:solidFill>
          <a:ln w="6350">
            <a:solidFill>
              <a:srgbClr val="F1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851392" y="7690104"/>
            <a:ext cx="6339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24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establishment of fake firm networks and targeted enforcement actions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1999" y="465607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14576"/>
              </a:lnSpc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Enforcement</a:t>
            </a:r>
          </a:p>
        </p:txBody>
      </p:sp>
      <p:sp>
        <p:nvSpPr>
          <p:cNvPr id="9" name="Text 7"/>
          <p:cNvSpPr/>
          <p:nvPr/>
        </p:nvSpPr>
        <p:spPr>
          <a:xfrm>
            <a:off x="1007533" y="1821128"/>
            <a:ext cx="6285627" cy="2243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2353"/>
              </a:lnSpc>
            </a:pPr>
            <a:r>
              <a:rPr lang="en-US" sz="1000" b="1" kern="0" spc="10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761999" y="1575594"/>
            <a:ext cx="12533231" cy="2850759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2844"/>
          </a:p>
        </p:txBody>
      </p:sp>
      <p:sp>
        <p:nvSpPr>
          <p:cNvPr id="5" name="Shape 3"/>
          <p:cNvSpPr/>
          <p:nvPr/>
        </p:nvSpPr>
        <p:spPr>
          <a:xfrm>
            <a:off x="670782" y="4331494"/>
            <a:ext cx="12743288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6" name="Shape 4"/>
          <p:cNvSpPr/>
          <p:nvPr/>
        </p:nvSpPr>
        <p:spPr>
          <a:xfrm>
            <a:off x="761999" y="1575593"/>
            <a:ext cx="12518861" cy="76417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7" name="Shape 5"/>
          <p:cNvSpPr/>
          <p:nvPr/>
        </p:nvSpPr>
        <p:spPr>
          <a:xfrm>
            <a:off x="761999" y="1575594"/>
            <a:ext cx="14370" cy="27643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8" name="Shape 6"/>
          <p:cNvSpPr/>
          <p:nvPr/>
        </p:nvSpPr>
        <p:spPr>
          <a:xfrm>
            <a:off x="13295230" y="1575594"/>
            <a:ext cx="14370" cy="27643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1" name="Text 9"/>
          <p:cNvSpPr/>
          <p:nvPr/>
        </p:nvSpPr>
        <p:spPr>
          <a:xfrm>
            <a:off x="1097904" y="2255402"/>
            <a:ext cx="8859184" cy="30276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Take state-wide action against ITC fraud and fake networks.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97904" y="2850848"/>
            <a:ext cx="8767237" cy="28180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 intelligence-based decoy operations in high-risk sectors.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1081371" y="3450731"/>
            <a:ext cx="9915048" cy="438743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0435"/>
              </a:lnSpc>
            </a:pPr>
            <a:r>
              <a:rPr lang="en-US" sz="2400">
                <a:solidFill>
                  <a:srgbClr val="322E25"/>
                </a:solidFill>
                <a:latin typeface="Arial" pitchFamily="34" charset="0"/>
                <a:cs typeface="Arial" pitchFamily="34" charset="-120"/>
              </a:rPr>
              <a:t>- Sector-wise calendar based on festivals etc., for anti-evasion action</a:t>
            </a:r>
            <a:r>
              <a:rPr lang="en-US" sz="240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B21D7F37-FA85-3375-5F46-AE7626A1D698}"/>
              </a:ext>
            </a:extLst>
          </p:cNvPr>
          <p:cNvSpPr/>
          <p:nvPr/>
        </p:nvSpPr>
        <p:spPr>
          <a:xfrm>
            <a:off x="909362" y="1719527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0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2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E4CE2AF-DED5-C190-DDC3-B6E5F48AC29E}"/>
              </a:ext>
            </a:extLst>
          </p:cNvPr>
          <p:cNvSpPr/>
          <p:nvPr/>
        </p:nvSpPr>
        <p:spPr>
          <a:xfrm>
            <a:off x="769184" y="4426353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8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28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F6B0DB2-7FCE-59AA-D884-B41A44930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824354"/>
              </p:ext>
            </p:extLst>
          </p:nvPr>
        </p:nvGraphicFramePr>
        <p:xfrm>
          <a:off x="776369" y="5078809"/>
          <a:ext cx="1410048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096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329132918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2694506363"/>
                    </a:ext>
                  </a:extLst>
                </a:gridCol>
                <a:gridCol w="2820096">
                  <a:extLst>
                    <a:ext uri="{9D8B030D-6E8A-4147-A177-3AD203B41FA5}">
                      <a16:colId xmlns:a16="http://schemas.microsoft.com/office/drawing/2014/main" val="80262685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</a:t>
                      </a:r>
                      <a:b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FY25–26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June’26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July’26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FY 26-27 Overall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cases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638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221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121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312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Revenue Detected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310 Cr.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216 Cr.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526 Cr.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27992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Voluntary Payments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459 Cr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185.38 Cr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59.16 Cr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-120"/>
                        </a:rPr>
                        <a:t>244.54 Cr</a:t>
                      </a:r>
                      <a:endParaRPr lang="en-IN" sz="2400" b="1" kern="120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424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E81C-10DF-CFD1-796C-E5C38EB8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4442C1-FFEC-2B10-8C91-15A0602DA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374503"/>
              </p:ext>
            </p:extLst>
          </p:nvPr>
        </p:nvGraphicFramePr>
        <p:xfrm>
          <a:off x="428752" y="1690806"/>
          <a:ext cx="15398496" cy="705695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27448">
                  <a:extLst>
                    <a:ext uri="{9D8B030D-6E8A-4147-A177-3AD203B41FA5}">
                      <a16:colId xmlns:a16="http://schemas.microsoft.com/office/drawing/2014/main" val="1638227884"/>
                    </a:ext>
                  </a:extLst>
                </a:gridCol>
                <a:gridCol w="10671048">
                  <a:extLst>
                    <a:ext uri="{9D8B030D-6E8A-4147-A177-3AD203B41FA5}">
                      <a16:colId xmlns:a16="http://schemas.microsoft.com/office/drawing/2014/main" val="1291300734"/>
                    </a:ext>
                  </a:extLst>
                </a:gridCol>
              </a:tblGrid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>
                          <a:solidFill>
                            <a:schemeClr val="bg1"/>
                          </a:solidFill>
                        </a:rPr>
                        <a:t>Details</a:t>
                      </a:r>
                      <a:endParaRPr lang="en-IN" sz="320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872155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Sector Covered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Coaching Institutes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556620748"/>
                  </a:ext>
                </a:extLst>
              </a:tr>
              <a:tr h="1811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Operations Conducted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8 decoy operations</a:t>
                      </a:r>
                      <a:r>
                        <a:rPr lang="en-IN" sz="3200" dirty="0"/>
                        <a:t> across multiple districts of Rajasthan</a:t>
                      </a:r>
                    </a:p>
                    <a:p>
                      <a:pPr marL="1066785" lvl="1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/>
                        <a:t>Parth Career Institute, Sikar</a:t>
                      </a:r>
                    </a:p>
                    <a:p>
                      <a:pPr marL="1066785" lvl="1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/>
                        <a:t>Prayas Coaching Institute, Sikar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723110278"/>
                  </a:ext>
                </a:extLst>
              </a:tr>
              <a:tr h="1811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Modus Operandi Identified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• Suppression of taxable turnover by Non-issuance of tax invoices</a:t>
                      </a:r>
                      <a:r>
                        <a:rPr lang="en-IN" sz="3200" baseline="0" dirty="0"/>
                        <a:t> and </a:t>
                      </a:r>
                      <a:r>
                        <a:rPr lang="en-IN" sz="3200" dirty="0"/>
                        <a:t>Cash collections kept outside GST records</a:t>
                      </a:r>
                    </a:p>
                    <a:p>
                      <a:pPr algn="l">
                        <a:buNone/>
                      </a:pPr>
                      <a:r>
                        <a:rPr lang="en-IN" sz="3200" dirty="0"/>
                        <a:t>• Incorrect / Excess ITC claim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927817683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Revenue Identified</a:t>
                      </a:r>
                      <a:endParaRPr lang="en-IN" sz="3200" dirty="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₹ 9.2 Crore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1344557952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Voluntary Tax Payment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₹ 1.4 Crore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104845541"/>
                  </a:ext>
                </a:extLst>
              </a:tr>
              <a:tr h="686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Current Status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Investigations initiated and further verification in progress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24681993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D61E1165-FAC9-8163-1FAD-87E05698F23E}"/>
              </a:ext>
            </a:extLst>
          </p:cNvPr>
          <p:cNvSpPr/>
          <p:nvPr/>
        </p:nvSpPr>
        <p:spPr>
          <a:xfrm>
            <a:off x="428752" y="506448"/>
            <a:ext cx="182308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Decoy Operations in July 2026</a:t>
            </a:r>
          </a:p>
        </p:txBody>
      </p:sp>
    </p:spTree>
    <p:extLst>
      <p:ext uri="{BB962C8B-B14F-4D97-AF65-F5344CB8AC3E}">
        <p14:creationId xmlns:p14="http://schemas.microsoft.com/office/powerpoint/2010/main" val="4152599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0FA7-5AE2-12F4-0D59-883F8D84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6E9656-C31E-199D-1DE2-4AD8025AB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34418"/>
              </p:ext>
            </p:extLst>
          </p:nvPr>
        </p:nvGraphicFramePr>
        <p:xfrm>
          <a:off x="428752" y="975018"/>
          <a:ext cx="15398496" cy="765082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356608">
                  <a:extLst>
                    <a:ext uri="{9D8B030D-6E8A-4147-A177-3AD203B41FA5}">
                      <a16:colId xmlns:a16="http://schemas.microsoft.com/office/drawing/2014/main" val="1638227884"/>
                    </a:ext>
                  </a:extLst>
                </a:gridCol>
                <a:gridCol w="11041888">
                  <a:extLst>
                    <a:ext uri="{9D8B030D-6E8A-4147-A177-3AD203B41FA5}">
                      <a16:colId xmlns:a16="http://schemas.microsoft.com/office/drawing/2014/main" val="1291300734"/>
                    </a:ext>
                  </a:extLst>
                </a:gridCol>
              </a:tblGrid>
              <a:tr h="652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bg1"/>
                          </a:solidFill>
                        </a:rPr>
                        <a:t>Details</a:t>
                      </a:r>
                      <a:endParaRPr lang="en-IN" sz="3200" dirty="0">
                        <a:solidFill>
                          <a:schemeClr val="bg1"/>
                        </a:solidFill>
                      </a:endParaRPr>
                    </a:p>
                  </a:txBody>
                  <a:tcPr marL="107660" marR="107660" marT="53830" marB="5383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872155"/>
                  </a:ext>
                </a:extLst>
              </a:tr>
              <a:tr h="652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Sector Covered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Retail shops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556620748"/>
                  </a:ext>
                </a:extLst>
              </a:tr>
              <a:tr h="652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Operations Conducted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/>
                        <a:t>Baba Thakur Das &amp; Sons (Sweets Shop)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723110278"/>
                  </a:ext>
                </a:extLst>
              </a:tr>
              <a:tr h="3735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Modus Operandi Identified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/>
                        <a:t>The case was detected by departmental officers when it was found that the dealer was making outward supplies without issuing invoices and collecting payments through UPI/QR codes linked to personal and employees' bank accounts. The search was conducted on </a:t>
                      </a:r>
                      <a:r>
                        <a:rPr lang="en-IN" sz="2800" b="1" dirty="0"/>
                        <a:t>21 July 2026</a:t>
                      </a:r>
                      <a:r>
                        <a:rPr lang="en-IN" sz="2800" dirty="0"/>
                        <a:t>.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/>
                        <a:t>15 QR codes</a:t>
                      </a:r>
                      <a:r>
                        <a:rPr lang="en-IN" sz="2800" dirty="0"/>
                        <a:t> were identified. Transaction details for only </a:t>
                      </a:r>
                      <a:r>
                        <a:rPr lang="en-IN" sz="2800" b="1" dirty="0"/>
                        <a:t>2 QR codes</a:t>
                      </a:r>
                      <a:r>
                        <a:rPr lang="en-IN" sz="2800" dirty="0"/>
                        <a:t> have been submitted by the dealer so far.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/>
                        <a:t>3 firms </a:t>
                      </a:r>
                      <a:r>
                        <a:rPr lang="en-IN" sz="2800" dirty="0"/>
                        <a:t>of the same dealer were identified, out of which </a:t>
                      </a:r>
                      <a:r>
                        <a:rPr lang="en-IN" sz="2800" b="1" dirty="0"/>
                        <a:t>two are registered under the Composition Scheme</a:t>
                      </a:r>
                      <a:r>
                        <a:rPr lang="en-IN" sz="2800" dirty="0"/>
                        <a:t>.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3927817683"/>
                  </a:ext>
                </a:extLst>
              </a:tr>
              <a:tr h="652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Revenue Identified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₹ 2 Crore detected so far </a:t>
                      </a:r>
                      <a:r>
                        <a:rPr lang="en-IN" sz="3200"/>
                        <a:t>(13 QR Codes more to analyzed)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1344557952"/>
                  </a:ext>
                </a:extLst>
              </a:tr>
              <a:tr h="652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Voluntary Tax Payment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-</a:t>
                      </a:r>
                      <a:endParaRPr lang="en-IN" sz="3200" dirty="0"/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104845541"/>
                  </a:ext>
                </a:extLst>
              </a:tr>
              <a:tr h="6525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Current Status</a:t>
                      </a:r>
                      <a:endParaRPr lang="en-IN" sz="3200"/>
                    </a:p>
                  </a:txBody>
                  <a:tcPr marL="107660" marR="107660" marT="53830" marB="538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Investigations initiated and further verification in progress</a:t>
                      </a:r>
                    </a:p>
                  </a:txBody>
                  <a:tcPr marL="107660" marR="107660" marT="53830" marB="53830" anchor="ctr"/>
                </a:tc>
                <a:extLst>
                  <a:ext uri="{0D108BD9-81ED-4DB2-BD59-A6C34878D82A}">
                    <a16:rowId xmlns:a16="http://schemas.microsoft.com/office/drawing/2014/main" val="4246819936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AD0F0165-25E7-1E18-E23F-747CABA60977}"/>
              </a:ext>
            </a:extLst>
          </p:cNvPr>
          <p:cNvSpPr/>
          <p:nvPr/>
        </p:nvSpPr>
        <p:spPr>
          <a:xfrm>
            <a:off x="428752" y="125448"/>
            <a:ext cx="182308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Decoy Operations in July 2026</a:t>
            </a:r>
          </a:p>
        </p:txBody>
      </p:sp>
    </p:spTree>
    <p:extLst>
      <p:ext uri="{BB962C8B-B14F-4D97-AF65-F5344CB8AC3E}">
        <p14:creationId xmlns:p14="http://schemas.microsoft.com/office/powerpoint/2010/main" val="234888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3193-A377-20A0-91AA-3E12BBB1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B343DF7-A401-13ED-1A95-30A71B29E2B5}"/>
              </a:ext>
            </a:extLst>
          </p:cNvPr>
          <p:cNvSpPr/>
          <p:nvPr/>
        </p:nvSpPr>
        <p:spPr>
          <a:xfrm>
            <a:off x="428752" y="281860"/>
            <a:ext cx="182308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76"/>
              </a:lnSpc>
              <a:buNone/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Further plans in FY 2026-27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A0E46-2469-5B10-96BB-D8C3AA12F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6"/>
          <a:stretch>
            <a:fillRect/>
          </a:stretch>
        </p:blipFill>
        <p:spPr>
          <a:xfrm>
            <a:off x="1270000" y="1066800"/>
            <a:ext cx="12959347" cy="76748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9828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391AAF3-EB2E-3688-8326-2A784B28A820}"/>
              </a:ext>
            </a:extLst>
          </p:cNvPr>
          <p:cNvSpPr/>
          <p:nvPr/>
        </p:nvSpPr>
        <p:spPr>
          <a:xfrm>
            <a:off x="762000" y="749300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14576"/>
              </a:lnSpc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Inter-Departmental Data &amp; AI Analytics</a:t>
            </a:r>
            <a:endParaRPr lang="en-US" sz="3467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9A94937-FC3A-8CC4-630A-C4FFAAB01D86}"/>
              </a:ext>
            </a:extLst>
          </p:cNvPr>
          <p:cNvSpPr/>
          <p:nvPr/>
        </p:nvSpPr>
        <p:spPr>
          <a:xfrm>
            <a:off x="898266" y="2312853"/>
            <a:ext cx="12428761" cy="1849742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2844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BAB4719-CE51-A5A2-90A8-71F89BABF08F}"/>
              </a:ext>
            </a:extLst>
          </p:cNvPr>
          <p:cNvSpPr/>
          <p:nvPr/>
        </p:nvSpPr>
        <p:spPr>
          <a:xfrm>
            <a:off x="762000" y="3385508"/>
            <a:ext cx="12743288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9A8C8A8-FC78-CA10-A889-A5F6B3994269}"/>
              </a:ext>
            </a:extLst>
          </p:cNvPr>
          <p:cNvSpPr/>
          <p:nvPr/>
        </p:nvSpPr>
        <p:spPr>
          <a:xfrm>
            <a:off x="853217" y="1481661"/>
            <a:ext cx="12518861" cy="76417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2553DF85-BF5C-E19A-95EB-539C2AB8FB9A}"/>
              </a:ext>
            </a:extLst>
          </p:cNvPr>
          <p:cNvSpPr/>
          <p:nvPr/>
        </p:nvSpPr>
        <p:spPr>
          <a:xfrm>
            <a:off x="853217" y="1566501"/>
            <a:ext cx="14370" cy="1888100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C2E5B95-00CC-D521-4574-B1FA156EA07D}"/>
              </a:ext>
            </a:extLst>
          </p:cNvPr>
          <p:cNvSpPr/>
          <p:nvPr/>
        </p:nvSpPr>
        <p:spPr>
          <a:xfrm>
            <a:off x="13386448" y="1610761"/>
            <a:ext cx="14370" cy="1716455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2844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9F8A241-3D9C-6F00-646E-6EB8CA67DDA5}"/>
              </a:ext>
            </a:extLst>
          </p:cNvPr>
          <p:cNvSpPr/>
          <p:nvPr/>
        </p:nvSpPr>
        <p:spPr>
          <a:xfrm>
            <a:off x="1189122" y="2161470"/>
            <a:ext cx="8859184" cy="30276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>
              <a:lnSpc>
                <a:spcPct val="130435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tax evasion using inter-departmental data sources.</a:t>
            </a:r>
            <a:endParaRPr lang="en-US" sz="2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AD3D7BF-DBB5-5B78-954B-08A0287FCD71}"/>
              </a:ext>
            </a:extLst>
          </p:cNvPr>
          <p:cNvSpPr/>
          <p:nvPr/>
        </p:nvSpPr>
        <p:spPr>
          <a:xfrm>
            <a:off x="1189122" y="2756916"/>
            <a:ext cx="8767237" cy="28180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indent="-342900">
              <a:lnSpc>
                <a:spcPct val="130435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tax evasion using AI &amp; risk-based analytics.</a:t>
            </a:r>
            <a:endParaRPr lang="en-US" sz="24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95367BB9-2E94-FBC2-C60E-FD8E4478480B}"/>
              </a:ext>
            </a:extLst>
          </p:cNvPr>
          <p:cNvSpPr/>
          <p:nvPr/>
        </p:nvSpPr>
        <p:spPr>
          <a:xfrm>
            <a:off x="1189122" y="1651577"/>
            <a:ext cx="8188312" cy="3832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2000" b="1" kern="0" spc="100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20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C409E8D-EF5C-BD60-809C-0D050B1F7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53860"/>
              </p:ext>
            </p:extLst>
          </p:nvPr>
        </p:nvGraphicFramePr>
        <p:xfrm>
          <a:off x="986428" y="4248488"/>
          <a:ext cx="12504492" cy="3641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246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6252246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</a:tblGrid>
              <a:tr h="728303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</a:t>
                      </a:r>
                      <a:r>
                        <a:rPr lang="en-US" sz="2400" kern="1200" dirty="0" err="1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Depts</a:t>
                      </a:r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 from whom data is received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</a:t>
                      </a:r>
                      <a:r>
                        <a:rPr lang="en-US" sz="2400" kern="1200" dirty="0" err="1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Depts</a:t>
                      </a:r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 from whom data is requested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5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279928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No. of use cases developed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8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42468"/>
                  </a:ext>
                </a:extLst>
              </a:tr>
              <a:tr h="728303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Revenue Potential detected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Approx. 100 Cr.</a:t>
                      </a:r>
                      <a:endParaRPr lang="en-IN" sz="28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0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81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9002-571B-1343-ACC8-662CA445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6CCA9-37DF-C407-61A2-2B9DA3FA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86" y="198662"/>
            <a:ext cx="14943513" cy="876453"/>
          </a:xfrm>
        </p:spPr>
        <p:txBody>
          <a:bodyPr>
            <a:noAutofit/>
          </a:bodyPr>
          <a:lstStyle/>
          <a:p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Inter-departmental data 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BAD4B-0083-1281-E56C-C7D115434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25863"/>
              </p:ext>
            </p:extLst>
          </p:nvPr>
        </p:nvGraphicFramePr>
        <p:xfrm>
          <a:off x="279400" y="1104144"/>
          <a:ext cx="15240001" cy="7841194"/>
        </p:xfrm>
        <a:graphic>
          <a:graphicData uri="http://schemas.openxmlformats.org/drawingml/2006/table">
            <a:tbl>
              <a:tblPr/>
              <a:tblGrid>
                <a:gridCol w="549432">
                  <a:extLst>
                    <a:ext uri="{9D8B030D-6E8A-4147-A177-3AD203B41FA5}">
                      <a16:colId xmlns:a16="http://schemas.microsoft.com/office/drawing/2014/main" val="1108260362"/>
                    </a:ext>
                  </a:extLst>
                </a:gridCol>
                <a:gridCol w="2190103">
                  <a:extLst>
                    <a:ext uri="{9D8B030D-6E8A-4147-A177-3AD203B41FA5}">
                      <a16:colId xmlns:a16="http://schemas.microsoft.com/office/drawing/2014/main" val="3490116710"/>
                    </a:ext>
                  </a:extLst>
                </a:gridCol>
                <a:gridCol w="2970385">
                  <a:extLst>
                    <a:ext uri="{9D8B030D-6E8A-4147-A177-3AD203B41FA5}">
                      <a16:colId xmlns:a16="http://schemas.microsoft.com/office/drawing/2014/main" val="2473628449"/>
                    </a:ext>
                  </a:extLst>
                </a:gridCol>
                <a:gridCol w="4404360">
                  <a:extLst>
                    <a:ext uri="{9D8B030D-6E8A-4147-A177-3AD203B41FA5}">
                      <a16:colId xmlns:a16="http://schemas.microsoft.com/office/drawing/2014/main" val="3430769272"/>
                    </a:ext>
                  </a:extLst>
                </a:gridCol>
                <a:gridCol w="241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7812">
                  <a:extLst>
                    <a:ext uri="{9D8B030D-6E8A-4147-A177-3AD203B41FA5}">
                      <a16:colId xmlns:a16="http://schemas.microsoft.com/office/drawing/2014/main" val="2404685065"/>
                    </a:ext>
                  </a:extLst>
                </a:gridCol>
              </a:tblGrid>
              <a:tr h="6528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sng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r>
                        <a:rPr lang="en-IN" sz="2000" b="0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N" sz="2000" b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Departmental Data</a:t>
                      </a:r>
                      <a:r>
                        <a:rPr lang="en-IN" sz="2000" b="0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Taken</a:t>
                      </a:r>
                      <a:endParaRPr lang="en-IN" sz="2000" b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based on data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Cases &amp; Revenue potential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Status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3184"/>
                  </a:ext>
                </a:extLst>
              </a:tr>
              <a:tr h="13056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Electricity (DISCOM)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Electricity Consumption Data for 1 year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457200" algn="l" rtl="0" fontAlgn="ctr">
                        <a:buAutoNum type="arabicPeriod"/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Turnover low Consumption</a:t>
                      </a:r>
                    </a:p>
                    <a:p>
                      <a:pPr marL="457200" lvl="0" indent="-457200" algn="l" rtl="0" fontAlgn="ctr">
                        <a:buAutoNum type="arabicPeriod"/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Turnover High Consumption</a:t>
                      </a:r>
                    </a:p>
                    <a:p>
                      <a:pPr marL="457200" lvl="0" indent="-457200" algn="l" rtl="0" fontAlgn="ctr">
                        <a:buAutoNum type="arabicPeriod"/>
                      </a:pP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Domestic Connection but High Turnover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238 Cases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11734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04536"/>
                  </a:ext>
                </a:extLst>
              </a:tr>
              <a:tr h="1238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IGRS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Joint Development Agreement, Rent Agreements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Rent Agreement vs GST RCM Paid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 Cases;</a:t>
                      </a:r>
                    </a:p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Potential: 18 Cr.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11734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  <a:endParaRPr lang="en-IN" sz="2000" b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018362"/>
                  </a:ext>
                </a:extLst>
              </a:tr>
              <a:tr h="15480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Mining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eRwanna</a:t>
                      </a:r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Transit Pass, ERCC</a:t>
                      </a:r>
                      <a:r>
                        <a:rPr lang="en-IN" sz="2000" b="0" baseline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contracts</a:t>
                      </a:r>
                      <a:endParaRPr lang="en-IN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ERCC royalty discrepancy</a:t>
                      </a:r>
                      <a:b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Royalty paid vs RCM paid in GST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3198 Cases; Potential: 50 Cr.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Dump Received; </a:t>
                      </a:r>
                    </a:p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Developed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163472"/>
                  </a:ext>
                </a:extLst>
              </a:tr>
              <a:tr h="15480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RERA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sold, </a:t>
                      </a:r>
                    </a:p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detail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Units Sold vs GST Turnover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271 Cases;</a:t>
                      </a:r>
                    </a:p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Potential: 30 Cr.</a:t>
                      </a:r>
                    </a:p>
                    <a:p>
                      <a:pPr algn="ctr" rtl="0" fontAlgn="ctr"/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Dump Received; </a:t>
                      </a:r>
                    </a:p>
                    <a:p>
                      <a:pPr algn="ctr" rtl="0" fontAlgn="ctr"/>
                      <a:r>
                        <a:rPr lang="en-IN" sz="2000" b="1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Developed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13917"/>
                  </a:ext>
                </a:extLst>
              </a:tr>
              <a:tr h="15480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RGHS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Payments and Invoices details for Hospitals and Pharmacies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 algn="l" rtl="0" fontAlgn="ctr">
                        <a:buAutoNum type="arabicPeriod"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Cancelled Taxpayer Invoices</a:t>
                      </a:r>
                    </a:p>
                    <a:p>
                      <a:pPr marL="457200" indent="-457200" algn="l" rtl="0" fontAlgn="ctr">
                        <a:buAutoNum type="arabicPeriod"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Turnover Mismatch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238 Cases;</a:t>
                      </a:r>
                    </a:p>
                    <a:p>
                      <a:pPr algn="ctr" rtl="0" font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Potential: 30 Cr.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 Data Received; </a:t>
                      </a:r>
                    </a:p>
                    <a:p>
                      <a:pPr algn="ctr" rtl="0" fontAlgn="ctr"/>
                      <a:r>
                        <a:rPr lang="en-IN" sz="2000" b="1" dirty="0">
                          <a:solidFill>
                            <a:srgbClr val="0A53A8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 Developed</a:t>
                      </a:r>
                      <a:endParaRPr lang="en-IN" sz="2000" b="0" dirty="0">
                        <a:solidFill>
                          <a:srgbClr val="D4EDB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05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645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8688" y="240792"/>
            <a:ext cx="14874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Example: Health Care Sector (RGHS </a:t>
            </a:r>
            <a:r>
              <a:rPr lang="en-US" sz="3467" b="1" dirty="0" err="1">
                <a:solidFill>
                  <a:srgbClr val="1A3257"/>
                </a:solidFill>
                <a:latin typeface="Georgia" pitchFamily="34" charset="0"/>
              </a:rPr>
              <a:t>vs</a:t>
            </a: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 GST Data Analysis)</a:t>
            </a:r>
          </a:p>
        </p:txBody>
      </p:sp>
      <p:sp>
        <p:nvSpPr>
          <p:cNvPr id="4" name="Shape 2"/>
          <p:cNvSpPr/>
          <p:nvPr/>
        </p:nvSpPr>
        <p:spPr>
          <a:xfrm>
            <a:off x="8280400" y="2682240"/>
            <a:ext cx="5580888" cy="431292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8509000" y="3023616"/>
            <a:ext cx="609600" cy="609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09000" y="302361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64904" y="3060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kern="0" spc="133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2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9000" y="3505200"/>
            <a:ext cx="413308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2400" b="1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of turnover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09000" y="4343400"/>
            <a:ext cx="4800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240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deducted by RGHS is more than the total turnover shown in GST returns.</a:t>
            </a:r>
          </a:p>
        </p:txBody>
      </p:sp>
      <p:sp>
        <p:nvSpPr>
          <p:cNvPr id="10" name="Shape 8"/>
          <p:cNvSpPr/>
          <p:nvPr/>
        </p:nvSpPr>
        <p:spPr>
          <a:xfrm>
            <a:off x="8509000" y="5852160"/>
            <a:ext cx="4133088" cy="0"/>
          </a:xfrm>
          <a:prstGeom prst="line">
            <a:avLst/>
          </a:prstGeom>
          <a:noFill/>
          <a:ln w="9525">
            <a:solidFill>
              <a:srgbClr val="C4CFE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509000" y="603504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TAXPAYERS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9000" y="633984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</a:t>
            </a:r>
            <a:endParaRPr lang="en-US" sz="4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75544" y="603504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75544" y="633984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₹29.14 Cr</a:t>
            </a: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45360" y="2667000"/>
            <a:ext cx="5580888" cy="434340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2586736" y="3008376"/>
            <a:ext cx="609600" cy="609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2586736" y="30083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264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kern="0" spc="133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2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86736" y="3657600"/>
            <a:ext cx="493166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0000"/>
              </a:lnSpc>
            </a:pPr>
            <a:r>
              <a:rPr lang="en-US" sz="2400" b="1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GSTIN, invoices Still Issued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86736" y="4495800"/>
            <a:ext cx="470306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240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registration cancelled, yet RGHS continued deducting TDS against the same GSTIN.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86736" y="5836920"/>
            <a:ext cx="4133088" cy="0"/>
          </a:xfrm>
          <a:prstGeom prst="line">
            <a:avLst/>
          </a:prstGeom>
          <a:noFill/>
          <a:ln w="9525">
            <a:solidFill>
              <a:srgbClr val="C4CFE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2586736" y="601980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TAXPAYERS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86736" y="632460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3280" y="6019800"/>
            <a:ext cx="20665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53280" y="6324600"/>
            <a:ext cx="20665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₹1.30 Cr</a:t>
            </a:r>
            <a:endParaRPr lang="en-US" sz="3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8688" y="7315200"/>
            <a:ext cx="14874240" cy="146304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66368" y="7315200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kern="0" spc="133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ALL USE CASES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94400" y="7315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endParaRPr lang="en-US" sz="37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3132816" y="7333488"/>
            <a:ext cx="2066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3200" b="1">
                <a:solidFill>
                  <a:srgbClr val="F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₹30.44 Cr</a:t>
            </a:r>
            <a:endParaRPr lang="en-US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1B24E402-9731-8788-BF16-ECBC884BBA54}"/>
              </a:ext>
            </a:extLst>
          </p:cNvPr>
          <p:cNvSpPr/>
          <p:nvPr/>
        </p:nvSpPr>
        <p:spPr>
          <a:xfrm>
            <a:off x="8725408" y="7315200"/>
            <a:ext cx="487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800" b="1" kern="0" spc="133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Turnover Mismatch</a:t>
            </a:r>
            <a:endParaRPr lang="en-US" sz="2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93FEE2-6A14-49F2-E365-E89D8EDD05CD}"/>
              </a:ext>
            </a:extLst>
          </p:cNvPr>
          <p:cNvSpPr txBox="1"/>
          <p:nvPr/>
        </p:nvSpPr>
        <p:spPr>
          <a:xfrm>
            <a:off x="726440" y="1383708"/>
            <a:ext cx="14383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per the preliminary analysis of Pharmacy and Hospitals data shared by RGHS, 2 major use cases have been detected on comparing the GST Returns data with the invoice data: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11ED-671B-3E17-C5E1-798C9974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FC93-607F-B066-D5B8-3070A3FF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86" y="198662"/>
            <a:ext cx="14943513" cy="876453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IN" sz="3467" b="1">
                <a:solidFill>
                  <a:srgbClr val="1A3257"/>
                </a:solidFill>
                <a:latin typeface="Georgia" pitchFamily="34" charset="0"/>
              </a:rPr>
              <a:t>Inter-departmental data 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209358-E68C-1BBB-6DA3-CD240D0A4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952063"/>
              </p:ext>
            </p:extLst>
          </p:nvPr>
        </p:nvGraphicFramePr>
        <p:xfrm>
          <a:off x="279400" y="1104144"/>
          <a:ext cx="14935201" cy="7735056"/>
        </p:xfrm>
        <a:graphic>
          <a:graphicData uri="http://schemas.openxmlformats.org/drawingml/2006/table">
            <a:tbl>
              <a:tblPr/>
              <a:tblGrid>
                <a:gridCol w="586246">
                  <a:extLst>
                    <a:ext uri="{9D8B030D-6E8A-4147-A177-3AD203B41FA5}">
                      <a16:colId xmlns:a16="http://schemas.microsoft.com/office/drawing/2014/main" val="1108260362"/>
                    </a:ext>
                  </a:extLst>
                </a:gridCol>
                <a:gridCol w="2336846">
                  <a:extLst>
                    <a:ext uri="{9D8B030D-6E8A-4147-A177-3AD203B41FA5}">
                      <a16:colId xmlns:a16="http://schemas.microsoft.com/office/drawing/2014/main" val="3490116710"/>
                    </a:ext>
                  </a:extLst>
                </a:gridCol>
                <a:gridCol w="3455825">
                  <a:extLst>
                    <a:ext uri="{9D8B030D-6E8A-4147-A177-3AD203B41FA5}">
                      <a16:colId xmlns:a16="http://schemas.microsoft.com/office/drawing/2014/main" val="2473628449"/>
                    </a:ext>
                  </a:extLst>
                </a:gridCol>
                <a:gridCol w="5667041">
                  <a:extLst>
                    <a:ext uri="{9D8B030D-6E8A-4147-A177-3AD203B41FA5}">
                      <a16:colId xmlns:a16="http://schemas.microsoft.com/office/drawing/2014/main" val="1161867843"/>
                    </a:ext>
                  </a:extLst>
                </a:gridCol>
                <a:gridCol w="2889243">
                  <a:extLst>
                    <a:ext uri="{9D8B030D-6E8A-4147-A177-3AD203B41FA5}">
                      <a16:colId xmlns:a16="http://schemas.microsoft.com/office/drawing/2014/main" val="2404685065"/>
                    </a:ext>
                  </a:extLst>
                </a:gridCol>
              </a:tblGrid>
              <a:tr h="388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sng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r>
                        <a:rPr lang="en-IN" sz="2000" b="0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N" sz="2000" b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Task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Status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Status</a:t>
                      </a:r>
                    </a:p>
                  </a:txBody>
                  <a:tcPr marL="4927" marR="4927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3184"/>
                  </a:ext>
                </a:extLst>
              </a:tr>
              <a:tr h="1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Vehicle Owner Detail (Vehicle Registration Data)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</a:rPr>
                        <a:t>API requested from MoRTH and Transport Dept..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04536"/>
                  </a:ext>
                </a:extLst>
              </a:tr>
              <a:tr h="1277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JDA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Invoice wise detail of payment done against the contracts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</a:rPr>
                        <a:t>Sample Data Shared by JDA, API is being developed at their end. 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018362"/>
                  </a:ext>
                </a:extLst>
              </a:tr>
              <a:tr h="15971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IFMS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Invoice wise detail of payment done against the vendors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</a:rPr>
                        <a:t>Discussion done. API is being developed at their end.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163472"/>
                  </a:ext>
                </a:extLst>
              </a:tr>
              <a:tr h="15971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Railways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 of Goods, Value of Goods etc.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feasibility study under progress. 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13917"/>
                  </a:ext>
                </a:extLst>
              </a:tr>
              <a:tr h="15971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UDH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ptos Narrow" panose="020B0004020202020204"/>
                        </a:rPr>
                        <a:t>Auction processing fees, Lease of land , Sales of commercial plots , Licensing fees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feasibility study under progress.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ED7D3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Progress</a:t>
                      </a:r>
                    </a:p>
                  </a:txBody>
                  <a:tcPr marL="4927" marR="492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05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188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90B41-7E73-D64F-0130-0F8F57F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152506-02CA-D458-B0F9-31BF6A6D58C7}"/>
              </a:ext>
            </a:extLst>
          </p:cNvPr>
          <p:cNvSpPr/>
          <p:nvPr/>
        </p:nvSpPr>
        <p:spPr>
          <a:xfrm>
            <a:off x="721360" y="240791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AI – ML &amp; Risk Based Analytics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051997-985B-C68F-75F9-AE021F5C9944}"/>
              </a:ext>
            </a:extLst>
          </p:cNvPr>
          <p:cNvGrpSpPr/>
          <p:nvPr/>
        </p:nvGrpSpPr>
        <p:grpSpPr>
          <a:xfrm>
            <a:off x="431800" y="2011680"/>
            <a:ext cx="15392400" cy="6050279"/>
            <a:chOff x="736600" y="2657855"/>
            <a:chExt cx="15392400" cy="4352545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797FA-DAC4-050C-080A-F951623D9329}"/>
                </a:ext>
              </a:extLst>
            </p:cNvPr>
            <p:cNvSpPr/>
            <p:nvPr/>
          </p:nvSpPr>
          <p:spPr>
            <a:xfrm>
              <a:off x="6070600" y="2682240"/>
              <a:ext cx="4931664" cy="4312920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980AA2A-EEDD-33D8-CC75-82A6EF1EEB25}"/>
                </a:ext>
              </a:extLst>
            </p:cNvPr>
            <p:cNvSpPr/>
            <p:nvPr/>
          </p:nvSpPr>
          <p:spPr>
            <a:xfrm>
              <a:off x="6299200" y="3023616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9ABE19A-B822-C4D4-D36B-8071CCD535DF}"/>
                </a:ext>
              </a:extLst>
            </p:cNvPr>
            <p:cNvSpPr/>
            <p:nvPr/>
          </p:nvSpPr>
          <p:spPr>
            <a:xfrm>
              <a:off x="6299200" y="3023616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2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CF0585F4-47E5-438C-7FCB-EF0C41097EDD}"/>
                </a:ext>
              </a:extLst>
            </p:cNvPr>
            <p:cNvSpPr/>
            <p:nvPr/>
          </p:nvSpPr>
          <p:spPr>
            <a:xfrm>
              <a:off x="7055104" y="3060192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2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874EC4D-9F80-F7A3-CD50-A13AA1871B0F}"/>
                </a:ext>
              </a:extLst>
            </p:cNvPr>
            <p:cNvSpPr/>
            <p:nvPr/>
          </p:nvSpPr>
          <p:spPr>
            <a:xfrm>
              <a:off x="6396735" y="3557016"/>
              <a:ext cx="4435715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Non-Filers more than 6 months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E8A2B03E-E6B8-3D55-3CED-4FE6D0E24574}"/>
                </a:ext>
              </a:extLst>
            </p:cNvPr>
            <p:cNvSpPr/>
            <p:nvPr/>
          </p:nvSpPr>
          <p:spPr>
            <a:xfrm>
              <a:off x="6299200" y="4343400"/>
              <a:ext cx="48006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 who have not filed return for than 6 month, either made to file returns or suspended / cancelled if found inexistent / non-genuine.</a:t>
              </a: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F191BD88-2818-B63E-1647-44C97C14DF6E}"/>
                </a:ext>
              </a:extLst>
            </p:cNvPr>
            <p:cNvSpPr/>
            <p:nvPr/>
          </p:nvSpPr>
          <p:spPr>
            <a:xfrm>
              <a:off x="6299200" y="585216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4E52D6B-CA5E-899C-F5F3-9AD79CD90610}"/>
                </a:ext>
              </a:extLst>
            </p:cNvPr>
            <p:cNvSpPr/>
            <p:nvPr/>
          </p:nvSpPr>
          <p:spPr>
            <a:xfrm>
              <a:off x="6299200" y="603504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480B2C4-73EE-6008-BF21-9B4EF7F2AB67}"/>
                </a:ext>
              </a:extLst>
            </p:cNvPr>
            <p:cNvSpPr/>
            <p:nvPr/>
          </p:nvSpPr>
          <p:spPr>
            <a:xfrm>
              <a:off x="6299200" y="633984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2950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66C5F3D2-F821-7131-C032-C67CD3E451A3}"/>
                </a:ext>
              </a:extLst>
            </p:cNvPr>
            <p:cNvSpPr/>
            <p:nvPr/>
          </p:nvSpPr>
          <p:spPr>
            <a:xfrm>
              <a:off x="736600" y="2667000"/>
              <a:ext cx="4913376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C03444C9-824D-40A1-C135-6E4437A73C76}"/>
                </a:ext>
              </a:extLst>
            </p:cNvPr>
            <p:cNvSpPr/>
            <p:nvPr/>
          </p:nvSpPr>
          <p:spPr>
            <a:xfrm>
              <a:off x="1077976" y="3008376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827B8FC5-0409-60EA-58C3-E90A0C38D5C1}"/>
                </a:ext>
              </a:extLst>
            </p:cNvPr>
            <p:cNvSpPr/>
            <p:nvPr/>
          </p:nvSpPr>
          <p:spPr>
            <a:xfrm>
              <a:off x="1077976" y="3008376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DEEDDDBF-2574-EF30-A657-6BDC668D080D}"/>
                </a:ext>
              </a:extLst>
            </p:cNvPr>
            <p:cNvSpPr/>
            <p:nvPr/>
          </p:nvSpPr>
          <p:spPr>
            <a:xfrm>
              <a:off x="1833880" y="3044952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1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40FD971B-4FCD-5BD5-9B99-D242E05739FE}"/>
                </a:ext>
              </a:extLst>
            </p:cNvPr>
            <p:cNvSpPr/>
            <p:nvPr/>
          </p:nvSpPr>
          <p:spPr>
            <a:xfrm>
              <a:off x="1077976" y="3588098"/>
              <a:ext cx="4437888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Registration High Inter-State Sales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BA6AC03C-D29E-8664-7EDD-FDF14747C9BD}"/>
                </a:ext>
              </a:extLst>
            </p:cNvPr>
            <p:cNvSpPr/>
            <p:nvPr/>
          </p:nvSpPr>
          <p:spPr>
            <a:xfrm>
              <a:off x="1077976" y="4303868"/>
              <a:ext cx="4133088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Newly registered taxpayers having inter-state sales and tax paid entirely using ITC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A01B303B-2504-73E9-F42B-B569E5554D97}"/>
                </a:ext>
              </a:extLst>
            </p:cNvPr>
            <p:cNvSpPr/>
            <p:nvPr/>
          </p:nvSpPr>
          <p:spPr>
            <a:xfrm>
              <a:off x="1077976" y="583692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25AED641-EA99-88E9-B0FB-17E7BF2270FD}"/>
                </a:ext>
              </a:extLst>
            </p:cNvPr>
            <p:cNvSpPr/>
            <p:nvPr/>
          </p:nvSpPr>
          <p:spPr>
            <a:xfrm>
              <a:off x="1077976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619ACF0B-F322-9086-475A-81EA31E5F3E0}"/>
                </a:ext>
              </a:extLst>
            </p:cNvPr>
            <p:cNvSpPr/>
            <p:nvPr/>
          </p:nvSpPr>
          <p:spPr>
            <a:xfrm>
              <a:off x="1077976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51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A90F6FEB-B1D0-8F5F-FDBF-127662EAA87D}"/>
                </a:ext>
              </a:extLst>
            </p:cNvPr>
            <p:cNvSpPr/>
            <p:nvPr/>
          </p:nvSpPr>
          <p:spPr>
            <a:xfrm>
              <a:off x="3144520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Amount Involved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B93DFEA-3794-62F8-6CA8-B2369D494520}"/>
                </a:ext>
              </a:extLst>
            </p:cNvPr>
            <p:cNvSpPr/>
            <p:nvPr/>
          </p:nvSpPr>
          <p:spPr>
            <a:xfrm>
              <a:off x="3144520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36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₹296 Cr</a:t>
              </a:r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36774E0C-CE77-2976-7B88-CA11A11DEDCF}"/>
                </a:ext>
              </a:extLst>
            </p:cNvPr>
            <p:cNvSpPr/>
            <p:nvPr/>
          </p:nvSpPr>
          <p:spPr>
            <a:xfrm>
              <a:off x="11328400" y="2657855"/>
              <a:ext cx="4800600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65B657BC-E0D5-5477-8BDE-39F81B2DD53C}"/>
                </a:ext>
              </a:extLst>
            </p:cNvPr>
            <p:cNvSpPr/>
            <p:nvPr/>
          </p:nvSpPr>
          <p:spPr>
            <a:xfrm>
              <a:off x="11557000" y="2999231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BDB1856C-ACB8-C5C9-F3F7-A4C0005BABAB}"/>
                </a:ext>
              </a:extLst>
            </p:cNvPr>
            <p:cNvSpPr/>
            <p:nvPr/>
          </p:nvSpPr>
          <p:spPr>
            <a:xfrm>
              <a:off x="11557000" y="2999231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3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3F1A2BD9-7C6C-BB6F-7A9A-3A998AB05EBF}"/>
                </a:ext>
              </a:extLst>
            </p:cNvPr>
            <p:cNvSpPr/>
            <p:nvPr/>
          </p:nvSpPr>
          <p:spPr>
            <a:xfrm>
              <a:off x="12312904" y="3035807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3</a:t>
              </a: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B4F92DA9-2F4F-3813-C023-0FAD55887A3C}"/>
                </a:ext>
              </a:extLst>
            </p:cNvPr>
            <p:cNvSpPr/>
            <p:nvPr/>
          </p:nvSpPr>
          <p:spPr>
            <a:xfrm>
              <a:off x="11546840" y="3564253"/>
              <a:ext cx="44246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Electricity Consumption Compared with GST Turnover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C82B8A7F-5695-05D6-19D1-1ACA036584E5}"/>
                </a:ext>
              </a:extLst>
            </p:cNvPr>
            <p:cNvSpPr/>
            <p:nvPr/>
          </p:nvSpPr>
          <p:spPr>
            <a:xfrm>
              <a:off x="11557000" y="4425696"/>
              <a:ext cx="441452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electricity bill of the taxpayers were read using OCR and electricity consumption was compared with the Turnover of the Manufacturer Taxpayers</a:t>
              </a: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0B939110-545D-1460-E8AE-6604AB81B407}"/>
                </a:ext>
              </a:extLst>
            </p:cNvPr>
            <p:cNvSpPr/>
            <p:nvPr/>
          </p:nvSpPr>
          <p:spPr>
            <a:xfrm>
              <a:off x="11654536" y="585216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1B248DFE-EBE0-A9C4-6340-CDFA10F98C05}"/>
                </a:ext>
              </a:extLst>
            </p:cNvPr>
            <p:cNvSpPr/>
            <p:nvPr/>
          </p:nvSpPr>
          <p:spPr>
            <a:xfrm>
              <a:off x="11557000" y="6010655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35F68C2A-CFB6-B055-108B-9E8AFC01CD5B}"/>
                </a:ext>
              </a:extLst>
            </p:cNvPr>
            <p:cNvSpPr/>
            <p:nvPr/>
          </p:nvSpPr>
          <p:spPr>
            <a:xfrm>
              <a:off x="11557000" y="6315455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238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Text 12">
              <a:extLst>
                <a:ext uri="{FF2B5EF4-FFF2-40B4-BE49-F238E27FC236}">
                  <a16:creationId xmlns:a16="http://schemas.microsoft.com/office/drawing/2014/main" id="{A28240FB-9C7A-916C-B786-619864B02507}"/>
                </a:ext>
              </a:extLst>
            </p:cNvPr>
            <p:cNvSpPr/>
            <p:nvPr/>
          </p:nvSpPr>
          <p:spPr>
            <a:xfrm>
              <a:off x="13623544" y="6315455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4" name="Text 22">
            <a:extLst>
              <a:ext uri="{FF2B5EF4-FFF2-40B4-BE49-F238E27FC236}">
                <a16:creationId xmlns:a16="http://schemas.microsoft.com/office/drawing/2014/main" id="{76B434EE-BC20-4F8C-E30E-1A679AEA6B97}"/>
              </a:ext>
            </a:extLst>
          </p:cNvPr>
          <p:cNvSpPr/>
          <p:nvPr/>
        </p:nvSpPr>
        <p:spPr>
          <a:xfrm>
            <a:off x="8368369" y="6689648"/>
            <a:ext cx="2159282" cy="452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/ suspended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42CFDE2-4318-52F8-DDFA-4AB9E1FC8B72}"/>
              </a:ext>
            </a:extLst>
          </p:cNvPr>
          <p:cNvSpPr/>
          <p:nvPr/>
        </p:nvSpPr>
        <p:spPr>
          <a:xfrm>
            <a:off x="8461107" y="6554304"/>
            <a:ext cx="2066544" cy="8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49BE1518-8CD1-C7BB-8BF6-9F5F1315FFC2}"/>
              </a:ext>
            </a:extLst>
          </p:cNvPr>
          <p:cNvSpPr/>
          <p:nvPr/>
        </p:nvSpPr>
        <p:spPr>
          <a:xfrm>
            <a:off x="13318744" y="6705939"/>
            <a:ext cx="2025622" cy="436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Connection but Turnover&gt;10 Cr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C2603975-8584-3BBC-9A43-5A922138AD14}"/>
              </a:ext>
            </a:extLst>
          </p:cNvPr>
          <p:cNvSpPr/>
          <p:nvPr/>
        </p:nvSpPr>
        <p:spPr>
          <a:xfrm>
            <a:off x="13452856" y="7120307"/>
            <a:ext cx="2066544" cy="8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D0C7E45F-5A6B-7CA5-CD29-986FA8022336}"/>
              </a:ext>
            </a:extLst>
          </p:cNvPr>
          <p:cNvSpPr/>
          <p:nvPr/>
        </p:nvSpPr>
        <p:spPr>
          <a:xfrm>
            <a:off x="8574306" y="7179149"/>
            <a:ext cx="2066544" cy="8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436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16900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52D09-121D-92E5-778A-6B4C78E3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A89380E-0634-801B-E2BF-52CA60C714B4}"/>
              </a:ext>
            </a:extLst>
          </p:cNvPr>
          <p:cNvSpPr/>
          <p:nvPr/>
        </p:nvSpPr>
        <p:spPr>
          <a:xfrm>
            <a:off x="721360" y="240791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AI – ML &amp; Risk Based Analytics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02015B7-B6B0-27A3-62AC-F7D3FBF2F95F}"/>
              </a:ext>
            </a:extLst>
          </p:cNvPr>
          <p:cNvSpPr/>
          <p:nvPr/>
        </p:nvSpPr>
        <p:spPr>
          <a:xfrm>
            <a:off x="5994400" y="7315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endParaRPr lang="en-US" sz="3733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B92D85-2F0B-8DB9-91A9-ECE7BB95C919}"/>
              </a:ext>
            </a:extLst>
          </p:cNvPr>
          <p:cNvGrpSpPr/>
          <p:nvPr/>
        </p:nvGrpSpPr>
        <p:grpSpPr>
          <a:xfrm>
            <a:off x="309880" y="1594187"/>
            <a:ext cx="15444000" cy="6051600"/>
            <a:chOff x="736600" y="2657855"/>
            <a:chExt cx="15392400" cy="4352545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4064593C-D025-0287-A0CA-D60980229D52}"/>
                </a:ext>
              </a:extLst>
            </p:cNvPr>
            <p:cNvSpPr/>
            <p:nvPr/>
          </p:nvSpPr>
          <p:spPr>
            <a:xfrm>
              <a:off x="6070600" y="2682240"/>
              <a:ext cx="4931664" cy="4312920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C4556FF-EFF9-A3CF-4775-E3F1CF8E2871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FC5DCF7-3622-E799-0459-CB33FBE24C85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5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5FA1F169-7B44-FC3A-0D50-B80544833C13}"/>
                </a:ext>
              </a:extLst>
            </p:cNvPr>
            <p:cNvSpPr/>
            <p:nvPr/>
          </p:nvSpPr>
          <p:spPr>
            <a:xfrm>
              <a:off x="70551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5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49E96C5-9FE6-6450-5950-B3F495B0B06D}"/>
                </a:ext>
              </a:extLst>
            </p:cNvPr>
            <p:cNvSpPr/>
            <p:nvPr/>
          </p:nvSpPr>
          <p:spPr>
            <a:xfrm>
              <a:off x="6299200" y="3474720"/>
              <a:ext cx="4133088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Bank Account used by multiple GSTINs which was cancelled previously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E165423-ACB9-47E6-3B3A-39FE7AD8F0B5}"/>
                </a:ext>
              </a:extLst>
            </p:cNvPr>
            <p:cNvSpPr/>
            <p:nvPr/>
          </p:nvSpPr>
          <p:spPr>
            <a:xfrm>
              <a:off x="6299200" y="4477176"/>
              <a:ext cx="45758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bank account linked to multiple taxpayers. Out of these taxpayers more than 50% are cancelled. </a:t>
              </a: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B136BDD0-E647-72A1-791B-51075B0212C3}"/>
                </a:ext>
              </a:extLst>
            </p:cNvPr>
            <p:cNvSpPr/>
            <p:nvPr/>
          </p:nvSpPr>
          <p:spPr>
            <a:xfrm>
              <a:off x="6299200" y="585216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443E3D5-ACC8-B969-1BB0-BDC111BE1D93}"/>
                </a:ext>
              </a:extLst>
            </p:cNvPr>
            <p:cNvSpPr/>
            <p:nvPr/>
          </p:nvSpPr>
          <p:spPr>
            <a:xfrm>
              <a:off x="6299200" y="603504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10B36B9-60F1-D5E7-30D9-C5A344B9A714}"/>
                </a:ext>
              </a:extLst>
            </p:cNvPr>
            <p:cNvSpPr/>
            <p:nvPr/>
          </p:nvSpPr>
          <p:spPr>
            <a:xfrm>
              <a:off x="6299200" y="633984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3474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4F676CE-B217-2E92-5A8F-C0C976CBDC14}"/>
                </a:ext>
              </a:extLst>
            </p:cNvPr>
            <p:cNvSpPr/>
            <p:nvPr/>
          </p:nvSpPr>
          <p:spPr>
            <a:xfrm>
              <a:off x="736600" y="2667000"/>
              <a:ext cx="4913376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369911DB-3D5B-8186-A69A-816FA28B73A2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5F768237-7C8C-DFF7-B905-012269BB5E11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A1032EDB-E3AB-C1F3-A2AC-FE37257E4E5D}"/>
                </a:ext>
              </a:extLst>
            </p:cNvPr>
            <p:cNvSpPr/>
            <p:nvPr/>
          </p:nvSpPr>
          <p:spPr>
            <a:xfrm>
              <a:off x="1833880" y="2910840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4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D23B4AD0-8432-6541-881F-A97B6D74AAA2}"/>
                </a:ext>
              </a:extLst>
            </p:cNvPr>
            <p:cNvSpPr/>
            <p:nvPr/>
          </p:nvSpPr>
          <p:spPr>
            <a:xfrm>
              <a:off x="1020063" y="3535679"/>
              <a:ext cx="4611624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 having Bank Accounts involved in Cyber Frauds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60A591D4-C570-0104-BAAF-EC05F6DAFF3C}"/>
                </a:ext>
              </a:extLst>
            </p:cNvPr>
            <p:cNvSpPr/>
            <p:nvPr/>
          </p:nvSpPr>
          <p:spPr>
            <a:xfrm>
              <a:off x="1077975" y="4495800"/>
              <a:ext cx="4437888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Bank Accounts provided in the GST Registration was compared with Bank Accounts involved in Cyber Fraud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2BD93156-7AAE-B54B-C8F6-1F3E8C155E42}"/>
                </a:ext>
              </a:extLst>
            </p:cNvPr>
            <p:cNvSpPr/>
            <p:nvPr/>
          </p:nvSpPr>
          <p:spPr>
            <a:xfrm>
              <a:off x="1077976" y="5836920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744F9BB3-BD90-965F-7759-6147405CB2C8}"/>
                </a:ext>
              </a:extLst>
            </p:cNvPr>
            <p:cNvSpPr/>
            <p:nvPr/>
          </p:nvSpPr>
          <p:spPr>
            <a:xfrm>
              <a:off x="1077976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893CDEB6-CE3F-3F9F-117D-7191BF40F284}"/>
                </a:ext>
              </a:extLst>
            </p:cNvPr>
            <p:cNvSpPr/>
            <p:nvPr/>
          </p:nvSpPr>
          <p:spPr>
            <a:xfrm>
              <a:off x="1077976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356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D66E6527-D98D-D049-1482-BF44212FA55C}"/>
                </a:ext>
              </a:extLst>
            </p:cNvPr>
            <p:cNvSpPr/>
            <p:nvPr/>
          </p:nvSpPr>
          <p:spPr>
            <a:xfrm>
              <a:off x="3144520" y="6019800"/>
              <a:ext cx="2371343" cy="2956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Cancelled / suspended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F606BB4-46AB-BEB3-77B3-26FC72B0C07F}"/>
                </a:ext>
              </a:extLst>
            </p:cNvPr>
            <p:cNvSpPr/>
            <p:nvPr/>
          </p:nvSpPr>
          <p:spPr>
            <a:xfrm>
              <a:off x="3188011" y="629107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36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</a:rPr>
                <a:t>30</a:t>
              </a:r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13ED0E24-0A31-E49D-AB86-3B089F8BBF44}"/>
                </a:ext>
              </a:extLst>
            </p:cNvPr>
            <p:cNvSpPr/>
            <p:nvPr/>
          </p:nvSpPr>
          <p:spPr>
            <a:xfrm>
              <a:off x="11328400" y="2657855"/>
              <a:ext cx="4800600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accent1"/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71F5FE51-89D9-FF04-80B1-B7841B2E8D47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3AF645EF-F56B-25EA-E4B3-32719BA5E36A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6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A34A6008-C481-853A-A235-D8AAC07EA053}"/>
                </a:ext>
              </a:extLst>
            </p:cNvPr>
            <p:cNvSpPr/>
            <p:nvPr/>
          </p:nvSpPr>
          <p:spPr>
            <a:xfrm>
              <a:off x="123129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6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B220D4BA-26AD-ABAC-B901-BC4F5FB77F68}"/>
                </a:ext>
              </a:extLst>
            </p:cNvPr>
            <p:cNvSpPr/>
            <p:nvPr/>
          </p:nvSpPr>
          <p:spPr>
            <a:xfrm>
              <a:off x="11556999" y="3450336"/>
              <a:ext cx="457200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Registration in Rajasthan but rejected in other states</a:t>
              </a:r>
              <a:endParaRPr lang="en-US" sz="2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6A1E1842-E685-BDA0-D0AC-085B9025244F}"/>
                </a:ext>
              </a:extLst>
            </p:cNvPr>
            <p:cNvSpPr/>
            <p:nvPr/>
          </p:nvSpPr>
          <p:spPr>
            <a:xfrm>
              <a:off x="11556999" y="4421133"/>
              <a:ext cx="45720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 dirty="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Taxpayer’s whose registration application was rejected / Cancelled in other states but is doing business in Rajasthan</a:t>
              </a: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87A8BA41-80E5-776B-2CC8-AA894611A2F3}"/>
                </a:ext>
              </a:extLst>
            </p:cNvPr>
            <p:cNvSpPr/>
            <p:nvPr/>
          </p:nvSpPr>
          <p:spPr>
            <a:xfrm>
              <a:off x="11557000" y="5827775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8F3699C7-BA18-AF2B-677D-5AC293013BB0}"/>
                </a:ext>
              </a:extLst>
            </p:cNvPr>
            <p:cNvSpPr/>
            <p:nvPr/>
          </p:nvSpPr>
          <p:spPr>
            <a:xfrm>
              <a:off x="11557000" y="6010655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EEC017E1-5445-E872-A89D-BAE60C31954A}"/>
                </a:ext>
              </a:extLst>
            </p:cNvPr>
            <p:cNvSpPr/>
            <p:nvPr/>
          </p:nvSpPr>
          <p:spPr>
            <a:xfrm>
              <a:off x="11557000" y="6315455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1607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4" name="Text 22">
            <a:extLst>
              <a:ext uri="{FF2B5EF4-FFF2-40B4-BE49-F238E27FC236}">
                <a16:creationId xmlns:a16="http://schemas.microsoft.com/office/drawing/2014/main" id="{80D76DF1-7D1D-E3D0-C960-CF86F08D5A5D}"/>
              </a:ext>
            </a:extLst>
          </p:cNvPr>
          <p:cNvSpPr/>
          <p:nvPr/>
        </p:nvSpPr>
        <p:spPr>
          <a:xfrm>
            <a:off x="8102975" y="6252015"/>
            <a:ext cx="2379292" cy="411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/ suspended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79534C-B7C8-D8A6-077C-BEEB54AF172F}"/>
              </a:ext>
            </a:extLst>
          </p:cNvPr>
          <p:cNvSpPr/>
          <p:nvPr/>
        </p:nvSpPr>
        <p:spPr>
          <a:xfrm>
            <a:off x="8255885" y="6630115"/>
            <a:ext cx="2073472" cy="93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</a:rPr>
              <a:t>159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1980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8CBEC-3058-C687-9DE0-9AE04387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B9CC326-FC26-C9F5-F2BD-69931C0BE3C9}"/>
              </a:ext>
            </a:extLst>
          </p:cNvPr>
          <p:cNvSpPr/>
          <p:nvPr/>
        </p:nvSpPr>
        <p:spPr>
          <a:xfrm>
            <a:off x="721360" y="240791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AI – ML &amp; Risk Based Analytics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7E8C68-F426-8CC0-0DA1-27EC9C049DF7}"/>
              </a:ext>
            </a:extLst>
          </p:cNvPr>
          <p:cNvGrpSpPr/>
          <p:nvPr/>
        </p:nvGrpSpPr>
        <p:grpSpPr>
          <a:xfrm>
            <a:off x="472164" y="1592943"/>
            <a:ext cx="15311671" cy="6418943"/>
            <a:chOff x="736600" y="2657855"/>
            <a:chExt cx="15620999" cy="4352545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5E26CAE-362F-46B8-016F-B1FBF6202B4A}"/>
                </a:ext>
              </a:extLst>
            </p:cNvPr>
            <p:cNvSpPr/>
            <p:nvPr/>
          </p:nvSpPr>
          <p:spPr>
            <a:xfrm>
              <a:off x="6070600" y="2682240"/>
              <a:ext cx="4931664" cy="4312920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FD9942FD-03E9-A6E4-3D85-DD48424E1A39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9417F8C3-1E0B-46AB-C7D9-1B94BE1F8B1C}"/>
                </a:ext>
              </a:extLst>
            </p:cNvPr>
            <p:cNvSpPr/>
            <p:nvPr/>
          </p:nvSpPr>
          <p:spPr>
            <a:xfrm>
              <a:off x="6299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8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1FE3D5B-BE05-616A-1078-0EB97B9917B4}"/>
                </a:ext>
              </a:extLst>
            </p:cNvPr>
            <p:cNvSpPr/>
            <p:nvPr/>
          </p:nvSpPr>
          <p:spPr>
            <a:xfrm>
              <a:off x="70551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8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A2F7898-0708-3569-7B7C-9D82BE672BAE}"/>
                </a:ext>
              </a:extLst>
            </p:cNvPr>
            <p:cNvSpPr/>
            <p:nvPr/>
          </p:nvSpPr>
          <p:spPr>
            <a:xfrm>
              <a:off x="6412278" y="3383917"/>
              <a:ext cx="4133088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GST welcome letter not delivered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0DB32FB3-850D-26CA-9A68-E4064F344161}"/>
                </a:ext>
              </a:extLst>
            </p:cNvPr>
            <p:cNvSpPr/>
            <p:nvPr/>
          </p:nvSpPr>
          <p:spPr>
            <a:xfrm>
              <a:off x="6330919" y="4423868"/>
              <a:ext cx="4605996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Welcome Letters are sent by GSTNto all newly registered taxpayers to ensure the place of business. Returned welcome letter may lead to suspicious taxpayers</a:t>
              </a:r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9E91A4EA-EC5E-3462-BCC0-27F0D0D80686}"/>
                </a:ext>
              </a:extLst>
            </p:cNvPr>
            <p:cNvSpPr/>
            <p:nvPr/>
          </p:nvSpPr>
          <p:spPr>
            <a:xfrm>
              <a:off x="6299199" y="6032661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144F518B-F063-BC4E-7E53-C3692FDF5544}"/>
                </a:ext>
              </a:extLst>
            </p:cNvPr>
            <p:cNvSpPr/>
            <p:nvPr/>
          </p:nvSpPr>
          <p:spPr>
            <a:xfrm>
              <a:off x="6299200" y="603504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B786CE6-9A36-E8D9-B354-C03F8B8A8234}"/>
                </a:ext>
              </a:extLst>
            </p:cNvPr>
            <p:cNvSpPr/>
            <p:nvPr/>
          </p:nvSpPr>
          <p:spPr>
            <a:xfrm>
              <a:off x="6299200" y="633984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20730</a:t>
              </a:r>
              <a:endParaRPr lang="en-US" sz="4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AA8203DC-B7CC-06A8-CEA4-916D326190A8}"/>
                </a:ext>
              </a:extLst>
            </p:cNvPr>
            <p:cNvSpPr/>
            <p:nvPr/>
          </p:nvSpPr>
          <p:spPr>
            <a:xfrm>
              <a:off x="736600" y="2667000"/>
              <a:ext cx="4913376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60650C83-AD31-958B-5461-21288166B144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43CB433C-32BA-2364-6C07-03FD153922E0}"/>
                </a:ext>
              </a:extLst>
            </p:cNvPr>
            <p:cNvSpPr/>
            <p:nvPr/>
          </p:nvSpPr>
          <p:spPr>
            <a:xfrm>
              <a:off x="9652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7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8BB11BF-CD2A-B7E6-A7B6-1D69B9DE3BD5}"/>
                </a:ext>
              </a:extLst>
            </p:cNvPr>
            <p:cNvSpPr/>
            <p:nvPr/>
          </p:nvSpPr>
          <p:spPr>
            <a:xfrm>
              <a:off x="1833880" y="2910840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7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919EA1BD-AB32-F7C0-DA6A-235FEF2CFB4C}"/>
                </a:ext>
              </a:extLst>
            </p:cNvPr>
            <p:cNvSpPr/>
            <p:nvPr/>
          </p:nvSpPr>
          <p:spPr>
            <a:xfrm>
              <a:off x="1024636" y="3372137"/>
              <a:ext cx="4931664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NIL Filers for more than 12 months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9418F1C0-DB80-4BD8-9BDC-DEC3E4351292}"/>
                </a:ext>
              </a:extLst>
            </p:cNvPr>
            <p:cNvSpPr/>
            <p:nvPr/>
          </p:nvSpPr>
          <p:spPr>
            <a:xfrm>
              <a:off x="965200" y="4377976"/>
              <a:ext cx="4343401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US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 filing Nil returns regularly which means no active business, but may be sleeping cells which may pass on fake ITC in upcoming returns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99B54624-F660-E7B6-039F-722AD1397A55}"/>
                </a:ext>
              </a:extLst>
            </p:cNvPr>
            <p:cNvSpPr/>
            <p:nvPr/>
          </p:nvSpPr>
          <p:spPr>
            <a:xfrm>
              <a:off x="1070355" y="5979175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FBD5E13B-5081-D5FF-11C4-6CC6824E2C08}"/>
                </a:ext>
              </a:extLst>
            </p:cNvPr>
            <p:cNvSpPr/>
            <p:nvPr/>
          </p:nvSpPr>
          <p:spPr>
            <a:xfrm>
              <a:off x="1077976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TAXPAYERS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FAC55A95-EAA2-C568-D6CE-91676439AEFE}"/>
                </a:ext>
              </a:extLst>
            </p:cNvPr>
            <p:cNvSpPr/>
            <p:nvPr/>
          </p:nvSpPr>
          <p:spPr>
            <a:xfrm>
              <a:off x="1077976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40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1.02L</a:t>
              </a:r>
              <a:endParaRPr lang="en-US" sz="4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94BCA2C4-E0DC-DF11-970E-C1453D2A5A41}"/>
                </a:ext>
              </a:extLst>
            </p:cNvPr>
            <p:cNvSpPr/>
            <p:nvPr/>
          </p:nvSpPr>
          <p:spPr>
            <a:xfrm>
              <a:off x="3144520" y="6019800"/>
              <a:ext cx="2066544" cy="3413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1600" b="1" kern="0" spc="67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Taxpayer suspended</a:t>
              </a:r>
              <a:endParaRPr 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5C77B38E-0001-5BDC-D443-5A4D0CD4C903}"/>
                </a:ext>
              </a:extLst>
            </p:cNvPr>
            <p:cNvSpPr/>
            <p:nvPr/>
          </p:nvSpPr>
          <p:spPr>
            <a:xfrm>
              <a:off x="3144520" y="6324600"/>
              <a:ext cx="2066544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36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27274</a:t>
              </a:r>
              <a:endParaRPr lang="en-US" sz="3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228CAB02-3A4B-8396-0A10-9B0B921C5ED0}"/>
                </a:ext>
              </a:extLst>
            </p:cNvPr>
            <p:cNvSpPr/>
            <p:nvPr/>
          </p:nvSpPr>
          <p:spPr>
            <a:xfrm>
              <a:off x="11328400" y="2657855"/>
              <a:ext cx="4800600" cy="4303775"/>
            </a:xfrm>
            <a:prstGeom prst="roundRect">
              <a:avLst>
                <a:gd name="adj" fmla="val 2254"/>
              </a:avLst>
            </a:prstGeom>
            <a:solidFill>
              <a:srgbClr val="EEF3FC"/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5E9A0AB8-2C79-C268-06D4-E5BE831F1ACA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1E2A3416-A834-5935-9831-1323C5CB62FA}"/>
                </a:ext>
              </a:extLst>
            </p:cNvPr>
            <p:cNvSpPr/>
            <p:nvPr/>
          </p:nvSpPr>
          <p:spPr>
            <a:xfrm>
              <a:off x="11557000" y="2743200"/>
              <a:ext cx="6096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1219170"/>
              <a:r>
                <a:rPr lang="en-US" sz="2800" b="1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</a:rPr>
                <a:t>9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D1EF3ED3-F727-1E34-7041-82B5487F52F2}"/>
                </a:ext>
              </a:extLst>
            </p:cNvPr>
            <p:cNvSpPr/>
            <p:nvPr/>
          </p:nvSpPr>
          <p:spPr>
            <a:xfrm>
              <a:off x="12312904" y="2779776"/>
              <a:ext cx="3474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000" b="1" kern="0" spc="133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CASE 9</a:t>
              </a:r>
              <a:endParaRPr lang="en-US" sz="2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1C187F57-9B6F-17DC-279E-24A6BE39C446}"/>
                </a:ext>
              </a:extLst>
            </p:cNvPr>
            <p:cNvSpPr/>
            <p:nvPr/>
          </p:nvSpPr>
          <p:spPr>
            <a:xfrm>
              <a:off x="11557000" y="3429000"/>
              <a:ext cx="4553712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10000"/>
                </a:lnSpc>
              </a:pPr>
              <a:r>
                <a:rPr lang="en-US" sz="2800" b="1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OCR Based reading of documents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51B5D52F-B347-2E7B-9B9A-2295CCC8E070}"/>
                </a:ext>
              </a:extLst>
            </p:cNvPr>
            <p:cNvSpPr/>
            <p:nvPr/>
          </p:nvSpPr>
          <p:spPr>
            <a:xfrm>
              <a:off x="11557000" y="4551871"/>
              <a:ext cx="4572000" cy="1219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>
                <a:lnSpc>
                  <a:spcPct val="125000"/>
                </a:lnSpc>
              </a:pPr>
              <a:r>
                <a:rPr lang="en-IN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Extraction and analysis of data from GSTR-9, Profit &amp; Loss Statements, Balance Sheets etc. using OCR and comparison with GST Database.</a:t>
              </a:r>
            </a:p>
            <a:p>
              <a:pPr defTabSz="1219170">
                <a:lnSpc>
                  <a:spcPct val="125000"/>
                </a:lnSpc>
              </a:pPr>
              <a:r>
                <a:rPr lang="en-IN" sz="2400" err="1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Eg.</a:t>
              </a:r>
              <a:r>
                <a:rPr lang="en-IN" sz="2400">
                  <a:solidFill>
                    <a:srgbClr val="5A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Legal fees paid as per P&amp;L but RCM not paid in GST</a:t>
              </a:r>
              <a:endParaRPr lang="en-US" sz="240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C9060BF4-372C-B99B-1D42-146EC44380DA}"/>
                </a:ext>
              </a:extLst>
            </p:cNvPr>
            <p:cNvSpPr/>
            <p:nvPr/>
          </p:nvSpPr>
          <p:spPr>
            <a:xfrm>
              <a:off x="11459566" y="6313384"/>
              <a:ext cx="4133088" cy="0"/>
            </a:xfrm>
            <a:prstGeom prst="line">
              <a:avLst/>
            </a:prstGeom>
            <a:noFill/>
            <a:ln w="9525">
              <a:solidFill>
                <a:srgbClr val="C4CFE3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1DEC9EE8-D17F-0FD4-9046-5C7020231B39}"/>
                </a:ext>
              </a:extLst>
            </p:cNvPr>
            <p:cNvSpPr/>
            <p:nvPr/>
          </p:nvSpPr>
          <p:spPr>
            <a:xfrm>
              <a:off x="11557000" y="6315455"/>
              <a:ext cx="4800599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1219170"/>
              <a:r>
                <a:rPr lang="en-US" sz="28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</a:rPr>
                <a:t>Work in Progress</a:t>
              </a:r>
              <a:endParaRPr lang="en-US" sz="2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3" name="Text 22">
            <a:extLst>
              <a:ext uri="{FF2B5EF4-FFF2-40B4-BE49-F238E27FC236}">
                <a16:creationId xmlns:a16="http://schemas.microsoft.com/office/drawing/2014/main" id="{B4A701AB-6D41-FEF7-B715-3D1EC093C8ED}"/>
              </a:ext>
            </a:extLst>
          </p:cNvPr>
          <p:cNvSpPr/>
          <p:nvPr/>
        </p:nvSpPr>
        <p:spPr>
          <a:xfrm>
            <a:off x="8213098" y="6566453"/>
            <a:ext cx="2025622" cy="50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6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 suspended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64067F4-3824-9894-F8F0-1DB9FA7833D2}"/>
              </a:ext>
            </a:extLst>
          </p:cNvPr>
          <p:cNvSpPr/>
          <p:nvPr/>
        </p:nvSpPr>
        <p:spPr>
          <a:xfrm>
            <a:off x="8229580" y="6985331"/>
            <a:ext cx="2025622" cy="988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1267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55085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49300"/>
            <a:ext cx="16205200" cy="6061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>
              <a:lnSpc>
                <a:spcPct val="114576"/>
              </a:lnSpc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Fake Firm Detection &amp; Cleaning the Taxpayer Base</a:t>
            </a:r>
          </a:p>
        </p:txBody>
      </p:sp>
      <p:sp>
        <p:nvSpPr>
          <p:cNvPr id="6" name="Shape 4"/>
          <p:cNvSpPr/>
          <p:nvPr/>
        </p:nvSpPr>
        <p:spPr>
          <a:xfrm>
            <a:off x="81280" y="1575593"/>
            <a:ext cx="7774443" cy="48267"/>
          </a:xfrm>
          <a:prstGeom prst="rect">
            <a:avLst/>
          </a:prstGeom>
          <a:solidFill>
            <a:srgbClr val="C8551F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9" name="Text 7"/>
          <p:cNvSpPr/>
          <p:nvPr/>
        </p:nvSpPr>
        <p:spPr>
          <a:xfrm>
            <a:off x="345904" y="2042175"/>
            <a:ext cx="7969716" cy="4263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1778" b="1" kern="0" spc="100">
                <a:solidFill>
                  <a:srgbClr val="8A3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FIRM DETECTION</a:t>
            </a:r>
            <a:endParaRPr lang="en-US" sz="1778"/>
          </a:p>
        </p:txBody>
      </p:sp>
      <p:sp>
        <p:nvSpPr>
          <p:cNvPr id="12" name="Text 10"/>
          <p:cNvSpPr/>
          <p:nvPr/>
        </p:nvSpPr>
        <p:spPr>
          <a:xfrm>
            <a:off x="5280781" y="2790313"/>
            <a:ext cx="1054643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>
              <a:lnSpc>
                <a:spcPct val="133333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FY25–26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184220" y="1575593"/>
            <a:ext cx="7774443" cy="4915196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endParaRPr lang="en-IN" sz="3200"/>
          </a:p>
        </p:txBody>
      </p:sp>
      <p:sp>
        <p:nvSpPr>
          <p:cNvPr id="30" name="Shape 28"/>
          <p:cNvSpPr/>
          <p:nvPr/>
        </p:nvSpPr>
        <p:spPr>
          <a:xfrm>
            <a:off x="8184220" y="6474698"/>
            <a:ext cx="7774443" cy="16089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1" name="Shape 29"/>
          <p:cNvSpPr/>
          <p:nvPr/>
        </p:nvSpPr>
        <p:spPr>
          <a:xfrm>
            <a:off x="8184220" y="1575593"/>
            <a:ext cx="7774443" cy="48267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2" name="Shape 30"/>
          <p:cNvSpPr/>
          <p:nvPr/>
        </p:nvSpPr>
        <p:spPr>
          <a:xfrm>
            <a:off x="8184221" y="1575593"/>
            <a:ext cx="9125" cy="4915196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3" name="Shape 31"/>
          <p:cNvSpPr/>
          <p:nvPr/>
        </p:nvSpPr>
        <p:spPr>
          <a:xfrm>
            <a:off x="15949539" y="1575593"/>
            <a:ext cx="9125" cy="4915196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4" name="Text 32"/>
          <p:cNvSpPr/>
          <p:nvPr/>
        </p:nvSpPr>
        <p:spPr>
          <a:xfrm>
            <a:off x="8448844" y="2042175"/>
            <a:ext cx="7969716" cy="4263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2353"/>
              </a:lnSpc>
            </a:pPr>
            <a:r>
              <a:rPr lang="en-US" sz="1778" b="1" kern="0" spc="10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TAXPAYER BASE</a:t>
            </a:r>
            <a:endParaRPr lang="en-US" sz="1778"/>
          </a:p>
        </p:txBody>
      </p:sp>
      <p:sp>
        <p:nvSpPr>
          <p:cNvPr id="36" name="Text 34"/>
          <p:cNvSpPr/>
          <p:nvPr/>
        </p:nvSpPr>
        <p:spPr>
          <a:xfrm>
            <a:off x="8540093" y="2790313"/>
            <a:ext cx="4775158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>
              <a:lnSpc>
                <a:spcPct val="133333"/>
              </a:lnSpc>
            </a:pPr>
            <a:r>
              <a:rPr lang="en-US" sz="21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Particulars</a:t>
            </a:r>
            <a:endParaRPr lang="en-US" sz="2133"/>
          </a:p>
        </p:txBody>
      </p:sp>
      <p:sp>
        <p:nvSpPr>
          <p:cNvPr id="37" name="Text 35"/>
          <p:cNvSpPr/>
          <p:nvPr/>
        </p:nvSpPr>
        <p:spPr>
          <a:xfrm>
            <a:off x="13280353" y="2790313"/>
            <a:ext cx="1090287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>
              <a:lnSpc>
                <a:spcPct val="133333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FY25–26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14480139" y="2790313"/>
            <a:ext cx="1122652" cy="45049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>
              <a:lnSpc>
                <a:spcPct val="133333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FY26–27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8519562" y="5606321"/>
            <a:ext cx="7369296" cy="74707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>
              <a:lnSpc>
                <a:spcPct val="131250"/>
              </a:lnSpc>
            </a:pPr>
            <a:r>
              <a:rPr lang="en-US" sz="2000" dirty="0">
                <a:solidFill>
                  <a:srgbClr val="645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*Identified through nil-filing pattern analysis; further field verification in progress.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62000" y="8631767"/>
            <a:ext cx="14732000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44" name="Text 42"/>
          <p:cNvSpPr/>
          <p:nvPr/>
        </p:nvSpPr>
        <p:spPr>
          <a:xfrm>
            <a:off x="762000" y="8758767"/>
            <a:ext cx="2712072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TAX DEPT. · GOVT OF RAJASTHAN</a:t>
            </a:r>
            <a:endParaRPr lang="en-US" sz="867"/>
          </a:p>
        </p:txBody>
      </p:sp>
      <p:sp>
        <p:nvSpPr>
          <p:cNvPr id="45" name="Text 43"/>
          <p:cNvSpPr/>
          <p:nvPr/>
        </p:nvSpPr>
        <p:spPr>
          <a:xfrm>
            <a:off x="8198380" y="8758767"/>
            <a:ext cx="201473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DATA-DRIVEN DETECTION &amp; AI</a:t>
            </a:r>
            <a:endParaRPr lang="en-US" sz="867"/>
          </a:p>
        </p:txBody>
      </p:sp>
      <p:sp>
        <p:nvSpPr>
          <p:cNvPr id="46" name="Text 44"/>
          <p:cNvSpPr/>
          <p:nvPr/>
        </p:nvSpPr>
        <p:spPr>
          <a:xfrm>
            <a:off x="15000818" y="8758767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38</a:t>
            </a:r>
            <a:endParaRPr lang="en-US" sz="867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C58E40CD-8AB3-224C-7EDA-7FF32CA60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74673"/>
              </p:ext>
            </p:extLst>
          </p:nvPr>
        </p:nvGraphicFramePr>
        <p:xfrm>
          <a:off x="427823" y="2528323"/>
          <a:ext cx="7163276" cy="4787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4577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  <a:gridCol w="1769419">
                  <a:extLst>
                    <a:ext uri="{9D8B030D-6E8A-4147-A177-3AD203B41FA5}">
                      <a16:colId xmlns:a16="http://schemas.microsoft.com/office/drawing/2014/main" val="329132918"/>
                    </a:ext>
                  </a:extLst>
                </a:gridCol>
              </a:tblGrid>
              <a:tr h="611051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FY25–26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FY26-27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764331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Fake Firms Detected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330+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63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764331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ITC Involved (₹ Cr)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668.41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259.71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279928"/>
                  </a:ext>
                </a:extLst>
              </a:tr>
              <a:tr h="1203905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Suspicious Firms (Repeat Offenders)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2675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42468"/>
                  </a:ext>
                </a:extLst>
              </a:tr>
              <a:tr h="1443737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 Cancelled (Improper Docs / Field Visit)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3752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702472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75D72AE8-0B73-6811-5AC9-861D6D57A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491944"/>
              </p:ext>
            </p:extLst>
          </p:nvPr>
        </p:nvGraphicFramePr>
        <p:xfrm>
          <a:off x="8436982" y="2463893"/>
          <a:ext cx="7391195" cy="3049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778">
                  <a:extLst>
                    <a:ext uri="{9D8B030D-6E8A-4147-A177-3AD203B41FA5}">
                      <a16:colId xmlns:a16="http://schemas.microsoft.com/office/drawing/2014/main" val="283362181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661273952"/>
                    </a:ext>
                  </a:extLst>
                </a:gridCol>
                <a:gridCol w="1868337">
                  <a:extLst>
                    <a:ext uri="{9D8B030D-6E8A-4147-A177-3AD203B41FA5}">
                      <a16:colId xmlns:a16="http://schemas.microsoft.com/office/drawing/2014/main" val="329132918"/>
                    </a:ext>
                  </a:extLst>
                </a:gridCol>
              </a:tblGrid>
              <a:tr h="576585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Particulars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FY25–26</a:t>
                      </a:r>
                      <a:endParaRPr 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FY26-27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57271"/>
                  </a:ext>
                </a:extLst>
              </a:tr>
              <a:tr h="1422340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>
                          <a:solidFill>
                            <a:srgbClr val="322E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Potentially Suspicious Taxpayers from Nil Payers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 -</a:t>
                      </a:r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27274*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06095"/>
                  </a:ext>
                </a:extLst>
              </a:tr>
              <a:tr h="965523">
                <a:tc>
                  <a:txBody>
                    <a:bodyPr/>
                    <a:lstStyle/>
                    <a:p>
                      <a:pPr>
                        <a:lnSpc>
                          <a:spcPct val="133333"/>
                        </a:lnSpc>
                      </a:pPr>
                      <a:r>
                        <a:rPr lang="en-US" sz="2400" dirty="0"/>
                        <a:t>Returned Welcome Letters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rgbClr val="322E25"/>
                          </a:solidFill>
                          <a:latin typeface="Arial" pitchFamily="34" charset="0"/>
                          <a:cs typeface="Arial" pitchFamily="34" charset="-120"/>
                        </a:rPr>
                        <a:t>1267</a:t>
                      </a:r>
                      <a:endParaRPr lang="en-IN" sz="2400" b="1" kern="1200" dirty="0">
                        <a:solidFill>
                          <a:srgbClr val="322E25"/>
                        </a:solidFill>
                        <a:latin typeface="Arial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6757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14996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3467" b="1" dirty="0">
                <a:solidFill>
                  <a:srgbClr val="1A3257"/>
                </a:solidFill>
                <a:latin typeface="Georgia" pitchFamily="34" charset="0"/>
              </a:rPr>
              <a:t>Tax Administration Performance Index</a:t>
            </a:r>
            <a:br>
              <a:rPr lang="en-US" sz="3467" b="1" dirty="0">
                <a:solidFill>
                  <a:srgbClr val="1A3257"/>
                </a:solidFill>
                <a:latin typeface="Georgia" pitchFamily="34" charset="0"/>
              </a:rPr>
            </a:br>
            <a:r>
              <a:rPr lang="en-US" sz="2400" b="1" dirty="0">
                <a:solidFill>
                  <a:srgbClr val="1A3257"/>
                </a:solidFill>
                <a:latin typeface="Georgia" pitchFamily="34" charset="0"/>
              </a:rPr>
              <a:t>Source : GST Analytics and Intelligence Network portal - GSTN 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377696"/>
            <a:ext cx="14996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0" i="1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across 16 GST administration parameters, by state (Published Quarterly)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889760"/>
            <a:ext cx="920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B5D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 Rankings — Total Score (0–100)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48917308"/>
              </p:ext>
            </p:extLst>
          </p:nvPr>
        </p:nvGraphicFramePr>
        <p:xfrm>
          <a:off x="609600" y="2316480"/>
          <a:ext cx="14605000" cy="6437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75600" y="2397469"/>
            <a:ext cx="0" cy="6226923"/>
          </a:xfrm>
          <a:prstGeom prst="line">
            <a:avLst/>
          </a:prstGeom>
          <a:noFill/>
          <a:ln w="28575">
            <a:solidFill>
              <a:srgbClr val="8A2E2E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47840" y="206828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8A2E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PAN INDIA avg: 52.4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BEB4-095D-D869-088B-9DCB359A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0B3C9E-ECB1-C2CF-D139-9F0BD165B2B9}"/>
              </a:ext>
            </a:extLst>
          </p:cNvPr>
          <p:cNvSpPr/>
          <p:nvPr/>
        </p:nvSpPr>
        <p:spPr>
          <a:xfrm>
            <a:off x="609600" y="426720"/>
            <a:ext cx="12192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Revenue Growth: Month-wise Forecasting Snapshot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A359AF-D835-D897-CC20-9F7FA64393E1}"/>
              </a:ext>
            </a:extLst>
          </p:cNvPr>
          <p:cNvSpPr/>
          <p:nvPr/>
        </p:nvSpPr>
        <p:spPr>
          <a:xfrm>
            <a:off x="609600" y="1036320"/>
            <a:ext cx="12192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5A6B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  ( ₹ in Crore )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F5DF26E-9DBE-C1B5-C7D9-C45141629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940276"/>
              </p:ext>
            </p:extLst>
          </p:nvPr>
        </p:nvGraphicFramePr>
        <p:xfrm>
          <a:off x="609600" y="1695488"/>
          <a:ext cx="14833599" cy="6000709"/>
        </p:xfrm>
        <a:graphic>
          <a:graphicData uri="http://schemas.openxmlformats.org/drawingml/2006/table">
            <a:tbl>
              <a:tblPr/>
              <a:tblGrid>
                <a:gridCol w="458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2100" b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55419" marB="55419"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FY-26-27</a:t>
                      </a:r>
                      <a:endParaRPr lang="en-US" sz="2100" b="1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55419" marB="55419"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2100" b="1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55419" marB="55419"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Apr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4,749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2.21%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May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3,280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-6.39%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Jun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3,615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4.68%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Jul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4,120 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8.15%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Aug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3,865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8.10%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3,735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8.95%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Oct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4,695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12.81%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Nov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4,395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13.04%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3,851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13.46%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Jan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4,590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14.61%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Feb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4,134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 dirty="0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10.56%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4,985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700" b="1" i="0" u="none" strike="noStrike" dirty="0">
                          <a:solidFill>
                            <a:srgbClr val="548235"/>
                          </a:solidFill>
                          <a:effectLst/>
                          <a:latin typeface="+mn-lt"/>
                        </a:rPr>
                        <a:t>12.12%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74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50,014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8.61%</a:t>
                      </a:r>
                    </a:p>
                  </a:txBody>
                  <a:tcPr marL="8467" marR="8467" marT="846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82002BE1-665E-BB51-17A5-8C06F347B76A}"/>
              </a:ext>
            </a:extLst>
          </p:cNvPr>
          <p:cNvSpPr/>
          <p:nvPr/>
        </p:nvSpPr>
        <p:spPr>
          <a:xfrm>
            <a:off x="609600" y="7696200"/>
            <a:ext cx="153314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Aug 26 – Mar’ 27 figures are model-based forecasts –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XGBoost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,</a:t>
            </a:r>
            <a:r>
              <a:rPr kumimoji="0" lang="en-US" sz="2400" b="0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 Time Series, Arima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itchFamily="34" charset="-122"/>
              <a:cs typeface="Calibri" pitchFamily="34" charset="-120"/>
            </a:endParaRP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Full-year GST net revenue is projected to grow by 8.61 %, increasing from ₹46,050 Cr (FY25–26) to ₹ 50014 Cr (FY26–27).</a:t>
            </a:r>
          </a:p>
        </p:txBody>
      </p:sp>
    </p:spTree>
    <p:extLst>
      <p:ext uri="{BB962C8B-B14F-4D97-AF65-F5344CB8AC3E}">
        <p14:creationId xmlns:p14="http://schemas.microsoft.com/office/powerpoint/2010/main" val="3764579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8C87EC88-B83A-EC5C-CBB5-AA2B00A1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6">
            <a:extLst>
              <a:ext uri="{FF2B5EF4-FFF2-40B4-BE49-F238E27FC236}">
                <a16:creationId xmlns:a16="http://schemas.microsoft.com/office/drawing/2014/main" id="{63D8AB89-0393-38F6-DC0F-F1AC4330F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0223" y="283577"/>
            <a:ext cx="14860800" cy="67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577" rIns="0" bIns="0" anchor="t" anchorCtr="0">
            <a:spAutoFit/>
          </a:bodyPr>
          <a:lstStyle/>
          <a:p>
            <a:pPr marL="22577"/>
            <a:r>
              <a:rPr lang="en-IN" sz="4267" dirty="0">
                <a:solidFill>
                  <a:schemeClr val="lt1"/>
                </a:solidFill>
              </a:rPr>
              <a:t>Meeting with Secretary Revenue, GOI</a:t>
            </a:r>
            <a:endParaRPr sz="4267" dirty="0">
              <a:solidFill>
                <a:schemeClr val="lt1"/>
              </a:solidFill>
            </a:endParaRPr>
          </a:p>
        </p:txBody>
      </p:sp>
      <p:sp>
        <p:nvSpPr>
          <p:cNvPr id="646" name="Google Shape;646;p36">
            <a:extLst>
              <a:ext uri="{FF2B5EF4-FFF2-40B4-BE49-F238E27FC236}">
                <a16:creationId xmlns:a16="http://schemas.microsoft.com/office/drawing/2014/main" id="{F86C7DA3-52BC-B70D-5EBE-3ECC294C97A1}"/>
              </a:ext>
            </a:extLst>
          </p:cNvPr>
          <p:cNvSpPr txBox="1"/>
          <p:nvPr/>
        </p:nvSpPr>
        <p:spPr>
          <a:xfrm>
            <a:off x="124790" y="837595"/>
            <a:ext cx="16902430" cy="964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marL="292367" algn="just" defTabSz="1219170"/>
            <a:r>
              <a:rPr lang="en-US" sz="2800" b="1" dirty="0">
                <a:solidFill>
                  <a:srgbClr val="6B7B8E"/>
                </a:solidFill>
                <a:latin typeface="Calibri"/>
                <a:ea typeface="Calibri"/>
                <a:cs typeface="Calibri"/>
                <a:sym typeface="Calibri"/>
              </a:rPr>
              <a:t>Point 1 : 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The note mentions that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Rajasthan's B2C ratio is approximately 7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, against a normal benchmark ratio of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4.5</a:t>
            </a:r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292367" algn="just" defTabSz="1219170"/>
            <a:r>
              <a:rPr lang="en-IN" sz="2400" dirty="0">
                <a:solidFill>
                  <a:prstClr val="black"/>
                </a:solidFill>
                <a:latin typeface="Calibri" panose="020F0502020204030204"/>
              </a:rPr>
              <a:t>GSTN was requested for complete data and methodology. 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GSTN report is as given below: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639B4A-F6BA-B5D9-CF00-774E40EB3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67086"/>
              </p:ext>
            </p:extLst>
          </p:nvPr>
        </p:nvGraphicFramePr>
        <p:xfrm>
          <a:off x="355600" y="1791702"/>
          <a:ext cx="7678935" cy="659671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814509864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592182426"/>
                    </a:ext>
                  </a:extLst>
                </a:gridCol>
                <a:gridCol w="2068387">
                  <a:extLst>
                    <a:ext uri="{9D8B030D-6E8A-4147-A177-3AD203B41FA5}">
                      <a16:colId xmlns:a16="http://schemas.microsoft.com/office/drawing/2014/main" val="2543260656"/>
                    </a:ext>
                  </a:extLst>
                </a:gridCol>
                <a:gridCol w="1805628">
                  <a:extLst>
                    <a:ext uri="{9D8B030D-6E8A-4147-A177-3AD203B41FA5}">
                      <a16:colId xmlns:a16="http://schemas.microsoft.com/office/drawing/2014/main" val="487293911"/>
                    </a:ext>
                  </a:extLst>
                </a:gridCol>
              </a:tblGrid>
              <a:tr h="41906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ALL INDIA (in 1 Lakh Crore)</a:t>
                      </a:r>
                      <a:endParaRPr lang="en-IN" sz="2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06894"/>
                  </a:ext>
                </a:extLst>
              </a:tr>
              <a:tr h="657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Domestic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B2C% 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97516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2017-2018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32.03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168.32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19.03%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768476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2018-2019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48.64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260.85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18.65%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08940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2019-2020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49.57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261.52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18.95%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90168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2020-2021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46.77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261.06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17.91%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861257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2021-2022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58.34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344.33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16.94%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917460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2022-2023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69.44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407.16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17.06%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294857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2023-2024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76.38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444.22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17.19%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364674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2024-2025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82.65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495.14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16.69%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44038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2025-2026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91.56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567.44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16.14%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670023"/>
                  </a:ext>
                </a:extLst>
              </a:tr>
              <a:tr h="494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Grand Total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555.39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3210.03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17.30%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47679"/>
                  </a:ext>
                </a:extLst>
              </a:tr>
              <a:tr h="494333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Ratio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5.78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314E1E-1542-C29B-9A4B-C48D93EC2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995213"/>
              </p:ext>
            </p:extLst>
          </p:nvPr>
        </p:nvGraphicFramePr>
        <p:xfrm>
          <a:off x="8313090" y="1791701"/>
          <a:ext cx="7678935" cy="657005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973910">
                  <a:extLst>
                    <a:ext uri="{9D8B030D-6E8A-4147-A177-3AD203B41FA5}">
                      <a16:colId xmlns:a16="http://schemas.microsoft.com/office/drawing/2014/main" val="3380436217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3419039631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228279328"/>
                    </a:ext>
                  </a:extLst>
                </a:gridCol>
                <a:gridCol w="1773105">
                  <a:extLst>
                    <a:ext uri="{9D8B030D-6E8A-4147-A177-3AD203B41FA5}">
                      <a16:colId xmlns:a16="http://schemas.microsoft.com/office/drawing/2014/main" val="1965794500"/>
                    </a:ext>
                  </a:extLst>
                </a:gridCol>
              </a:tblGrid>
              <a:tr h="446823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RAJASTHAN </a:t>
                      </a:r>
                      <a:r>
                        <a:rPr lang="en-IN" sz="2400" b="1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(in 1 Lakh Crore)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517428"/>
                  </a:ext>
                </a:extLst>
              </a:tr>
              <a:tr h="684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Domestic Supply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B2C%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760808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2017-2018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1.30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6.84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19.00%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960357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2018-2019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1.96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10.53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18.59%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103208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2019-2020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2.00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10.52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19.04%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866190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2020-2021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1.97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10.86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18.16%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44551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2021-2022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2.51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14.42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17.38%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58687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2022-2023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2.94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16.84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17.49%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104890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2023-2024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3.22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18.11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>
                          <a:solidFill>
                            <a:schemeClr val="tx1"/>
                          </a:solidFill>
                          <a:effectLst/>
                        </a:rPr>
                        <a:t>17.80%</a:t>
                      </a:r>
                      <a:endParaRPr lang="en-IN" sz="2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221256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2024-2025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3.48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19.96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17.42%</a:t>
                      </a:r>
                      <a:endParaRPr lang="en-IN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854662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2025-2026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3.85</a:t>
                      </a:r>
                      <a:endParaRPr lang="en-IN" sz="24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22.51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u="none" strike="noStrike" kern="1200">
                          <a:solidFill>
                            <a:schemeClr val="tx1"/>
                          </a:solidFill>
                          <a:effectLst/>
                        </a:rPr>
                        <a:t>17.10%</a:t>
                      </a:r>
                      <a:endParaRPr lang="en-IN" sz="24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588517"/>
                  </a:ext>
                </a:extLst>
              </a:tr>
              <a:tr h="4893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Grand Total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23.23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130.58</a:t>
                      </a:r>
                      <a:endParaRPr lang="en-IN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17.79%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712378"/>
                  </a:ext>
                </a:extLst>
              </a:tr>
              <a:tr h="489386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Ratio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5.62</a:t>
                      </a:r>
                      <a:endParaRPr lang="en-IN" sz="2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67" marR="8467" marT="84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08943"/>
                  </a:ext>
                </a:extLst>
              </a:tr>
            </a:tbl>
          </a:graphicData>
        </a:graphic>
      </p:graphicFrame>
      <p:sp>
        <p:nvSpPr>
          <p:cNvPr id="4" name="Text 132">
            <a:extLst>
              <a:ext uri="{FF2B5EF4-FFF2-40B4-BE49-F238E27FC236}">
                <a16:creationId xmlns:a16="http://schemas.microsoft.com/office/drawing/2014/main" id="{28D3E072-58CE-7FEE-C48B-A737C0D5FD1D}"/>
              </a:ext>
            </a:extLst>
          </p:cNvPr>
          <p:cNvSpPr/>
          <p:nvPr/>
        </p:nvSpPr>
        <p:spPr>
          <a:xfrm>
            <a:off x="124790" y="8461612"/>
            <a:ext cx="16319170" cy="3988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1700" b="1" dirty="0">
                <a:solidFill>
                  <a:srgbClr val="103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</a:t>
            </a:r>
            <a:r>
              <a:rPr lang="en-US" sz="1700" b="1" dirty="0">
                <a:solidFill>
                  <a:srgbClr val="103D27"/>
                </a:solidFill>
                <a:highlight>
                  <a:srgbClr val="ECF6E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Based on the data provided by GSTN, no significant difference is observed between Rajasthan’s B2C ratio (5.62) and the all-India ratio (5.78).</a:t>
            </a:r>
            <a:endParaRPr lang="en-US" sz="1700" b="1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AC64761-C663-1356-E635-50D8A8EB556A}"/>
              </a:ext>
            </a:extLst>
          </p:cNvPr>
          <p:cNvSpPr/>
          <p:nvPr/>
        </p:nvSpPr>
        <p:spPr>
          <a:xfrm>
            <a:off x="372138" y="13605"/>
            <a:ext cx="15636240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IN" sz="3467" b="1" dirty="0">
                <a:solidFill>
                  <a:srgbClr val="1A3257"/>
                </a:solidFill>
                <a:latin typeface="Georgia" pitchFamily="34" charset="0"/>
              </a:rPr>
              <a:t>Meeting with Secretary Revenue, GOI</a:t>
            </a:r>
          </a:p>
        </p:txBody>
      </p:sp>
    </p:spTree>
    <p:extLst>
      <p:ext uri="{BB962C8B-B14F-4D97-AF65-F5344CB8AC3E}">
        <p14:creationId xmlns:p14="http://schemas.microsoft.com/office/powerpoint/2010/main" val="255640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0467" y="440591"/>
            <a:ext cx="16205200" cy="518054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lvl="0">
              <a:lnSpc>
                <a:spcPct val="114400"/>
              </a:lnSpc>
            </a:pPr>
            <a:r>
              <a:rPr lang="en-IN" sz="3400" b="1" dirty="0">
                <a:solidFill>
                  <a:srgbClr val="1A3257"/>
                </a:solidFill>
                <a:latin typeface="Georgia" pitchFamily="34" charset="0"/>
              </a:rPr>
              <a:t>Meeting with Secretary Revenue, GOI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104255"/>
            <a:ext cx="14599920" cy="105334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0116" y="1717368"/>
            <a:ext cx="8133596" cy="54388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B7B8E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  <a:sym typeface="Calibri"/>
              </a:rPr>
              <a:t>Point 2: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1400" y="2121663"/>
            <a:ext cx="14184484" cy="199433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81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89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 anomaly-detection technique identified approximately </a:t>
            </a:r>
            <a:r>
              <a:rPr kumimoji="0" lang="en-US" sz="2489" b="1" i="0" u="none" strike="noStrike" kern="1200" cap="none" spc="0" normalizeH="0" baseline="0" noProof="0" dirty="0">
                <a:ln>
                  <a:noFill/>
                </a:ln>
                <a:solidFill>
                  <a:srgbClr val="1A32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5.37 lakh </a:t>
            </a:r>
            <a:r>
              <a:rPr kumimoji="0" lang="en-US" sz="2489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taxpayers who paid lower tax compared to their respective peer band. Of these, approximately </a:t>
            </a:r>
            <a:r>
              <a:rPr kumimoji="0" lang="en-US" sz="2489" b="1" i="0" u="none" strike="noStrike" kern="1200" cap="none" spc="0" normalizeH="0" baseline="0" noProof="0" dirty="0">
                <a:ln>
                  <a:noFill/>
                </a:ln>
                <a:solidFill>
                  <a:srgbClr val="1A325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1.22 lakh </a:t>
            </a:r>
            <a:r>
              <a:rPr kumimoji="0" lang="en-US" sz="2489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taxpayers paid only </a:t>
            </a:r>
            <a:r>
              <a:rPr kumimoji="0" lang="en-US" sz="2489" b="1" i="0" u="none" strike="noStrike" kern="1200" cap="none" spc="0" normalizeH="0" baseline="0" noProof="0" dirty="0">
                <a:ln>
                  <a:noFill/>
                </a:ln>
                <a:solidFill>
                  <a:srgbClr val="8A37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₹194 crore </a:t>
            </a:r>
            <a:r>
              <a:rPr kumimoji="0" lang="en-US" sz="2489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through the cash ledger.</a:t>
            </a:r>
            <a:endParaRPr kumimoji="0" lang="en-US" sz="248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30387" y="3983807"/>
            <a:ext cx="1794609" cy="12519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25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1A3257"/>
                </a:solidFill>
                <a:effectLst/>
                <a:uLnTx/>
                <a:uFillTx/>
                <a:latin typeface="Calibri" panose="020F0502020204030204"/>
                <a:ea typeface="Courier New" pitchFamily="34" charset="-122"/>
                <a:cs typeface="Courier New" pitchFamily="34" charset="-120"/>
              </a:rPr>
              <a:t>5.37L</a:t>
            </a:r>
            <a:endParaRPr kumimoji="0" lang="en-US" sz="42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83689" y="4962863"/>
            <a:ext cx="2707874" cy="69225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45C4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Flagged taxpayers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19135" y="3953688"/>
            <a:ext cx="2294952" cy="12519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25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AB451A"/>
                </a:solidFill>
                <a:effectLst/>
                <a:uLnTx/>
                <a:uFillTx/>
                <a:latin typeface="Calibri" panose="020F0502020204030204"/>
                <a:ea typeface="Courier New" pitchFamily="34" charset="-122"/>
                <a:cs typeface="Courier New" pitchFamily="34" charset="-120"/>
              </a:rPr>
              <a:t>1.22L</a:t>
            </a:r>
            <a:endParaRPr kumimoji="0" lang="en-US" sz="42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78189" y="4957163"/>
            <a:ext cx="3782082" cy="7704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45C4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 cash-ledger payers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73837" y="3953688"/>
            <a:ext cx="2333472" cy="125194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25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AB45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</a:t>
            </a: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AB451A"/>
                </a:solidFill>
                <a:effectLst/>
                <a:uLnTx/>
                <a:uFillTx/>
                <a:latin typeface="Calibri" panose="020F0502020204030204"/>
                <a:ea typeface="Courier New" pitchFamily="34" charset="-122"/>
                <a:cs typeface="Courier New" pitchFamily="34" charset="-120"/>
              </a:rPr>
              <a:t>194</a:t>
            </a:r>
            <a:r>
              <a: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AB45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</a:t>
            </a:r>
            <a:endParaRPr kumimoji="0" lang="en-US" sz="4267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19657" y="4949678"/>
            <a:ext cx="3241831" cy="81435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45C4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Cash-ledger payment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69400" y="11370055"/>
            <a:ext cx="6506964" cy="2026355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69400" y="13375886"/>
            <a:ext cx="6474222" cy="20524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45871" y="5873275"/>
            <a:ext cx="14154609" cy="45719"/>
          </a:xfrm>
          <a:prstGeom prst="rect">
            <a:avLst/>
          </a:prstGeom>
          <a:solidFill>
            <a:srgbClr val="C99A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41401" y="6105083"/>
            <a:ext cx="6506964" cy="54388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0" cap="none" spc="100" normalizeH="0" baseline="0" noProof="0" dirty="0">
                <a:ln>
                  <a:noFill/>
                </a:ln>
                <a:solidFill>
                  <a:srgbClr val="8C672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77867" y="8713471"/>
            <a:ext cx="501253" cy="63623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>
                <a:ln>
                  <a:noFill/>
                </a:ln>
                <a:solidFill>
                  <a:srgbClr val="AB45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kumimoji="0" lang="en-US" sz="21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30116" y="6640404"/>
            <a:ext cx="12682493" cy="63623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GSTN not able to provide any information related to the above anomaly.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DoR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22E2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 has been requested for further classification and necessary details.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77867" y="9595992"/>
            <a:ext cx="501253" cy="636236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>
                <a:ln>
                  <a:noFill/>
                </a:ln>
                <a:solidFill>
                  <a:srgbClr val="AB451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kumimoji="0" lang="en-US" sz="21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3037" y="7570010"/>
            <a:ext cx="6242779" cy="1299175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srgbClr val="322E25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2000" y="8631767"/>
            <a:ext cx="14732000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16599" y="8758767"/>
            <a:ext cx="2634655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7" b="0" i="0" u="none" strike="noStrike" kern="0" cap="none" spc="35" normalizeH="0" baseline="0" noProof="0">
                <a:ln>
                  <a:noFill/>
                </a:ln>
                <a:solidFill>
                  <a:srgbClr val="837962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SECRETARY REVENUE · CLARIFICATIONS</a:t>
            </a:r>
            <a:endParaRPr kumimoji="0" lang="en-US" sz="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50440" y="14517303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7" b="0" i="0" u="none" strike="noStrike" kern="0" cap="none" spc="35" normalizeH="0" baseline="0" noProof="0">
                <a:ln>
                  <a:noFill/>
                </a:ln>
                <a:solidFill>
                  <a:srgbClr val="837962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38</a:t>
            </a:r>
            <a:endParaRPr kumimoji="0" lang="en-US" sz="8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EBFE-4C20-E349-77B6-4E1DAE52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B13D47D-768B-0920-310C-E35FF5D6EA53}"/>
              </a:ext>
            </a:extLst>
          </p:cNvPr>
          <p:cNvSpPr/>
          <p:nvPr/>
        </p:nvSpPr>
        <p:spPr>
          <a:xfrm>
            <a:off x="465340" y="54075"/>
            <a:ext cx="16205200" cy="60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Other Departmental Progress: Scrutiny, Recovery &amp; Audit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2922E48-1602-1C2C-42B8-5FABD89C13CC}"/>
              </a:ext>
            </a:extLst>
          </p:cNvPr>
          <p:cNvSpPr/>
          <p:nvPr/>
        </p:nvSpPr>
        <p:spPr>
          <a:xfrm>
            <a:off x="762000" y="8631767"/>
            <a:ext cx="14732000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BC489E7-1025-5D2E-CC27-C28BEA36567D}"/>
              </a:ext>
            </a:extLst>
          </p:cNvPr>
          <p:cNvSpPr/>
          <p:nvPr/>
        </p:nvSpPr>
        <p:spPr>
          <a:xfrm>
            <a:off x="7740518" y="8758767"/>
            <a:ext cx="3022031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DETECTION, SCRUTINY, AUDIT &amp; LITIGATION</a:t>
            </a:r>
            <a:endParaRPr lang="en-US" sz="867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94B0192-4F3D-AFBE-F5C2-B7BB496D2E26}"/>
              </a:ext>
            </a:extLst>
          </p:cNvPr>
          <p:cNvSpPr/>
          <p:nvPr/>
        </p:nvSpPr>
        <p:spPr>
          <a:xfrm>
            <a:off x="15000818" y="8758767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38</a:t>
            </a:r>
            <a:endParaRPr lang="en-US" sz="867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814CCE-93FD-0BEB-CF03-470BB4F21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87204"/>
              </p:ext>
            </p:extLst>
          </p:nvPr>
        </p:nvGraphicFramePr>
        <p:xfrm>
          <a:off x="641435" y="981739"/>
          <a:ext cx="14732001" cy="1737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136736">
                  <a:extLst>
                    <a:ext uri="{9D8B030D-6E8A-4147-A177-3AD203B41FA5}">
                      <a16:colId xmlns:a16="http://schemas.microsoft.com/office/drawing/2014/main" val="2679888844"/>
                    </a:ext>
                  </a:extLst>
                </a:gridCol>
                <a:gridCol w="3904342">
                  <a:extLst>
                    <a:ext uri="{9D8B030D-6E8A-4147-A177-3AD203B41FA5}">
                      <a16:colId xmlns:a16="http://schemas.microsoft.com/office/drawing/2014/main" val="3345356975"/>
                    </a:ext>
                  </a:extLst>
                </a:gridCol>
                <a:gridCol w="4690923">
                  <a:extLst>
                    <a:ext uri="{9D8B030D-6E8A-4147-A177-3AD203B41FA5}">
                      <a16:colId xmlns:a16="http://schemas.microsoft.com/office/drawing/2014/main" val="396270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Particulars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FY25-26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FY26-27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34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/>
                        <a:t>Cases Taken Up for Scrutiny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25,225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34,401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28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/>
                        <a:t>Revenue Recovery (Overall), Cr.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129.91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30979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089208-7575-DF10-AC5E-DB2BCE279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49047"/>
              </p:ext>
            </p:extLst>
          </p:nvPr>
        </p:nvGraphicFramePr>
        <p:xfrm>
          <a:off x="714005" y="3221100"/>
          <a:ext cx="14657115" cy="479427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931423">
                  <a:extLst>
                    <a:ext uri="{9D8B030D-6E8A-4147-A177-3AD203B41FA5}">
                      <a16:colId xmlns:a16="http://schemas.microsoft.com/office/drawing/2014/main" val="2995165784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3889133695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899508513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907225249"/>
                    </a:ext>
                  </a:extLst>
                </a:gridCol>
                <a:gridCol w="2931423">
                  <a:extLst>
                    <a:ext uri="{9D8B030D-6E8A-4147-A177-3AD203B41FA5}">
                      <a16:colId xmlns:a16="http://schemas.microsoft.com/office/drawing/2014/main" val="4061467591"/>
                    </a:ext>
                  </a:extLst>
                </a:gridCol>
              </a:tblGrid>
              <a:tr h="863509">
                <a:tc rowSpan="2">
                  <a:txBody>
                    <a:bodyPr/>
                    <a:lstStyle/>
                    <a:p>
                      <a:pPr algn="ctr"/>
                      <a:r>
                        <a:rPr lang="en-US" sz="3600">
                          <a:solidFill>
                            <a:schemeClr val="bg1"/>
                          </a:solidFill>
                        </a:rPr>
                        <a:t>Audit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FY25-26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FY26-27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599218"/>
                  </a:ext>
                </a:extLst>
              </a:tr>
              <a:tr h="64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bg1"/>
                          </a:solidFill>
                        </a:rPr>
                        <a:t>Cases Disposed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bg1"/>
                          </a:solidFill>
                        </a:rPr>
                        <a:t>Revenue </a:t>
                      </a:r>
                      <a:r>
                        <a:rPr lang="en-US" sz="3200" b="1" err="1">
                          <a:solidFill>
                            <a:schemeClr val="bg1"/>
                          </a:solidFill>
                        </a:rPr>
                        <a:t>Realised</a:t>
                      </a:r>
                      <a:endParaRPr lang="en-US" sz="3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bg1"/>
                          </a:solidFill>
                        </a:rPr>
                        <a:t>Cases Disposed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Revenue </a:t>
                      </a:r>
                      <a:r>
                        <a:rPr lang="en-US" sz="3200" b="1" dirty="0" err="1">
                          <a:solidFill>
                            <a:schemeClr val="bg1"/>
                          </a:solidFill>
                        </a:rPr>
                        <a:t>Realised</a:t>
                      </a:r>
                      <a:endParaRPr 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90117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/>
                        <a:t>April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2.76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5.67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00300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/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6.10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9.03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513247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/>
                        <a:t>June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7.44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15596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3200" dirty="0"/>
                        <a:t>July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5.58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13.81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75612"/>
                  </a:ext>
                </a:extLst>
              </a:tr>
              <a:tr h="547484">
                <a:tc>
                  <a:txBody>
                    <a:bodyPr/>
                    <a:lstStyle/>
                    <a:p>
                      <a:r>
                        <a:rPr lang="en-US" sz="2800" b="1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528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21.87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809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36.49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156226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44EBB9DB-CFA4-4B34-D295-9E58309F6309}"/>
              </a:ext>
            </a:extLst>
          </p:cNvPr>
          <p:cNvGrpSpPr/>
          <p:nvPr/>
        </p:nvGrpSpPr>
        <p:grpSpPr>
          <a:xfrm>
            <a:off x="694265" y="8051801"/>
            <a:ext cx="14306553" cy="579966"/>
            <a:chOff x="694265" y="7667304"/>
            <a:chExt cx="14306553" cy="964463"/>
          </a:xfrm>
        </p:grpSpPr>
        <p:sp>
          <p:nvSpPr>
            <p:cNvPr id="19" name="Shape 51">
              <a:extLst>
                <a:ext uri="{FF2B5EF4-FFF2-40B4-BE49-F238E27FC236}">
                  <a16:creationId xmlns:a16="http://schemas.microsoft.com/office/drawing/2014/main" id="{08DA4EAE-5615-F775-3099-CEC6D015AA1F}"/>
                </a:ext>
              </a:extLst>
            </p:cNvPr>
            <p:cNvSpPr/>
            <p:nvPr/>
          </p:nvSpPr>
          <p:spPr>
            <a:xfrm>
              <a:off x="694265" y="7667304"/>
              <a:ext cx="14306553" cy="964463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9525">
              <a:solidFill>
                <a:srgbClr val="DDD4C2"/>
              </a:solidFill>
              <a:prstDash val="solid"/>
            </a:ln>
            <a:effectLst>
              <a:outerShdw blurRad="28575" dist="9525" dir="5400000" algn="bl" rotWithShape="0">
                <a:srgbClr val="1C1A15">
                  <a:alpha val="8000"/>
                </a:srgbClr>
              </a:outerShdw>
            </a:effectLst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20" name="Text 52">
              <a:extLst>
                <a:ext uri="{FF2B5EF4-FFF2-40B4-BE49-F238E27FC236}">
                  <a16:creationId xmlns:a16="http://schemas.microsoft.com/office/drawing/2014/main" id="{A467C3B6-61CB-D4C8-3D62-B543DABD13CD}"/>
                </a:ext>
              </a:extLst>
            </p:cNvPr>
            <p:cNvSpPr/>
            <p:nvPr/>
          </p:nvSpPr>
          <p:spPr>
            <a:xfrm>
              <a:off x="1562421" y="7738362"/>
              <a:ext cx="12889968" cy="81365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33333"/>
                </a:lnSpc>
                <a:buNone/>
              </a:pPr>
              <a:r>
                <a:rPr lang="en-US" sz="2000" b="1">
                  <a:solidFill>
                    <a:srgbClr val="4A44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Cases selected based on high-risk parameters and large taxpayers (above ₹10 Cr).</a:t>
              </a:r>
              <a:endParaRPr lang="en-US" sz="2000" b="1"/>
            </a:p>
          </p:txBody>
        </p:sp>
      </p:grpSp>
    </p:spTree>
    <p:extLst>
      <p:ext uri="{BB962C8B-B14F-4D97-AF65-F5344CB8AC3E}">
        <p14:creationId xmlns:p14="http://schemas.microsoft.com/office/powerpoint/2010/main" val="3898232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309439"/>
            <a:ext cx="16205200" cy="60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>
                <a:solidFill>
                  <a:srgbClr val="1A3257"/>
                </a:solidFill>
                <a:latin typeface="Georgia" pitchFamily="34" charset="0"/>
              </a:rPr>
              <a:t>Litigations</a:t>
            </a:r>
          </a:p>
        </p:txBody>
      </p:sp>
      <p:sp>
        <p:nvSpPr>
          <p:cNvPr id="4" name="Shape 2"/>
          <p:cNvSpPr/>
          <p:nvPr/>
        </p:nvSpPr>
        <p:spPr>
          <a:xfrm>
            <a:off x="829734" y="1096674"/>
            <a:ext cx="14732000" cy="680845"/>
          </a:xfrm>
          <a:prstGeom prst="roundRect">
            <a:avLst>
              <a:gd name="adj" fmla="val 17094"/>
            </a:avLst>
          </a:prstGeom>
          <a:solidFill>
            <a:srgbClr val="ECF6EF"/>
          </a:solidFill>
          <a:ln w="9525">
            <a:solidFill>
              <a:srgbClr val="A6D6B5"/>
            </a:solidFill>
            <a:prstDash val="solid"/>
          </a:ln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3734" y="1230987"/>
            <a:ext cx="7303346" cy="28223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defTabSz="812810">
              <a:lnSpc>
                <a:spcPct val="132353"/>
              </a:lnSpc>
              <a:defRPr/>
            </a:pPr>
            <a:r>
              <a:rPr lang="en-US" sz="1778" b="1" kern="0" spc="60" dirty="0">
                <a:solidFill>
                  <a:srgbClr val="145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FOR PANEL LAWYERS RECEIVED FOR -</a:t>
            </a:r>
            <a:endParaRPr lang="en-US" sz="177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39573" y="1183079"/>
            <a:ext cx="991358" cy="18579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defTabSz="812810">
              <a:lnSpc>
                <a:spcPct val="129545"/>
              </a:lnSpc>
              <a:defRPr/>
            </a:pPr>
            <a:r>
              <a:rPr lang="en-US" sz="2489" b="1" dirty="0">
                <a:solidFill>
                  <a:srgbClr val="1A3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NCLT</a:t>
            </a:r>
            <a:endParaRPr lang="en-US" sz="24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2361314"/>
            <a:ext cx="8656373" cy="497540"/>
          </a:xfrm>
          <a:prstGeom prst="rect">
            <a:avLst/>
          </a:prstGeom>
          <a:solidFill>
            <a:srgbClr val="1F3F7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0533" y="2466059"/>
            <a:ext cx="6182843" cy="334604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— Permission Pending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752" y="2466059"/>
            <a:ext cx="2259088" cy="334604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Cases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3350575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0533" y="2963599"/>
            <a:ext cx="6182843" cy="34042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 dirty="0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Supreme Court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752" y="2963599"/>
            <a:ext cx="2259088" cy="34042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421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3362212"/>
            <a:ext cx="8656373" cy="509179"/>
          </a:xfrm>
          <a:prstGeom prst="rect">
            <a:avLst/>
          </a:prstGeom>
          <a:solidFill>
            <a:srgbClr val="FAF7F1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3859754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0533" y="3466957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Rajasthan High Court — Jodhpur (Principal Seat)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0752" y="3466957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535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4368932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0533" y="3976136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Rajasthan High Court — Jaipur Bench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752" y="3976136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 b="1">
                <a:solidFill>
                  <a:srgbClr val="8A3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1,609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4380570"/>
            <a:ext cx="8656373" cy="509179"/>
          </a:xfrm>
          <a:prstGeom prst="rect">
            <a:avLst/>
          </a:prstGeom>
          <a:solidFill>
            <a:srgbClr val="FAF7F1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2000" y="4878111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0533" y="4485316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RCSAT Court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752" y="4485316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5387289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0533" y="4994494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State High Courts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40752" y="4994494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2000" y="5398926"/>
            <a:ext cx="8656373" cy="509179"/>
          </a:xfrm>
          <a:prstGeom prst="rect">
            <a:avLst/>
          </a:prstGeom>
          <a:solidFill>
            <a:srgbClr val="FAF7F1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62000" y="5896467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0533" y="5503671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Offences Court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40752" y="5503671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2000" y="6405646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0533" y="6012850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Board &amp; Revenue Board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40752" y="6012850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000" y="6417284"/>
            <a:ext cx="8656373" cy="509179"/>
          </a:xfrm>
          <a:prstGeom prst="rect">
            <a:avLst/>
          </a:prstGeom>
          <a:solidFill>
            <a:srgbClr val="FAF7F1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62000" y="6914825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0533" y="6522029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GSTAT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40752" y="6522029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2000" y="7429822"/>
            <a:ext cx="8656373" cy="11638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80533" y="7031208"/>
            <a:ext cx="6182843" cy="3520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NCLT + NCLAT + CSTAA + CESTAT + Others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40752" y="7031208"/>
            <a:ext cx="2259088" cy="352060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>
                <a:solidFill>
                  <a:srgbClr val="322E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2000" y="7441460"/>
            <a:ext cx="8656373" cy="555732"/>
          </a:xfrm>
          <a:prstGeom prst="rect">
            <a:avLst/>
          </a:prstGeom>
          <a:solidFill>
            <a:srgbClr val="FDF3EC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62000" y="7441460"/>
            <a:ext cx="8656373" cy="23276"/>
          </a:xfrm>
          <a:prstGeom prst="rect">
            <a:avLst/>
          </a:prstGeom>
          <a:solidFill>
            <a:srgbClr val="C8551F"/>
          </a:solidFill>
          <a:ln/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0533" y="7569482"/>
            <a:ext cx="6182843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defTabSz="812810">
              <a:lnSpc>
                <a:spcPct val="130263"/>
              </a:lnSpc>
              <a:defRPr/>
            </a:pPr>
            <a:r>
              <a:rPr lang="en-US" sz="2133" b="1">
                <a:solidFill>
                  <a:srgbClr val="1A32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040752" y="7569482"/>
            <a:ext cx="2259088" cy="346242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ctr">
            <a:noAutofit/>
          </a:bodyPr>
          <a:lstStyle/>
          <a:p>
            <a:pPr algn="r" defTabSz="812810">
              <a:lnSpc>
                <a:spcPct val="130263"/>
              </a:lnSpc>
              <a:defRPr/>
            </a:pPr>
            <a:r>
              <a:rPr lang="en-US" sz="2133" b="1">
                <a:solidFill>
                  <a:srgbClr val="8A3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3,195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934765" y="6094078"/>
            <a:ext cx="5770827" cy="1906043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DD4C2"/>
            </a:solidFill>
            <a:prstDash val="solid"/>
          </a:ln>
          <a:effectLst>
            <a:outerShdw blurRad="28575" dist="9525" dir="5400000" algn="bl" rotWithShape="0">
              <a:srgbClr val="1C1A15">
                <a:alpha val="8000"/>
              </a:srgbClr>
            </a:outerShdw>
          </a:effectLst>
        </p:spPr>
        <p:txBody>
          <a:bodyPr/>
          <a:lstStyle/>
          <a:p>
            <a:pPr defTabSz="812810">
              <a:defRPr/>
            </a:pPr>
            <a:endParaRPr lang="en-IN" sz="3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246681" y="6236734"/>
            <a:ext cx="5882244" cy="290959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defTabSz="812810">
              <a:lnSpc>
                <a:spcPct val="131250"/>
              </a:lnSpc>
              <a:defRPr/>
            </a:pPr>
            <a:r>
              <a:rPr lang="en-US" sz="1600" b="1" kern="0" spc="93" dirty="0">
                <a:solidFill>
                  <a:srgbClr val="1F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APPELLATE AUTHORITIES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260726" y="6616612"/>
            <a:ext cx="827708" cy="509178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Autofit/>
          </a:bodyPr>
          <a:lstStyle/>
          <a:p>
            <a:pPr defTabSz="812810">
              <a:lnSpc>
                <a:spcPct val="135484"/>
              </a:lnSpc>
              <a:defRPr/>
            </a:pPr>
            <a:r>
              <a:rPr lang="en-US" sz="3556" b="1" dirty="0">
                <a:solidFill>
                  <a:srgbClr val="1A3257"/>
                </a:solidFill>
                <a:latin typeface="Courier New" pitchFamily="34" charset="0"/>
                <a:cs typeface="Courier New" pitchFamily="34" charset="-120"/>
              </a:rPr>
              <a:t>10</a:t>
            </a:r>
            <a:endParaRPr lang="en-US" sz="35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982237" y="6840313"/>
            <a:ext cx="4687956" cy="1120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2578" tIns="22578" rIns="22578" bIns="22578" rtlCol="0" anchor="t">
            <a:normAutofit fontScale="92500" lnSpcReduction="20000"/>
          </a:bodyPr>
          <a:lstStyle/>
          <a:p>
            <a:pPr defTabSz="812810">
              <a:lnSpc>
                <a:spcPct val="123529"/>
              </a:lnSpc>
              <a:defRPr/>
            </a:pPr>
            <a:r>
              <a:rPr lang="en-US" sz="2400" dirty="0">
                <a:solidFill>
                  <a:srgbClr val="4A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Commissioners handling cases with the 1st Appellate Authorities – </a:t>
            </a:r>
            <a:r>
              <a:rPr lang="en-US" sz="2400" b="1" dirty="0">
                <a:solidFill>
                  <a:srgbClr val="4A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15359</a:t>
            </a: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62000" y="8904768"/>
            <a:ext cx="14732000" cy="8467"/>
          </a:xfrm>
          <a:prstGeom prst="rect">
            <a:avLst/>
          </a:prstGeom>
          <a:solidFill>
            <a:srgbClr val="DDD4C2"/>
          </a:solidFill>
          <a:ln/>
        </p:spPr>
        <p:txBody>
          <a:bodyPr/>
          <a:lstStyle/>
          <a:p>
            <a:pPr defTabSz="812810">
              <a:defRPr/>
            </a:pPr>
            <a:endParaRPr lang="en-IN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5000818" y="9031768"/>
            <a:ext cx="560916" cy="198967"/>
          </a:xfrm>
          <a:prstGeom prst="rect">
            <a:avLst/>
          </a:prstGeom>
          <a:noFill/>
          <a:ln/>
        </p:spPr>
        <p:txBody>
          <a:bodyPr wrap="square" lIns="22578" tIns="22578" rIns="22578" bIns="22578" rtlCol="0" anchor="t">
            <a:normAutofit lnSpcReduction="10000"/>
          </a:bodyPr>
          <a:lstStyle/>
          <a:p>
            <a:pPr defTabSz="812810">
              <a:lnSpc>
                <a:spcPct val="130000"/>
              </a:lnSpc>
              <a:defRPr/>
            </a:pPr>
            <a:r>
              <a:rPr lang="en-US" sz="867" kern="0" spc="35">
                <a:solidFill>
                  <a:srgbClr val="8379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38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2">
            <a:extLst>
              <a:ext uri="{FF2B5EF4-FFF2-40B4-BE49-F238E27FC236}">
                <a16:creationId xmlns:a16="http://schemas.microsoft.com/office/drawing/2014/main" id="{4B2A6CBF-F341-B1AE-06F3-2CECF41AD16A}"/>
              </a:ext>
            </a:extLst>
          </p:cNvPr>
          <p:cNvSpPr/>
          <p:nvPr/>
        </p:nvSpPr>
        <p:spPr>
          <a:xfrm>
            <a:off x="9934765" y="2355631"/>
            <a:ext cx="5770827" cy="3540836"/>
          </a:xfrm>
          <a:prstGeom prst="roundRect">
            <a:avLst>
              <a:gd name="adj" fmla="val 1709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pPr defTabSz="812810"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FOR PANEL LAWYERS PENDING FOR:</a:t>
            </a:r>
          </a:p>
          <a:p>
            <a:pPr defTabSz="812810">
              <a:defRPr/>
            </a:pPr>
            <a:endParaRPr lang="en-US" sz="2000" b="1" kern="0" spc="60">
              <a:solidFill>
                <a:schemeClr val="accent2">
                  <a:lumMod val="7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Revenue Board</a:t>
            </a:r>
          </a:p>
          <a:p>
            <a:pPr marL="342900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GSTAT</a:t>
            </a:r>
          </a:p>
          <a:p>
            <a:pPr marL="342900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NCLAT</a:t>
            </a:r>
          </a:p>
          <a:p>
            <a:pPr marL="342900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CSTAA</a:t>
            </a:r>
          </a:p>
          <a:p>
            <a:pPr marL="342900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CESTAT</a:t>
            </a:r>
          </a:p>
          <a:p>
            <a:pPr marL="342900" indent="-342900" defTabSz="812810">
              <a:buFont typeface="Arial" panose="020B0604020202020204" pitchFamily="34" charset="0"/>
              <a:buChar char="•"/>
              <a:defRPr/>
            </a:pPr>
            <a:r>
              <a:rPr lang="en-US" sz="2000" b="1" kern="0" spc="6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Rajasthan High Court – Single Bench</a:t>
            </a:r>
            <a:endParaRPr lang="en-IN" sz="2000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3113</Words>
  <Application>Microsoft Office PowerPoint</Application>
  <PresentationFormat>Custom</PresentationFormat>
  <Paragraphs>839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Aptos</vt:lpstr>
      <vt:lpstr>Aptos Narrow</vt:lpstr>
      <vt:lpstr>Arial</vt:lpstr>
      <vt:lpstr>Calibri</vt:lpstr>
      <vt:lpstr>Calibri Light</vt:lpstr>
      <vt:lpstr>Cambria</vt:lpstr>
      <vt:lpstr>Courier New</vt:lpstr>
      <vt:lpstr>Georgia</vt:lpstr>
      <vt:lpstr>Office Theme</vt:lpstr>
      <vt:lpstr>2_Office Theme</vt:lpstr>
      <vt:lpstr>3_Office Theme</vt:lpstr>
      <vt:lpstr>4_Office Theme</vt:lpstr>
      <vt:lpstr>GST &amp; VAT Revenue Apr to July</vt:lpstr>
      <vt:lpstr>Revenue &amp; Turnover Analysis Apr to July (2025 vs 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Inter-departmental data sources</vt:lpstr>
      <vt:lpstr>PowerPoint Presentation</vt:lpstr>
      <vt:lpstr>Inter-departmental data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Meeting with Secretary Revenue, GOI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</dc:creator>
  <cp:lastModifiedBy>Giri, Sanjay</cp:lastModifiedBy>
  <cp:revision>20</cp:revision>
  <cp:lastPrinted>2026-07-06T06:08:31Z</cp:lastPrinted>
  <dcterms:created xsi:type="dcterms:W3CDTF">2006-08-16T00:00:00Z</dcterms:created>
  <dcterms:modified xsi:type="dcterms:W3CDTF">2026-08-03T12:11:36Z</dcterms:modified>
</cp:coreProperties>
</file>