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3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1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72" r:id="rId2"/>
    <p:sldMasterId id="2147483696" r:id="rId3"/>
    <p:sldMasterId id="2147483709" r:id="rId4"/>
  </p:sldMasterIdLst>
  <p:notesMasterIdLst>
    <p:notesMasterId r:id="rId29"/>
  </p:notesMasterIdLst>
  <p:sldIdLst>
    <p:sldId id="2147476454" r:id="rId5"/>
    <p:sldId id="2147476456" r:id="rId6"/>
    <p:sldId id="2147476475" r:id="rId7"/>
    <p:sldId id="262" r:id="rId8"/>
    <p:sldId id="2147476467" r:id="rId9"/>
    <p:sldId id="2147476468" r:id="rId10"/>
    <p:sldId id="266" r:id="rId11"/>
    <p:sldId id="2147476464" r:id="rId12"/>
    <p:sldId id="2147476469" r:id="rId13"/>
    <p:sldId id="2147476474" r:id="rId14"/>
    <p:sldId id="2147476459" r:id="rId15"/>
    <p:sldId id="2146847309" r:id="rId16"/>
    <p:sldId id="257" r:id="rId17"/>
    <p:sldId id="2146847310" r:id="rId18"/>
    <p:sldId id="2147476471" r:id="rId19"/>
    <p:sldId id="2147476472" r:id="rId20"/>
    <p:sldId id="2147476473" r:id="rId21"/>
    <p:sldId id="275" r:id="rId22"/>
    <p:sldId id="256" r:id="rId23"/>
    <p:sldId id="2146847307" r:id="rId24"/>
    <p:sldId id="295" r:id="rId25"/>
    <p:sldId id="2147476476" r:id="rId26"/>
    <p:sldId id="2147476477" r:id="rId27"/>
    <p:sldId id="294" r:id="rId28"/>
  </p:sldIdLst>
  <p:sldSz cx="16256000" cy="9144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EC"/>
    <a:srgbClr val="FFFFFF"/>
    <a:srgbClr val="203864"/>
    <a:srgbClr val="C6EFCE"/>
    <a:srgbClr val="FFC7CE"/>
    <a:srgbClr val="C9DAF8"/>
    <a:srgbClr val="5B9BD5"/>
    <a:srgbClr val="153D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FEAC36-D205-4048-A843-675F1878E1AE}" v="733" dt="2026-08-03T11:11:19.094"/>
    <p1510:client id="{870ABBE9-5E35-4D45-8E91-E77F3B0AEC9A}" v="1206" dt="2026-08-03T10:47:56.6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447" autoAdjust="0"/>
  </p:normalViewPr>
  <p:slideViewPr>
    <p:cSldViewPr snapToGrid="0">
      <p:cViewPr>
        <p:scale>
          <a:sx n="42" d="100"/>
          <a:sy n="42" d="100"/>
        </p:scale>
        <p:origin x="976" y="2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34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Score</c:v>
                </c:pt>
              </c:strCache>
            </c:strRef>
          </c:tx>
          <c:spPr>
            <a:solidFill>
              <a:srgbClr val="E2685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F344-43ED-B174-7F6B2F742986}"/>
              </c:ext>
            </c:extLst>
          </c:dPt>
          <c:dPt>
            <c:idx val="1"/>
            <c:invertIfNegative val="0"/>
            <c:bubble3D val="0"/>
            <c:spPr>
              <a:solidFill>
                <a:srgbClr val="ED887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344-43ED-B174-7F6B2F742986}"/>
              </c:ext>
            </c:extLst>
          </c:dPt>
          <c:dPt>
            <c:idx val="2"/>
            <c:invertIfNegative val="0"/>
            <c:bubble3D val="0"/>
            <c:spPr>
              <a:solidFill>
                <a:srgbClr val="EE986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F344-43ED-B174-7F6B2F742986}"/>
              </c:ext>
            </c:extLst>
          </c:dPt>
          <c:dPt>
            <c:idx val="3"/>
            <c:invertIfNegative val="0"/>
            <c:bubble3D val="0"/>
            <c:spPr>
              <a:solidFill>
                <a:srgbClr val="EFA7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F344-43ED-B174-7F6B2F742986}"/>
              </c:ext>
            </c:extLst>
          </c:dPt>
          <c:dPt>
            <c:idx val="4"/>
            <c:invertIfNegative val="0"/>
            <c:bubble3D val="0"/>
            <c:spPr>
              <a:solidFill>
                <a:srgbClr val="F0B9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F344-43ED-B174-7F6B2F742986}"/>
              </c:ext>
            </c:extLst>
          </c:dPt>
          <c:dPt>
            <c:idx val="5"/>
            <c:invertIfNegative val="0"/>
            <c:bubble3D val="0"/>
            <c:spPr>
              <a:solidFill>
                <a:srgbClr val="F0C6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F344-43ED-B174-7F6B2F742986}"/>
              </c:ext>
            </c:extLst>
          </c:dPt>
          <c:dPt>
            <c:idx val="6"/>
            <c:invertIfNegative val="0"/>
            <c:bubble3D val="0"/>
            <c:spPr>
              <a:solidFill>
                <a:srgbClr val="F0C6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F344-43ED-B174-7F6B2F742986}"/>
              </c:ext>
            </c:extLst>
          </c:dPt>
          <c:dPt>
            <c:idx val="7"/>
            <c:invertIfNegative val="0"/>
            <c:bubble3D val="0"/>
            <c:spPr>
              <a:solidFill>
                <a:srgbClr val="F0C6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F344-43ED-B174-7F6B2F742986}"/>
              </c:ext>
            </c:extLst>
          </c:dPt>
          <c:dPt>
            <c:idx val="8"/>
            <c:invertIfNegative val="0"/>
            <c:bubble3D val="0"/>
            <c:spPr>
              <a:solidFill>
                <a:srgbClr val="EBCE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F344-43ED-B174-7F6B2F742986}"/>
              </c:ext>
            </c:extLst>
          </c:dPt>
          <c:dPt>
            <c:idx val="9"/>
            <c:invertIfNegative val="0"/>
            <c:bubble3D val="0"/>
            <c:spPr>
              <a:solidFill>
                <a:srgbClr val="DFD26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F344-43ED-B174-7F6B2F742986}"/>
              </c:ext>
            </c:extLst>
          </c:dPt>
          <c:dPt>
            <c:idx val="10"/>
            <c:invertIfNegative val="0"/>
            <c:bubble3D val="0"/>
            <c:spPr>
              <a:solidFill>
                <a:srgbClr val="CBD26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5-F344-43ED-B174-7F6B2F742986}"/>
              </c:ext>
            </c:extLst>
          </c:dPt>
          <c:dPt>
            <c:idx val="11"/>
            <c:invertIfNegative val="0"/>
            <c:bubble3D val="0"/>
            <c:spPr>
              <a:solidFill>
                <a:srgbClr val="B9CE6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7-F344-43ED-B174-7F6B2F742986}"/>
              </c:ext>
            </c:extLst>
          </c:dPt>
          <c:dPt>
            <c:idx val="12"/>
            <c:invertIfNegative val="0"/>
            <c:bubble3D val="0"/>
            <c:spPr>
              <a:solidFill>
                <a:srgbClr val="83BE5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9-F344-43ED-B174-7F6B2F742986}"/>
              </c:ext>
            </c:extLst>
          </c:dPt>
          <c:dPt>
            <c:idx val="13"/>
            <c:invertIfNegative val="0"/>
            <c:bubble3D val="0"/>
            <c:spPr>
              <a:solidFill>
                <a:srgbClr val="5CAA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B-F344-43ED-B174-7F6B2F742986}"/>
              </c:ext>
            </c:extLst>
          </c:dPt>
          <c:dPt>
            <c:idx val="14"/>
            <c:invertIfNegative val="0"/>
            <c:bubble3D val="0"/>
            <c:spPr>
              <a:solidFill>
                <a:srgbClr val="3E914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D-F344-43ED-B174-7F6B2F742986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3A3A3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Sheet1!$A$2:$A$16</c:f>
              <c:strCache>
                <c:ptCount val="15"/>
                <c:pt idx="0">
                  <c:v>Uttarakhand</c:v>
                </c:pt>
                <c:pt idx="1">
                  <c:v>Odisha</c:v>
                </c:pt>
                <c:pt idx="2">
                  <c:v>Madhya Pradesh</c:v>
                </c:pt>
                <c:pt idx="3">
                  <c:v>Punjab</c:v>
                </c:pt>
                <c:pt idx="4">
                  <c:v>Andhra Pradesh</c:v>
                </c:pt>
                <c:pt idx="5">
                  <c:v>Tamil Nadu</c:v>
                </c:pt>
                <c:pt idx="6">
                  <c:v>Haryana</c:v>
                </c:pt>
                <c:pt idx="7">
                  <c:v>Karnataka</c:v>
                </c:pt>
                <c:pt idx="8">
                  <c:v>Kerala</c:v>
                </c:pt>
                <c:pt idx="9">
                  <c:v>Uttar Pradesh</c:v>
                </c:pt>
                <c:pt idx="10">
                  <c:v>West Bengal</c:v>
                </c:pt>
                <c:pt idx="11">
                  <c:v>Himachal Pradesh</c:v>
                </c:pt>
                <c:pt idx="12">
                  <c:v>Rajasthan</c:v>
                </c:pt>
                <c:pt idx="13">
                  <c:v>Maharashtra</c:v>
                </c:pt>
                <c:pt idx="14">
                  <c:v>Gujarat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47.2</c:v>
                </c:pt>
                <c:pt idx="1">
                  <c:v>48.6</c:v>
                </c:pt>
                <c:pt idx="2">
                  <c:v>48.8</c:v>
                </c:pt>
                <c:pt idx="3">
                  <c:v>49</c:v>
                </c:pt>
                <c:pt idx="4">
                  <c:v>49.9</c:v>
                </c:pt>
                <c:pt idx="5">
                  <c:v>50</c:v>
                </c:pt>
                <c:pt idx="6">
                  <c:v>50</c:v>
                </c:pt>
                <c:pt idx="7">
                  <c:v>50</c:v>
                </c:pt>
                <c:pt idx="8">
                  <c:v>50.4</c:v>
                </c:pt>
                <c:pt idx="9">
                  <c:v>50.9</c:v>
                </c:pt>
                <c:pt idx="10">
                  <c:v>52.2</c:v>
                </c:pt>
                <c:pt idx="11">
                  <c:v>52.6</c:v>
                </c:pt>
                <c:pt idx="12">
                  <c:v>56.9</c:v>
                </c:pt>
                <c:pt idx="13">
                  <c:v>58.4</c:v>
                </c:pt>
                <c:pt idx="14">
                  <c:v>60.8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F344-43ED-B174-7F6B2F74298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1984101872"/>
        <c:axId val="1984099696"/>
      </c:barChart>
      <c:catAx>
        <c:axId val="1984101872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800" b="1" i="0" u="none" strike="noStrike">
                <a:solidFill>
                  <a:srgbClr val="3A3A3A"/>
                </a:solidFill>
                <a:latin typeface="Arial"/>
              </a:defRPr>
            </a:pPr>
            <a:endParaRPr lang="en-US"/>
          </a:p>
        </c:txPr>
        <c:crossAx val="1984099696"/>
        <c:crosses val="autoZero"/>
        <c:auto val="1"/>
        <c:lblAlgn val="ctr"/>
        <c:lblOffset val="100"/>
        <c:noMultiLvlLbl val="1"/>
      </c:catAx>
      <c:valAx>
        <c:axId val="1984099696"/>
        <c:scaling>
          <c:orientation val="minMax"/>
          <c:max val="64"/>
          <c:min val="44"/>
        </c:scaling>
        <c:delete val="1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crossAx val="1984101872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7BDBFF0-9B31-47FC-B3E7-AC72EF3ED1D1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9AEF6856-C239-4AE7-ACEC-CFB04ED7CD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22902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EF6856-C239-4AE7-ACEC-CFB04ED7CD3D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93792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Directions of HCM review, 9th July 2026: study best practices from AP and Gujarat.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Enforcement directions and progress on anti-evasion activities, FY2026-27.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C697F-D9E0-C459-FF55-023F4E3C0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FAC377-87BD-588A-191E-80091679EC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5F2819-6A94-3AF7-6DDF-DEADDDB504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2A1B02-4419-DF8B-4114-FCA75AA76C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EF6856-C239-4AE7-ACEC-CFB04ED7CD3D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49751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2E148-5526-7125-C16F-73E9E81C2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E401C3-52E7-D014-2F44-9BEC93BE9F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1E5CF9-9E96-D057-D51F-4F74B299D8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B6385C-32F6-FAF8-9971-D410C61EEE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EF6856-C239-4AE7-ACEC-CFB04ED7CD3D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156245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359D2-4C48-7A5F-53F7-56406BE8E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695B43-A883-A38D-DBDE-BBB4248D16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AAD4B7-42E9-4440-13C4-EFC3970B15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F3C48-9515-7A79-E568-EB733512E5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EF6856-C239-4AE7-ACEC-CFB04ED7CD3D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693412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9B79-D90E-DD2E-7190-4B80D258D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85901C-DA4E-8B7C-BFAB-DAB59D0524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631F6A-863E-3D53-B6D8-5718672F22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1C3EA7-2600-839A-DBE6-2BBAFA5BD5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EF6856-C239-4AE7-ACEC-CFB04ED7CD3D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89651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6A8FA-9A1A-6AF3-AE39-FF87748D1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23FB98-5BA9-4DB0-9613-4421A98DC7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07852E-2B53-F832-BD93-15626CFDE3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03276-AF8D-B15C-441A-4EF5B531EC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EF6856-C239-4AE7-ACEC-CFB04ED7CD3D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99231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5C799-7A5B-5319-BE63-DDED919CC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E5FC47-8703-C8CE-10C7-1AB7A2A24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2B8064-B64C-035C-CC38-57676B61B2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07E9F-B845-D844-7AFD-CAD0B375DF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95756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C7800-C7E6-8D49-9BF8-316C138AA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0A262E-7D9F-8B8E-436F-11953160B2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FDC15A-5382-4039-EC07-93C177CCFE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FAEADD-7C95-321B-222B-B3005B030D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72095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66232-F17E-15D6-E529-D55D26960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0B41F3-2182-6428-883D-949761A04F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695F10-4378-D646-BCF5-ADC57A67C5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41FBB6-E652-C519-0C41-3393A0AEFD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53284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Fake firm detection and revenue from intelligence reports; cleaning the taxpayer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C26C6-7917-35D1-96CE-9C804387C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D89485-A22F-8B66-7754-A764C9476C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4B1344-A0C9-77E3-45F4-C7985A66CF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921A9F-DDFE-81A1-1C93-2DDFB7558F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47716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4">
          <a:extLst>
            <a:ext uri="{FF2B5EF4-FFF2-40B4-BE49-F238E27FC236}">
              <a16:creationId xmlns:a16="http://schemas.microsoft.com/office/drawing/2014/main" id="{B7580E36-9E66-348C-70B6-1F6375A5C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18:notes">
            <a:extLst>
              <a:ext uri="{FF2B5EF4-FFF2-40B4-BE49-F238E27FC236}">
                <a16:creationId xmlns:a16="http://schemas.microsoft.com/office/drawing/2014/main" id="{EA92DDCB-38A2-F85A-2099-D1AA1BA240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636" name="Google Shape;636;p18:notes">
            <a:extLst>
              <a:ext uri="{FF2B5EF4-FFF2-40B4-BE49-F238E27FC236}">
                <a16:creationId xmlns:a16="http://schemas.microsoft.com/office/drawing/2014/main" id="{55F1FC28-9DFE-2A0A-3DE3-2C90725C02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2474913"/>
            <a:ext cx="7315200" cy="20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37" name="Google Shape;637;p18:notes">
            <a:extLst>
              <a:ext uri="{FF2B5EF4-FFF2-40B4-BE49-F238E27FC236}">
                <a16:creationId xmlns:a16="http://schemas.microsoft.com/office/drawing/2014/main" id="{777C43DD-1561-C570-103D-A3D32F67CB6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4886325"/>
            <a:ext cx="39624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000000-1234-1234-1234-12341234123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057411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2: anomaly-detected taxpayers paying lower tax vs peer band; current status.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759E0-81BE-1F9B-19D8-2DB5448AB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CB9A2F-129F-0366-25D3-191AA52C0D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DFD5F7-10AF-51C8-D016-3D7F17D414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Scrutiny and recovery directions and progress, including faceless scrutiny implementation.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9F946-1EF6-2803-EE21-D7051C7918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5117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Litigation status: panel lawyer permissions and cases pending across forums.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71035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32000" y="1496484"/>
            <a:ext cx="121920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2000" y="4802717"/>
            <a:ext cx="121920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16530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87493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9133" y="2279652"/>
            <a:ext cx="1402080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9133" y="6119285"/>
            <a:ext cx="1402080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951801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17600" y="2434167"/>
            <a:ext cx="69088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0" y="2434167"/>
            <a:ext cx="69088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0921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7" y="486834"/>
            <a:ext cx="1402080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9718" y="2241551"/>
            <a:ext cx="6877049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9718" y="3340100"/>
            <a:ext cx="6877049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29600" y="2241551"/>
            <a:ext cx="6910917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29600" y="3340100"/>
            <a:ext cx="6910917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71034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756912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980469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8" y="609600"/>
            <a:ext cx="52429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10917" y="1316567"/>
            <a:ext cx="8229600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9718" y="2743200"/>
            <a:ext cx="52429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55737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8" y="609600"/>
            <a:ext cx="52429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910917" y="1316567"/>
            <a:ext cx="8229600" cy="6498167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9718" y="2743200"/>
            <a:ext cx="52429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156815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481458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633200" y="486834"/>
            <a:ext cx="3505200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7600" y="486834"/>
            <a:ext cx="10312400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105039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70437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32000" y="1496484"/>
            <a:ext cx="121920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2000" y="4802717"/>
            <a:ext cx="121920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40696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100053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9133" y="2279652"/>
            <a:ext cx="1402080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9133" y="6119285"/>
            <a:ext cx="1402080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99470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17600" y="2434167"/>
            <a:ext cx="69088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0" y="2434167"/>
            <a:ext cx="69088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28168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7" y="486834"/>
            <a:ext cx="1402080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9718" y="2241551"/>
            <a:ext cx="6877049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9718" y="3340100"/>
            <a:ext cx="6877049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29600" y="2241551"/>
            <a:ext cx="6910917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29600" y="3340100"/>
            <a:ext cx="6910917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622765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677560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444137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8" y="609600"/>
            <a:ext cx="52429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10917" y="1316567"/>
            <a:ext cx="8229600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9718" y="2743200"/>
            <a:ext cx="52429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774981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8" y="609600"/>
            <a:ext cx="52429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910917" y="1316567"/>
            <a:ext cx="8229600" cy="6498167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9718" y="2743200"/>
            <a:ext cx="52429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64924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1_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359606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633200" y="486834"/>
            <a:ext cx="3505200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7600" y="486834"/>
            <a:ext cx="10312400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109418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45327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18B7B-7AEC-4C3E-AD65-6FCBA2723F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0" y="1496484"/>
            <a:ext cx="121920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F82E99-34D1-45CC-9EDE-FED2670F15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2000" y="4802717"/>
            <a:ext cx="121920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19DAAF-C8AF-400F-8545-7C53AFC8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B6D8C-00E0-4AA4-931B-95544CCF2419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7DC1F3-213A-4939-B948-37D4145A9E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E5426B-ED38-462E-B09D-C3E6F1041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0C2FF-3DF7-4A3A-90B9-7735C85F21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53752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2CCA3-A456-4773-8C62-B88111058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D9958E-92ED-4CDB-9571-B1C2D74F55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A4E33-CB45-4772-88B7-0B888FE1A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B6D8C-00E0-4AA4-931B-95544CCF2419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F2146B-D45F-4317-9282-C634EEA52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73E7A6-883B-4F15-91C4-03C9E7227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0C2FF-3DF7-4A3A-90B9-7735C85F21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856852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75A12-F472-4FAF-BE9A-D8DEE73680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9133" y="2279652"/>
            <a:ext cx="1402080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9EDF4A-C8F1-4B78-90BB-1BA74FB956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9133" y="6119285"/>
            <a:ext cx="1402080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FC6F42-B887-47A3-B11A-82F37794F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B6D8C-00E0-4AA4-931B-95544CCF2419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179741-E8B1-4BB9-871E-B98C19EFE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DD563-B61C-40DA-9EEF-AB11BBD53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0C2FF-3DF7-4A3A-90B9-7735C85F21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083334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1BDFF-D2C1-4735-B127-D9F849DA2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F7643-9E09-4BB5-9A26-2A9FA5A558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7600" y="2434167"/>
            <a:ext cx="69088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B26FD0-EC83-4913-836C-C963689E41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229600" y="2434167"/>
            <a:ext cx="69088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BC3461-BB84-440F-AEFC-C6CBD22359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B6D8C-00E0-4AA4-931B-95544CCF2419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E47CE6-8BC8-47F9-9052-89153701E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3D226B-CF20-4BB4-BB5F-ED3A93C8C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0C2FF-3DF7-4A3A-90B9-7735C85F21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9510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3A10F-6F75-4AD0-AC0C-02E3C051D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717" y="486834"/>
            <a:ext cx="1402080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175016-29FD-4E5D-A4B0-F715D0CFA0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9718" y="2241551"/>
            <a:ext cx="6877049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CE5871-8B88-4795-92D3-B32BB9ECBB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9718" y="3340100"/>
            <a:ext cx="6877049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FE7373-177B-45F5-A5DE-3580C66C29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29600" y="2241551"/>
            <a:ext cx="6910917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866F2E-E66A-4398-BB9F-B04F6F9D02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29600" y="3340100"/>
            <a:ext cx="6910917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D93509-337A-4250-AFF4-FF12D2BF1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B6D8C-00E0-4AA4-931B-95544CCF2419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9EA736-548C-4948-9481-F7872771D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08D10F-6586-4466-9A5C-6762E97FD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0C2FF-3DF7-4A3A-90B9-7735C85F21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406702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CCECF-9BAE-481E-9ED7-A2BE75BAE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894C36-CE09-4551-92FD-3F81B9821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B6D8C-00E0-4AA4-931B-95544CCF2419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3B5F8A-43A2-4036-88E1-D4606B95F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DC41BE-AFC1-4280-A4FC-F0955A842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0C2FF-3DF7-4A3A-90B9-7735C85F21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29482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0BEFEB-83A2-467D-AEB3-2E41287F1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B6D8C-00E0-4AA4-931B-95544CCF2419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1A4DA3C-80C0-416A-84CC-E564B00A3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61267B-66D8-47C9-9BD6-29B0A8FEA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0C2FF-3DF7-4A3A-90B9-7735C85F21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599160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BFF02-BC23-4646-A0FF-056866DCD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718" y="609600"/>
            <a:ext cx="52429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5E7B-D137-4C87-A1A6-A62FCFE17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0917" y="1316567"/>
            <a:ext cx="8229600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FA2179-F7F3-43FF-B8A9-0A1B49DB97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9718" y="2743200"/>
            <a:ext cx="52429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13049C-3E71-4337-8C72-80751A9F4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B6D8C-00E0-4AA4-931B-95544CCF2419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9C7EA4-32EF-4572-BD9F-263529895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FBAB82-1E39-4F13-8764-E8C8F1DA6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0C2FF-3DF7-4A3A-90B9-7735C85F21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421175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1A54C-1ABB-4AD7-9734-7F35ED44D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718" y="609600"/>
            <a:ext cx="52429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5B7AE8-C522-466C-AFE8-77B50B51FD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910917" y="1316567"/>
            <a:ext cx="8229600" cy="6498167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66414F-419C-48D9-BD0D-74C5ED2A46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9718" y="2743200"/>
            <a:ext cx="52429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6DDABC-EF81-4B41-8538-045E01BC2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B6D8C-00E0-4AA4-931B-95544CCF2419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829D66-9D60-4CDC-AB84-7B7BCAEE7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06EC0-FD78-4EE1-94BD-56B825521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0C2FF-3DF7-4A3A-90B9-7735C85F21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628365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25C0B-14C8-4428-ABBE-B32A1CF86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95F800-8F14-4D83-8741-A4D9116E66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5D0996-0560-4CFC-8763-362501427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B6D8C-00E0-4AA4-931B-95544CCF2419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8D270-C442-439E-8B38-D7F46E354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3BD768-3E14-4299-B203-C932B45F9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0C2FF-3DF7-4A3A-90B9-7735C85F21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7668070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034374-56F0-4041-85C9-AAC66F689A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1633200" y="486834"/>
            <a:ext cx="3505200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F682D1-87D2-4547-8C28-7D45C07D6F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117600" y="486834"/>
            <a:ext cx="10312400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C601A4-A746-4DBE-8339-3D3F0705B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B6D8C-00E0-4AA4-931B-95544CCF2419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182A0-655D-4CBE-AD02-B39BF7F01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79E8AB-F421-4C6D-B33A-FD6E3D051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0C2FF-3DF7-4A3A-90B9-7735C85F21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748589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163574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225853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892592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 txBox="1">
            <a:spLocks noGrp="1"/>
          </p:cNvSpPr>
          <p:nvPr>
            <p:ph type="title"/>
          </p:nvPr>
        </p:nvSpPr>
        <p:spPr>
          <a:xfrm>
            <a:off x="2111292" y="598309"/>
            <a:ext cx="11211200" cy="533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467" b="1" i="0">
                <a:solidFill>
                  <a:srgbClr val="1F386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2"/>
          <p:cNvSpPr txBox="1">
            <a:spLocks noGrp="1"/>
          </p:cNvSpPr>
          <p:nvPr>
            <p:ph type="body" idx="1"/>
          </p:nvPr>
        </p:nvSpPr>
        <p:spPr>
          <a:xfrm>
            <a:off x="718423" y="2489126"/>
            <a:ext cx="9637333" cy="218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812760" lvl="0" indent="-406379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23" b="1" i="0">
                <a:solidFill>
                  <a:srgbClr val="6B7B8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1625519" lvl="1" indent="-406379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2438278" lvl="2" indent="-406379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3251037" lvl="3" indent="-406379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4063797" lvl="4" indent="-406379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4876557" lvl="5" indent="-406379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5689315" lvl="6" indent="-406379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6502075" lvl="7" indent="-406379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7314834" lvl="8" indent="-406379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2"/>
          <p:cNvSpPr txBox="1">
            <a:spLocks noGrp="1"/>
          </p:cNvSpPr>
          <p:nvPr>
            <p:ph type="ftr" idx="11"/>
          </p:nvPr>
        </p:nvSpPr>
        <p:spPr>
          <a:xfrm>
            <a:off x="5527040" y="8503921"/>
            <a:ext cx="520213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"/>
          <p:cNvSpPr txBox="1">
            <a:spLocks noGrp="1"/>
          </p:cNvSpPr>
          <p:nvPr>
            <p:ph type="dt" idx="10"/>
          </p:nvPr>
        </p:nvSpPr>
        <p:spPr>
          <a:xfrm>
            <a:off x="812800" y="8503921"/>
            <a:ext cx="3738667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2"/>
          <p:cNvSpPr txBox="1">
            <a:spLocks noGrp="1"/>
          </p:cNvSpPr>
          <p:nvPr>
            <p:ph type="sldNum" idx="12"/>
          </p:nvPr>
        </p:nvSpPr>
        <p:spPr>
          <a:xfrm>
            <a:off x="11704320" y="8503922"/>
            <a:ext cx="3738667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 rtl="0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 rtl="0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 rtl="0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 rtl="0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 rtl="0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 rtl="0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 rtl="0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 rtl="0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 rtl="0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9671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15.xml"/><Relationship Id="rId21" Type="http://schemas.openxmlformats.org/officeDocument/2006/relationships/slideLayout" Target="../slideLayouts/slideLayout33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0" Type="http://schemas.openxmlformats.org/officeDocument/2006/relationships/slideLayout" Target="../slideLayouts/slideLayout3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31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28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7600" y="486834"/>
            <a:ext cx="140208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7600" y="2434167"/>
            <a:ext cx="140208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17600" y="8475134"/>
            <a:ext cx="3657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8E1163-0576-4046-999C-E6BBB9442ABC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84800" y="8475134"/>
            <a:ext cx="5486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80800" y="8475134"/>
            <a:ext cx="3657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71524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727" r:id="rId12"/>
    <p:sldLayoutId id="2147483715" r:id="rId13"/>
    <p:sldLayoutId id="2147483716" r:id="rId14"/>
    <p:sldLayoutId id="2147483717" r:id="rId15"/>
    <p:sldLayoutId id="2147483718" r:id="rId16"/>
    <p:sldLayoutId id="2147483719" r:id="rId17"/>
    <p:sldLayoutId id="2147483720" r:id="rId18"/>
    <p:sldLayoutId id="2147483721" r:id="rId19"/>
    <p:sldLayoutId id="2147483722" r:id="rId20"/>
    <p:sldLayoutId id="2147483723" r:id="rId21"/>
    <p:sldLayoutId id="2147483724" r:id="rId22"/>
    <p:sldLayoutId id="2147483725" r:id="rId23"/>
    <p:sldLayoutId id="2147483726" r:id="rId24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C2A710-34D9-4723-BF35-59A1E4661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486834"/>
            <a:ext cx="140208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494AA0-514D-4686-87C9-AB3457784D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7600" y="2434167"/>
            <a:ext cx="140208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936167-FD52-4F19-96EC-3FB6D0388C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17600" y="8475134"/>
            <a:ext cx="3657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2B6D8C-00E0-4AA4-931B-95544CCF2419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828769-001A-4D8D-A83E-A12BA65A34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84800" y="8475134"/>
            <a:ext cx="5486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147BB-C223-4885-A175-8C169B265F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0800" y="8475134"/>
            <a:ext cx="3657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10C2FF-3DF7-4A3A-90B9-7735C85F21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4394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2034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2" r:id="rId2"/>
    <p:sldLayoutId id="2147483713" r:id="rId3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A30DB-CA1E-4D15-8355-A0B050326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15367000" cy="1143000"/>
          </a:xfrm>
        </p:spPr>
        <p:txBody>
          <a:bodyPr>
            <a:normAutofit/>
          </a:bodyPr>
          <a:lstStyle/>
          <a:p>
            <a:pPr algn="l"/>
            <a:r>
              <a:rPr lang="en-IN" sz="3467" b="1">
                <a:solidFill>
                  <a:srgbClr val="1A3257"/>
                </a:solidFill>
                <a:latin typeface="Georgia" pitchFamily="34" charset="0"/>
              </a:rPr>
              <a:t>GST &amp; VAT Revenue Apr to July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8DE8C3F-8E99-4785-9AA7-74B2E2F5DD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5385434"/>
              </p:ext>
            </p:extLst>
          </p:nvPr>
        </p:nvGraphicFramePr>
        <p:xfrm>
          <a:off x="660838" y="1676400"/>
          <a:ext cx="7137581" cy="5692833"/>
        </p:xfrm>
        <a:graphic>
          <a:graphicData uri="http://schemas.openxmlformats.org/drawingml/2006/table">
            <a:tbl>
              <a:tblPr/>
              <a:tblGrid>
                <a:gridCol w="885870">
                  <a:extLst>
                    <a:ext uri="{9D8B030D-6E8A-4147-A177-3AD203B41FA5}">
                      <a16:colId xmlns:a16="http://schemas.microsoft.com/office/drawing/2014/main" val="543381258"/>
                    </a:ext>
                  </a:extLst>
                </a:gridCol>
                <a:gridCol w="1515857">
                  <a:extLst>
                    <a:ext uri="{9D8B030D-6E8A-4147-A177-3AD203B41FA5}">
                      <a16:colId xmlns:a16="http://schemas.microsoft.com/office/drawing/2014/main" val="400071351"/>
                    </a:ext>
                  </a:extLst>
                </a:gridCol>
                <a:gridCol w="1634287">
                  <a:extLst>
                    <a:ext uri="{9D8B030D-6E8A-4147-A177-3AD203B41FA5}">
                      <a16:colId xmlns:a16="http://schemas.microsoft.com/office/drawing/2014/main" val="406991325"/>
                    </a:ext>
                  </a:extLst>
                </a:gridCol>
                <a:gridCol w="1634287">
                  <a:extLst>
                    <a:ext uri="{9D8B030D-6E8A-4147-A177-3AD203B41FA5}">
                      <a16:colId xmlns:a16="http://schemas.microsoft.com/office/drawing/2014/main" val="8315392"/>
                    </a:ext>
                  </a:extLst>
                </a:gridCol>
                <a:gridCol w="1467280">
                  <a:extLst>
                    <a:ext uri="{9D8B030D-6E8A-4147-A177-3AD203B41FA5}">
                      <a16:colId xmlns:a16="http://schemas.microsoft.com/office/drawing/2014/main" val="1588977595"/>
                    </a:ext>
                  </a:extLst>
                </a:gridCol>
              </a:tblGrid>
              <a:tr h="536128">
                <a:tc rowSpan="2">
                  <a:txBody>
                    <a:bodyPr/>
                    <a:lstStyle/>
                    <a:p>
                      <a:pPr algn="ctr" rtl="0" fontAlgn="b"/>
                      <a:r>
                        <a:rPr lang="en-IN" sz="28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S.No</a:t>
                      </a:r>
                      <a:r>
                        <a:rPr lang="en-IN" sz="28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Month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rtl="0" fontAlgn="b"/>
                      <a:r>
                        <a:rPr lang="en-IN" sz="2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GST Net Revenue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7919859"/>
                  </a:ext>
                </a:extLst>
              </a:tr>
              <a:tr h="584272"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24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FY 2025-26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24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FY 2026-27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24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Growth 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555838"/>
                  </a:ext>
                </a:extLst>
              </a:tr>
              <a:tr h="72164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April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800" b="1" kern="120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(4646)</a:t>
                      </a:r>
                    </a:p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3,662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4,749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800" b="1" kern="120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(2.20%)</a:t>
                      </a:r>
                      <a:endParaRPr lang="en-IN" sz="2800" b="1" i="0" u="none" strike="noStrike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29.69%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5764276"/>
                  </a:ext>
                </a:extLst>
              </a:tr>
              <a:tr h="72164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3,491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800" b="1" kern="120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(3819)</a:t>
                      </a:r>
                      <a:endParaRPr lang="en-IN" sz="2800" b="1" i="0" u="none" strike="noStrike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800" b="1" kern="120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(9.39%)</a:t>
                      </a:r>
                    </a:p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-6.04%*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7912122"/>
                  </a:ext>
                </a:extLst>
              </a:tr>
              <a:tr h="72164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June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3,453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3,615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4.68%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4158354"/>
                  </a:ext>
                </a:extLst>
              </a:tr>
              <a:tr h="72164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July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3,810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4,120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8.14%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261554"/>
                  </a:ext>
                </a:extLst>
              </a:tr>
              <a:tr h="1403205"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Up to July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14,416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 15,764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9.35%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7683432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F01A4DE-D756-4952-A46F-4E7DF2E0E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7773070"/>
              </p:ext>
            </p:extLst>
          </p:nvPr>
        </p:nvGraphicFramePr>
        <p:xfrm>
          <a:off x="8482256" y="1676400"/>
          <a:ext cx="6960943" cy="5692831"/>
        </p:xfrm>
        <a:graphic>
          <a:graphicData uri="http://schemas.openxmlformats.org/drawingml/2006/table">
            <a:tbl>
              <a:tblPr/>
              <a:tblGrid>
                <a:gridCol w="890499">
                  <a:extLst>
                    <a:ext uri="{9D8B030D-6E8A-4147-A177-3AD203B41FA5}">
                      <a16:colId xmlns:a16="http://schemas.microsoft.com/office/drawing/2014/main" val="2017212267"/>
                    </a:ext>
                  </a:extLst>
                </a:gridCol>
                <a:gridCol w="1091175">
                  <a:extLst>
                    <a:ext uri="{9D8B030D-6E8A-4147-A177-3AD203B41FA5}">
                      <a16:colId xmlns:a16="http://schemas.microsoft.com/office/drawing/2014/main" val="1382796083"/>
                    </a:ext>
                  </a:extLst>
                </a:gridCol>
                <a:gridCol w="1718287">
                  <a:extLst>
                    <a:ext uri="{9D8B030D-6E8A-4147-A177-3AD203B41FA5}">
                      <a16:colId xmlns:a16="http://schemas.microsoft.com/office/drawing/2014/main" val="2648979898"/>
                    </a:ext>
                  </a:extLst>
                </a:gridCol>
                <a:gridCol w="1718287">
                  <a:extLst>
                    <a:ext uri="{9D8B030D-6E8A-4147-A177-3AD203B41FA5}">
                      <a16:colId xmlns:a16="http://schemas.microsoft.com/office/drawing/2014/main" val="862954740"/>
                    </a:ext>
                  </a:extLst>
                </a:gridCol>
                <a:gridCol w="1542695">
                  <a:extLst>
                    <a:ext uri="{9D8B030D-6E8A-4147-A177-3AD203B41FA5}">
                      <a16:colId xmlns:a16="http://schemas.microsoft.com/office/drawing/2014/main" val="1426351379"/>
                    </a:ext>
                  </a:extLst>
                </a:gridCol>
              </a:tblGrid>
              <a:tr h="716580">
                <a:tc rowSpan="2">
                  <a:txBody>
                    <a:bodyPr/>
                    <a:lstStyle/>
                    <a:p>
                      <a:pPr algn="ctr" rtl="0" fontAlgn="b"/>
                      <a:r>
                        <a:rPr lang="en-IN" sz="28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S.No</a:t>
                      </a:r>
                      <a:r>
                        <a:rPr lang="en-IN" sz="28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Month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rtl="0" fontAlgn="b"/>
                      <a:r>
                        <a:rPr lang="en-IN" sz="2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VAT Net Revenue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2964043"/>
                  </a:ext>
                </a:extLst>
              </a:tr>
              <a:tr h="716580"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24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FY 2025-26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24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FY 2026-27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24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Growth 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1282680"/>
                  </a:ext>
                </a:extLst>
              </a:tr>
              <a:tr h="71658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April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1,795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2,008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11.85%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1120401"/>
                  </a:ext>
                </a:extLst>
              </a:tr>
              <a:tr h="71658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2,227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2,465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10.70%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0721510"/>
                  </a:ext>
                </a:extLst>
              </a:tr>
              <a:tr h="71658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June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2,215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2,487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12.30%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2277986"/>
                  </a:ext>
                </a:extLst>
              </a:tr>
              <a:tr h="71658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July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2,278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17.73%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406903"/>
                  </a:ext>
                </a:extLst>
              </a:tr>
              <a:tr h="1393351"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Up to July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8,172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9,238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13.04%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196076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C662DC0-B612-4B6A-8207-D8FB61D96126}"/>
              </a:ext>
            </a:extLst>
          </p:cNvPr>
          <p:cNvSpPr txBox="1"/>
          <p:nvPr/>
        </p:nvSpPr>
        <p:spPr>
          <a:xfrm>
            <a:off x="692770" y="7674114"/>
            <a:ext cx="128256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solidFill>
                  <a:schemeClr val="tx2">
                    <a:lumMod val="60000"/>
                    <a:lumOff val="40000"/>
                  </a:schemeClr>
                </a:solidFill>
              </a:rPr>
              <a:t>*538 Cr was deducted in the May’26, due to which growth has dropped to -6.04%, whereas it is actually 9.38%.               </a:t>
            </a:r>
            <a:br>
              <a:rPr lang="en-US" sz="2000" b="1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2000" b="1">
                <a:solidFill>
                  <a:schemeClr val="tx2">
                    <a:lumMod val="60000"/>
                    <a:lumOff val="40000"/>
                  </a:schemeClr>
                </a:solidFill>
              </a:rPr>
              <a:t>Reasons being ascertained by TRU.</a:t>
            </a:r>
            <a:endParaRPr lang="en-IN" sz="2000" b="1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9720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A30DB-CA1E-4D15-8355-A0B050326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15367000" cy="868362"/>
          </a:xfrm>
        </p:spPr>
        <p:txBody>
          <a:bodyPr>
            <a:normAutofit/>
          </a:bodyPr>
          <a:lstStyle/>
          <a:p>
            <a:pPr algn="l"/>
            <a:r>
              <a:rPr lang="en-IN" sz="3467" b="1">
                <a:solidFill>
                  <a:srgbClr val="1A3257"/>
                </a:solidFill>
                <a:latin typeface="Georgia" pitchFamily="34" charset="0"/>
              </a:rPr>
              <a:t>Revenue &amp; Turnover Analysis Apr to July (2025 vs 2026)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CB71433-6BAF-42B0-8C8F-40AD7F703E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2299792"/>
              </p:ext>
            </p:extLst>
          </p:nvPr>
        </p:nvGraphicFramePr>
        <p:xfrm>
          <a:off x="374105" y="1284517"/>
          <a:ext cx="15507790" cy="7573959"/>
        </p:xfrm>
        <a:graphic>
          <a:graphicData uri="http://schemas.openxmlformats.org/drawingml/2006/table">
            <a:tbl>
              <a:tblPr/>
              <a:tblGrid>
                <a:gridCol w="4153676">
                  <a:extLst>
                    <a:ext uri="{9D8B030D-6E8A-4147-A177-3AD203B41FA5}">
                      <a16:colId xmlns:a16="http://schemas.microsoft.com/office/drawing/2014/main" val="280902963"/>
                    </a:ext>
                  </a:extLst>
                </a:gridCol>
                <a:gridCol w="1505115">
                  <a:extLst>
                    <a:ext uri="{9D8B030D-6E8A-4147-A177-3AD203B41FA5}">
                      <a16:colId xmlns:a16="http://schemas.microsoft.com/office/drawing/2014/main" val="1990356188"/>
                    </a:ext>
                  </a:extLst>
                </a:gridCol>
                <a:gridCol w="1505115">
                  <a:extLst>
                    <a:ext uri="{9D8B030D-6E8A-4147-A177-3AD203B41FA5}">
                      <a16:colId xmlns:a16="http://schemas.microsoft.com/office/drawing/2014/main" val="4693258"/>
                    </a:ext>
                  </a:extLst>
                </a:gridCol>
                <a:gridCol w="1271311">
                  <a:extLst>
                    <a:ext uri="{9D8B030D-6E8A-4147-A177-3AD203B41FA5}">
                      <a16:colId xmlns:a16="http://schemas.microsoft.com/office/drawing/2014/main" val="1195184915"/>
                    </a:ext>
                  </a:extLst>
                </a:gridCol>
                <a:gridCol w="1373599">
                  <a:extLst>
                    <a:ext uri="{9D8B030D-6E8A-4147-A177-3AD203B41FA5}">
                      <a16:colId xmlns:a16="http://schemas.microsoft.com/office/drawing/2014/main" val="2055720624"/>
                    </a:ext>
                  </a:extLst>
                </a:gridCol>
                <a:gridCol w="1373599">
                  <a:extLst>
                    <a:ext uri="{9D8B030D-6E8A-4147-A177-3AD203B41FA5}">
                      <a16:colId xmlns:a16="http://schemas.microsoft.com/office/drawing/2014/main" val="141290763"/>
                    </a:ext>
                  </a:extLst>
                </a:gridCol>
                <a:gridCol w="657574">
                  <a:extLst>
                    <a:ext uri="{9D8B030D-6E8A-4147-A177-3AD203B41FA5}">
                      <a16:colId xmlns:a16="http://schemas.microsoft.com/office/drawing/2014/main" val="3336486655"/>
                    </a:ext>
                  </a:extLst>
                </a:gridCol>
                <a:gridCol w="1285922">
                  <a:extLst>
                    <a:ext uri="{9D8B030D-6E8A-4147-A177-3AD203B41FA5}">
                      <a16:colId xmlns:a16="http://schemas.microsoft.com/office/drawing/2014/main" val="4256327405"/>
                    </a:ext>
                  </a:extLst>
                </a:gridCol>
                <a:gridCol w="1285922">
                  <a:extLst>
                    <a:ext uri="{9D8B030D-6E8A-4147-A177-3AD203B41FA5}">
                      <a16:colId xmlns:a16="http://schemas.microsoft.com/office/drawing/2014/main" val="1059204583"/>
                    </a:ext>
                  </a:extLst>
                </a:gridCol>
                <a:gridCol w="1095957">
                  <a:extLst>
                    <a:ext uri="{9D8B030D-6E8A-4147-A177-3AD203B41FA5}">
                      <a16:colId xmlns:a16="http://schemas.microsoft.com/office/drawing/2014/main" val="3882349919"/>
                    </a:ext>
                  </a:extLst>
                </a:gridCol>
              </a:tblGrid>
              <a:tr h="106006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Sector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 Turnover</a:t>
                      </a:r>
                    </a:p>
                    <a:p>
                      <a:pPr algn="ctr" rtl="0" fontAlgn="ctr"/>
                      <a:r>
                        <a:rPr lang="en-IN" sz="1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 (Apr-July'25) 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 Turnover </a:t>
                      </a:r>
                    </a:p>
                    <a:p>
                      <a:pPr algn="ctr" rtl="0" fontAlgn="ctr"/>
                      <a:r>
                        <a:rPr lang="en-IN" sz="1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(Apr-July'26) 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 Buoyancy % 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Total Liability (I+C+S)'25 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Total Liability (I+C+S)'26 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 Change % 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 Net Revenue to State'25 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 Net Revenue to State’26 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 Change % 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3137952"/>
                  </a:ext>
                </a:extLst>
              </a:tr>
              <a:tr h="465278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1800" b="1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All Sectors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6,74,833.62 </a:t>
                      </a:r>
                    </a:p>
                  </a:txBody>
                  <a:tcPr marL="9063" marR="9063" marT="90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8,08,749.38 </a:t>
                      </a:r>
                    </a:p>
                  </a:txBody>
                  <a:tcPr marL="9063" marR="9063" marT="90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20%</a:t>
                      </a:r>
                    </a:p>
                  </a:txBody>
                  <a:tcPr marL="9063" marR="9063" marT="90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72,784.54 </a:t>
                      </a:r>
                    </a:p>
                  </a:txBody>
                  <a:tcPr marL="9063" marR="9063" marT="90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72,414.79 </a:t>
                      </a:r>
                    </a:p>
                  </a:txBody>
                  <a:tcPr marL="9063" marR="9063" marT="90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800" b="1" i="0" u="none" strike="noStrike" dirty="0">
                          <a:solidFill>
                            <a:srgbClr val="9C0006"/>
                          </a:solidFill>
                          <a:effectLst/>
                          <a:latin typeface="Calibri" panose="020F0502020204030204" pitchFamily="34" charset="0"/>
                        </a:rPr>
                        <a:t>-1%</a:t>
                      </a:r>
                    </a:p>
                  </a:txBody>
                  <a:tcPr marL="9063" marR="9063" marT="90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800" b="1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14,416</a:t>
                      </a:r>
                      <a:endParaRPr lang="en-IN" sz="1800" b="1" i="0" u="none" strike="noStrike" kern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1800" b="1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15,764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1800" b="1" i="0" u="none" strike="noStrike" kern="1200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+9.35%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3611892"/>
                  </a:ext>
                </a:extLst>
              </a:tr>
              <a:tr h="465278">
                <a:tc gridSpan="10"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1800" b="0" i="0" u="none" strike="noStrike" kern="120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Rate reduced after GST2.0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9646071"/>
                  </a:ext>
                </a:extLst>
              </a:tr>
              <a:tr h="465278"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Vehicle/Automobile &amp; Spare Parts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31,834.99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37,641.53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18%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7,830.42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6,431.08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9C0006"/>
                          </a:solidFill>
                          <a:effectLst/>
                          <a:latin typeface="Calibri" panose="020F0502020204030204" pitchFamily="34" charset="0"/>
                        </a:rPr>
                        <a:t>-18%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1,994.50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1,966.20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9C0006"/>
                          </a:solidFill>
                          <a:effectLst/>
                          <a:latin typeface="Calibri" panose="020F0502020204030204" pitchFamily="34" charset="0"/>
                        </a:rPr>
                        <a:t>-1%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5660399"/>
                  </a:ext>
                </a:extLst>
              </a:tr>
              <a:tr h="465278"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Electrical machinery and equipment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45,314.41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58,666.66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29%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7,377.23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7,275.19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9C0006"/>
                          </a:solidFill>
                          <a:effectLst/>
                          <a:latin typeface="Calibri" panose="020F0502020204030204" pitchFamily="34" charset="0"/>
                        </a:rPr>
                        <a:t>-1%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1,561.26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1,474.01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9C0006"/>
                          </a:solidFill>
                          <a:effectLst/>
                          <a:latin typeface="Calibri" panose="020F0502020204030204" pitchFamily="34" charset="0"/>
                        </a:rPr>
                        <a:t>-6%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900660"/>
                  </a:ext>
                </a:extLst>
              </a:tr>
              <a:tr h="465278"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Machinery &amp; Air Conditioning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21,609.34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25,338.81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17%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4,207.40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4,230.17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1%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860.92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832.22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9C0006"/>
                          </a:solidFill>
                          <a:effectLst/>
                          <a:latin typeface="Calibri" panose="020F0502020204030204" pitchFamily="34" charset="0"/>
                        </a:rPr>
                        <a:t>-3%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9091249"/>
                  </a:ext>
                </a:extLst>
              </a:tr>
              <a:tr h="465278"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Financial &amp; Banking Services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45,281.19 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50,431.84 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1800" b="1" i="0" u="none" strike="noStrike" kern="1200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 2,024.03 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 1,917.20 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1800" b="1" i="0" u="none" strike="noStrike" kern="1200">
                          <a:solidFill>
                            <a:srgbClr val="9C0006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-5%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1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621.35 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    680.21 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1800" b="1" i="0" u="none" strike="noStrike" kern="1200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2357471"/>
                  </a:ext>
                </a:extLst>
              </a:tr>
              <a:tr h="465278"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Construction/Real Estate/ Cement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59,583.98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58,993.72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9C0006"/>
                          </a:solidFill>
                          <a:effectLst/>
                          <a:latin typeface="Calibri" panose="020F0502020204030204" pitchFamily="34" charset="0"/>
                        </a:rPr>
                        <a:t>-1%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11,025.37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9,248.03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9C0006"/>
                          </a:solidFill>
                          <a:effectLst/>
                          <a:latin typeface="Calibri" panose="020F0502020204030204" pitchFamily="34" charset="0"/>
                        </a:rPr>
                        <a:t>-16%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1,844.03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1,426.45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9C0006"/>
                          </a:solidFill>
                          <a:effectLst/>
                          <a:latin typeface="Calibri" panose="020F0502020204030204" pitchFamily="34" charset="0"/>
                        </a:rPr>
                        <a:t>-23%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730421"/>
                  </a:ext>
                </a:extLst>
              </a:tr>
              <a:tr h="465278"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en-IN" sz="18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No Change in Rates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3187577"/>
                  </a:ext>
                </a:extLst>
              </a:tr>
              <a:tr h="465278"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Iron and steel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26,827.71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28,701.26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7%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4,683.63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5,024.54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7%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906.57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968.93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7%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046546"/>
                  </a:ext>
                </a:extLst>
              </a:tr>
              <a:tr h="465278"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Plastics and articles thereof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11,913.42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15,408.86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29%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2,093.29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2,552.13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22%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411.41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480.29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17%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4246383"/>
                  </a:ext>
                </a:extLst>
              </a:tr>
              <a:tr h="465278"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Support services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7,207.77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7,891.62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9%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1091.3564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1184.60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9%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392.59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425.88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8%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5409139"/>
                  </a:ext>
                </a:extLst>
              </a:tr>
              <a:tr h="465278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Articles of iron or steel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6,145.57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8,553.79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39%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1068.3116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1,460.64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37%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281.38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364.61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30%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5185566"/>
                  </a:ext>
                </a:extLst>
              </a:tr>
              <a:tr h="465278"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en-IN" sz="18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Rate Increased after 2.0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289950"/>
                  </a:ext>
                </a:extLst>
              </a:tr>
              <a:tr h="465278"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Fuel and Energy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70,648.26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75,859.98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7%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1,552.62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1,701.55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760.20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1078.48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 dirty="0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42%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82795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96786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15360" cy="14020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" name="Text 1"/>
          <p:cNvSpPr/>
          <p:nvPr/>
        </p:nvSpPr>
        <p:spPr>
          <a:xfrm>
            <a:off x="365760" y="121920"/>
            <a:ext cx="154838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933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Observations – Impact of GST 2.0 on Revenue (Apr–Jul 2026)</a:t>
            </a:r>
            <a:endParaRPr lang="en-US" sz="2933"/>
          </a:p>
        </p:txBody>
      </p:sp>
      <p:sp>
        <p:nvSpPr>
          <p:cNvPr id="4" name="Text 2"/>
          <p:cNvSpPr/>
          <p:nvPr/>
        </p:nvSpPr>
        <p:spPr>
          <a:xfrm>
            <a:off x="365760" y="643838"/>
            <a:ext cx="154838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i="1" dirty="0">
                <a:solidFill>
                  <a:srgbClr val="D4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2.0 reduced the average effective tax rate from 9.15% to 8.22%,</a:t>
            </a:r>
            <a:endParaRPr lang="en-US" sz="1467" dirty="0"/>
          </a:p>
          <a:p>
            <a:pPr algn="ctr"/>
            <a:r>
              <a:rPr lang="en-US" sz="1467" i="1" dirty="0">
                <a:solidFill>
                  <a:srgbClr val="D4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Rajasthan achieved 9.35% growth in Net Revenue through strong turnover growth and improved compliance.</a:t>
            </a:r>
            <a:endParaRPr lang="en-US" sz="1467" dirty="0"/>
          </a:p>
        </p:txBody>
      </p:sp>
      <p:sp>
        <p:nvSpPr>
          <p:cNvPr id="5" name="Shape 3"/>
          <p:cNvSpPr/>
          <p:nvPr/>
        </p:nvSpPr>
        <p:spPr>
          <a:xfrm>
            <a:off x="337368" y="1693912"/>
            <a:ext cx="390144" cy="390144"/>
          </a:xfrm>
          <a:prstGeom prst="roundRect">
            <a:avLst>
              <a:gd name="adj" fmla="val 15625"/>
            </a:avLst>
          </a:prstGeom>
          <a:solidFill>
            <a:srgbClr val="2956A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337368" y="1693912"/>
            <a:ext cx="390144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67"/>
          </a:p>
        </p:txBody>
      </p:sp>
      <p:sp>
        <p:nvSpPr>
          <p:cNvPr id="7" name="Text 5"/>
          <p:cNvSpPr/>
          <p:nvPr/>
        </p:nvSpPr>
        <p:spPr>
          <a:xfrm>
            <a:off x="836906" y="1656334"/>
            <a:ext cx="60960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>
                <a:solidFill>
                  <a:srgbClr val="1A3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IMPACT OF GST 2.0</a:t>
            </a:r>
            <a:endParaRPr lang="en-US" sz="1733"/>
          </a:p>
        </p:txBody>
      </p:sp>
      <p:sp>
        <p:nvSpPr>
          <p:cNvPr id="8" name="Text 6"/>
          <p:cNvSpPr/>
          <p:nvPr/>
        </p:nvSpPr>
        <p:spPr>
          <a:xfrm>
            <a:off x="934442" y="1904015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A3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EFFECTIVE TAX RATE</a:t>
            </a:r>
            <a:endParaRPr lang="en-US" sz="1467"/>
          </a:p>
        </p:txBody>
      </p:sp>
      <p:sp>
        <p:nvSpPr>
          <p:cNvPr id="9" name="Shape 7"/>
          <p:cNvSpPr/>
          <p:nvPr/>
        </p:nvSpPr>
        <p:spPr>
          <a:xfrm>
            <a:off x="417535" y="2294993"/>
            <a:ext cx="1912092" cy="1168183"/>
          </a:xfrm>
          <a:prstGeom prst="roundRect">
            <a:avLst>
              <a:gd name="adj" fmla="val 7143"/>
            </a:avLst>
          </a:prstGeom>
          <a:solidFill>
            <a:srgbClr val="EDF1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10" name="Text 8"/>
          <p:cNvSpPr/>
          <p:nvPr/>
        </p:nvSpPr>
        <p:spPr>
          <a:xfrm>
            <a:off x="504448" y="2435738"/>
            <a:ext cx="1825179" cy="985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 2025–26</a:t>
            </a:r>
            <a:endParaRPr lang="en-US" sz="1600"/>
          </a:p>
          <a:p>
            <a:pPr algn="ctr"/>
            <a:r>
              <a:rPr lang="en-US" sz="120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(Apr–Jul)</a:t>
            </a:r>
            <a:endParaRPr lang="en-US" sz="1600"/>
          </a:p>
          <a:p>
            <a:pPr algn="ctr"/>
            <a:endParaRPr lang="en-US" sz="1600"/>
          </a:p>
          <a:p>
            <a:pPr algn="ctr"/>
            <a:r>
              <a:rPr lang="en-US" sz="3200" b="1">
                <a:solidFill>
                  <a:srgbClr val="1A3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9.15%</a:t>
            </a:r>
            <a:endParaRPr lang="en-US" sz="1600"/>
          </a:p>
        </p:txBody>
      </p:sp>
      <p:sp>
        <p:nvSpPr>
          <p:cNvPr id="11" name="Text 9"/>
          <p:cNvSpPr/>
          <p:nvPr/>
        </p:nvSpPr>
        <p:spPr>
          <a:xfrm>
            <a:off x="2394812" y="2646855"/>
            <a:ext cx="521480" cy="562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>
                <a:solidFill>
                  <a:srgbClr val="1B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/>
          </a:p>
        </p:txBody>
      </p:sp>
      <p:sp>
        <p:nvSpPr>
          <p:cNvPr id="12" name="Shape 10"/>
          <p:cNvSpPr/>
          <p:nvPr/>
        </p:nvSpPr>
        <p:spPr>
          <a:xfrm>
            <a:off x="2981476" y="2294993"/>
            <a:ext cx="1825179" cy="1196332"/>
          </a:xfrm>
          <a:prstGeom prst="roundRect">
            <a:avLst>
              <a:gd name="adj" fmla="val 7143"/>
            </a:avLst>
          </a:prstGeom>
          <a:solidFill>
            <a:srgbClr val="EDF1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13" name="Text 11"/>
          <p:cNvSpPr/>
          <p:nvPr/>
        </p:nvSpPr>
        <p:spPr>
          <a:xfrm>
            <a:off x="2981476" y="2435738"/>
            <a:ext cx="1825179" cy="985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 2026–27</a:t>
            </a:r>
            <a:endParaRPr lang="en-US" sz="1600" dirty="0"/>
          </a:p>
          <a:p>
            <a:pPr algn="ctr"/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(Apr–Jul)</a:t>
            </a:r>
            <a:endParaRPr lang="en-US" sz="1600" dirty="0"/>
          </a:p>
          <a:p>
            <a:pPr algn="ctr"/>
            <a:endParaRPr lang="en-US" sz="1600" dirty="0"/>
          </a:p>
          <a:p>
            <a:pPr algn="ctr"/>
            <a:r>
              <a:rPr lang="en-US" sz="3200" b="1" dirty="0">
                <a:solidFill>
                  <a:srgbClr val="1B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8.22%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9702" y="3706837"/>
            <a:ext cx="3650357" cy="422235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6350">
            <a:solidFill>
              <a:srgbClr val="1B7A3D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15" name="Text 13"/>
          <p:cNvSpPr/>
          <p:nvPr/>
        </p:nvSpPr>
        <p:spPr>
          <a:xfrm>
            <a:off x="767176" y="3700873"/>
            <a:ext cx="3650357" cy="4222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146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of ~11% in average effective tax rate</a:t>
            </a:r>
            <a:endParaRPr lang="en-US" sz="1400" b="1" dirty="0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678D9DB9-EF17-3BCE-0BD8-F1710A6763EA}"/>
              </a:ext>
            </a:extLst>
          </p:cNvPr>
          <p:cNvGrpSpPr/>
          <p:nvPr/>
        </p:nvGrpSpPr>
        <p:grpSpPr>
          <a:xfrm>
            <a:off x="5388746" y="1867773"/>
            <a:ext cx="5771158" cy="2060232"/>
            <a:chOff x="5608320" y="2194560"/>
            <a:chExt cx="5486400" cy="1463040"/>
          </a:xfrm>
        </p:grpSpPr>
        <p:sp>
          <p:nvSpPr>
            <p:cNvPr id="16" name="Text 14"/>
            <p:cNvSpPr/>
            <p:nvPr/>
          </p:nvSpPr>
          <p:spPr>
            <a:xfrm>
              <a:off x="5608320" y="2194560"/>
              <a:ext cx="54864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>
                  <a:solidFill>
                    <a:srgbClr val="22222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GST 2.0 resulted in a </a:t>
              </a:r>
              <a:r>
                <a:rPr lang="en-US" b="1">
                  <a:solidFill>
                    <a:srgbClr val="2956A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substantial reduction</a:t>
              </a:r>
              <a:r>
                <a:rPr lang="en-US">
                  <a:solidFill>
                    <a:srgbClr val="22222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in the average effective tax rate across sectors.</a:t>
              </a:r>
              <a:endParaRPr lang="en-US"/>
            </a:p>
          </p:txBody>
        </p:sp>
        <p:sp>
          <p:nvSpPr>
            <p:cNvPr id="17" name="Text 15"/>
            <p:cNvSpPr/>
            <p:nvPr/>
          </p:nvSpPr>
          <p:spPr>
            <a:xfrm>
              <a:off x="5608320" y="2743200"/>
              <a:ext cx="5486400" cy="426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>
                  <a:solidFill>
                    <a:srgbClr val="22222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Several major sectors witnessed </a:t>
              </a:r>
              <a:r>
                <a:rPr lang="en-US" b="1">
                  <a:solidFill>
                    <a:srgbClr val="2956A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GST rate reduction</a:t>
              </a:r>
              <a:r>
                <a:rPr lang="en-US">
                  <a:solidFill>
                    <a:srgbClr val="22222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(28% → 18%, 12% → 5%).</a:t>
              </a:r>
              <a:endParaRPr lang="en-US"/>
            </a:p>
          </p:txBody>
        </p:sp>
        <p:sp>
          <p:nvSpPr>
            <p:cNvPr id="18" name="Text 16"/>
            <p:cNvSpPr/>
            <p:nvPr/>
          </p:nvSpPr>
          <p:spPr>
            <a:xfrm>
              <a:off x="5608320" y="3230880"/>
              <a:ext cx="5486400" cy="426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>
                  <a:solidFill>
                    <a:srgbClr val="22222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Therefore, a </a:t>
              </a:r>
              <a:r>
                <a:rPr lang="en-US" b="1">
                  <a:solidFill>
                    <a:srgbClr val="2956A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lower overall tax liability</a:t>
              </a:r>
              <a:r>
                <a:rPr lang="en-US">
                  <a:solidFill>
                    <a:srgbClr val="22222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was expected despite higher turnover.</a:t>
              </a:r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391D2A9-27BC-343B-7370-34E1A1862BF2}"/>
              </a:ext>
            </a:extLst>
          </p:cNvPr>
          <p:cNvGrpSpPr/>
          <p:nvPr/>
        </p:nvGrpSpPr>
        <p:grpSpPr>
          <a:xfrm>
            <a:off x="11484746" y="1803804"/>
            <a:ext cx="4267200" cy="2521123"/>
            <a:chOff x="11460480" y="2133600"/>
            <a:chExt cx="4267200" cy="1828800"/>
          </a:xfrm>
        </p:grpSpPr>
        <p:sp>
          <p:nvSpPr>
            <p:cNvPr id="19" name="Shape 17"/>
            <p:cNvSpPr/>
            <p:nvPr/>
          </p:nvSpPr>
          <p:spPr>
            <a:xfrm>
              <a:off x="11460480" y="2133600"/>
              <a:ext cx="4267200" cy="1828800"/>
            </a:xfrm>
            <a:prstGeom prst="roundRect">
              <a:avLst>
                <a:gd name="adj" fmla="val 6667"/>
              </a:avLst>
            </a:prstGeom>
            <a:solidFill>
              <a:srgbClr val="F0FFF0"/>
            </a:solidFill>
            <a:ln w="12700">
              <a:solidFill>
                <a:srgbClr val="1B7A3D"/>
              </a:solidFill>
              <a:prstDash val="solid"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20" name="Text 18"/>
            <p:cNvSpPr/>
            <p:nvPr/>
          </p:nvSpPr>
          <p:spPr>
            <a:xfrm>
              <a:off x="11704320" y="2194560"/>
              <a:ext cx="3674225" cy="8900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en-US" b="1">
                  <a:solidFill>
                    <a:srgbClr val="1A366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Yet, Rajasthan's
Net Revenue increased by
</a:t>
              </a:r>
              <a:r>
                <a:rPr lang="en-US" sz="5400" b="1">
                  <a:solidFill>
                    <a:srgbClr val="1B7A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9.35%</a:t>
              </a:r>
              <a:r>
                <a:rPr lang="en-US" b="1">
                  <a:solidFill>
                    <a:srgbClr val="1A366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.</a:t>
              </a:r>
              <a:endParaRPr lang="en-US"/>
            </a:p>
          </p:txBody>
        </p:sp>
        <p:sp>
          <p:nvSpPr>
            <p:cNvPr id="21" name="Text 19"/>
            <p:cNvSpPr/>
            <p:nvPr/>
          </p:nvSpPr>
          <p:spPr>
            <a:xfrm>
              <a:off x="11704320" y="3230880"/>
              <a:ext cx="3779520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en-US" sz="1400">
                  <a:solidFill>
                    <a:srgbClr val="22222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This clearly indicates that the increase in </a:t>
              </a:r>
              <a:r>
                <a:rPr lang="en-US" sz="1400" b="1">
                  <a:solidFill>
                    <a:srgbClr val="E85D2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economic activity</a:t>
              </a:r>
              <a:r>
                <a:rPr lang="en-US" sz="1400">
                  <a:solidFill>
                    <a:srgbClr val="22222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and </a:t>
              </a:r>
              <a:r>
                <a:rPr lang="en-US" sz="1400" b="1">
                  <a:solidFill>
                    <a:srgbClr val="E85D2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improved compliance</a:t>
              </a:r>
              <a:r>
                <a:rPr lang="en-US" sz="1400">
                  <a:solidFill>
                    <a:srgbClr val="22222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has more than compensated for the reduction in tax rates.</a:t>
              </a:r>
              <a:endParaRPr lang="en-US" sz="1400"/>
            </a:p>
          </p:txBody>
        </p:sp>
      </p:grpSp>
      <p:sp>
        <p:nvSpPr>
          <p:cNvPr id="22" name="Shape 20"/>
          <p:cNvSpPr/>
          <p:nvPr/>
        </p:nvSpPr>
        <p:spPr>
          <a:xfrm>
            <a:off x="387472" y="4402314"/>
            <a:ext cx="390144" cy="390144"/>
          </a:xfrm>
          <a:prstGeom prst="roundRect">
            <a:avLst>
              <a:gd name="adj" fmla="val 15625"/>
            </a:avLst>
          </a:prstGeom>
          <a:solidFill>
            <a:srgbClr val="2956A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3" name="Text 21"/>
          <p:cNvSpPr/>
          <p:nvPr/>
        </p:nvSpPr>
        <p:spPr>
          <a:xfrm>
            <a:off x="387472" y="4402314"/>
            <a:ext cx="390144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67"/>
          </a:p>
        </p:txBody>
      </p:sp>
      <p:sp>
        <p:nvSpPr>
          <p:cNvPr id="24" name="Text 22"/>
          <p:cNvSpPr/>
          <p:nvPr/>
        </p:nvSpPr>
        <p:spPr>
          <a:xfrm>
            <a:off x="912062" y="4489996"/>
            <a:ext cx="60960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>
                <a:solidFill>
                  <a:srgbClr val="1A3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REVENUE SUMMARY (APR–JUL)</a:t>
            </a:r>
            <a:endParaRPr lang="en-US" sz="1733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B0D6AA6D-DE30-7125-ECE7-B43AF7F0C328}"/>
              </a:ext>
            </a:extLst>
          </p:cNvPr>
          <p:cNvGrpSpPr/>
          <p:nvPr/>
        </p:nvGrpSpPr>
        <p:grpSpPr>
          <a:xfrm>
            <a:off x="475154" y="4896518"/>
            <a:ext cx="15374447" cy="2400142"/>
            <a:chOff x="597074" y="4889326"/>
            <a:chExt cx="14996160" cy="1767840"/>
          </a:xfrm>
        </p:grpSpPr>
        <p:sp>
          <p:nvSpPr>
            <p:cNvPr id="25" name="Shape 23"/>
            <p:cNvSpPr/>
            <p:nvPr/>
          </p:nvSpPr>
          <p:spPr>
            <a:xfrm>
              <a:off x="597074" y="4889326"/>
              <a:ext cx="4632960" cy="1767840"/>
            </a:xfrm>
            <a:prstGeom prst="roundRect">
              <a:avLst>
                <a:gd name="adj" fmla="val 6897"/>
              </a:avLst>
            </a:prstGeom>
            <a:solidFill>
              <a:srgbClr val="EAF0F8"/>
            </a:solidFill>
            <a:ln w="6350">
              <a:solidFill>
                <a:srgbClr val="C8D6E5"/>
              </a:solidFill>
              <a:prstDash val="solid"/>
            </a:ln>
          </p:spPr>
          <p:txBody>
            <a:bodyPr/>
            <a:lstStyle/>
            <a:p>
              <a:endParaRPr lang="en-US" sz="3600"/>
            </a:p>
          </p:txBody>
        </p:sp>
        <p:sp>
          <p:nvSpPr>
            <p:cNvPr id="26" name="Text 24"/>
            <p:cNvSpPr/>
            <p:nvPr/>
          </p:nvSpPr>
          <p:spPr>
            <a:xfrm>
              <a:off x="718994" y="4986862"/>
              <a:ext cx="438912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000" b="1">
                  <a:solidFill>
                    <a:srgbClr val="2956A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TURNOVER</a:t>
              </a:r>
              <a:endParaRPr lang="en-US" sz="2000"/>
            </a:p>
          </p:txBody>
        </p:sp>
        <p:sp>
          <p:nvSpPr>
            <p:cNvPr id="27" name="Text 25"/>
            <p:cNvSpPr/>
            <p:nvPr/>
          </p:nvSpPr>
          <p:spPr>
            <a:xfrm>
              <a:off x="718994" y="5291662"/>
              <a:ext cx="438912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3200" b="1">
                  <a:solidFill>
                    <a:srgbClr val="1A366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₹6.75 Lakh Cr</a:t>
              </a:r>
              <a:endParaRPr lang="en-US" sz="3200"/>
            </a:p>
          </p:txBody>
        </p:sp>
        <p:sp>
          <p:nvSpPr>
            <p:cNvPr id="28" name="Text 26"/>
            <p:cNvSpPr/>
            <p:nvPr/>
          </p:nvSpPr>
          <p:spPr>
            <a:xfrm>
              <a:off x="718994" y="5535502"/>
              <a:ext cx="438912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400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(Apr–Jul 2025)</a:t>
              </a:r>
              <a:endParaRPr lang="en-US" sz="1400"/>
            </a:p>
          </p:txBody>
        </p:sp>
        <p:sp>
          <p:nvSpPr>
            <p:cNvPr id="29" name="Text 27"/>
            <p:cNvSpPr/>
            <p:nvPr/>
          </p:nvSpPr>
          <p:spPr>
            <a:xfrm>
              <a:off x="718994" y="5742766"/>
              <a:ext cx="43891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▼</a:t>
              </a:r>
              <a:endParaRPr lang="en-US"/>
            </a:p>
          </p:txBody>
        </p:sp>
        <p:sp>
          <p:nvSpPr>
            <p:cNvPr id="30" name="Text 28"/>
            <p:cNvSpPr/>
            <p:nvPr/>
          </p:nvSpPr>
          <p:spPr>
            <a:xfrm>
              <a:off x="718994" y="5889070"/>
              <a:ext cx="438912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3200" b="1">
                  <a:solidFill>
                    <a:srgbClr val="1A366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₹8.09 Lakh Cr</a:t>
              </a:r>
              <a:endParaRPr lang="en-US" sz="3200"/>
            </a:p>
          </p:txBody>
        </p:sp>
        <p:sp>
          <p:nvSpPr>
            <p:cNvPr id="31" name="Text 29"/>
            <p:cNvSpPr/>
            <p:nvPr/>
          </p:nvSpPr>
          <p:spPr>
            <a:xfrm>
              <a:off x="718994" y="6132910"/>
              <a:ext cx="438912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400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(Apr–Jul 2026)</a:t>
              </a:r>
              <a:endParaRPr lang="en-US" sz="1400"/>
            </a:p>
          </p:txBody>
        </p:sp>
        <p:sp>
          <p:nvSpPr>
            <p:cNvPr id="32" name="Shape 30"/>
            <p:cNvSpPr/>
            <p:nvPr/>
          </p:nvSpPr>
          <p:spPr>
            <a:xfrm>
              <a:off x="2303954" y="6352366"/>
              <a:ext cx="1219200" cy="268224"/>
            </a:xfrm>
            <a:prstGeom prst="roundRect">
              <a:avLst>
                <a:gd name="adj" fmla="val 22727"/>
              </a:avLst>
            </a:prstGeom>
            <a:solidFill>
              <a:srgbClr val="1B7A3D"/>
            </a:solidFill>
            <a:ln/>
          </p:spPr>
          <p:txBody>
            <a:bodyPr/>
            <a:lstStyle/>
            <a:p>
              <a:endParaRPr lang="en-US" sz="3600"/>
            </a:p>
          </p:txBody>
        </p:sp>
        <p:sp>
          <p:nvSpPr>
            <p:cNvPr id="33" name="Text 31"/>
            <p:cNvSpPr/>
            <p:nvPr/>
          </p:nvSpPr>
          <p:spPr>
            <a:xfrm>
              <a:off x="2303954" y="6352366"/>
              <a:ext cx="1219200" cy="2682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b="1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+20%</a:t>
              </a:r>
              <a:endParaRPr lang="en-US"/>
            </a:p>
          </p:txBody>
        </p:sp>
        <p:sp>
          <p:nvSpPr>
            <p:cNvPr id="34" name="Shape 32"/>
            <p:cNvSpPr/>
            <p:nvPr/>
          </p:nvSpPr>
          <p:spPr>
            <a:xfrm>
              <a:off x="5778674" y="4889326"/>
              <a:ext cx="4632960" cy="1767840"/>
            </a:xfrm>
            <a:prstGeom prst="roundRect">
              <a:avLst>
                <a:gd name="adj" fmla="val 6897"/>
              </a:avLst>
            </a:prstGeom>
            <a:solidFill>
              <a:srgbClr val="EAF0F8"/>
            </a:solidFill>
            <a:ln w="6350">
              <a:solidFill>
                <a:srgbClr val="C8D6E5"/>
              </a:solidFill>
              <a:prstDash val="solid"/>
            </a:ln>
          </p:spPr>
          <p:txBody>
            <a:bodyPr/>
            <a:lstStyle/>
            <a:p>
              <a:endParaRPr lang="en-US" sz="3600"/>
            </a:p>
          </p:txBody>
        </p:sp>
        <p:sp>
          <p:nvSpPr>
            <p:cNvPr id="35" name="Text 33"/>
            <p:cNvSpPr/>
            <p:nvPr/>
          </p:nvSpPr>
          <p:spPr>
            <a:xfrm>
              <a:off x="5900594" y="4986862"/>
              <a:ext cx="438912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000" b="1">
                  <a:solidFill>
                    <a:srgbClr val="E85D2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TOTAL TAX LIABILITY</a:t>
              </a:r>
              <a:endParaRPr lang="en-US" sz="2000"/>
            </a:p>
          </p:txBody>
        </p:sp>
        <p:sp>
          <p:nvSpPr>
            <p:cNvPr id="36" name="Text 34"/>
            <p:cNvSpPr/>
            <p:nvPr/>
          </p:nvSpPr>
          <p:spPr>
            <a:xfrm>
              <a:off x="5900594" y="5291662"/>
              <a:ext cx="438912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3200" b="1">
                  <a:solidFill>
                    <a:srgbClr val="1A366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₹72,785 Cr</a:t>
              </a:r>
              <a:endParaRPr lang="en-US" sz="3200"/>
            </a:p>
          </p:txBody>
        </p:sp>
        <p:sp>
          <p:nvSpPr>
            <p:cNvPr id="37" name="Text 35"/>
            <p:cNvSpPr/>
            <p:nvPr/>
          </p:nvSpPr>
          <p:spPr>
            <a:xfrm>
              <a:off x="5900594" y="5535502"/>
              <a:ext cx="438912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400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(Apr–Jul 2025)</a:t>
              </a:r>
              <a:endParaRPr lang="en-US" sz="1400"/>
            </a:p>
          </p:txBody>
        </p:sp>
        <p:sp>
          <p:nvSpPr>
            <p:cNvPr id="38" name="Text 36"/>
            <p:cNvSpPr/>
            <p:nvPr/>
          </p:nvSpPr>
          <p:spPr>
            <a:xfrm>
              <a:off x="5900594" y="5742766"/>
              <a:ext cx="43891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▼</a:t>
              </a:r>
              <a:endParaRPr lang="en-US"/>
            </a:p>
          </p:txBody>
        </p:sp>
        <p:sp>
          <p:nvSpPr>
            <p:cNvPr id="39" name="Text 37"/>
            <p:cNvSpPr/>
            <p:nvPr/>
          </p:nvSpPr>
          <p:spPr>
            <a:xfrm>
              <a:off x="5900594" y="5889070"/>
              <a:ext cx="438912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3200" b="1">
                  <a:solidFill>
                    <a:srgbClr val="1A366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₹72,415 Cr</a:t>
              </a:r>
              <a:endParaRPr lang="en-US" sz="3200"/>
            </a:p>
          </p:txBody>
        </p:sp>
        <p:sp>
          <p:nvSpPr>
            <p:cNvPr id="40" name="Text 38"/>
            <p:cNvSpPr/>
            <p:nvPr/>
          </p:nvSpPr>
          <p:spPr>
            <a:xfrm>
              <a:off x="5900594" y="6132910"/>
              <a:ext cx="438912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400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(Apr–Jul 2026)</a:t>
              </a:r>
              <a:endParaRPr lang="en-US" sz="1400"/>
            </a:p>
          </p:txBody>
        </p:sp>
        <p:sp>
          <p:nvSpPr>
            <p:cNvPr id="41" name="Shape 39"/>
            <p:cNvSpPr/>
            <p:nvPr/>
          </p:nvSpPr>
          <p:spPr>
            <a:xfrm>
              <a:off x="7485554" y="6352366"/>
              <a:ext cx="1219200" cy="268224"/>
            </a:xfrm>
            <a:prstGeom prst="roundRect">
              <a:avLst>
                <a:gd name="adj" fmla="val 22727"/>
              </a:avLst>
            </a:prstGeom>
            <a:solidFill>
              <a:srgbClr val="D4380D"/>
            </a:solidFill>
            <a:ln/>
          </p:spPr>
          <p:txBody>
            <a:bodyPr/>
            <a:lstStyle/>
            <a:p>
              <a:endParaRPr lang="en-US" sz="3600"/>
            </a:p>
          </p:txBody>
        </p:sp>
        <p:sp>
          <p:nvSpPr>
            <p:cNvPr id="42" name="Text 40"/>
            <p:cNvSpPr/>
            <p:nvPr/>
          </p:nvSpPr>
          <p:spPr>
            <a:xfrm>
              <a:off x="7485554" y="6352366"/>
              <a:ext cx="1219200" cy="2682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b="1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-1%</a:t>
              </a:r>
              <a:endParaRPr lang="en-US"/>
            </a:p>
          </p:txBody>
        </p:sp>
        <p:sp>
          <p:nvSpPr>
            <p:cNvPr id="43" name="Shape 41"/>
            <p:cNvSpPr/>
            <p:nvPr/>
          </p:nvSpPr>
          <p:spPr>
            <a:xfrm>
              <a:off x="10960274" y="4889326"/>
              <a:ext cx="4632960" cy="1767840"/>
            </a:xfrm>
            <a:prstGeom prst="roundRect">
              <a:avLst>
                <a:gd name="adj" fmla="val 6897"/>
              </a:avLst>
            </a:prstGeom>
            <a:solidFill>
              <a:srgbClr val="EAF0F8"/>
            </a:solidFill>
            <a:ln w="6350">
              <a:solidFill>
                <a:srgbClr val="C8D6E5"/>
              </a:solidFill>
              <a:prstDash val="solid"/>
            </a:ln>
          </p:spPr>
          <p:txBody>
            <a:bodyPr/>
            <a:lstStyle/>
            <a:p>
              <a:endParaRPr lang="en-US" sz="3600"/>
            </a:p>
          </p:txBody>
        </p:sp>
        <p:sp>
          <p:nvSpPr>
            <p:cNvPr id="44" name="Text 42"/>
            <p:cNvSpPr/>
            <p:nvPr/>
          </p:nvSpPr>
          <p:spPr>
            <a:xfrm>
              <a:off x="11082194" y="4986862"/>
              <a:ext cx="438912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000" b="1">
                  <a:solidFill>
                    <a:srgbClr val="1B7A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NET REVENUE TO STATE</a:t>
              </a:r>
              <a:endParaRPr lang="en-US" sz="2000"/>
            </a:p>
          </p:txBody>
        </p:sp>
        <p:sp>
          <p:nvSpPr>
            <p:cNvPr id="45" name="Text 43"/>
            <p:cNvSpPr/>
            <p:nvPr/>
          </p:nvSpPr>
          <p:spPr>
            <a:xfrm>
              <a:off x="11082194" y="5291662"/>
              <a:ext cx="438912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3200" b="1">
                  <a:solidFill>
                    <a:srgbClr val="1A366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₹14,416 Cr</a:t>
              </a:r>
              <a:endParaRPr lang="en-US" sz="3200"/>
            </a:p>
          </p:txBody>
        </p:sp>
        <p:sp>
          <p:nvSpPr>
            <p:cNvPr id="46" name="Text 44"/>
            <p:cNvSpPr/>
            <p:nvPr/>
          </p:nvSpPr>
          <p:spPr>
            <a:xfrm>
              <a:off x="11082194" y="5535502"/>
              <a:ext cx="438912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400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(Apr–Jul 2025)</a:t>
              </a:r>
              <a:endParaRPr lang="en-US" sz="1400"/>
            </a:p>
          </p:txBody>
        </p:sp>
        <p:sp>
          <p:nvSpPr>
            <p:cNvPr id="47" name="Text 45"/>
            <p:cNvSpPr/>
            <p:nvPr/>
          </p:nvSpPr>
          <p:spPr>
            <a:xfrm>
              <a:off x="11082194" y="5742766"/>
              <a:ext cx="43891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▼</a:t>
              </a:r>
              <a:endParaRPr lang="en-US"/>
            </a:p>
          </p:txBody>
        </p:sp>
        <p:sp>
          <p:nvSpPr>
            <p:cNvPr id="48" name="Text 46"/>
            <p:cNvSpPr/>
            <p:nvPr/>
          </p:nvSpPr>
          <p:spPr>
            <a:xfrm>
              <a:off x="11082194" y="5889070"/>
              <a:ext cx="438912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3200" b="1">
                  <a:solidFill>
                    <a:srgbClr val="1A366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₹15,764 Cr</a:t>
              </a:r>
              <a:endParaRPr lang="en-US" sz="3200"/>
            </a:p>
          </p:txBody>
        </p:sp>
        <p:sp>
          <p:nvSpPr>
            <p:cNvPr id="49" name="Text 47"/>
            <p:cNvSpPr/>
            <p:nvPr/>
          </p:nvSpPr>
          <p:spPr>
            <a:xfrm>
              <a:off x="11082194" y="6132910"/>
              <a:ext cx="438912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400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(Apr–Jul 2026)</a:t>
              </a:r>
              <a:endParaRPr lang="en-US" sz="1400"/>
            </a:p>
          </p:txBody>
        </p:sp>
        <p:sp>
          <p:nvSpPr>
            <p:cNvPr id="50" name="Shape 48"/>
            <p:cNvSpPr/>
            <p:nvPr/>
          </p:nvSpPr>
          <p:spPr>
            <a:xfrm>
              <a:off x="12667154" y="6352366"/>
              <a:ext cx="1219200" cy="268224"/>
            </a:xfrm>
            <a:prstGeom prst="roundRect">
              <a:avLst>
                <a:gd name="adj" fmla="val 22727"/>
              </a:avLst>
            </a:prstGeom>
            <a:solidFill>
              <a:srgbClr val="1B7A3D"/>
            </a:solidFill>
            <a:ln/>
          </p:spPr>
          <p:txBody>
            <a:bodyPr/>
            <a:lstStyle/>
            <a:p>
              <a:endParaRPr lang="en-US" sz="3600"/>
            </a:p>
          </p:txBody>
        </p:sp>
        <p:sp>
          <p:nvSpPr>
            <p:cNvPr id="51" name="Text 49"/>
            <p:cNvSpPr/>
            <p:nvPr/>
          </p:nvSpPr>
          <p:spPr>
            <a:xfrm>
              <a:off x="12667154" y="6352366"/>
              <a:ext cx="1219200" cy="2682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b="1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+9.35%</a:t>
              </a:r>
              <a:endParaRPr lang="en-US"/>
            </a:p>
          </p:txBody>
        </p:sp>
      </p:grpSp>
      <p:sp>
        <p:nvSpPr>
          <p:cNvPr id="52" name="Shape 50"/>
          <p:cNvSpPr/>
          <p:nvPr/>
        </p:nvSpPr>
        <p:spPr>
          <a:xfrm>
            <a:off x="25052" y="7695590"/>
            <a:ext cx="16215360" cy="128016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53" name="Shape 51"/>
          <p:cNvSpPr/>
          <p:nvPr/>
        </p:nvSpPr>
        <p:spPr>
          <a:xfrm>
            <a:off x="487680" y="7955964"/>
            <a:ext cx="390144" cy="390144"/>
          </a:xfrm>
          <a:prstGeom prst="roundRect">
            <a:avLst>
              <a:gd name="adj" fmla="val 15625"/>
            </a:avLst>
          </a:prstGeom>
          <a:solidFill>
            <a:srgbClr val="E85D2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54" name="Text 52"/>
          <p:cNvSpPr/>
          <p:nvPr/>
        </p:nvSpPr>
        <p:spPr>
          <a:xfrm>
            <a:off x="487680" y="7918386"/>
            <a:ext cx="390144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67"/>
          </a:p>
        </p:txBody>
      </p:sp>
      <p:sp>
        <p:nvSpPr>
          <p:cNvPr id="55" name="Text 53"/>
          <p:cNvSpPr/>
          <p:nvPr/>
        </p:nvSpPr>
        <p:spPr>
          <a:xfrm>
            <a:off x="999744" y="7930912"/>
            <a:ext cx="36576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>
                <a:solidFill>
                  <a:srgbClr val="D438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2400"/>
          </a:p>
        </p:txBody>
      </p:sp>
      <p:sp>
        <p:nvSpPr>
          <p:cNvPr id="56" name="Text 54"/>
          <p:cNvSpPr/>
          <p:nvPr/>
        </p:nvSpPr>
        <p:spPr>
          <a:xfrm>
            <a:off x="3474720" y="7878470"/>
            <a:ext cx="1280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Despite the significant reduction in average effective tax rate from </a:t>
            </a:r>
            <a:r>
              <a:rPr lang="en-US" sz="2000" b="1" dirty="0">
                <a:solidFill>
                  <a:srgbClr val="E85D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9.15% to 8.22%</a:t>
            </a: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due to GST 2.0,
</a:t>
            </a:r>
            <a:r>
              <a:rPr lang="en-US" sz="2000" b="1" dirty="0">
                <a:solidFill>
                  <a:srgbClr val="295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compliance, effective tax administration and robust collections</a:t>
            </a: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have enabled
</a:t>
            </a:r>
            <a:r>
              <a:rPr lang="en-US" sz="2400" b="1" dirty="0">
                <a:solidFill>
                  <a:srgbClr val="1A3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Rajasthan's Net Revenue</a:t>
            </a: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grow by </a:t>
            </a:r>
            <a:r>
              <a:rPr lang="en-US" sz="2400" b="1" dirty="0">
                <a:solidFill>
                  <a:srgbClr val="1B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9.35%</a:t>
            </a: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during Apr–Jul 2026.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220136"/>
            <a:ext cx="16205200" cy="478365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/>
          </a:bodyPr>
          <a:lstStyle/>
          <a:p>
            <a:pPr>
              <a:lnSpc>
                <a:spcPct val="132353"/>
              </a:lnSpc>
            </a:pPr>
            <a:r>
              <a:rPr lang="en-US" sz="1600" b="1" kern="0" spc="140">
                <a:solidFill>
                  <a:srgbClr val="AB4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VISIT LEARNINGS</a:t>
            </a:r>
            <a:endParaRPr lang="en-US" sz="1600"/>
          </a:p>
        </p:txBody>
      </p:sp>
      <p:sp>
        <p:nvSpPr>
          <p:cNvPr id="3" name="Text 1"/>
          <p:cNvSpPr/>
          <p:nvPr/>
        </p:nvSpPr>
        <p:spPr>
          <a:xfrm>
            <a:off x="762000" y="749300"/>
            <a:ext cx="16205200" cy="606160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/>
          </a:bodyPr>
          <a:lstStyle/>
          <a:p>
            <a:pPr>
              <a:lnSpc>
                <a:spcPct val="114576"/>
              </a:lnSpc>
            </a:pPr>
            <a:r>
              <a:rPr lang="en-US" sz="3467" b="1">
                <a:solidFill>
                  <a:srgbClr val="1A3257"/>
                </a:solidFill>
                <a:latin typeface="Georgia" pitchFamily="34" charset="0"/>
              </a:rPr>
              <a:t>Directions of HCM Review</a:t>
            </a:r>
          </a:p>
        </p:txBody>
      </p:sp>
      <p:sp>
        <p:nvSpPr>
          <p:cNvPr id="4" name="Text 2"/>
          <p:cNvSpPr/>
          <p:nvPr/>
        </p:nvSpPr>
        <p:spPr>
          <a:xfrm>
            <a:off x="762000" y="1372394"/>
            <a:ext cx="16205200" cy="33866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/>
          </a:bodyPr>
          <a:lstStyle/>
          <a:p>
            <a:pPr>
              <a:lnSpc>
                <a:spcPct val="128571"/>
              </a:lnSpc>
            </a:pPr>
            <a:r>
              <a:rPr lang="en-US" sz="1600">
                <a:solidFill>
                  <a:srgbClr val="645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9th July 2026</a:t>
            </a:r>
            <a:endParaRPr lang="en-US" sz="1600"/>
          </a:p>
        </p:txBody>
      </p:sp>
      <p:sp>
        <p:nvSpPr>
          <p:cNvPr id="5" name="Shape 3"/>
          <p:cNvSpPr/>
          <p:nvPr/>
        </p:nvSpPr>
        <p:spPr>
          <a:xfrm>
            <a:off x="762000" y="1931194"/>
            <a:ext cx="7934987" cy="1989658"/>
          </a:xfrm>
          <a:prstGeom prst="roundRect">
            <a:avLst>
              <a:gd name="adj" fmla="val 6006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1C1A15">
                <a:alpha val="8000"/>
              </a:srgbClr>
            </a:outerShdw>
          </a:effectLst>
        </p:spPr>
        <p:txBody>
          <a:bodyPr/>
          <a:lstStyle/>
          <a:p>
            <a:endParaRPr lang="en-IN" sz="1778"/>
          </a:p>
        </p:txBody>
      </p:sp>
      <p:sp>
        <p:nvSpPr>
          <p:cNvPr id="6" name="Shape 4"/>
          <p:cNvSpPr/>
          <p:nvPr/>
        </p:nvSpPr>
        <p:spPr>
          <a:xfrm>
            <a:off x="760334" y="3916675"/>
            <a:ext cx="7934987" cy="8467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1778"/>
          </a:p>
        </p:txBody>
      </p:sp>
      <p:sp>
        <p:nvSpPr>
          <p:cNvPr id="7" name="Shape 5"/>
          <p:cNvSpPr/>
          <p:nvPr/>
        </p:nvSpPr>
        <p:spPr>
          <a:xfrm>
            <a:off x="762000" y="1861084"/>
            <a:ext cx="7934987" cy="134805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endParaRPr lang="en-IN" sz="1778"/>
          </a:p>
        </p:txBody>
      </p:sp>
      <p:sp>
        <p:nvSpPr>
          <p:cNvPr id="8" name="Shape 6"/>
          <p:cNvSpPr/>
          <p:nvPr/>
        </p:nvSpPr>
        <p:spPr>
          <a:xfrm>
            <a:off x="762000" y="1931193"/>
            <a:ext cx="45719" cy="1964255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1778"/>
          </a:p>
        </p:txBody>
      </p:sp>
      <p:sp>
        <p:nvSpPr>
          <p:cNvPr id="9" name="Shape 7"/>
          <p:cNvSpPr/>
          <p:nvPr/>
        </p:nvSpPr>
        <p:spPr>
          <a:xfrm flipH="1">
            <a:off x="8642800" y="2007846"/>
            <a:ext cx="45719" cy="1922155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1778"/>
          </a:p>
        </p:txBody>
      </p:sp>
      <p:sp>
        <p:nvSpPr>
          <p:cNvPr id="10" name="Text 8"/>
          <p:cNvSpPr/>
          <p:nvPr/>
        </p:nvSpPr>
        <p:spPr>
          <a:xfrm>
            <a:off x="1007534" y="2082354"/>
            <a:ext cx="8188312" cy="383248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2353"/>
              </a:lnSpc>
            </a:pPr>
            <a:r>
              <a:rPr lang="en-US" sz="2400" b="1" kern="0" spc="100">
                <a:solidFill>
                  <a:srgbClr val="1F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DIRECTIONS</a:t>
            </a:r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980644" y="2733966"/>
            <a:ext cx="250692" cy="26246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en-US" sz="1244" b="1">
                <a:solidFill>
                  <a:srgbClr val="AB45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44"/>
          </a:p>
        </p:txBody>
      </p:sp>
      <p:sp>
        <p:nvSpPr>
          <p:cNvPr id="12" name="Text 10"/>
          <p:cNvSpPr/>
          <p:nvPr/>
        </p:nvSpPr>
        <p:spPr>
          <a:xfrm>
            <a:off x="1282136" y="2739414"/>
            <a:ext cx="7387961" cy="383248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0435"/>
              </a:lnSpc>
            </a:pPr>
            <a:r>
              <a:rPr lang="en-US" sz="2200" b="1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 &amp; study best practices from AP &amp; Gujarat.</a:t>
            </a:r>
            <a:endParaRPr lang="en-US" sz="2200" b="1"/>
          </a:p>
        </p:txBody>
      </p:sp>
      <p:sp>
        <p:nvSpPr>
          <p:cNvPr id="13" name="Text 11"/>
          <p:cNvSpPr/>
          <p:nvPr/>
        </p:nvSpPr>
        <p:spPr>
          <a:xfrm>
            <a:off x="980644" y="3295123"/>
            <a:ext cx="250692" cy="26246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en-US" sz="1244" b="1">
                <a:solidFill>
                  <a:srgbClr val="AB45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44"/>
          </a:p>
        </p:txBody>
      </p:sp>
      <p:sp>
        <p:nvSpPr>
          <p:cNvPr id="14" name="Text 12"/>
          <p:cNvSpPr/>
          <p:nvPr/>
        </p:nvSpPr>
        <p:spPr>
          <a:xfrm>
            <a:off x="1282135" y="3295121"/>
            <a:ext cx="7365746" cy="250311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0435"/>
              </a:lnSpc>
            </a:pPr>
            <a:r>
              <a:rPr lang="en-US" sz="2000" b="1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an action plan for their phase-wise implementation.</a:t>
            </a:r>
            <a:endParaRPr lang="en-US" sz="2000" b="1"/>
          </a:p>
        </p:txBody>
      </p:sp>
      <p:sp>
        <p:nvSpPr>
          <p:cNvPr id="15" name="Shape 13"/>
          <p:cNvSpPr/>
          <p:nvPr/>
        </p:nvSpPr>
        <p:spPr>
          <a:xfrm>
            <a:off x="762000" y="4120619"/>
            <a:ext cx="7908097" cy="4185181"/>
          </a:xfrm>
          <a:prstGeom prst="roundRect">
            <a:avLst>
              <a:gd name="adj" fmla="val 1067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1C1A15">
                <a:alpha val="8000"/>
              </a:srgbClr>
            </a:outerShdw>
          </a:effectLst>
        </p:spPr>
        <p:txBody>
          <a:bodyPr/>
          <a:lstStyle/>
          <a:p>
            <a:endParaRPr lang="en-IN" sz="1600"/>
          </a:p>
        </p:txBody>
      </p:sp>
      <p:sp>
        <p:nvSpPr>
          <p:cNvPr id="16" name="Shape 14"/>
          <p:cNvSpPr/>
          <p:nvPr/>
        </p:nvSpPr>
        <p:spPr>
          <a:xfrm>
            <a:off x="762000" y="11532790"/>
            <a:ext cx="7934987" cy="8467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1600"/>
          </a:p>
        </p:txBody>
      </p:sp>
      <p:sp>
        <p:nvSpPr>
          <p:cNvPr id="17" name="Shape 15"/>
          <p:cNvSpPr/>
          <p:nvPr/>
        </p:nvSpPr>
        <p:spPr>
          <a:xfrm>
            <a:off x="762000" y="4174067"/>
            <a:ext cx="7934987" cy="93133"/>
          </a:xfrm>
          <a:prstGeom prst="rect">
            <a:avLst/>
          </a:prstGeom>
          <a:solidFill>
            <a:srgbClr val="1F7A4D"/>
          </a:solidFill>
          <a:ln/>
        </p:spPr>
        <p:txBody>
          <a:bodyPr/>
          <a:lstStyle/>
          <a:p>
            <a:endParaRPr lang="en-IN" sz="1778"/>
          </a:p>
        </p:txBody>
      </p:sp>
      <p:sp>
        <p:nvSpPr>
          <p:cNvPr id="18" name="Shape 16"/>
          <p:cNvSpPr/>
          <p:nvPr/>
        </p:nvSpPr>
        <p:spPr>
          <a:xfrm>
            <a:off x="762001" y="4267201"/>
            <a:ext cx="45719" cy="4038600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1600"/>
          </a:p>
        </p:txBody>
      </p:sp>
      <p:sp>
        <p:nvSpPr>
          <p:cNvPr id="19" name="Shape 17"/>
          <p:cNvSpPr/>
          <p:nvPr/>
        </p:nvSpPr>
        <p:spPr>
          <a:xfrm flipH="1">
            <a:off x="8648738" y="4191018"/>
            <a:ext cx="45719" cy="4156348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1600"/>
          </a:p>
        </p:txBody>
      </p:sp>
      <p:sp>
        <p:nvSpPr>
          <p:cNvPr id="20" name="Text 18"/>
          <p:cNvSpPr/>
          <p:nvPr/>
        </p:nvSpPr>
        <p:spPr>
          <a:xfrm>
            <a:off x="1007534" y="4301499"/>
            <a:ext cx="8188312" cy="469901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 fontScale="92500" lnSpcReduction="20000"/>
          </a:bodyPr>
          <a:lstStyle/>
          <a:p>
            <a:pPr>
              <a:lnSpc>
                <a:spcPct val="132353"/>
              </a:lnSpc>
            </a:pPr>
            <a:r>
              <a:rPr lang="en-US" sz="2800" b="1" kern="0" spc="100">
                <a:solidFill>
                  <a:srgbClr val="145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</a:t>
            </a:r>
            <a:endParaRPr lang="en-US" sz="2800"/>
          </a:p>
        </p:txBody>
      </p:sp>
      <p:sp>
        <p:nvSpPr>
          <p:cNvPr id="22" name="Text 20"/>
          <p:cNvSpPr/>
          <p:nvPr/>
        </p:nvSpPr>
        <p:spPr>
          <a:xfrm>
            <a:off x="980644" y="5019172"/>
            <a:ext cx="5428424" cy="387613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marL="342900" indent="-342900">
              <a:lnSpc>
                <a:spcPct val="130435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 to Andhra Pradesh planned for </a:t>
            </a:r>
            <a:r>
              <a:rPr lang="en-US" sz="2400" b="1" i="1" dirty="0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4th &amp; 5th August</a:t>
            </a:r>
            <a:r>
              <a:rPr lang="en-US" sz="2400" dirty="0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2026.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007534" y="5960533"/>
            <a:ext cx="8188312" cy="28786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0435"/>
              </a:lnSpc>
            </a:pP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007534" y="6419983"/>
            <a:ext cx="7667237" cy="165721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/>
          </a:bodyPr>
          <a:lstStyle/>
          <a:p>
            <a:pPr marL="342900" indent="-342900">
              <a:lnSpc>
                <a:spcPct val="136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1A3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Learnings from Gujarat</a:t>
            </a:r>
            <a:r>
              <a:rPr lang="en-US" sz="2400" dirty="0"/>
              <a:t> - </a:t>
            </a:r>
            <a:r>
              <a:rPr lang="en-US" sz="2400" dirty="0">
                <a:solidFill>
                  <a:srgbClr val="645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takeaways from the Gujarat study visit are consolidated on the following two slides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10167448" y="5054644"/>
            <a:ext cx="5613928" cy="3555956"/>
          </a:xfrm>
          <a:prstGeom prst="roundRect">
            <a:avLst>
              <a:gd name="adj" fmla="val 1790"/>
            </a:avLst>
          </a:prstGeom>
          <a:solidFill>
            <a:srgbClr val="FFFFFF"/>
          </a:solidFill>
          <a:ln w="9525">
            <a:solidFill>
              <a:srgbClr val="DDD4C2"/>
            </a:solidFill>
            <a:prstDash val="solid"/>
          </a:ln>
          <a:effectLst>
            <a:outerShdw blurRad="28575" dist="9525" dir="5400000" algn="bl" rotWithShape="0">
              <a:srgbClr val="1C1A15">
                <a:alpha val="8000"/>
              </a:srgbClr>
            </a:outerShdw>
          </a:effectLst>
        </p:spPr>
        <p:txBody>
          <a:bodyPr/>
          <a:lstStyle/>
          <a:p>
            <a:endParaRPr lang="en-IN" sz="1600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10995243" y="4793892"/>
            <a:ext cx="4329588" cy="3795759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10167448" y="1081317"/>
            <a:ext cx="5613928" cy="3790817"/>
          </a:xfrm>
          <a:prstGeom prst="roundRect">
            <a:avLst>
              <a:gd name="adj" fmla="val 1790"/>
            </a:avLst>
          </a:prstGeom>
          <a:solidFill>
            <a:srgbClr val="FFFFFF"/>
          </a:solidFill>
          <a:ln w="9525">
            <a:solidFill>
              <a:srgbClr val="DDD4C2"/>
            </a:solidFill>
            <a:prstDash val="solid"/>
          </a:ln>
          <a:effectLst>
            <a:outerShdw blurRad="28575" dist="9525" dir="5400000" algn="bl" rotWithShape="0">
              <a:srgbClr val="1C1A15">
                <a:alpha val="8000"/>
              </a:srgbClr>
            </a:outerShdw>
          </a:effectLst>
        </p:spPr>
        <p:txBody>
          <a:bodyPr/>
          <a:lstStyle/>
          <a:p>
            <a:endParaRPr lang="en-IN" sz="1600"/>
          </a:p>
        </p:txBody>
      </p:sp>
      <p:pic>
        <p:nvPicPr>
          <p:cNvPr id="2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995243" y="1276213"/>
            <a:ext cx="3586030" cy="3586030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15000818" y="8758767"/>
            <a:ext cx="560916" cy="19896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 lnSpcReduction="10000"/>
          </a:bodyPr>
          <a:lstStyle/>
          <a:p>
            <a:pPr>
              <a:lnSpc>
                <a:spcPct val="130000"/>
              </a:lnSpc>
            </a:pPr>
            <a:r>
              <a:rPr lang="en-US" sz="867" kern="0" spc="35">
                <a:solidFill>
                  <a:srgbClr val="8379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38</a:t>
            </a:r>
            <a:endParaRPr lang="en-US" sz="867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ED615F5-DCB2-56C5-52F5-0D89107656BB}"/>
              </a:ext>
            </a:extLst>
          </p:cNvPr>
          <p:cNvSpPr txBox="1"/>
          <p:nvPr/>
        </p:nvSpPr>
        <p:spPr>
          <a:xfrm rot="19434328">
            <a:off x="11621994" y="6622339"/>
            <a:ext cx="1995226" cy="4205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33" b="1">
                <a:solidFill>
                  <a:schemeClr val="bg1"/>
                </a:solidFill>
              </a:rPr>
              <a:t>Andhra Pradesh</a:t>
            </a:r>
            <a:endParaRPr lang="en-IN" sz="2133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1376"/>
            <a:ext cx="11216640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>
                <a:solidFill>
                  <a:srgbClr val="1A3257"/>
                </a:solidFill>
                <a:latin typeface="Georgia" pitchFamily="34" charset="0"/>
              </a:rPr>
              <a:t>Key Takeaways for Adaptation in Rajasthan</a:t>
            </a:r>
          </a:p>
        </p:txBody>
      </p:sp>
      <p:sp>
        <p:nvSpPr>
          <p:cNvPr id="3" name="Text 1"/>
          <p:cNvSpPr/>
          <p:nvPr/>
        </p:nvSpPr>
        <p:spPr>
          <a:xfrm>
            <a:off x="548640" y="926592"/>
            <a:ext cx="1121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Practices observed during the study visit — review &amp; revision and audit planning</a:t>
            </a:r>
            <a:endParaRPr lang="en-US" sz="1600"/>
          </a:p>
        </p:txBody>
      </p:sp>
      <p:sp>
        <p:nvSpPr>
          <p:cNvPr id="5" name="Shape 3"/>
          <p:cNvSpPr/>
          <p:nvPr/>
        </p:nvSpPr>
        <p:spPr>
          <a:xfrm>
            <a:off x="548640" y="1686270"/>
            <a:ext cx="7368033" cy="6531138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01600" dist="508" dir="5400000" algn="bl" rotWithShape="0">
              <a:srgbClr val="9AA9B8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865632" y="1978878"/>
            <a:ext cx="487680" cy="487680"/>
          </a:xfrm>
          <a:prstGeom prst="ellipse">
            <a:avLst/>
          </a:prstGeom>
          <a:solidFill>
            <a:srgbClr val="0B2E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865632" y="1978878"/>
            <a:ext cx="4876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/>
          </a:p>
        </p:txBody>
      </p:sp>
      <p:pic>
        <p:nvPicPr>
          <p:cNvPr id="8" name="Image 0" descr="/home/claude/work/icon-review.png"/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7083552" y="1978878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75232" y="1954494"/>
            <a:ext cx="5510784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0B2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Review &amp; Revision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01116" y="2710397"/>
            <a:ext cx="6986524" cy="2211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195" indent="-203195">
              <a:lnSpc>
                <a:spcPct val="98000"/>
              </a:lnSpc>
              <a:spcAft>
                <a:spcPts val="667"/>
              </a:spcAft>
              <a:buSzPct val="100000"/>
              <a:buChar char="•"/>
            </a:pPr>
            <a:r>
              <a:rPr lang="en-US" sz="2600" b="1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Review Branch</a:t>
            </a: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head office </a:t>
            </a:r>
          </a:p>
          <a:p>
            <a:pPr marL="203195" indent="-203195">
              <a:lnSpc>
                <a:spcPct val="98000"/>
              </a:lnSpc>
              <a:spcAft>
                <a:spcPts val="667"/>
              </a:spcAft>
              <a:buSzPct val="100000"/>
              <a:buChar char="•"/>
            </a:pPr>
            <a:r>
              <a:rPr lang="en-US" sz="2600" b="1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selection &amp; Targets</a:t>
            </a: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orders dropping high-value Show Cause Notices, substantial refund orders, registration cancellations and cases of wilful misstatement or fraud</a:t>
            </a:r>
          </a:p>
          <a:p>
            <a:pPr marL="203195" indent="-203195">
              <a:lnSpc>
                <a:spcPct val="98000"/>
              </a:lnSpc>
              <a:spcAft>
                <a:spcPts val="667"/>
              </a:spcAft>
              <a:buSzPct val="100000"/>
              <a:buChar char="•"/>
            </a:pP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fixed for each division: </a:t>
            </a:r>
            <a:r>
              <a:rPr lang="en-US" sz="2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85 cases per month</a:t>
            </a:r>
            <a:r>
              <a:rPr lang="en-US" sz="2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2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1020 cases per year</a:t>
            </a:r>
          </a:p>
          <a:p>
            <a:pPr marL="203195" indent="-203195">
              <a:lnSpc>
                <a:spcPct val="98000"/>
              </a:lnSpc>
              <a:spcAft>
                <a:spcPts val="667"/>
              </a:spcAft>
              <a:buSzPct val="100000"/>
              <a:buChar char="•"/>
            </a:pPr>
            <a:r>
              <a:rPr lang="en-US" sz="2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Use of AI-Models </a:t>
            </a:r>
            <a:r>
              <a:rPr lang="en-US" sz="2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to ascertain quality of appellate orders and assist in decision regarding further appeal</a:t>
            </a:r>
          </a:p>
        </p:txBody>
      </p:sp>
      <p:sp>
        <p:nvSpPr>
          <p:cNvPr id="11" name="Shape 8"/>
          <p:cNvSpPr/>
          <p:nvPr/>
        </p:nvSpPr>
        <p:spPr>
          <a:xfrm>
            <a:off x="736600" y="6887680"/>
            <a:ext cx="6761480" cy="1136904"/>
          </a:xfrm>
          <a:prstGeom prst="roundRect">
            <a:avLst>
              <a:gd name="adj" fmla="val 15789"/>
            </a:avLst>
          </a:prstGeom>
          <a:solidFill>
            <a:srgbClr val="F1F6FB"/>
          </a:solidFill>
          <a:ln w="6350">
            <a:solidFill>
              <a:srgbClr val="F1F6F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865632" y="7075495"/>
            <a:ext cx="6487029" cy="761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C260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 </a:t>
            </a:r>
            <a:r>
              <a:rPr lang="en-US" sz="24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uniform, quality orders  ·  reduced litigation  ·  timely appeal and revision of orders affecting Govt. revenue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8279253" y="1686270"/>
            <a:ext cx="7637272" cy="6531138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01600" dist="508" dir="5400000" algn="bl" rotWithShape="0">
              <a:srgbClr val="9AA9B8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1"/>
          <p:cNvSpPr/>
          <p:nvPr/>
        </p:nvSpPr>
        <p:spPr>
          <a:xfrm>
            <a:off x="8656320" y="1978878"/>
            <a:ext cx="487680" cy="487680"/>
          </a:xfrm>
          <a:prstGeom prst="ellipse">
            <a:avLst/>
          </a:prstGeom>
          <a:solidFill>
            <a:srgbClr val="0B2E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8656320" y="1978878"/>
            <a:ext cx="4876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/>
          </a:p>
        </p:txBody>
      </p:sp>
      <p:pic>
        <p:nvPicPr>
          <p:cNvPr id="16" name="Image 1" descr="/home/claude/work/icon-audit.png"/>
          <p:cNvPicPr>
            <a:picLocks noChangeAspect="1"/>
          </p:cNvPicPr>
          <p:nvPr/>
        </p:nvPicPr>
        <p:blipFill>
          <a:blip r:embed="rId4">
            <a:alphaModFix amt="75000"/>
          </a:blip>
          <a:stretch>
            <a:fillRect/>
          </a:stretch>
        </p:blipFill>
        <p:spPr>
          <a:xfrm>
            <a:off x="14874240" y="1978878"/>
            <a:ext cx="438912" cy="43891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265920" y="1954494"/>
            <a:ext cx="5510784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0B2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Planning &amp; Case Selection</a:t>
            </a:r>
            <a:endParaRPr lang="en-US" sz="3000" dirty="0"/>
          </a:p>
        </p:txBody>
      </p:sp>
      <p:sp>
        <p:nvSpPr>
          <p:cNvPr id="18" name="Text 14"/>
          <p:cNvSpPr/>
          <p:nvPr/>
        </p:nvSpPr>
        <p:spPr>
          <a:xfrm>
            <a:off x="9119108" y="2911566"/>
            <a:ext cx="6072632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195" indent="-203195">
              <a:spcAft>
                <a:spcPts val="667"/>
              </a:spcAft>
              <a:buSzPct val="100000"/>
              <a:buChar char="•"/>
            </a:pP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</a:t>
            </a:r>
            <a:r>
              <a:rPr lang="en-US" sz="2600" b="1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selection committee</a:t>
            </a: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finalize the annual audit plan</a:t>
            </a:r>
          </a:p>
          <a:p>
            <a:pPr marL="203195" indent="-203195">
              <a:spcAft>
                <a:spcPts val="667"/>
              </a:spcAft>
              <a:buSzPct val="100000"/>
              <a:buChar char="•"/>
            </a:pPr>
            <a:r>
              <a:rPr lang="en-US" sz="2600" b="1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taxpayers</a:t>
            </a: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profiled and taken up based on multiple risk parameters</a:t>
            </a:r>
          </a:p>
          <a:p>
            <a:pPr marL="203195" indent="-203195">
              <a:spcAft>
                <a:spcPts val="667"/>
              </a:spcAft>
              <a:buSzPct val="100000"/>
              <a:buChar char="•"/>
            </a:pPr>
            <a:r>
              <a:rPr lang="en-US" sz="2600" b="1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Sector-focused, thematic and emerging-risk</a:t>
            </a: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audits, with repeat audit where prior-year recovery was substantial and risk parameters persist</a:t>
            </a:r>
          </a:p>
        </p:txBody>
      </p:sp>
      <p:sp>
        <p:nvSpPr>
          <p:cNvPr id="19" name="Shape 15"/>
          <p:cNvSpPr/>
          <p:nvPr/>
        </p:nvSpPr>
        <p:spPr>
          <a:xfrm>
            <a:off x="8656320" y="6895301"/>
            <a:ext cx="6998208" cy="1136904"/>
          </a:xfrm>
          <a:prstGeom prst="roundRect">
            <a:avLst>
              <a:gd name="adj" fmla="val 15789"/>
            </a:avLst>
          </a:prstGeom>
          <a:solidFill>
            <a:srgbClr val="F1F6FB"/>
          </a:solidFill>
          <a:ln w="6350">
            <a:solidFill>
              <a:srgbClr val="F1F6F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6"/>
          <p:cNvSpPr/>
          <p:nvPr/>
        </p:nvSpPr>
        <p:spPr>
          <a:xfrm>
            <a:off x="8900160" y="7075494"/>
            <a:ext cx="6714148" cy="761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C260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 </a:t>
            </a:r>
            <a:r>
              <a:rPr lang="en-US" sz="24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recovery per audit and better deployment of limited officer strength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1376"/>
            <a:ext cx="11216640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>
                <a:solidFill>
                  <a:srgbClr val="1A3257"/>
                </a:solidFill>
                <a:latin typeface="Georgia" pitchFamily="34" charset="0"/>
              </a:rPr>
              <a:t>Key Takeaways for Adaptation in Rajasthan</a:t>
            </a:r>
          </a:p>
        </p:txBody>
      </p:sp>
      <p:sp>
        <p:nvSpPr>
          <p:cNvPr id="3" name="Text 1"/>
          <p:cNvSpPr/>
          <p:nvPr/>
        </p:nvSpPr>
        <p:spPr>
          <a:xfrm>
            <a:off x="548640" y="926592"/>
            <a:ext cx="1121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Practices observed during the study visit — registration control and risk-based identification</a:t>
            </a:r>
            <a:endParaRPr lang="en-US" sz="160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7579360" cy="714756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01600" dist="508" dir="5400000" algn="bl" rotWithShape="0">
              <a:srgbClr val="9AA9B8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865632" y="1755648"/>
            <a:ext cx="487680" cy="487680"/>
          </a:xfrm>
          <a:prstGeom prst="ellipse">
            <a:avLst/>
          </a:prstGeom>
          <a:solidFill>
            <a:srgbClr val="0B2E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865632" y="1755648"/>
            <a:ext cx="4876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/>
          </a:p>
        </p:txBody>
      </p:sp>
      <p:pic>
        <p:nvPicPr>
          <p:cNvPr id="8" name="Image 0" descr="/home/claude/work/icon-registration.png"/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7083552" y="1755648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75232" y="1731264"/>
            <a:ext cx="5608320" cy="646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0B2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Control &amp; Bank account verification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997712" y="2778252"/>
            <a:ext cx="6465824" cy="4405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195" indent="-203195">
              <a:lnSpc>
                <a:spcPct val="98000"/>
              </a:lnSpc>
              <a:spcAft>
                <a:spcPts val="1200"/>
              </a:spcAft>
              <a:buSzPct val="100000"/>
              <a:buChar char="•"/>
            </a:pPr>
            <a:r>
              <a:rPr lang="en-US" sz="2600" b="1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PAN-based search</a:t>
            </a: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time of registration to minimize already-cancelled firms obtaining fresh registration</a:t>
            </a:r>
            <a:endParaRPr lang="en-US" sz="2600" dirty="0"/>
          </a:p>
          <a:p>
            <a:pPr marL="203195" indent="-203195">
              <a:lnSpc>
                <a:spcPct val="98000"/>
              </a:lnSpc>
              <a:spcAft>
                <a:spcPts val="1200"/>
              </a:spcAft>
              <a:buSzPct val="100000"/>
              <a:buChar char="•"/>
            </a:pP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monitoring of </a:t>
            </a:r>
            <a:r>
              <a:rPr lang="en-US" sz="2600" b="1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registration</a:t>
            </a: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during the </a:t>
            </a:r>
            <a:r>
              <a:rPr lang="en-US" sz="2600" b="1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6 months</a:t>
            </a: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operation to prevent misuse of ITC</a:t>
            </a:r>
            <a:endParaRPr lang="en-US" sz="2600" dirty="0"/>
          </a:p>
          <a:p>
            <a:pPr marL="203195" indent="-203195">
              <a:lnSpc>
                <a:spcPct val="98000"/>
              </a:lnSpc>
              <a:spcAft>
                <a:spcPts val="1200"/>
              </a:spcAft>
              <a:buSzPct val="100000"/>
              <a:buChar char="•"/>
            </a:pP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</a:t>
            </a:r>
            <a:r>
              <a:rPr lang="en-US" sz="2600" b="1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non-filer monitoring</a:t>
            </a: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identification of dormant and suspicious taxpayers for follow-up action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914400" y="7412736"/>
            <a:ext cx="6832600" cy="969264"/>
          </a:xfrm>
          <a:prstGeom prst="roundRect">
            <a:avLst>
              <a:gd name="adj" fmla="val 15789"/>
            </a:avLst>
          </a:prstGeom>
          <a:solidFill>
            <a:srgbClr val="F1F6FB"/>
          </a:solidFill>
          <a:ln w="6350">
            <a:solidFill>
              <a:srgbClr val="F1F6F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1060704" y="7708392"/>
            <a:ext cx="6686296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>
                <a:solidFill>
                  <a:srgbClr val="C260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 </a:t>
            </a:r>
            <a:r>
              <a:rPr lang="en-US" sz="240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control at source — bogus firms stopped before ITC leakage begins</a:t>
            </a:r>
            <a:endParaRPr lang="en-US" sz="2400"/>
          </a:p>
        </p:txBody>
      </p:sp>
      <p:sp>
        <p:nvSpPr>
          <p:cNvPr id="13" name="Shape 10"/>
          <p:cNvSpPr/>
          <p:nvPr/>
        </p:nvSpPr>
        <p:spPr>
          <a:xfrm>
            <a:off x="8339328" y="1463040"/>
            <a:ext cx="7579360" cy="714756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blurRad="101600" dist="508" dir="5400000" algn="bl" rotWithShape="0">
              <a:srgbClr val="9AA9B8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1"/>
          <p:cNvSpPr/>
          <p:nvPr/>
        </p:nvSpPr>
        <p:spPr>
          <a:xfrm>
            <a:off x="8656320" y="1755648"/>
            <a:ext cx="487680" cy="487680"/>
          </a:xfrm>
          <a:prstGeom prst="ellipse">
            <a:avLst/>
          </a:prstGeom>
          <a:solidFill>
            <a:srgbClr val="0B2E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8656320" y="1755648"/>
            <a:ext cx="4876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/>
          </a:p>
        </p:txBody>
      </p:sp>
      <p:pic>
        <p:nvPicPr>
          <p:cNvPr id="16" name="Image 1" descr="/home/claude/work/icon-risk.png"/>
          <p:cNvPicPr>
            <a:picLocks noChangeAspect="1"/>
          </p:cNvPicPr>
          <p:nvPr/>
        </p:nvPicPr>
        <p:blipFill>
          <a:blip r:embed="rId4">
            <a:alphaModFix amt="75000"/>
          </a:blip>
          <a:stretch>
            <a:fillRect/>
          </a:stretch>
        </p:blipFill>
        <p:spPr>
          <a:xfrm>
            <a:off x="14874240" y="1755648"/>
            <a:ext cx="438912" cy="43891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265920" y="1731264"/>
            <a:ext cx="5510784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0B2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</a:t>
            </a:r>
            <a:endParaRPr lang="en-US" sz="3000" dirty="0"/>
          </a:p>
        </p:txBody>
      </p:sp>
      <p:sp>
        <p:nvSpPr>
          <p:cNvPr id="18" name="Text 14"/>
          <p:cNvSpPr/>
          <p:nvPr/>
        </p:nvSpPr>
        <p:spPr>
          <a:xfrm>
            <a:off x="8924544" y="2660904"/>
            <a:ext cx="6339840" cy="5047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195" indent="-203195">
              <a:lnSpc>
                <a:spcPct val="98000"/>
              </a:lnSpc>
              <a:spcAft>
                <a:spcPts val="667"/>
              </a:spcAft>
              <a:buSzPct val="100000"/>
              <a:buChar char="•"/>
            </a:pPr>
            <a:r>
              <a:rPr lang="en-US" sz="2600" b="1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risk profile</a:t>
            </a: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each taxpayer built from returns, e-way bill movement, registration history and third-party data</a:t>
            </a:r>
            <a:endParaRPr lang="en-US" sz="2600" dirty="0"/>
          </a:p>
          <a:p>
            <a:pPr marL="203195" indent="-203195">
              <a:lnSpc>
                <a:spcPct val="98000"/>
              </a:lnSpc>
              <a:spcAft>
                <a:spcPts val="667"/>
              </a:spcAft>
              <a:buSzPct val="100000"/>
              <a:buChar char="•"/>
            </a:pPr>
            <a:r>
              <a:rPr lang="en-US" sz="2600" b="1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Early-bird predictive detection</a:t>
            </a: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e-way bill data — commodity wise, location wise analysis of supply and purchase (for example, consignments originating from North-Eastern States)</a:t>
            </a:r>
            <a:endParaRPr lang="en-US" sz="2600" dirty="0"/>
          </a:p>
          <a:p>
            <a:pPr marL="203195" indent="-203195">
              <a:lnSpc>
                <a:spcPct val="98000"/>
              </a:lnSpc>
              <a:spcAft>
                <a:spcPts val="667"/>
              </a:spcAft>
              <a:buSzPct val="100000"/>
              <a:buChar char="•"/>
            </a:pPr>
            <a:r>
              <a:rPr lang="en-US" sz="2600" b="1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contingency fund</a:t>
            </a: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provided every year for raid, checking and field operations, and developing own intelligence</a:t>
            </a:r>
            <a:endParaRPr lang="en-US" sz="2600" dirty="0"/>
          </a:p>
        </p:txBody>
      </p:sp>
      <p:sp>
        <p:nvSpPr>
          <p:cNvPr id="19" name="Shape 15"/>
          <p:cNvSpPr/>
          <p:nvPr/>
        </p:nvSpPr>
        <p:spPr>
          <a:xfrm>
            <a:off x="8705088" y="7412736"/>
            <a:ext cx="6632448" cy="969264"/>
          </a:xfrm>
          <a:prstGeom prst="roundRect">
            <a:avLst>
              <a:gd name="adj" fmla="val 15789"/>
            </a:avLst>
          </a:prstGeom>
          <a:solidFill>
            <a:srgbClr val="F1F6FB"/>
          </a:solidFill>
          <a:ln w="6350">
            <a:solidFill>
              <a:srgbClr val="F1F6F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6"/>
          <p:cNvSpPr/>
          <p:nvPr/>
        </p:nvSpPr>
        <p:spPr>
          <a:xfrm>
            <a:off x="8851392" y="7690104"/>
            <a:ext cx="633984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C260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 </a:t>
            </a:r>
            <a:r>
              <a:rPr lang="en-US" sz="24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Preventing establishment of fake firm networks and targeted enforcement actions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61999" y="465607"/>
            <a:ext cx="16205200" cy="606160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/>
          </a:bodyPr>
          <a:lstStyle/>
          <a:p>
            <a:pPr>
              <a:lnSpc>
                <a:spcPct val="114576"/>
              </a:lnSpc>
            </a:pPr>
            <a:r>
              <a:rPr lang="en-US" sz="3467" b="1" dirty="0">
                <a:solidFill>
                  <a:srgbClr val="1A3257"/>
                </a:solidFill>
                <a:latin typeface="Georgia" pitchFamily="34" charset="0"/>
              </a:rPr>
              <a:t>Enforcement</a:t>
            </a:r>
          </a:p>
        </p:txBody>
      </p:sp>
      <p:sp>
        <p:nvSpPr>
          <p:cNvPr id="9" name="Text 7"/>
          <p:cNvSpPr/>
          <p:nvPr/>
        </p:nvSpPr>
        <p:spPr>
          <a:xfrm>
            <a:off x="1007533" y="1821128"/>
            <a:ext cx="6285627" cy="22436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 lnSpcReduction="10000"/>
          </a:bodyPr>
          <a:lstStyle/>
          <a:p>
            <a:pPr>
              <a:lnSpc>
                <a:spcPct val="132353"/>
              </a:lnSpc>
            </a:pPr>
            <a:r>
              <a:rPr lang="en-US" sz="1000" b="1" kern="0" spc="100">
                <a:solidFill>
                  <a:srgbClr val="1F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DIRECTIONS</a:t>
            </a:r>
            <a:endParaRPr lang="en-US" sz="1000"/>
          </a:p>
        </p:txBody>
      </p:sp>
      <p:sp>
        <p:nvSpPr>
          <p:cNvPr id="4" name="Shape 2"/>
          <p:cNvSpPr/>
          <p:nvPr/>
        </p:nvSpPr>
        <p:spPr>
          <a:xfrm>
            <a:off x="761999" y="1575594"/>
            <a:ext cx="12533231" cy="2850759"/>
          </a:xfrm>
          <a:prstGeom prst="roundRect">
            <a:avLst>
              <a:gd name="adj" fmla="val 3063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1C1A15">
                <a:alpha val="8000"/>
              </a:srgbClr>
            </a:outerShdw>
          </a:effectLst>
        </p:spPr>
        <p:txBody>
          <a:bodyPr/>
          <a:lstStyle/>
          <a:p>
            <a:endParaRPr lang="en-IN" sz="2844"/>
          </a:p>
        </p:txBody>
      </p:sp>
      <p:sp>
        <p:nvSpPr>
          <p:cNvPr id="5" name="Shape 3"/>
          <p:cNvSpPr/>
          <p:nvPr/>
        </p:nvSpPr>
        <p:spPr>
          <a:xfrm>
            <a:off x="670782" y="4331494"/>
            <a:ext cx="12743288" cy="8467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2844"/>
          </a:p>
        </p:txBody>
      </p:sp>
      <p:sp>
        <p:nvSpPr>
          <p:cNvPr id="6" name="Shape 4"/>
          <p:cNvSpPr/>
          <p:nvPr/>
        </p:nvSpPr>
        <p:spPr>
          <a:xfrm>
            <a:off x="761999" y="1575593"/>
            <a:ext cx="12518861" cy="76417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endParaRPr lang="en-IN" sz="2844"/>
          </a:p>
        </p:txBody>
      </p:sp>
      <p:sp>
        <p:nvSpPr>
          <p:cNvPr id="7" name="Shape 5"/>
          <p:cNvSpPr/>
          <p:nvPr/>
        </p:nvSpPr>
        <p:spPr>
          <a:xfrm>
            <a:off x="761999" y="1575594"/>
            <a:ext cx="14370" cy="2764367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2844"/>
          </a:p>
        </p:txBody>
      </p:sp>
      <p:sp>
        <p:nvSpPr>
          <p:cNvPr id="8" name="Shape 6"/>
          <p:cNvSpPr/>
          <p:nvPr/>
        </p:nvSpPr>
        <p:spPr>
          <a:xfrm>
            <a:off x="13295230" y="1575594"/>
            <a:ext cx="14370" cy="2764367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2844"/>
          </a:p>
        </p:txBody>
      </p:sp>
      <p:sp>
        <p:nvSpPr>
          <p:cNvPr id="11" name="Text 9"/>
          <p:cNvSpPr/>
          <p:nvPr/>
        </p:nvSpPr>
        <p:spPr>
          <a:xfrm>
            <a:off x="1097904" y="2255402"/>
            <a:ext cx="8859184" cy="302766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0435"/>
              </a:lnSpc>
            </a:pPr>
            <a:r>
              <a:rPr lang="en-US" sz="2400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Take state-wide action against ITC fraud and fake networks.</a:t>
            </a:r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1097904" y="2850848"/>
            <a:ext cx="8767237" cy="28180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0435"/>
              </a:lnSpc>
            </a:pPr>
            <a:r>
              <a:rPr lang="en-US" sz="2400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Use intelligence-based decoy operations in high-risk sectors.</a:t>
            </a:r>
            <a:endParaRPr lang="en-US" sz="2400"/>
          </a:p>
        </p:txBody>
      </p:sp>
      <p:sp>
        <p:nvSpPr>
          <p:cNvPr id="15" name="Text 13"/>
          <p:cNvSpPr/>
          <p:nvPr/>
        </p:nvSpPr>
        <p:spPr>
          <a:xfrm>
            <a:off x="1081371" y="3450731"/>
            <a:ext cx="9915048" cy="438743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0435"/>
              </a:lnSpc>
            </a:pPr>
            <a:r>
              <a:rPr lang="en-US" sz="2400">
                <a:solidFill>
                  <a:srgbClr val="322E25"/>
                </a:solidFill>
                <a:latin typeface="Arial" pitchFamily="34" charset="0"/>
                <a:cs typeface="Arial" pitchFamily="34" charset="-120"/>
              </a:rPr>
              <a:t>- Sector-wise calendar based on festivals etc., for anti-evasion action</a:t>
            </a:r>
            <a:r>
              <a:rPr lang="en-US" sz="2400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400"/>
          </a:p>
        </p:txBody>
      </p:sp>
      <p:sp>
        <p:nvSpPr>
          <p:cNvPr id="51" name="Text 8">
            <a:extLst>
              <a:ext uri="{FF2B5EF4-FFF2-40B4-BE49-F238E27FC236}">
                <a16:creationId xmlns:a16="http://schemas.microsoft.com/office/drawing/2014/main" id="{B21D7F37-FA85-3375-5F46-AE7626A1D698}"/>
              </a:ext>
            </a:extLst>
          </p:cNvPr>
          <p:cNvSpPr/>
          <p:nvPr/>
        </p:nvSpPr>
        <p:spPr>
          <a:xfrm>
            <a:off x="909362" y="1719527"/>
            <a:ext cx="8188312" cy="383248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2353"/>
              </a:lnSpc>
            </a:pPr>
            <a:r>
              <a:rPr lang="en-US" sz="2000" b="1" kern="0" spc="100" dirty="0">
                <a:solidFill>
                  <a:srgbClr val="1F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DIRECTIONS</a:t>
            </a:r>
            <a:endParaRPr lang="en-US" sz="20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9E4CE2AF-DED5-C190-DDC3-B6E5F48AC29E}"/>
              </a:ext>
            </a:extLst>
          </p:cNvPr>
          <p:cNvSpPr/>
          <p:nvPr/>
        </p:nvSpPr>
        <p:spPr>
          <a:xfrm>
            <a:off x="769184" y="4426353"/>
            <a:ext cx="8188312" cy="383248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2353"/>
              </a:lnSpc>
            </a:pPr>
            <a:r>
              <a:rPr lang="en-US" sz="2800" b="1" kern="0" spc="100" dirty="0">
                <a:solidFill>
                  <a:srgbClr val="1F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</a:t>
            </a:r>
            <a:endParaRPr lang="en-US" sz="2800" dirty="0"/>
          </a:p>
        </p:txBody>
      </p:sp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1F6B0DB2-7FCE-59AA-D884-B41A449303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0824354"/>
              </p:ext>
            </p:extLst>
          </p:nvPr>
        </p:nvGraphicFramePr>
        <p:xfrm>
          <a:off x="776369" y="5078809"/>
          <a:ext cx="14100480" cy="3413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0096">
                  <a:extLst>
                    <a:ext uri="{9D8B030D-6E8A-4147-A177-3AD203B41FA5}">
                      <a16:colId xmlns:a16="http://schemas.microsoft.com/office/drawing/2014/main" val="2833621811"/>
                    </a:ext>
                  </a:extLst>
                </a:gridCol>
                <a:gridCol w="2820096">
                  <a:extLst>
                    <a:ext uri="{9D8B030D-6E8A-4147-A177-3AD203B41FA5}">
                      <a16:colId xmlns:a16="http://schemas.microsoft.com/office/drawing/2014/main" val="1661273952"/>
                    </a:ext>
                  </a:extLst>
                </a:gridCol>
                <a:gridCol w="2820096">
                  <a:extLst>
                    <a:ext uri="{9D8B030D-6E8A-4147-A177-3AD203B41FA5}">
                      <a16:colId xmlns:a16="http://schemas.microsoft.com/office/drawing/2014/main" val="329132918"/>
                    </a:ext>
                  </a:extLst>
                </a:gridCol>
                <a:gridCol w="2820096">
                  <a:extLst>
                    <a:ext uri="{9D8B030D-6E8A-4147-A177-3AD203B41FA5}">
                      <a16:colId xmlns:a16="http://schemas.microsoft.com/office/drawing/2014/main" val="2694506363"/>
                    </a:ext>
                  </a:extLst>
                </a:gridCol>
                <a:gridCol w="2820096">
                  <a:extLst>
                    <a:ext uri="{9D8B030D-6E8A-4147-A177-3AD203B41FA5}">
                      <a16:colId xmlns:a16="http://schemas.microsoft.com/office/drawing/2014/main" val="802626853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Particulars</a:t>
                      </a:r>
                      <a:endParaRPr 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Completed </a:t>
                      </a:r>
                      <a:br>
                        <a:rPr lang="en-US" sz="2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</a:br>
                      <a:r>
                        <a:rPr lang="en-US" sz="2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FY25–26</a:t>
                      </a:r>
                      <a:endParaRPr 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 to June’26</a:t>
                      </a:r>
                      <a:endParaRPr 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July’26</a:t>
                      </a:r>
                      <a:endParaRPr lang="en-IN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FY 26-27 Overall</a:t>
                      </a:r>
                      <a:endParaRPr lang="en-IN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325727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No. of cases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638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221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121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312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6606095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Revenue Detected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-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310 Cr.</a:t>
                      </a:r>
                      <a:endParaRPr lang="en-IN" sz="24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216 Cr.</a:t>
                      </a:r>
                      <a:endParaRPr lang="en-IN" sz="24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526 Cr.</a:t>
                      </a:r>
                      <a:endParaRPr lang="en-IN" sz="24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1279928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Voluntary Payments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459 Cr</a:t>
                      </a:r>
                      <a:endParaRPr lang="en-IN" sz="24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185.38 Cr</a:t>
                      </a:r>
                      <a:endParaRPr lang="en-IN" sz="24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59.16 Cr</a:t>
                      </a:r>
                      <a:endParaRPr lang="en-IN" sz="24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dirty="0">
                          <a:solidFill>
                            <a:srgbClr val="C00000"/>
                          </a:solidFill>
                          <a:latin typeface="Arial" pitchFamily="34" charset="0"/>
                          <a:cs typeface="Arial" pitchFamily="34" charset="-120"/>
                        </a:rPr>
                        <a:t>244.54 Cr</a:t>
                      </a:r>
                      <a:endParaRPr lang="en-IN" sz="2400" b="1" kern="1200" dirty="0">
                        <a:solidFill>
                          <a:srgbClr val="C00000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94246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0E81C-10DF-CFD1-796C-E5C38EB8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C4442C1-FFEC-2B10-8C91-15A0602DAD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9374503"/>
              </p:ext>
            </p:extLst>
          </p:nvPr>
        </p:nvGraphicFramePr>
        <p:xfrm>
          <a:off x="428752" y="1690806"/>
          <a:ext cx="15398496" cy="7056954"/>
        </p:xfrm>
        <a:graphic>
          <a:graphicData uri="http://schemas.openxmlformats.org/drawingml/2006/table">
            <a:tbl>
              <a:tblPr>
                <a:tableStyleId>{8799B23B-EC83-4686-B30A-512413B5E67A}</a:tableStyleId>
              </a:tblPr>
              <a:tblGrid>
                <a:gridCol w="4727448">
                  <a:extLst>
                    <a:ext uri="{9D8B030D-6E8A-4147-A177-3AD203B41FA5}">
                      <a16:colId xmlns:a16="http://schemas.microsoft.com/office/drawing/2014/main" val="1638227884"/>
                    </a:ext>
                  </a:extLst>
                </a:gridCol>
                <a:gridCol w="10671048">
                  <a:extLst>
                    <a:ext uri="{9D8B030D-6E8A-4147-A177-3AD203B41FA5}">
                      <a16:colId xmlns:a16="http://schemas.microsoft.com/office/drawing/2014/main" val="1291300734"/>
                    </a:ext>
                  </a:extLst>
                </a:gridCol>
              </a:tblGrid>
              <a:tr h="6866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 dirty="0">
                          <a:solidFill>
                            <a:schemeClr val="bg1"/>
                          </a:solidFill>
                        </a:rPr>
                        <a:t>Parameter</a:t>
                      </a:r>
                      <a:endParaRPr lang="en-IN" sz="3200" dirty="0">
                        <a:solidFill>
                          <a:schemeClr val="bg1"/>
                        </a:solidFill>
                      </a:endParaRPr>
                    </a:p>
                  </a:txBody>
                  <a:tcPr marL="107660" marR="107660" marT="53830" marB="53830" anchor="ctr"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>
                          <a:solidFill>
                            <a:schemeClr val="bg1"/>
                          </a:solidFill>
                        </a:rPr>
                        <a:t>Details</a:t>
                      </a:r>
                      <a:endParaRPr lang="en-IN" sz="3200">
                        <a:solidFill>
                          <a:schemeClr val="bg1"/>
                        </a:solidFill>
                      </a:endParaRPr>
                    </a:p>
                  </a:txBody>
                  <a:tcPr marL="107660" marR="107660" marT="53830" marB="53830" anchor="ctr">
                    <a:solidFill>
                      <a:srgbClr val="20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872155"/>
                  </a:ext>
                </a:extLst>
              </a:tr>
              <a:tr h="6866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/>
                        <a:t>Sector Covered</a:t>
                      </a:r>
                      <a:endParaRPr lang="en-IN" sz="3200"/>
                    </a:p>
                  </a:txBody>
                  <a:tcPr marL="107660" marR="107660" marT="53830" marB="5383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 dirty="0"/>
                        <a:t>Coaching Institutes</a:t>
                      </a:r>
                    </a:p>
                  </a:txBody>
                  <a:tcPr marL="107660" marR="107660" marT="53830" marB="53830" anchor="ctr"/>
                </a:tc>
                <a:extLst>
                  <a:ext uri="{0D108BD9-81ED-4DB2-BD59-A6C34878D82A}">
                    <a16:rowId xmlns:a16="http://schemas.microsoft.com/office/drawing/2014/main" val="3556620748"/>
                  </a:ext>
                </a:extLst>
              </a:tr>
              <a:tr h="181173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/>
                        <a:t>Operations Conducted</a:t>
                      </a:r>
                      <a:endParaRPr lang="en-IN" sz="3200"/>
                    </a:p>
                  </a:txBody>
                  <a:tcPr marL="107660" marR="107660" marT="53830" marB="5383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 dirty="0"/>
                        <a:t>8 decoy operations</a:t>
                      </a:r>
                      <a:r>
                        <a:rPr lang="en-IN" sz="3200" dirty="0"/>
                        <a:t> across multiple districts of Rajasthan</a:t>
                      </a:r>
                    </a:p>
                    <a:p>
                      <a:pPr marL="1066785" lvl="1" indent="-457200" algn="l">
                        <a:buFont typeface="Arial" panose="020B0604020202020204" pitchFamily="34" charset="0"/>
                        <a:buChar char="•"/>
                      </a:pPr>
                      <a:r>
                        <a:rPr lang="en-IN" sz="3200" dirty="0"/>
                        <a:t>Parth Career Institute, Sikar</a:t>
                      </a:r>
                    </a:p>
                    <a:p>
                      <a:pPr marL="1066785" lvl="1" indent="-457200" algn="l">
                        <a:buFont typeface="Arial" panose="020B0604020202020204" pitchFamily="34" charset="0"/>
                        <a:buChar char="•"/>
                      </a:pPr>
                      <a:r>
                        <a:rPr lang="en-IN" sz="3200" dirty="0"/>
                        <a:t>Prayas Coaching Institute, Sikar</a:t>
                      </a:r>
                    </a:p>
                  </a:txBody>
                  <a:tcPr marL="107660" marR="107660" marT="53830" marB="53830" anchor="ctr"/>
                </a:tc>
                <a:extLst>
                  <a:ext uri="{0D108BD9-81ED-4DB2-BD59-A6C34878D82A}">
                    <a16:rowId xmlns:a16="http://schemas.microsoft.com/office/drawing/2014/main" val="723110278"/>
                  </a:ext>
                </a:extLst>
              </a:tr>
              <a:tr h="181173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/>
                        <a:t>Modus Operandi Identified</a:t>
                      </a:r>
                      <a:endParaRPr lang="en-IN" sz="3200"/>
                    </a:p>
                  </a:txBody>
                  <a:tcPr marL="107660" marR="107660" marT="53830" marB="53830" anchor="ctr"/>
                </a:tc>
                <a:tc>
                  <a:txBody>
                    <a:bodyPr/>
                    <a:lstStyle/>
                    <a:p>
                      <a:pPr marL="0" marR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3200" dirty="0"/>
                        <a:t>• Suppression of taxable turnover by Non-issuance of tax invoices</a:t>
                      </a:r>
                      <a:r>
                        <a:rPr lang="en-IN" sz="3200" baseline="0" dirty="0"/>
                        <a:t> and </a:t>
                      </a:r>
                      <a:r>
                        <a:rPr lang="en-IN" sz="3200" dirty="0"/>
                        <a:t>Cash collections kept outside GST records</a:t>
                      </a:r>
                    </a:p>
                    <a:p>
                      <a:pPr algn="l">
                        <a:buNone/>
                      </a:pPr>
                      <a:r>
                        <a:rPr lang="en-IN" sz="3200" dirty="0"/>
                        <a:t>• Incorrect / Excess ITC claim</a:t>
                      </a:r>
                    </a:p>
                  </a:txBody>
                  <a:tcPr marL="107660" marR="107660" marT="53830" marB="53830" anchor="ctr"/>
                </a:tc>
                <a:extLst>
                  <a:ext uri="{0D108BD9-81ED-4DB2-BD59-A6C34878D82A}">
                    <a16:rowId xmlns:a16="http://schemas.microsoft.com/office/drawing/2014/main" val="3927817683"/>
                  </a:ext>
                </a:extLst>
              </a:tr>
              <a:tr h="6866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 dirty="0"/>
                        <a:t>Revenue Identified</a:t>
                      </a:r>
                      <a:endParaRPr lang="en-IN" sz="3200" dirty="0"/>
                    </a:p>
                  </a:txBody>
                  <a:tcPr marL="107660" marR="107660" marT="53830" marB="5383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 dirty="0"/>
                        <a:t>₹ 9.2 Crore</a:t>
                      </a:r>
                    </a:p>
                  </a:txBody>
                  <a:tcPr marL="107660" marR="107660" marT="53830" marB="53830" anchor="ctr"/>
                </a:tc>
                <a:extLst>
                  <a:ext uri="{0D108BD9-81ED-4DB2-BD59-A6C34878D82A}">
                    <a16:rowId xmlns:a16="http://schemas.microsoft.com/office/drawing/2014/main" val="1344557952"/>
                  </a:ext>
                </a:extLst>
              </a:tr>
              <a:tr h="6866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/>
                        <a:t>Voluntary Tax Payment</a:t>
                      </a:r>
                      <a:endParaRPr lang="en-IN" sz="3200"/>
                    </a:p>
                  </a:txBody>
                  <a:tcPr marL="107660" marR="107660" marT="53830" marB="5383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 dirty="0"/>
                        <a:t>₹ 1.4 Crore</a:t>
                      </a:r>
                    </a:p>
                  </a:txBody>
                  <a:tcPr marL="107660" marR="107660" marT="53830" marB="53830" anchor="ctr"/>
                </a:tc>
                <a:extLst>
                  <a:ext uri="{0D108BD9-81ED-4DB2-BD59-A6C34878D82A}">
                    <a16:rowId xmlns:a16="http://schemas.microsoft.com/office/drawing/2014/main" val="4104845541"/>
                  </a:ext>
                </a:extLst>
              </a:tr>
              <a:tr h="6866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/>
                        <a:t>Current Status</a:t>
                      </a:r>
                      <a:endParaRPr lang="en-IN" sz="3200"/>
                    </a:p>
                  </a:txBody>
                  <a:tcPr marL="107660" marR="107660" marT="53830" marB="5383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dirty="0"/>
                        <a:t>Investigations initiated and further verification in progress</a:t>
                      </a:r>
                    </a:p>
                  </a:txBody>
                  <a:tcPr marL="107660" marR="107660" marT="53830" marB="53830" anchor="ctr"/>
                </a:tc>
                <a:extLst>
                  <a:ext uri="{0D108BD9-81ED-4DB2-BD59-A6C34878D82A}">
                    <a16:rowId xmlns:a16="http://schemas.microsoft.com/office/drawing/2014/main" val="4246819936"/>
                  </a:ext>
                </a:extLst>
              </a:tr>
            </a:tbl>
          </a:graphicData>
        </a:graphic>
      </p:graphicFrame>
      <p:sp>
        <p:nvSpPr>
          <p:cNvPr id="4" name="Text 1">
            <a:extLst>
              <a:ext uri="{FF2B5EF4-FFF2-40B4-BE49-F238E27FC236}">
                <a16:creationId xmlns:a16="http://schemas.microsoft.com/office/drawing/2014/main" id="{D61E1165-FAC9-8163-1FAD-87E05698F23E}"/>
              </a:ext>
            </a:extLst>
          </p:cNvPr>
          <p:cNvSpPr/>
          <p:nvPr/>
        </p:nvSpPr>
        <p:spPr>
          <a:xfrm>
            <a:off x="428752" y="506448"/>
            <a:ext cx="18230850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576"/>
              </a:lnSpc>
              <a:buNone/>
            </a:pPr>
            <a:r>
              <a:rPr lang="en-US" sz="3467" b="1">
                <a:solidFill>
                  <a:srgbClr val="1A3257"/>
                </a:solidFill>
                <a:latin typeface="Georgia" pitchFamily="34" charset="0"/>
              </a:rPr>
              <a:t>Decoy Operations in July 2026</a:t>
            </a:r>
          </a:p>
        </p:txBody>
      </p:sp>
    </p:spTree>
    <p:extLst>
      <p:ext uri="{BB962C8B-B14F-4D97-AF65-F5344CB8AC3E}">
        <p14:creationId xmlns:p14="http://schemas.microsoft.com/office/powerpoint/2010/main" val="4152599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D0FA7-5AE2-12F4-0D59-883F8D845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D6E9656-C31E-199D-1DE2-4AD8025AB2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5934418"/>
              </p:ext>
            </p:extLst>
          </p:nvPr>
        </p:nvGraphicFramePr>
        <p:xfrm>
          <a:off x="428752" y="975018"/>
          <a:ext cx="15398496" cy="7650821"/>
        </p:xfrm>
        <a:graphic>
          <a:graphicData uri="http://schemas.openxmlformats.org/drawingml/2006/table">
            <a:tbl>
              <a:tblPr>
                <a:tableStyleId>{8799B23B-EC83-4686-B30A-512413B5E67A}</a:tableStyleId>
              </a:tblPr>
              <a:tblGrid>
                <a:gridCol w="4356608">
                  <a:extLst>
                    <a:ext uri="{9D8B030D-6E8A-4147-A177-3AD203B41FA5}">
                      <a16:colId xmlns:a16="http://schemas.microsoft.com/office/drawing/2014/main" val="1638227884"/>
                    </a:ext>
                  </a:extLst>
                </a:gridCol>
                <a:gridCol w="11041888">
                  <a:extLst>
                    <a:ext uri="{9D8B030D-6E8A-4147-A177-3AD203B41FA5}">
                      <a16:colId xmlns:a16="http://schemas.microsoft.com/office/drawing/2014/main" val="1291300734"/>
                    </a:ext>
                  </a:extLst>
                </a:gridCol>
              </a:tblGrid>
              <a:tr h="6525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 dirty="0">
                          <a:solidFill>
                            <a:schemeClr val="bg1"/>
                          </a:solidFill>
                        </a:rPr>
                        <a:t>Parameter</a:t>
                      </a:r>
                      <a:endParaRPr lang="en-IN" sz="3200" dirty="0">
                        <a:solidFill>
                          <a:schemeClr val="bg1"/>
                        </a:solidFill>
                      </a:endParaRPr>
                    </a:p>
                  </a:txBody>
                  <a:tcPr marL="107660" marR="107660" marT="53830" marB="53830" anchor="ctr"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 dirty="0">
                          <a:solidFill>
                            <a:schemeClr val="bg1"/>
                          </a:solidFill>
                        </a:rPr>
                        <a:t>Details</a:t>
                      </a:r>
                      <a:endParaRPr lang="en-IN" sz="3200" dirty="0">
                        <a:solidFill>
                          <a:schemeClr val="bg1"/>
                        </a:solidFill>
                      </a:endParaRPr>
                    </a:p>
                  </a:txBody>
                  <a:tcPr marL="107660" marR="107660" marT="53830" marB="53830" anchor="ctr">
                    <a:solidFill>
                      <a:srgbClr val="20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872155"/>
                  </a:ext>
                </a:extLst>
              </a:tr>
              <a:tr h="6525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/>
                        <a:t>Sector Covered</a:t>
                      </a:r>
                      <a:endParaRPr lang="en-IN" sz="3200"/>
                    </a:p>
                  </a:txBody>
                  <a:tcPr marL="107660" marR="107660" marT="53830" marB="5383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dirty="0"/>
                        <a:t>Retail shops</a:t>
                      </a:r>
                    </a:p>
                  </a:txBody>
                  <a:tcPr marL="107660" marR="107660" marT="53830" marB="53830" anchor="ctr"/>
                </a:tc>
                <a:extLst>
                  <a:ext uri="{0D108BD9-81ED-4DB2-BD59-A6C34878D82A}">
                    <a16:rowId xmlns:a16="http://schemas.microsoft.com/office/drawing/2014/main" val="3556620748"/>
                  </a:ext>
                </a:extLst>
              </a:tr>
              <a:tr h="6525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/>
                        <a:t>Operations Conducted</a:t>
                      </a:r>
                      <a:endParaRPr lang="en-IN" sz="3200"/>
                    </a:p>
                  </a:txBody>
                  <a:tcPr marL="107660" marR="107660" marT="53830" marB="5383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 dirty="0"/>
                        <a:t>Baba Thakur Das &amp; Sons (Sweets Shop)</a:t>
                      </a:r>
                    </a:p>
                  </a:txBody>
                  <a:tcPr marL="107660" marR="107660" marT="53830" marB="53830" anchor="ctr"/>
                </a:tc>
                <a:extLst>
                  <a:ext uri="{0D108BD9-81ED-4DB2-BD59-A6C34878D82A}">
                    <a16:rowId xmlns:a16="http://schemas.microsoft.com/office/drawing/2014/main" val="723110278"/>
                  </a:ext>
                </a:extLst>
              </a:tr>
              <a:tr h="373559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/>
                        <a:t>Modus Operandi Identified</a:t>
                      </a:r>
                      <a:endParaRPr lang="en-IN" sz="3200"/>
                    </a:p>
                  </a:txBody>
                  <a:tcPr marL="107660" marR="107660" marT="53830" marB="53830" anchor="ctr"/>
                </a:tc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IN" sz="2800" dirty="0"/>
                        <a:t>The case was detected by departmental officers when it was found that the dealer was making outward supplies without issuing invoices and collecting payments through UPI/QR codes linked to personal and employees' bank accounts. The search was conducted on </a:t>
                      </a:r>
                      <a:r>
                        <a:rPr lang="en-IN" sz="2800" b="1" dirty="0"/>
                        <a:t>21 July 2026</a:t>
                      </a:r>
                      <a:r>
                        <a:rPr lang="en-IN" sz="2800" dirty="0"/>
                        <a:t>. </a:t>
                      </a:r>
                    </a:p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IN" sz="2800" b="1" dirty="0"/>
                        <a:t>15 QR codes</a:t>
                      </a:r>
                      <a:r>
                        <a:rPr lang="en-IN" sz="2800" dirty="0"/>
                        <a:t> were identified. Transaction details for only </a:t>
                      </a:r>
                      <a:r>
                        <a:rPr lang="en-IN" sz="2800" b="1" dirty="0"/>
                        <a:t>2 QR codes</a:t>
                      </a:r>
                      <a:r>
                        <a:rPr lang="en-IN" sz="2800" dirty="0"/>
                        <a:t> have been submitted by the dealer so far. </a:t>
                      </a:r>
                    </a:p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IN" sz="2800" b="1" dirty="0"/>
                        <a:t>3 firms </a:t>
                      </a:r>
                      <a:r>
                        <a:rPr lang="en-IN" sz="2800" dirty="0"/>
                        <a:t>of the same dealer were identified, out of which </a:t>
                      </a:r>
                      <a:r>
                        <a:rPr lang="en-IN" sz="2800" b="1" dirty="0"/>
                        <a:t>two are registered under the Composition Scheme</a:t>
                      </a:r>
                      <a:r>
                        <a:rPr lang="en-IN" sz="2800" dirty="0"/>
                        <a:t>.</a:t>
                      </a:r>
                    </a:p>
                  </a:txBody>
                  <a:tcPr marL="107660" marR="107660" marT="53830" marB="53830" anchor="ctr"/>
                </a:tc>
                <a:extLst>
                  <a:ext uri="{0D108BD9-81ED-4DB2-BD59-A6C34878D82A}">
                    <a16:rowId xmlns:a16="http://schemas.microsoft.com/office/drawing/2014/main" val="3927817683"/>
                  </a:ext>
                </a:extLst>
              </a:tr>
              <a:tr h="6525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/>
                        <a:t>Revenue Identified</a:t>
                      </a:r>
                      <a:endParaRPr lang="en-IN" sz="3200"/>
                    </a:p>
                  </a:txBody>
                  <a:tcPr marL="107660" marR="107660" marT="53830" marB="5383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/>
                        <a:t>₹ 2 Crore detected so far </a:t>
                      </a:r>
                      <a:r>
                        <a:rPr lang="en-IN" sz="3200"/>
                        <a:t>(13 QR Codes more to analyzed)</a:t>
                      </a:r>
                    </a:p>
                  </a:txBody>
                  <a:tcPr marL="107660" marR="107660" marT="53830" marB="53830" anchor="ctr"/>
                </a:tc>
                <a:extLst>
                  <a:ext uri="{0D108BD9-81ED-4DB2-BD59-A6C34878D82A}">
                    <a16:rowId xmlns:a16="http://schemas.microsoft.com/office/drawing/2014/main" val="1344557952"/>
                  </a:ext>
                </a:extLst>
              </a:tr>
              <a:tr h="6525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/>
                        <a:t>Voluntary Tax Payment</a:t>
                      </a:r>
                      <a:endParaRPr lang="en-IN" sz="3200"/>
                    </a:p>
                  </a:txBody>
                  <a:tcPr marL="107660" marR="107660" marT="53830" marB="5383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200" dirty="0"/>
                        <a:t>-</a:t>
                      </a:r>
                      <a:endParaRPr lang="en-IN" sz="3200" dirty="0"/>
                    </a:p>
                  </a:txBody>
                  <a:tcPr marL="107660" marR="107660" marT="53830" marB="53830" anchor="ctr"/>
                </a:tc>
                <a:extLst>
                  <a:ext uri="{0D108BD9-81ED-4DB2-BD59-A6C34878D82A}">
                    <a16:rowId xmlns:a16="http://schemas.microsoft.com/office/drawing/2014/main" val="4104845541"/>
                  </a:ext>
                </a:extLst>
              </a:tr>
              <a:tr h="6525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/>
                        <a:t>Current Status</a:t>
                      </a:r>
                      <a:endParaRPr lang="en-IN" sz="3200"/>
                    </a:p>
                  </a:txBody>
                  <a:tcPr marL="107660" marR="107660" marT="53830" marB="5383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dirty="0"/>
                        <a:t>Investigations initiated and further verification in progress</a:t>
                      </a:r>
                    </a:p>
                  </a:txBody>
                  <a:tcPr marL="107660" marR="107660" marT="53830" marB="53830" anchor="ctr"/>
                </a:tc>
                <a:extLst>
                  <a:ext uri="{0D108BD9-81ED-4DB2-BD59-A6C34878D82A}">
                    <a16:rowId xmlns:a16="http://schemas.microsoft.com/office/drawing/2014/main" val="4246819936"/>
                  </a:ext>
                </a:extLst>
              </a:tr>
            </a:tbl>
          </a:graphicData>
        </a:graphic>
      </p:graphicFrame>
      <p:sp>
        <p:nvSpPr>
          <p:cNvPr id="4" name="Text 1">
            <a:extLst>
              <a:ext uri="{FF2B5EF4-FFF2-40B4-BE49-F238E27FC236}">
                <a16:creationId xmlns:a16="http://schemas.microsoft.com/office/drawing/2014/main" id="{AD0F0165-25E7-1E18-E23F-747CABA60977}"/>
              </a:ext>
            </a:extLst>
          </p:cNvPr>
          <p:cNvSpPr/>
          <p:nvPr/>
        </p:nvSpPr>
        <p:spPr>
          <a:xfrm>
            <a:off x="428752" y="125448"/>
            <a:ext cx="18230850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576"/>
              </a:lnSpc>
              <a:buNone/>
            </a:pPr>
            <a:r>
              <a:rPr lang="en-US" sz="3467" b="1" dirty="0">
                <a:solidFill>
                  <a:srgbClr val="1A3257"/>
                </a:solidFill>
                <a:latin typeface="Georgia" pitchFamily="34" charset="0"/>
              </a:rPr>
              <a:t>Decoy Operations in July 2026</a:t>
            </a:r>
          </a:p>
        </p:txBody>
      </p:sp>
    </p:spTree>
    <p:extLst>
      <p:ext uri="{BB962C8B-B14F-4D97-AF65-F5344CB8AC3E}">
        <p14:creationId xmlns:p14="http://schemas.microsoft.com/office/powerpoint/2010/main" val="23488873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03193-A377-20A0-91AA-3E12BBB1E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AB343DF7-A401-13ED-1A95-30A71B29E2B5}"/>
              </a:ext>
            </a:extLst>
          </p:cNvPr>
          <p:cNvSpPr/>
          <p:nvPr/>
        </p:nvSpPr>
        <p:spPr>
          <a:xfrm>
            <a:off x="428752" y="281860"/>
            <a:ext cx="18230850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576"/>
              </a:lnSpc>
              <a:buNone/>
            </a:pPr>
            <a:r>
              <a:rPr lang="en-US" sz="3467" b="1" dirty="0">
                <a:solidFill>
                  <a:srgbClr val="1A3257"/>
                </a:solidFill>
                <a:latin typeface="Georgia" pitchFamily="34" charset="0"/>
              </a:rPr>
              <a:t>Further plans in FY 2026-27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DA0E46-2469-5B10-96BB-D8C3AA12FE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166"/>
          <a:stretch>
            <a:fillRect/>
          </a:stretch>
        </p:blipFill>
        <p:spPr>
          <a:xfrm>
            <a:off x="1270000" y="1066800"/>
            <a:ext cx="12959347" cy="7674813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498285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4391AAF3-EB2E-3688-8326-2A784B28A820}"/>
              </a:ext>
            </a:extLst>
          </p:cNvPr>
          <p:cNvSpPr/>
          <p:nvPr/>
        </p:nvSpPr>
        <p:spPr>
          <a:xfrm>
            <a:off x="762000" y="749300"/>
            <a:ext cx="16205200" cy="606160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 lnSpcReduction="10000"/>
          </a:bodyPr>
          <a:lstStyle/>
          <a:p>
            <a:pPr>
              <a:lnSpc>
                <a:spcPct val="114576"/>
              </a:lnSpc>
            </a:pPr>
            <a:r>
              <a:rPr lang="en-US" sz="3467" b="1" dirty="0">
                <a:solidFill>
                  <a:srgbClr val="1A32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Inter-Departmental Data &amp; AI Analytics</a:t>
            </a:r>
            <a:endParaRPr lang="en-US" sz="3467" dirty="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69A94937-FC3A-8CC4-630A-C4FFAAB01D86}"/>
              </a:ext>
            </a:extLst>
          </p:cNvPr>
          <p:cNvSpPr/>
          <p:nvPr/>
        </p:nvSpPr>
        <p:spPr>
          <a:xfrm>
            <a:off x="898266" y="2312853"/>
            <a:ext cx="12428761" cy="1849742"/>
          </a:xfrm>
          <a:prstGeom prst="roundRect">
            <a:avLst>
              <a:gd name="adj" fmla="val 3063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1C1A15">
                <a:alpha val="8000"/>
              </a:srgbClr>
            </a:outerShdw>
          </a:effectLst>
        </p:spPr>
        <p:txBody>
          <a:bodyPr/>
          <a:lstStyle/>
          <a:p>
            <a:endParaRPr lang="en-IN" sz="2844"/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EBAB4719-CE51-A5A2-90A8-71F89BABF08F}"/>
              </a:ext>
            </a:extLst>
          </p:cNvPr>
          <p:cNvSpPr/>
          <p:nvPr/>
        </p:nvSpPr>
        <p:spPr>
          <a:xfrm>
            <a:off x="762000" y="3385508"/>
            <a:ext cx="12743288" cy="8467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2844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39A8C8A8-FC78-CA10-A889-A5F6B3994269}"/>
              </a:ext>
            </a:extLst>
          </p:cNvPr>
          <p:cNvSpPr/>
          <p:nvPr/>
        </p:nvSpPr>
        <p:spPr>
          <a:xfrm>
            <a:off x="853217" y="1481661"/>
            <a:ext cx="12518861" cy="76417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endParaRPr lang="en-IN" sz="2844"/>
          </a:p>
        </p:txBody>
      </p:sp>
      <p:sp>
        <p:nvSpPr>
          <p:cNvPr id="14" name="Shape 5">
            <a:extLst>
              <a:ext uri="{FF2B5EF4-FFF2-40B4-BE49-F238E27FC236}">
                <a16:creationId xmlns:a16="http://schemas.microsoft.com/office/drawing/2014/main" id="{2553DF85-BF5C-E19A-95EB-539C2AB8FB9A}"/>
              </a:ext>
            </a:extLst>
          </p:cNvPr>
          <p:cNvSpPr/>
          <p:nvPr/>
        </p:nvSpPr>
        <p:spPr>
          <a:xfrm>
            <a:off x="853217" y="1566501"/>
            <a:ext cx="14370" cy="1888100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2844"/>
          </a:p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1C2E5B95-00CC-D521-4574-B1FA156EA07D}"/>
              </a:ext>
            </a:extLst>
          </p:cNvPr>
          <p:cNvSpPr/>
          <p:nvPr/>
        </p:nvSpPr>
        <p:spPr>
          <a:xfrm>
            <a:off x="13386448" y="1610761"/>
            <a:ext cx="14370" cy="1716455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2844"/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79F8A241-3D9C-6F00-646E-6EB8CA67DDA5}"/>
              </a:ext>
            </a:extLst>
          </p:cNvPr>
          <p:cNvSpPr/>
          <p:nvPr/>
        </p:nvSpPr>
        <p:spPr>
          <a:xfrm>
            <a:off x="1189122" y="2161470"/>
            <a:ext cx="8859184" cy="302766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marL="342900" indent="-342900">
              <a:lnSpc>
                <a:spcPct val="130435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tax evasion using inter-departmental data sources.</a:t>
            </a:r>
            <a:endParaRPr lang="en-US" sz="2400" dirty="0"/>
          </a:p>
        </p:txBody>
      </p:sp>
      <p:sp>
        <p:nvSpPr>
          <p:cNvPr id="20" name="Text 11">
            <a:extLst>
              <a:ext uri="{FF2B5EF4-FFF2-40B4-BE49-F238E27FC236}">
                <a16:creationId xmlns:a16="http://schemas.microsoft.com/office/drawing/2014/main" id="{4AD3D7BF-DBB5-5B78-954B-08A0287FCD71}"/>
              </a:ext>
            </a:extLst>
          </p:cNvPr>
          <p:cNvSpPr/>
          <p:nvPr/>
        </p:nvSpPr>
        <p:spPr>
          <a:xfrm>
            <a:off x="1189122" y="2756916"/>
            <a:ext cx="8767237" cy="28180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marL="342900" indent="-342900">
              <a:lnSpc>
                <a:spcPct val="130435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tax evasion using AI &amp; risk-based analytics.</a:t>
            </a:r>
            <a:endParaRPr lang="en-US" sz="2400" dirty="0"/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95367BB9-2E94-FBC2-C60E-FD8E4478480B}"/>
              </a:ext>
            </a:extLst>
          </p:cNvPr>
          <p:cNvSpPr/>
          <p:nvPr/>
        </p:nvSpPr>
        <p:spPr>
          <a:xfrm>
            <a:off x="1189122" y="1651577"/>
            <a:ext cx="8188312" cy="383248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2353"/>
              </a:lnSpc>
            </a:pPr>
            <a:r>
              <a:rPr lang="en-US" sz="2000" b="1" kern="0" spc="100" dirty="0">
                <a:solidFill>
                  <a:srgbClr val="1F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DIRECTIONS</a:t>
            </a:r>
            <a:endParaRPr lang="en-US" sz="2000" dirty="0"/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C409E8D-EF5C-BD60-809C-0D050B1F73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3153860"/>
              </p:ext>
            </p:extLst>
          </p:nvPr>
        </p:nvGraphicFramePr>
        <p:xfrm>
          <a:off x="986428" y="4248488"/>
          <a:ext cx="12504492" cy="3641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2246">
                  <a:extLst>
                    <a:ext uri="{9D8B030D-6E8A-4147-A177-3AD203B41FA5}">
                      <a16:colId xmlns:a16="http://schemas.microsoft.com/office/drawing/2014/main" val="2833621811"/>
                    </a:ext>
                  </a:extLst>
                </a:gridCol>
                <a:gridCol w="6252246">
                  <a:extLst>
                    <a:ext uri="{9D8B030D-6E8A-4147-A177-3AD203B41FA5}">
                      <a16:colId xmlns:a16="http://schemas.microsoft.com/office/drawing/2014/main" val="1661273952"/>
                    </a:ext>
                  </a:extLst>
                </a:gridCol>
              </a:tblGrid>
              <a:tr h="728303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Particulars</a:t>
                      </a:r>
                      <a:endParaRPr 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3257271"/>
                  </a:ext>
                </a:extLst>
              </a:tr>
              <a:tr h="728303"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No. of </a:t>
                      </a:r>
                      <a:r>
                        <a:rPr lang="en-US" sz="2400" kern="1200" dirty="0" err="1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Depts</a:t>
                      </a:r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 from whom data is received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5</a:t>
                      </a:r>
                      <a:endParaRPr lang="en-IN" sz="28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6606095"/>
                  </a:ext>
                </a:extLst>
              </a:tr>
              <a:tr h="728303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No. of </a:t>
                      </a:r>
                      <a:r>
                        <a:rPr lang="en-US" sz="2400" kern="1200" dirty="0" err="1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Depts</a:t>
                      </a:r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 from whom data is requested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5</a:t>
                      </a:r>
                      <a:endParaRPr lang="en-IN" sz="28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1279928"/>
                  </a:ext>
                </a:extLst>
              </a:tr>
              <a:tr h="728303"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No. of use cases developed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8</a:t>
                      </a:r>
                      <a:endParaRPr lang="en-IN" sz="28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942468"/>
                  </a:ext>
                </a:extLst>
              </a:tr>
              <a:tr h="728303"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Revenue Potential detected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Approx. 100 Cr.</a:t>
                      </a:r>
                      <a:endParaRPr lang="en-IN" sz="28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20038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68181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59002-571B-1343-ACC8-662CA445E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6CCA9-37DF-C407-61A2-2B9DA3FA4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2086" y="198662"/>
            <a:ext cx="14943513" cy="876453"/>
          </a:xfrm>
        </p:spPr>
        <p:txBody>
          <a:bodyPr>
            <a:noAutofit/>
          </a:bodyPr>
          <a:lstStyle/>
          <a:p>
            <a:r>
              <a:rPr lang="en-IN" sz="3467" b="1" dirty="0">
                <a:solidFill>
                  <a:srgbClr val="1A3257"/>
                </a:solidFill>
                <a:latin typeface="Georgia" pitchFamily="34" charset="0"/>
              </a:rPr>
              <a:t>Inter-departmental data sources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18BAD4B-0083-1281-E56C-C7D1154348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8425863"/>
              </p:ext>
            </p:extLst>
          </p:nvPr>
        </p:nvGraphicFramePr>
        <p:xfrm>
          <a:off x="279400" y="1104144"/>
          <a:ext cx="15240001" cy="7841194"/>
        </p:xfrm>
        <a:graphic>
          <a:graphicData uri="http://schemas.openxmlformats.org/drawingml/2006/table">
            <a:tbl>
              <a:tblPr/>
              <a:tblGrid>
                <a:gridCol w="549432">
                  <a:extLst>
                    <a:ext uri="{9D8B030D-6E8A-4147-A177-3AD203B41FA5}">
                      <a16:colId xmlns:a16="http://schemas.microsoft.com/office/drawing/2014/main" val="1108260362"/>
                    </a:ext>
                  </a:extLst>
                </a:gridCol>
                <a:gridCol w="2190103">
                  <a:extLst>
                    <a:ext uri="{9D8B030D-6E8A-4147-A177-3AD203B41FA5}">
                      <a16:colId xmlns:a16="http://schemas.microsoft.com/office/drawing/2014/main" val="3490116710"/>
                    </a:ext>
                  </a:extLst>
                </a:gridCol>
                <a:gridCol w="2970385">
                  <a:extLst>
                    <a:ext uri="{9D8B030D-6E8A-4147-A177-3AD203B41FA5}">
                      <a16:colId xmlns:a16="http://schemas.microsoft.com/office/drawing/2014/main" val="2473628449"/>
                    </a:ext>
                  </a:extLst>
                </a:gridCol>
                <a:gridCol w="4404360">
                  <a:extLst>
                    <a:ext uri="{9D8B030D-6E8A-4147-A177-3AD203B41FA5}">
                      <a16:colId xmlns:a16="http://schemas.microsoft.com/office/drawing/2014/main" val="3430769272"/>
                    </a:ext>
                  </a:extLst>
                </a:gridCol>
                <a:gridCol w="241790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07812">
                  <a:extLst>
                    <a:ext uri="{9D8B030D-6E8A-4147-A177-3AD203B41FA5}">
                      <a16:colId xmlns:a16="http://schemas.microsoft.com/office/drawing/2014/main" val="2404685065"/>
                    </a:ext>
                  </a:extLst>
                </a:gridCol>
              </a:tblGrid>
              <a:tr h="65280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 i="0" u="sng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#</a:t>
                      </a:r>
                      <a:r>
                        <a:rPr lang="en-IN" sz="2000" b="0" i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  <a:endParaRPr lang="en-IN" sz="2000" b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Dept</a:t>
                      </a:r>
                    </a:p>
                  </a:txBody>
                  <a:tcPr marL="4927" marR="4927" marT="0" marB="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Departmental Data</a:t>
                      </a:r>
                      <a:r>
                        <a:rPr lang="en-IN" sz="2000" b="0" baseline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Taken</a:t>
                      </a:r>
                      <a:endParaRPr lang="en-IN" sz="2000" b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Use Cases based on data</a:t>
                      </a:r>
                    </a:p>
                  </a:txBody>
                  <a:tcPr marL="4927" marR="4927" marT="0" marB="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 of Cases &amp; Revenue potential</a:t>
                      </a:r>
                    </a:p>
                  </a:txBody>
                  <a:tcPr marL="4927" marR="4927" marT="0" marB="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Integration Status</a:t>
                      </a:r>
                    </a:p>
                  </a:txBody>
                  <a:tcPr marL="4927" marR="4927" marT="0" marB="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7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5143184"/>
                  </a:ext>
                </a:extLst>
              </a:tr>
              <a:tr h="130561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Electricity (DISCOM)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Electricity Consumption Data for 1 year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457200" algn="l" rtl="0" fontAlgn="ctr">
                        <a:buAutoNum type="arabicPeriod"/>
                      </a:pPr>
                      <a:r>
                        <a:rPr lang="en-US" sz="20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High Turnover low Consumption</a:t>
                      </a:r>
                    </a:p>
                    <a:p>
                      <a:pPr marL="457200" lvl="0" indent="-457200" algn="l" rtl="0" fontAlgn="ctr">
                        <a:buAutoNum type="arabicPeriod"/>
                      </a:pPr>
                      <a:r>
                        <a:rPr lang="en-US" sz="20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Low Turnover High Consumption</a:t>
                      </a:r>
                    </a:p>
                    <a:p>
                      <a:pPr marL="457200" lvl="0" indent="-457200" algn="l" rtl="0" fontAlgn="ctr">
                        <a:buAutoNum type="arabicPeriod"/>
                      </a:pPr>
                      <a:r>
                        <a:rPr lang="en-US" sz="20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Domestic Connection but High Turnover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238 Cases</a:t>
                      </a:r>
                      <a:endParaRPr lang="en-IN" sz="20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>
                          <a:solidFill>
                            <a:srgbClr val="11734B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Complete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8604536"/>
                  </a:ext>
                </a:extLst>
              </a:tr>
              <a:tr h="123847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IGRS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Joint Development Agreement, Rent Agreements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 Rent Agreement vs GST RCM Paid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124 Cases;</a:t>
                      </a:r>
                    </a:p>
                    <a:p>
                      <a:pPr algn="ctr" rtl="0" fontAlgn="ctr"/>
                      <a:r>
                        <a:rPr lang="en-US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Potential: 18 Cr.</a:t>
                      </a:r>
                      <a:endParaRPr lang="en-IN" sz="20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>
                          <a:solidFill>
                            <a:srgbClr val="11734B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Complete</a:t>
                      </a:r>
                      <a:endParaRPr lang="en-IN" sz="2000" b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6018362"/>
                  </a:ext>
                </a:extLst>
              </a:tr>
              <a:tr h="154809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Mining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eRwanna</a:t>
                      </a:r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Transit Pass, ERCC</a:t>
                      </a:r>
                      <a:r>
                        <a:rPr lang="en-IN" sz="2000" b="0" baseline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contracts</a:t>
                      </a:r>
                      <a:endParaRPr lang="en-IN" sz="2000" b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 ERCC royalty discrepancy</a:t>
                      </a:r>
                      <a:br>
                        <a:rPr lang="en-US" sz="20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20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 Royalty paid vs RCM paid in GST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3198 Cases; Potential: 50 Cr.</a:t>
                      </a:r>
                      <a:endParaRPr lang="en-IN" sz="20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>
                          <a:solidFill>
                            <a:srgbClr val="0A53A8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Dump Received; </a:t>
                      </a:r>
                    </a:p>
                    <a:p>
                      <a:pPr algn="ctr" rtl="0" fontAlgn="ctr"/>
                      <a:r>
                        <a:rPr lang="en-IN" sz="2000" b="1">
                          <a:solidFill>
                            <a:srgbClr val="0A53A8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Use Cases Developed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3163472"/>
                  </a:ext>
                </a:extLst>
              </a:tr>
              <a:tr h="154809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RERA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Property sold, </a:t>
                      </a:r>
                    </a:p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 detail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IN" sz="20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 Units Sold vs GST Turnover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271 Cases;</a:t>
                      </a:r>
                    </a:p>
                    <a:p>
                      <a:pPr algn="ctr" rtl="0" fontAlgn="ctr"/>
                      <a:r>
                        <a:rPr lang="en-US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Potential: 30 Cr.</a:t>
                      </a:r>
                    </a:p>
                    <a:p>
                      <a:pPr algn="ctr" rtl="0" fontAlgn="ctr"/>
                      <a:endParaRPr lang="en-IN" sz="20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>
                          <a:solidFill>
                            <a:srgbClr val="0A53A8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Dump Received; </a:t>
                      </a:r>
                    </a:p>
                    <a:p>
                      <a:pPr algn="ctr" rtl="0" fontAlgn="ctr"/>
                      <a:r>
                        <a:rPr lang="en-IN" sz="2000" b="1">
                          <a:solidFill>
                            <a:srgbClr val="0A53A8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Use Cases Developed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813917"/>
                  </a:ext>
                </a:extLst>
              </a:tr>
              <a:tr h="154809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RGHS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Payments and Invoices details for Hospitals and Pharmacies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indent="-457200" algn="l" rtl="0" fontAlgn="ctr">
                        <a:buAutoNum type="arabicPeriod"/>
                      </a:pPr>
                      <a:r>
                        <a:rPr lang="en-IN" sz="20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Cancelled Taxpayer Invoices</a:t>
                      </a:r>
                    </a:p>
                    <a:p>
                      <a:pPr marL="457200" indent="-457200" algn="l" rtl="0" fontAlgn="ctr">
                        <a:buAutoNum type="arabicPeriod"/>
                      </a:pPr>
                      <a:r>
                        <a:rPr lang="en-IN" sz="20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Turnover Mismatch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238 Cases;</a:t>
                      </a:r>
                    </a:p>
                    <a:p>
                      <a:pPr algn="ctr" rtl="0" fontAlgn="ctr"/>
                      <a:r>
                        <a:rPr lang="en-US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Potential: 30 Cr.</a:t>
                      </a:r>
                      <a:endParaRPr lang="en-IN" sz="20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 dirty="0">
                          <a:solidFill>
                            <a:srgbClr val="0A53A8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Sample Data Received; </a:t>
                      </a:r>
                    </a:p>
                    <a:p>
                      <a:pPr algn="ctr" rtl="0" fontAlgn="ctr"/>
                      <a:r>
                        <a:rPr lang="en-IN" sz="2000" b="1" dirty="0">
                          <a:solidFill>
                            <a:srgbClr val="0A53A8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Use Cases Developed</a:t>
                      </a:r>
                      <a:endParaRPr lang="en-IN" sz="2000" b="0" dirty="0">
                        <a:solidFill>
                          <a:srgbClr val="D4EDBC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4105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66453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78688" y="240792"/>
            <a:ext cx="14874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467" b="1" dirty="0">
                <a:solidFill>
                  <a:srgbClr val="1A3257"/>
                </a:solidFill>
                <a:latin typeface="Georgia" pitchFamily="34" charset="0"/>
              </a:rPr>
              <a:t>Example: Health Care Sector (RGHS </a:t>
            </a:r>
            <a:r>
              <a:rPr lang="en-US" sz="3467" b="1" dirty="0" err="1">
                <a:solidFill>
                  <a:srgbClr val="1A3257"/>
                </a:solidFill>
                <a:latin typeface="Georgia" pitchFamily="34" charset="0"/>
              </a:rPr>
              <a:t>vs</a:t>
            </a:r>
            <a:r>
              <a:rPr lang="en-US" sz="3467" b="1" dirty="0">
                <a:solidFill>
                  <a:srgbClr val="1A3257"/>
                </a:solidFill>
                <a:latin typeface="Georgia" pitchFamily="34" charset="0"/>
              </a:rPr>
              <a:t> GST Data Analysis)</a:t>
            </a:r>
          </a:p>
        </p:txBody>
      </p:sp>
      <p:sp>
        <p:nvSpPr>
          <p:cNvPr id="4" name="Shape 2"/>
          <p:cNvSpPr/>
          <p:nvPr/>
        </p:nvSpPr>
        <p:spPr>
          <a:xfrm>
            <a:off x="8280400" y="2682240"/>
            <a:ext cx="5580888" cy="4312920"/>
          </a:xfrm>
          <a:prstGeom prst="roundRect">
            <a:avLst>
              <a:gd name="adj" fmla="val 2254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5" name="Shape 3"/>
          <p:cNvSpPr/>
          <p:nvPr/>
        </p:nvSpPr>
        <p:spPr>
          <a:xfrm>
            <a:off x="8509000" y="3023616"/>
            <a:ext cx="609600" cy="6096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8509000" y="3023616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8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2</a:t>
            </a:r>
            <a:endParaRPr lang="en-US" sz="28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9264904" y="30601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000" b="1" kern="0" spc="133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2</a:t>
            </a:r>
            <a:endParaRPr lang="en-US" sz="20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8509000" y="3505200"/>
            <a:ext cx="4133088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>
              <a:lnSpc>
                <a:spcPct val="110000"/>
              </a:lnSpc>
            </a:pPr>
            <a:r>
              <a:rPr lang="en-US" sz="2400" b="1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of turnover</a:t>
            </a:r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8509000" y="4343400"/>
            <a:ext cx="48006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>
              <a:lnSpc>
                <a:spcPct val="125000"/>
              </a:lnSpc>
            </a:pPr>
            <a:r>
              <a:rPr lang="en-US" sz="240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deducted by RGHS is more than the total turnover shown in GST returns.</a:t>
            </a:r>
          </a:p>
        </p:txBody>
      </p:sp>
      <p:sp>
        <p:nvSpPr>
          <p:cNvPr id="10" name="Shape 8"/>
          <p:cNvSpPr/>
          <p:nvPr/>
        </p:nvSpPr>
        <p:spPr>
          <a:xfrm>
            <a:off x="8509000" y="5852160"/>
            <a:ext cx="4133088" cy="0"/>
          </a:xfrm>
          <a:prstGeom prst="line">
            <a:avLst/>
          </a:prstGeom>
          <a:noFill/>
          <a:ln w="9525">
            <a:solidFill>
              <a:srgbClr val="C4CFE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8509000" y="6035040"/>
            <a:ext cx="2066544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kern="0" spc="67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TAXPAYERS</a:t>
            </a:r>
            <a:endParaRPr lang="en-US" sz="16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509000" y="6339840"/>
            <a:ext cx="2066544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0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225</a:t>
            </a:r>
            <a:endParaRPr lang="en-US" sz="40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0575544" y="6035040"/>
            <a:ext cx="2066544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kern="0" spc="67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</a:t>
            </a:r>
            <a:endParaRPr lang="en-US" sz="16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575544" y="6339840"/>
            <a:ext cx="2066544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600" b="1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₹29.14 Cr</a:t>
            </a:r>
            <a:endParaRPr lang="en-US" sz="36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245360" y="2667000"/>
            <a:ext cx="5580888" cy="4343400"/>
          </a:xfrm>
          <a:prstGeom prst="roundRect">
            <a:avLst>
              <a:gd name="adj" fmla="val 2254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2586736" y="3008376"/>
            <a:ext cx="609600" cy="6096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Text 15"/>
          <p:cNvSpPr/>
          <p:nvPr/>
        </p:nvSpPr>
        <p:spPr>
          <a:xfrm>
            <a:off x="2586736" y="3008376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8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342640" y="30449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000" b="1" kern="0" spc="133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1</a:t>
            </a:r>
            <a:endParaRPr lang="en-US" sz="20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2586736" y="3657600"/>
            <a:ext cx="493166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>
              <a:lnSpc>
                <a:spcPct val="110000"/>
              </a:lnSpc>
            </a:pPr>
            <a:r>
              <a:rPr lang="en-US" sz="2400" b="1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Cancelled GSTIN, invoices Still Issued</a:t>
            </a:r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586736" y="4495800"/>
            <a:ext cx="470306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>
              <a:lnSpc>
                <a:spcPct val="125000"/>
              </a:lnSpc>
            </a:pPr>
            <a:r>
              <a:rPr lang="en-US" sz="240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registration cancelled, yet RGHS continued deducting TDS against the same GSTIN.</a:t>
            </a:r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2586736" y="5836920"/>
            <a:ext cx="4133088" cy="0"/>
          </a:xfrm>
          <a:prstGeom prst="line">
            <a:avLst/>
          </a:prstGeom>
          <a:noFill/>
          <a:ln w="9525">
            <a:solidFill>
              <a:srgbClr val="C4CFE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2586736" y="6019800"/>
            <a:ext cx="2066544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kern="0" spc="67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TAXPAYERS</a:t>
            </a:r>
            <a:endParaRPr lang="en-US" sz="16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2586736" y="6324600"/>
            <a:ext cx="2066544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0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0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653280" y="6019800"/>
            <a:ext cx="2066544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kern="0" spc="67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</a:t>
            </a:r>
            <a:endParaRPr lang="en-US" sz="16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653280" y="6324600"/>
            <a:ext cx="2066544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600" b="1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₹1.30 Cr</a:t>
            </a:r>
            <a:endParaRPr lang="en-US" sz="36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78688" y="7315200"/>
            <a:ext cx="14874240" cy="1463040"/>
          </a:xfrm>
          <a:prstGeom prst="roundRect">
            <a:avLst>
              <a:gd name="adj" fmla="val 6667"/>
            </a:avLst>
          </a:prstGeom>
          <a:solidFill>
            <a:srgbClr val="141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166368" y="7315200"/>
            <a:ext cx="50566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800" b="1" kern="0" spc="133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ACROSS ALL USE CASES</a:t>
            </a:r>
            <a:endParaRPr lang="en-US" sz="28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5994400" y="731520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3733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238</a:t>
            </a:r>
            <a:endParaRPr lang="en-US" sz="3733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3132816" y="7333488"/>
            <a:ext cx="20665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9170"/>
            <a:r>
              <a:rPr lang="en-US" sz="3200" b="1">
                <a:solidFill>
                  <a:srgbClr val="FF8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₹30.44 Cr</a:t>
            </a:r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6">
            <a:extLst>
              <a:ext uri="{FF2B5EF4-FFF2-40B4-BE49-F238E27FC236}">
                <a16:creationId xmlns:a16="http://schemas.microsoft.com/office/drawing/2014/main" id="{1B24E402-9731-8788-BF16-ECBC884BBA54}"/>
              </a:ext>
            </a:extLst>
          </p:cNvPr>
          <p:cNvSpPr/>
          <p:nvPr/>
        </p:nvSpPr>
        <p:spPr>
          <a:xfrm>
            <a:off x="8725408" y="7315200"/>
            <a:ext cx="487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800" b="1" kern="0" spc="133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Turnover Mismatch</a:t>
            </a:r>
            <a:endParaRPr lang="en-US" sz="28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F93FEE2-6A14-49F2-E365-E89D8EDD05CD}"/>
              </a:ext>
            </a:extLst>
          </p:cNvPr>
          <p:cNvSpPr txBox="1"/>
          <p:nvPr/>
        </p:nvSpPr>
        <p:spPr>
          <a:xfrm>
            <a:off x="726440" y="1383708"/>
            <a:ext cx="1438351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As per the preliminary analysis of Pharmacy and Hospitals data shared by RGHS, 2 major use cases have been detected on comparing the GST Returns data with the invoice data: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611ED-671B-3E17-C5E1-798C9974C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9FC93-607F-B066-D5B8-3070A3FF7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2086" y="198662"/>
            <a:ext cx="14943513" cy="876453"/>
          </a:xfrm>
        </p:spPr>
        <p:txBody>
          <a:bodyPr>
            <a:noAutofit/>
          </a:bodyPr>
          <a:lstStyle/>
          <a:p>
            <a:pPr algn="just">
              <a:defRPr/>
            </a:pPr>
            <a:r>
              <a:rPr lang="en-IN" sz="3467" b="1">
                <a:solidFill>
                  <a:srgbClr val="1A3257"/>
                </a:solidFill>
                <a:latin typeface="Georgia" pitchFamily="34" charset="0"/>
              </a:rPr>
              <a:t>Inter-departmental data sources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209358-E68C-1BBB-6DA3-CD240D0A4F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1952063"/>
              </p:ext>
            </p:extLst>
          </p:nvPr>
        </p:nvGraphicFramePr>
        <p:xfrm>
          <a:off x="279400" y="1104144"/>
          <a:ext cx="14935201" cy="7735056"/>
        </p:xfrm>
        <a:graphic>
          <a:graphicData uri="http://schemas.openxmlformats.org/drawingml/2006/table">
            <a:tbl>
              <a:tblPr/>
              <a:tblGrid>
                <a:gridCol w="586246">
                  <a:extLst>
                    <a:ext uri="{9D8B030D-6E8A-4147-A177-3AD203B41FA5}">
                      <a16:colId xmlns:a16="http://schemas.microsoft.com/office/drawing/2014/main" val="1108260362"/>
                    </a:ext>
                  </a:extLst>
                </a:gridCol>
                <a:gridCol w="2336846">
                  <a:extLst>
                    <a:ext uri="{9D8B030D-6E8A-4147-A177-3AD203B41FA5}">
                      <a16:colId xmlns:a16="http://schemas.microsoft.com/office/drawing/2014/main" val="3490116710"/>
                    </a:ext>
                  </a:extLst>
                </a:gridCol>
                <a:gridCol w="3455825">
                  <a:extLst>
                    <a:ext uri="{9D8B030D-6E8A-4147-A177-3AD203B41FA5}">
                      <a16:colId xmlns:a16="http://schemas.microsoft.com/office/drawing/2014/main" val="2473628449"/>
                    </a:ext>
                  </a:extLst>
                </a:gridCol>
                <a:gridCol w="5667041">
                  <a:extLst>
                    <a:ext uri="{9D8B030D-6E8A-4147-A177-3AD203B41FA5}">
                      <a16:colId xmlns:a16="http://schemas.microsoft.com/office/drawing/2014/main" val="1161867843"/>
                    </a:ext>
                  </a:extLst>
                </a:gridCol>
                <a:gridCol w="2889243">
                  <a:extLst>
                    <a:ext uri="{9D8B030D-6E8A-4147-A177-3AD203B41FA5}">
                      <a16:colId xmlns:a16="http://schemas.microsoft.com/office/drawing/2014/main" val="2404685065"/>
                    </a:ext>
                  </a:extLst>
                </a:gridCol>
              </a:tblGrid>
              <a:tr h="388015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 i="0" u="sng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#</a:t>
                      </a:r>
                      <a:r>
                        <a:rPr lang="en-IN" sz="2000" b="0" i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  <a:endParaRPr lang="en-IN" sz="2000" b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Dept</a:t>
                      </a:r>
                    </a:p>
                  </a:txBody>
                  <a:tcPr marL="4927" marR="4927" marT="0" marB="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Integration Task</a:t>
                      </a:r>
                    </a:p>
                  </a:txBody>
                  <a:tcPr marL="4927" marR="4927" marT="0" marB="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Current Status</a:t>
                      </a:r>
                    </a:p>
                  </a:txBody>
                  <a:tcPr marL="4927" marR="4927" marT="0" marB="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Integration Status</a:t>
                      </a:r>
                    </a:p>
                  </a:txBody>
                  <a:tcPr marL="4927" marR="4927" marT="0" marB="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7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5143184"/>
                  </a:ext>
                </a:extLst>
              </a:tr>
              <a:tr h="1277746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Transport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>
                          <a:effectLst/>
                          <a:latin typeface="Aptos Narrow" panose="020B0004020202020204"/>
                        </a:rPr>
                        <a:t>Vehicle Owner Detail (Vehicle Registration Data)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>
                          <a:effectLst/>
                          <a:latin typeface="Arial" panose="020B0604020202020204" pitchFamily="34" charset="0"/>
                        </a:rPr>
                        <a:t>API requested from MoRTH and Transport Dept..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 Progress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8604536"/>
                  </a:ext>
                </a:extLst>
              </a:tr>
              <a:tr h="1277746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JDA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>
                          <a:effectLst/>
                          <a:latin typeface="Aptos Narrow" panose="020B0004020202020204"/>
                        </a:rPr>
                        <a:t>Invoice wise detail of payment done against the contracts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>
                          <a:effectLst/>
                          <a:latin typeface="Arial" panose="020B0604020202020204" pitchFamily="34" charset="0"/>
                        </a:rPr>
                        <a:t>Sample Data Shared by JDA, API is being developed at their end. 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2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ED7D31">
                              <a:lumMod val="75000"/>
                            </a:srgb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 Progress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6018362"/>
                  </a:ext>
                </a:extLst>
              </a:tr>
              <a:tr h="159718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IFMS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>
                          <a:effectLst/>
                          <a:latin typeface="Aptos Narrow" panose="020B0004020202020204"/>
                        </a:rPr>
                        <a:t>Invoice wise detail of payment done against the vendors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>
                          <a:effectLst/>
                          <a:latin typeface="Arial" panose="020B0604020202020204" pitchFamily="34" charset="0"/>
                        </a:rPr>
                        <a:t>Discussion done. API is being developed at their end. </a:t>
                      </a:r>
                      <a:endParaRPr lang="en-US" sz="2000" b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2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ED7D31">
                              <a:lumMod val="75000"/>
                            </a:srgb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 Progress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3163472"/>
                  </a:ext>
                </a:extLst>
              </a:tr>
              <a:tr h="159718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Railways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Weight of Goods, Value of Goods etc.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feasibility study under progress. 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2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ED7D31">
                              <a:lumMod val="75000"/>
                            </a:srgb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 Progress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813917"/>
                  </a:ext>
                </a:extLst>
              </a:tr>
              <a:tr h="159718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UDH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>
                          <a:effectLst/>
                          <a:latin typeface="Aptos Narrow" panose="020B0004020202020204"/>
                        </a:rPr>
                        <a:t>Auction processing fees, Lease of land , Sales of commercial plots , Licensing fees </a:t>
                      </a:r>
                      <a:endParaRPr lang="en-US" sz="2000" b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feasibility study under progress.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2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ED7D31">
                              <a:lumMod val="75000"/>
                            </a:srgb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 Progress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4105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1188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C90B41-7E73-D64F-0130-0F8F57F5D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B6152506-02CA-D458-B0F9-31BF6A6D58C7}"/>
              </a:ext>
            </a:extLst>
          </p:cNvPr>
          <p:cNvSpPr/>
          <p:nvPr/>
        </p:nvSpPr>
        <p:spPr>
          <a:xfrm>
            <a:off x="721360" y="240791"/>
            <a:ext cx="15636240" cy="954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IN" sz="3467" b="1" dirty="0">
                <a:solidFill>
                  <a:srgbClr val="1A3257"/>
                </a:solidFill>
                <a:latin typeface="Georgia" pitchFamily="34" charset="0"/>
              </a:rPr>
              <a:t>AI – ML &amp; Risk Based Analytics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5051997-985B-C68F-75F9-AE021F5C9944}"/>
              </a:ext>
            </a:extLst>
          </p:cNvPr>
          <p:cNvGrpSpPr/>
          <p:nvPr/>
        </p:nvGrpSpPr>
        <p:grpSpPr>
          <a:xfrm>
            <a:off x="431800" y="2011680"/>
            <a:ext cx="15392400" cy="6050279"/>
            <a:chOff x="736600" y="2657855"/>
            <a:chExt cx="15392400" cy="4352545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F8D797FA-DAC4-050C-080A-F951623D9329}"/>
                </a:ext>
              </a:extLst>
            </p:cNvPr>
            <p:cNvSpPr/>
            <p:nvPr/>
          </p:nvSpPr>
          <p:spPr>
            <a:xfrm>
              <a:off x="6070600" y="2682240"/>
              <a:ext cx="4931664" cy="4312920"/>
            </a:xfrm>
            <a:prstGeom prst="roundRect">
              <a:avLst>
                <a:gd name="adj" fmla="val 2254"/>
              </a:avLst>
            </a:prstGeom>
            <a:solidFill>
              <a:srgbClr val="EEF3FC"/>
            </a:solidFill>
            <a:ln>
              <a:solidFill>
                <a:schemeClr val="accent1"/>
              </a:solidFill>
            </a:ln>
            <a:effectLst>
              <a:outerShdw blurRad="508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4980AA2A-EEDD-33D8-CC75-82A6EF1EEB25}"/>
                </a:ext>
              </a:extLst>
            </p:cNvPr>
            <p:cNvSpPr/>
            <p:nvPr/>
          </p:nvSpPr>
          <p:spPr>
            <a:xfrm>
              <a:off x="6299200" y="3023616"/>
              <a:ext cx="609600" cy="609600"/>
            </a:xfrm>
            <a:prstGeom prst="ellipse">
              <a:avLst/>
            </a:prstGeom>
            <a:solidFill>
              <a:srgbClr val="1E2761"/>
            </a:solidFill>
            <a:ln/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6" name="Text 4">
              <a:extLst>
                <a:ext uri="{FF2B5EF4-FFF2-40B4-BE49-F238E27FC236}">
                  <a16:creationId xmlns:a16="http://schemas.microsoft.com/office/drawing/2014/main" id="{89ABE19A-B822-C4D4-D36B-8071CCD535DF}"/>
                </a:ext>
              </a:extLst>
            </p:cNvPr>
            <p:cNvSpPr/>
            <p:nvPr/>
          </p:nvSpPr>
          <p:spPr>
            <a:xfrm>
              <a:off x="6299200" y="3023616"/>
              <a:ext cx="609600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1219170"/>
              <a:r>
                <a:rPr lang="en-US" sz="2800" b="1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</a:rPr>
                <a:t>2</a:t>
              </a:r>
              <a:endParaRPr lang="en-US" sz="28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CF0585F4-47E5-438C-7FCB-EF0C41097EDD}"/>
                </a:ext>
              </a:extLst>
            </p:cNvPr>
            <p:cNvSpPr/>
            <p:nvPr/>
          </p:nvSpPr>
          <p:spPr>
            <a:xfrm>
              <a:off x="7055104" y="3060192"/>
              <a:ext cx="34747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2000" b="1" kern="0" spc="133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USE CASE 2</a:t>
              </a:r>
              <a:endParaRPr lang="en-US" sz="20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8" name="Text 6">
              <a:extLst>
                <a:ext uri="{FF2B5EF4-FFF2-40B4-BE49-F238E27FC236}">
                  <a16:creationId xmlns:a16="http://schemas.microsoft.com/office/drawing/2014/main" id="{A874EC4D-9F80-F7A3-CD50-A13AA1871B0F}"/>
                </a:ext>
              </a:extLst>
            </p:cNvPr>
            <p:cNvSpPr/>
            <p:nvPr/>
          </p:nvSpPr>
          <p:spPr>
            <a:xfrm>
              <a:off x="6396735" y="3557016"/>
              <a:ext cx="4435715" cy="792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10000"/>
                </a:lnSpc>
              </a:pPr>
              <a:r>
                <a:rPr lang="en-US" sz="2800" b="1" dirty="0">
                  <a:solidFill>
                    <a:srgbClr val="1B1F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Non-Filers more than 6 months</a:t>
              </a:r>
              <a:endParaRPr lang="en-US" sz="28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E8A2B03E-E6B8-3D55-3CED-4FE6D0E24574}"/>
                </a:ext>
              </a:extLst>
            </p:cNvPr>
            <p:cNvSpPr/>
            <p:nvPr/>
          </p:nvSpPr>
          <p:spPr>
            <a:xfrm>
              <a:off x="6299200" y="4343400"/>
              <a:ext cx="4800600" cy="1219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25000"/>
                </a:lnSpc>
              </a:pPr>
              <a:r>
                <a:rPr lang="en-US" sz="2400" dirty="0">
                  <a:solidFill>
                    <a:srgbClr val="5A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Taxpayers who have not filed return for than 6 month, either made to file returns or suspended / cancelled if found inexistent / non-genuine.</a:t>
              </a:r>
            </a:p>
          </p:txBody>
        </p:sp>
        <p:sp>
          <p:nvSpPr>
            <p:cNvPr id="10" name="Shape 8">
              <a:extLst>
                <a:ext uri="{FF2B5EF4-FFF2-40B4-BE49-F238E27FC236}">
                  <a16:creationId xmlns:a16="http://schemas.microsoft.com/office/drawing/2014/main" id="{F191BD88-2818-B63E-1647-44C97C14DF6E}"/>
                </a:ext>
              </a:extLst>
            </p:cNvPr>
            <p:cNvSpPr/>
            <p:nvPr/>
          </p:nvSpPr>
          <p:spPr>
            <a:xfrm>
              <a:off x="6299200" y="5852160"/>
              <a:ext cx="4133088" cy="0"/>
            </a:xfrm>
            <a:prstGeom prst="line">
              <a:avLst/>
            </a:prstGeom>
            <a:noFill/>
            <a:ln w="9525">
              <a:solidFill>
                <a:srgbClr val="C4CFE3"/>
              </a:solidFill>
              <a:prstDash val="soli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74E52D6B-CA5E-899C-F5F3-9AD79CD90610}"/>
                </a:ext>
              </a:extLst>
            </p:cNvPr>
            <p:cNvSpPr/>
            <p:nvPr/>
          </p:nvSpPr>
          <p:spPr>
            <a:xfrm>
              <a:off x="6299200" y="6035040"/>
              <a:ext cx="2066544" cy="3413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1600" b="1" kern="0" spc="67" dirty="0">
                  <a:solidFill>
                    <a:srgbClr val="1E276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TAXPAYERS</a:t>
              </a:r>
              <a:endParaRPr lang="en-US" sz="16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9480B2C4-73EE-6008-BF21-9B4EF7F2AB67}"/>
                </a:ext>
              </a:extLst>
            </p:cNvPr>
            <p:cNvSpPr/>
            <p:nvPr/>
          </p:nvSpPr>
          <p:spPr>
            <a:xfrm>
              <a:off x="6299200" y="6339840"/>
              <a:ext cx="2066544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4000" b="1" dirty="0">
                  <a:solidFill>
                    <a:srgbClr val="1E2761"/>
                  </a:solidFill>
                  <a:latin typeface="Cambria" pitchFamily="34" charset="0"/>
                  <a:ea typeface="Cambria" pitchFamily="34" charset="-122"/>
                </a:rPr>
                <a:t>2950</a:t>
              </a:r>
              <a:endParaRPr lang="en-US" sz="40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5" name="Shape 13">
              <a:extLst>
                <a:ext uri="{FF2B5EF4-FFF2-40B4-BE49-F238E27FC236}">
                  <a16:creationId xmlns:a16="http://schemas.microsoft.com/office/drawing/2014/main" id="{66C5F3D2-F821-7131-C032-C67CD3E451A3}"/>
                </a:ext>
              </a:extLst>
            </p:cNvPr>
            <p:cNvSpPr/>
            <p:nvPr/>
          </p:nvSpPr>
          <p:spPr>
            <a:xfrm>
              <a:off x="736600" y="2667000"/>
              <a:ext cx="4913376" cy="4303775"/>
            </a:xfrm>
            <a:prstGeom prst="roundRect">
              <a:avLst>
                <a:gd name="adj" fmla="val 2254"/>
              </a:avLst>
            </a:prstGeom>
            <a:solidFill>
              <a:srgbClr val="EEF3FC"/>
            </a:solidFill>
            <a:ln>
              <a:solidFill>
                <a:schemeClr val="accent1"/>
              </a:solidFill>
            </a:ln>
            <a:effectLst>
              <a:outerShdw blurRad="508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US" sz="2400" dirty="0"/>
            </a:p>
          </p:txBody>
        </p:sp>
        <p:sp>
          <p:nvSpPr>
            <p:cNvPr id="16" name="Shape 14">
              <a:extLst>
                <a:ext uri="{FF2B5EF4-FFF2-40B4-BE49-F238E27FC236}">
                  <a16:creationId xmlns:a16="http://schemas.microsoft.com/office/drawing/2014/main" id="{C03444C9-824D-40A1-C135-6E4437A73C76}"/>
                </a:ext>
              </a:extLst>
            </p:cNvPr>
            <p:cNvSpPr/>
            <p:nvPr/>
          </p:nvSpPr>
          <p:spPr>
            <a:xfrm>
              <a:off x="1077976" y="3008376"/>
              <a:ext cx="609600" cy="609600"/>
            </a:xfrm>
            <a:prstGeom prst="ellipse">
              <a:avLst/>
            </a:prstGeom>
            <a:solidFill>
              <a:srgbClr val="1E2761"/>
            </a:solidFill>
            <a:ln/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827B8FC5-0409-60EA-58C3-E90A0C38D5C1}"/>
                </a:ext>
              </a:extLst>
            </p:cNvPr>
            <p:cNvSpPr/>
            <p:nvPr/>
          </p:nvSpPr>
          <p:spPr>
            <a:xfrm>
              <a:off x="1077976" y="3008376"/>
              <a:ext cx="609600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1219170"/>
              <a:r>
                <a:rPr lang="en-US" sz="2800" b="1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1</a:t>
              </a:r>
              <a:endParaRPr lang="en-US" sz="28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DEEDDDBF-2574-EF30-A657-6BDC668D080D}"/>
                </a:ext>
              </a:extLst>
            </p:cNvPr>
            <p:cNvSpPr/>
            <p:nvPr/>
          </p:nvSpPr>
          <p:spPr>
            <a:xfrm>
              <a:off x="1833880" y="3044952"/>
              <a:ext cx="34747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2000" b="1" kern="0" spc="133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USE CASE 1</a:t>
              </a:r>
              <a:endParaRPr lang="en-US" sz="20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9" name="Text 17">
              <a:extLst>
                <a:ext uri="{FF2B5EF4-FFF2-40B4-BE49-F238E27FC236}">
                  <a16:creationId xmlns:a16="http://schemas.microsoft.com/office/drawing/2014/main" id="{40FD971B-4FCD-5BD5-9B99-D242E05739FE}"/>
                </a:ext>
              </a:extLst>
            </p:cNvPr>
            <p:cNvSpPr/>
            <p:nvPr/>
          </p:nvSpPr>
          <p:spPr>
            <a:xfrm>
              <a:off x="1077976" y="3588098"/>
              <a:ext cx="4437888" cy="792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10000"/>
                </a:lnSpc>
              </a:pPr>
              <a:r>
                <a:rPr lang="en-US" sz="2800" b="1" dirty="0">
                  <a:solidFill>
                    <a:srgbClr val="1B1F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New Registration High Inter-State Sales</a:t>
              </a:r>
              <a:endParaRPr lang="en-US" sz="28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0" name="Text 18">
              <a:extLst>
                <a:ext uri="{FF2B5EF4-FFF2-40B4-BE49-F238E27FC236}">
                  <a16:creationId xmlns:a16="http://schemas.microsoft.com/office/drawing/2014/main" id="{BA6AC03C-D29E-8664-7EDD-FDF14747C9BD}"/>
                </a:ext>
              </a:extLst>
            </p:cNvPr>
            <p:cNvSpPr/>
            <p:nvPr/>
          </p:nvSpPr>
          <p:spPr>
            <a:xfrm>
              <a:off x="1077976" y="4303868"/>
              <a:ext cx="4133088" cy="1219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25000"/>
                </a:lnSpc>
              </a:pPr>
              <a:r>
                <a:rPr lang="en-US" sz="2400" dirty="0">
                  <a:solidFill>
                    <a:srgbClr val="5A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Newly registered taxpayers having inter-state sales and tax paid entirely using ITC</a:t>
              </a:r>
            </a:p>
          </p:txBody>
        </p:sp>
        <p:sp>
          <p:nvSpPr>
            <p:cNvPr id="21" name="Shape 19">
              <a:extLst>
                <a:ext uri="{FF2B5EF4-FFF2-40B4-BE49-F238E27FC236}">
                  <a16:creationId xmlns:a16="http://schemas.microsoft.com/office/drawing/2014/main" id="{A01B303B-2504-73E9-F42B-B569E5554D97}"/>
                </a:ext>
              </a:extLst>
            </p:cNvPr>
            <p:cNvSpPr/>
            <p:nvPr/>
          </p:nvSpPr>
          <p:spPr>
            <a:xfrm>
              <a:off x="1077976" y="5836920"/>
              <a:ext cx="4133088" cy="0"/>
            </a:xfrm>
            <a:prstGeom prst="line">
              <a:avLst/>
            </a:prstGeom>
            <a:noFill/>
            <a:ln w="9525">
              <a:solidFill>
                <a:srgbClr val="C4CFE3"/>
              </a:solidFill>
              <a:prstDash val="soli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22" name="Text 20">
              <a:extLst>
                <a:ext uri="{FF2B5EF4-FFF2-40B4-BE49-F238E27FC236}">
                  <a16:creationId xmlns:a16="http://schemas.microsoft.com/office/drawing/2014/main" id="{25AED641-EA99-88E9-B0FB-17E7BF2270FD}"/>
                </a:ext>
              </a:extLst>
            </p:cNvPr>
            <p:cNvSpPr/>
            <p:nvPr/>
          </p:nvSpPr>
          <p:spPr>
            <a:xfrm>
              <a:off x="1077976" y="6019800"/>
              <a:ext cx="2066544" cy="3413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1600" b="1" kern="0" spc="67">
                  <a:solidFill>
                    <a:srgbClr val="1E276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TAXPAYERS</a:t>
              </a:r>
              <a:endParaRPr lang="en-US" sz="16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3" name="Text 21">
              <a:extLst>
                <a:ext uri="{FF2B5EF4-FFF2-40B4-BE49-F238E27FC236}">
                  <a16:creationId xmlns:a16="http://schemas.microsoft.com/office/drawing/2014/main" id="{619ACF0B-F322-9086-475A-81EA31E5F3E0}"/>
                </a:ext>
              </a:extLst>
            </p:cNvPr>
            <p:cNvSpPr/>
            <p:nvPr/>
          </p:nvSpPr>
          <p:spPr>
            <a:xfrm>
              <a:off x="1077976" y="6324600"/>
              <a:ext cx="2066544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4000" b="1" dirty="0">
                  <a:solidFill>
                    <a:srgbClr val="1E2761"/>
                  </a:solidFill>
                  <a:latin typeface="Cambria" pitchFamily="34" charset="0"/>
                  <a:ea typeface="Cambria" pitchFamily="34" charset="-122"/>
                </a:rPr>
                <a:t>51</a:t>
              </a:r>
              <a:endParaRPr lang="en-US" sz="40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4" name="Text 22">
              <a:extLst>
                <a:ext uri="{FF2B5EF4-FFF2-40B4-BE49-F238E27FC236}">
                  <a16:creationId xmlns:a16="http://schemas.microsoft.com/office/drawing/2014/main" id="{A90F6FEB-B1D0-8F5F-FDBF-127662EAA87D}"/>
                </a:ext>
              </a:extLst>
            </p:cNvPr>
            <p:cNvSpPr/>
            <p:nvPr/>
          </p:nvSpPr>
          <p:spPr>
            <a:xfrm>
              <a:off x="3144520" y="6019800"/>
              <a:ext cx="2066544" cy="3413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1600" b="1" kern="0" spc="67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Amount Involved</a:t>
              </a:r>
              <a:endParaRPr lang="en-US" sz="16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5" name="Text 23">
              <a:extLst>
                <a:ext uri="{FF2B5EF4-FFF2-40B4-BE49-F238E27FC236}">
                  <a16:creationId xmlns:a16="http://schemas.microsoft.com/office/drawing/2014/main" id="{7B93DFEA-3794-62F8-6CA8-B2369D494520}"/>
                </a:ext>
              </a:extLst>
            </p:cNvPr>
            <p:cNvSpPr/>
            <p:nvPr/>
          </p:nvSpPr>
          <p:spPr>
            <a:xfrm>
              <a:off x="3144520" y="6324600"/>
              <a:ext cx="2066544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3600" b="1" dirty="0">
                  <a:solidFill>
                    <a:srgbClr val="C0392B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₹296 Cr</a:t>
              </a:r>
              <a:endParaRPr lang="en-US" sz="36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6" name="Shape 2">
              <a:extLst>
                <a:ext uri="{FF2B5EF4-FFF2-40B4-BE49-F238E27FC236}">
                  <a16:creationId xmlns:a16="http://schemas.microsoft.com/office/drawing/2014/main" id="{36774E0C-CE77-2976-7B88-CA11A11DEDCF}"/>
                </a:ext>
              </a:extLst>
            </p:cNvPr>
            <p:cNvSpPr/>
            <p:nvPr/>
          </p:nvSpPr>
          <p:spPr>
            <a:xfrm>
              <a:off x="11328400" y="2657855"/>
              <a:ext cx="4800600" cy="4303775"/>
            </a:xfrm>
            <a:prstGeom prst="roundRect">
              <a:avLst>
                <a:gd name="adj" fmla="val 2254"/>
              </a:avLst>
            </a:prstGeom>
            <a:solidFill>
              <a:srgbClr val="EEF3FC"/>
            </a:solidFill>
            <a:ln>
              <a:solidFill>
                <a:schemeClr val="accent1"/>
              </a:solidFill>
            </a:ln>
            <a:effectLst>
              <a:outerShdw blurRad="508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28" name="Shape 3">
              <a:extLst>
                <a:ext uri="{FF2B5EF4-FFF2-40B4-BE49-F238E27FC236}">
                  <a16:creationId xmlns:a16="http://schemas.microsoft.com/office/drawing/2014/main" id="{65B657BC-E0D5-5477-8BDE-39F81B2DD53C}"/>
                </a:ext>
              </a:extLst>
            </p:cNvPr>
            <p:cNvSpPr/>
            <p:nvPr/>
          </p:nvSpPr>
          <p:spPr>
            <a:xfrm>
              <a:off x="11557000" y="2999231"/>
              <a:ext cx="609600" cy="609600"/>
            </a:xfrm>
            <a:prstGeom prst="ellipse">
              <a:avLst/>
            </a:prstGeom>
            <a:solidFill>
              <a:srgbClr val="1E2761"/>
            </a:solidFill>
            <a:ln/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30" name="Text 4">
              <a:extLst>
                <a:ext uri="{FF2B5EF4-FFF2-40B4-BE49-F238E27FC236}">
                  <a16:creationId xmlns:a16="http://schemas.microsoft.com/office/drawing/2014/main" id="{BDB1856C-ACB8-C5C9-F3F7-A4C0005BABAB}"/>
                </a:ext>
              </a:extLst>
            </p:cNvPr>
            <p:cNvSpPr/>
            <p:nvPr/>
          </p:nvSpPr>
          <p:spPr>
            <a:xfrm>
              <a:off x="11557000" y="2999231"/>
              <a:ext cx="609600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1219170"/>
              <a:r>
                <a:rPr lang="en-US" sz="2800" b="1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</a:rPr>
                <a:t>3</a:t>
              </a:r>
              <a:endParaRPr lang="en-US" sz="28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32" name="Text 5">
              <a:extLst>
                <a:ext uri="{FF2B5EF4-FFF2-40B4-BE49-F238E27FC236}">
                  <a16:creationId xmlns:a16="http://schemas.microsoft.com/office/drawing/2014/main" id="{3F1A2BD9-7C6C-BB6F-7A9A-3A998AB05EBF}"/>
                </a:ext>
              </a:extLst>
            </p:cNvPr>
            <p:cNvSpPr/>
            <p:nvPr/>
          </p:nvSpPr>
          <p:spPr>
            <a:xfrm>
              <a:off x="12312904" y="3035807"/>
              <a:ext cx="34747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2000" b="1" kern="0" spc="133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USE CASE 3</a:t>
              </a:r>
              <a:endParaRPr lang="en-US" sz="20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34" name="Text 6">
              <a:extLst>
                <a:ext uri="{FF2B5EF4-FFF2-40B4-BE49-F238E27FC236}">
                  <a16:creationId xmlns:a16="http://schemas.microsoft.com/office/drawing/2014/main" id="{B4F92DA9-2F4F-3813-C023-0FAD55887A3C}"/>
                </a:ext>
              </a:extLst>
            </p:cNvPr>
            <p:cNvSpPr/>
            <p:nvPr/>
          </p:nvSpPr>
          <p:spPr>
            <a:xfrm>
              <a:off x="11546840" y="3564253"/>
              <a:ext cx="4424680" cy="792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10000"/>
                </a:lnSpc>
              </a:pPr>
              <a:r>
                <a:rPr lang="en-US" sz="2800" b="1" dirty="0">
                  <a:solidFill>
                    <a:srgbClr val="1B1F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Electricity Consumption Compared with GST Turnover</a:t>
              </a:r>
              <a:endParaRPr lang="en-US" sz="28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36" name="Text 7">
              <a:extLst>
                <a:ext uri="{FF2B5EF4-FFF2-40B4-BE49-F238E27FC236}">
                  <a16:creationId xmlns:a16="http://schemas.microsoft.com/office/drawing/2014/main" id="{C82B8A7F-5695-05D6-19D1-1ACA036584E5}"/>
                </a:ext>
              </a:extLst>
            </p:cNvPr>
            <p:cNvSpPr/>
            <p:nvPr/>
          </p:nvSpPr>
          <p:spPr>
            <a:xfrm>
              <a:off x="11557000" y="4425696"/>
              <a:ext cx="4414520" cy="1219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2400" dirty="0">
                  <a:solidFill>
                    <a:srgbClr val="5A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The electricity bill of the taxpayers were read using OCR and electricity consumption was compared with the Turnover of the Manufacturer Taxpayers</a:t>
              </a:r>
            </a:p>
          </p:txBody>
        </p:sp>
        <p:sp>
          <p:nvSpPr>
            <p:cNvPr id="43" name="Shape 8">
              <a:extLst>
                <a:ext uri="{FF2B5EF4-FFF2-40B4-BE49-F238E27FC236}">
                  <a16:creationId xmlns:a16="http://schemas.microsoft.com/office/drawing/2014/main" id="{0B939110-545D-1460-E8AE-6604AB81B407}"/>
                </a:ext>
              </a:extLst>
            </p:cNvPr>
            <p:cNvSpPr/>
            <p:nvPr/>
          </p:nvSpPr>
          <p:spPr>
            <a:xfrm>
              <a:off x="11654536" y="5852160"/>
              <a:ext cx="4133088" cy="0"/>
            </a:xfrm>
            <a:prstGeom prst="line">
              <a:avLst/>
            </a:prstGeom>
            <a:noFill/>
            <a:ln w="9525">
              <a:solidFill>
                <a:srgbClr val="C4CFE3"/>
              </a:solidFill>
              <a:prstDash val="soli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46" name="Text 9">
              <a:extLst>
                <a:ext uri="{FF2B5EF4-FFF2-40B4-BE49-F238E27FC236}">
                  <a16:creationId xmlns:a16="http://schemas.microsoft.com/office/drawing/2014/main" id="{1B248DFE-EBE0-A9C4-6340-CDFA10F98C05}"/>
                </a:ext>
              </a:extLst>
            </p:cNvPr>
            <p:cNvSpPr/>
            <p:nvPr/>
          </p:nvSpPr>
          <p:spPr>
            <a:xfrm>
              <a:off x="11557000" y="6010655"/>
              <a:ext cx="2066544" cy="3413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1600" b="1" kern="0" spc="67">
                  <a:solidFill>
                    <a:srgbClr val="1E276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TAXPAYERS</a:t>
              </a:r>
              <a:endParaRPr lang="en-US" sz="16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48" name="Text 10">
              <a:extLst>
                <a:ext uri="{FF2B5EF4-FFF2-40B4-BE49-F238E27FC236}">
                  <a16:creationId xmlns:a16="http://schemas.microsoft.com/office/drawing/2014/main" id="{35F68C2A-CFB6-B055-108B-9E8AFC01CD5B}"/>
                </a:ext>
              </a:extLst>
            </p:cNvPr>
            <p:cNvSpPr/>
            <p:nvPr/>
          </p:nvSpPr>
          <p:spPr>
            <a:xfrm>
              <a:off x="11557000" y="6315455"/>
              <a:ext cx="2066544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4000" b="1" dirty="0">
                  <a:solidFill>
                    <a:srgbClr val="1E2761"/>
                  </a:solidFill>
                  <a:latin typeface="Cambria" pitchFamily="34" charset="0"/>
                  <a:ea typeface="Cambria" pitchFamily="34" charset="-122"/>
                </a:rPr>
                <a:t>238</a:t>
              </a:r>
              <a:endParaRPr lang="en-US" sz="40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52" name="Text 12">
              <a:extLst>
                <a:ext uri="{FF2B5EF4-FFF2-40B4-BE49-F238E27FC236}">
                  <a16:creationId xmlns:a16="http://schemas.microsoft.com/office/drawing/2014/main" id="{A28240FB-9C7A-916C-B786-619864B02507}"/>
                </a:ext>
              </a:extLst>
            </p:cNvPr>
            <p:cNvSpPr/>
            <p:nvPr/>
          </p:nvSpPr>
          <p:spPr>
            <a:xfrm>
              <a:off x="13623544" y="6315455"/>
              <a:ext cx="2066544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endParaRPr lang="en-US" sz="36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sp>
        <p:nvSpPr>
          <p:cNvPr id="14" name="Text 22">
            <a:extLst>
              <a:ext uri="{FF2B5EF4-FFF2-40B4-BE49-F238E27FC236}">
                <a16:creationId xmlns:a16="http://schemas.microsoft.com/office/drawing/2014/main" id="{76B434EE-BC20-4F8C-E30E-1A679AEA6B97}"/>
              </a:ext>
            </a:extLst>
          </p:cNvPr>
          <p:cNvSpPr/>
          <p:nvPr/>
        </p:nvSpPr>
        <p:spPr>
          <a:xfrm>
            <a:off x="8368369" y="6689648"/>
            <a:ext cx="2159282" cy="452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kern="0" spc="67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Cancelled / suspended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342CFDE2-4318-52F8-DDFA-4AB9E1FC8B72}"/>
              </a:ext>
            </a:extLst>
          </p:cNvPr>
          <p:cNvSpPr/>
          <p:nvPr/>
        </p:nvSpPr>
        <p:spPr>
          <a:xfrm>
            <a:off x="8461107" y="6554304"/>
            <a:ext cx="2066544" cy="83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endParaRPr lang="en-US" sz="3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22">
            <a:extLst>
              <a:ext uri="{FF2B5EF4-FFF2-40B4-BE49-F238E27FC236}">
                <a16:creationId xmlns:a16="http://schemas.microsoft.com/office/drawing/2014/main" id="{49BE1518-8CD1-C7BB-8BF6-9F5F1315FFC2}"/>
              </a:ext>
            </a:extLst>
          </p:cNvPr>
          <p:cNvSpPr/>
          <p:nvPr/>
        </p:nvSpPr>
        <p:spPr>
          <a:xfrm>
            <a:off x="13318744" y="6705939"/>
            <a:ext cx="2025622" cy="436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kern="0" spc="67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Domestic Connection but Turnover&gt;10 Cr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23">
            <a:extLst>
              <a:ext uri="{FF2B5EF4-FFF2-40B4-BE49-F238E27FC236}">
                <a16:creationId xmlns:a16="http://schemas.microsoft.com/office/drawing/2014/main" id="{C2603975-8584-3BBC-9A43-5A922138AD14}"/>
              </a:ext>
            </a:extLst>
          </p:cNvPr>
          <p:cNvSpPr/>
          <p:nvPr/>
        </p:nvSpPr>
        <p:spPr>
          <a:xfrm>
            <a:off x="13452856" y="7120307"/>
            <a:ext cx="2066544" cy="83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215</a:t>
            </a:r>
            <a:endParaRPr lang="en-US" sz="3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23">
            <a:extLst>
              <a:ext uri="{FF2B5EF4-FFF2-40B4-BE49-F238E27FC236}">
                <a16:creationId xmlns:a16="http://schemas.microsoft.com/office/drawing/2014/main" id="{D0C7E45F-5A6B-7CA5-CD29-986FA8022336}"/>
              </a:ext>
            </a:extLst>
          </p:cNvPr>
          <p:cNvSpPr/>
          <p:nvPr/>
        </p:nvSpPr>
        <p:spPr>
          <a:xfrm>
            <a:off x="8574306" y="7179149"/>
            <a:ext cx="2066544" cy="83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436</a:t>
            </a:r>
            <a:endParaRPr lang="en-US" sz="36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7169004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452D09-121D-92E5-778A-6B4C78E3D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FA89380E-0634-801B-E2BF-52CA60C714B4}"/>
              </a:ext>
            </a:extLst>
          </p:cNvPr>
          <p:cNvSpPr/>
          <p:nvPr/>
        </p:nvSpPr>
        <p:spPr>
          <a:xfrm>
            <a:off x="721360" y="240791"/>
            <a:ext cx="15636240" cy="954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IN" sz="3467" b="1" dirty="0">
                <a:solidFill>
                  <a:srgbClr val="1A3257"/>
                </a:solidFill>
                <a:latin typeface="Georgia" pitchFamily="34" charset="0"/>
              </a:rPr>
              <a:t>AI – ML &amp; Risk Based Analytics</a:t>
            </a: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402015B7-B6B0-27A3-62AC-F7D3FBF2F95F}"/>
              </a:ext>
            </a:extLst>
          </p:cNvPr>
          <p:cNvSpPr/>
          <p:nvPr/>
        </p:nvSpPr>
        <p:spPr>
          <a:xfrm>
            <a:off x="5994400" y="731520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3733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238</a:t>
            </a:r>
            <a:endParaRPr lang="en-US" sz="3733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DB92D85-2F0B-8DB9-91A9-ECE7BB95C919}"/>
              </a:ext>
            </a:extLst>
          </p:cNvPr>
          <p:cNvGrpSpPr/>
          <p:nvPr/>
        </p:nvGrpSpPr>
        <p:grpSpPr>
          <a:xfrm>
            <a:off x="309880" y="1594187"/>
            <a:ext cx="15444000" cy="6051600"/>
            <a:chOff x="736600" y="2657855"/>
            <a:chExt cx="15392400" cy="4352545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4064593C-D025-0287-A0CA-D60980229D52}"/>
                </a:ext>
              </a:extLst>
            </p:cNvPr>
            <p:cNvSpPr/>
            <p:nvPr/>
          </p:nvSpPr>
          <p:spPr>
            <a:xfrm>
              <a:off x="6070600" y="2682240"/>
              <a:ext cx="4931664" cy="4312920"/>
            </a:xfrm>
            <a:prstGeom prst="roundRect">
              <a:avLst>
                <a:gd name="adj" fmla="val 2254"/>
              </a:avLst>
            </a:prstGeom>
            <a:solidFill>
              <a:srgbClr val="EEF3FC"/>
            </a:solidFill>
            <a:ln>
              <a:solidFill>
                <a:schemeClr val="accent1"/>
              </a:solidFill>
            </a:ln>
            <a:effectLst>
              <a:outerShdw blurRad="508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6C4556FF-EFF9-A3CF-4775-E3F1CF8E2871}"/>
                </a:ext>
              </a:extLst>
            </p:cNvPr>
            <p:cNvSpPr/>
            <p:nvPr/>
          </p:nvSpPr>
          <p:spPr>
            <a:xfrm>
              <a:off x="6299200" y="2743200"/>
              <a:ext cx="609600" cy="609600"/>
            </a:xfrm>
            <a:prstGeom prst="ellipse">
              <a:avLst/>
            </a:prstGeom>
            <a:solidFill>
              <a:srgbClr val="1E2761"/>
            </a:solidFill>
            <a:ln/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6" name="Text 4">
              <a:extLst>
                <a:ext uri="{FF2B5EF4-FFF2-40B4-BE49-F238E27FC236}">
                  <a16:creationId xmlns:a16="http://schemas.microsoft.com/office/drawing/2014/main" id="{6FC5DCF7-3622-E799-0459-CB33FBE24C85}"/>
                </a:ext>
              </a:extLst>
            </p:cNvPr>
            <p:cNvSpPr/>
            <p:nvPr/>
          </p:nvSpPr>
          <p:spPr>
            <a:xfrm>
              <a:off x="6299200" y="2743200"/>
              <a:ext cx="609600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1219170"/>
              <a:r>
                <a:rPr lang="en-US" sz="2800" b="1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</a:rPr>
                <a:t>5</a:t>
              </a:r>
              <a:endParaRPr lang="en-US" sz="28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5FA1F169-7B44-FC3A-0D50-B80544833C13}"/>
                </a:ext>
              </a:extLst>
            </p:cNvPr>
            <p:cNvSpPr/>
            <p:nvPr/>
          </p:nvSpPr>
          <p:spPr>
            <a:xfrm>
              <a:off x="7055104" y="2779776"/>
              <a:ext cx="34747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2000" b="1" kern="0" spc="133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USE CASE 5</a:t>
              </a:r>
              <a:endParaRPr lang="en-US" sz="20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8" name="Text 6">
              <a:extLst>
                <a:ext uri="{FF2B5EF4-FFF2-40B4-BE49-F238E27FC236}">
                  <a16:creationId xmlns:a16="http://schemas.microsoft.com/office/drawing/2014/main" id="{149E96C5-9FE6-6450-5950-B3F495B0B06D}"/>
                </a:ext>
              </a:extLst>
            </p:cNvPr>
            <p:cNvSpPr/>
            <p:nvPr/>
          </p:nvSpPr>
          <p:spPr>
            <a:xfrm>
              <a:off x="6299200" y="3474720"/>
              <a:ext cx="4133088" cy="792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10000"/>
                </a:lnSpc>
              </a:pPr>
              <a:r>
                <a:rPr lang="en-US" sz="2800" b="1" dirty="0">
                  <a:solidFill>
                    <a:srgbClr val="1B1F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Same Bank Account used by multiple GSTINs which was cancelled previously</a:t>
              </a:r>
              <a:endParaRPr lang="en-US" sz="28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4E165423-ACB9-47E6-3B3A-39FE7AD8F0B5}"/>
                </a:ext>
              </a:extLst>
            </p:cNvPr>
            <p:cNvSpPr/>
            <p:nvPr/>
          </p:nvSpPr>
          <p:spPr>
            <a:xfrm>
              <a:off x="6299200" y="4477176"/>
              <a:ext cx="4575800" cy="1219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25000"/>
                </a:lnSpc>
              </a:pPr>
              <a:r>
                <a:rPr lang="en-US" sz="2400" dirty="0">
                  <a:solidFill>
                    <a:srgbClr val="5A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Same bank account linked to multiple taxpayers. Out of these taxpayers more than 50% are cancelled. </a:t>
              </a:r>
            </a:p>
          </p:txBody>
        </p:sp>
        <p:sp>
          <p:nvSpPr>
            <p:cNvPr id="10" name="Shape 8">
              <a:extLst>
                <a:ext uri="{FF2B5EF4-FFF2-40B4-BE49-F238E27FC236}">
                  <a16:creationId xmlns:a16="http://schemas.microsoft.com/office/drawing/2014/main" id="{B136BDD0-E647-72A1-791B-51075B0212C3}"/>
                </a:ext>
              </a:extLst>
            </p:cNvPr>
            <p:cNvSpPr/>
            <p:nvPr/>
          </p:nvSpPr>
          <p:spPr>
            <a:xfrm>
              <a:off x="6299200" y="5852160"/>
              <a:ext cx="4133088" cy="0"/>
            </a:xfrm>
            <a:prstGeom prst="line">
              <a:avLst/>
            </a:prstGeom>
            <a:noFill/>
            <a:ln w="9525">
              <a:solidFill>
                <a:srgbClr val="C4CFE3"/>
              </a:solidFill>
              <a:prstDash val="soli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0443E3D5-ACC8-B969-1BB0-BDC111BE1D93}"/>
                </a:ext>
              </a:extLst>
            </p:cNvPr>
            <p:cNvSpPr/>
            <p:nvPr/>
          </p:nvSpPr>
          <p:spPr>
            <a:xfrm>
              <a:off x="6299200" y="6035040"/>
              <a:ext cx="2066544" cy="3413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1600" b="1" kern="0" spc="67">
                  <a:solidFill>
                    <a:srgbClr val="1E276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TAXPAYERS</a:t>
              </a:r>
              <a:endParaRPr lang="en-US" sz="16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A10B36B9-60F1-D5E7-30D9-C5A344B9A714}"/>
                </a:ext>
              </a:extLst>
            </p:cNvPr>
            <p:cNvSpPr/>
            <p:nvPr/>
          </p:nvSpPr>
          <p:spPr>
            <a:xfrm>
              <a:off x="6299200" y="6339840"/>
              <a:ext cx="2066544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4000" b="1" dirty="0">
                  <a:solidFill>
                    <a:srgbClr val="1E2761"/>
                  </a:solidFill>
                  <a:latin typeface="Cambria" pitchFamily="34" charset="0"/>
                  <a:ea typeface="Cambria" pitchFamily="34" charset="-122"/>
                </a:rPr>
                <a:t>3474</a:t>
              </a:r>
              <a:endParaRPr lang="en-US" sz="40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5" name="Shape 13">
              <a:extLst>
                <a:ext uri="{FF2B5EF4-FFF2-40B4-BE49-F238E27FC236}">
                  <a16:creationId xmlns:a16="http://schemas.microsoft.com/office/drawing/2014/main" id="{C4F676CE-B217-2E92-5A8F-C0C976CBDC14}"/>
                </a:ext>
              </a:extLst>
            </p:cNvPr>
            <p:cNvSpPr/>
            <p:nvPr/>
          </p:nvSpPr>
          <p:spPr>
            <a:xfrm>
              <a:off x="736600" y="2667000"/>
              <a:ext cx="4913376" cy="4303775"/>
            </a:xfrm>
            <a:prstGeom prst="roundRect">
              <a:avLst>
                <a:gd name="adj" fmla="val 2254"/>
              </a:avLst>
            </a:prstGeom>
            <a:solidFill>
              <a:srgbClr val="EEF3FC"/>
            </a:solidFill>
            <a:ln>
              <a:solidFill>
                <a:schemeClr val="accent1"/>
              </a:solidFill>
            </a:ln>
            <a:effectLst>
              <a:outerShdw blurRad="508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16" name="Shape 14">
              <a:extLst>
                <a:ext uri="{FF2B5EF4-FFF2-40B4-BE49-F238E27FC236}">
                  <a16:creationId xmlns:a16="http://schemas.microsoft.com/office/drawing/2014/main" id="{369911DB-3D5B-8186-A69A-816FA28B73A2}"/>
                </a:ext>
              </a:extLst>
            </p:cNvPr>
            <p:cNvSpPr/>
            <p:nvPr/>
          </p:nvSpPr>
          <p:spPr>
            <a:xfrm>
              <a:off x="965200" y="2743200"/>
              <a:ext cx="609600" cy="609600"/>
            </a:xfrm>
            <a:prstGeom prst="ellipse">
              <a:avLst/>
            </a:prstGeom>
            <a:solidFill>
              <a:srgbClr val="1E2761"/>
            </a:solidFill>
            <a:ln/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5F768237-7C8C-DFF7-B905-012269BB5E11}"/>
                </a:ext>
              </a:extLst>
            </p:cNvPr>
            <p:cNvSpPr/>
            <p:nvPr/>
          </p:nvSpPr>
          <p:spPr>
            <a:xfrm>
              <a:off x="965200" y="2743200"/>
              <a:ext cx="609600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1219170"/>
              <a:r>
                <a:rPr lang="en-US" sz="2800" b="1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4</a:t>
              </a:r>
              <a:endParaRPr lang="en-US" sz="28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A1032EDB-E3AB-C1F3-A2AC-FE37257E4E5D}"/>
                </a:ext>
              </a:extLst>
            </p:cNvPr>
            <p:cNvSpPr/>
            <p:nvPr/>
          </p:nvSpPr>
          <p:spPr>
            <a:xfrm>
              <a:off x="1833880" y="2910840"/>
              <a:ext cx="34747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2000" b="1" kern="0" spc="133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USE CASE 4</a:t>
              </a:r>
              <a:endParaRPr lang="en-US" sz="20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9" name="Text 17">
              <a:extLst>
                <a:ext uri="{FF2B5EF4-FFF2-40B4-BE49-F238E27FC236}">
                  <a16:creationId xmlns:a16="http://schemas.microsoft.com/office/drawing/2014/main" id="{D23B4AD0-8432-6541-881F-A97B6D74AAA2}"/>
                </a:ext>
              </a:extLst>
            </p:cNvPr>
            <p:cNvSpPr/>
            <p:nvPr/>
          </p:nvSpPr>
          <p:spPr>
            <a:xfrm>
              <a:off x="1020063" y="3535679"/>
              <a:ext cx="4611624" cy="792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10000"/>
                </a:lnSpc>
              </a:pPr>
              <a:r>
                <a:rPr lang="en-US" sz="2800" b="1" dirty="0">
                  <a:solidFill>
                    <a:srgbClr val="1B1F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Taxpayers having Bank Accounts involved in Cyber Frauds</a:t>
              </a:r>
              <a:endParaRPr lang="en-US" sz="28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0" name="Text 18">
              <a:extLst>
                <a:ext uri="{FF2B5EF4-FFF2-40B4-BE49-F238E27FC236}">
                  <a16:creationId xmlns:a16="http://schemas.microsoft.com/office/drawing/2014/main" id="{60A591D4-C570-0104-BAAF-EC05F6DAFF3C}"/>
                </a:ext>
              </a:extLst>
            </p:cNvPr>
            <p:cNvSpPr/>
            <p:nvPr/>
          </p:nvSpPr>
          <p:spPr>
            <a:xfrm>
              <a:off x="1077975" y="4495800"/>
              <a:ext cx="4437888" cy="1219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25000"/>
                </a:lnSpc>
              </a:pPr>
              <a:r>
                <a:rPr lang="en-US" sz="2400" dirty="0">
                  <a:solidFill>
                    <a:srgbClr val="5A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The Bank Accounts provided in the GST Registration was compared with Bank Accounts involved in Cyber Fraud</a:t>
              </a:r>
            </a:p>
          </p:txBody>
        </p:sp>
        <p:sp>
          <p:nvSpPr>
            <p:cNvPr id="21" name="Shape 19">
              <a:extLst>
                <a:ext uri="{FF2B5EF4-FFF2-40B4-BE49-F238E27FC236}">
                  <a16:creationId xmlns:a16="http://schemas.microsoft.com/office/drawing/2014/main" id="{2BD93156-7AAE-B54B-C8F6-1F3E8C155E42}"/>
                </a:ext>
              </a:extLst>
            </p:cNvPr>
            <p:cNvSpPr/>
            <p:nvPr/>
          </p:nvSpPr>
          <p:spPr>
            <a:xfrm>
              <a:off x="1077976" y="5836920"/>
              <a:ext cx="4133088" cy="0"/>
            </a:xfrm>
            <a:prstGeom prst="line">
              <a:avLst/>
            </a:prstGeom>
            <a:noFill/>
            <a:ln w="9525">
              <a:solidFill>
                <a:srgbClr val="C4CFE3"/>
              </a:solidFill>
              <a:prstDash val="soli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22" name="Text 20">
              <a:extLst>
                <a:ext uri="{FF2B5EF4-FFF2-40B4-BE49-F238E27FC236}">
                  <a16:creationId xmlns:a16="http://schemas.microsoft.com/office/drawing/2014/main" id="{744F9BB3-BD90-965F-7759-6147405CB2C8}"/>
                </a:ext>
              </a:extLst>
            </p:cNvPr>
            <p:cNvSpPr/>
            <p:nvPr/>
          </p:nvSpPr>
          <p:spPr>
            <a:xfrm>
              <a:off x="1077976" y="6019800"/>
              <a:ext cx="2066544" cy="3413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1600" b="1" kern="0" spc="67">
                  <a:solidFill>
                    <a:srgbClr val="1E276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TAXPAYERS</a:t>
              </a:r>
              <a:endParaRPr lang="en-US" sz="16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3" name="Text 21">
              <a:extLst>
                <a:ext uri="{FF2B5EF4-FFF2-40B4-BE49-F238E27FC236}">
                  <a16:creationId xmlns:a16="http://schemas.microsoft.com/office/drawing/2014/main" id="{893CDEB6-CE3F-3F9F-117D-7191BF40F284}"/>
                </a:ext>
              </a:extLst>
            </p:cNvPr>
            <p:cNvSpPr/>
            <p:nvPr/>
          </p:nvSpPr>
          <p:spPr>
            <a:xfrm>
              <a:off x="1077976" y="6324600"/>
              <a:ext cx="2066544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4000" b="1" dirty="0">
                  <a:solidFill>
                    <a:srgbClr val="1E2761"/>
                  </a:solidFill>
                  <a:latin typeface="Cambria" pitchFamily="34" charset="0"/>
                  <a:ea typeface="Cambria" pitchFamily="34" charset="-122"/>
                </a:rPr>
                <a:t>356</a:t>
              </a:r>
              <a:endParaRPr lang="en-US" sz="40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4" name="Text 22">
              <a:extLst>
                <a:ext uri="{FF2B5EF4-FFF2-40B4-BE49-F238E27FC236}">
                  <a16:creationId xmlns:a16="http://schemas.microsoft.com/office/drawing/2014/main" id="{D66E6527-D98D-D049-1482-BF44212FA55C}"/>
                </a:ext>
              </a:extLst>
            </p:cNvPr>
            <p:cNvSpPr/>
            <p:nvPr/>
          </p:nvSpPr>
          <p:spPr>
            <a:xfrm>
              <a:off x="3144520" y="6019800"/>
              <a:ext cx="2371343" cy="29565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1600" b="1" kern="0" spc="67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Cancelled / suspended</a:t>
              </a:r>
              <a:endParaRPr lang="en-US" sz="1600" dirty="0">
                <a:solidFill>
                  <a:prstClr val="black"/>
                </a:solidFill>
              </a:endParaRPr>
            </a:p>
          </p:txBody>
        </p:sp>
        <p:sp>
          <p:nvSpPr>
            <p:cNvPr id="25" name="Text 23">
              <a:extLst>
                <a:ext uri="{FF2B5EF4-FFF2-40B4-BE49-F238E27FC236}">
                  <a16:creationId xmlns:a16="http://schemas.microsoft.com/office/drawing/2014/main" id="{6F606BB4-46AB-BEB3-77B3-26FC72B0C07F}"/>
                </a:ext>
              </a:extLst>
            </p:cNvPr>
            <p:cNvSpPr/>
            <p:nvPr/>
          </p:nvSpPr>
          <p:spPr>
            <a:xfrm>
              <a:off x="3188011" y="6291070"/>
              <a:ext cx="2066544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3600" b="1" dirty="0">
                  <a:solidFill>
                    <a:srgbClr val="C0392B"/>
                  </a:solidFill>
                  <a:latin typeface="Cambria" pitchFamily="34" charset="0"/>
                  <a:ea typeface="Cambria" pitchFamily="34" charset="-122"/>
                </a:rPr>
                <a:t>30</a:t>
              </a:r>
              <a:endParaRPr lang="en-US" sz="36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6" name="Shape 2">
              <a:extLst>
                <a:ext uri="{FF2B5EF4-FFF2-40B4-BE49-F238E27FC236}">
                  <a16:creationId xmlns:a16="http://schemas.microsoft.com/office/drawing/2014/main" id="{13ED0E24-0A31-E49D-AB86-3B089F8BBF44}"/>
                </a:ext>
              </a:extLst>
            </p:cNvPr>
            <p:cNvSpPr/>
            <p:nvPr/>
          </p:nvSpPr>
          <p:spPr>
            <a:xfrm>
              <a:off x="11328400" y="2657855"/>
              <a:ext cx="4800600" cy="4303775"/>
            </a:xfrm>
            <a:prstGeom prst="roundRect">
              <a:avLst>
                <a:gd name="adj" fmla="val 2254"/>
              </a:avLst>
            </a:prstGeom>
            <a:solidFill>
              <a:srgbClr val="EEF3FC"/>
            </a:solidFill>
            <a:ln>
              <a:solidFill>
                <a:schemeClr val="accent1"/>
              </a:solidFill>
            </a:ln>
            <a:effectLst>
              <a:outerShdw blurRad="508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28" name="Shape 3">
              <a:extLst>
                <a:ext uri="{FF2B5EF4-FFF2-40B4-BE49-F238E27FC236}">
                  <a16:creationId xmlns:a16="http://schemas.microsoft.com/office/drawing/2014/main" id="{71F5FE51-89D9-FF04-80B1-B7841B2E8D47}"/>
                </a:ext>
              </a:extLst>
            </p:cNvPr>
            <p:cNvSpPr/>
            <p:nvPr/>
          </p:nvSpPr>
          <p:spPr>
            <a:xfrm>
              <a:off x="11557000" y="2743200"/>
              <a:ext cx="609600" cy="609600"/>
            </a:xfrm>
            <a:prstGeom prst="ellipse">
              <a:avLst/>
            </a:prstGeom>
            <a:solidFill>
              <a:srgbClr val="1E2761"/>
            </a:solidFill>
            <a:ln/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30" name="Text 4">
              <a:extLst>
                <a:ext uri="{FF2B5EF4-FFF2-40B4-BE49-F238E27FC236}">
                  <a16:creationId xmlns:a16="http://schemas.microsoft.com/office/drawing/2014/main" id="{3AF645EF-F56B-25EA-E4B3-32719BA5E36A}"/>
                </a:ext>
              </a:extLst>
            </p:cNvPr>
            <p:cNvSpPr/>
            <p:nvPr/>
          </p:nvSpPr>
          <p:spPr>
            <a:xfrm>
              <a:off x="11557000" y="2743200"/>
              <a:ext cx="609600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1219170"/>
              <a:r>
                <a:rPr lang="en-US" sz="2800" b="1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</a:rPr>
                <a:t>6</a:t>
              </a:r>
              <a:endParaRPr lang="en-US" sz="28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32" name="Text 5">
              <a:extLst>
                <a:ext uri="{FF2B5EF4-FFF2-40B4-BE49-F238E27FC236}">
                  <a16:creationId xmlns:a16="http://schemas.microsoft.com/office/drawing/2014/main" id="{A34A6008-C481-853A-A235-D8AAC07EA053}"/>
                </a:ext>
              </a:extLst>
            </p:cNvPr>
            <p:cNvSpPr/>
            <p:nvPr/>
          </p:nvSpPr>
          <p:spPr>
            <a:xfrm>
              <a:off x="12312904" y="2779776"/>
              <a:ext cx="34747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2000" b="1" kern="0" spc="133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USE CASE 6</a:t>
              </a:r>
              <a:endParaRPr lang="en-US" sz="20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34" name="Text 6">
              <a:extLst>
                <a:ext uri="{FF2B5EF4-FFF2-40B4-BE49-F238E27FC236}">
                  <a16:creationId xmlns:a16="http://schemas.microsoft.com/office/drawing/2014/main" id="{B220D4BA-26AD-ABAC-B901-BC4F5FB77F68}"/>
                </a:ext>
              </a:extLst>
            </p:cNvPr>
            <p:cNvSpPr/>
            <p:nvPr/>
          </p:nvSpPr>
          <p:spPr>
            <a:xfrm>
              <a:off x="11556999" y="3450336"/>
              <a:ext cx="4572000" cy="792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10000"/>
                </a:lnSpc>
              </a:pPr>
              <a:r>
                <a:rPr lang="en-US" sz="2800" b="1" dirty="0">
                  <a:solidFill>
                    <a:srgbClr val="1B1F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Active Registration in Rajasthan but rejected in other states</a:t>
              </a:r>
              <a:endParaRPr lang="en-US" sz="28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36" name="Text 7">
              <a:extLst>
                <a:ext uri="{FF2B5EF4-FFF2-40B4-BE49-F238E27FC236}">
                  <a16:creationId xmlns:a16="http://schemas.microsoft.com/office/drawing/2014/main" id="{6A1E1842-E685-BDA0-D0AC-085B9025244F}"/>
                </a:ext>
              </a:extLst>
            </p:cNvPr>
            <p:cNvSpPr/>
            <p:nvPr/>
          </p:nvSpPr>
          <p:spPr>
            <a:xfrm>
              <a:off x="11556999" y="4421133"/>
              <a:ext cx="4572000" cy="1219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25000"/>
                </a:lnSpc>
              </a:pPr>
              <a:r>
                <a:rPr lang="en-US" sz="2400" dirty="0">
                  <a:solidFill>
                    <a:srgbClr val="5A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Taxpayer’s whose registration application was rejected / Cancelled in other states but is doing business in Rajasthan</a:t>
              </a:r>
            </a:p>
          </p:txBody>
        </p:sp>
        <p:sp>
          <p:nvSpPr>
            <p:cNvPr id="43" name="Shape 8">
              <a:extLst>
                <a:ext uri="{FF2B5EF4-FFF2-40B4-BE49-F238E27FC236}">
                  <a16:creationId xmlns:a16="http://schemas.microsoft.com/office/drawing/2014/main" id="{87A8BA41-80E5-776B-2CC8-AA894611A2F3}"/>
                </a:ext>
              </a:extLst>
            </p:cNvPr>
            <p:cNvSpPr/>
            <p:nvPr/>
          </p:nvSpPr>
          <p:spPr>
            <a:xfrm>
              <a:off x="11557000" y="5827775"/>
              <a:ext cx="4133088" cy="0"/>
            </a:xfrm>
            <a:prstGeom prst="line">
              <a:avLst/>
            </a:prstGeom>
            <a:noFill/>
            <a:ln w="9525">
              <a:solidFill>
                <a:srgbClr val="C4CFE3"/>
              </a:solidFill>
              <a:prstDash val="soli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46" name="Text 9">
              <a:extLst>
                <a:ext uri="{FF2B5EF4-FFF2-40B4-BE49-F238E27FC236}">
                  <a16:creationId xmlns:a16="http://schemas.microsoft.com/office/drawing/2014/main" id="{8F3699C7-BA18-AF2B-677D-5AC293013BB0}"/>
                </a:ext>
              </a:extLst>
            </p:cNvPr>
            <p:cNvSpPr/>
            <p:nvPr/>
          </p:nvSpPr>
          <p:spPr>
            <a:xfrm>
              <a:off x="11557000" y="6010655"/>
              <a:ext cx="2066544" cy="3413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1600" b="1" kern="0" spc="67">
                  <a:solidFill>
                    <a:srgbClr val="1E276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TAXPAYERS</a:t>
              </a:r>
              <a:endParaRPr lang="en-US" sz="16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48" name="Text 10">
              <a:extLst>
                <a:ext uri="{FF2B5EF4-FFF2-40B4-BE49-F238E27FC236}">
                  <a16:creationId xmlns:a16="http://schemas.microsoft.com/office/drawing/2014/main" id="{EEC017E1-5445-E872-A89D-BAE60C31954A}"/>
                </a:ext>
              </a:extLst>
            </p:cNvPr>
            <p:cNvSpPr/>
            <p:nvPr/>
          </p:nvSpPr>
          <p:spPr>
            <a:xfrm>
              <a:off x="11557000" y="6315455"/>
              <a:ext cx="2066544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4000" b="1" dirty="0">
                  <a:solidFill>
                    <a:srgbClr val="1E2761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1607</a:t>
              </a:r>
              <a:endParaRPr lang="en-US" sz="40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sp>
        <p:nvSpPr>
          <p:cNvPr id="14" name="Text 22">
            <a:extLst>
              <a:ext uri="{FF2B5EF4-FFF2-40B4-BE49-F238E27FC236}">
                <a16:creationId xmlns:a16="http://schemas.microsoft.com/office/drawing/2014/main" id="{80D76DF1-7D1D-E3D0-C960-CF86F08D5A5D}"/>
              </a:ext>
            </a:extLst>
          </p:cNvPr>
          <p:cNvSpPr/>
          <p:nvPr/>
        </p:nvSpPr>
        <p:spPr>
          <a:xfrm>
            <a:off x="8102975" y="6252015"/>
            <a:ext cx="2379292" cy="411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kern="0" spc="67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Cancelled / suspended</a:t>
            </a:r>
            <a:endParaRPr lang="en-US" sz="1600" dirty="0">
              <a:solidFill>
                <a:prstClr val="black"/>
              </a:solidFill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0379534C-B7C8-D8A6-077C-BEEB54AF172F}"/>
              </a:ext>
            </a:extLst>
          </p:cNvPr>
          <p:cNvSpPr/>
          <p:nvPr/>
        </p:nvSpPr>
        <p:spPr>
          <a:xfrm>
            <a:off x="8255885" y="6630115"/>
            <a:ext cx="2073472" cy="932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</a:rPr>
              <a:t>159</a:t>
            </a:r>
            <a:endParaRPr lang="en-US" sz="36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3219807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58CBEC-3058-C687-9DE0-9AE04387E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B9CC326-FC26-C9F5-F2BD-69931C0BE3C9}"/>
              </a:ext>
            </a:extLst>
          </p:cNvPr>
          <p:cNvSpPr/>
          <p:nvPr/>
        </p:nvSpPr>
        <p:spPr>
          <a:xfrm>
            <a:off x="721360" y="240791"/>
            <a:ext cx="15636240" cy="954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IN" sz="3467" b="1" dirty="0">
                <a:solidFill>
                  <a:srgbClr val="1A3257"/>
                </a:solidFill>
                <a:latin typeface="Georgia" pitchFamily="34" charset="0"/>
              </a:rPr>
              <a:t>AI – ML &amp; Risk Based Analytics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7E8C68-F426-8CC0-0DA1-27EC9C049DF7}"/>
              </a:ext>
            </a:extLst>
          </p:cNvPr>
          <p:cNvGrpSpPr/>
          <p:nvPr/>
        </p:nvGrpSpPr>
        <p:grpSpPr>
          <a:xfrm>
            <a:off x="472164" y="1592943"/>
            <a:ext cx="15311671" cy="6418943"/>
            <a:chOff x="736600" y="2657855"/>
            <a:chExt cx="15620999" cy="4352545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A5E26CAE-362F-46B8-016F-B1FBF6202B4A}"/>
                </a:ext>
              </a:extLst>
            </p:cNvPr>
            <p:cNvSpPr/>
            <p:nvPr/>
          </p:nvSpPr>
          <p:spPr>
            <a:xfrm>
              <a:off x="6070600" y="2682240"/>
              <a:ext cx="4931664" cy="4312920"/>
            </a:xfrm>
            <a:prstGeom prst="roundRect">
              <a:avLst>
                <a:gd name="adj" fmla="val 2254"/>
              </a:avLst>
            </a:prstGeom>
            <a:solidFill>
              <a:srgbClr val="EEF3FC"/>
            </a:solidFill>
            <a:ln>
              <a:solidFill>
                <a:schemeClr val="bg2">
                  <a:lumMod val="75000"/>
                </a:schemeClr>
              </a:solidFill>
            </a:ln>
            <a:effectLst>
              <a:outerShdw blurRad="508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FD9942FD-03E9-A6E4-3D85-DD48424E1A39}"/>
                </a:ext>
              </a:extLst>
            </p:cNvPr>
            <p:cNvSpPr/>
            <p:nvPr/>
          </p:nvSpPr>
          <p:spPr>
            <a:xfrm>
              <a:off x="6299200" y="2743200"/>
              <a:ext cx="609600" cy="609600"/>
            </a:xfrm>
            <a:prstGeom prst="ellipse">
              <a:avLst/>
            </a:prstGeom>
            <a:solidFill>
              <a:srgbClr val="1E2761"/>
            </a:solidFill>
            <a:ln/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6" name="Text 4">
              <a:extLst>
                <a:ext uri="{FF2B5EF4-FFF2-40B4-BE49-F238E27FC236}">
                  <a16:creationId xmlns:a16="http://schemas.microsoft.com/office/drawing/2014/main" id="{9417F8C3-1E0B-46AB-C7D9-1B94BE1F8B1C}"/>
                </a:ext>
              </a:extLst>
            </p:cNvPr>
            <p:cNvSpPr/>
            <p:nvPr/>
          </p:nvSpPr>
          <p:spPr>
            <a:xfrm>
              <a:off x="6299200" y="2743200"/>
              <a:ext cx="609600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1219170"/>
              <a:r>
                <a:rPr lang="en-US" sz="2800" b="1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</a:rPr>
                <a:t>8</a:t>
              </a:r>
              <a:endParaRPr lang="en-US" sz="28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31FE3D5B-BE05-616A-1078-0EB97B9917B4}"/>
                </a:ext>
              </a:extLst>
            </p:cNvPr>
            <p:cNvSpPr/>
            <p:nvPr/>
          </p:nvSpPr>
          <p:spPr>
            <a:xfrm>
              <a:off x="7055104" y="2779776"/>
              <a:ext cx="34747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2000" b="1" kern="0" spc="133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USE CASE 8</a:t>
              </a:r>
              <a:endParaRPr lang="en-US" sz="20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8" name="Text 6">
              <a:extLst>
                <a:ext uri="{FF2B5EF4-FFF2-40B4-BE49-F238E27FC236}">
                  <a16:creationId xmlns:a16="http://schemas.microsoft.com/office/drawing/2014/main" id="{EA2F7898-0708-3569-7B7C-9D82BE672BAE}"/>
                </a:ext>
              </a:extLst>
            </p:cNvPr>
            <p:cNvSpPr/>
            <p:nvPr/>
          </p:nvSpPr>
          <p:spPr>
            <a:xfrm>
              <a:off x="6412278" y="3383917"/>
              <a:ext cx="4133088" cy="792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10000"/>
                </a:lnSpc>
              </a:pPr>
              <a:r>
                <a:rPr lang="en-US" sz="2800" b="1">
                  <a:solidFill>
                    <a:srgbClr val="1B1F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GST welcome letter not delivered</a:t>
              </a:r>
              <a:endParaRPr lang="en-US" sz="28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0DB32FB3-850D-26CA-9A68-E4064F344161}"/>
                </a:ext>
              </a:extLst>
            </p:cNvPr>
            <p:cNvSpPr/>
            <p:nvPr/>
          </p:nvSpPr>
          <p:spPr>
            <a:xfrm>
              <a:off x="6330919" y="4423868"/>
              <a:ext cx="4605996" cy="1219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25000"/>
                </a:lnSpc>
              </a:pPr>
              <a:r>
                <a:rPr lang="en-US" sz="2400">
                  <a:solidFill>
                    <a:srgbClr val="5A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Welcome Letters are sent by GSTNto all newly registered taxpayers to ensure the place of business. Returned welcome letter may lead to suspicious taxpayers</a:t>
              </a:r>
            </a:p>
          </p:txBody>
        </p:sp>
        <p:sp>
          <p:nvSpPr>
            <p:cNvPr id="10" name="Shape 8">
              <a:extLst>
                <a:ext uri="{FF2B5EF4-FFF2-40B4-BE49-F238E27FC236}">
                  <a16:creationId xmlns:a16="http://schemas.microsoft.com/office/drawing/2014/main" id="{9E91A4EA-EC5E-3462-BCC0-27F0D0D80686}"/>
                </a:ext>
              </a:extLst>
            </p:cNvPr>
            <p:cNvSpPr/>
            <p:nvPr/>
          </p:nvSpPr>
          <p:spPr>
            <a:xfrm>
              <a:off x="6299199" y="6032661"/>
              <a:ext cx="4133088" cy="0"/>
            </a:xfrm>
            <a:prstGeom prst="line">
              <a:avLst/>
            </a:prstGeom>
            <a:noFill/>
            <a:ln w="9525">
              <a:solidFill>
                <a:srgbClr val="C4CFE3"/>
              </a:solidFill>
              <a:prstDash val="soli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144F518B-F063-BC4E-7E53-C3692FDF5544}"/>
                </a:ext>
              </a:extLst>
            </p:cNvPr>
            <p:cNvSpPr/>
            <p:nvPr/>
          </p:nvSpPr>
          <p:spPr>
            <a:xfrm>
              <a:off x="6299200" y="6035040"/>
              <a:ext cx="2066544" cy="3413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1600" b="1" kern="0" spc="67">
                  <a:solidFill>
                    <a:srgbClr val="1E276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TAXPAYERS</a:t>
              </a:r>
              <a:endParaRPr lang="en-US" sz="16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3B786CE6-9A36-E8D9-B354-C03F8B8A8234}"/>
                </a:ext>
              </a:extLst>
            </p:cNvPr>
            <p:cNvSpPr/>
            <p:nvPr/>
          </p:nvSpPr>
          <p:spPr>
            <a:xfrm>
              <a:off x="6299200" y="6339840"/>
              <a:ext cx="2066544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4000" b="1">
                  <a:solidFill>
                    <a:srgbClr val="1E2761"/>
                  </a:solidFill>
                  <a:latin typeface="Cambria" pitchFamily="34" charset="0"/>
                  <a:ea typeface="Cambria" pitchFamily="34" charset="-122"/>
                </a:rPr>
                <a:t>20730</a:t>
              </a:r>
              <a:endParaRPr lang="en-US" sz="40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5" name="Shape 13">
              <a:extLst>
                <a:ext uri="{FF2B5EF4-FFF2-40B4-BE49-F238E27FC236}">
                  <a16:creationId xmlns:a16="http://schemas.microsoft.com/office/drawing/2014/main" id="{AA8203DC-B7CC-06A8-CEA4-916D326190A8}"/>
                </a:ext>
              </a:extLst>
            </p:cNvPr>
            <p:cNvSpPr/>
            <p:nvPr/>
          </p:nvSpPr>
          <p:spPr>
            <a:xfrm>
              <a:off x="736600" y="2667000"/>
              <a:ext cx="4913376" cy="4303775"/>
            </a:xfrm>
            <a:prstGeom prst="roundRect">
              <a:avLst>
                <a:gd name="adj" fmla="val 2254"/>
              </a:avLst>
            </a:prstGeom>
            <a:solidFill>
              <a:srgbClr val="EEF3FC"/>
            </a:solidFill>
            <a:ln>
              <a:solidFill>
                <a:schemeClr val="bg2">
                  <a:lumMod val="75000"/>
                </a:schemeClr>
              </a:solidFill>
            </a:ln>
            <a:effectLst>
              <a:outerShdw blurRad="508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16" name="Shape 14">
              <a:extLst>
                <a:ext uri="{FF2B5EF4-FFF2-40B4-BE49-F238E27FC236}">
                  <a16:creationId xmlns:a16="http://schemas.microsoft.com/office/drawing/2014/main" id="{60650C83-AD31-958B-5461-21288166B144}"/>
                </a:ext>
              </a:extLst>
            </p:cNvPr>
            <p:cNvSpPr/>
            <p:nvPr/>
          </p:nvSpPr>
          <p:spPr>
            <a:xfrm>
              <a:off x="965200" y="2743200"/>
              <a:ext cx="609600" cy="609600"/>
            </a:xfrm>
            <a:prstGeom prst="ellipse">
              <a:avLst/>
            </a:prstGeom>
            <a:solidFill>
              <a:srgbClr val="1E2761"/>
            </a:solidFill>
            <a:ln/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43CB433C-32BA-2364-6C07-03FD153922E0}"/>
                </a:ext>
              </a:extLst>
            </p:cNvPr>
            <p:cNvSpPr/>
            <p:nvPr/>
          </p:nvSpPr>
          <p:spPr>
            <a:xfrm>
              <a:off x="965200" y="2743200"/>
              <a:ext cx="609600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1219170"/>
              <a:r>
                <a:rPr lang="en-US" sz="2800" b="1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7</a:t>
              </a:r>
              <a:endParaRPr lang="en-US" sz="28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58BB11BF-CD2A-B7E6-A7B6-1D69B9DE3BD5}"/>
                </a:ext>
              </a:extLst>
            </p:cNvPr>
            <p:cNvSpPr/>
            <p:nvPr/>
          </p:nvSpPr>
          <p:spPr>
            <a:xfrm>
              <a:off x="1833880" y="2910840"/>
              <a:ext cx="34747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2000" b="1" kern="0" spc="133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USE CASE 7</a:t>
              </a:r>
              <a:endParaRPr lang="en-US" sz="20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9" name="Text 17">
              <a:extLst>
                <a:ext uri="{FF2B5EF4-FFF2-40B4-BE49-F238E27FC236}">
                  <a16:creationId xmlns:a16="http://schemas.microsoft.com/office/drawing/2014/main" id="{919EA1BD-AB32-F7C0-DA6A-235FEF2CFB4C}"/>
                </a:ext>
              </a:extLst>
            </p:cNvPr>
            <p:cNvSpPr/>
            <p:nvPr/>
          </p:nvSpPr>
          <p:spPr>
            <a:xfrm>
              <a:off x="1024636" y="3372137"/>
              <a:ext cx="4931664" cy="792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10000"/>
                </a:lnSpc>
              </a:pPr>
              <a:r>
                <a:rPr lang="en-US" sz="2800" b="1">
                  <a:solidFill>
                    <a:srgbClr val="1B1F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NIL Filers for more than 12 months</a:t>
              </a:r>
              <a:endParaRPr lang="en-US" sz="28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0" name="Text 18">
              <a:extLst>
                <a:ext uri="{FF2B5EF4-FFF2-40B4-BE49-F238E27FC236}">
                  <a16:creationId xmlns:a16="http://schemas.microsoft.com/office/drawing/2014/main" id="{9418F1C0-DB80-4BD8-9BDC-DEC3E4351292}"/>
                </a:ext>
              </a:extLst>
            </p:cNvPr>
            <p:cNvSpPr/>
            <p:nvPr/>
          </p:nvSpPr>
          <p:spPr>
            <a:xfrm>
              <a:off x="965200" y="4377976"/>
              <a:ext cx="4343401" cy="1219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25000"/>
                </a:lnSpc>
              </a:pPr>
              <a:r>
                <a:rPr lang="en-US" sz="2400">
                  <a:solidFill>
                    <a:srgbClr val="5A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Taxpayers filing Nil returns regularly which means no active business, but may be sleeping cells which may pass on fake ITC in upcoming returns</a:t>
              </a:r>
            </a:p>
          </p:txBody>
        </p:sp>
        <p:sp>
          <p:nvSpPr>
            <p:cNvPr id="21" name="Shape 19">
              <a:extLst>
                <a:ext uri="{FF2B5EF4-FFF2-40B4-BE49-F238E27FC236}">
                  <a16:creationId xmlns:a16="http://schemas.microsoft.com/office/drawing/2014/main" id="{99B54624-F660-E7B6-039F-722AD1397A55}"/>
                </a:ext>
              </a:extLst>
            </p:cNvPr>
            <p:cNvSpPr/>
            <p:nvPr/>
          </p:nvSpPr>
          <p:spPr>
            <a:xfrm>
              <a:off x="1070355" y="5979175"/>
              <a:ext cx="4133088" cy="0"/>
            </a:xfrm>
            <a:prstGeom prst="line">
              <a:avLst/>
            </a:prstGeom>
            <a:noFill/>
            <a:ln w="9525">
              <a:solidFill>
                <a:srgbClr val="C4CFE3"/>
              </a:solidFill>
              <a:prstDash val="soli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22" name="Text 20">
              <a:extLst>
                <a:ext uri="{FF2B5EF4-FFF2-40B4-BE49-F238E27FC236}">
                  <a16:creationId xmlns:a16="http://schemas.microsoft.com/office/drawing/2014/main" id="{FBD5E13B-5081-D5FF-11C4-6CC6824E2C08}"/>
                </a:ext>
              </a:extLst>
            </p:cNvPr>
            <p:cNvSpPr/>
            <p:nvPr/>
          </p:nvSpPr>
          <p:spPr>
            <a:xfrm>
              <a:off x="1077976" y="6019800"/>
              <a:ext cx="2066544" cy="3413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1600" b="1" kern="0" spc="67">
                  <a:solidFill>
                    <a:srgbClr val="1E276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TAXPAYERS</a:t>
              </a:r>
              <a:endParaRPr lang="en-US" sz="16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3" name="Text 21">
              <a:extLst>
                <a:ext uri="{FF2B5EF4-FFF2-40B4-BE49-F238E27FC236}">
                  <a16:creationId xmlns:a16="http://schemas.microsoft.com/office/drawing/2014/main" id="{FAC55A95-EAA2-C568-D6CE-91676439AEFE}"/>
                </a:ext>
              </a:extLst>
            </p:cNvPr>
            <p:cNvSpPr/>
            <p:nvPr/>
          </p:nvSpPr>
          <p:spPr>
            <a:xfrm>
              <a:off x="1077976" y="6324600"/>
              <a:ext cx="2066544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4000" b="1" dirty="0">
                  <a:solidFill>
                    <a:srgbClr val="1E2761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1.02L</a:t>
              </a:r>
              <a:endParaRPr lang="en-US" sz="40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4" name="Text 22">
              <a:extLst>
                <a:ext uri="{FF2B5EF4-FFF2-40B4-BE49-F238E27FC236}">
                  <a16:creationId xmlns:a16="http://schemas.microsoft.com/office/drawing/2014/main" id="{94BCA2C4-E0DC-DF11-970E-C1453D2A5A41}"/>
                </a:ext>
              </a:extLst>
            </p:cNvPr>
            <p:cNvSpPr/>
            <p:nvPr/>
          </p:nvSpPr>
          <p:spPr>
            <a:xfrm>
              <a:off x="3144520" y="6019800"/>
              <a:ext cx="2066544" cy="3413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1600" b="1" kern="0" spc="67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Taxpayer suspended</a:t>
              </a:r>
              <a:endParaRPr lang="en-US" sz="16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5" name="Text 23">
              <a:extLst>
                <a:ext uri="{FF2B5EF4-FFF2-40B4-BE49-F238E27FC236}">
                  <a16:creationId xmlns:a16="http://schemas.microsoft.com/office/drawing/2014/main" id="{5C77B38E-0001-5BDC-D443-5A4D0CD4C903}"/>
                </a:ext>
              </a:extLst>
            </p:cNvPr>
            <p:cNvSpPr/>
            <p:nvPr/>
          </p:nvSpPr>
          <p:spPr>
            <a:xfrm>
              <a:off x="3144520" y="6324600"/>
              <a:ext cx="2066544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3600" b="1" dirty="0">
                  <a:solidFill>
                    <a:srgbClr val="C0392B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27274</a:t>
              </a:r>
              <a:endParaRPr lang="en-US" sz="36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6" name="Shape 2">
              <a:extLst>
                <a:ext uri="{FF2B5EF4-FFF2-40B4-BE49-F238E27FC236}">
                  <a16:creationId xmlns:a16="http://schemas.microsoft.com/office/drawing/2014/main" id="{228CAB02-3A4B-8396-0A10-9B0B921C5ED0}"/>
                </a:ext>
              </a:extLst>
            </p:cNvPr>
            <p:cNvSpPr/>
            <p:nvPr/>
          </p:nvSpPr>
          <p:spPr>
            <a:xfrm>
              <a:off x="11328400" y="2657855"/>
              <a:ext cx="4800600" cy="4303775"/>
            </a:xfrm>
            <a:prstGeom prst="roundRect">
              <a:avLst>
                <a:gd name="adj" fmla="val 2254"/>
              </a:avLst>
            </a:prstGeom>
            <a:solidFill>
              <a:srgbClr val="EEF3FC"/>
            </a:solidFill>
            <a:ln>
              <a:solidFill>
                <a:schemeClr val="bg2">
                  <a:lumMod val="75000"/>
                </a:schemeClr>
              </a:solidFill>
            </a:ln>
            <a:effectLst>
              <a:outerShdw blurRad="508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28" name="Shape 3">
              <a:extLst>
                <a:ext uri="{FF2B5EF4-FFF2-40B4-BE49-F238E27FC236}">
                  <a16:creationId xmlns:a16="http://schemas.microsoft.com/office/drawing/2014/main" id="{5E9A0AB8-2C79-C268-06D4-E5BE831F1ACA}"/>
                </a:ext>
              </a:extLst>
            </p:cNvPr>
            <p:cNvSpPr/>
            <p:nvPr/>
          </p:nvSpPr>
          <p:spPr>
            <a:xfrm>
              <a:off x="11557000" y="2743200"/>
              <a:ext cx="609600" cy="609600"/>
            </a:xfrm>
            <a:prstGeom prst="ellipse">
              <a:avLst/>
            </a:prstGeom>
            <a:solidFill>
              <a:srgbClr val="1E2761"/>
            </a:solidFill>
            <a:ln/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30" name="Text 4">
              <a:extLst>
                <a:ext uri="{FF2B5EF4-FFF2-40B4-BE49-F238E27FC236}">
                  <a16:creationId xmlns:a16="http://schemas.microsoft.com/office/drawing/2014/main" id="{1E2A3416-A834-5935-9831-1323C5CB62FA}"/>
                </a:ext>
              </a:extLst>
            </p:cNvPr>
            <p:cNvSpPr/>
            <p:nvPr/>
          </p:nvSpPr>
          <p:spPr>
            <a:xfrm>
              <a:off x="11557000" y="2743200"/>
              <a:ext cx="609600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1219170"/>
              <a:r>
                <a:rPr lang="en-US" sz="2800" b="1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</a:rPr>
                <a:t>9</a:t>
              </a:r>
              <a:endParaRPr lang="en-US" sz="28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32" name="Text 5">
              <a:extLst>
                <a:ext uri="{FF2B5EF4-FFF2-40B4-BE49-F238E27FC236}">
                  <a16:creationId xmlns:a16="http://schemas.microsoft.com/office/drawing/2014/main" id="{D1EF3ED3-F727-1E34-7041-82B5487F52F2}"/>
                </a:ext>
              </a:extLst>
            </p:cNvPr>
            <p:cNvSpPr/>
            <p:nvPr/>
          </p:nvSpPr>
          <p:spPr>
            <a:xfrm>
              <a:off x="12312904" y="2779776"/>
              <a:ext cx="34747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2000" b="1" kern="0" spc="133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USE CASE 9</a:t>
              </a:r>
              <a:endParaRPr lang="en-US" sz="20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34" name="Text 6">
              <a:extLst>
                <a:ext uri="{FF2B5EF4-FFF2-40B4-BE49-F238E27FC236}">
                  <a16:creationId xmlns:a16="http://schemas.microsoft.com/office/drawing/2014/main" id="{1C187F57-9B6F-17DC-279E-24A6BE39C446}"/>
                </a:ext>
              </a:extLst>
            </p:cNvPr>
            <p:cNvSpPr/>
            <p:nvPr/>
          </p:nvSpPr>
          <p:spPr>
            <a:xfrm>
              <a:off x="11557000" y="3429000"/>
              <a:ext cx="4553712" cy="792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10000"/>
                </a:lnSpc>
              </a:pPr>
              <a:r>
                <a:rPr lang="en-US" sz="2800" b="1">
                  <a:solidFill>
                    <a:srgbClr val="1B1F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OCR Based reading of documents</a:t>
              </a:r>
              <a:endParaRPr lang="en-US" sz="28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36" name="Text 7">
              <a:extLst>
                <a:ext uri="{FF2B5EF4-FFF2-40B4-BE49-F238E27FC236}">
                  <a16:creationId xmlns:a16="http://schemas.microsoft.com/office/drawing/2014/main" id="{51B5D52F-B347-2E7B-9B9A-2295CCC8E070}"/>
                </a:ext>
              </a:extLst>
            </p:cNvPr>
            <p:cNvSpPr/>
            <p:nvPr/>
          </p:nvSpPr>
          <p:spPr>
            <a:xfrm>
              <a:off x="11557000" y="4551871"/>
              <a:ext cx="4572000" cy="1219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25000"/>
                </a:lnSpc>
              </a:pPr>
              <a:r>
                <a:rPr lang="en-IN" sz="2400">
                  <a:solidFill>
                    <a:srgbClr val="5A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Extraction and analysis of data from GSTR-9, Profit &amp; Loss Statements, Balance Sheets etc. using OCR and comparison with GST Database.</a:t>
              </a:r>
            </a:p>
            <a:p>
              <a:pPr defTabSz="1219170">
                <a:lnSpc>
                  <a:spcPct val="125000"/>
                </a:lnSpc>
              </a:pPr>
              <a:r>
                <a:rPr lang="en-IN" sz="2400" err="1">
                  <a:solidFill>
                    <a:srgbClr val="5A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Eg.</a:t>
              </a:r>
              <a:r>
                <a:rPr lang="en-IN" sz="2400">
                  <a:solidFill>
                    <a:srgbClr val="5A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Legal fees paid as per P&amp;L but RCM not paid in GST</a:t>
              </a:r>
              <a:endParaRPr lang="en-US" sz="240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endParaRPr>
            </a:p>
          </p:txBody>
        </p:sp>
        <p:sp>
          <p:nvSpPr>
            <p:cNvPr id="43" name="Shape 8">
              <a:extLst>
                <a:ext uri="{FF2B5EF4-FFF2-40B4-BE49-F238E27FC236}">
                  <a16:creationId xmlns:a16="http://schemas.microsoft.com/office/drawing/2014/main" id="{C9060BF4-372C-B99B-1D42-146EC44380DA}"/>
                </a:ext>
              </a:extLst>
            </p:cNvPr>
            <p:cNvSpPr/>
            <p:nvPr/>
          </p:nvSpPr>
          <p:spPr>
            <a:xfrm>
              <a:off x="11459566" y="6313384"/>
              <a:ext cx="4133088" cy="0"/>
            </a:xfrm>
            <a:prstGeom prst="line">
              <a:avLst/>
            </a:prstGeom>
            <a:noFill/>
            <a:ln w="9525">
              <a:solidFill>
                <a:srgbClr val="C4CFE3"/>
              </a:solidFill>
              <a:prstDash val="soli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48" name="Text 10">
              <a:extLst>
                <a:ext uri="{FF2B5EF4-FFF2-40B4-BE49-F238E27FC236}">
                  <a16:creationId xmlns:a16="http://schemas.microsoft.com/office/drawing/2014/main" id="{1DEC9EE8-D17F-0FD4-9046-5C7020231B39}"/>
                </a:ext>
              </a:extLst>
            </p:cNvPr>
            <p:cNvSpPr/>
            <p:nvPr/>
          </p:nvSpPr>
          <p:spPr>
            <a:xfrm>
              <a:off x="11557000" y="6315455"/>
              <a:ext cx="4800599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2800" b="1">
                  <a:solidFill>
                    <a:srgbClr val="1E2761"/>
                  </a:solidFill>
                  <a:latin typeface="Cambria" pitchFamily="34" charset="0"/>
                  <a:ea typeface="Cambria" pitchFamily="34" charset="-122"/>
                </a:rPr>
                <a:t>Work in Progress</a:t>
              </a:r>
              <a:endParaRPr lang="en-US" sz="280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sp>
        <p:nvSpPr>
          <p:cNvPr id="13" name="Text 22">
            <a:extLst>
              <a:ext uri="{FF2B5EF4-FFF2-40B4-BE49-F238E27FC236}">
                <a16:creationId xmlns:a16="http://schemas.microsoft.com/office/drawing/2014/main" id="{B4A701AB-6D41-FEF7-B715-3D1EC093C8ED}"/>
              </a:ext>
            </a:extLst>
          </p:cNvPr>
          <p:cNvSpPr/>
          <p:nvPr/>
        </p:nvSpPr>
        <p:spPr>
          <a:xfrm>
            <a:off x="8213098" y="6566453"/>
            <a:ext cx="2025622" cy="503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kern="0" spc="67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Taxpayer suspended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864067F4-3824-9894-F8F0-1DB9FA7833D2}"/>
              </a:ext>
            </a:extLst>
          </p:cNvPr>
          <p:cNvSpPr/>
          <p:nvPr/>
        </p:nvSpPr>
        <p:spPr>
          <a:xfrm>
            <a:off x="8229580" y="6985331"/>
            <a:ext cx="2025622" cy="988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1267</a:t>
            </a:r>
            <a:endParaRPr lang="en-US" sz="36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2550858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62000" y="749300"/>
            <a:ext cx="16205200" cy="606160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/>
          </a:bodyPr>
          <a:lstStyle/>
          <a:p>
            <a:pPr>
              <a:lnSpc>
                <a:spcPct val="114576"/>
              </a:lnSpc>
            </a:pPr>
            <a:r>
              <a:rPr lang="en-US" sz="3467" b="1">
                <a:solidFill>
                  <a:srgbClr val="1A3257"/>
                </a:solidFill>
                <a:latin typeface="Georgia" pitchFamily="34" charset="0"/>
              </a:rPr>
              <a:t>Fake Firm Detection &amp; Cleaning the Taxpayer Base</a:t>
            </a:r>
          </a:p>
        </p:txBody>
      </p:sp>
      <p:sp>
        <p:nvSpPr>
          <p:cNvPr id="6" name="Shape 4"/>
          <p:cNvSpPr/>
          <p:nvPr/>
        </p:nvSpPr>
        <p:spPr>
          <a:xfrm>
            <a:off x="81280" y="1575593"/>
            <a:ext cx="7774443" cy="48267"/>
          </a:xfrm>
          <a:prstGeom prst="rect">
            <a:avLst/>
          </a:prstGeom>
          <a:solidFill>
            <a:srgbClr val="C8551F"/>
          </a:solidFill>
          <a:ln/>
        </p:spPr>
        <p:txBody>
          <a:bodyPr/>
          <a:lstStyle/>
          <a:p>
            <a:endParaRPr lang="en-IN" sz="3200"/>
          </a:p>
        </p:txBody>
      </p:sp>
      <p:sp>
        <p:nvSpPr>
          <p:cNvPr id="9" name="Text 7"/>
          <p:cNvSpPr/>
          <p:nvPr/>
        </p:nvSpPr>
        <p:spPr>
          <a:xfrm>
            <a:off x="345904" y="2042175"/>
            <a:ext cx="7969716" cy="426360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2353"/>
              </a:lnSpc>
            </a:pPr>
            <a:r>
              <a:rPr lang="en-US" sz="1778" b="1" kern="0" spc="100">
                <a:solidFill>
                  <a:srgbClr val="8A3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FAKE FIRM DETECTION</a:t>
            </a:r>
            <a:endParaRPr lang="en-US" sz="1778"/>
          </a:p>
        </p:txBody>
      </p:sp>
      <p:sp>
        <p:nvSpPr>
          <p:cNvPr id="12" name="Text 10"/>
          <p:cNvSpPr/>
          <p:nvPr/>
        </p:nvSpPr>
        <p:spPr>
          <a:xfrm>
            <a:off x="5280781" y="2790313"/>
            <a:ext cx="1054643" cy="45049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algn="r">
              <a:lnSpc>
                <a:spcPct val="133333"/>
              </a:lnSpc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FY25–26</a:t>
            </a:r>
            <a:endParaRPr lang="en-US" sz="1600"/>
          </a:p>
        </p:txBody>
      </p:sp>
      <p:sp>
        <p:nvSpPr>
          <p:cNvPr id="29" name="Shape 27"/>
          <p:cNvSpPr/>
          <p:nvPr/>
        </p:nvSpPr>
        <p:spPr>
          <a:xfrm>
            <a:off x="8184220" y="1575593"/>
            <a:ext cx="7774443" cy="4915196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1C1A15">
                <a:alpha val="8000"/>
              </a:srgbClr>
            </a:outerShdw>
          </a:effectLst>
        </p:spPr>
        <p:txBody>
          <a:bodyPr/>
          <a:lstStyle/>
          <a:p>
            <a:endParaRPr lang="en-IN" sz="3200"/>
          </a:p>
        </p:txBody>
      </p:sp>
      <p:sp>
        <p:nvSpPr>
          <p:cNvPr id="30" name="Shape 28"/>
          <p:cNvSpPr/>
          <p:nvPr/>
        </p:nvSpPr>
        <p:spPr>
          <a:xfrm>
            <a:off x="8184220" y="6474698"/>
            <a:ext cx="7774443" cy="16089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3200"/>
          </a:p>
        </p:txBody>
      </p:sp>
      <p:sp>
        <p:nvSpPr>
          <p:cNvPr id="31" name="Shape 29"/>
          <p:cNvSpPr/>
          <p:nvPr/>
        </p:nvSpPr>
        <p:spPr>
          <a:xfrm>
            <a:off x="8184220" y="1575593"/>
            <a:ext cx="7774443" cy="48267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endParaRPr lang="en-IN" sz="3200"/>
          </a:p>
        </p:txBody>
      </p:sp>
      <p:sp>
        <p:nvSpPr>
          <p:cNvPr id="32" name="Shape 30"/>
          <p:cNvSpPr/>
          <p:nvPr/>
        </p:nvSpPr>
        <p:spPr>
          <a:xfrm>
            <a:off x="8184221" y="1575593"/>
            <a:ext cx="9125" cy="4915196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3200"/>
          </a:p>
        </p:txBody>
      </p:sp>
      <p:sp>
        <p:nvSpPr>
          <p:cNvPr id="33" name="Shape 31"/>
          <p:cNvSpPr/>
          <p:nvPr/>
        </p:nvSpPr>
        <p:spPr>
          <a:xfrm>
            <a:off x="15949539" y="1575593"/>
            <a:ext cx="9125" cy="4915196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3200"/>
          </a:p>
        </p:txBody>
      </p:sp>
      <p:sp>
        <p:nvSpPr>
          <p:cNvPr id="34" name="Text 32"/>
          <p:cNvSpPr/>
          <p:nvPr/>
        </p:nvSpPr>
        <p:spPr>
          <a:xfrm>
            <a:off x="8448844" y="2042175"/>
            <a:ext cx="7969716" cy="426360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2353"/>
              </a:lnSpc>
            </a:pPr>
            <a:r>
              <a:rPr lang="en-US" sz="1778" b="1" kern="0" spc="100">
                <a:solidFill>
                  <a:srgbClr val="1F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CLEANING THE TAXPAYER BASE</a:t>
            </a:r>
            <a:endParaRPr lang="en-US" sz="1778"/>
          </a:p>
        </p:txBody>
      </p:sp>
      <p:sp>
        <p:nvSpPr>
          <p:cNvPr id="36" name="Text 34"/>
          <p:cNvSpPr/>
          <p:nvPr/>
        </p:nvSpPr>
        <p:spPr>
          <a:xfrm>
            <a:off x="8540093" y="2790313"/>
            <a:ext cx="4775158" cy="45049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>
              <a:lnSpc>
                <a:spcPct val="133333"/>
              </a:lnSpc>
            </a:pPr>
            <a:r>
              <a:rPr lang="en-US" sz="2133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Particulars</a:t>
            </a:r>
            <a:endParaRPr lang="en-US" sz="2133"/>
          </a:p>
        </p:txBody>
      </p:sp>
      <p:sp>
        <p:nvSpPr>
          <p:cNvPr id="37" name="Text 35"/>
          <p:cNvSpPr/>
          <p:nvPr/>
        </p:nvSpPr>
        <p:spPr>
          <a:xfrm>
            <a:off x="13280353" y="2790313"/>
            <a:ext cx="1090287" cy="45049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algn="r">
              <a:lnSpc>
                <a:spcPct val="133333"/>
              </a:lnSpc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FY25–26</a:t>
            </a:r>
            <a:endParaRPr lang="en-US" sz="1600"/>
          </a:p>
        </p:txBody>
      </p:sp>
      <p:sp>
        <p:nvSpPr>
          <p:cNvPr id="38" name="Text 36"/>
          <p:cNvSpPr/>
          <p:nvPr/>
        </p:nvSpPr>
        <p:spPr>
          <a:xfrm>
            <a:off x="14480139" y="2790313"/>
            <a:ext cx="1122652" cy="45049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algn="r">
              <a:lnSpc>
                <a:spcPct val="133333"/>
              </a:lnSpc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FY26–27</a:t>
            </a:r>
            <a:endParaRPr lang="en-US" sz="1600"/>
          </a:p>
        </p:txBody>
      </p:sp>
      <p:sp>
        <p:nvSpPr>
          <p:cNvPr id="42" name="Text 40"/>
          <p:cNvSpPr/>
          <p:nvPr/>
        </p:nvSpPr>
        <p:spPr>
          <a:xfrm>
            <a:off x="8519562" y="5606321"/>
            <a:ext cx="7369296" cy="747076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1250"/>
              </a:lnSpc>
            </a:pPr>
            <a:r>
              <a:rPr lang="en-US" sz="2000" dirty="0">
                <a:solidFill>
                  <a:srgbClr val="645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*Identified through nil-filing pattern analysis; further field verification in progress.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762000" y="8631767"/>
            <a:ext cx="14732000" cy="8467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1600"/>
          </a:p>
        </p:txBody>
      </p:sp>
      <p:sp>
        <p:nvSpPr>
          <p:cNvPr id="44" name="Text 42"/>
          <p:cNvSpPr/>
          <p:nvPr/>
        </p:nvSpPr>
        <p:spPr>
          <a:xfrm>
            <a:off x="762000" y="8758767"/>
            <a:ext cx="2712072" cy="19896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 lnSpcReduction="10000"/>
          </a:bodyPr>
          <a:lstStyle/>
          <a:p>
            <a:pPr>
              <a:lnSpc>
                <a:spcPct val="130000"/>
              </a:lnSpc>
            </a:pPr>
            <a:r>
              <a:rPr lang="en-US" sz="867" kern="0" spc="35">
                <a:solidFill>
                  <a:srgbClr val="8379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TAX DEPT. · GOVT OF RAJASTHAN</a:t>
            </a:r>
            <a:endParaRPr lang="en-US" sz="867"/>
          </a:p>
        </p:txBody>
      </p:sp>
      <p:sp>
        <p:nvSpPr>
          <p:cNvPr id="45" name="Text 43"/>
          <p:cNvSpPr/>
          <p:nvPr/>
        </p:nvSpPr>
        <p:spPr>
          <a:xfrm>
            <a:off x="8198380" y="8758767"/>
            <a:ext cx="2014736" cy="19896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 lnSpcReduction="10000"/>
          </a:bodyPr>
          <a:lstStyle/>
          <a:p>
            <a:pPr>
              <a:lnSpc>
                <a:spcPct val="130000"/>
              </a:lnSpc>
            </a:pPr>
            <a:r>
              <a:rPr lang="en-US" sz="867" kern="0" spc="35">
                <a:solidFill>
                  <a:srgbClr val="8379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DATA-DRIVEN DETECTION &amp; AI</a:t>
            </a:r>
            <a:endParaRPr lang="en-US" sz="867"/>
          </a:p>
        </p:txBody>
      </p:sp>
      <p:sp>
        <p:nvSpPr>
          <p:cNvPr id="46" name="Text 44"/>
          <p:cNvSpPr/>
          <p:nvPr/>
        </p:nvSpPr>
        <p:spPr>
          <a:xfrm>
            <a:off x="15000818" y="8758767"/>
            <a:ext cx="560916" cy="19896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 lnSpcReduction="10000"/>
          </a:bodyPr>
          <a:lstStyle/>
          <a:p>
            <a:pPr>
              <a:lnSpc>
                <a:spcPct val="130000"/>
              </a:lnSpc>
            </a:pPr>
            <a:r>
              <a:rPr lang="en-US" sz="867" kern="0" spc="35">
                <a:solidFill>
                  <a:srgbClr val="8379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38</a:t>
            </a:r>
            <a:endParaRPr lang="en-US" sz="867"/>
          </a:p>
        </p:txBody>
      </p:sp>
      <p:graphicFrame>
        <p:nvGraphicFramePr>
          <p:cNvPr id="48" name="Table 47">
            <a:extLst>
              <a:ext uri="{FF2B5EF4-FFF2-40B4-BE49-F238E27FC236}">
                <a16:creationId xmlns:a16="http://schemas.microsoft.com/office/drawing/2014/main" id="{C58E40CD-8AB3-224C-7EDA-7FF32CA602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2121044"/>
              </p:ext>
            </p:extLst>
          </p:nvPr>
        </p:nvGraphicFramePr>
        <p:xfrm>
          <a:off x="427823" y="2528323"/>
          <a:ext cx="7163276" cy="47873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4577">
                  <a:extLst>
                    <a:ext uri="{9D8B030D-6E8A-4147-A177-3AD203B41FA5}">
                      <a16:colId xmlns:a16="http://schemas.microsoft.com/office/drawing/2014/main" val="2833621811"/>
                    </a:ext>
                  </a:extLst>
                </a:gridCol>
                <a:gridCol w="1859280">
                  <a:extLst>
                    <a:ext uri="{9D8B030D-6E8A-4147-A177-3AD203B41FA5}">
                      <a16:colId xmlns:a16="http://schemas.microsoft.com/office/drawing/2014/main" val="1661273952"/>
                    </a:ext>
                  </a:extLst>
                </a:gridCol>
                <a:gridCol w="1769419">
                  <a:extLst>
                    <a:ext uri="{9D8B030D-6E8A-4147-A177-3AD203B41FA5}">
                      <a16:colId xmlns:a16="http://schemas.microsoft.com/office/drawing/2014/main" val="329132918"/>
                    </a:ext>
                  </a:extLst>
                </a:gridCol>
              </a:tblGrid>
              <a:tr h="611051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Particulars</a:t>
                      </a:r>
                      <a:endParaRPr 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FY25–26</a:t>
                      </a:r>
                      <a:endParaRPr 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FY26-27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3257271"/>
                  </a:ext>
                </a:extLst>
              </a:tr>
              <a:tr h="764331"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Fake Firms Detected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330+</a:t>
                      </a:r>
                      <a:endParaRPr lang="en-IN" sz="24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63</a:t>
                      </a:r>
                      <a:endParaRPr lang="en-IN" sz="24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6606095"/>
                  </a:ext>
                </a:extLst>
              </a:tr>
              <a:tr h="764331">
                <a:tc>
                  <a:txBody>
                    <a:bodyPr/>
                    <a:lstStyle/>
                    <a:p>
                      <a:pPr>
                        <a:lnSpc>
                          <a:spcPct val="133333"/>
                        </a:lnSpc>
                      </a:pPr>
                      <a:r>
                        <a:rPr lang="en-US" sz="2400" dirty="0">
                          <a:solidFill>
                            <a:srgbClr val="322E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ITC Involved (₹ Cr)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668.41</a:t>
                      </a:r>
                      <a:endParaRPr lang="en-IN" sz="24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259.71</a:t>
                      </a:r>
                      <a:endParaRPr lang="en-IN" sz="24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1279928"/>
                  </a:ext>
                </a:extLst>
              </a:tr>
              <a:tr h="1203905">
                <a:tc>
                  <a:txBody>
                    <a:bodyPr/>
                    <a:lstStyle/>
                    <a:p>
                      <a:pPr>
                        <a:lnSpc>
                          <a:spcPct val="133333"/>
                        </a:lnSpc>
                      </a:pPr>
                      <a:r>
                        <a:rPr lang="en-US" sz="2400" dirty="0">
                          <a:solidFill>
                            <a:srgbClr val="322E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Suspicious Firms (Repeat Offenders)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-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2675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942468"/>
                  </a:ext>
                </a:extLst>
              </a:tr>
              <a:tr h="1443737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322E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Registration Cancelled (Improper Docs / Field Visit)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-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3752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702472"/>
                  </a:ext>
                </a:extLst>
              </a:tr>
            </a:tbl>
          </a:graphicData>
        </a:graphic>
      </p:graphicFrame>
      <p:graphicFrame>
        <p:nvGraphicFramePr>
          <p:cNvPr id="50" name="Table 49">
            <a:extLst>
              <a:ext uri="{FF2B5EF4-FFF2-40B4-BE49-F238E27FC236}">
                <a16:creationId xmlns:a16="http://schemas.microsoft.com/office/drawing/2014/main" id="{75D72AE8-0B73-6811-5AC9-861D6D57AD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7491944"/>
              </p:ext>
            </p:extLst>
          </p:nvPr>
        </p:nvGraphicFramePr>
        <p:xfrm>
          <a:off x="8436982" y="2463893"/>
          <a:ext cx="7391195" cy="30494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9778">
                  <a:extLst>
                    <a:ext uri="{9D8B030D-6E8A-4147-A177-3AD203B41FA5}">
                      <a16:colId xmlns:a16="http://schemas.microsoft.com/office/drawing/2014/main" val="283362181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1661273952"/>
                    </a:ext>
                  </a:extLst>
                </a:gridCol>
                <a:gridCol w="1868337">
                  <a:extLst>
                    <a:ext uri="{9D8B030D-6E8A-4147-A177-3AD203B41FA5}">
                      <a16:colId xmlns:a16="http://schemas.microsoft.com/office/drawing/2014/main" val="329132918"/>
                    </a:ext>
                  </a:extLst>
                </a:gridCol>
              </a:tblGrid>
              <a:tr h="576585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Particulars</a:t>
                      </a:r>
                      <a:endParaRPr 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FY25–26</a:t>
                      </a:r>
                      <a:endParaRPr 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FY26-27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3257271"/>
                  </a:ext>
                </a:extLst>
              </a:tr>
              <a:tr h="1422340">
                <a:tc>
                  <a:txBody>
                    <a:bodyPr/>
                    <a:lstStyle/>
                    <a:p>
                      <a:pPr>
                        <a:lnSpc>
                          <a:spcPct val="133333"/>
                        </a:lnSpc>
                      </a:pPr>
                      <a:r>
                        <a:rPr lang="en-US" sz="2400" dirty="0">
                          <a:solidFill>
                            <a:srgbClr val="322E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Potentially Suspicious Taxpayers from Nil Payers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 -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27274*</a:t>
                      </a:r>
                      <a:endParaRPr lang="en-IN" sz="24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6606095"/>
                  </a:ext>
                </a:extLst>
              </a:tr>
              <a:tr h="965523">
                <a:tc>
                  <a:txBody>
                    <a:bodyPr/>
                    <a:lstStyle/>
                    <a:p>
                      <a:pPr>
                        <a:lnSpc>
                          <a:spcPct val="133333"/>
                        </a:lnSpc>
                      </a:pPr>
                      <a:r>
                        <a:rPr lang="en-US" sz="2400" dirty="0"/>
                        <a:t>Returned Welcome Letters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1267</a:t>
                      </a:r>
                      <a:endParaRPr lang="en-IN" sz="24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86757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90144"/>
            <a:ext cx="149961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sz="3467" b="1" dirty="0">
                <a:solidFill>
                  <a:srgbClr val="1A3257"/>
                </a:solidFill>
                <a:latin typeface="Georgia" pitchFamily="34" charset="0"/>
              </a:rPr>
              <a:t>Tax Administration Performance Index</a:t>
            </a:r>
            <a:br>
              <a:rPr lang="en-US" sz="3467" b="1" dirty="0">
                <a:solidFill>
                  <a:srgbClr val="1A3257"/>
                </a:solidFill>
                <a:latin typeface="Georgia" pitchFamily="34" charset="0"/>
              </a:rPr>
            </a:br>
            <a:r>
              <a:rPr lang="en-US" sz="2400" b="1" dirty="0">
                <a:solidFill>
                  <a:srgbClr val="1A3257"/>
                </a:solidFill>
                <a:latin typeface="Georgia" pitchFamily="34" charset="0"/>
              </a:rPr>
              <a:t>Source : GST Analytics and Intelligence Network portal - GSTN 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377696"/>
            <a:ext cx="149961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67" b="0" i="1" u="none" strike="noStrike" kern="1200" cap="none" spc="0" normalizeH="0" baseline="0" noProof="0" dirty="0">
                <a:ln>
                  <a:noFill/>
                </a:ln>
                <a:solidFill>
                  <a:srgbClr val="6B6B6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Composite score across 16 GST administration parameters, by state (Published Quarterly)</a:t>
            </a:r>
            <a:endParaRPr kumimoji="0" lang="en-US" sz="1867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609600" y="1889760"/>
            <a:ext cx="92049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0B5D5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State Rankings — Total Score (0–100)</a:t>
            </a: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2848917308"/>
              </p:ext>
            </p:extLst>
          </p:nvPr>
        </p:nvGraphicFramePr>
        <p:xfrm>
          <a:off x="609600" y="2316480"/>
          <a:ext cx="14605000" cy="64373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975600" y="2397469"/>
            <a:ext cx="0" cy="6226923"/>
          </a:xfrm>
          <a:prstGeom prst="line">
            <a:avLst/>
          </a:prstGeom>
          <a:noFill/>
          <a:ln w="28575">
            <a:solidFill>
              <a:srgbClr val="8A2E2E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6847840" y="206828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srgbClr val="8A2E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PAN INDIA avg: 52.4</a:t>
            </a: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9BEB4-095D-D869-088B-9DCB359A3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B0B3C9E-ECB1-C2CF-D139-9F0BD165B2B9}"/>
              </a:ext>
            </a:extLst>
          </p:cNvPr>
          <p:cNvSpPr/>
          <p:nvPr/>
        </p:nvSpPr>
        <p:spPr>
          <a:xfrm>
            <a:off x="609600" y="426720"/>
            <a:ext cx="121920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467" b="1">
                <a:solidFill>
                  <a:srgbClr val="1A3257"/>
                </a:solidFill>
                <a:latin typeface="Georgia" pitchFamily="34" charset="0"/>
              </a:rPr>
              <a:t>Revenue Growth: Month-wise Forecasting Snapshot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6A359AF-D835-D897-CC20-9F7FA64393E1}"/>
              </a:ext>
            </a:extLst>
          </p:cNvPr>
          <p:cNvSpPr/>
          <p:nvPr/>
        </p:nvSpPr>
        <p:spPr>
          <a:xfrm>
            <a:off x="609600" y="1036320"/>
            <a:ext cx="121920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33" b="0" i="0" u="none" strike="noStrike" kern="1200" cap="none" spc="0" normalizeH="0" baseline="0" noProof="0" dirty="0">
                <a:ln>
                  <a:noFill/>
                </a:ln>
                <a:solidFill>
                  <a:srgbClr val="5A6B8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FY 2026–27  ( ₹ in Crore )</a:t>
            </a:r>
            <a:endParaRPr kumimoji="0" lang="en-US" sz="1733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4" name="Table 0">
            <a:extLst>
              <a:ext uri="{FF2B5EF4-FFF2-40B4-BE49-F238E27FC236}">
                <a16:creationId xmlns:a16="http://schemas.microsoft.com/office/drawing/2014/main" id="{9F5DF26E-9DBE-C1B5-C7D9-C45141629D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940276"/>
              </p:ext>
            </p:extLst>
          </p:nvPr>
        </p:nvGraphicFramePr>
        <p:xfrm>
          <a:off x="609600" y="1695488"/>
          <a:ext cx="14833599" cy="6000709"/>
        </p:xfrm>
        <a:graphic>
          <a:graphicData uri="http://schemas.openxmlformats.org/drawingml/2006/table">
            <a:tbl>
              <a:tblPr/>
              <a:tblGrid>
                <a:gridCol w="45849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40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54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37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2100" b="1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55419" marB="55419" anchor="ctr">
                    <a:lnL w="9525" cap="flat" cmpd="sng" algn="ctr">
                      <a:solidFill>
                        <a:srgbClr val="E3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FY-26-27</a:t>
                      </a:r>
                      <a:endParaRPr lang="en-US" sz="2100" b="1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55419" marB="55419" anchor="ctr">
                    <a:lnL w="9525" cap="flat" cmpd="sng" algn="ctr">
                      <a:solidFill>
                        <a:srgbClr val="E3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Growth</a:t>
                      </a:r>
                      <a:endParaRPr lang="en-US" sz="2100" b="1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55419" marB="55419" anchor="ctr">
                    <a:lnL w="9525" cap="flat" cmpd="sng" algn="ctr">
                      <a:solidFill>
                        <a:srgbClr val="E3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Apr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4,749 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2.21%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May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3,280 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-6.39%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Jun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3,615 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4.68%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Jul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4,120 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8.15%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Aug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3,865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548235"/>
                          </a:solidFill>
                          <a:effectLst/>
                          <a:latin typeface="+mn-lt"/>
                        </a:rPr>
                        <a:t>8.10%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Sep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3,735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548235"/>
                          </a:solidFill>
                          <a:effectLst/>
                          <a:latin typeface="+mn-lt"/>
                        </a:rPr>
                        <a:t>8.95%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Oct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4,695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548235"/>
                          </a:solidFill>
                          <a:effectLst/>
                          <a:latin typeface="+mn-lt"/>
                        </a:rPr>
                        <a:t>12.81%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Nov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4,395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548235"/>
                          </a:solidFill>
                          <a:effectLst/>
                          <a:latin typeface="+mn-lt"/>
                        </a:rPr>
                        <a:t>13.04%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Dec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3,851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548235"/>
                          </a:solidFill>
                          <a:effectLst/>
                          <a:latin typeface="+mn-lt"/>
                        </a:rPr>
                        <a:t>13.46%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Jan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4,590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548235"/>
                          </a:solidFill>
                          <a:effectLst/>
                          <a:latin typeface="+mn-lt"/>
                        </a:rPr>
                        <a:t>14.61%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Feb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4,134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 dirty="0">
                          <a:solidFill>
                            <a:srgbClr val="548235"/>
                          </a:solidFill>
                          <a:effectLst/>
                          <a:latin typeface="+mn-lt"/>
                        </a:rPr>
                        <a:t>10.56%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Mar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4,985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 dirty="0">
                          <a:solidFill>
                            <a:srgbClr val="548235"/>
                          </a:solidFill>
                          <a:effectLst/>
                          <a:latin typeface="+mn-lt"/>
                        </a:rPr>
                        <a:t>12.12%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Total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50,014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8.61%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 2">
            <a:extLst>
              <a:ext uri="{FF2B5EF4-FFF2-40B4-BE49-F238E27FC236}">
                <a16:creationId xmlns:a16="http://schemas.microsoft.com/office/drawing/2014/main" id="{82002BE1-665E-BB51-17A5-8C06F347B76A}"/>
              </a:ext>
            </a:extLst>
          </p:cNvPr>
          <p:cNvSpPr/>
          <p:nvPr/>
        </p:nvSpPr>
        <p:spPr>
          <a:xfrm>
            <a:off x="609600" y="7696200"/>
            <a:ext cx="1533144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itchFamily="34" charset="-122"/>
                <a:cs typeface="Calibri" pitchFamily="34" charset="-120"/>
              </a:rPr>
              <a:t>Aug 26 – Mar’ 27 figures are model-based forecasts – </a:t>
            </a:r>
            <a:r>
              <a:rPr kumimoji="0" lang="en-US" sz="24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itchFamily="34" charset="-122"/>
                <a:cs typeface="Calibri" pitchFamily="34" charset="-120"/>
              </a:rPr>
              <a:t>XGBoost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itchFamily="34" charset="-122"/>
                <a:cs typeface="Calibri" pitchFamily="34" charset="-120"/>
              </a:rPr>
              <a:t>,</a:t>
            </a:r>
            <a:r>
              <a:rPr kumimoji="0" lang="en-US" sz="2400" b="0" i="1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itchFamily="34" charset="-122"/>
                <a:cs typeface="Calibri" pitchFamily="34" charset="-120"/>
              </a:rPr>
              <a:t> Time Series, Arima</a:t>
            </a:r>
            <a:endParaRPr kumimoji="0" lang="en-US" sz="24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itchFamily="34" charset="-122"/>
              <a:cs typeface="Calibri" pitchFamily="34" charset="-120"/>
            </a:endParaRP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itchFamily="34" charset="-122"/>
                <a:cs typeface="Calibri" pitchFamily="34" charset="-120"/>
              </a:rPr>
              <a:t>Full-year GST net revenue is projected to grow by 8.61 %, increasing from ₹46,050 Cr (FY25–26) to ₹ 50014 Cr (FY26–27).</a:t>
            </a:r>
          </a:p>
        </p:txBody>
      </p:sp>
    </p:spTree>
    <p:extLst>
      <p:ext uri="{BB962C8B-B14F-4D97-AF65-F5344CB8AC3E}">
        <p14:creationId xmlns:p14="http://schemas.microsoft.com/office/powerpoint/2010/main" val="37645793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8">
          <a:extLst>
            <a:ext uri="{FF2B5EF4-FFF2-40B4-BE49-F238E27FC236}">
              <a16:creationId xmlns:a16="http://schemas.microsoft.com/office/drawing/2014/main" id="{8C87EC88-B83A-EC5C-CBB5-AA2B00A17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36">
            <a:extLst>
              <a:ext uri="{FF2B5EF4-FFF2-40B4-BE49-F238E27FC236}">
                <a16:creationId xmlns:a16="http://schemas.microsoft.com/office/drawing/2014/main" id="{63D8AB89-0393-38F6-DC0F-F1AC4330FB2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0223" y="283577"/>
            <a:ext cx="14860800" cy="679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2577" rIns="0" bIns="0" anchor="t" anchorCtr="0">
            <a:spAutoFit/>
          </a:bodyPr>
          <a:lstStyle/>
          <a:p>
            <a:pPr marL="22577"/>
            <a:r>
              <a:rPr lang="en-IN" sz="4267" dirty="0">
                <a:solidFill>
                  <a:schemeClr val="lt1"/>
                </a:solidFill>
              </a:rPr>
              <a:t>Meeting with Secretary Revenue, GOI</a:t>
            </a:r>
            <a:endParaRPr sz="4267" dirty="0">
              <a:solidFill>
                <a:schemeClr val="lt1"/>
              </a:solidFill>
            </a:endParaRPr>
          </a:p>
        </p:txBody>
      </p:sp>
      <p:sp>
        <p:nvSpPr>
          <p:cNvPr id="646" name="Google Shape;646;p36">
            <a:extLst>
              <a:ext uri="{FF2B5EF4-FFF2-40B4-BE49-F238E27FC236}">
                <a16:creationId xmlns:a16="http://schemas.microsoft.com/office/drawing/2014/main" id="{F86C7DA3-52BC-B70D-5EBE-3ECC294C97A1}"/>
              </a:ext>
            </a:extLst>
          </p:cNvPr>
          <p:cNvSpPr txBox="1"/>
          <p:nvPr/>
        </p:nvSpPr>
        <p:spPr>
          <a:xfrm>
            <a:off x="124790" y="837595"/>
            <a:ext cx="16902430" cy="9642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t" anchorCtr="0">
            <a:spAutoFit/>
          </a:bodyPr>
          <a:lstStyle/>
          <a:p>
            <a:pPr marL="292367" algn="just" defTabSz="1219170"/>
            <a:r>
              <a:rPr lang="en-US" sz="2800" b="1" dirty="0">
                <a:solidFill>
                  <a:srgbClr val="6B7B8E"/>
                </a:solidFill>
                <a:latin typeface="Calibri"/>
                <a:ea typeface="Calibri"/>
                <a:cs typeface="Calibri"/>
                <a:sym typeface="Calibri"/>
              </a:rPr>
              <a:t>Point 1 : </a:t>
            </a:r>
            <a:r>
              <a:rPr lang="en-IN" sz="2400" dirty="0">
                <a:solidFill>
                  <a:prstClr val="black"/>
                </a:solidFill>
                <a:latin typeface="Calibri" panose="020F0502020204030204"/>
              </a:rPr>
              <a:t>The note mentions that </a:t>
            </a:r>
            <a:r>
              <a:rPr lang="en-IN" sz="2400" b="1" dirty="0">
                <a:solidFill>
                  <a:prstClr val="black"/>
                </a:solidFill>
                <a:latin typeface="Calibri" panose="020F0502020204030204"/>
              </a:rPr>
              <a:t>Rajasthan's B2C ratio is approximately 7</a:t>
            </a:r>
            <a:r>
              <a:rPr lang="en-IN" sz="2400" dirty="0">
                <a:solidFill>
                  <a:prstClr val="black"/>
                </a:solidFill>
                <a:latin typeface="Calibri" panose="020F0502020204030204"/>
              </a:rPr>
              <a:t>, against a normal benchmark ratio of </a:t>
            </a:r>
            <a:r>
              <a:rPr lang="en-IN" sz="2400" b="1" dirty="0">
                <a:solidFill>
                  <a:prstClr val="black"/>
                </a:solidFill>
                <a:latin typeface="Calibri" panose="020F0502020204030204"/>
              </a:rPr>
              <a:t>4.5</a:t>
            </a:r>
            <a:r>
              <a:rPr lang="en-IN" sz="2400" dirty="0">
                <a:solidFill>
                  <a:prstClr val="black"/>
                </a:solidFill>
                <a:latin typeface="Calibri" panose="020F0502020204030204"/>
              </a:rPr>
              <a:t>.</a:t>
            </a:r>
          </a:p>
          <a:p>
            <a:pPr marL="292367" algn="just" defTabSz="1219170"/>
            <a:r>
              <a:rPr lang="en-IN" sz="2400" dirty="0">
                <a:solidFill>
                  <a:prstClr val="black"/>
                </a:solidFill>
                <a:latin typeface="Calibri" panose="020F0502020204030204"/>
              </a:rPr>
              <a:t>GSTN was requested for complete data and methodology.  </a:t>
            </a:r>
            <a:r>
              <a:rPr lang="en-IN" sz="2400" b="1" dirty="0">
                <a:solidFill>
                  <a:prstClr val="black"/>
                </a:solidFill>
                <a:latin typeface="Calibri" panose="020F0502020204030204"/>
              </a:rPr>
              <a:t>GSTN report is as given below: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E639B4A-F6BA-B5D9-CF00-774E40EB34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967086"/>
              </p:ext>
            </p:extLst>
          </p:nvPr>
        </p:nvGraphicFramePr>
        <p:xfrm>
          <a:off x="355600" y="1791702"/>
          <a:ext cx="7678935" cy="6596710"/>
        </p:xfrm>
        <a:graphic>
          <a:graphicData uri="http://schemas.openxmlformats.org/drawingml/2006/table">
            <a:tbl>
              <a:tblPr>
                <a:tableStyleId>{FABFCF23-3B69-468F-B69F-88F6DE6A72F2}</a:tableStyleId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2814509864"/>
                    </a:ext>
                  </a:extLst>
                </a:gridCol>
                <a:gridCol w="2026920">
                  <a:extLst>
                    <a:ext uri="{9D8B030D-6E8A-4147-A177-3AD203B41FA5}">
                      <a16:colId xmlns:a16="http://schemas.microsoft.com/office/drawing/2014/main" val="592182426"/>
                    </a:ext>
                  </a:extLst>
                </a:gridCol>
                <a:gridCol w="2068387">
                  <a:extLst>
                    <a:ext uri="{9D8B030D-6E8A-4147-A177-3AD203B41FA5}">
                      <a16:colId xmlns:a16="http://schemas.microsoft.com/office/drawing/2014/main" val="2543260656"/>
                    </a:ext>
                  </a:extLst>
                </a:gridCol>
                <a:gridCol w="1805628">
                  <a:extLst>
                    <a:ext uri="{9D8B030D-6E8A-4147-A177-3AD203B41FA5}">
                      <a16:colId xmlns:a16="http://schemas.microsoft.com/office/drawing/2014/main" val="487293911"/>
                    </a:ext>
                  </a:extLst>
                </a:gridCol>
              </a:tblGrid>
              <a:tr h="419060">
                <a:tc gridSpan="4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kern="1200" dirty="0">
                          <a:solidFill>
                            <a:schemeClr val="bg1"/>
                          </a:solidFill>
                          <a:effectLst/>
                        </a:rPr>
                        <a:t>ALL INDIA (in 1 Lakh Crore)</a:t>
                      </a:r>
                      <a:endParaRPr lang="en-IN" sz="2400" b="1" i="0" u="none" strike="noStrike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8467" marR="8467" marT="8467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06894"/>
                  </a:ext>
                </a:extLst>
              </a:tr>
              <a:tr h="6579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FY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B2C Supply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Domestic Supply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B2C% 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197516"/>
                  </a:ext>
                </a:extLst>
              </a:tr>
              <a:tr h="4943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2017-2018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32.03</a:t>
                      </a:r>
                      <a:endParaRPr lang="en-IN" sz="2400" b="0" i="0" u="none" strike="noStrike" kern="12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168.32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>
                          <a:solidFill>
                            <a:schemeClr val="tx1"/>
                          </a:solidFill>
                          <a:effectLst/>
                        </a:rPr>
                        <a:t>19.03%</a:t>
                      </a:r>
                      <a:endParaRPr lang="en-IN" sz="24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4768476"/>
                  </a:ext>
                </a:extLst>
              </a:tr>
              <a:tr h="4943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2018-2019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48.64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260.85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18.65%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4508940"/>
                  </a:ext>
                </a:extLst>
              </a:tr>
              <a:tr h="4943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>
                          <a:solidFill>
                            <a:schemeClr val="tx1"/>
                          </a:solidFill>
                          <a:effectLst/>
                        </a:rPr>
                        <a:t>2019-2020</a:t>
                      </a:r>
                      <a:endParaRPr lang="en-IN" sz="24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49.57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261.52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18.95%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9290168"/>
                  </a:ext>
                </a:extLst>
              </a:tr>
              <a:tr h="4943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2020-2021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46.77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261.06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17.91%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7861257"/>
                  </a:ext>
                </a:extLst>
              </a:tr>
              <a:tr h="4943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>
                          <a:solidFill>
                            <a:schemeClr val="tx1"/>
                          </a:solidFill>
                          <a:effectLst/>
                        </a:rPr>
                        <a:t>2021-2022</a:t>
                      </a:r>
                      <a:endParaRPr lang="en-IN" sz="24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58.34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344.33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16.94%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5917460"/>
                  </a:ext>
                </a:extLst>
              </a:tr>
              <a:tr h="4943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2022-2023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69.44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407.16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17.06%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5294857"/>
                  </a:ext>
                </a:extLst>
              </a:tr>
              <a:tr h="4943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>
                          <a:solidFill>
                            <a:schemeClr val="tx1"/>
                          </a:solidFill>
                          <a:effectLst/>
                        </a:rPr>
                        <a:t>2023-2024</a:t>
                      </a:r>
                      <a:endParaRPr lang="en-IN" sz="24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76.38</a:t>
                      </a:r>
                      <a:endParaRPr lang="en-IN" sz="2400" b="0" i="0" u="none" strike="noStrike" kern="12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444.22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17.19%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6364674"/>
                  </a:ext>
                </a:extLst>
              </a:tr>
              <a:tr h="4943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2024-2025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82.65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495.14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16.69%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344038"/>
                  </a:ext>
                </a:extLst>
              </a:tr>
              <a:tr h="4943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>
                          <a:solidFill>
                            <a:schemeClr val="tx1"/>
                          </a:solidFill>
                          <a:effectLst/>
                        </a:rPr>
                        <a:t>2025-2026</a:t>
                      </a:r>
                      <a:endParaRPr lang="en-IN" sz="24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91.56</a:t>
                      </a:r>
                      <a:endParaRPr lang="en-IN" sz="2400" b="0" i="0" u="none" strike="noStrike" kern="12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567.44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16.14%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9670023"/>
                  </a:ext>
                </a:extLst>
              </a:tr>
              <a:tr h="4943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Grand Total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555.39</a:t>
                      </a:r>
                      <a:endParaRPr lang="en-IN" sz="2400" b="1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3210.03</a:t>
                      </a:r>
                      <a:endParaRPr lang="en-IN" sz="2400" b="1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17.30%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7847679"/>
                  </a:ext>
                </a:extLst>
              </a:tr>
              <a:tr h="494333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Ratio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IN" sz="1900" b="1" i="0" u="none" strike="noStrike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3D6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IN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5.78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9314E1E-1542-C29B-9A4B-C48D93EC2E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5995213"/>
              </p:ext>
            </p:extLst>
          </p:nvPr>
        </p:nvGraphicFramePr>
        <p:xfrm>
          <a:off x="8313090" y="1791701"/>
          <a:ext cx="7678935" cy="6570056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1973910">
                  <a:extLst>
                    <a:ext uri="{9D8B030D-6E8A-4147-A177-3AD203B41FA5}">
                      <a16:colId xmlns:a16="http://schemas.microsoft.com/office/drawing/2014/main" val="3380436217"/>
                    </a:ext>
                  </a:extLst>
                </a:gridCol>
                <a:gridCol w="1844040">
                  <a:extLst>
                    <a:ext uri="{9D8B030D-6E8A-4147-A177-3AD203B41FA5}">
                      <a16:colId xmlns:a16="http://schemas.microsoft.com/office/drawing/2014/main" val="3419039631"/>
                    </a:ext>
                  </a:extLst>
                </a:gridCol>
                <a:gridCol w="2087880">
                  <a:extLst>
                    <a:ext uri="{9D8B030D-6E8A-4147-A177-3AD203B41FA5}">
                      <a16:colId xmlns:a16="http://schemas.microsoft.com/office/drawing/2014/main" val="2228279328"/>
                    </a:ext>
                  </a:extLst>
                </a:gridCol>
                <a:gridCol w="1773105">
                  <a:extLst>
                    <a:ext uri="{9D8B030D-6E8A-4147-A177-3AD203B41FA5}">
                      <a16:colId xmlns:a16="http://schemas.microsoft.com/office/drawing/2014/main" val="1965794500"/>
                    </a:ext>
                  </a:extLst>
                </a:gridCol>
              </a:tblGrid>
              <a:tr h="446823">
                <a:tc gridSpan="4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RAJASTHAN </a:t>
                      </a:r>
                      <a:r>
                        <a:rPr lang="en-IN" sz="2400" b="1" u="none" strike="noStrike" kern="1200" dirty="0">
                          <a:solidFill>
                            <a:schemeClr val="bg1"/>
                          </a:solidFill>
                          <a:effectLst/>
                        </a:rPr>
                        <a:t>(in 1 Lakh Crore)</a:t>
                      </a:r>
                      <a:endParaRPr lang="en-IN" sz="24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4517428"/>
                  </a:ext>
                </a:extLst>
              </a:tr>
              <a:tr h="6846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FY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B2C Supply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Domestic Supply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B2C%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760808"/>
                  </a:ext>
                </a:extLst>
              </a:tr>
              <a:tr h="4893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2017-2018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1.30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6.84</a:t>
                      </a:r>
                      <a:endParaRPr lang="en-IN" sz="2400" b="0" i="0" u="none" strike="noStrike" kern="12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>
                          <a:solidFill>
                            <a:schemeClr val="tx1"/>
                          </a:solidFill>
                          <a:effectLst/>
                        </a:rPr>
                        <a:t>19.00%</a:t>
                      </a:r>
                      <a:endParaRPr lang="en-IN" sz="24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4960357"/>
                  </a:ext>
                </a:extLst>
              </a:tr>
              <a:tr h="4893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2018-2019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1.96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10.53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18.59%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5103208"/>
                  </a:ext>
                </a:extLst>
              </a:tr>
              <a:tr h="4893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>
                          <a:solidFill>
                            <a:schemeClr val="tx1"/>
                          </a:solidFill>
                          <a:effectLst/>
                        </a:rPr>
                        <a:t>2019-2020</a:t>
                      </a:r>
                      <a:endParaRPr lang="en-IN" sz="24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2.00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10.52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19.04%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7866190"/>
                  </a:ext>
                </a:extLst>
              </a:tr>
              <a:tr h="4893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2020-2021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1.97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10.86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18.16%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9244551"/>
                  </a:ext>
                </a:extLst>
              </a:tr>
              <a:tr h="4893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>
                          <a:solidFill>
                            <a:schemeClr val="tx1"/>
                          </a:solidFill>
                          <a:effectLst/>
                        </a:rPr>
                        <a:t>2021-2022</a:t>
                      </a:r>
                      <a:endParaRPr lang="en-IN" sz="24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2.51</a:t>
                      </a:r>
                      <a:endParaRPr lang="en-IN" sz="2400" b="0" i="0" u="none" strike="noStrike" kern="12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14.42</a:t>
                      </a:r>
                      <a:endParaRPr lang="en-IN" sz="2400" b="0" i="0" u="none" strike="noStrike" kern="12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>
                          <a:solidFill>
                            <a:schemeClr val="tx1"/>
                          </a:solidFill>
                          <a:effectLst/>
                        </a:rPr>
                        <a:t>17.38%</a:t>
                      </a:r>
                      <a:endParaRPr lang="en-IN" sz="24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6658687"/>
                  </a:ext>
                </a:extLst>
              </a:tr>
              <a:tr h="4893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2022-2023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2.94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16.84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17.49%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3104890"/>
                  </a:ext>
                </a:extLst>
              </a:tr>
              <a:tr h="4893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>
                          <a:solidFill>
                            <a:schemeClr val="tx1"/>
                          </a:solidFill>
                          <a:effectLst/>
                        </a:rPr>
                        <a:t>2023-2024</a:t>
                      </a:r>
                      <a:endParaRPr lang="en-IN" sz="24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3.22</a:t>
                      </a:r>
                      <a:endParaRPr lang="en-IN" sz="2400" b="0" i="0" u="none" strike="noStrike" kern="12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18.11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>
                          <a:solidFill>
                            <a:schemeClr val="tx1"/>
                          </a:solidFill>
                          <a:effectLst/>
                        </a:rPr>
                        <a:t>17.80%</a:t>
                      </a:r>
                      <a:endParaRPr lang="en-IN" sz="24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9221256"/>
                  </a:ext>
                </a:extLst>
              </a:tr>
              <a:tr h="4893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2024-2025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3.48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19.96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17.42%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6854662"/>
                  </a:ext>
                </a:extLst>
              </a:tr>
              <a:tr h="4893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2025-2026</a:t>
                      </a:r>
                      <a:endParaRPr lang="en-IN" sz="2400" b="0" i="0" u="none" strike="noStrike" kern="12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3.85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22.51</a:t>
                      </a:r>
                      <a:endParaRPr lang="en-IN" sz="2400" b="0" i="0" u="none" strike="noStrike" kern="12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17.10%</a:t>
                      </a:r>
                      <a:endParaRPr lang="en-IN" sz="2400" b="0" i="0" u="none" strike="noStrike" kern="12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7588517"/>
                  </a:ext>
                </a:extLst>
              </a:tr>
              <a:tr h="4893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Grand Total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23.23</a:t>
                      </a:r>
                      <a:endParaRPr lang="en-IN" sz="2400" b="1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130.58</a:t>
                      </a:r>
                      <a:endParaRPr lang="en-IN" sz="2400" b="1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17.79%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5712378"/>
                  </a:ext>
                </a:extLst>
              </a:tr>
              <a:tr h="489386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Ratio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IN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3D6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IN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5.62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0208943"/>
                  </a:ext>
                </a:extLst>
              </a:tr>
            </a:tbl>
          </a:graphicData>
        </a:graphic>
      </p:graphicFrame>
      <p:sp>
        <p:nvSpPr>
          <p:cNvPr id="4" name="Text 132">
            <a:extLst>
              <a:ext uri="{FF2B5EF4-FFF2-40B4-BE49-F238E27FC236}">
                <a16:creationId xmlns:a16="http://schemas.microsoft.com/office/drawing/2014/main" id="{28D3E072-58CE-7FEE-C48B-A737C0D5FD1D}"/>
              </a:ext>
            </a:extLst>
          </p:cNvPr>
          <p:cNvSpPr/>
          <p:nvPr/>
        </p:nvSpPr>
        <p:spPr>
          <a:xfrm>
            <a:off x="124790" y="8461612"/>
            <a:ext cx="16319170" cy="398811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353"/>
              </a:lnSpc>
              <a:buNone/>
            </a:pPr>
            <a:r>
              <a:rPr lang="en-US" sz="1700" b="1" dirty="0">
                <a:solidFill>
                  <a:srgbClr val="103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 — </a:t>
            </a:r>
            <a:r>
              <a:rPr lang="en-US" sz="1700" b="1" dirty="0">
                <a:solidFill>
                  <a:srgbClr val="103D27"/>
                </a:solidFill>
                <a:highlight>
                  <a:srgbClr val="ECF6E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Based on the data provided by GSTN, no significant difference is observed between Rajasthan’s B2C ratio (5.62) and the all-India ratio (5.78).</a:t>
            </a:r>
            <a:endParaRPr lang="en-US" sz="1700" b="1" dirty="0"/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1AC64761-C663-1356-E635-50D8A8EB556A}"/>
              </a:ext>
            </a:extLst>
          </p:cNvPr>
          <p:cNvSpPr/>
          <p:nvPr/>
        </p:nvSpPr>
        <p:spPr>
          <a:xfrm>
            <a:off x="372138" y="13605"/>
            <a:ext cx="15636240" cy="954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IN" sz="3467" b="1" dirty="0">
                <a:solidFill>
                  <a:srgbClr val="1A3257"/>
                </a:solidFill>
                <a:latin typeface="Georgia" pitchFamily="34" charset="0"/>
              </a:rPr>
              <a:t>Meeting with Secretary Revenue, GOI</a:t>
            </a:r>
          </a:p>
        </p:txBody>
      </p:sp>
    </p:spTree>
    <p:extLst>
      <p:ext uri="{BB962C8B-B14F-4D97-AF65-F5344CB8AC3E}">
        <p14:creationId xmlns:p14="http://schemas.microsoft.com/office/powerpoint/2010/main" val="25564064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70467" y="440591"/>
            <a:ext cx="16205200" cy="518054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lvl="0">
              <a:lnSpc>
                <a:spcPct val="114400"/>
              </a:lnSpc>
            </a:pPr>
            <a:r>
              <a:rPr lang="en-IN" sz="3400" b="1" dirty="0">
                <a:solidFill>
                  <a:srgbClr val="1A3257"/>
                </a:solidFill>
                <a:latin typeface="Georgia" pitchFamily="34" charset="0"/>
              </a:rPr>
              <a:t>Meeting with Secretary Revenue, GOI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62000" y="1104255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30116" y="1717368"/>
            <a:ext cx="8133596" cy="543880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32353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6B7B8E"/>
                </a:solidFill>
                <a:effectLst/>
                <a:uLnTx/>
                <a:uFillTx/>
                <a:latin typeface="Calibri" panose="020F0502020204030204"/>
                <a:ea typeface="Calibri"/>
                <a:cs typeface="Calibri"/>
                <a:sym typeface="Calibri"/>
              </a:rPr>
              <a:t>Point 2: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041400" y="2121663"/>
            <a:ext cx="14184484" cy="1994330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818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89" b="0" i="0" u="none" strike="noStrike" kern="1200" cap="none" spc="0" normalizeH="0" baseline="0" noProof="0" dirty="0">
                <a:ln>
                  <a:noFill/>
                </a:ln>
                <a:solidFill>
                  <a:srgbClr val="322E2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An anomaly-detection technique identified approximately </a:t>
            </a:r>
            <a:r>
              <a:rPr kumimoji="0" lang="en-US" sz="2489" b="1" i="0" u="none" strike="noStrike" kern="1200" cap="none" spc="0" normalizeH="0" baseline="0" noProof="0" dirty="0">
                <a:ln>
                  <a:noFill/>
                </a:ln>
                <a:solidFill>
                  <a:srgbClr val="1A325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5.37 lakh </a:t>
            </a:r>
            <a:r>
              <a:rPr kumimoji="0" lang="en-US" sz="2489" b="0" i="0" u="none" strike="noStrike" kern="1200" cap="none" spc="0" normalizeH="0" baseline="0" noProof="0" dirty="0">
                <a:ln>
                  <a:noFill/>
                </a:ln>
                <a:solidFill>
                  <a:srgbClr val="322E2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taxpayers who paid lower tax compared to their respective peer band. Of these, approximately </a:t>
            </a:r>
            <a:r>
              <a:rPr kumimoji="0" lang="en-US" sz="2489" b="1" i="0" u="none" strike="noStrike" kern="1200" cap="none" spc="0" normalizeH="0" baseline="0" noProof="0" dirty="0">
                <a:ln>
                  <a:noFill/>
                </a:ln>
                <a:solidFill>
                  <a:srgbClr val="1A325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1.22 lakh </a:t>
            </a:r>
            <a:r>
              <a:rPr kumimoji="0" lang="en-US" sz="2489" b="0" i="0" u="none" strike="noStrike" kern="1200" cap="none" spc="0" normalizeH="0" baseline="0" noProof="0" dirty="0">
                <a:ln>
                  <a:noFill/>
                </a:ln>
                <a:solidFill>
                  <a:srgbClr val="322E2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taxpayers paid only </a:t>
            </a:r>
            <a:r>
              <a:rPr kumimoji="0" lang="en-US" sz="2489" b="1" i="0" u="none" strike="noStrike" kern="1200" cap="none" spc="0" normalizeH="0" baseline="0" noProof="0" dirty="0">
                <a:ln>
                  <a:noFill/>
                </a:ln>
                <a:solidFill>
                  <a:srgbClr val="8A371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₹194 crore </a:t>
            </a:r>
            <a:r>
              <a:rPr kumimoji="0" lang="en-US" sz="2489" b="0" i="0" u="none" strike="noStrike" kern="1200" cap="none" spc="0" normalizeH="0" baseline="0" noProof="0" dirty="0">
                <a:ln>
                  <a:noFill/>
                </a:ln>
                <a:solidFill>
                  <a:srgbClr val="322E2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through the cash ledger.</a:t>
            </a:r>
            <a:endParaRPr kumimoji="0" lang="en-US" sz="2489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830387" y="3983807"/>
            <a:ext cx="1794609" cy="1251948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255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67" b="1" i="0" u="none" strike="noStrike" kern="1200" cap="none" spc="0" normalizeH="0" baseline="0" noProof="0" dirty="0">
                <a:ln>
                  <a:noFill/>
                </a:ln>
                <a:solidFill>
                  <a:srgbClr val="1A3257"/>
                </a:solidFill>
                <a:effectLst/>
                <a:uLnTx/>
                <a:uFillTx/>
                <a:latin typeface="Calibri" panose="020F0502020204030204"/>
                <a:ea typeface="Courier New" pitchFamily="34" charset="-122"/>
                <a:cs typeface="Courier New" pitchFamily="34" charset="-120"/>
              </a:rPr>
              <a:t>5.37L</a:t>
            </a:r>
            <a:endParaRPr kumimoji="0" lang="en-US" sz="4267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283689" y="4962863"/>
            <a:ext cx="2707874" cy="69225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45C49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Flagged taxpayers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119135" y="3953688"/>
            <a:ext cx="2294952" cy="1251948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255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67" b="1" i="0" u="none" strike="noStrike" kern="1200" cap="none" spc="0" normalizeH="0" baseline="0" noProof="0" dirty="0">
                <a:ln>
                  <a:noFill/>
                </a:ln>
                <a:solidFill>
                  <a:srgbClr val="AB451A"/>
                </a:solidFill>
                <a:effectLst/>
                <a:uLnTx/>
                <a:uFillTx/>
                <a:latin typeface="Calibri" panose="020F0502020204030204"/>
                <a:ea typeface="Courier New" pitchFamily="34" charset="-122"/>
                <a:cs typeface="Courier New" pitchFamily="34" charset="-120"/>
              </a:rPr>
              <a:t>1.22L</a:t>
            </a:r>
            <a:endParaRPr kumimoji="0" lang="en-US" sz="4267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878189" y="4957163"/>
            <a:ext cx="3782082" cy="77046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45C49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Low cash-ledger payers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973837" y="3953688"/>
            <a:ext cx="2333472" cy="1251948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255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67" b="1" i="0" u="none" strike="noStrike" kern="1200" cap="none" spc="0" normalizeH="0" baseline="0" noProof="0" dirty="0">
                <a:ln>
                  <a:noFill/>
                </a:ln>
                <a:solidFill>
                  <a:srgbClr val="AB451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₹</a:t>
            </a:r>
            <a:r>
              <a:rPr kumimoji="0" lang="en-US" sz="4267" b="1" i="0" u="none" strike="noStrike" kern="1200" cap="none" spc="0" normalizeH="0" baseline="0" noProof="0" dirty="0">
                <a:ln>
                  <a:noFill/>
                </a:ln>
                <a:solidFill>
                  <a:srgbClr val="AB451A"/>
                </a:solidFill>
                <a:effectLst/>
                <a:uLnTx/>
                <a:uFillTx/>
                <a:latin typeface="Calibri" panose="020F0502020204030204"/>
                <a:ea typeface="Courier New" pitchFamily="34" charset="-122"/>
                <a:cs typeface="Courier New" pitchFamily="34" charset="-120"/>
              </a:rPr>
              <a:t>194</a:t>
            </a:r>
            <a:r>
              <a:rPr kumimoji="0" lang="en-US" sz="4267" b="1" i="0" u="none" strike="noStrike" kern="1200" cap="none" spc="0" normalizeH="0" baseline="0" noProof="0" dirty="0">
                <a:ln>
                  <a:noFill/>
                </a:ln>
                <a:solidFill>
                  <a:srgbClr val="AB451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</a:t>
            </a:r>
            <a:endParaRPr kumimoji="0" lang="en-US" sz="4267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519657" y="4949678"/>
            <a:ext cx="3241831" cy="81435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45C49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Cash-ledger payment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69400" y="11370055"/>
            <a:ext cx="6506964" cy="2026355"/>
          </a:xfrm>
          <a:prstGeom prst="roundRect">
            <a:avLst>
              <a:gd name="adj" fmla="val 3337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1C1A15">
                <a:alpha val="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469400" y="13375886"/>
            <a:ext cx="6474222" cy="20524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1045871" y="5873275"/>
            <a:ext cx="14154609" cy="45719"/>
          </a:xfrm>
          <a:prstGeom prst="rect">
            <a:avLst/>
          </a:prstGeom>
          <a:solidFill>
            <a:srgbClr val="C99A3B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041401" y="6105083"/>
            <a:ext cx="6506964" cy="543880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2353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33" b="1" i="0" u="none" strike="noStrike" kern="0" cap="none" spc="100" normalizeH="0" baseline="0" noProof="0" dirty="0">
                <a:ln>
                  <a:noFill/>
                </a:ln>
                <a:solidFill>
                  <a:srgbClr val="8C6726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CURRENT STATUS</a:t>
            </a:r>
            <a:endParaRPr kumimoji="0" lang="en-US" sz="2133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477867" y="8713471"/>
            <a:ext cx="501253" cy="636236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33" b="1" i="0" u="none" strike="noStrike" kern="1200" cap="none" spc="0" normalizeH="0" baseline="0" noProof="0">
                <a:ln>
                  <a:noFill/>
                </a:ln>
                <a:solidFill>
                  <a:srgbClr val="AB451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</a:t>
            </a:r>
            <a:endParaRPr kumimoji="0" lang="en-US" sz="2133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030116" y="6640404"/>
            <a:ext cx="12682493" cy="636236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22E2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GSTN not able to provide any information related to the above anomaly.</a:t>
            </a:r>
          </a:p>
          <a:p>
            <a:pPr marL="342900" marR="0" lvl="0" indent="-342900" algn="l" defTabSz="914400" rtl="0" eaLnBrk="1" fontAlgn="auto" latinLnBrk="0" hangingPunct="1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srgbClr val="322E25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-120"/>
              </a:rPr>
              <a:t>DoR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322E25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-120"/>
              </a:rPr>
              <a:t> has been requested for further classification and necessary details.</a:t>
            </a:r>
          </a:p>
          <a:p>
            <a:pPr marL="342900" marR="0" lvl="0" indent="-342900" algn="l" defTabSz="914400" rtl="0" eaLnBrk="1" fontAlgn="auto" latinLnBrk="0" hangingPunct="1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77867" y="9595992"/>
            <a:ext cx="501253" cy="636236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33" b="1" i="0" u="none" strike="noStrike" kern="1200" cap="none" spc="0" normalizeH="0" baseline="0" noProof="0">
                <a:ln>
                  <a:noFill/>
                </a:ln>
                <a:solidFill>
                  <a:srgbClr val="AB451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</a:t>
            </a:r>
            <a:endParaRPr kumimoji="0" lang="en-US" sz="2133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983037" y="7570010"/>
            <a:ext cx="6242779" cy="1299175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133" b="0" i="0" u="none" strike="noStrike" kern="1200" cap="none" spc="0" normalizeH="0" baseline="0" noProof="0" dirty="0">
              <a:ln>
                <a:noFill/>
              </a:ln>
              <a:solidFill>
                <a:srgbClr val="322E25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-12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62000" y="8631767"/>
            <a:ext cx="14732000" cy="8467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916599" y="8758767"/>
            <a:ext cx="2634655" cy="19896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67" b="0" i="0" u="none" strike="noStrike" kern="0" cap="none" spc="35" normalizeH="0" baseline="0" noProof="0">
                <a:ln>
                  <a:noFill/>
                </a:ln>
                <a:solidFill>
                  <a:srgbClr val="837962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SECRETARY REVENUE · CLARIFICATIONS</a:t>
            </a:r>
            <a:endParaRPr kumimoji="0" lang="en-US" sz="867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1450440" y="14517303"/>
            <a:ext cx="560916" cy="19896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67" b="0" i="0" u="none" strike="noStrike" kern="0" cap="none" spc="35" normalizeH="0" baseline="0" noProof="0">
                <a:ln>
                  <a:noFill/>
                </a:ln>
                <a:solidFill>
                  <a:srgbClr val="837962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/ 38</a:t>
            </a:r>
            <a:endParaRPr kumimoji="0" lang="en-US" sz="867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CEBFE-4C20-E349-77B6-4E1DAE52F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B13D47D-768B-0920-310C-E35FF5D6EA53}"/>
              </a:ext>
            </a:extLst>
          </p:cNvPr>
          <p:cNvSpPr/>
          <p:nvPr/>
        </p:nvSpPr>
        <p:spPr>
          <a:xfrm>
            <a:off x="465340" y="54075"/>
            <a:ext cx="16205200" cy="60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467" b="1">
                <a:solidFill>
                  <a:srgbClr val="1A3257"/>
                </a:solidFill>
                <a:latin typeface="Georgia" pitchFamily="34" charset="0"/>
              </a:rPr>
              <a:t>Other Departmental Progress: Scrutiny, Recovery &amp; Audit</a:t>
            </a:r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22922E48-1602-1C2C-42B8-5FABD89C13CC}"/>
              </a:ext>
            </a:extLst>
          </p:cNvPr>
          <p:cNvSpPr/>
          <p:nvPr/>
        </p:nvSpPr>
        <p:spPr>
          <a:xfrm>
            <a:off x="762000" y="8631767"/>
            <a:ext cx="14732000" cy="8467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1600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8BC489E7-1025-5D2E-CC27-C28BEA36567D}"/>
              </a:ext>
            </a:extLst>
          </p:cNvPr>
          <p:cNvSpPr/>
          <p:nvPr/>
        </p:nvSpPr>
        <p:spPr>
          <a:xfrm>
            <a:off x="7740518" y="8758767"/>
            <a:ext cx="3022031" cy="19896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 lnSpcReduction="10000"/>
          </a:bodyPr>
          <a:lstStyle/>
          <a:p>
            <a:pPr>
              <a:lnSpc>
                <a:spcPct val="130000"/>
              </a:lnSpc>
            </a:pPr>
            <a:r>
              <a:rPr lang="en-US" sz="867" kern="0" spc="35">
                <a:solidFill>
                  <a:srgbClr val="8379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DETECTION, SCRUTINY, AUDIT &amp; LITIGATION</a:t>
            </a:r>
            <a:endParaRPr lang="en-US" sz="867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994B0192-4F3D-AFBE-F5C2-B7BB496D2E26}"/>
              </a:ext>
            </a:extLst>
          </p:cNvPr>
          <p:cNvSpPr/>
          <p:nvPr/>
        </p:nvSpPr>
        <p:spPr>
          <a:xfrm>
            <a:off x="15000818" y="8758767"/>
            <a:ext cx="560916" cy="19896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 lnSpcReduction="10000"/>
          </a:bodyPr>
          <a:lstStyle/>
          <a:p>
            <a:pPr>
              <a:lnSpc>
                <a:spcPct val="130000"/>
              </a:lnSpc>
            </a:pPr>
            <a:r>
              <a:rPr lang="en-US" sz="867" kern="0" spc="35">
                <a:solidFill>
                  <a:srgbClr val="8379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/ 38</a:t>
            </a:r>
            <a:endParaRPr lang="en-US" sz="867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EB814CCE-93FD-0BEB-CF03-470BB4F211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8921650"/>
              </p:ext>
            </p:extLst>
          </p:nvPr>
        </p:nvGraphicFramePr>
        <p:xfrm>
          <a:off x="641435" y="981739"/>
          <a:ext cx="14732001" cy="173736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136736">
                  <a:extLst>
                    <a:ext uri="{9D8B030D-6E8A-4147-A177-3AD203B41FA5}">
                      <a16:colId xmlns:a16="http://schemas.microsoft.com/office/drawing/2014/main" val="2679888844"/>
                    </a:ext>
                  </a:extLst>
                </a:gridCol>
                <a:gridCol w="3904342">
                  <a:extLst>
                    <a:ext uri="{9D8B030D-6E8A-4147-A177-3AD203B41FA5}">
                      <a16:colId xmlns:a16="http://schemas.microsoft.com/office/drawing/2014/main" val="3345356975"/>
                    </a:ext>
                  </a:extLst>
                </a:gridCol>
                <a:gridCol w="4690923">
                  <a:extLst>
                    <a:ext uri="{9D8B030D-6E8A-4147-A177-3AD203B41FA5}">
                      <a16:colId xmlns:a16="http://schemas.microsoft.com/office/drawing/2014/main" val="39627013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3200"/>
                        <a:t>Particulars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/>
                        <a:t>FY25-26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/>
                        <a:t>FY26-27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23411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200"/>
                        <a:t>Cases Taken Up for Scrutiny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/>
                        <a:t>25,225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/>
                        <a:t>34,401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1281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200"/>
                        <a:t>Revenue Recovery (Overall), Cr.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/>
                        <a:t>129.91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/>
                        <a:t>150.25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0309799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6B089208-7575-DF10-AC5E-DB2BCE2799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510697"/>
              </p:ext>
            </p:extLst>
          </p:nvPr>
        </p:nvGraphicFramePr>
        <p:xfrm>
          <a:off x="714005" y="3221100"/>
          <a:ext cx="14657115" cy="4667729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931423">
                  <a:extLst>
                    <a:ext uri="{9D8B030D-6E8A-4147-A177-3AD203B41FA5}">
                      <a16:colId xmlns:a16="http://schemas.microsoft.com/office/drawing/2014/main" val="2995165784"/>
                    </a:ext>
                  </a:extLst>
                </a:gridCol>
                <a:gridCol w="2931423">
                  <a:extLst>
                    <a:ext uri="{9D8B030D-6E8A-4147-A177-3AD203B41FA5}">
                      <a16:colId xmlns:a16="http://schemas.microsoft.com/office/drawing/2014/main" val="3889133695"/>
                    </a:ext>
                  </a:extLst>
                </a:gridCol>
                <a:gridCol w="2931423">
                  <a:extLst>
                    <a:ext uri="{9D8B030D-6E8A-4147-A177-3AD203B41FA5}">
                      <a16:colId xmlns:a16="http://schemas.microsoft.com/office/drawing/2014/main" val="899508513"/>
                    </a:ext>
                  </a:extLst>
                </a:gridCol>
                <a:gridCol w="2931423">
                  <a:extLst>
                    <a:ext uri="{9D8B030D-6E8A-4147-A177-3AD203B41FA5}">
                      <a16:colId xmlns:a16="http://schemas.microsoft.com/office/drawing/2014/main" val="907225249"/>
                    </a:ext>
                  </a:extLst>
                </a:gridCol>
                <a:gridCol w="2931423">
                  <a:extLst>
                    <a:ext uri="{9D8B030D-6E8A-4147-A177-3AD203B41FA5}">
                      <a16:colId xmlns:a16="http://schemas.microsoft.com/office/drawing/2014/main" val="4061467591"/>
                    </a:ext>
                  </a:extLst>
                </a:gridCol>
              </a:tblGrid>
              <a:tr h="863509">
                <a:tc rowSpan="2">
                  <a:txBody>
                    <a:bodyPr/>
                    <a:lstStyle/>
                    <a:p>
                      <a:pPr algn="ctr"/>
                      <a:r>
                        <a:rPr lang="en-US" sz="3600"/>
                        <a:t>Audit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/>
                        <a:t>FY25-26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2800"/>
                        <a:t>FY26-27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2599218"/>
                  </a:ext>
                </a:extLst>
              </a:tr>
              <a:tr h="64800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/>
                        <a:t>Cases Disposed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/>
                        <a:t>Revenue </a:t>
                      </a:r>
                      <a:r>
                        <a:rPr lang="en-US" sz="3200" b="1" err="1"/>
                        <a:t>Realised</a:t>
                      </a:r>
                      <a:endParaRPr lang="en-US" sz="32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/>
                        <a:t>Cases Disposed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/>
                        <a:t>Revenue </a:t>
                      </a:r>
                      <a:r>
                        <a:rPr lang="en-US" sz="3200" b="1" err="1"/>
                        <a:t>Realised</a:t>
                      </a:r>
                      <a:endParaRPr lang="en-US" sz="3200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8690117"/>
                  </a:ext>
                </a:extLst>
              </a:tr>
              <a:tr h="547484">
                <a:tc>
                  <a:txBody>
                    <a:bodyPr/>
                    <a:lstStyle/>
                    <a:p>
                      <a:r>
                        <a:rPr lang="en-US" sz="2800"/>
                        <a:t>April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2.76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5.67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5300300"/>
                  </a:ext>
                </a:extLst>
              </a:tr>
              <a:tr h="547484">
                <a:tc>
                  <a:txBody>
                    <a:bodyPr/>
                    <a:lstStyle/>
                    <a:p>
                      <a:r>
                        <a:rPr lang="en-US" sz="280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6.10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9.03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5513247"/>
                  </a:ext>
                </a:extLst>
              </a:tr>
              <a:tr h="547484">
                <a:tc>
                  <a:txBody>
                    <a:bodyPr/>
                    <a:lstStyle/>
                    <a:p>
                      <a:r>
                        <a:rPr lang="en-US" sz="2800"/>
                        <a:t>June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179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7.44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267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7.98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415596"/>
                  </a:ext>
                </a:extLst>
              </a:tr>
              <a:tr h="547484">
                <a:tc>
                  <a:txBody>
                    <a:bodyPr/>
                    <a:lstStyle/>
                    <a:p>
                      <a:r>
                        <a:rPr lang="en-US" sz="2800"/>
                        <a:t>July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119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5.58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13.81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275612"/>
                  </a:ext>
                </a:extLst>
              </a:tr>
              <a:tr h="547484">
                <a:tc>
                  <a:txBody>
                    <a:bodyPr/>
                    <a:lstStyle/>
                    <a:p>
                      <a:r>
                        <a:rPr lang="en-US" sz="2800" b="1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b="1"/>
                        <a:t>528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b="1"/>
                        <a:t>21.87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b="1"/>
                        <a:t>809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b="1"/>
                        <a:t>36.49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4156226"/>
                  </a:ext>
                </a:extLst>
              </a:tr>
            </a:tbl>
          </a:graphicData>
        </a:graphic>
      </p:graphicFrame>
      <p:grpSp>
        <p:nvGrpSpPr>
          <p:cNvPr id="21" name="Group 20">
            <a:extLst>
              <a:ext uri="{FF2B5EF4-FFF2-40B4-BE49-F238E27FC236}">
                <a16:creationId xmlns:a16="http://schemas.microsoft.com/office/drawing/2014/main" id="{44EBB9DB-CFA4-4B34-D295-9E58309F6309}"/>
              </a:ext>
            </a:extLst>
          </p:cNvPr>
          <p:cNvGrpSpPr/>
          <p:nvPr/>
        </p:nvGrpSpPr>
        <p:grpSpPr>
          <a:xfrm>
            <a:off x="694265" y="8051801"/>
            <a:ext cx="14306553" cy="579966"/>
            <a:chOff x="694265" y="7667304"/>
            <a:chExt cx="14306553" cy="964463"/>
          </a:xfrm>
        </p:grpSpPr>
        <p:sp>
          <p:nvSpPr>
            <p:cNvPr id="19" name="Shape 51">
              <a:extLst>
                <a:ext uri="{FF2B5EF4-FFF2-40B4-BE49-F238E27FC236}">
                  <a16:creationId xmlns:a16="http://schemas.microsoft.com/office/drawing/2014/main" id="{08DA4EAE-5615-F775-3099-CEC6D015AA1F}"/>
                </a:ext>
              </a:extLst>
            </p:cNvPr>
            <p:cNvSpPr/>
            <p:nvPr/>
          </p:nvSpPr>
          <p:spPr>
            <a:xfrm>
              <a:off x="694265" y="7667304"/>
              <a:ext cx="14306553" cy="964463"/>
            </a:xfrm>
            <a:prstGeom prst="roundRect">
              <a:avLst>
                <a:gd name="adj" fmla="val 9050"/>
              </a:avLst>
            </a:prstGeom>
            <a:solidFill>
              <a:srgbClr val="FFFFFF"/>
            </a:solidFill>
            <a:ln w="9525">
              <a:solidFill>
                <a:srgbClr val="DDD4C2"/>
              </a:solidFill>
              <a:prstDash val="solid"/>
            </a:ln>
            <a:effectLst>
              <a:outerShdw blurRad="28575" dist="9525" dir="5400000" algn="bl" rotWithShape="0">
                <a:srgbClr val="1C1A15">
                  <a:alpha val="8000"/>
                </a:srgbClr>
              </a:outerShdw>
            </a:effectLst>
          </p:spPr>
          <p:txBody>
            <a:bodyPr/>
            <a:lstStyle/>
            <a:p>
              <a:endParaRPr lang="en-IN" sz="3600"/>
            </a:p>
          </p:txBody>
        </p:sp>
        <p:sp>
          <p:nvSpPr>
            <p:cNvPr id="20" name="Text 52">
              <a:extLst>
                <a:ext uri="{FF2B5EF4-FFF2-40B4-BE49-F238E27FC236}">
                  <a16:creationId xmlns:a16="http://schemas.microsoft.com/office/drawing/2014/main" id="{A467C3B6-61CB-D4C8-3D62-B543DABD13CD}"/>
                </a:ext>
              </a:extLst>
            </p:cNvPr>
            <p:cNvSpPr/>
            <p:nvPr/>
          </p:nvSpPr>
          <p:spPr>
            <a:xfrm>
              <a:off x="1562421" y="7738362"/>
              <a:ext cx="12889968" cy="813651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Autofit/>
            </a:bodyPr>
            <a:lstStyle/>
            <a:p>
              <a:pPr marL="0" indent="0" algn="l">
                <a:lnSpc>
                  <a:spcPct val="133333"/>
                </a:lnSpc>
                <a:buNone/>
              </a:pPr>
              <a:r>
                <a:rPr lang="en-US" sz="2000" b="1">
                  <a:solidFill>
                    <a:srgbClr val="4A443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Cases selected based on high-risk parameters and large taxpayers (above ₹10 Cr).</a:t>
              </a:r>
              <a:endParaRPr lang="en-US" sz="2000" b="1"/>
            </a:p>
          </p:txBody>
        </p:sp>
      </p:grpSp>
    </p:spTree>
    <p:extLst>
      <p:ext uri="{BB962C8B-B14F-4D97-AF65-F5344CB8AC3E}">
        <p14:creationId xmlns:p14="http://schemas.microsoft.com/office/powerpoint/2010/main" val="38982323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62000" y="309439"/>
            <a:ext cx="16205200" cy="60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467" b="1">
                <a:solidFill>
                  <a:srgbClr val="1A3257"/>
                </a:solidFill>
                <a:latin typeface="Georgia" pitchFamily="34" charset="0"/>
              </a:rPr>
              <a:t>Litigations</a:t>
            </a:r>
          </a:p>
        </p:txBody>
      </p:sp>
      <p:sp>
        <p:nvSpPr>
          <p:cNvPr id="4" name="Shape 2"/>
          <p:cNvSpPr/>
          <p:nvPr/>
        </p:nvSpPr>
        <p:spPr>
          <a:xfrm>
            <a:off x="829734" y="1096674"/>
            <a:ext cx="14732000" cy="680845"/>
          </a:xfrm>
          <a:prstGeom prst="roundRect">
            <a:avLst>
              <a:gd name="adj" fmla="val 17094"/>
            </a:avLst>
          </a:prstGeom>
          <a:solidFill>
            <a:srgbClr val="ECF6EF"/>
          </a:solidFill>
          <a:ln w="9525">
            <a:solidFill>
              <a:srgbClr val="A6D6B5"/>
            </a:solidFill>
            <a:prstDash val="solid"/>
          </a:ln>
        </p:spPr>
        <p:txBody>
          <a:bodyPr/>
          <a:lstStyle/>
          <a:p>
            <a:pPr defTabSz="812810">
              <a:defRPr/>
            </a:pPr>
            <a:endParaRPr lang="en-IN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83734" y="1230987"/>
            <a:ext cx="7303346" cy="282230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defTabSz="812810">
              <a:lnSpc>
                <a:spcPct val="132353"/>
              </a:lnSpc>
              <a:defRPr/>
            </a:pPr>
            <a:r>
              <a:rPr lang="en-US" sz="1778" b="1" kern="0" spc="60" dirty="0">
                <a:solidFill>
                  <a:srgbClr val="145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 FOR PANEL LAWYERS RECEIVED FOR -</a:t>
            </a:r>
            <a:endParaRPr lang="en-US" sz="1778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7439573" y="1183079"/>
            <a:ext cx="991358" cy="185798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defTabSz="812810">
              <a:lnSpc>
                <a:spcPct val="129545"/>
              </a:lnSpc>
              <a:defRPr/>
            </a:pPr>
            <a:r>
              <a:rPr lang="en-US" sz="2489" b="1" dirty="0">
                <a:solidFill>
                  <a:srgbClr val="1A3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NCLT</a:t>
            </a:r>
            <a:endParaRPr lang="en-US" sz="2489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62000" y="2361314"/>
            <a:ext cx="8656373" cy="497540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defTabSz="812810">
              <a:defRPr/>
            </a:pPr>
            <a:endParaRPr lang="en-IN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880533" y="2466059"/>
            <a:ext cx="6182843" cy="334604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defTabSz="812810">
              <a:lnSpc>
                <a:spcPct val="130263"/>
              </a:lnSpc>
              <a:defRPr/>
            </a:pPr>
            <a:r>
              <a:rPr lang="en-US" sz="2133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Forum — Permission Pending</a:t>
            </a:r>
            <a:endParaRPr lang="en-US" sz="2133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7040752" y="2466059"/>
            <a:ext cx="2259088" cy="334604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algn="r" defTabSz="812810">
              <a:lnSpc>
                <a:spcPct val="130263"/>
              </a:lnSpc>
              <a:defRPr/>
            </a:pPr>
            <a:r>
              <a:rPr lang="en-US" sz="2133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Cases</a:t>
            </a:r>
            <a:endParaRPr lang="en-US" sz="2133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62000" y="3350575"/>
            <a:ext cx="8656373" cy="11638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pPr defTabSz="812810">
              <a:defRPr/>
            </a:pPr>
            <a:endParaRPr lang="en-IN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80533" y="2963599"/>
            <a:ext cx="6182843" cy="34042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defTabSz="812810">
              <a:lnSpc>
                <a:spcPct val="130263"/>
              </a:lnSpc>
              <a:defRPr/>
            </a:pPr>
            <a:r>
              <a:rPr lang="en-US" sz="2133" dirty="0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Supreme Court</a:t>
            </a:r>
            <a:endParaRPr lang="en-US" sz="2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040752" y="2963599"/>
            <a:ext cx="2259088" cy="34042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algn="r" defTabSz="812810">
              <a:lnSpc>
                <a:spcPct val="130263"/>
              </a:lnSpc>
              <a:defRPr/>
            </a:pPr>
            <a:r>
              <a:rPr lang="en-US" sz="2133">
                <a:solidFill>
                  <a:srgbClr val="322E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421</a:t>
            </a:r>
            <a:endParaRPr lang="en-US" sz="2133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62000" y="3362212"/>
            <a:ext cx="8656373" cy="509179"/>
          </a:xfrm>
          <a:prstGeom prst="rect">
            <a:avLst/>
          </a:prstGeom>
          <a:solidFill>
            <a:srgbClr val="FAF7F1"/>
          </a:solidFill>
          <a:ln/>
        </p:spPr>
        <p:txBody>
          <a:bodyPr/>
          <a:lstStyle/>
          <a:p>
            <a:pPr defTabSz="812810">
              <a:defRPr/>
            </a:pPr>
            <a:endParaRPr lang="en-IN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2000" y="3859754"/>
            <a:ext cx="8656373" cy="11638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pPr defTabSz="812810">
              <a:defRPr/>
            </a:pPr>
            <a:endParaRPr lang="en-IN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80533" y="3466957"/>
            <a:ext cx="6182843" cy="34624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defTabSz="812810">
              <a:lnSpc>
                <a:spcPct val="130263"/>
              </a:lnSpc>
              <a:defRPr/>
            </a:pPr>
            <a:r>
              <a:rPr lang="en-US" sz="2133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Rajasthan High Court — Jodhpur (Principal Seat)</a:t>
            </a:r>
            <a:endParaRPr lang="en-US" sz="2133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040752" y="3466957"/>
            <a:ext cx="2259088" cy="34624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algn="r" defTabSz="812810">
              <a:lnSpc>
                <a:spcPct val="130263"/>
              </a:lnSpc>
              <a:defRPr/>
            </a:pPr>
            <a:r>
              <a:rPr lang="en-US" sz="2133">
                <a:solidFill>
                  <a:srgbClr val="322E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535</a:t>
            </a:r>
            <a:endParaRPr lang="en-US" sz="2133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62000" y="4368932"/>
            <a:ext cx="8656373" cy="11638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pPr defTabSz="812810">
              <a:defRPr/>
            </a:pPr>
            <a:endParaRPr lang="en-IN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80533" y="3976136"/>
            <a:ext cx="6182843" cy="34624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defTabSz="812810">
              <a:lnSpc>
                <a:spcPct val="130263"/>
              </a:lnSpc>
              <a:defRPr/>
            </a:pPr>
            <a:r>
              <a:rPr lang="en-US" sz="2133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Rajasthan High Court — Jaipur Bench</a:t>
            </a:r>
            <a:endParaRPr lang="en-US" sz="2133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040752" y="3976136"/>
            <a:ext cx="2259088" cy="34624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algn="r" defTabSz="812810">
              <a:lnSpc>
                <a:spcPct val="130263"/>
              </a:lnSpc>
              <a:defRPr/>
            </a:pPr>
            <a:r>
              <a:rPr lang="en-US" sz="2133" b="1">
                <a:solidFill>
                  <a:srgbClr val="8A37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1,609</a:t>
            </a:r>
            <a:endParaRPr lang="en-US" sz="2133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62000" y="4380570"/>
            <a:ext cx="8656373" cy="509179"/>
          </a:xfrm>
          <a:prstGeom prst="rect">
            <a:avLst/>
          </a:prstGeom>
          <a:solidFill>
            <a:srgbClr val="FAF7F1"/>
          </a:solidFill>
          <a:ln/>
        </p:spPr>
        <p:txBody>
          <a:bodyPr/>
          <a:lstStyle/>
          <a:p>
            <a:pPr defTabSz="812810">
              <a:defRPr/>
            </a:pPr>
            <a:endParaRPr lang="en-IN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62000" y="4878111"/>
            <a:ext cx="8656373" cy="11638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pPr defTabSz="812810">
              <a:defRPr/>
            </a:pPr>
            <a:endParaRPr lang="en-IN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80533" y="4485316"/>
            <a:ext cx="6182843" cy="34624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defTabSz="812810">
              <a:lnSpc>
                <a:spcPct val="130263"/>
              </a:lnSpc>
              <a:defRPr/>
            </a:pPr>
            <a:r>
              <a:rPr lang="en-US" sz="2133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RCSAT Court</a:t>
            </a:r>
            <a:endParaRPr lang="en-US" sz="2133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040752" y="4485316"/>
            <a:ext cx="2259088" cy="34624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algn="r" defTabSz="812810">
              <a:lnSpc>
                <a:spcPct val="130263"/>
              </a:lnSpc>
              <a:defRPr/>
            </a:pPr>
            <a:r>
              <a:rPr lang="en-US" sz="2133">
                <a:solidFill>
                  <a:srgbClr val="322E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2133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62000" y="5387289"/>
            <a:ext cx="8656373" cy="11638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pPr defTabSz="812810">
              <a:defRPr/>
            </a:pPr>
            <a:endParaRPr lang="en-IN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80533" y="4994494"/>
            <a:ext cx="6182843" cy="34624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defTabSz="812810">
              <a:lnSpc>
                <a:spcPct val="130263"/>
              </a:lnSpc>
              <a:defRPr/>
            </a:pPr>
            <a:r>
              <a:rPr lang="en-US" sz="2133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State High Courts</a:t>
            </a:r>
            <a:endParaRPr lang="en-US" sz="2133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7040752" y="4994494"/>
            <a:ext cx="2259088" cy="34624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algn="r" defTabSz="812810">
              <a:lnSpc>
                <a:spcPct val="130263"/>
              </a:lnSpc>
              <a:defRPr/>
            </a:pPr>
            <a:r>
              <a:rPr lang="en-US" sz="2133">
                <a:solidFill>
                  <a:srgbClr val="322E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133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62000" y="5398926"/>
            <a:ext cx="8656373" cy="509179"/>
          </a:xfrm>
          <a:prstGeom prst="rect">
            <a:avLst/>
          </a:prstGeom>
          <a:solidFill>
            <a:srgbClr val="FAF7F1"/>
          </a:solidFill>
          <a:ln/>
        </p:spPr>
        <p:txBody>
          <a:bodyPr/>
          <a:lstStyle/>
          <a:p>
            <a:pPr defTabSz="812810">
              <a:defRPr/>
            </a:pPr>
            <a:endParaRPr lang="en-IN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62000" y="5896467"/>
            <a:ext cx="8656373" cy="11638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pPr defTabSz="812810">
              <a:defRPr/>
            </a:pPr>
            <a:endParaRPr lang="en-IN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80533" y="5503671"/>
            <a:ext cx="6182843" cy="34624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defTabSz="812810">
              <a:lnSpc>
                <a:spcPct val="130263"/>
              </a:lnSpc>
              <a:defRPr/>
            </a:pPr>
            <a:r>
              <a:rPr lang="en-US" sz="2133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 Offences Court</a:t>
            </a:r>
            <a:endParaRPr lang="en-US" sz="2133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040752" y="5503671"/>
            <a:ext cx="2259088" cy="34624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algn="r" defTabSz="812810">
              <a:lnSpc>
                <a:spcPct val="130263"/>
              </a:lnSpc>
              <a:defRPr/>
            </a:pPr>
            <a:r>
              <a:rPr lang="en-US" sz="2133">
                <a:solidFill>
                  <a:srgbClr val="322E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2133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762000" y="6405646"/>
            <a:ext cx="8656373" cy="11638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pPr defTabSz="812810">
              <a:defRPr/>
            </a:pPr>
            <a:endParaRPr lang="en-IN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80533" y="6012850"/>
            <a:ext cx="6182843" cy="34624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defTabSz="812810">
              <a:lnSpc>
                <a:spcPct val="130263"/>
              </a:lnSpc>
              <a:defRPr/>
            </a:pPr>
            <a:r>
              <a:rPr lang="en-US" sz="2133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 Board &amp; Revenue Board</a:t>
            </a:r>
            <a:endParaRPr lang="en-US" sz="2133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7040752" y="6012850"/>
            <a:ext cx="2259088" cy="34624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algn="r" defTabSz="812810">
              <a:lnSpc>
                <a:spcPct val="130263"/>
              </a:lnSpc>
              <a:defRPr/>
            </a:pPr>
            <a:r>
              <a:rPr lang="en-US" sz="2133">
                <a:solidFill>
                  <a:srgbClr val="322E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330</a:t>
            </a:r>
            <a:endParaRPr lang="en-US" sz="2133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62000" y="6417284"/>
            <a:ext cx="8656373" cy="509179"/>
          </a:xfrm>
          <a:prstGeom prst="rect">
            <a:avLst/>
          </a:prstGeom>
          <a:solidFill>
            <a:srgbClr val="FAF7F1"/>
          </a:solidFill>
          <a:ln/>
        </p:spPr>
        <p:txBody>
          <a:bodyPr/>
          <a:lstStyle/>
          <a:p>
            <a:pPr defTabSz="812810">
              <a:defRPr/>
            </a:pPr>
            <a:endParaRPr lang="en-IN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762000" y="6914825"/>
            <a:ext cx="8656373" cy="11638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pPr defTabSz="812810">
              <a:defRPr/>
            </a:pPr>
            <a:endParaRPr lang="en-IN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80533" y="6522029"/>
            <a:ext cx="6182843" cy="34624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defTabSz="812810">
              <a:lnSpc>
                <a:spcPct val="130263"/>
              </a:lnSpc>
              <a:defRPr/>
            </a:pPr>
            <a:r>
              <a:rPr lang="en-US" sz="2133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GSTAT</a:t>
            </a:r>
            <a:endParaRPr lang="en-US" sz="2133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7040752" y="6522029"/>
            <a:ext cx="2259088" cy="34624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algn="r" defTabSz="812810">
              <a:lnSpc>
                <a:spcPct val="130263"/>
              </a:lnSpc>
              <a:defRPr/>
            </a:pPr>
            <a:r>
              <a:rPr lang="en-US" sz="2133">
                <a:solidFill>
                  <a:srgbClr val="322E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182</a:t>
            </a:r>
            <a:endParaRPr lang="en-US" sz="2133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762000" y="7429822"/>
            <a:ext cx="8656373" cy="11638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pPr defTabSz="812810">
              <a:defRPr/>
            </a:pPr>
            <a:endParaRPr lang="en-IN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80533" y="7031208"/>
            <a:ext cx="6182843" cy="352060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defTabSz="812810">
              <a:lnSpc>
                <a:spcPct val="130263"/>
              </a:lnSpc>
              <a:defRPr/>
            </a:pPr>
            <a:r>
              <a:rPr lang="en-US" sz="2133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NCLT + NCLAT + CSTAA + CESTAT + Others</a:t>
            </a:r>
            <a:endParaRPr lang="en-US" sz="2133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7040752" y="7031208"/>
            <a:ext cx="2259088" cy="352060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algn="r" defTabSz="812810">
              <a:lnSpc>
                <a:spcPct val="130263"/>
              </a:lnSpc>
              <a:defRPr/>
            </a:pPr>
            <a:r>
              <a:rPr lang="en-US" sz="2133">
                <a:solidFill>
                  <a:srgbClr val="322E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74</a:t>
            </a:r>
            <a:endParaRPr lang="en-US" sz="2133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762000" y="7441460"/>
            <a:ext cx="8656373" cy="555732"/>
          </a:xfrm>
          <a:prstGeom prst="rect">
            <a:avLst/>
          </a:prstGeom>
          <a:solidFill>
            <a:srgbClr val="FDF3EC"/>
          </a:solidFill>
          <a:ln/>
        </p:spPr>
        <p:txBody>
          <a:bodyPr/>
          <a:lstStyle/>
          <a:p>
            <a:pPr defTabSz="812810">
              <a:defRPr/>
            </a:pPr>
            <a:endParaRPr lang="en-IN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762000" y="7441460"/>
            <a:ext cx="8656373" cy="23276"/>
          </a:xfrm>
          <a:prstGeom prst="rect">
            <a:avLst/>
          </a:prstGeom>
          <a:solidFill>
            <a:srgbClr val="C8551F"/>
          </a:solidFill>
          <a:ln/>
        </p:spPr>
        <p:txBody>
          <a:bodyPr/>
          <a:lstStyle/>
          <a:p>
            <a:pPr defTabSz="812810">
              <a:defRPr/>
            </a:pPr>
            <a:endParaRPr lang="en-IN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880533" y="7569482"/>
            <a:ext cx="6182843" cy="34624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defTabSz="812810">
              <a:lnSpc>
                <a:spcPct val="130263"/>
              </a:lnSpc>
              <a:defRPr/>
            </a:pPr>
            <a:r>
              <a:rPr lang="en-US" sz="2133" b="1">
                <a:solidFill>
                  <a:srgbClr val="1A3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2133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7040752" y="7569482"/>
            <a:ext cx="2259088" cy="34624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algn="r" defTabSz="812810">
              <a:lnSpc>
                <a:spcPct val="130263"/>
              </a:lnSpc>
              <a:defRPr/>
            </a:pPr>
            <a:r>
              <a:rPr lang="en-US" sz="2133" b="1">
                <a:solidFill>
                  <a:srgbClr val="8A37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3,195</a:t>
            </a:r>
            <a:endParaRPr lang="en-US" sz="2133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9934765" y="6094078"/>
            <a:ext cx="5770827" cy="1906043"/>
          </a:xfrm>
          <a:prstGeom prst="roundRect">
            <a:avLst>
              <a:gd name="adj" fmla="val 3728"/>
            </a:avLst>
          </a:prstGeom>
          <a:solidFill>
            <a:srgbClr val="FFFFFF"/>
          </a:solidFill>
          <a:ln w="9525">
            <a:solidFill>
              <a:srgbClr val="DDD4C2"/>
            </a:solidFill>
            <a:prstDash val="solid"/>
          </a:ln>
          <a:effectLst>
            <a:outerShdw blurRad="28575" dist="9525" dir="5400000" algn="bl" rotWithShape="0">
              <a:srgbClr val="1C1A15">
                <a:alpha val="8000"/>
              </a:srgbClr>
            </a:outerShdw>
          </a:effectLst>
        </p:spPr>
        <p:txBody>
          <a:bodyPr/>
          <a:lstStyle/>
          <a:p>
            <a:pPr defTabSz="812810">
              <a:defRPr/>
            </a:pPr>
            <a:endParaRPr lang="en-IN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0246681" y="6236734"/>
            <a:ext cx="5882244" cy="290959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defTabSz="812810">
              <a:lnSpc>
                <a:spcPct val="131250"/>
              </a:lnSpc>
              <a:defRPr/>
            </a:pPr>
            <a:r>
              <a:rPr lang="en-US" sz="1600" b="1" kern="0" spc="93" dirty="0">
                <a:solidFill>
                  <a:srgbClr val="1F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1ST APPELLATE AUTHORITIES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0260726" y="6616612"/>
            <a:ext cx="827708" cy="509178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defTabSz="812810">
              <a:lnSpc>
                <a:spcPct val="135484"/>
              </a:lnSpc>
              <a:defRPr/>
            </a:pPr>
            <a:r>
              <a:rPr lang="en-US" sz="3556" b="1" dirty="0">
                <a:solidFill>
                  <a:srgbClr val="1A3257"/>
                </a:solidFill>
                <a:latin typeface="Courier New" pitchFamily="34" charset="0"/>
                <a:cs typeface="Courier New" pitchFamily="34" charset="-120"/>
              </a:rPr>
              <a:t>10</a:t>
            </a:r>
            <a:endParaRPr lang="en-US" sz="355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0982237" y="6840313"/>
            <a:ext cx="4687956" cy="1120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2578" tIns="22578" rIns="22578" bIns="22578" rtlCol="0" anchor="t">
            <a:normAutofit fontScale="92500" lnSpcReduction="20000"/>
          </a:bodyPr>
          <a:lstStyle/>
          <a:p>
            <a:pPr defTabSz="812810">
              <a:lnSpc>
                <a:spcPct val="123529"/>
              </a:lnSpc>
              <a:defRPr/>
            </a:pPr>
            <a:r>
              <a:rPr lang="en-US" sz="2400" dirty="0">
                <a:solidFill>
                  <a:srgbClr val="4A4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Additional Commissioners handling cases with the 1st Appellate Authorities – </a:t>
            </a:r>
            <a:r>
              <a:rPr lang="en-US" sz="2400" b="1" dirty="0">
                <a:solidFill>
                  <a:srgbClr val="4A4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15359</a:t>
            </a:r>
            <a:endParaRPr lang="en-US" sz="2400" b="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762000" y="8904768"/>
            <a:ext cx="14732000" cy="8467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pPr defTabSz="812810">
              <a:defRPr/>
            </a:pPr>
            <a:endParaRPr lang="en-IN" sz="16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15000818" y="9031768"/>
            <a:ext cx="560916" cy="19896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 lnSpcReduction="10000"/>
          </a:bodyPr>
          <a:lstStyle/>
          <a:p>
            <a:pPr defTabSz="812810">
              <a:lnSpc>
                <a:spcPct val="130000"/>
              </a:lnSpc>
              <a:defRPr/>
            </a:pPr>
            <a:r>
              <a:rPr lang="en-US" sz="867" kern="0" spc="35">
                <a:solidFill>
                  <a:srgbClr val="8379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/ 38</a:t>
            </a:r>
            <a:endParaRPr lang="en-US" sz="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2">
            <a:extLst>
              <a:ext uri="{FF2B5EF4-FFF2-40B4-BE49-F238E27FC236}">
                <a16:creationId xmlns:a16="http://schemas.microsoft.com/office/drawing/2014/main" id="{4B2A6CBF-F341-B1AE-06F3-2CECF41AD16A}"/>
              </a:ext>
            </a:extLst>
          </p:cNvPr>
          <p:cNvSpPr/>
          <p:nvPr/>
        </p:nvSpPr>
        <p:spPr>
          <a:xfrm>
            <a:off x="9934765" y="2355631"/>
            <a:ext cx="5770827" cy="3540836"/>
          </a:xfrm>
          <a:prstGeom prst="roundRect">
            <a:avLst>
              <a:gd name="adj" fmla="val 17094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accent2"/>
            </a:solidFill>
            <a:prstDash val="solid"/>
          </a:ln>
        </p:spPr>
        <p:txBody>
          <a:bodyPr/>
          <a:lstStyle/>
          <a:p>
            <a:pPr defTabSz="812810">
              <a:defRPr/>
            </a:pPr>
            <a:r>
              <a:rPr lang="en-US" sz="2000" b="1" kern="0" spc="60">
                <a:solidFill>
                  <a:schemeClr val="accent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 FOR PANEL LAWYERS PENDING FOR:</a:t>
            </a:r>
          </a:p>
          <a:p>
            <a:pPr defTabSz="812810">
              <a:defRPr/>
            </a:pPr>
            <a:endParaRPr lang="en-US" sz="2000" b="1" kern="0" spc="60">
              <a:solidFill>
                <a:schemeClr val="accent2">
                  <a:lumMod val="75000"/>
                </a:schemeClr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342900" indent="-342900" defTabSz="812810">
              <a:buFont typeface="Arial" panose="020B0604020202020204" pitchFamily="34" charset="0"/>
              <a:buChar char="•"/>
              <a:defRPr/>
            </a:pPr>
            <a:r>
              <a:rPr lang="en-US" sz="2000" b="1" kern="0" spc="60">
                <a:solidFill>
                  <a:schemeClr val="accent2">
                    <a:lumMod val="75000"/>
                  </a:schemeClr>
                </a:solidFill>
                <a:latin typeface="Arial" pitchFamily="34" charset="0"/>
                <a:cs typeface="Arial" pitchFamily="34" charset="-120"/>
              </a:rPr>
              <a:t>Revenue Board</a:t>
            </a:r>
          </a:p>
          <a:p>
            <a:pPr marL="342900" indent="-342900" defTabSz="812810">
              <a:buFont typeface="Arial" panose="020B0604020202020204" pitchFamily="34" charset="0"/>
              <a:buChar char="•"/>
              <a:defRPr/>
            </a:pPr>
            <a:r>
              <a:rPr lang="en-US" sz="2000" b="1" kern="0" spc="60">
                <a:solidFill>
                  <a:schemeClr val="accent2">
                    <a:lumMod val="75000"/>
                  </a:schemeClr>
                </a:solidFill>
                <a:latin typeface="Arial" pitchFamily="34" charset="0"/>
                <a:cs typeface="Arial" pitchFamily="34" charset="-120"/>
              </a:rPr>
              <a:t>GSTAT</a:t>
            </a:r>
          </a:p>
          <a:p>
            <a:pPr marL="342900" indent="-342900" defTabSz="812810">
              <a:buFont typeface="Arial" panose="020B0604020202020204" pitchFamily="34" charset="0"/>
              <a:buChar char="•"/>
              <a:defRPr/>
            </a:pPr>
            <a:r>
              <a:rPr lang="en-US" sz="2000" b="1" kern="0" spc="60">
                <a:solidFill>
                  <a:schemeClr val="accent2">
                    <a:lumMod val="75000"/>
                  </a:schemeClr>
                </a:solidFill>
                <a:latin typeface="Arial" pitchFamily="34" charset="0"/>
                <a:cs typeface="Arial" pitchFamily="34" charset="-120"/>
              </a:rPr>
              <a:t>NCLAT</a:t>
            </a:r>
          </a:p>
          <a:p>
            <a:pPr marL="342900" indent="-342900" defTabSz="812810">
              <a:buFont typeface="Arial" panose="020B0604020202020204" pitchFamily="34" charset="0"/>
              <a:buChar char="•"/>
              <a:defRPr/>
            </a:pPr>
            <a:r>
              <a:rPr lang="en-US" sz="2000" b="1" kern="0" spc="60">
                <a:solidFill>
                  <a:schemeClr val="accent2">
                    <a:lumMod val="75000"/>
                  </a:schemeClr>
                </a:solidFill>
                <a:latin typeface="Arial" pitchFamily="34" charset="0"/>
                <a:cs typeface="Arial" pitchFamily="34" charset="-120"/>
              </a:rPr>
              <a:t>CSTAA</a:t>
            </a:r>
          </a:p>
          <a:p>
            <a:pPr marL="342900" indent="-342900" defTabSz="812810">
              <a:buFont typeface="Arial" panose="020B0604020202020204" pitchFamily="34" charset="0"/>
              <a:buChar char="•"/>
              <a:defRPr/>
            </a:pPr>
            <a:r>
              <a:rPr lang="en-US" sz="2000" b="1" kern="0" spc="60">
                <a:solidFill>
                  <a:schemeClr val="accent2">
                    <a:lumMod val="75000"/>
                  </a:schemeClr>
                </a:solidFill>
                <a:latin typeface="Arial" pitchFamily="34" charset="0"/>
                <a:cs typeface="Arial" pitchFamily="34" charset="-120"/>
              </a:rPr>
              <a:t>CESTAT</a:t>
            </a:r>
          </a:p>
          <a:p>
            <a:pPr marL="342900" indent="-342900" defTabSz="812810">
              <a:buFont typeface="Arial" panose="020B0604020202020204" pitchFamily="34" charset="0"/>
              <a:buChar char="•"/>
              <a:defRPr/>
            </a:pPr>
            <a:r>
              <a:rPr lang="en-US" sz="2000" b="1" kern="0" spc="60">
                <a:solidFill>
                  <a:schemeClr val="accent2">
                    <a:lumMod val="75000"/>
                  </a:schemeClr>
                </a:solidFill>
                <a:latin typeface="Arial" pitchFamily="34" charset="0"/>
                <a:cs typeface="Arial" pitchFamily="34" charset="-120"/>
              </a:rPr>
              <a:t>Rajasthan High Court – Single Bench</a:t>
            </a:r>
            <a:endParaRPr lang="en-IN" sz="2000">
              <a:solidFill>
                <a:schemeClr val="accent2">
                  <a:lumMod val="75000"/>
                </a:schemeClr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4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600</TotalTime>
  <Words>3113</Words>
  <Application>Microsoft Office PowerPoint</Application>
  <PresentationFormat>Custom</PresentationFormat>
  <Paragraphs>839</Paragraphs>
  <Slides>24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24</vt:i4>
      </vt:variant>
    </vt:vector>
  </HeadingPairs>
  <TitlesOfParts>
    <vt:vector size="36" baseType="lpstr">
      <vt:lpstr>Aptos</vt:lpstr>
      <vt:lpstr>Aptos Narrow</vt:lpstr>
      <vt:lpstr>Arial</vt:lpstr>
      <vt:lpstr>Calibri</vt:lpstr>
      <vt:lpstr>Calibri Light</vt:lpstr>
      <vt:lpstr>Cambria</vt:lpstr>
      <vt:lpstr>Courier New</vt:lpstr>
      <vt:lpstr>Georgia</vt:lpstr>
      <vt:lpstr>Office Theme</vt:lpstr>
      <vt:lpstr>2_Office Theme</vt:lpstr>
      <vt:lpstr>3_Office Theme</vt:lpstr>
      <vt:lpstr>4_Office Theme</vt:lpstr>
      <vt:lpstr>GST &amp; VAT Revenue Apr to July</vt:lpstr>
      <vt:lpstr>Revenue &amp; Turnover Analysis Apr to July (2025 vs 2026)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Inter-departmental data sources</vt:lpstr>
      <vt:lpstr>PowerPoint Presentation</vt:lpstr>
      <vt:lpstr>Inter-departmental data sources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Meeting with Secretary Revenue, GOI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saty</dc:creator>
  <cp:lastModifiedBy>Giri, Sanjay</cp:lastModifiedBy>
  <cp:revision>20</cp:revision>
  <cp:lastPrinted>2026-07-06T06:08:31Z</cp:lastPrinted>
  <dcterms:created xsi:type="dcterms:W3CDTF">2006-08-16T00:00:00Z</dcterms:created>
  <dcterms:modified xsi:type="dcterms:W3CDTF">2026-08-03T11:11:19Z</dcterms:modified>
</cp:coreProperties>
</file>