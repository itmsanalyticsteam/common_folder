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31"/>
  </p:notesMasterIdLst>
  <p:sldIdLst>
    <p:sldId id="257" r:id="rId3"/>
    <p:sldId id="258" r:id="rId4"/>
    <p:sldId id="268" r:id="rId5"/>
    <p:sldId id="300" r:id="rId6"/>
    <p:sldId id="307" r:id="rId7"/>
    <p:sldId id="301" r:id="rId8"/>
    <p:sldId id="256" r:id="rId9"/>
    <p:sldId id="298" r:id="rId10"/>
    <p:sldId id="299" r:id="rId11"/>
    <p:sldId id="284" r:id="rId12"/>
    <p:sldId id="282" r:id="rId13"/>
    <p:sldId id="306" r:id="rId14"/>
    <p:sldId id="285" r:id="rId15"/>
    <p:sldId id="281" r:id="rId16"/>
    <p:sldId id="277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5" r:id="rId25"/>
    <p:sldId id="296" r:id="rId26"/>
    <p:sldId id="302" r:id="rId27"/>
    <p:sldId id="305" r:id="rId28"/>
    <p:sldId id="304" r:id="rId29"/>
    <p:sldId id="29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3D64"/>
    <a:srgbClr val="FFFFFF"/>
    <a:srgbClr val="203864"/>
    <a:srgbClr val="4A56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111" autoAdjust="0"/>
  </p:normalViewPr>
  <p:slideViewPr>
    <p:cSldViewPr snapToGrid="0">
      <p:cViewPr>
        <p:scale>
          <a:sx n="48" d="100"/>
          <a:sy n="48" d="100"/>
        </p:scale>
        <p:origin x="12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28129-97BC-4133-946F-FD1EF19D8F3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DA899B-ECBC-456F-9C95-F4FD0A628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253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21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DCDBA-7D15-FBD0-1DDA-1D39A7432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4B4483-E735-481E-787F-BDEFF7275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795EA-6658-7EB0-C792-2DCDB85E9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DE0E4-75DB-FF74-F798-DD086C1059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74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DCDBA-7D15-FBD0-1DDA-1D39A7432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4B4483-E735-481E-787F-BDEFF7275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795EA-6658-7EB0-C792-2DCDB85E9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DE0E4-75DB-FF74-F798-DD086C1059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14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5EC6E-233C-5F8C-0607-6CA61E358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9597BA-C783-CC67-A688-0B43C0F6C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3C4496-8E79-68DF-E765-7A67DE198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69EF3-9077-D6BD-10AC-CD513D0D1B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029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EAC64-9D7A-5338-2749-49457164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F18A03-D258-76D6-F9E3-755D3C88D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31409D-F3BF-312C-6217-67664437D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F4EDF-60E2-C8EA-D136-2323F8F447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6775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5651A-5690-AB45-5F48-32343CC76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D6F823-BEB8-9172-DFDD-FA49AFBCB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D99EC-490A-2D96-C5A7-472496343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101D2-59FC-0E93-136F-E402567B24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2258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03FF04F-669F-CB44-251A-4257FA8B6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:notes">
            <a:extLst>
              <a:ext uri="{FF2B5EF4-FFF2-40B4-BE49-F238E27FC236}">
                <a16:creationId xmlns:a16="http://schemas.microsoft.com/office/drawing/2014/main" id="{4AE85AC9-3C42-E569-678C-68ABB5357E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:notes">
            <a:extLst>
              <a:ext uri="{FF2B5EF4-FFF2-40B4-BE49-F238E27FC236}">
                <a16:creationId xmlns:a16="http://schemas.microsoft.com/office/drawing/2014/main" id="{4934A5FA-76A5-3156-6146-9B76DA51B8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86812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10B7D-1FD9-C6EB-5571-C199B0B1B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9D011-FB1F-E198-6815-C99050B58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805FD-C1EB-97DA-378A-42BBA9816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AF0E1-63C2-20C7-698C-62A078E933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094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0" name="Google Shape;470;p10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1" name="Google Shape;471;p10:notes"/>
          <p:cNvSpPr txBox="1">
            <a:spLocks noGrp="1"/>
          </p:cNvSpPr>
          <p:nvPr>
            <p:ph type="sldNum" idx="12"/>
          </p:nvPr>
        </p:nvSpPr>
        <p:spPr>
          <a:xfrm>
            <a:off x="5180013" y="4886325"/>
            <a:ext cx="39624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4" name="Google Shape;484;p11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5" name="Google Shape;485;p11:notes"/>
          <p:cNvSpPr txBox="1">
            <a:spLocks noGrp="1"/>
          </p:cNvSpPr>
          <p:nvPr>
            <p:ph type="sldNum" idx="12"/>
          </p:nvPr>
        </p:nvSpPr>
        <p:spPr>
          <a:xfrm>
            <a:off x="5180013" y="4886325"/>
            <a:ext cx="39624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p12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6" name="Google Shape;506;p12:notes"/>
          <p:cNvSpPr txBox="1">
            <a:spLocks noGrp="1"/>
          </p:cNvSpPr>
          <p:nvPr>
            <p:ph type="sldNum" idx="12"/>
          </p:nvPr>
        </p:nvSpPr>
        <p:spPr>
          <a:xfrm>
            <a:off x="5180013" y="4886325"/>
            <a:ext cx="39624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</a:rPr>
              <a:t>18</a:t>
            </a:fld>
            <a:endParaRPr sz="1200" b="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5701F-5B58-1F70-26F0-E60F585DE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00CDBE-764A-ED3F-C774-445E3329E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028950" y="642938"/>
            <a:ext cx="3086100" cy="17367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8C3F8-8C76-6475-0974-E666AA9F8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57F6B-024C-1954-FFA7-28C0CB160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13E34A-BCC9-43EE-88DE-AEA86A12D560}" type="slidenum">
              <a:rPr kumimoji="0" lang="en-IN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663404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4" name="Google Shape;544;p14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5" name="Google Shape;545;p14:notes"/>
          <p:cNvSpPr txBox="1">
            <a:spLocks noGrp="1"/>
          </p:cNvSpPr>
          <p:nvPr>
            <p:ph type="sldNum" idx="12"/>
          </p:nvPr>
        </p:nvSpPr>
        <p:spPr>
          <a:xfrm>
            <a:off x="5180013" y="4886325"/>
            <a:ext cx="39624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E050C-FF1A-1F43-59C9-F7B67E4A8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AA6B2-2A92-F4A1-3B50-850B3AE74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028950" y="642938"/>
            <a:ext cx="3086100" cy="17367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D6782-BAF2-7811-877A-8C5E60982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3C9E3-D08B-FA81-B04C-A79998BFF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13E34A-BCC9-43EE-88DE-AEA86A12D560}" type="slidenum">
              <a:rPr kumimoji="0" lang="en-IN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465747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p18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7" name="Google Shape;637;p18:notes"/>
          <p:cNvSpPr txBox="1">
            <a:spLocks noGrp="1"/>
          </p:cNvSpPr>
          <p:nvPr>
            <p:ph type="sldNum" idx="12"/>
          </p:nvPr>
        </p:nvSpPr>
        <p:spPr>
          <a:xfrm>
            <a:off x="5180013" y="4886325"/>
            <a:ext cx="39624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>
          <a:extLst>
            <a:ext uri="{FF2B5EF4-FFF2-40B4-BE49-F238E27FC236}">
              <a16:creationId xmlns:a16="http://schemas.microsoft.com/office/drawing/2014/main" id="{B7580E36-9E66-348C-70B6-1F6375A5C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8:notes">
            <a:extLst>
              <a:ext uri="{FF2B5EF4-FFF2-40B4-BE49-F238E27FC236}">
                <a16:creationId xmlns:a16="http://schemas.microsoft.com/office/drawing/2014/main" id="{EA92DDCB-38A2-F85A-2099-D1AA1BA240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p18:notes">
            <a:extLst>
              <a:ext uri="{FF2B5EF4-FFF2-40B4-BE49-F238E27FC236}">
                <a16:creationId xmlns:a16="http://schemas.microsoft.com/office/drawing/2014/main" id="{55F1FC28-9DFE-2A0A-3DE3-2C90725C02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7" name="Google Shape;637;p18:notes">
            <a:extLst>
              <a:ext uri="{FF2B5EF4-FFF2-40B4-BE49-F238E27FC236}">
                <a16:creationId xmlns:a16="http://schemas.microsoft.com/office/drawing/2014/main" id="{777C43DD-1561-C570-103D-A3D32F67CB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4886325"/>
            <a:ext cx="39624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05741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>
          <a:extLst>
            <a:ext uri="{FF2B5EF4-FFF2-40B4-BE49-F238E27FC236}">
              <a16:creationId xmlns:a16="http://schemas.microsoft.com/office/drawing/2014/main" id="{59E813CB-A6A8-2C8B-592C-F0F0324B4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8:notes">
            <a:extLst>
              <a:ext uri="{FF2B5EF4-FFF2-40B4-BE49-F238E27FC236}">
                <a16:creationId xmlns:a16="http://schemas.microsoft.com/office/drawing/2014/main" id="{9B176392-7AED-E0F4-59C3-3405DD2720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p18:notes">
            <a:extLst>
              <a:ext uri="{FF2B5EF4-FFF2-40B4-BE49-F238E27FC236}">
                <a16:creationId xmlns:a16="http://schemas.microsoft.com/office/drawing/2014/main" id="{80564F69-2185-A4C4-590C-717B39A8AE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7" name="Google Shape;637;p18:notes">
            <a:extLst>
              <a:ext uri="{FF2B5EF4-FFF2-40B4-BE49-F238E27FC236}">
                <a16:creationId xmlns:a16="http://schemas.microsoft.com/office/drawing/2014/main" id="{BE62FC9F-4037-3DEC-3F94-B06F941624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4886325"/>
            <a:ext cx="39624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94027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374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BFDD4D5-2442-27B5-0BEF-BD738C090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:notes">
            <a:extLst>
              <a:ext uri="{FF2B5EF4-FFF2-40B4-BE49-F238E27FC236}">
                <a16:creationId xmlns:a16="http://schemas.microsoft.com/office/drawing/2014/main" id="{4784B937-0EF8-263F-E14E-CD8C98CA4F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:notes">
            <a:extLst>
              <a:ext uri="{FF2B5EF4-FFF2-40B4-BE49-F238E27FC236}">
                <a16:creationId xmlns:a16="http://schemas.microsoft.com/office/drawing/2014/main" id="{BF72A356-41EA-846E-3E8F-881897272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118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68F1-3A0A-74B0-6EE5-2066AF9FE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4AF17-8C02-98B4-33C6-BA6F799DB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D4D7B-85AE-FAB5-DDB9-3FBF2768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F413D-3D1D-4013-B28C-F1273BD6B85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0FFEC-BCC4-1B57-8F4F-0110B13E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54DCE-A498-8707-C103-1B433E95B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2BD0-4F7F-41B6-9556-1BD5AC166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217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B18DD-DB83-92A9-C904-F84BFAAE6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55DFB-A1AC-E86D-4B20-73B178383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8EBC2-97C3-ABAD-EBBA-9FD5C8A48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F413D-3D1D-4013-B28C-F1273BD6B85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6EB00-4C9B-D261-A9B0-1DC08A959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2A397-7028-444B-1F1A-937CAB825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2BD0-4F7F-41B6-9556-1BD5AC166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103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9B563-64FB-4604-8FCD-102272A46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3FBF7-89EB-08A0-1461-30E45DC4D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E9C4A-F9D4-A402-FA24-C033068AF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F413D-3D1D-4013-B28C-F1273BD6B85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71F83-2CD0-4AF5-B6CE-A54E9C99A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5A94B-4237-B87B-FF45-70772A2C9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2BD0-4F7F-41B6-9556-1BD5AC166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69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AFDFB-D42C-CAC2-0979-DA4330F02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C7EE0-CBCB-AC0D-F175-20F35E2EA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1D66E-C6A7-2C95-B6F9-16AEA18E0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89CA3-BCAE-00A3-AD7C-69894642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F413D-3D1D-4013-B28C-F1273BD6B85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FA115-9895-9EC1-402A-2532C70DB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1A8E8-F7D2-606C-B157-58375062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2BD0-4F7F-41B6-9556-1BD5AC166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490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CE70D-E543-AEC4-594F-8F53CF1E1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9D663-10C1-5625-1F4A-52E9F5879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1EF269-1AD8-6636-4C8A-D8361FE96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06F70-5131-B27D-2BB4-DB6D60C67C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987ED5-2FD8-402B-26F0-4E849A25E6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6D18D8-FCBE-F54C-DB29-4E77B97F4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F413D-3D1D-4013-B28C-F1273BD6B85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93D1E-EB52-E799-0CF8-4BEC918E0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A9BE7F-F896-59E6-5942-599BFD164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2BD0-4F7F-41B6-9556-1BD5AC166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923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EB0AB-F4CC-71A2-59DE-FF1E101A5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D7EC1F-F054-3F5A-DF52-63F7645D0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F413D-3D1D-4013-B28C-F1273BD6B85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2907D-DDFD-AD2F-A622-C088C9CDB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E83B1-CC4B-9766-8529-C1A3993E6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2BD0-4F7F-41B6-9556-1BD5AC166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231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C63B5A-320F-B75D-5E31-CB5269307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F413D-3D1D-4013-B28C-F1273BD6B85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E34CBD-05F4-9BA2-06AB-31A492F06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EB4F8-F2A3-0755-4A12-747D15AF9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2BD0-4F7F-41B6-9556-1BD5AC166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406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64F7D-0A4D-6B5D-11F0-D162C422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7595D-4826-9F0D-7218-4CFFB76F5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6E688-E5EA-2FA3-91B1-B6CEFF242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6401A-09EB-AC98-9912-B8146CF1F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F413D-3D1D-4013-B28C-F1273BD6B85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41D25-1AEF-15BF-0B86-A2AA7EC7E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C6938-21B4-2F13-387D-2EA7BA66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2BD0-4F7F-41B6-9556-1BD5AC166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06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A26CB-FD35-5CE2-D632-A2AD2A1FD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47CDB-88D4-C350-D30D-E418FE11F4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4755A-DC62-689A-2057-4596AB2B6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58650-C764-C1A1-65A7-8E1219AC6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F413D-3D1D-4013-B28C-F1273BD6B85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D3AA0-67D6-49BD-A32A-B5CA6AA31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4FA55-E992-9058-C74E-524E3AEED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2BD0-4F7F-41B6-9556-1BD5AC166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394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35E70-50E3-558B-EC3B-53769EBBA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5EC52-022B-F9CF-9432-7157AA2A4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633F4-782A-FBA5-04F3-A5D95F6A8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F413D-3D1D-4013-B28C-F1273BD6B85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3C8DB-377E-A838-F843-F21F3907D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53F32-ABFE-533A-038C-65ED8154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2BD0-4F7F-41B6-9556-1BD5AC166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239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99AC98-195B-8F8D-C5B8-D214CBF0E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54EDEF-97AD-B58C-D175-5747958CE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31166-66F3-72AC-392F-9961F9FA3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F413D-3D1D-4013-B28C-F1273BD6B85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09FCB-6569-2502-4D8E-E9210D927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327F6-A99C-46B2-266E-BB1E268A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2BD0-4F7F-41B6-9556-1BD5AC166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013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01175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0524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1583469" y="448732"/>
            <a:ext cx="84084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538817" y="1866844"/>
            <a:ext cx="72280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67" b="1" i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19170" lvl="1" indent="-30479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828754" lvl="2" indent="-30479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438339" lvl="3" indent="-30479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047924" lvl="4" indent="-30479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3657509" lvl="5" indent="-30479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4267093" lvl="6" indent="-30479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4876678" lvl="7" indent="-30479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5486263" lvl="8" indent="-30479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6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"/>
          <p:cNvSpPr txBox="1">
            <a:spLocks noGrp="1"/>
          </p:cNvSpPr>
          <p:nvPr>
            <p:ph type="sldNum" idx="12"/>
          </p:nvPr>
        </p:nvSpPr>
        <p:spPr>
          <a:xfrm>
            <a:off x="8778240" y="6377941"/>
            <a:ext cx="280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230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54DDAE-C824-25BE-C45E-13D55F43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49B87-649B-4F65-E53A-826EAB34F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A5D2C-D8CB-E111-302C-E8627EAF2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F413D-3D1D-4013-B28C-F1273BD6B85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E1B86-545D-073C-DF08-89CF57B1B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0FB76-A3F8-D889-E106-F8BCDFDC4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AD2BD0-4F7F-41B6-9556-1BD5AC166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654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2598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26" Type="http://schemas.openxmlformats.org/officeDocument/2006/relationships/image" Target="../media/image45.png"/><Relationship Id="rId3" Type="http://schemas.openxmlformats.org/officeDocument/2006/relationships/image" Target="../media/image22.png"/><Relationship Id="rId21" Type="http://schemas.openxmlformats.org/officeDocument/2006/relationships/image" Target="../media/image4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5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29" Type="http://schemas.openxmlformats.org/officeDocument/2006/relationships/image" Target="../media/image4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24" Type="http://schemas.openxmlformats.org/officeDocument/2006/relationships/image" Target="../media/image43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28" Type="http://schemas.openxmlformats.org/officeDocument/2006/relationships/image" Target="../media/image47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Relationship Id="rId27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39" Type="http://schemas.openxmlformats.org/officeDocument/2006/relationships/image" Target="../media/image85.png"/><Relationship Id="rId21" Type="http://schemas.openxmlformats.org/officeDocument/2006/relationships/image" Target="../media/image67.png"/><Relationship Id="rId34" Type="http://schemas.openxmlformats.org/officeDocument/2006/relationships/image" Target="../media/image80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33" Type="http://schemas.openxmlformats.org/officeDocument/2006/relationships/image" Target="../media/image79.png"/><Relationship Id="rId38" Type="http://schemas.openxmlformats.org/officeDocument/2006/relationships/image" Target="../media/image8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29" Type="http://schemas.openxmlformats.org/officeDocument/2006/relationships/image" Target="../media/image7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24" Type="http://schemas.openxmlformats.org/officeDocument/2006/relationships/image" Target="../media/image70.png"/><Relationship Id="rId32" Type="http://schemas.openxmlformats.org/officeDocument/2006/relationships/image" Target="../media/image78.png"/><Relationship Id="rId37" Type="http://schemas.openxmlformats.org/officeDocument/2006/relationships/image" Target="../media/image83.png"/><Relationship Id="rId40" Type="http://schemas.openxmlformats.org/officeDocument/2006/relationships/image" Target="../media/image86.sv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28" Type="http://schemas.openxmlformats.org/officeDocument/2006/relationships/image" Target="../media/image74.png"/><Relationship Id="rId36" Type="http://schemas.openxmlformats.org/officeDocument/2006/relationships/image" Target="../media/image82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31" Type="http://schemas.openxmlformats.org/officeDocument/2006/relationships/image" Target="../media/image77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Relationship Id="rId27" Type="http://schemas.openxmlformats.org/officeDocument/2006/relationships/image" Target="../media/image73.png"/><Relationship Id="rId30" Type="http://schemas.openxmlformats.org/officeDocument/2006/relationships/image" Target="../media/image76.png"/><Relationship Id="rId35" Type="http://schemas.openxmlformats.org/officeDocument/2006/relationships/image" Target="../media/image81.png"/><Relationship Id="rId8" Type="http://schemas.openxmlformats.org/officeDocument/2006/relationships/image" Target="../media/image54.png"/><Relationship Id="rId3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8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3" Type="http://schemas.openxmlformats.org/officeDocument/2006/relationships/image" Target="../media/image87.png"/><Relationship Id="rId7" Type="http://schemas.openxmlformats.org/officeDocument/2006/relationships/image" Target="../media/image93.png"/><Relationship Id="rId12" Type="http://schemas.openxmlformats.org/officeDocument/2006/relationships/image" Target="../media/image1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7.png"/><Relationship Id="rId11" Type="http://schemas.openxmlformats.org/officeDocument/2006/relationships/image" Target="../media/image111.png"/><Relationship Id="rId5" Type="http://schemas.openxmlformats.org/officeDocument/2006/relationships/image" Target="../media/image106.png"/><Relationship Id="rId10" Type="http://schemas.openxmlformats.org/officeDocument/2006/relationships/image" Target="../media/image110.png"/><Relationship Id="rId4" Type="http://schemas.openxmlformats.org/officeDocument/2006/relationships/image" Target="../media/image19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FOR DISCUSSION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 GST Revenue Trends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2026–27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68680" y="397764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E8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Sector-wise Performance, Compliance Analytics &amp; Technology-Driven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E8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Administration — Government of Rajasthan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for Discussion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key initiative areas proposed for review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417320"/>
          </a:xfrm>
          <a:prstGeom prst="rect">
            <a:avLst/>
          </a:prstGeom>
          <a:solidFill>
            <a:srgbClr val="E8EF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856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508760" y="176479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Sector &amp; State GST Buoyancy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08760" y="235000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sectoral revenue performance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1417320"/>
          </a:xfrm>
          <a:prstGeom prst="rect">
            <a:avLst/>
          </a:prstGeom>
          <a:solidFill>
            <a:srgbClr val="E8EF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73952" y="1856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73952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178040" y="176479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Tax Administration Best Practices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78040" y="235000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Non-filer dashboards, GSTR-9 utility, faceless scrutiny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349240" cy="1417320"/>
          </a:xfrm>
          <a:prstGeom prst="rect">
            <a:avLst/>
          </a:prstGeom>
          <a:solidFill>
            <a:srgbClr val="E8EF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04672" y="35478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04672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307592" y="3456432"/>
            <a:ext cx="4587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Technology-Driven Monitoring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08760" y="40416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analytics, HSN engine, external data integration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3291840"/>
            <a:ext cx="5349240" cy="1417320"/>
          </a:xfrm>
          <a:prstGeom prst="rect">
            <a:avLst/>
          </a:prstGeom>
          <a:solidFill>
            <a:srgbClr val="E8EF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73952" y="35478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73952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6976872" y="3448812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&amp; AI/ML Intelligence Systems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178040" y="40416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Facial-image verification, fake taxpayer detection engine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5349240" cy="1417320"/>
          </a:xfrm>
          <a:prstGeom prst="rect">
            <a:avLst/>
          </a:prstGeom>
          <a:solidFill>
            <a:srgbClr val="E8EF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04672" y="5239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04672" y="5239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1508760" y="5148072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Sector-Specific Revenue Growth Approaches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508760" y="57332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for comparison, outliers, and rate-impact analysis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17920" y="4983480"/>
            <a:ext cx="5349240" cy="1417320"/>
          </a:xfrm>
          <a:prstGeom prst="rect">
            <a:avLst/>
          </a:prstGeom>
          <a:solidFill>
            <a:srgbClr val="E8EF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473952" y="5239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73952" y="5239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30" dirty="0"/>
          </a:p>
        </p:txBody>
      </p:sp>
      <p:sp>
        <p:nvSpPr>
          <p:cNvPr id="32" name="Text 30"/>
          <p:cNvSpPr/>
          <p:nvPr/>
        </p:nvSpPr>
        <p:spPr>
          <a:xfrm>
            <a:off x="7071360" y="511759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&amp; Long-Term Administrative Reforms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178040" y="57332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ITMS, E-Tax Officer portal, new VAT Act &amp; IT module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Rajasthan  |  GST Revenue Trends 2026–27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6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Sector-wise GST Buoyancy — FY 2025-26 vs FY 2026-27 (Apr- June)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3880" y="67681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All-sector turnover buoyancy stands at 18%, with net revenue growth of 9%</a:t>
            </a:r>
            <a:endParaRPr lang="en-US" b="1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Rajasthan  |  GST Revenue Trends 2026–27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4E56C0-070B-4D9B-6498-D4C0026AA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873195"/>
              </p:ext>
            </p:extLst>
          </p:nvPr>
        </p:nvGraphicFramePr>
        <p:xfrm>
          <a:off x="220338" y="1046182"/>
          <a:ext cx="11677875" cy="5503649"/>
        </p:xfrm>
        <a:graphic>
          <a:graphicData uri="http://schemas.openxmlformats.org/drawingml/2006/table">
            <a:tbl>
              <a:tblPr/>
              <a:tblGrid>
                <a:gridCol w="3014752">
                  <a:extLst>
                    <a:ext uri="{9D8B030D-6E8A-4147-A177-3AD203B41FA5}">
                      <a16:colId xmlns:a16="http://schemas.microsoft.com/office/drawing/2014/main" val="1728034189"/>
                    </a:ext>
                  </a:extLst>
                </a:gridCol>
                <a:gridCol w="1079143">
                  <a:extLst>
                    <a:ext uri="{9D8B030D-6E8A-4147-A177-3AD203B41FA5}">
                      <a16:colId xmlns:a16="http://schemas.microsoft.com/office/drawing/2014/main" val="2385035057"/>
                    </a:ext>
                  </a:extLst>
                </a:gridCol>
                <a:gridCol w="1079143">
                  <a:extLst>
                    <a:ext uri="{9D8B030D-6E8A-4147-A177-3AD203B41FA5}">
                      <a16:colId xmlns:a16="http://schemas.microsoft.com/office/drawing/2014/main" val="1920934997"/>
                    </a:ext>
                  </a:extLst>
                </a:gridCol>
                <a:gridCol w="757970">
                  <a:extLst>
                    <a:ext uri="{9D8B030D-6E8A-4147-A177-3AD203B41FA5}">
                      <a16:colId xmlns:a16="http://schemas.microsoft.com/office/drawing/2014/main" val="2701061296"/>
                    </a:ext>
                  </a:extLst>
                </a:gridCol>
                <a:gridCol w="1079143">
                  <a:extLst>
                    <a:ext uri="{9D8B030D-6E8A-4147-A177-3AD203B41FA5}">
                      <a16:colId xmlns:a16="http://schemas.microsoft.com/office/drawing/2014/main" val="2028661556"/>
                    </a:ext>
                  </a:extLst>
                </a:gridCol>
                <a:gridCol w="993498">
                  <a:extLst>
                    <a:ext uri="{9D8B030D-6E8A-4147-A177-3AD203B41FA5}">
                      <a16:colId xmlns:a16="http://schemas.microsoft.com/office/drawing/2014/main" val="3976027566"/>
                    </a:ext>
                  </a:extLst>
                </a:gridCol>
                <a:gridCol w="757970">
                  <a:extLst>
                    <a:ext uri="{9D8B030D-6E8A-4147-A177-3AD203B41FA5}">
                      <a16:colId xmlns:a16="http://schemas.microsoft.com/office/drawing/2014/main" val="879855743"/>
                    </a:ext>
                  </a:extLst>
                </a:gridCol>
                <a:gridCol w="1079143">
                  <a:extLst>
                    <a:ext uri="{9D8B030D-6E8A-4147-A177-3AD203B41FA5}">
                      <a16:colId xmlns:a16="http://schemas.microsoft.com/office/drawing/2014/main" val="1478033781"/>
                    </a:ext>
                  </a:extLst>
                </a:gridCol>
                <a:gridCol w="1079143">
                  <a:extLst>
                    <a:ext uri="{9D8B030D-6E8A-4147-A177-3AD203B41FA5}">
                      <a16:colId xmlns:a16="http://schemas.microsoft.com/office/drawing/2014/main" val="2237668580"/>
                    </a:ext>
                  </a:extLst>
                </a:gridCol>
                <a:gridCol w="757970">
                  <a:extLst>
                    <a:ext uri="{9D8B030D-6E8A-4147-A177-3AD203B41FA5}">
                      <a16:colId xmlns:a16="http://schemas.microsoft.com/office/drawing/2014/main" val="2230881250"/>
                    </a:ext>
                  </a:extLst>
                </a:gridCol>
              </a:tblGrid>
              <a:tr h="7911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Sector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Turnover 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(Apr-June'25)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Turnover 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(Apr-June'26)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Buoyancy %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Liability (I+C+S)</a:t>
                      </a: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'25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Liability (I+C+S)</a:t>
                      </a: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'26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Change %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Net Revenue to State'25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Net Revenue to State’26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Change %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704626"/>
                  </a:ext>
                </a:extLst>
              </a:tr>
              <a:tr h="33660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All Sectors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5,18,899.34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6,17,700.31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19%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55,233.02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54,080.23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-2%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12,262.14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12,718.05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245682"/>
                  </a:ext>
                </a:extLst>
              </a:tr>
              <a:tr h="336604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Rate reduced after GST2.0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781328"/>
                  </a:ext>
                </a:extLst>
              </a:tr>
              <a:tr h="33660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Vehicle/Automobile &amp; Spare Parts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24,015.61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28,319.54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18%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5,958.28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4,892.68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-18%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1,515.90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1,499.99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-1%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897522"/>
                  </a:ext>
                </a:extLst>
              </a:tr>
              <a:tr h="33660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Electrical machinery and equipment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34,527.96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45,724.82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32%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5,643.87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5,586.80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-1%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1,165.18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1,123.51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-4%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394665"/>
                  </a:ext>
                </a:extLst>
              </a:tr>
              <a:tr h="33660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Machinery &amp; Air Conditioning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16,861.14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19,638.96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3,320.97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3,284.44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-1%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670.10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638.29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-5%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253855"/>
                  </a:ext>
                </a:extLst>
              </a:tr>
              <a:tr h="33660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Financial &amp; Banking Services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34,079.09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38,069.31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12%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1,587.75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1,438.94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-9%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464.13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517.38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11%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060354"/>
                  </a:ext>
                </a:extLst>
              </a:tr>
              <a:tr h="33660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Construction/Real Estate/ Cement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45,647.93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45,367.82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-1%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8,479.38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7,056.50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-17%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1,432.78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1,094.17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-24%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066868"/>
                  </a:ext>
                </a:extLst>
              </a:tr>
              <a:tr h="336604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 Change in Rates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177450"/>
                  </a:ext>
                </a:extLst>
              </a:tr>
              <a:tr h="33660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Iron and steel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20,536.11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21,447.68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3,559.19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3,743.98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679.54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719.98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18675"/>
                  </a:ext>
                </a:extLst>
              </a:tr>
              <a:tr h="33660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Plastics and articles thereof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8,803.54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11,314.62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29%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1,496.15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1,870.84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302.36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348.97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236706"/>
                  </a:ext>
                </a:extLst>
              </a:tr>
              <a:tr h="33660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services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5,389.27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5,946.75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808.77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889.14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285.26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313.89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791734"/>
                  </a:ext>
                </a:extLst>
              </a:tr>
              <a:tr h="3366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Articles of iron or steel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4,563.68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6,296.21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794.04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1,074.32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208.56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261.95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26%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511513"/>
                  </a:ext>
                </a:extLst>
              </a:tr>
              <a:tr h="336604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Rate Increased after 2.0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488357"/>
                  </a:ext>
                </a:extLst>
              </a:tr>
              <a:tr h="33660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Fuel and Energy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53,215.81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55,622.25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1,166.23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1,292.95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11%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597.05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823.85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385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9219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4DBCF7C-46CE-776D-97DE-5610313D3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72" y="-1"/>
            <a:ext cx="10298460" cy="685893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2E35C94-C29A-EC43-FC07-5A6CBFA26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47" b="7458"/>
          <a:stretch>
            <a:fillRect/>
          </a:stretch>
        </p:blipFill>
        <p:spPr>
          <a:xfrm>
            <a:off x="1126434" y="1590260"/>
            <a:ext cx="9965635" cy="4467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ACEBC09-30FC-A7CA-B8DF-DBB12CF95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54D2909-A774-D6E0-6B4B-6039D7560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9D5629-FE4C-85F1-CA39-EFC314BB9D96}"/>
              </a:ext>
            </a:extLst>
          </p:cNvPr>
          <p:cNvSpPr txBox="1"/>
          <p:nvPr/>
        </p:nvSpPr>
        <p:spPr>
          <a:xfrm>
            <a:off x="5067300" y="1947862"/>
            <a:ext cx="7124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293B"/>
                </a:solidFill>
                <a:latin typeface="Poppins SemiBold"/>
              </a:rPr>
              <a:t>Overall Economic Resilience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142A1E-5536-32E3-F3E6-EA0D72703CB7}"/>
              </a:ext>
            </a:extLst>
          </p:cNvPr>
          <p:cNvSpPr txBox="1"/>
          <p:nvPr/>
        </p:nvSpPr>
        <p:spPr>
          <a:xfrm>
            <a:off x="5067300" y="2538412"/>
            <a:ext cx="6934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The April-June period of FY 2026-27 demonstrates resilient economic activity across most major sectors, despite targeted adjustments in the GST 2.0 framework.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0CAF6-FE9C-D0C2-7524-4A758209D681}"/>
              </a:ext>
            </a:extLst>
          </p:cNvPr>
          <p:cNvSpPr txBox="1"/>
          <p:nvPr/>
        </p:nvSpPr>
        <p:spPr>
          <a:xfrm>
            <a:off x="762000" y="2595562"/>
            <a:ext cx="3333750" cy="951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i="0" u="none" dirty="0">
                <a:solidFill>
                  <a:srgbClr val="2563EB"/>
                </a:solidFill>
                <a:latin typeface="Poppins"/>
              </a:rPr>
              <a:t>1</a:t>
            </a:r>
            <a:r>
              <a:rPr lang="en-US" sz="7200" b="1" dirty="0">
                <a:solidFill>
                  <a:srgbClr val="2563EB"/>
                </a:solidFill>
                <a:latin typeface="Poppins"/>
              </a:rPr>
              <a:t>8</a:t>
            </a:r>
            <a:r>
              <a:rPr sz="7200" b="1" i="0" u="none" dirty="0">
                <a:solidFill>
                  <a:srgbClr val="2563EB"/>
                </a:solidFill>
                <a:latin typeface="Poppins"/>
              </a:rPr>
              <a:t>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B74672-8A97-D283-1F5E-D68E62235B15}"/>
              </a:ext>
            </a:extLst>
          </p:cNvPr>
          <p:cNvSpPr txBox="1"/>
          <p:nvPr/>
        </p:nvSpPr>
        <p:spPr>
          <a:xfrm>
            <a:off x="762000" y="3605212"/>
            <a:ext cx="33337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64748B"/>
                </a:solidFill>
                <a:latin typeface="Lato SemiBold"/>
              </a:rPr>
              <a:t>TURNOVER BUOYANCY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72CD07-1D32-339A-E3D1-68226814E98F}"/>
              </a:ext>
            </a:extLst>
          </p:cNvPr>
          <p:cNvSpPr txBox="1"/>
          <p:nvPr/>
        </p:nvSpPr>
        <p:spPr>
          <a:xfrm>
            <a:off x="762000" y="4243387"/>
            <a:ext cx="3333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i="0" u="none" dirty="0">
                <a:solidFill>
                  <a:srgbClr val="2563EB"/>
                </a:solidFill>
                <a:latin typeface="Poppins"/>
              </a:rPr>
              <a:t>9%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80B9AD-AA97-4C78-8EA6-C6125BF8A0DA}"/>
              </a:ext>
            </a:extLst>
          </p:cNvPr>
          <p:cNvSpPr txBox="1"/>
          <p:nvPr/>
        </p:nvSpPr>
        <p:spPr>
          <a:xfrm>
            <a:off x="762000" y="5253037"/>
            <a:ext cx="33337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64748B"/>
                </a:solidFill>
                <a:latin typeface="Lato SemiBold"/>
              </a:rPr>
              <a:t>NET REVENUE GROWTH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66D8BB-8A24-92AF-C155-BBA3B1ACC6FA}"/>
              </a:ext>
            </a:extLst>
          </p:cNvPr>
          <p:cNvSpPr txBox="1"/>
          <p:nvPr/>
        </p:nvSpPr>
        <p:spPr>
          <a:xfrm>
            <a:off x="5495925" y="3338512"/>
            <a:ext cx="65055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Lato"/>
              </a:rPr>
              <a:t>Aggregate Growth: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Total liability across all sectors increased slightly, driving a solid 4% growth in net revenue to the state.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38C8D5-0C37-4508-213D-001F17310B72}"/>
              </a:ext>
            </a:extLst>
          </p:cNvPr>
          <p:cNvSpPr txBox="1"/>
          <p:nvPr/>
        </p:nvSpPr>
        <p:spPr>
          <a:xfrm>
            <a:off x="5495925" y="4176712"/>
            <a:ext cx="65055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Lato"/>
              </a:rPr>
              <a:t>Turnover Expansion: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Total turnover climbed from ₹5.18 Lakh Cr in Q1 FY26 to ₹6.17 Lakh Cr in Q1 FY27.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39C28B-152D-C114-C481-5EFFDF8E6FB3}"/>
              </a:ext>
            </a:extLst>
          </p:cNvPr>
          <p:cNvSpPr txBox="1"/>
          <p:nvPr/>
        </p:nvSpPr>
        <p:spPr>
          <a:xfrm>
            <a:off x="5495925" y="5014912"/>
            <a:ext cx="65055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Lato"/>
              </a:rPr>
              <a:t>Divergent Outcomes: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While overall numbers are highly positive, sectoral performance is highly fragmented depending on whether rates were reduced, unchanged, or increased under GST 2.0.</a:t>
            </a:r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D44CDDB3-BAA2-3D34-8197-D47E211B4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0" y="3381375"/>
            <a:ext cx="238125" cy="219075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17365E7A-6744-A231-E0D6-F6C6D1150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300" y="4219575"/>
            <a:ext cx="238125" cy="219075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2D492022-7DD2-EE91-F8C1-7B3D98B2EA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7300" y="5057775"/>
            <a:ext cx="266700" cy="2190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200636-B9F7-6BFB-7B1D-A8658C095FE0}"/>
              </a:ext>
            </a:extLst>
          </p:cNvPr>
          <p:cNvSpPr txBox="1"/>
          <p:nvPr/>
        </p:nvSpPr>
        <p:spPr>
          <a:xfrm>
            <a:off x="762000" y="571500"/>
            <a:ext cx="1120140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 dirty="0">
                <a:solidFill>
                  <a:srgbClr val="0F172A"/>
                </a:solidFill>
                <a:latin typeface="Poppins SemiBold"/>
              </a:rPr>
              <a:t>Summary: Q1 FY</a:t>
            </a:r>
            <a:r>
              <a:rPr lang="en-US" sz="3150" b="0" i="0" u="none" dirty="0">
                <a:solidFill>
                  <a:srgbClr val="0F172A"/>
                </a:solidFill>
                <a:latin typeface="Poppins SemiBold"/>
              </a:rPr>
              <a:t>26-</a:t>
            </a:r>
            <a:r>
              <a:rPr sz="3150" b="0" i="0" u="none" dirty="0">
                <a:solidFill>
                  <a:srgbClr val="0F172A"/>
                </a:solidFill>
                <a:latin typeface="Poppins SemiBold"/>
              </a:rPr>
              <a:t>27 GST Performance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520C1E-A06D-5C60-F933-A6BB6B9684B2}"/>
              </a:ext>
            </a:extLst>
          </p:cNvPr>
          <p:cNvSpPr/>
          <p:nvPr/>
        </p:nvSpPr>
        <p:spPr>
          <a:xfrm>
            <a:off x="762000" y="1314450"/>
            <a:ext cx="10668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158337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566862"/>
            <a:ext cx="3365450" cy="4972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00" y="1566862"/>
            <a:ext cx="3365450" cy="4972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566862"/>
            <a:ext cx="3365450" cy="4972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1957387"/>
            <a:ext cx="666750" cy="66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7275" y="2862262"/>
            <a:ext cx="2690336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Rate Reduced Sectors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7275" y="3195637"/>
            <a:ext cx="2562225" cy="19050"/>
          </a:xfrm>
          <a:prstGeom prst="rect">
            <a:avLst/>
          </a:prstGeom>
          <a:solid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7275" y="3357562"/>
            <a:ext cx="27749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475569"/>
                </a:solidFill>
                <a:latin typeface="Lato"/>
              </a:rPr>
              <a:t>Strong turnover, lower revenue.</a:t>
            </a:r>
            <a:r>
              <a:rPr sz="1350" b="0" i="0" u="none" dirty="0">
                <a:solidFill>
                  <a:srgbClr val="475569"/>
                </a:solidFill>
                <a:latin typeface="Lato"/>
              </a:rPr>
              <a:t> Sectors like </a:t>
            </a:r>
            <a:r>
              <a:rPr sz="1350" b="1" i="0" u="none" dirty="0">
                <a:solidFill>
                  <a:srgbClr val="475569"/>
                </a:solidFill>
                <a:latin typeface="Lato"/>
              </a:rPr>
              <a:t>Electrical Machinery saw excellent turnover buoyancy (+32%)</a:t>
            </a:r>
            <a:r>
              <a:rPr sz="1350" b="0" i="0" u="none" dirty="0">
                <a:solidFill>
                  <a:srgbClr val="475569"/>
                </a:solidFill>
                <a:latin typeface="Lato"/>
              </a:rPr>
              <a:t>, indicating volume growth.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4529137"/>
            <a:ext cx="27749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However, the reduced rates led to broad declines in Net Revenue to the State, most notably a severe </a:t>
            </a:r>
            <a:r>
              <a:rPr sz="1350" b="1" i="0" u="none">
                <a:solidFill>
                  <a:srgbClr val="475569"/>
                </a:solidFill>
                <a:latin typeface="Lato"/>
              </a:rPr>
              <a:t>-24% contraction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in Construction and Real Estate revenue.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8475" y="1957387"/>
            <a:ext cx="666750" cy="666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08475" y="2862262"/>
            <a:ext cx="291364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Unchanged Rate Sectors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8475" y="3529012"/>
            <a:ext cx="2774900" cy="19050"/>
          </a:xfrm>
          <a:prstGeom prst="rect">
            <a:avLst/>
          </a:prstGeom>
          <a:solid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8475" y="3690937"/>
            <a:ext cx="27749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Robust and uniform growth.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Sectors untouched by GST 2.0 changes exhibited strong, stable performance across all metrics.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8475" y="4862512"/>
            <a:ext cx="27749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'Articles of iron or steel'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led this category with an exceptional 38% turnover buoyancy and a massive </a:t>
            </a:r>
            <a:r>
              <a:rPr sz="1350" b="1" i="0" u="none">
                <a:solidFill>
                  <a:srgbClr val="475569"/>
                </a:solidFill>
                <a:latin typeface="Lato"/>
              </a:rPr>
              <a:t>+26% growth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in net revenue generation.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9675" y="1957387"/>
            <a:ext cx="666750" cy="6667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59675" y="2862262"/>
            <a:ext cx="2830353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Rate Increased Sectors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59675" y="3195637"/>
            <a:ext cx="2695575" cy="19050"/>
          </a:xfrm>
          <a:prstGeom prst="rect">
            <a:avLst/>
          </a:prstGeom>
          <a:solid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59675" y="3357562"/>
            <a:ext cx="27749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Massive revenue capitalization.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The Fuel and Energy sector experienced a modest 5% turnover buoyancy.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9675" y="4271962"/>
            <a:ext cx="27749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Despite slower volume growth, the increased rate structure successfully capitalized on the sector, resulting in a dramatic </a:t>
            </a:r>
            <a:r>
              <a:rPr sz="1350" b="1" i="0" u="none">
                <a:solidFill>
                  <a:srgbClr val="475569"/>
                </a:solidFill>
                <a:latin typeface="Lato"/>
              </a:rPr>
              <a:t>+38% surge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in Net Revenue to the State.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9200" y="2138362"/>
            <a:ext cx="342900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8500" y="2138362"/>
            <a:ext cx="266700" cy="3048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9700" y="2138362"/>
            <a:ext cx="266700" cy="304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62000" y="319087"/>
            <a:ext cx="112014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F172A"/>
                </a:solidFill>
                <a:latin typeface="Poppins SemiBold"/>
              </a:rPr>
              <a:t>Sectoral Impact of GST 2.0 Rate Adjustments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" y="1062037"/>
            <a:ext cx="10668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Relating to Compliance Improvement and Tax Administration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has implemented several technology-enabled initiatives to strengthen compliance monitoring and improve tax administration efficiency through data-driven insights, automated systems and digital compliance solutions.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410681" y="1799989"/>
            <a:ext cx="11370638" cy="45720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5"/>
          <p:cNvSpPr/>
          <p:nvPr/>
        </p:nvSpPr>
        <p:spPr>
          <a:xfrm>
            <a:off x="410681" y="1799989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INITIATIVES</a:t>
            </a:r>
            <a:endParaRPr lang="en-US" sz="1500" dirty="0"/>
          </a:p>
        </p:txBody>
      </p:sp>
      <p:sp>
        <p:nvSpPr>
          <p:cNvPr id="33" name="Shape 26"/>
          <p:cNvSpPr/>
          <p:nvPr/>
        </p:nvSpPr>
        <p:spPr>
          <a:xfrm>
            <a:off x="410681" y="2257189"/>
            <a:ext cx="11370638" cy="3971249"/>
          </a:xfrm>
          <a:prstGeom prst="rect">
            <a:avLst/>
          </a:prstGeom>
          <a:solidFill>
            <a:srgbClr val="E8E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27"/>
          <p:cNvSpPr/>
          <p:nvPr/>
        </p:nvSpPr>
        <p:spPr>
          <a:xfrm>
            <a:off x="1011072" y="2411994"/>
            <a:ext cx="843385" cy="5054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5" descr="/home/claude/pptx_work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844" y="2441965"/>
            <a:ext cx="451813" cy="451813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259885" y="2373228"/>
            <a:ext cx="9247115" cy="270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of taxpayer filing status (via GSTN API)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2259885" y="2665836"/>
            <a:ext cx="9247115" cy="342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visibility regarding taxpayer filing status and enables monitoring of filing behaviour along with estimated potential revenue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automated dashboard for monitoring GSTR-3B and GSTR-1 return defaulters.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685000" y="3061861"/>
            <a:ext cx="10467011" cy="0"/>
          </a:xfrm>
          <a:prstGeom prst="line">
            <a:avLst/>
          </a:prstGeom>
          <a:noFill/>
          <a:ln w="9525">
            <a:solidFill>
              <a:srgbClr val="C7D3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1"/>
          <p:cNvSpPr/>
          <p:nvPr/>
        </p:nvSpPr>
        <p:spPr>
          <a:xfrm>
            <a:off x="1011072" y="3216666"/>
            <a:ext cx="843385" cy="5054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6" descr="/home/claude/pptx_work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844" y="3244885"/>
            <a:ext cx="451813" cy="451813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2259885" y="3177900"/>
            <a:ext cx="9247115" cy="270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analysis and discrepancy detection</a:t>
            </a:r>
            <a:endParaRPr lang="en-US" sz="1250" dirty="0"/>
          </a:p>
        </p:txBody>
      </p:sp>
      <p:sp>
        <p:nvSpPr>
          <p:cNvPr id="42" name="Text 33"/>
          <p:cNvSpPr/>
          <p:nvPr/>
        </p:nvSpPr>
        <p:spPr>
          <a:xfrm>
            <a:off x="2259885" y="3470508"/>
            <a:ext cx="9247115" cy="342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assists officers in identifying discrepancies, mismatches and potential revenue leakages through automated comparison and analytical checks.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685000" y="3866533"/>
            <a:ext cx="10467011" cy="0"/>
          </a:xfrm>
          <a:prstGeom prst="line">
            <a:avLst/>
          </a:prstGeom>
          <a:noFill/>
          <a:ln w="9525">
            <a:solidFill>
              <a:srgbClr val="C7D3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35"/>
          <p:cNvSpPr/>
          <p:nvPr/>
        </p:nvSpPr>
        <p:spPr>
          <a:xfrm>
            <a:off x="1011072" y="4021338"/>
            <a:ext cx="843385" cy="5054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5" name="Image 7" descr="/home/claude/pptx_work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429" y="4061389"/>
            <a:ext cx="451813" cy="451813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2259885" y="3982572"/>
            <a:ext cx="9247115" cy="270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Risk-based selection and desk review</a:t>
            </a:r>
            <a:endParaRPr lang="en-US" sz="1250" dirty="0"/>
          </a:p>
        </p:txBody>
      </p:sp>
      <p:sp>
        <p:nvSpPr>
          <p:cNvPr id="47" name="Text 37"/>
          <p:cNvSpPr/>
          <p:nvPr/>
        </p:nvSpPr>
        <p:spPr>
          <a:xfrm>
            <a:off x="2259885" y="4275180"/>
            <a:ext cx="9247115" cy="342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data-driven audit selection, case allocation and desk review for focused and effective interventions.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685000" y="4671205"/>
            <a:ext cx="10467011" cy="0"/>
          </a:xfrm>
          <a:prstGeom prst="line">
            <a:avLst/>
          </a:prstGeom>
          <a:noFill/>
          <a:ln w="9525">
            <a:solidFill>
              <a:srgbClr val="C7D3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39"/>
          <p:cNvSpPr/>
          <p:nvPr/>
        </p:nvSpPr>
        <p:spPr>
          <a:xfrm>
            <a:off x="1011072" y="4826010"/>
            <a:ext cx="843385" cy="5054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0" name="Image 8" descr="/home/claude/pptx_work/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808" y="4880648"/>
            <a:ext cx="451813" cy="451813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2259885" y="4787244"/>
            <a:ext cx="9247115" cy="270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and automated scrutiny process</a:t>
            </a:r>
            <a:endParaRPr lang="en-US" sz="1250" dirty="0"/>
          </a:p>
        </p:txBody>
      </p:sp>
      <p:sp>
        <p:nvSpPr>
          <p:cNvPr id="52" name="Text 41"/>
          <p:cNvSpPr/>
          <p:nvPr/>
        </p:nvSpPr>
        <p:spPr>
          <a:xfrm>
            <a:off x="2259885" y="5079852"/>
            <a:ext cx="9247115" cy="342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Faceless scrutiny framework ensures risk-based case selection and digital order generation.</a:t>
            </a:r>
            <a:endParaRPr lang="en-US" sz="1000" dirty="0"/>
          </a:p>
        </p:txBody>
      </p:sp>
      <p:sp>
        <p:nvSpPr>
          <p:cNvPr id="53" name="Shape 42"/>
          <p:cNvSpPr/>
          <p:nvPr/>
        </p:nvSpPr>
        <p:spPr>
          <a:xfrm>
            <a:off x="685000" y="5475877"/>
            <a:ext cx="10467011" cy="0"/>
          </a:xfrm>
          <a:prstGeom prst="line">
            <a:avLst/>
          </a:prstGeom>
          <a:noFill/>
          <a:ln w="9525">
            <a:solidFill>
              <a:srgbClr val="C7D3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43"/>
          <p:cNvSpPr/>
          <p:nvPr/>
        </p:nvSpPr>
        <p:spPr>
          <a:xfrm>
            <a:off x="1011072" y="5630682"/>
            <a:ext cx="843385" cy="5054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5" name="Image 9" descr="/home/claude/pptx_work/pap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4366" y="5707171"/>
            <a:ext cx="451813" cy="451813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2259885" y="5591916"/>
            <a:ext cx="9247115" cy="270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Timely reminders and compliance notices</a:t>
            </a:r>
            <a:endParaRPr lang="en-US" sz="1250" dirty="0"/>
          </a:p>
        </p:txBody>
      </p:sp>
      <p:sp>
        <p:nvSpPr>
          <p:cNvPr id="57" name="Text 45"/>
          <p:cNvSpPr/>
          <p:nvPr/>
        </p:nvSpPr>
        <p:spPr>
          <a:xfrm>
            <a:off x="2429864" y="5805324"/>
            <a:ext cx="9247115" cy="342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provides automated communication capabilities for timely issuance of reminders and compliance notices to taxpayers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communication of reminders and compliance notices to taxpayers.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58" name="Shape 46"/>
          <p:cNvSpPr/>
          <p:nvPr/>
        </p:nvSpPr>
        <p:spPr>
          <a:xfrm>
            <a:off x="472440" y="6415272"/>
            <a:ext cx="112471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47"/>
          <p:cNvSpPr/>
          <p:nvPr/>
        </p:nvSpPr>
        <p:spPr>
          <a:xfrm>
            <a:off x="502920" y="64152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of Rajasthan  |  GST Revenue Trends 2026–27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316FC-F5AC-6D8E-ADD3-2F56A4DD5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B320E5-9D53-E3BD-B2C5-D70FB280D1F8}"/>
              </a:ext>
            </a:extLst>
          </p:cNvPr>
          <p:cNvSpPr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Driven Monitoring System &amp; Enforcement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36DDD3-2642-D002-A51D-D62CEB092177}"/>
              </a:ext>
            </a:extLst>
          </p:cNvPr>
          <p:cNvSpPr/>
          <p:nvPr/>
        </p:nvSpPr>
        <p:spPr>
          <a:xfrm>
            <a:off x="647792" y="6057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analytical ecosystem enabling real time monitoring, intelligent risk assessment and targeted enforcement</a:t>
            </a:r>
            <a:endParaRPr lang="en-US" sz="1300" dirty="0"/>
          </a:p>
        </p:txBody>
      </p:sp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70A5C089-3630-4378-ABF9-99259E277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08" y="877594"/>
            <a:ext cx="11502962" cy="598040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4B4FBF5-E713-428F-BB64-D52F1755C2CB}"/>
              </a:ext>
            </a:extLst>
          </p:cNvPr>
          <p:cNvGrpSpPr/>
          <p:nvPr/>
        </p:nvGrpSpPr>
        <p:grpSpPr>
          <a:xfrm>
            <a:off x="900203" y="1155733"/>
            <a:ext cx="5470199" cy="2794494"/>
            <a:chOff x="900204" y="1155733"/>
            <a:chExt cx="4856416" cy="2339578"/>
          </a:xfrm>
        </p:grpSpPr>
        <p:pic>
          <p:nvPicPr>
            <p:cNvPr id="12" name="Picture 11" descr="image.png">
              <a:extLst>
                <a:ext uri="{FF2B5EF4-FFF2-40B4-BE49-F238E27FC236}">
                  <a16:creationId xmlns:a16="http://schemas.microsoft.com/office/drawing/2014/main" id="{1E452843-6952-4700-A0E1-54A1348DC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0204" y="1155733"/>
              <a:ext cx="457200" cy="457200"/>
            </a:xfrm>
            <a:prstGeom prst="rect">
              <a:avLst/>
            </a:prstGeom>
          </p:spPr>
        </p:pic>
        <p:pic>
          <p:nvPicPr>
            <p:cNvPr id="14" name="Picture 13" descr="image.png">
              <a:extLst>
                <a:ext uri="{FF2B5EF4-FFF2-40B4-BE49-F238E27FC236}">
                  <a16:creationId xmlns:a16="http://schemas.microsoft.com/office/drawing/2014/main" id="{C8FA07CB-665E-456F-B29A-0A4286E6E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0204" y="2024889"/>
              <a:ext cx="457200" cy="457200"/>
            </a:xfrm>
            <a:prstGeom prst="rect">
              <a:avLst/>
            </a:prstGeom>
          </p:spPr>
        </p:pic>
        <p:pic>
          <p:nvPicPr>
            <p:cNvPr id="16" name="Picture 15" descr="image.png">
              <a:extLst>
                <a:ext uri="{FF2B5EF4-FFF2-40B4-BE49-F238E27FC236}">
                  <a16:creationId xmlns:a16="http://schemas.microsoft.com/office/drawing/2014/main" id="{6A2C66BF-847F-46B5-B0E2-12852163F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0204" y="2894045"/>
              <a:ext cx="457200" cy="457200"/>
            </a:xfrm>
            <a:prstGeom prst="rect">
              <a:avLst/>
            </a:prstGeom>
          </p:spPr>
        </p:pic>
        <p:pic>
          <p:nvPicPr>
            <p:cNvPr id="18" name="Picture 17" descr="image.png">
              <a:extLst>
                <a:ext uri="{FF2B5EF4-FFF2-40B4-BE49-F238E27FC236}">
                  <a16:creationId xmlns:a16="http://schemas.microsoft.com/office/drawing/2014/main" id="{64C67652-0D1E-4C50-8C43-D72CE6779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09741" y="1289083"/>
              <a:ext cx="238125" cy="1905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340756-D72E-4B1D-BA3E-B0B61E469F1D}"/>
                </a:ext>
              </a:extLst>
            </p:cNvPr>
            <p:cNvSpPr txBox="1"/>
            <p:nvPr/>
          </p:nvSpPr>
          <p:spPr>
            <a:xfrm>
              <a:off x="1509804" y="1155733"/>
              <a:ext cx="2740342" cy="2190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25" b="0" i="0" u="none">
                  <a:solidFill>
                    <a:srgbClr val="0F172A"/>
                  </a:solidFill>
                  <a:latin typeface="Poppins SemiBold"/>
                </a:rPr>
                <a:t>Non-Filer Monitoring</a:t>
              </a:r>
            </a:p>
          </p:txBody>
        </p:sp>
        <p:pic>
          <p:nvPicPr>
            <p:cNvPr id="22" name="Picture 21" descr="image.png">
              <a:extLst>
                <a:ext uri="{FF2B5EF4-FFF2-40B4-BE49-F238E27FC236}">
                  <a16:creationId xmlns:a16="http://schemas.microsoft.com/office/drawing/2014/main" id="{3C8C112F-62F4-4A34-82B6-4CBBF0EF2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3554" y="2158239"/>
              <a:ext cx="190500" cy="1905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4E12DF-8C72-4F6B-BF38-E80864BB8374}"/>
                </a:ext>
              </a:extLst>
            </p:cNvPr>
            <p:cNvSpPr txBox="1"/>
            <p:nvPr/>
          </p:nvSpPr>
          <p:spPr>
            <a:xfrm>
              <a:off x="1509804" y="2024889"/>
              <a:ext cx="2770346" cy="2190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25" b="0" i="0" u="none">
                  <a:solidFill>
                    <a:srgbClr val="0F172A"/>
                  </a:solidFill>
                  <a:latin typeface="Poppins SemiBold"/>
                </a:rPr>
                <a:t>Sector &amp; Outlier Analysis</a:t>
              </a:r>
            </a:p>
          </p:txBody>
        </p:sp>
        <p:pic>
          <p:nvPicPr>
            <p:cNvPr id="26" name="Picture 25" descr="image.png">
              <a:extLst>
                <a:ext uri="{FF2B5EF4-FFF2-40B4-BE49-F238E27FC236}">
                  <a16:creationId xmlns:a16="http://schemas.microsoft.com/office/drawing/2014/main" id="{0527C106-6E13-4E90-B4BF-2760522FF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19266" y="3027395"/>
              <a:ext cx="219075" cy="1905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62D0DBA-9231-4FAF-8008-B15C13A4773A}"/>
                </a:ext>
              </a:extLst>
            </p:cNvPr>
            <p:cNvSpPr txBox="1"/>
            <p:nvPr/>
          </p:nvSpPr>
          <p:spPr>
            <a:xfrm>
              <a:off x="1509804" y="2894045"/>
              <a:ext cx="2670333" cy="2190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25" b="0" i="0" u="none">
                  <a:solidFill>
                    <a:srgbClr val="0F172A"/>
                  </a:solidFill>
                  <a:latin typeface="Poppins SemiBold"/>
                </a:rPr>
                <a:t>Predictive Revenue Analytics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D8CFA61-59E8-4489-AF9A-850BA6553113}"/>
                </a:ext>
              </a:extLst>
            </p:cNvPr>
            <p:cNvSpPr txBox="1"/>
            <p:nvPr/>
          </p:nvSpPr>
          <p:spPr>
            <a:xfrm>
              <a:off x="1624104" y="1412908"/>
              <a:ext cx="2495550" cy="172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0" i="0" u="none" dirty="0">
                  <a:solidFill>
                    <a:srgbClr val="475569"/>
                  </a:solidFill>
                  <a:latin typeface="Roboto"/>
                </a:rPr>
                <a:t>Identification of GSTR-3B / GSTR-1 non-filers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FC0C7AE-173C-49BB-802C-CF2735383FA7}"/>
                </a:ext>
              </a:extLst>
            </p:cNvPr>
            <p:cNvSpPr txBox="1"/>
            <p:nvPr/>
          </p:nvSpPr>
          <p:spPr>
            <a:xfrm>
              <a:off x="1624104" y="1585548"/>
              <a:ext cx="4132516" cy="1647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0" i="0" u="none" dirty="0">
                  <a:solidFill>
                    <a:srgbClr val="475569"/>
                  </a:solidFill>
                  <a:latin typeface="Roboto"/>
                </a:rPr>
                <a:t>Prioritization based on turnover, ITC &amp; risk score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3976686-1D49-48B8-85E3-538FF6227E78}"/>
                </a:ext>
              </a:extLst>
            </p:cNvPr>
            <p:cNvSpPr txBox="1"/>
            <p:nvPr/>
          </p:nvSpPr>
          <p:spPr>
            <a:xfrm>
              <a:off x="1624104" y="2282064"/>
              <a:ext cx="2524125" cy="172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0" i="0" u="none">
                  <a:solidFill>
                    <a:srgbClr val="475569"/>
                  </a:solidFill>
                  <a:latin typeface="Roboto"/>
                </a:rPr>
                <a:t>Sector performance benchmarking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1875F8B-1309-4165-9298-692E5EF0FE69}"/>
                </a:ext>
              </a:extLst>
            </p:cNvPr>
            <p:cNvSpPr txBox="1"/>
            <p:nvPr/>
          </p:nvSpPr>
          <p:spPr>
            <a:xfrm>
              <a:off x="1624104" y="2454704"/>
              <a:ext cx="4056316" cy="1647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0" i="0" u="none" dirty="0">
                  <a:solidFill>
                    <a:srgbClr val="475569"/>
                  </a:solidFill>
                  <a:latin typeface="Roboto"/>
                </a:rPr>
                <a:t>Outlier detection on tax rate, margins &amp; ITC ratio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145EF5-4AA2-43D4-BD68-C21503FA32F2}"/>
                </a:ext>
              </a:extLst>
            </p:cNvPr>
            <p:cNvSpPr txBox="1"/>
            <p:nvPr/>
          </p:nvSpPr>
          <p:spPr>
            <a:xfrm>
              <a:off x="1624104" y="3151220"/>
              <a:ext cx="2428875" cy="172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0" i="0" u="none">
                  <a:solidFill>
                    <a:srgbClr val="475569"/>
                  </a:solidFill>
                  <a:latin typeface="Roboto"/>
                </a:rPr>
                <a:t>Revenue estimation from high-risk segments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8642FF4-98EF-441B-8168-D6224ACC025C}"/>
                </a:ext>
              </a:extLst>
            </p:cNvPr>
            <p:cNvSpPr txBox="1"/>
            <p:nvPr/>
          </p:nvSpPr>
          <p:spPr>
            <a:xfrm>
              <a:off x="1624104" y="3323861"/>
              <a:ext cx="3573688" cy="1647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0" i="0" u="none" dirty="0">
                  <a:solidFill>
                    <a:srgbClr val="475569"/>
                  </a:solidFill>
                  <a:latin typeface="Roboto"/>
                </a:rPr>
                <a:t>Prioritization of high-value enforcement cases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E1602FA-F49E-414A-83E0-BDB5917BF579}"/>
                </a:ext>
              </a:extLst>
            </p:cNvPr>
            <p:cNvSpPr txBox="1"/>
            <p:nvPr/>
          </p:nvSpPr>
          <p:spPr>
            <a:xfrm>
              <a:off x="1509804" y="1412908"/>
              <a:ext cx="47625" cy="1714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1" i="0" u="none">
                  <a:solidFill>
                    <a:srgbClr val="475569"/>
                  </a:solidFill>
                  <a:latin typeface="Roboto"/>
                </a:rPr>
                <a:t>•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6C46982-886C-4CE1-B5E2-F2BAF70095B3}"/>
                </a:ext>
              </a:extLst>
            </p:cNvPr>
            <p:cNvSpPr txBox="1"/>
            <p:nvPr/>
          </p:nvSpPr>
          <p:spPr>
            <a:xfrm>
              <a:off x="1509804" y="1585548"/>
              <a:ext cx="47625" cy="1714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1" i="0" u="none">
                  <a:solidFill>
                    <a:srgbClr val="475569"/>
                  </a:solidFill>
                  <a:latin typeface="Roboto"/>
                </a:rPr>
                <a:t>•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44257E5-0828-41F2-9B55-3F35EE4E9024}"/>
                </a:ext>
              </a:extLst>
            </p:cNvPr>
            <p:cNvSpPr txBox="1"/>
            <p:nvPr/>
          </p:nvSpPr>
          <p:spPr>
            <a:xfrm>
              <a:off x="1509804" y="2282064"/>
              <a:ext cx="47625" cy="1714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1" i="0" u="none">
                  <a:solidFill>
                    <a:srgbClr val="475569"/>
                  </a:solidFill>
                  <a:latin typeface="Roboto"/>
                </a:rPr>
                <a:t>•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02B98B7-151B-41AD-9D2B-722B63956118}"/>
                </a:ext>
              </a:extLst>
            </p:cNvPr>
            <p:cNvSpPr txBox="1"/>
            <p:nvPr/>
          </p:nvSpPr>
          <p:spPr>
            <a:xfrm>
              <a:off x="1509804" y="2454704"/>
              <a:ext cx="47625" cy="1714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1" i="0" u="none">
                  <a:solidFill>
                    <a:srgbClr val="475569"/>
                  </a:solidFill>
                  <a:latin typeface="Roboto"/>
                </a:rPr>
                <a:t>•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E236E09-A07E-4611-87C6-28A9FA441C49}"/>
                </a:ext>
              </a:extLst>
            </p:cNvPr>
            <p:cNvSpPr txBox="1"/>
            <p:nvPr/>
          </p:nvSpPr>
          <p:spPr>
            <a:xfrm>
              <a:off x="1509804" y="3151220"/>
              <a:ext cx="47625" cy="1714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1" i="0" u="none">
                  <a:solidFill>
                    <a:srgbClr val="475569"/>
                  </a:solidFill>
                  <a:latin typeface="Roboto"/>
                </a:rPr>
                <a:t>•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0A68889-FBDE-49E3-A20E-1DC71C2D3B87}"/>
                </a:ext>
              </a:extLst>
            </p:cNvPr>
            <p:cNvSpPr txBox="1"/>
            <p:nvPr/>
          </p:nvSpPr>
          <p:spPr>
            <a:xfrm>
              <a:off x="1509804" y="3323861"/>
              <a:ext cx="47625" cy="1714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1" i="0" u="none">
                  <a:solidFill>
                    <a:srgbClr val="475569"/>
                  </a:solidFill>
                  <a:latin typeface="Roboto"/>
                </a:rPr>
                <a:t>•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4CDCD-85D7-4D4B-9AEC-4610441D8D24}"/>
              </a:ext>
            </a:extLst>
          </p:cNvPr>
          <p:cNvGrpSpPr/>
          <p:nvPr/>
        </p:nvGrpSpPr>
        <p:grpSpPr>
          <a:xfrm>
            <a:off x="7002425" y="1166399"/>
            <a:ext cx="4654808" cy="2762383"/>
            <a:chOff x="7312624" y="1156924"/>
            <a:chExt cx="3782340" cy="2340768"/>
          </a:xfrm>
        </p:grpSpPr>
        <p:pic>
          <p:nvPicPr>
            <p:cNvPr id="13" name="Picture 12" descr="image.png">
              <a:extLst>
                <a:ext uri="{FF2B5EF4-FFF2-40B4-BE49-F238E27FC236}">
                  <a16:creationId xmlns:a16="http://schemas.microsoft.com/office/drawing/2014/main" id="{3919E0FB-9745-4AF1-8277-986A1ED99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312624" y="1156924"/>
              <a:ext cx="457200" cy="457200"/>
            </a:xfrm>
            <a:prstGeom prst="rect">
              <a:avLst/>
            </a:prstGeom>
          </p:spPr>
        </p:pic>
        <p:pic>
          <p:nvPicPr>
            <p:cNvPr id="15" name="Picture 14" descr="image.png">
              <a:extLst>
                <a:ext uri="{FF2B5EF4-FFF2-40B4-BE49-F238E27FC236}">
                  <a16:creationId xmlns:a16="http://schemas.microsoft.com/office/drawing/2014/main" id="{90B28959-D6CE-462D-A5F2-1FF9BD706C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312624" y="1988446"/>
              <a:ext cx="457200" cy="457200"/>
            </a:xfrm>
            <a:prstGeom prst="rect">
              <a:avLst/>
            </a:prstGeom>
          </p:spPr>
        </p:pic>
        <p:pic>
          <p:nvPicPr>
            <p:cNvPr id="17" name="Picture 16" descr="image.png">
              <a:extLst>
                <a:ext uri="{FF2B5EF4-FFF2-40B4-BE49-F238E27FC236}">
                  <a16:creationId xmlns:a16="http://schemas.microsoft.com/office/drawing/2014/main" id="{B7C09CB0-41AB-4DCE-8205-33EFF0C3C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312624" y="2895236"/>
              <a:ext cx="457200" cy="457200"/>
            </a:xfrm>
            <a:prstGeom prst="rect">
              <a:avLst/>
            </a:prstGeom>
          </p:spPr>
        </p:pic>
        <p:pic>
          <p:nvPicPr>
            <p:cNvPr id="20" name="Picture 19" descr="image.png">
              <a:extLst>
                <a:ext uri="{FF2B5EF4-FFF2-40B4-BE49-F238E27FC236}">
                  <a16:creationId xmlns:a16="http://schemas.microsoft.com/office/drawing/2014/main" id="{83C9DDE0-ED9B-40E5-8236-78058D008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469786" y="1290274"/>
              <a:ext cx="142875" cy="1905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DB908DA-A4DE-48EC-B2A5-F475A9EDE59A}"/>
                </a:ext>
              </a:extLst>
            </p:cNvPr>
            <p:cNvSpPr txBox="1"/>
            <p:nvPr/>
          </p:nvSpPr>
          <p:spPr>
            <a:xfrm>
              <a:off x="7922224" y="1156924"/>
              <a:ext cx="2960370" cy="2190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25" b="0" i="0" u="none">
                  <a:solidFill>
                    <a:srgbClr val="0F172A"/>
                  </a:solidFill>
                  <a:latin typeface="Poppins SemiBold"/>
                </a:rPr>
                <a:t>ITC Risk &amp; Anomaly Detection</a:t>
              </a:r>
            </a:p>
          </p:txBody>
        </p:sp>
        <p:pic>
          <p:nvPicPr>
            <p:cNvPr id="24" name="Picture 23" descr="image.png">
              <a:extLst>
                <a:ext uri="{FF2B5EF4-FFF2-40B4-BE49-F238E27FC236}">
                  <a16:creationId xmlns:a16="http://schemas.microsoft.com/office/drawing/2014/main" id="{073C1F1F-69C6-4576-AD5B-40A93E45C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469786" y="2121796"/>
              <a:ext cx="142875" cy="1905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06A608-4922-4A25-99FF-DAD6863CD052}"/>
                </a:ext>
              </a:extLst>
            </p:cNvPr>
            <p:cNvSpPr txBox="1"/>
            <p:nvPr/>
          </p:nvSpPr>
          <p:spPr>
            <a:xfrm>
              <a:off x="7922224" y="1988446"/>
              <a:ext cx="2960370" cy="2190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25" b="0" i="0" u="none">
                  <a:solidFill>
                    <a:srgbClr val="0F172A"/>
                  </a:solidFill>
                  <a:latin typeface="Poppins SemiBold"/>
                </a:rPr>
                <a:t>HSN / Commodity Intelligence</a:t>
              </a:r>
            </a:p>
          </p:txBody>
        </p:sp>
        <p:pic>
          <p:nvPicPr>
            <p:cNvPr id="28" name="Picture 27" descr="image.png">
              <a:extLst>
                <a:ext uri="{FF2B5EF4-FFF2-40B4-BE49-F238E27FC236}">
                  <a16:creationId xmlns:a16="http://schemas.microsoft.com/office/drawing/2014/main" id="{24B3406B-2291-4447-8B32-748A00417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422161" y="3028586"/>
              <a:ext cx="238125" cy="1905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E4E524D-D792-44F0-8147-E2EBE327F4A2}"/>
                </a:ext>
              </a:extLst>
            </p:cNvPr>
            <p:cNvSpPr txBox="1"/>
            <p:nvPr/>
          </p:nvSpPr>
          <p:spPr>
            <a:xfrm>
              <a:off x="7922224" y="2895236"/>
              <a:ext cx="2570321" cy="2190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25" b="0" i="0" u="none" dirty="0">
                  <a:solidFill>
                    <a:srgbClr val="0F172A"/>
                  </a:solidFill>
                  <a:latin typeface="Poppins SemiBold"/>
                </a:rPr>
                <a:t>Feedback &amp; Field Intelligence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17FE84D-CD54-46E2-AC1F-2ADA1ECC6777}"/>
                </a:ext>
              </a:extLst>
            </p:cNvPr>
            <p:cNvSpPr txBox="1"/>
            <p:nvPr/>
          </p:nvSpPr>
          <p:spPr>
            <a:xfrm>
              <a:off x="8036524" y="1414099"/>
              <a:ext cx="2705100" cy="172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0" i="0" u="none">
                  <a:solidFill>
                    <a:srgbClr val="475569"/>
                  </a:solidFill>
                  <a:latin typeface="Roboto"/>
                </a:rPr>
                <a:t>Detection of abnormal ITC claims &amp; refund patterns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5049418-2A3D-45BC-AF34-764E3852BD8D}"/>
                </a:ext>
              </a:extLst>
            </p:cNvPr>
            <p:cNvSpPr txBox="1"/>
            <p:nvPr/>
          </p:nvSpPr>
          <p:spPr>
            <a:xfrm>
              <a:off x="8036524" y="1586739"/>
              <a:ext cx="2705100" cy="172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0" i="0" u="none">
                  <a:solidFill>
                    <a:srgbClr val="475569"/>
                  </a:solidFill>
                  <a:latin typeface="Roboto"/>
                </a:rPr>
                <a:t>Supplier risk analysis &amp; fake invoice identification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A9C23E4-68E7-41B8-BD8C-A00E01804AC1}"/>
                </a:ext>
              </a:extLst>
            </p:cNvPr>
            <p:cNvSpPr txBox="1"/>
            <p:nvPr/>
          </p:nvSpPr>
          <p:spPr>
            <a:xfrm>
              <a:off x="8036524" y="2245621"/>
              <a:ext cx="3058440" cy="1647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0" i="0" u="none" dirty="0">
                  <a:solidFill>
                    <a:srgbClr val="475569"/>
                  </a:solidFill>
                  <a:latin typeface="Roboto"/>
                </a:rPr>
                <a:t>Commodity flow tracking &amp; HSN anomaly</a:t>
              </a:r>
              <a:r>
                <a:rPr lang="en-US" sz="937" b="0" i="0" u="none" dirty="0">
                  <a:solidFill>
                    <a:srgbClr val="475569"/>
                  </a:solidFill>
                  <a:latin typeface="Roboto"/>
                </a:rPr>
                <a:t> </a:t>
              </a:r>
              <a:r>
                <a:rPr lang="en-IN" sz="937" b="0" i="0" u="none" dirty="0">
                  <a:solidFill>
                    <a:srgbClr val="475569"/>
                  </a:solidFill>
                  <a:latin typeface="Roboto"/>
                </a:rPr>
                <a:t>detection</a:t>
              </a:r>
              <a:endParaRPr sz="937" b="0" i="0" u="none" dirty="0">
                <a:solidFill>
                  <a:srgbClr val="475569"/>
                </a:solidFill>
                <a:latin typeface="Roboto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D8A90DD-B9FA-417C-A014-397DD70CFB9F}"/>
                </a:ext>
              </a:extLst>
            </p:cNvPr>
            <p:cNvSpPr txBox="1"/>
            <p:nvPr/>
          </p:nvSpPr>
          <p:spPr>
            <a:xfrm>
              <a:off x="8049859" y="2452107"/>
              <a:ext cx="2705100" cy="172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0" i="0" u="none" dirty="0">
                  <a:solidFill>
                    <a:srgbClr val="475569"/>
                  </a:solidFill>
                  <a:latin typeface="Roboto"/>
                </a:rPr>
                <a:t>Mapping taxpayers to HSN codes &amp; risk flags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E321ADA-9C84-4E0A-AB5D-E0C0A06A0C7D}"/>
                </a:ext>
              </a:extLst>
            </p:cNvPr>
            <p:cNvSpPr txBox="1"/>
            <p:nvPr/>
          </p:nvSpPr>
          <p:spPr>
            <a:xfrm>
              <a:off x="8036524" y="3152411"/>
              <a:ext cx="2333625" cy="172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0" i="0" u="none">
                  <a:solidFill>
                    <a:srgbClr val="475569"/>
                  </a:solidFill>
                  <a:latin typeface="Roboto"/>
                </a:rPr>
                <a:t>Captures field intelligence &amp; case outcomes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E1411D7-A160-4D2F-9028-494C92CF6C41}"/>
                </a:ext>
              </a:extLst>
            </p:cNvPr>
            <p:cNvSpPr txBox="1"/>
            <p:nvPr/>
          </p:nvSpPr>
          <p:spPr>
            <a:xfrm>
              <a:off x="8036524" y="3325052"/>
              <a:ext cx="2333625" cy="172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0" i="0" u="none">
                  <a:solidFill>
                    <a:srgbClr val="475569"/>
                  </a:solidFill>
                  <a:latin typeface="Roboto"/>
                </a:rPr>
                <a:t>Continuous improvement of risk models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CA84CD5-BCA6-46B9-883E-745EE4926F14}"/>
                </a:ext>
              </a:extLst>
            </p:cNvPr>
            <p:cNvSpPr txBox="1"/>
            <p:nvPr/>
          </p:nvSpPr>
          <p:spPr>
            <a:xfrm>
              <a:off x="7922224" y="1414099"/>
              <a:ext cx="47625" cy="1714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1" i="0" u="none">
                  <a:solidFill>
                    <a:srgbClr val="475569"/>
                  </a:solidFill>
                  <a:latin typeface="Roboto"/>
                </a:rPr>
                <a:t>•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88CC65A-3753-4846-A2E5-F8C32E7E6FA2}"/>
                </a:ext>
              </a:extLst>
            </p:cNvPr>
            <p:cNvSpPr txBox="1"/>
            <p:nvPr/>
          </p:nvSpPr>
          <p:spPr>
            <a:xfrm>
              <a:off x="7922224" y="1586739"/>
              <a:ext cx="47625" cy="1714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1" i="0" u="none">
                  <a:solidFill>
                    <a:srgbClr val="475569"/>
                  </a:solidFill>
                  <a:latin typeface="Roboto"/>
                </a:rPr>
                <a:t>•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5AF6CEE-D53F-4DEF-9EE4-229D38C56074}"/>
                </a:ext>
              </a:extLst>
            </p:cNvPr>
            <p:cNvSpPr txBox="1"/>
            <p:nvPr/>
          </p:nvSpPr>
          <p:spPr>
            <a:xfrm>
              <a:off x="7922224" y="2245621"/>
              <a:ext cx="47625" cy="1714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1" i="0" u="none">
                  <a:solidFill>
                    <a:srgbClr val="475569"/>
                  </a:solidFill>
                  <a:latin typeface="Roboto"/>
                </a:rPr>
                <a:t>•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3FD283F-90C5-443B-8B4F-CCF5B9606FC6}"/>
                </a:ext>
              </a:extLst>
            </p:cNvPr>
            <p:cNvSpPr txBox="1"/>
            <p:nvPr/>
          </p:nvSpPr>
          <p:spPr>
            <a:xfrm>
              <a:off x="7922224" y="2418261"/>
              <a:ext cx="47625" cy="1714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1" i="0" u="none">
                  <a:solidFill>
                    <a:srgbClr val="475569"/>
                  </a:solidFill>
                  <a:latin typeface="Roboto"/>
                </a:rPr>
                <a:t>•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C42C791-1BAE-4E8D-BE44-FAA554CE087E}"/>
                </a:ext>
              </a:extLst>
            </p:cNvPr>
            <p:cNvSpPr txBox="1"/>
            <p:nvPr/>
          </p:nvSpPr>
          <p:spPr>
            <a:xfrm>
              <a:off x="7922224" y="3152411"/>
              <a:ext cx="47625" cy="1714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1" i="0" u="none">
                  <a:solidFill>
                    <a:srgbClr val="475569"/>
                  </a:solidFill>
                  <a:latin typeface="Roboto"/>
                </a:rPr>
                <a:t>•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6CE5E48-BBDD-4E65-8D73-3098C79A7E54}"/>
                </a:ext>
              </a:extLst>
            </p:cNvPr>
            <p:cNvSpPr txBox="1"/>
            <p:nvPr/>
          </p:nvSpPr>
          <p:spPr>
            <a:xfrm>
              <a:off x="7922224" y="3325052"/>
              <a:ext cx="47625" cy="1714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sz="937" b="1" i="0" u="none">
                  <a:solidFill>
                    <a:srgbClr val="475569"/>
                  </a:solidFill>
                  <a:latin typeface="Roboto"/>
                </a:rPr>
                <a:t>•</a:t>
              </a:r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F301A2C1-97E3-4D30-B237-C4C67CDFA1C1}"/>
              </a:ext>
            </a:extLst>
          </p:cNvPr>
          <p:cNvSpPr/>
          <p:nvPr/>
        </p:nvSpPr>
        <p:spPr>
          <a:xfrm>
            <a:off x="2115909" y="4650748"/>
            <a:ext cx="76200" cy="19050"/>
          </a:xfrm>
          <a:prstGeom prst="rect">
            <a:avLst/>
          </a:prstGeom>
          <a:noFill/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4005DF0-3797-4CC4-9176-CB524A79676F}"/>
              </a:ext>
            </a:extLst>
          </p:cNvPr>
          <p:cNvSpPr/>
          <p:nvPr/>
        </p:nvSpPr>
        <p:spPr>
          <a:xfrm>
            <a:off x="3668484" y="4650748"/>
            <a:ext cx="76200" cy="19050"/>
          </a:xfrm>
          <a:prstGeom prst="rect">
            <a:avLst/>
          </a:prstGeom>
          <a:noFill/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72E7A46-1306-4EFC-A62A-9F9C8EA5E800}"/>
              </a:ext>
            </a:extLst>
          </p:cNvPr>
          <p:cNvSpPr/>
          <p:nvPr/>
        </p:nvSpPr>
        <p:spPr>
          <a:xfrm>
            <a:off x="5221059" y="4650748"/>
            <a:ext cx="76200" cy="19050"/>
          </a:xfrm>
          <a:prstGeom prst="rect">
            <a:avLst/>
          </a:prstGeom>
          <a:noFill/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A0CA110-F105-4AE7-84DE-207438B6B24E}"/>
              </a:ext>
            </a:extLst>
          </p:cNvPr>
          <p:cNvSpPr/>
          <p:nvPr/>
        </p:nvSpPr>
        <p:spPr>
          <a:xfrm>
            <a:off x="7059384" y="4745404"/>
            <a:ext cx="76200" cy="19050"/>
          </a:xfrm>
          <a:prstGeom prst="rect">
            <a:avLst/>
          </a:prstGeom>
          <a:noFill/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3F50674-EA43-4290-8EE4-5C22FB98E856}"/>
              </a:ext>
            </a:extLst>
          </p:cNvPr>
          <p:cNvSpPr/>
          <p:nvPr/>
        </p:nvSpPr>
        <p:spPr>
          <a:xfrm>
            <a:off x="8611959" y="4745404"/>
            <a:ext cx="76200" cy="19050"/>
          </a:xfrm>
          <a:prstGeom prst="rect">
            <a:avLst/>
          </a:prstGeom>
          <a:noFill/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AD035DD-8852-4649-A6C4-1CA8DD4D80EF}"/>
              </a:ext>
            </a:extLst>
          </p:cNvPr>
          <p:cNvSpPr/>
          <p:nvPr/>
        </p:nvSpPr>
        <p:spPr>
          <a:xfrm>
            <a:off x="10164534" y="4745404"/>
            <a:ext cx="76200" cy="19050"/>
          </a:xfrm>
          <a:prstGeom prst="rect">
            <a:avLst/>
          </a:prstGeom>
          <a:noFill/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E66CA2F0-A463-4995-81B8-3FB336F7A58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9571" y="4354879"/>
            <a:ext cx="781050" cy="781050"/>
          </a:xfrm>
          <a:prstGeom prst="rect">
            <a:avLst/>
          </a:prstGeom>
        </p:spPr>
      </p:pic>
      <p:sp>
        <p:nvSpPr>
          <p:cNvPr id="94" name="TextBox 16">
            <a:extLst>
              <a:ext uri="{FF2B5EF4-FFF2-40B4-BE49-F238E27FC236}">
                <a16:creationId xmlns:a16="http://schemas.microsoft.com/office/drawing/2014/main" id="{FFA960F1-03FD-4EA3-958E-5FE38D716B2C}"/>
              </a:ext>
            </a:extLst>
          </p:cNvPr>
          <p:cNvSpPr txBox="1"/>
          <p:nvPr/>
        </p:nvSpPr>
        <p:spPr>
          <a:xfrm>
            <a:off x="591909" y="5288329"/>
            <a:ext cx="1476375" cy="46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218"/>
              </a:lnSpc>
            </a:pPr>
            <a:r>
              <a:rPr sz="1000" b="1" i="0" u="none">
                <a:solidFill>
                  <a:srgbClr val="0F172A"/>
                </a:solidFill>
                <a:latin typeface="Poppins"/>
              </a:rPr>
              <a:t>Facial Image Cross-verification at Registration</a:t>
            </a:r>
          </a:p>
        </p:txBody>
      </p:sp>
      <p:sp>
        <p:nvSpPr>
          <p:cNvPr id="95" name="TextBox 17">
            <a:extLst>
              <a:ext uri="{FF2B5EF4-FFF2-40B4-BE49-F238E27FC236}">
                <a16:creationId xmlns:a16="http://schemas.microsoft.com/office/drawing/2014/main" id="{3C246ECA-8656-49B6-9F44-F734F1356DFB}"/>
              </a:ext>
            </a:extLst>
          </p:cNvPr>
          <p:cNvSpPr txBox="1"/>
          <p:nvPr/>
        </p:nvSpPr>
        <p:spPr>
          <a:xfrm>
            <a:off x="630009" y="5828872"/>
            <a:ext cx="1400175" cy="416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113"/>
              </a:lnSpc>
            </a:pPr>
            <a:r>
              <a:rPr sz="900" b="0" i="0" u="none">
                <a:solidFill>
                  <a:srgbClr val="475569"/>
                </a:solidFill>
                <a:latin typeface="Roboto"/>
              </a:rPr>
              <a:t>Verifies identity authenticity using facial recognition.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423910E3-72A9-440B-9AFF-C7879FBB74B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2146" y="4354879"/>
            <a:ext cx="781050" cy="781050"/>
          </a:xfrm>
          <a:prstGeom prst="rect">
            <a:avLst/>
          </a:prstGeom>
        </p:spPr>
      </p:pic>
      <p:sp>
        <p:nvSpPr>
          <p:cNvPr id="97" name="TextBox 19">
            <a:extLst>
              <a:ext uri="{FF2B5EF4-FFF2-40B4-BE49-F238E27FC236}">
                <a16:creationId xmlns:a16="http://schemas.microsoft.com/office/drawing/2014/main" id="{830BEA27-9E3C-4668-A481-921F78B8427F}"/>
              </a:ext>
            </a:extLst>
          </p:cNvPr>
          <p:cNvSpPr txBox="1"/>
          <p:nvPr/>
        </p:nvSpPr>
        <p:spPr>
          <a:xfrm>
            <a:off x="2144484" y="5288329"/>
            <a:ext cx="1476375" cy="46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218"/>
              </a:lnSpc>
            </a:pPr>
            <a:r>
              <a:rPr sz="1000" b="1" i="0" u="none">
                <a:solidFill>
                  <a:srgbClr val="0F172A"/>
                </a:solidFill>
                <a:latin typeface="Poppins"/>
              </a:rPr>
              <a:t>Behavioral &amp; Transaction Pattern Analysis</a:t>
            </a:r>
          </a:p>
        </p:txBody>
      </p:sp>
      <p:sp>
        <p:nvSpPr>
          <p:cNvPr id="98" name="TextBox 20">
            <a:extLst>
              <a:ext uri="{FF2B5EF4-FFF2-40B4-BE49-F238E27FC236}">
                <a16:creationId xmlns:a16="http://schemas.microsoft.com/office/drawing/2014/main" id="{12071683-729E-4124-BDEC-8BA0677ABF91}"/>
              </a:ext>
            </a:extLst>
          </p:cNvPr>
          <p:cNvSpPr txBox="1"/>
          <p:nvPr/>
        </p:nvSpPr>
        <p:spPr>
          <a:xfrm>
            <a:off x="2182584" y="5828872"/>
            <a:ext cx="1400175" cy="42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113"/>
              </a:lnSpc>
            </a:pPr>
            <a:r>
              <a:rPr sz="900" b="0" i="0" u="none">
                <a:solidFill>
                  <a:srgbClr val="475569"/>
                </a:solidFill>
                <a:latin typeface="Roboto"/>
              </a:rPr>
              <a:t>Detects unusual patterns in transactions and business behaviour.</a:t>
            </a: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10C914AB-D2FE-41D5-89F2-3BA9AF966C2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44721" y="4354879"/>
            <a:ext cx="781050" cy="781050"/>
          </a:xfrm>
          <a:prstGeom prst="rect">
            <a:avLst/>
          </a:prstGeom>
        </p:spPr>
      </p:pic>
      <p:sp>
        <p:nvSpPr>
          <p:cNvPr id="100" name="TextBox 22">
            <a:extLst>
              <a:ext uri="{FF2B5EF4-FFF2-40B4-BE49-F238E27FC236}">
                <a16:creationId xmlns:a16="http://schemas.microsoft.com/office/drawing/2014/main" id="{999872AB-4A35-4FD9-BA3C-32A61050EFA7}"/>
              </a:ext>
            </a:extLst>
          </p:cNvPr>
          <p:cNvSpPr txBox="1"/>
          <p:nvPr/>
        </p:nvSpPr>
        <p:spPr>
          <a:xfrm>
            <a:off x="3697059" y="5296365"/>
            <a:ext cx="147637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218"/>
              </a:lnSpc>
            </a:pPr>
            <a:r>
              <a:rPr sz="1000" b="1" i="0" u="none">
                <a:solidFill>
                  <a:srgbClr val="0F172A"/>
                </a:solidFill>
                <a:latin typeface="Poppins"/>
              </a:rPr>
              <a:t>Automated Risk Scoring of Taxpayers</a:t>
            </a:r>
          </a:p>
        </p:txBody>
      </p:sp>
      <p:sp>
        <p:nvSpPr>
          <p:cNvPr id="101" name="TextBox 23">
            <a:extLst>
              <a:ext uri="{FF2B5EF4-FFF2-40B4-BE49-F238E27FC236}">
                <a16:creationId xmlns:a16="http://schemas.microsoft.com/office/drawing/2014/main" id="{09A39579-DFCB-4DCB-B898-60FBEFC9D3BD}"/>
              </a:ext>
            </a:extLst>
          </p:cNvPr>
          <p:cNvSpPr txBox="1"/>
          <p:nvPr/>
        </p:nvSpPr>
        <p:spPr>
          <a:xfrm>
            <a:off x="3735159" y="5688379"/>
            <a:ext cx="1400175" cy="416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113"/>
              </a:lnSpc>
            </a:pPr>
            <a:r>
              <a:rPr sz="900" b="0" i="0" u="none">
                <a:solidFill>
                  <a:srgbClr val="475569"/>
                </a:solidFill>
                <a:latin typeface="Roboto"/>
              </a:rPr>
              <a:t>AI/ML based scoring to prioritize high-risk taxpayers.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BA659478-D5C0-457A-BF62-7DEE59AC457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30634" y="4354879"/>
            <a:ext cx="1047750" cy="1047750"/>
          </a:xfrm>
          <a:prstGeom prst="rect">
            <a:avLst/>
          </a:prstGeom>
        </p:spPr>
      </p:pic>
      <p:sp>
        <p:nvSpPr>
          <p:cNvPr id="103" name="TextBox 25">
            <a:extLst>
              <a:ext uri="{FF2B5EF4-FFF2-40B4-BE49-F238E27FC236}">
                <a16:creationId xmlns:a16="http://schemas.microsoft.com/office/drawing/2014/main" id="{AE4C07D6-6FED-49D3-AA04-DEE1A8B35FB1}"/>
              </a:ext>
            </a:extLst>
          </p:cNvPr>
          <p:cNvSpPr txBox="1"/>
          <p:nvPr/>
        </p:nvSpPr>
        <p:spPr>
          <a:xfrm>
            <a:off x="5344884" y="5618989"/>
            <a:ext cx="1619250" cy="3536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364"/>
              </a:lnSpc>
            </a:pPr>
            <a:r>
              <a:rPr sz="1100" b="1" i="0" u="none">
                <a:solidFill>
                  <a:srgbClr val="0C1D3D"/>
                </a:solidFill>
                <a:latin typeface="Poppins"/>
              </a:rPr>
              <a:t>Comprehensive Fraud Detection Capabilities</a:t>
            </a:r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4DDE4B79-DEF5-41C7-A0E1-85DB2771288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83246" y="4354879"/>
            <a:ext cx="781050" cy="781050"/>
          </a:xfrm>
          <a:prstGeom prst="rect">
            <a:avLst/>
          </a:prstGeom>
        </p:spPr>
      </p:pic>
      <p:sp>
        <p:nvSpPr>
          <p:cNvPr id="105" name="TextBox 27">
            <a:extLst>
              <a:ext uri="{FF2B5EF4-FFF2-40B4-BE49-F238E27FC236}">
                <a16:creationId xmlns:a16="http://schemas.microsoft.com/office/drawing/2014/main" id="{9FF5115E-0F5B-4089-B171-D60B93E8357B}"/>
              </a:ext>
            </a:extLst>
          </p:cNvPr>
          <p:cNvSpPr txBox="1"/>
          <p:nvPr/>
        </p:nvSpPr>
        <p:spPr>
          <a:xfrm>
            <a:off x="7135584" y="5296365"/>
            <a:ext cx="147637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218"/>
              </a:lnSpc>
            </a:pPr>
            <a:r>
              <a:rPr sz="1000" b="1" i="0" u="none">
                <a:solidFill>
                  <a:srgbClr val="0F172A"/>
                </a:solidFill>
                <a:latin typeface="Poppins"/>
              </a:rPr>
              <a:t>AI/ML Fake Taxpayer Detection Engine</a:t>
            </a:r>
          </a:p>
        </p:txBody>
      </p:sp>
      <p:sp>
        <p:nvSpPr>
          <p:cNvPr id="106" name="TextBox 28">
            <a:extLst>
              <a:ext uri="{FF2B5EF4-FFF2-40B4-BE49-F238E27FC236}">
                <a16:creationId xmlns:a16="http://schemas.microsoft.com/office/drawing/2014/main" id="{FF0AA02C-7BC3-4FDA-B5A7-2260F340AB6C}"/>
              </a:ext>
            </a:extLst>
          </p:cNvPr>
          <p:cNvSpPr txBox="1"/>
          <p:nvPr/>
        </p:nvSpPr>
        <p:spPr>
          <a:xfrm>
            <a:off x="7173684" y="5688379"/>
            <a:ext cx="1400175" cy="42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113"/>
              </a:lnSpc>
            </a:pPr>
            <a:r>
              <a:rPr sz="900" b="0" i="0" u="none">
                <a:solidFill>
                  <a:srgbClr val="475569"/>
                </a:solidFill>
                <a:latin typeface="Roboto"/>
              </a:rPr>
              <a:t>Identifies fake taxpayers using ITC flow &amp; network analysis.</a:t>
            </a:r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EAC5CD52-A6A3-4B6B-A63A-6E5E3C27CA7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35821" y="4354879"/>
            <a:ext cx="781050" cy="781050"/>
          </a:xfrm>
          <a:prstGeom prst="rect">
            <a:avLst/>
          </a:prstGeom>
        </p:spPr>
      </p:pic>
      <p:sp>
        <p:nvSpPr>
          <p:cNvPr id="108" name="TextBox 30">
            <a:extLst>
              <a:ext uri="{FF2B5EF4-FFF2-40B4-BE49-F238E27FC236}">
                <a16:creationId xmlns:a16="http://schemas.microsoft.com/office/drawing/2014/main" id="{50E30538-467A-4D4C-9627-BEE274A5474E}"/>
              </a:ext>
            </a:extLst>
          </p:cNvPr>
          <p:cNvSpPr txBox="1"/>
          <p:nvPr/>
        </p:nvSpPr>
        <p:spPr>
          <a:xfrm>
            <a:off x="8688159" y="5288329"/>
            <a:ext cx="1476375" cy="46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218"/>
              </a:lnSpc>
            </a:pPr>
            <a:r>
              <a:rPr sz="1000" b="1" i="0" u="none">
                <a:solidFill>
                  <a:srgbClr val="0F172A"/>
                </a:solidFill>
                <a:latin typeface="Poppins"/>
              </a:rPr>
              <a:t>Circular Trading &amp; Fake Invoicing Network Detection</a:t>
            </a:r>
          </a:p>
        </p:txBody>
      </p:sp>
      <p:sp>
        <p:nvSpPr>
          <p:cNvPr id="109" name="TextBox 31">
            <a:extLst>
              <a:ext uri="{FF2B5EF4-FFF2-40B4-BE49-F238E27FC236}">
                <a16:creationId xmlns:a16="http://schemas.microsoft.com/office/drawing/2014/main" id="{57F8E211-90E2-407B-AE90-80433D50A7F9}"/>
              </a:ext>
            </a:extLst>
          </p:cNvPr>
          <p:cNvSpPr txBox="1"/>
          <p:nvPr/>
        </p:nvSpPr>
        <p:spPr>
          <a:xfrm>
            <a:off x="8726259" y="5828872"/>
            <a:ext cx="1400175" cy="42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113"/>
              </a:lnSpc>
            </a:pPr>
            <a:r>
              <a:rPr sz="900" b="0" i="0" u="none">
                <a:solidFill>
                  <a:srgbClr val="475569"/>
                </a:solidFill>
                <a:latin typeface="Roboto"/>
              </a:rPr>
              <a:t>Detects circular trading networks and fake invoicing patterns.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913C6057-6D45-46DE-B770-665DDB90B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88396" y="4354879"/>
            <a:ext cx="781050" cy="781050"/>
          </a:xfrm>
          <a:prstGeom prst="rect">
            <a:avLst/>
          </a:prstGeom>
        </p:spPr>
      </p:pic>
      <p:sp>
        <p:nvSpPr>
          <p:cNvPr id="111" name="TextBox 33">
            <a:extLst>
              <a:ext uri="{FF2B5EF4-FFF2-40B4-BE49-F238E27FC236}">
                <a16:creationId xmlns:a16="http://schemas.microsoft.com/office/drawing/2014/main" id="{EB4E82B8-BE9D-493F-AA0B-9C5688462D32}"/>
              </a:ext>
            </a:extLst>
          </p:cNvPr>
          <p:cNvSpPr txBox="1"/>
          <p:nvPr/>
        </p:nvSpPr>
        <p:spPr>
          <a:xfrm>
            <a:off x="10240734" y="5288329"/>
            <a:ext cx="1476375" cy="619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218"/>
              </a:lnSpc>
            </a:pPr>
            <a:r>
              <a:rPr sz="1000" b="1" i="0" u="none">
                <a:solidFill>
                  <a:srgbClr val="0F172A"/>
                </a:solidFill>
                <a:latin typeface="Poppins"/>
              </a:rPr>
              <a:t>OCR-based Verification of Documents (Bills, Agreements &amp; More)</a:t>
            </a:r>
          </a:p>
        </p:txBody>
      </p:sp>
      <p:sp>
        <p:nvSpPr>
          <p:cNvPr id="112" name="TextBox 34">
            <a:extLst>
              <a:ext uri="{FF2B5EF4-FFF2-40B4-BE49-F238E27FC236}">
                <a16:creationId xmlns:a16="http://schemas.microsoft.com/office/drawing/2014/main" id="{42BFBD6A-18C1-4642-953D-A0B78A594278}"/>
              </a:ext>
            </a:extLst>
          </p:cNvPr>
          <p:cNvSpPr txBox="1"/>
          <p:nvPr/>
        </p:nvSpPr>
        <p:spPr>
          <a:xfrm>
            <a:off x="10278834" y="5983654"/>
            <a:ext cx="1476375" cy="557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113"/>
              </a:lnSpc>
            </a:pPr>
            <a:r>
              <a:rPr sz="900" b="0" i="0" u="none" dirty="0">
                <a:solidFill>
                  <a:srgbClr val="475569"/>
                </a:solidFill>
                <a:latin typeface="Roboto"/>
              </a:rPr>
              <a:t>Automated OCR verification of supporting documents to detect anomalies and mismatches.</a:t>
            </a: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244C2A4C-5E65-4BCE-AD2C-DE24FE33EBA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87221" y="4498348"/>
            <a:ext cx="381000" cy="304800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BD7AE7A2-33B9-48A1-BC2D-124012BEB9D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777896" y="4498348"/>
            <a:ext cx="304800" cy="304800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494311FE-E5D9-472F-AF9D-D049C8D7B3B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30471" y="4498348"/>
            <a:ext cx="304800" cy="304800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B2546E05-EF8E-4229-A2E8-71BF96168A4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925909" y="4650154"/>
            <a:ext cx="457200" cy="457200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613A178F-3464-4EAA-98CD-9BBEFB1631D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702321" y="4593004"/>
            <a:ext cx="342900" cy="30480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47CDC676-2136-4663-9F69-097E57CFA28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273946" y="4593004"/>
            <a:ext cx="304800" cy="304800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43DE536E-37DD-4AE4-8029-32AB098AD53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826521" y="4593004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265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316FC-F5AC-6D8E-ADD3-2F56A4DD5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B320E5-9D53-E3BD-B2C5-D70FB280D1F8}"/>
              </a:ext>
            </a:extLst>
          </p:cNvPr>
          <p:cNvSpPr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Driven Monitoring System &amp; Enforcement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36DDD3-2642-D002-A51D-D62CEB092177}"/>
              </a:ext>
            </a:extLst>
          </p:cNvPr>
          <p:cNvSpPr/>
          <p:nvPr/>
        </p:nvSpPr>
        <p:spPr>
          <a:xfrm>
            <a:off x="647792" y="6057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analytical ecosystem enabling real time monitoring, intelligent risk assessment and targeted enforcement</a:t>
            </a:r>
            <a:endParaRPr lang="en-US" sz="1300" dirty="0"/>
          </a:p>
        </p:txBody>
      </p:sp>
      <p:pic>
        <p:nvPicPr>
          <p:cNvPr id="54" name="Picture 53" descr="image.png">
            <a:extLst>
              <a:ext uri="{FF2B5EF4-FFF2-40B4-BE49-F238E27FC236}">
                <a16:creationId xmlns:a16="http://schemas.microsoft.com/office/drawing/2014/main" id="{4E7D3E55-570A-4E92-9CC9-604321056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6391275"/>
            <a:ext cx="11334750" cy="257175"/>
          </a:xfrm>
          <a:prstGeom prst="rect">
            <a:avLst/>
          </a:prstGeom>
        </p:spPr>
      </p:pic>
      <p:pic>
        <p:nvPicPr>
          <p:cNvPr id="55" name="Picture 54" descr="image.png">
            <a:extLst>
              <a:ext uri="{FF2B5EF4-FFF2-40B4-BE49-F238E27FC236}">
                <a16:creationId xmlns:a16="http://schemas.microsoft.com/office/drawing/2014/main" id="{68CBEACA-891D-499F-98EC-66F1E95E1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876300"/>
            <a:ext cx="6401990" cy="342900"/>
          </a:xfrm>
          <a:prstGeom prst="rect">
            <a:avLst/>
          </a:prstGeom>
        </p:spPr>
      </p:pic>
      <p:pic>
        <p:nvPicPr>
          <p:cNvPr id="56" name="Picture 55" descr="image.png">
            <a:extLst>
              <a:ext uri="{FF2B5EF4-FFF2-40B4-BE49-F238E27FC236}">
                <a16:creationId xmlns:a16="http://schemas.microsoft.com/office/drawing/2014/main" id="{114FA068-190B-400D-ADFF-4F42CA10F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303" y="1219200"/>
            <a:ext cx="6401990" cy="5076825"/>
          </a:xfrm>
          <a:prstGeom prst="rect">
            <a:avLst/>
          </a:prstGeom>
        </p:spPr>
      </p:pic>
      <p:pic>
        <p:nvPicPr>
          <p:cNvPr id="57" name="Picture 56" descr="image.png">
            <a:extLst>
              <a:ext uri="{FF2B5EF4-FFF2-40B4-BE49-F238E27FC236}">
                <a16:creationId xmlns:a16="http://schemas.microsoft.com/office/drawing/2014/main" id="{37F3600F-FC1B-4D89-8125-3306900AF4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1115" y="876300"/>
            <a:ext cx="4742259" cy="342900"/>
          </a:xfrm>
          <a:prstGeom prst="rect">
            <a:avLst/>
          </a:prstGeom>
        </p:spPr>
      </p:pic>
      <p:pic>
        <p:nvPicPr>
          <p:cNvPr id="58" name="Picture 57" descr="image.png">
            <a:extLst>
              <a:ext uri="{FF2B5EF4-FFF2-40B4-BE49-F238E27FC236}">
                <a16:creationId xmlns:a16="http://schemas.microsoft.com/office/drawing/2014/main" id="{AEBB79AD-DA7F-4C96-833E-37B1505C2F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1115" y="1219200"/>
            <a:ext cx="4742259" cy="5076825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DB67F7D9-8FAA-4D0C-9FFD-A4DFED014644}"/>
              </a:ext>
            </a:extLst>
          </p:cNvPr>
          <p:cNvSpPr txBox="1"/>
          <p:nvPr/>
        </p:nvSpPr>
        <p:spPr>
          <a:xfrm>
            <a:off x="428625" y="6477000"/>
            <a:ext cx="36861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C1D3D"/>
                </a:solidFill>
                <a:latin typeface="Poppins SemiBold"/>
              </a:rPr>
              <a:t>Government of Rajasthan | GST Revenue Trends 2026–27</a:t>
            </a:r>
          </a:p>
        </p:txBody>
      </p:sp>
      <p:sp>
        <p:nvSpPr>
          <p:cNvPr id="60" name="Rounded Rectangle 9">
            <a:extLst>
              <a:ext uri="{FF2B5EF4-FFF2-40B4-BE49-F238E27FC236}">
                <a16:creationId xmlns:a16="http://schemas.microsoft.com/office/drawing/2014/main" id="{271E9C13-502A-4F6D-9F38-7D8C2AC270CF}"/>
              </a:ext>
            </a:extLst>
          </p:cNvPr>
          <p:cNvSpPr/>
          <p:nvPr/>
        </p:nvSpPr>
        <p:spPr>
          <a:xfrm>
            <a:off x="11649075" y="65055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image.png">
            <a:extLst>
              <a:ext uri="{FF2B5EF4-FFF2-40B4-BE49-F238E27FC236}">
                <a16:creationId xmlns:a16="http://schemas.microsoft.com/office/drawing/2014/main" id="{D8A0D361-ED52-42EB-93ED-4B464CEEF6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5793134"/>
            <a:ext cx="247650" cy="24765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3DA4666B-CE89-4EED-B83C-325932157CB3}"/>
              </a:ext>
            </a:extLst>
          </p:cNvPr>
          <p:cNvSpPr txBox="1"/>
          <p:nvPr/>
        </p:nvSpPr>
        <p:spPr>
          <a:xfrm>
            <a:off x="1085850" y="5756969"/>
            <a:ext cx="546854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0C1D3D"/>
                </a:solidFill>
                <a:latin typeface="Poppins SemiBold"/>
              </a:rPr>
              <a:t>Unified data ecosystem enables comprehensive taxpayer profiling, cross-verification and intelligence-led enforcement.</a:t>
            </a:r>
          </a:p>
        </p:txBody>
      </p:sp>
      <p:pic>
        <p:nvPicPr>
          <p:cNvPr id="63" name="Picture 62" descr="image.png">
            <a:extLst>
              <a:ext uri="{FF2B5EF4-FFF2-40B4-BE49-F238E27FC236}">
                <a16:creationId xmlns:a16="http://schemas.microsoft.com/office/drawing/2014/main" id="{080DE411-007E-4E47-9B77-CE2EECF1A2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2090" y="1371600"/>
            <a:ext cx="381000" cy="381000"/>
          </a:xfrm>
          <a:prstGeom prst="rect">
            <a:avLst/>
          </a:prstGeom>
        </p:spPr>
      </p:pic>
      <p:pic>
        <p:nvPicPr>
          <p:cNvPr id="64" name="Picture 63" descr="image.png">
            <a:extLst>
              <a:ext uri="{FF2B5EF4-FFF2-40B4-BE49-F238E27FC236}">
                <a16:creationId xmlns:a16="http://schemas.microsoft.com/office/drawing/2014/main" id="{9D71FE8B-BDEE-4C64-8F6B-71E8AD3987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2090" y="2429619"/>
            <a:ext cx="381000" cy="381000"/>
          </a:xfrm>
          <a:prstGeom prst="rect">
            <a:avLst/>
          </a:prstGeom>
        </p:spPr>
      </p:pic>
      <p:pic>
        <p:nvPicPr>
          <p:cNvPr id="65" name="Picture 64" descr="image.png">
            <a:extLst>
              <a:ext uri="{FF2B5EF4-FFF2-40B4-BE49-F238E27FC236}">
                <a16:creationId xmlns:a16="http://schemas.microsoft.com/office/drawing/2014/main" id="{F86A1973-5A8B-4395-9A15-766D204538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02090" y="3487638"/>
            <a:ext cx="381000" cy="381000"/>
          </a:xfrm>
          <a:prstGeom prst="rect">
            <a:avLst/>
          </a:prstGeom>
        </p:spPr>
      </p:pic>
      <p:pic>
        <p:nvPicPr>
          <p:cNvPr id="66" name="Picture 65" descr="image.png">
            <a:extLst>
              <a:ext uri="{FF2B5EF4-FFF2-40B4-BE49-F238E27FC236}">
                <a16:creationId xmlns:a16="http://schemas.microsoft.com/office/drawing/2014/main" id="{999327C7-56A3-46EC-9A97-4902AFD6642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02090" y="4545657"/>
            <a:ext cx="381000" cy="381000"/>
          </a:xfrm>
          <a:prstGeom prst="rect">
            <a:avLst/>
          </a:prstGeom>
        </p:spPr>
      </p:pic>
      <p:pic>
        <p:nvPicPr>
          <p:cNvPr id="67" name="Picture 66" descr="image.png">
            <a:extLst>
              <a:ext uri="{FF2B5EF4-FFF2-40B4-BE49-F238E27FC236}">
                <a16:creationId xmlns:a16="http://schemas.microsoft.com/office/drawing/2014/main" id="{D6D5B7AA-C169-4A96-B322-E7944B8737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2090" y="5603676"/>
            <a:ext cx="381000" cy="381000"/>
          </a:xfrm>
          <a:prstGeom prst="rect">
            <a:avLst/>
          </a:prstGeom>
        </p:spPr>
      </p:pic>
      <p:pic>
        <p:nvPicPr>
          <p:cNvPr id="68" name="Picture 67" descr="image.png">
            <a:extLst>
              <a:ext uri="{FF2B5EF4-FFF2-40B4-BE49-F238E27FC236}">
                <a16:creationId xmlns:a16="http://schemas.microsoft.com/office/drawing/2014/main" id="{81C7930A-651A-4477-815D-CB28EAF0E34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9805" y="1371600"/>
            <a:ext cx="495300" cy="49530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0BC19A05-61EA-4B23-A44A-C989A0EF6963}"/>
              </a:ext>
            </a:extLst>
          </p:cNvPr>
          <p:cNvSpPr txBox="1"/>
          <p:nvPr/>
        </p:nvSpPr>
        <p:spPr>
          <a:xfrm>
            <a:off x="884856" y="1981869"/>
            <a:ext cx="988071" cy="141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sz="1050" b="0" i="0" u="none" dirty="0">
                <a:solidFill>
                  <a:srgbClr val="0F172A"/>
                </a:solidFill>
                <a:latin typeface="Poppins SemiBold"/>
              </a:rPr>
              <a:t>E-Way Bill</a:t>
            </a:r>
            <a:r>
              <a:rPr lang="en-US" sz="1050" b="0" i="0" u="none" dirty="0">
                <a:solidFill>
                  <a:srgbClr val="0F172A"/>
                </a:solidFill>
                <a:latin typeface="Poppins SemiBold"/>
              </a:rPr>
              <a:t> </a:t>
            </a:r>
            <a:r>
              <a:rPr lang="en-IN" sz="1050" dirty="0"/>
              <a:t>✅</a:t>
            </a:r>
            <a:endParaRPr sz="1050" b="0" i="0" u="none" dirty="0">
              <a:solidFill>
                <a:srgbClr val="0F172A"/>
              </a:solidFill>
              <a:latin typeface="Poppins SemiBold"/>
            </a:endParaRPr>
          </a:p>
        </p:txBody>
      </p:sp>
      <p:pic>
        <p:nvPicPr>
          <p:cNvPr id="70" name="Picture 69" descr="image.png">
            <a:extLst>
              <a:ext uri="{FF2B5EF4-FFF2-40B4-BE49-F238E27FC236}">
                <a16:creationId xmlns:a16="http://schemas.microsoft.com/office/drawing/2014/main" id="{389EDB93-4EAD-41F7-A36A-08677AC47E9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07915" y="1371600"/>
            <a:ext cx="495300" cy="49530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CAAF2F29-83D3-4C2F-9A74-CB2D9E983377}"/>
              </a:ext>
            </a:extLst>
          </p:cNvPr>
          <p:cNvSpPr txBox="1"/>
          <p:nvPr/>
        </p:nvSpPr>
        <p:spPr>
          <a:xfrm>
            <a:off x="2491220" y="1990461"/>
            <a:ext cx="793937" cy="141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sz="1050" b="0" i="0" u="none" dirty="0">
                <a:solidFill>
                  <a:srgbClr val="0F172A"/>
                </a:solidFill>
                <a:latin typeface="Poppins SemiBold"/>
              </a:rPr>
              <a:t>VAHAN</a:t>
            </a:r>
            <a:r>
              <a:rPr lang="en-US" sz="1050" b="0" i="0" u="none" dirty="0">
                <a:solidFill>
                  <a:srgbClr val="0F172A"/>
                </a:solidFill>
                <a:latin typeface="Poppins SemiBold"/>
              </a:rPr>
              <a:t> 💾 </a:t>
            </a:r>
            <a:endParaRPr sz="1050" b="0" i="0" u="none" dirty="0">
              <a:solidFill>
                <a:srgbClr val="0F172A"/>
              </a:solidFill>
              <a:latin typeface="Poppins SemiBold"/>
            </a:endParaRPr>
          </a:p>
        </p:txBody>
      </p:sp>
      <p:pic>
        <p:nvPicPr>
          <p:cNvPr id="72" name="Picture 71" descr="image.png">
            <a:extLst>
              <a:ext uri="{FF2B5EF4-FFF2-40B4-BE49-F238E27FC236}">
                <a16:creationId xmlns:a16="http://schemas.microsoft.com/office/drawing/2014/main" id="{3F80282E-3EF6-4DAF-936F-88268E06141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56025" y="1371600"/>
            <a:ext cx="495300" cy="495300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7904CD5C-0538-44B2-9FC7-DCB3349AD03B}"/>
              </a:ext>
            </a:extLst>
          </p:cNvPr>
          <p:cNvSpPr txBox="1"/>
          <p:nvPr/>
        </p:nvSpPr>
        <p:spPr>
          <a:xfrm>
            <a:off x="3836937" y="1943100"/>
            <a:ext cx="1133475" cy="282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sz="1050" b="0" i="0" u="none" dirty="0">
                <a:solidFill>
                  <a:srgbClr val="0F172A"/>
                </a:solidFill>
                <a:latin typeface="Poppins SemiBold"/>
              </a:rPr>
              <a:t>Mining Department</a:t>
            </a:r>
            <a:r>
              <a:rPr lang="en-US" sz="1050" b="0" i="0" u="none" dirty="0">
                <a:solidFill>
                  <a:srgbClr val="0F172A"/>
                </a:solidFill>
                <a:latin typeface="Poppins SemiBold"/>
              </a:rPr>
              <a:t> 💾</a:t>
            </a:r>
            <a:endParaRPr sz="1050" b="0" i="0" u="none" dirty="0">
              <a:solidFill>
                <a:srgbClr val="0F172A"/>
              </a:solidFill>
              <a:latin typeface="Poppins SemiBold"/>
            </a:endParaRPr>
          </a:p>
        </p:txBody>
      </p:sp>
      <p:pic>
        <p:nvPicPr>
          <p:cNvPr id="74" name="Picture 73" descr="image.png">
            <a:extLst>
              <a:ext uri="{FF2B5EF4-FFF2-40B4-BE49-F238E27FC236}">
                <a16:creationId xmlns:a16="http://schemas.microsoft.com/office/drawing/2014/main" id="{8D300283-3DAE-4491-AA2E-0E20CDE1DC6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04135" y="1371600"/>
            <a:ext cx="495300" cy="495300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72D9005D-97EF-46C7-94C0-17E56AEB8D00}"/>
              </a:ext>
            </a:extLst>
          </p:cNvPr>
          <p:cNvSpPr txBox="1"/>
          <p:nvPr/>
        </p:nvSpPr>
        <p:spPr>
          <a:xfrm>
            <a:off x="5380285" y="1943100"/>
            <a:ext cx="1143000" cy="282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sz="1050" b="0" i="0" u="none" dirty="0">
                <a:solidFill>
                  <a:srgbClr val="0F172A"/>
                </a:solidFill>
                <a:latin typeface="Poppins SemiBold"/>
              </a:rPr>
              <a:t>Electricity Department</a:t>
            </a:r>
            <a:r>
              <a:rPr lang="en-US" sz="1050" b="0" i="0" u="none" dirty="0">
                <a:solidFill>
                  <a:srgbClr val="0F172A"/>
                </a:solidFill>
                <a:latin typeface="Poppins SemiBold"/>
              </a:rPr>
              <a:t> </a:t>
            </a:r>
            <a:r>
              <a:rPr lang="en-IN" sz="1050" dirty="0"/>
              <a:t>✅</a:t>
            </a:r>
            <a:endParaRPr sz="1050" b="0" i="0" u="none" dirty="0">
              <a:solidFill>
                <a:srgbClr val="0F172A"/>
              </a:solidFill>
              <a:latin typeface="Poppins SemiBold"/>
            </a:endParaRPr>
          </a:p>
        </p:txBody>
      </p:sp>
      <p:pic>
        <p:nvPicPr>
          <p:cNvPr id="76" name="Picture 75" descr="image.png">
            <a:extLst>
              <a:ext uri="{FF2B5EF4-FFF2-40B4-BE49-F238E27FC236}">
                <a16:creationId xmlns:a16="http://schemas.microsoft.com/office/drawing/2014/main" id="{C6F40A2A-D7F2-4BE0-B813-5801A9CE1AA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9805" y="2723158"/>
            <a:ext cx="495300" cy="49530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B17B3679-5336-4A4B-AF1B-26A26CF9B068}"/>
              </a:ext>
            </a:extLst>
          </p:cNvPr>
          <p:cNvSpPr txBox="1"/>
          <p:nvPr/>
        </p:nvSpPr>
        <p:spPr>
          <a:xfrm>
            <a:off x="996774" y="3367296"/>
            <a:ext cx="621359" cy="141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sz="1050" b="0" i="0" u="none" dirty="0">
                <a:solidFill>
                  <a:srgbClr val="0F172A"/>
                </a:solidFill>
                <a:latin typeface="Poppins SemiBold"/>
              </a:rPr>
              <a:t>RERA</a:t>
            </a:r>
            <a:r>
              <a:rPr lang="en-US" sz="1050" b="0" i="0" u="none" dirty="0">
                <a:solidFill>
                  <a:srgbClr val="0F172A"/>
                </a:solidFill>
                <a:latin typeface="Poppins SemiBold"/>
              </a:rPr>
              <a:t> 💾</a:t>
            </a:r>
            <a:endParaRPr sz="1050" b="0" i="0" u="none" dirty="0">
              <a:solidFill>
                <a:srgbClr val="0F172A"/>
              </a:solidFill>
              <a:latin typeface="Poppins SemiBold"/>
            </a:endParaRPr>
          </a:p>
        </p:txBody>
      </p:sp>
      <p:pic>
        <p:nvPicPr>
          <p:cNvPr id="78" name="Picture 77" descr="image.png">
            <a:extLst>
              <a:ext uri="{FF2B5EF4-FFF2-40B4-BE49-F238E27FC236}">
                <a16:creationId xmlns:a16="http://schemas.microsoft.com/office/drawing/2014/main" id="{1D9FB80E-1B7F-42B7-AE10-ED0C6E89AB0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07915" y="2723158"/>
            <a:ext cx="495300" cy="495300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0028816F-7874-4661-AE0E-10DBF0C2C8BD}"/>
              </a:ext>
            </a:extLst>
          </p:cNvPr>
          <p:cNvSpPr txBox="1"/>
          <p:nvPr/>
        </p:nvSpPr>
        <p:spPr>
          <a:xfrm>
            <a:off x="2640539" y="3390932"/>
            <a:ext cx="495300" cy="143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sz="1050" b="0" i="0" u="none" dirty="0">
                <a:solidFill>
                  <a:srgbClr val="0F172A"/>
                </a:solidFill>
                <a:latin typeface="Poppins SemiBold"/>
              </a:rPr>
              <a:t>IFMS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609EC5D-BDDF-43AB-8537-1E4FCAE4A210}"/>
              </a:ext>
            </a:extLst>
          </p:cNvPr>
          <p:cNvSpPr txBox="1"/>
          <p:nvPr/>
        </p:nvSpPr>
        <p:spPr>
          <a:xfrm>
            <a:off x="3853339" y="3380037"/>
            <a:ext cx="1143000" cy="143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1050" b="0" i="0" u="none" dirty="0">
                <a:solidFill>
                  <a:srgbClr val="0F172A"/>
                </a:solidFill>
                <a:latin typeface="Poppins SemiBold"/>
              </a:rPr>
              <a:t>Income Tax</a:t>
            </a:r>
            <a:endParaRPr sz="1050" b="0" i="0" u="none" dirty="0">
              <a:solidFill>
                <a:srgbClr val="0F172A"/>
              </a:solidFill>
              <a:latin typeface="Poppins SemiBold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419E21B-2B91-4B89-8A9B-A64152E3CB44}"/>
              </a:ext>
            </a:extLst>
          </p:cNvPr>
          <p:cNvSpPr txBox="1"/>
          <p:nvPr/>
        </p:nvSpPr>
        <p:spPr>
          <a:xfrm>
            <a:off x="5416332" y="3399020"/>
            <a:ext cx="1143000" cy="143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1050" b="0" i="0" u="none" dirty="0">
                <a:solidFill>
                  <a:srgbClr val="0F172A"/>
                </a:solidFill>
                <a:latin typeface="Poppins SemiBold"/>
              </a:rPr>
              <a:t>NPCI</a:t>
            </a:r>
            <a:endParaRPr sz="1050" b="0" i="0" u="none" dirty="0">
              <a:solidFill>
                <a:srgbClr val="0F172A"/>
              </a:solidFill>
              <a:latin typeface="Poppins SemiBold"/>
            </a:endParaRPr>
          </a:p>
        </p:txBody>
      </p:sp>
      <p:pic>
        <p:nvPicPr>
          <p:cNvPr id="84" name="Picture 83" descr="image.png">
            <a:extLst>
              <a:ext uri="{FF2B5EF4-FFF2-40B4-BE49-F238E27FC236}">
                <a16:creationId xmlns:a16="http://schemas.microsoft.com/office/drawing/2014/main" id="{AD680626-2B2D-437C-8C7D-98C53B83EDB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9805" y="4003695"/>
            <a:ext cx="495300" cy="495300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F28D31D6-CA12-477F-AB13-900C99F77155}"/>
              </a:ext>
            </a:extLst>
          </p:cNvPr>
          <p:cNvSpPr txBox="1"/>
          <p:nvPr/>
        </p:nvSpPr>
        <p:spPr>
          <a:xfrm>
            <a:off x="899144" y="4689495"/>
            <a:ext cx="988071" cy="141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sz="1050" b="0" i="0" u="none" dirty="0">
                <a:solidFill>
                  <a:srgbClr val="0F172A"/>
                </a:solidFill>
                <a:latin typeface="Poppins SemiBold"/>
              </a:rPr>
              <a:t>IGRS</a:t>
            </a:r>
            <a:r>
              <a:rPr lang="en-US" sz="1050" b="0" i="0" u="none" dirty="0">
                <a:solidFill>
                  <a:srgbClr val="0F172A"/>
                </a:solidFill>
                <a:latin typeface="Poppins SemiBold"/>
              </a:rPr>
              <a:t> </a:t>
            </a:r>
            <a:r>
              <a:rPr lang="en-IN" sz="1050" dirty="0"/>
              <a:t>✅</a:t>
            </a:r>
            <a:endParaRPr sz="1050" b="0" i="0" u="none" dirty="0">
              <a:solidFill>
                <a:srgbClr val="0F172A"/>
              </a:solidFill>
              <a:latin typeface="Poppins SemiBold"/>
            </a:endParaRPr>
          </a:p>
        </p:txBody>
      </p:sp>
      <p:pic>
        <p:nvPicPr>
          <p:cNvPr id="86" name="Picture 85" descr="image.png">
            <a:extLst>
              <a:ext uri="{FF2B5EF4-FFF2-40B4-BE49-F238E27FC236}">
                <a16:creationId xmlns:a16="http://schemas.microsoft.com/office/drawing/2014/main" id="{141A7ED3-BDE9-419B-AEC0-BA9A8D5CDEE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07915" y="4003695"/>
            <a:ext cx="495300" cy="495300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45EFC9AC-14D2-4683-8D93-B6E1ABFC6C59}"/>
              </a:ext>
            </a:extLst>
          </p:cNvPr>
          <p:cNvSpPr txBox="1"/>
          <p:nvPr/>
        </p:nvSpPr>
        <p:spPr>
          <a:xfrm>
            <a:off x="2741264" y="4575195"/>
            <a:ext cx="280541" cy="143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sz="1050" b="0" i="0" u="none">
                <a:solidFill>
                  <a:srgbClr val="0F172A"/>
                </a:solidFill>
                <a:latin typeface="Poppins SemiBold"/>
              </a:rPr>
              <a:t>JDA</a:t>
            </a:r>
          </a:p>
        </p:txBody>
      </p:sp>
      <p:pic>
        <p:nvPicPr>
          <p:cNvPr id="88" name="Picture 87" descr="image.png">
            <a:extLst>
              <a:ext uri="{FF2B5EF4-FFF2-40B4-BE49-F238E27FC236}">
                <a16:creationId xmlns:a16="http://schemas.microsoft.com/office/drawing/2014/main" id="{3C81758C-F489-4B97-961D-C1CEBADC11C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56025" y="4003695"/>
            <a:ext cx="495300" cy="495300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5EA35BA3-7FA4-4648-9FA2-A638F858CCD2}"/>
              </a:ext>
            </a:extLst>
          </p:cNvPr>
          <p:cNvSpPr txBox="1"/>
          <p:nvPr/>
        </p:nvSpPr>
        <p:spPr>
          <a:xfrm>
            <a:off x="4284612" y="4575195"/>
            <a:ext cx="366713" cy="143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sz="1050" b="0" i="0" u="none">
                <a:solidFill>
                  <a:srgbClr val="0F172A"/>
                </a:solidFill>
                <a:latin typeface="Poppins SemiBold"/>
              </a:rPr>
              <a:t>UHD</a:t>
            </a:r>
          </a:p>
        </p:txBody>
      </p:sp>
      <p:pic>
        <p:nvPicPr>
          <p:cNvPr id="90" name="Picture 89" descr="image.png">
            <a:extLst>
              <a:ext uri="{FF2B5EF4-FFF2-40B4-BE49-F238E27FC236}">
                <a16:creationId xmlns:a16="http://schemas.microsoft.com/office/drawing/2014/main" id="{1BD75580-0876-489B-AB62-BDEDABEBDC8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04135" y="4003695"/>
            <a:ext cx="495300" cy="495300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1AD9A191-D72F-46A1-8AA1-0508929CF641}"/>
              </a:ext>
            </a:extLst>
          </p:cNvPr>
          <p:cNvSpPr txBox="1"/>
          <p:nvPr/>
        </p:nvSpPr>
        <p:spPr>
          <a:xfrm>
            <a:off x="5704135" y="4575195"/>
            <a:ext cx="585788" cy="141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sz="1050" b="0" i="0" u="none" dirty="0">
                <a:solidFill>
                  <a:srgbClr val="0F172A"/>
                </a:solidFill>
                <a:latin typeface="Poppins SemiBold"/>
              </a:rPr>
              <a:t>RGHS</a:t>
            </a:r>
            <a:r>
              <a:rPr lang="en-US" sz="1050" b="0" i="0" u="none" dirty="0">
                <a:solidFill>
                  <a:srgbClr val="0F172A"/>
                </a:solidFill>
                <a:latin typeface="Poppins SemiBold"/>
              </a:rPr>
              <a:t> 💾</a:t>
            </a:r>
            <a:endParaRPr sz="1050" b="0" i="0" u="none" dirty="0">
              <a:solidFill>
                <a:srgbClr val="0F172A"/>
              </a:solidFill>
              <a:latin typeface="Poppins SemiBold"/>
            </a:endParaRPr>
          </a:p>
        </p:txBody>
      </p:sp>
      <p:pic>
        <p:nvPicPr>
          <p:cNvPr id="92" name="Picture 91" descr="image.png">
            <a:extLst>
              <a:ext uri="{FF2B5EF4-FFF2-40B4-BE49-F238E27FC236}">
                <a16:creationId xmlns:a16="http://schemas.microsoft.com/office/drawing/2014/main" id="{55744CA7-3FBC-4E01-A79F-B50BCBACBBE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16390" y="1485900"/>
            <a:ext cx="152400" cy="1524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5D56073D-B014-4F99-8C91-6C05D9CBA56C}"/>
              </a:ext>
            </a:extLst>
          </p:cNvPr>
          <p:cNvSpPr txBox="1"/>
          <p:nvPr/>
        </p:nvSpPr>
        <p:spPr>
          <a:xfrm>
            <a:off x="7716440" y="1352550"/>
            <a:ext cx="405925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0F172A"/>
                </a:solidFill>
                <a:latin typeface="Poppins SemiBold"/>
              </a:rPr>
              <a:t>Early Detection of Fraud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D5454C1-9B31-452D-A7FF-5389339D9608}"/>
              </a:ext>
            </a:extLst>
          </p:cNvPr>
          <p:cNvSpPr txBox="1"/>
          <p:nvPr/>
        </p:nvSpPr>
        <p:spPr>
          <a:xfrm>
            <a:off x="7716440" y="1562100"/>
            <a:ext cx="3865959" cy="282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1050" b="0" i="0" u="none" dirty="0">
                <a:solidFill>
                  <a:srgbClr val="475569"/>
                </a:solidFill>
                <a:latin typeface="Roboto"/>
              </a:rPr>
              <a:t>Advanced analytics and AI/ML models enable proactive identification of high-risk taxpayers and suspicious transactions.</a:t>
            </a:r>
          </a:p>
        </p:txBody>
      </p:sp>
      <p:pic>
        <p:nvPicPr>
          <p:cNvPr id="95" name="Picture 94" descr="image.png">
            <a:extLst>
              <a:ext uri="{FF2B5EF4-FFF2-40B4-BE49-F238E27FC236}">
                <a16:creationId xmlns:a16="http://schemas.microsoft.com/office/drawing/2014/main" id="{E67F5F1E-1C16-4AB3-B2B0-707F510549C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16390" y="2543919"/>
            <a:ext cx="152400" cy="15240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D2E87513-1931-46C1-8C3D-3FCE10C09A3E}"/>
              </a:ext>
            </a:extLst>
          </p:cNvPr>
          <p:cNvSpPr txBox="1"/>
          <p:nvPr/>
        </p:nvSpPr>
        <p:spPr>
          <a:xfrm>
            <a:off x="7716440" y="2410569"/>
            <a:ext cx="405925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oppins SemiBold"/>
              </a:rPr>
              <a:t>Prevention of Revenue Leakage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FA85C9A-CA37-4FF4-9D1F-753A92DF523F}"/>
              </a:ext>
            </a:extLst>
          </p:cNvPr>
          <p:cNvSpPr txBox="1"/>
          <p:nvPr/>
        </p:nvSpPr>
        <p:spPr>
          <a:xfrm>
            <a:off x="7716440" y="2620119"/>
            <a:ext cx="3865959" cy="282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1050" b="0" i="0" u="none">
                <a:solidFill>
                  <a:srgbClr val="475569"/>
                </a:solidFill>
                <a:latin typeface="Roboto"/>
              </a:rPr>
              <a:t>Timely interventions and risk-based actions help prevent tax evasion and minimize revenue leakages.</a:t>
            </a:r>
          </a:p>
        </p:txBody>
      </p:sp>
      <p:pic>
        <p:nvPicPr>
          <p:cNvPr id="98" name="Picture 97" descr="image.png">
            <a:extLst>
              <a:ext uri="{FF2B5EF4-FFF2-40B4-BE49-F238E27FC236}">
                <a16:creationId xmlns:a16="http://schemas.microsoft.com/office/drawing/2014/main" id="{278423D3-C892-41B7-B261-37537A8AF1E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16390" y="3601938"/>
            <a:ext cx="152400" cy="152400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A7C78C0D-5B24-4110-A224-0BDB810B5842}"/>
              </a:ext>
            </a:extLst>
          </p:cNvPr>
          <p:cNvSpPr txBox="1"/>
          <p:nvPr/>
        </p:nvSpPr>
        <p:spPr>
          <a:xfrm>
            <a:off x="7716440" y="3468588"/>
            <a:ext cx="405925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oppins SemiBold"/>
              </a:rPr>
              <a:t>Faster Investigations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22DB63C-6832-4D49-B247-25D7018CC6F2}"/>
              </a:ext>
            </a:extLst>
          </p:cNvPr>
          <p:cNvSpPr txBox="1"/>
          <p:nvPr/>
        </p:nvSpPr>
        <p:spPr>
          <a:xfrm>
            <a:off x="7716440" y="3678138"/>
            <a:ext cx="3865959" cy="282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1050" b="0" i="0" u="none">
                <a:solidFill>
                  <a:srgbClr val="475569"/>
                </a:solidFill>
                <a:latin typeface="Roboto"/>
              </a:rPr>
              <a:t>Integrated data and intelligent tools reduce investigation time and improve case quality and outcomes.</a:t>
            </a:r>
          </a:p>
        </p:txBody>
      </p:sp>
      <p:pic>
        <p:nvPicPr>
          <p:cNvPr id="101" name="Picture 100" descr="image.png">
            <a:extLst>
              <a:ext uri="{FF2B5EF4-FFF2-40B4-BE49-F238E27FC236}">
                <a16:creationId xmlns:a16="http://schemas.microsoft.com/office/drawing/2014/main" id="{603AEF45-BC29-4A1E-821F-81AC8F1F440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297340" y="4659957"/>
            <a:ext cx="190500" cy="152400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5C34AD68-1DAD-43B6-9700-8E9A0E579330}"/>
              </a:ext>
            </a:extLst>
          </p:cNvPr>
          <p:cNvSpPr txBox="1"/>
          <p:nvPr/>
        </p:nvSpPr>
        <p:spPr>
          <a:xfrm>
            <a:off x="7716440" y="4526607"/>
            <a:ext cx="405925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oppins SemiBold"/>
              </a:rPr>
              <a:t>Stronger Collaboration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B81934F-D21B-43B8-B64C-8590C0117463}"/>
              </a:ext>
            </a:extLst>
          </p:cNvPr>
          <p:cNvSpPr txBox="1"/>
          <p:nvPr/>
        </p:nvSpPr>
        <p:spPr>
          <a:xfrm>
            <a:off x="7716440" y="4736157"/>
            <a:ext cx="3865959" cy="282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1050" b="0" i="0" u="none">
                <a:solidFill>
                  <a:srgbClr val="475569"/>
                </a:solidFill>
                <a:latin typeface="Roboto"/>
              </a:rPr>
              <a:t>Seamless intelligence sharing with field officers and departments enhances coordination and effectiveness.</a:t>
            </a:r>
          </a:p>
        </p:txBody>
      </p:sp>
      <p:pic>
        <p:nvPicPr>
          <p:cNvPr id="104" name="Picture 103" descr="image.png">
            <a:extLst>
              <a:ext uri="{FF2B5EF4-FFF2-40B4-BE49-F238E27FC236}">
                <a16:creationId xmlns:a16="http://schemas.microsoft.com/office/drawing/2014/main" id="{0B21CC58-8D01-41CA-962A-110C183F279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16390" y="5717976"/>
            <a:ext cx="152400" cy="152400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AA5173F5-C8A7-4B0B-A869-8FA9BD01E3BE}"/>
              </a:ext>
            </a:extLst>
          </p:cNvPr>
          <p:cNvSpPr txBox="1"/>
          <p:nvPr/>
        </p:nvSpPr>
        <p:spPr>
          <a:xfrm>
            <a:off x="7716440" y="5584626"/>
            <a:ext cx="405925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oppins SemiBold"/>
              </a:rPr>
              <a:t>Higher Revenue Realization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F5554EB-5B8E-4059-801C-487CE51FD664}"/>
              </a:ext>
            </a:extLst>
          </p:cNvPr>
          <p:cNvSpPr txBox="1"/>
          <p:nvPr/>
        </p:nvSpPr>
        <p:spPr>
          <a:xfrm>
            <a:off x="7716440" y="5794176"/>
            <a:ext cx="3865959" cy="282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1050" b="0" i="0" u="none">
                <a:solidFill>
                  <a:srgbClr val="475569"/>
                </a:solidFill>
                <a:latin typeface="Roboto"/>
              </a:rPr>
              <a:t>Data-driven enforcement and focused interventions lead to improved compliance and higher voluntary adherence.</a:t>
            </a:r>
          </a:p>
        </p:txBody>
      </p:sp>
      <p:pic>
        <p:nvPicPr>
          <p:cNvPr id="107" name="Picture 106" descr="image.png">
            <a:extLst>
              <a:ext uri="{FF2B5EF4-FFF2-40B4-BE49-F238E27FC236}">
                <a16:creationId xmlns:a16="http://schemas.microsoft.com/office/drawing/2014/main" id="{DF8A9D57-A5E3-47D0-AD63-B1C9A4B4404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88392" y="1524000"/>
            <a:ext cx="238125" cy="190500"/>
          </a:xfrm>
          <a:prstGeom prst="rect">
            <a:avLst/>
          </a:prstGeom>
        </p:spPr>
      </p:pic>
      <p:pic>
        <p:nvPicPr>
          <p:cNvPr id="108" name="Picture 107" descr="image.png">
            <a:extLst>
              <a:ext uri="{FF2B5EF4-FFF2-40B4-BE49-F238E27FC236}">
                <a16:creationId xmlns:a16="http://schemas.microsoft.com/office/drawing/2014/main" id="{E3614FA2-1E1A-46B4-8981-EB6D0783769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760315" y="1524000"/>
            <a:ext cx="190500" cy="190500"/>
          </a:xfrm>
          <a:prstGeom prst="rect">
            <a:avLst/>
          </a:prstGeom>
        </p:spPr>
      </p:pic>
      <p:pic>
        <p:nvPicPr>
          <p:cNvPr id="109" name="Picture 108" descr="image.png">
            <a:extLst>
              <a:ext uri="{FF2B5EF4-FFF2-40B4-BE49-F238E27FC236}">
                <a16:creationId xmlns:a16="http://schemas.microsoft.com/office/drawing/2014/main" id="{5A009822-F546-41C1-A618-7AAC5AB32CA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294137" y="1524000"/>
            <a:ext cx="219075" cy="190500"/>
          </a:xfrm>
          <a:prstGeom prst="rect">
            <a:avLst/>
          </a:prstGeom>
        </p:spPr>
      </p:pic>
      <p:pic>
        <p:nvPicPr>
          <p:cNvPr id="110" name="Picture 109" descr="image.png">
            <a:extLst>
              <a:ext uri="{FF2B5EF4-FFF2-40B4-BE49-F238E27FC236}">
                <a16:creationId xmlns:a16="http://schemas.microsoft.com/office/drawing/2014/main" id="{49D0CDC5-ACF9-46B0-8BA6-FDFAD25252A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866060" y="1524000"/>
            <a:ext cx="171450" cy="190500"/>
          </a:xfrm>
          <a:prstGeom prst="rect">
            <a:avLst/>
          </a:prstGeom>
        </p:spPr>
      </p:pic>
      <p:pic>
        <p:nvPicPr>
          <p:cNvPr id="111" name="Picture 110" descr="image.png">
            <a:extLst>
              <a:ext uri="{FF2B5EF4-FFF2-40B4-BE49-F238E27FC236}">
                <a16:creationId xmlns:a16="http://schemas.microsoft.com/office/drawing/2014/main" id="{7C8C18FF-BA2E-4091-A3AC-E9633128E41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36017" y="2875558"/>
            <a:ext cx="142875" cy="190500"/>
          </a:xfrm>
          <a:prstGeom prst="rect">
            <a:avLst/>
          </a:prstGeom>
        </p:spPr>
      </p:pic>
      <p:pic>
        <p:nvPicPr>
          <p:cNvPr id="112" name="Picture 111" descr="image.png">
            <a:extLst>
              <a:ext uri="{FF2B5EF4-FFF2-40B4-BE49-F238E27FC236}">
                <a16:creationId xmlns:a16="http://schemas.microsoft.com/office/drawing/2014/main" id="{D3C72B82-1362-43B5-A497-CBE78FDA6FD2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784127" y="2875558"/>
            <a:ext cx="142875" cy="190500"/>
          </a:xfrm>
          <a:prstGeom prst="rect">
            <a:avLst/>
          </a:prstGeom>
        </p:spPr>
      </p:pic>
      <p:pic>
        <p:nvPicPr>
          <p:cNvPr id="114" name="Picture 113" descr="image.png">
            <a:extLst>
              <a:ext uri="{FF2B5EF4-FFF2-40B4-BE49-F238E27FC236}">
                <a16:creationId xmlns:a16="http://schemas.microsoft.com/office/drawing/2014/main" id="{5EE24A26-D2B0-4F6E-AA58-018679D80FB2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856535" y="2875558"/>
            <a:ext cx="190500" cy="190500"/>
          </a:xfrm>
          <a:prstGeom prst="rect">
            <a:avLst/>
          </a:prstGeom>
        </p:spPr>
      </p:pic>
      <p:pic>
        <p:nvPicPr>
          <p:cNvPr id="115" name="Picture 114" descr="image.png">
            <a:extLst>
              <a:ext uri="{FF2B5EF4-FFF2-40B4-BE49-F238E27FC236}">
                <a16:creationId xmlns:a16="http://schemas.microsoft.com/office/drawing/2014/main" id="{364D1482-94FC-4C4F-9812-833A3918219E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221730" y="4156095"/>
            <a:ext cx="171450" cy="190500"/>
          </a:xfrm>
          <a:prstGeom prst="rect">
            <a:avLst/>
          </a:prstGeom>
        </p:spPr>
      </p:pic>
      <p:pic>
        <p:nvPicPr>
          <p:cNvPr id="116" name="Picture 115" descr="image.png">
            <a:extLst>
              <a:ext uri="{FF2B5EF4-FFF2-40B4-BE49-F238E27FC236}">
                <a16:creationId xmlns:a16="http://schemas.microsoft.com/office/drawing/2014/main" id="{667EC953-B4AB-4235-A224-1FEC2D1712F2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736502" y="4156095"/>
            <a:ext cx="238125" cy="190500"/>
          </a:xfrm>
          <a:prstGeom prst="rect">
            <a:avLst/>
          </a:prstGeom>
        </p:spPr>
      </p:pic>
      <p:pic>
        <p:nvPicPr>
          <p:cNvPr id="117" name="Picture 116" descr="image.png">
            <a:extLst>
              <a:ext uri="{FF2B5EF4-FFF2-40B4-BE49-F238E27FC236}">
                <a16:creationId xmlns:a16="http://schemas.microsoft.com/office/drawing/2014/main" id="{A09DC497-F609-486E-9EAC-2F7F90C1A32B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284612" y="4156095"/>
            <a:ext cx="238125" cy="190500"/>
          </a:xfrm>
          <a:prstGeom prst="rect">
            <a:avLst/>
          </a:prstGeom>
        </p:spPr>
      </p:pic>
      <p:pic>
        <p:nvPicPr>
          <p:cNvPr id="118" name="Picture 117" descr="image.png">
            <a:extLst>
              <a:ext uri="{FF2B5EF4-FFF2-40B4-BE49-F238E27FC236}">
                <a16:creationId xmlns:a16="http://schemas.microsoft.com/office/drawing/2014/main" id="{F49D76DA-2AE6-40DC-9C4A-ADF1636B1A68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842248" y="4156095"/>
            <a:ext cx="219075" cy="190500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671F9CE9-376D-4957-BEDC-870F64B9BE15}"/>
              </a:ext>
            </a:extLst>
          </p:cNvPr>
          <p:cNvSpPr txBox="1"/>
          <p:nvPr/>
        </p:nvSpPr>
        <p:spPr>
          <a:xfrm>
            <a:off x="647792" y="5074608"/>
            <a:ext cx="6096000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100" dirty="0"/>
              <a:t>✅ API integration done</a:t>
            </a:r>
          </a:p>
          <a:p>
            <a:pPr>
              <a:lnSpc>
                <a:spcPct val="150000"/>
              </a:lnSpc>
            </a:pPr>
            <a:r>
              <a:rPr lang="en-US" sz="1100" b="0" i="0" u="none" dirty="0">
                <a:solidFill>
                  <a:srgbClr val="0F172A"/>
                </a:solidFill>
                <a:latin typeface="Poppins SemiBold"/>
              </a:rPr>
              <a:t>💾 </a:t>
            </a:r>
            <a:r>
              <a:rPr lang="en-US" sz="1100" dirty="0"/>
              <a:t>– Data Dump received</a:t>
            </a:r>
            <a:endParaRPr lang="en-IN" sz="1100" dirty="0"/>
          </a:p>
        </p:txBody>
      </p:sp>
      <p:pic>
        <p:nvPicPr>
          <p:cNvPr id="2050" name="Picture 2" descr="National Payments Corporation of India (NPCI) · GitHub">
            <a:extLst>
              <a:ext uri="{FF2B5EF4-FFF2-40B4-BE49-F238E27FC236}">
                <a16:creationId xmlns:a16="http://schemas.microsoft.com/office/drawing/2014/main" id="{6C51FBED-E23C-4F40-BB4A-99D67B422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4604" y="2628300"/>
            <a:ext cx="645319" cy="645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E3AB95D-1357-4C80-8E15-96DB1023E4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941816" y="2638099"/>
            <a:ext cx="966045" cy="64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08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681BA-B520-45B5-B829-E6B836DE2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8FDABF-4242-1AD7-BDF8-5B87C954DA29}"/>
              </a:ext>
            </a:extLst>
          </p:cNvPr>
          <p:cNvSpPr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Driven Monitoring System &amp; Enforcement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5162F3-A154-EF50-8F21-64C5E3482380}"/>
              </a:ext>
            </a:extLst>
          </p:cNvPr>
          <p:cNvSpPr/>
          <p:nvPr/>
        </p:nvSpPr>
        <p:spPr>
          <a:xfrm>
            <a:off x="647792" y="6057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analytical ecosystem enabling real time monitoring, intelligent risk assessment and targeted enforcement</a:t>
            </a:r>
            <a:endParaRPr lang="en-US" sz="13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1B8D0AB-06C9-0FD0-3AB5-6F8CFCE5D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807527"/>
              </p:ext>
            </p:extLst>
          </p:nvPr>
        </p:nvGraphicFramePr>
        <p:xfrm>
          <a:off x="432434" y="1274679"/>
          <a:ext cx="11327132" cy="2154321"/>
        </p:xfrm>
        <a:graphic>
          <a:graphicData uri="http://schemas.openxmlformats.org/drawingml/2006/table">
            <a:tbl>
              <a:tblPr/>
              <a:tblGrid>
                <a:gridCol w="3798292">
                  <a:extLst>
                    <a:ext uri="{9D8B030D-6E8A-4147-A177-3AD203B41FA5}">
                      <a16:colId xmlns:a16="http://schemas.microsoft.com/office/drawing/2014/main" val="830127379"/>
                    </a:ext>
                  </a:extLst>
                </a:gridCol>
                <a:gridCol w="1817635">
                  <a:extLst>
                    <a:ext uri="{9D8B030D-6E8A-4147-A177-3AD203B41FA5}">
                      <a16:colId xmlns:a16="http://schemas.microsoft.com/office/drawing/2014/main" val="120620864"/>
                    </a:ext>
                  </a:extLst>
                </a:gridCol>
                <a:gridCol w="1817635">
                  <a:extLst>
                    <a:ext uri="{9D8B030D-6E8A-4147-A177-3AD203B41FA5}">
                      <a16:colId xmlns:a16="http://schemas.microsoft.com/office/drawing/2014/main" val="3971431249"/>
                    </a:ext>
                  </a:extLst>
                </a:gridCol>
                <a:gridCol w="1946785">
                  <a:extLst>
                    <a:ext uri="{9D8B030D-6E8A-4147-A177-3AD203B41FA5}">
                      <a16:colId xmlns:a16="http://schemas.microsoft.com/office/drawing/2014/main" val="500079675"/>
                    </a:ext>
                  </a:extLst>
                </a:gridCol>
                <a:gridCol w="1946785">
                  <a:extLst>
                    <a:ext uri="{9D8B030D-6E8A-4147-A177-3AD203B41FA5}">
                      <a16:colId xmlns:a16="http://schemas.microsoft.com/office/drawing/2014/main" val="1989602183"/>
                    </a:ext>
                  </a:extLst>
                </a:gridCol>
              </a:tblGrid>
              <a:tr h="544883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Particulars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Completed in FY 2025-26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Upto May’26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June’26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Overall Progress in </a:t>
                      </a:r>
                    </a:p>
                    <a:p>
                      <a:pPr algn="ctr" rtl="0" fontAlgn="b"/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FY 2026-27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731425"/>
                  </a:ext>
                </a:extLst>
              </a:tr>
              <a:tr h="384367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No. of Cases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638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98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123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221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452621"/>
                  </a:ext>
                </a:extLst>
              </a:tr>
              <a:tr h="384367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No. of Arrests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6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2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0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2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512516"/>
                  </a:ext>
                </a:extLst>
              </a:tr>
              <a:tr h="445539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No. of Vehicle Inspection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267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12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29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41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203107"/>
                  </a:ext>
                </a:extLst>
              </a:tr>
              <a:tr h="384367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Revenue Realized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459 Cr.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107.61 Cr.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77.77 Cr.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185.38 Cr.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26135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A8378C0-FEEC-7832-DE64-6A0EFEFA0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12975"/>
              </p:ext>
            </p:extLst>
          </p:nvPr>
        </p:nvGraphicFramePr>
        <p:xfrm>
          <a:off x="3796332" y="3732179"/>
          <a:ext cx="5081060" cy="2529599"/>
        </p:xfrm>
        <a:graphic>
          <a:graphicData uri="http://schemas.openxmlformats.org/drawingml/2006/table">
            <a:tbl>
              <a:tblPr/>
              <a:tblGrid>
                <a:gridCol w="1346693">
                  <a:extLst>
                    <a:ext uri="{9D8B030D-6E8A-4147-A177-3AD203B41FA5}">
                      <a16:colId xmlns:a16="http://schemas.microsoft.com/office/drawing/2014/main" val="1474855578"/>
                    </a:ext>
                  </a:extLst>
                </a:gridCol>
                <a:gridCol w="3734367">
                  <a:extLst>
                    <a:ext uri="{9D8B030D-6E8A-4147-A177-3AD203B41FA5}">
                      <a16:colId xmlns:a16="http://schemas.microsoft.com/office/drawing/2014/main" val="279282237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2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Month</a:t>
                      </a:r>
                    </a:p>
                  </a:txBody>
                  <a:tcPr marL="3134" marR="3134" marT="3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Additional Revenue </a:t>
                      </a:r>
                    </a:p>
                    <a:p>
                      <a:pPr algn="ctr"/>
                      <a:r>
                        <a:rPr lang="en-US" sz="2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via Intelligence Reports</a:t>
                      </a:r>
                      <a:endParaRPr lang="en-IN" sz="20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327722"/>
                  </a:ext>
                </a:extLst>
              </a:tr>
              <a:tr h="43319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FY 2026-27</a:t>
                      </a:r>
                    </a:p>
                  </a:txBody>
                  <a:tcPr marL="3134" marR="3134" marT="3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808192"/>
                  </a:ext>
                </a:extLst>
              </a:tr>
              <a:tr h="46512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April</a:t>
                      </a:r>
                    </a:p>
                  </a:txBody>
                  <a:tcPr marL="3134" marR="3134" marT="3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119.72 Cr.</a:t>
                      </a:r>
                    </a:p>
                  </a:txBody>
                  <a:tcPr marL="3134" marR="3134" marT="3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138462"/>
                  </a:ext>
                </a:extLst>
              </a:tr>
              <a:tr h="46512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3134" marR="3134" marT="3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273</a:t>
                      </a:r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.20 Cr.</a:t>
                      </a:r>
                    </a:p>
                  </a:txBody>
                  <a:tcPr marL="3134" marR="3134" marT="3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586410"/>
                  </a:ext>
                </a:extLst>
              </a:tr>
              <a:tr h="46512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June</a:t>
                      </a:r>
                    </a:p>
                  </a:txBody>
                  <a:tcPr marL="3134" marR="3134" marT="3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232.28 Cr.</a:t>
                      </a:r>
                    </a:p>
                  </a:txBody>
                  <a:tcPr marL="3134" marR="3134" marT="3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181375"/>
                  </a:ext>
                </a:extLst>
              </a:tr>
            </a:tbl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DE4E80EE-A84F-2F36-1CC3-8498DC5085F8}"/>
              </a:ext>
            </a:extLst>
          </p:cNvPr>
          <p:cNvSpPr/>
          <p:nvPr/>
        </p:nvSpPr>
        <p:spPr>
          <a:xfrm>
            <a:off x="148590" y="80010"/>
            <a:ext cx="11704320" cy="7886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b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</a:b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Technology Driven Monitoring, Fraud Detection &amp; Intelligence Sharing</a:t>
            </a:r>
          </a:p>
          <a:p>
            <a:pPr marL="0" indent="0">
              <a:buNone/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910990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1D58A-18E1-FD79-D3E9-46E814725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EBAF7698-F2CB-E09E-FEF4-92CD3923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A70E59-EE39-25F1-5D33-C1873D71E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064241"/>
              </p:ext>
            </p:extLst>
          </p:nvPr>
        </p:nvGraphicFramePr>
        <p:xfrm>
          <a:off x="384208" y="1184898"/>
          <a:ext cx="11454866" cy="4746669"/>
        </p:xfrm>
        <a:graphic>
          <a:graphicData uri="http://schemas.openxmlformats.org/drawingml/2006/table">
            <a:tbl>
              <a:tblPr/>
              <a:tblGrid>
                <a:gridCol w="6608442">
                  <a:extLst>
                    <a:ext uri="{9D8B030D-6E8A-4147-A177-3AD203B41FA5}">
                      <a16:colId xmlns:a16="http://schemas.microsoft.com/office/drawing/2014/main" val="830127379"/>
                    </a:ext>
                  </a:extLst>
                </a:gridCol>
                <a:gridCol w="2045511">
                  <a:extLst>
                    <a:ext uri="{9D8B030D-6E8A-4147-A177-3AD203B41FA5}">
                      <a16:colId xmlns:a16="http://schemas.microsoft.com/office/drawing/2014/main" val="120620864"/>
                    </a:ext>
                  </a:extLst>
                </a:gridCol>
                <a:gridCol w="2800913">
                  <a:extLst>
                    <a:ext uri="{9D8B030D-6E8A-4147-A177-3AD203B41FA5}">
                      <a16:colId xmlns:a16="http://schemas.microsoft.com/office/drawing/2014/main" val="3971431249"/>
                    </a:ext>
                  </a:extLst>
                </a:gridCol>
              </a:tblGrid>
              <a:tr h="103033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3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Particulars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3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FY 2025-26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3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FY 2026-27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731425"/>
                  </a:ext>
                </a:extLst>
              </a:tr>
              <a:tr h="700440"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N" sz="3200" dirty="0"/>
                        <a:t>Fake Firms Detected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3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330+</a:t>
                      </a:r>
                      <a:endParaRPr lang="en-IN" sz="3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3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52</a:t>
                      </a:r>
                      <a:endParaRPr lang="en-IN" sz="3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452621"/>
                  </a:ext>
                </a:extLst>
              </a:tr>
              <a:tr h="686876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3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ITC Involved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3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668.41</a:t>
                      </a:r>
                      <a:endParaRPr lang="en-IN" sz="3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3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226.27</a:t>
                      </a:r>
                      <a:endParaRPr lang="en-IN" sz="3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512516"/>
                  </a:ext>
                </a:extLst>
              </a:tr>
              <a:tr h="686876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3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Suspicious Firms (Repeat offenders)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3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-</a:t>
                      </a:r>
                      <a:endParaRPr lang="en-IN" sz="3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3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2675</a:t>
                      </a:r>
                      <a:endParaRPr lang="en-IN" sz="3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261054"/>
                  </a:ext>
                </a:extLst>
              </a:tr>
              <a:tr h="1642139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3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Suspicious Firms – Registration Cancelled</a:t>
                      </a:r>
                      <a:br>
                        <a:rPr lang="en-IN" sz="3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IN" sz="3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(Improper Documents and field visit)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3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-</a:t>
                      </a:r>
                      <a:endParaRPr lang="en-IN" sz="3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3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3752</a:t>
                      </a:r>
                      <a:endParaRPr lang="en-IN" sz="3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79957"/>
                  </a:ext>
                </a:extLst>
              </a:tr>
            </a:tbl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595748FC-BEE9-CC41-2AF3-5B3518EB8341}"/>
              </a:ext>
            </a:extLst>
          </p:cNvPr>
          <p:cNvSpPr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 Frameworks &amp; Intelligence Sharing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071831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30911" y="19202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Outlier Detection Dashboard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high-risk taxpayers within each sector using sector-level benchmarking and drill-down analytics.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033272"/>
            <a:ext cx="11247120" cy="0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567160" y="996696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5074920" cy="658368"/>
          </a:xfrm>
          <a:prstGeom prst="roundRect">
            <a:avLst>
              <a:gd name="adj" fmla="val 6944"/>
            </a:avLst>
          </a:prstGeom>
          <a:solidFill>
            <a:srgbClr val="EAF0F9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384048" cy="384048"/>
          </a:xfrm>
          <a:prstGeom prst="ellipse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/home/claude/pptx_work5/targe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44168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114300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any sector automatically displays the list of taxpayers belonging to that sector, highlighting GSTINs exhibiting abnormal behaviour based on predefined sectoral benchmarks.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77840" y="1143000"/>
            <a:ext cx="1990344" cy="658368"/>
          </a:xfrm>
          <a:prstGeom prst="roundRect">
            <a:avLst>
              <a:gd name="adj" fmla="val 6944"/>
            </a:avLst>
          </a:prstGeom>
          <a:solidFill>
            <a:srgbClr val="EAF5E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pptx_work5/itc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122529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89320" y="1197864"/>
            <a:ext cx="1487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ITC Ratio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687568" y="1472184"/>
            <a:ext cx="1770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73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taxpayer ITC ratio with sector average.</a:t>
            </a:r>
            <a:endParaRPr lang="en-US" sz="730" dirty="0"/>
          </a:p>
        </p:txBody>
      </p:sp>
      <p:sp>
        <p:nvSpPr>
          <p:cNvPr id="16" name="Shape 12"/>
          <p:cNvSpPr/>
          <p:nvPr/>
        </p:nvSpPr>
        <p:spPr>
          <a:xfrm>
            <a:off x="7705344" y="1143000"/>
            <a:ext cx="1990344" cy="658368"/>
          </a:xfrm>
          <a:prstGeom prst="roundRect">
            <a:avLst>
              <a:gd name="adj" fmla="val 6944"/>
            </a:avLst>
          </a:prstGeom>
          <a:solidFill>
            <a:srgbClr val="EAF0F9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pptx_work5/truck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5072" y="1225296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16824" y="1161288"/>
            <a:ext cx="1487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Interstate Supply Ratio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7815072" y="1472184"/>
            <a:ext cx="1770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73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taxpayers with unusually high interstate supplies.</a:t>
            </a:r>
            <a:endParaRPr lang="en-US" sz="730" dirty="0"/>
          </a:p>
        </p:txBody>
      </p:sp>
      <p:sp>
        <p:nvSpPr>
          <p:cNvPr id="20" name="Shape 15"/>
          <p:cNvSpPr/>
          <p:nvPr/>
        </p:nvSpPr>
        <p:spPr>
          <a:xfrm>
            <a:off x="9832848" y="1143000"/>
            <a:ext cx="1990344" cy="658368"/>
          </a:xfrm>
          <a:prstGeom prst="roundRect">
            <a:avLst>
              <a:gd name="adj" fmla="val 6944"/>
            </a:avLst>
          </a:prstGeom>
          <a:solidFill>
            <a:srgbClr val="F1EAFB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pptx_work5/rupee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2576" y="122529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44328" y="1124712"/>
            <a:ext cx="1487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3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Revenue-to-Liability Ratio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9942576" y="1472184"/>
            <a:ext cx="1770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73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taxpayers requiring verification based on revenue patterns.</a:t>
            </a:r>
            <a:endParaRPr lang="en-US" sz="730" dirty="0"/>
          </a:p>
        </p:txBody>
      </p:sp>
      <p:sp>
        <p:nvSpPr>
          <p:cNvPr id="24" name="Shape 18"/>
          <p:cNvSpPr/>
          <p:nvPr/>
        </p:nvSpPr>
        <p:spPr>
          <a:xfrm>
            <a:off x="365760" y="1911096"/>
            <a:ext cx="4160520" cy="292608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365760" y="19110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SECTOR SUMMARY (FY26)</a:t>
            </a:r>
            <a:endParaRPr lang="en-US" sz="10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408717"/>
              </p:ext>
            </p:extLst>
          </p:nvPr>
        </p:nvGraphicFramePr>
        <p:xfrm>
          <a:off x="365760" y="2203704"/>
          <a:ext cx="4142230" cy="2367207"/>
        </p:xfrm>
        <a:graphic>
          <a:graphicData uri="http://schemas.openxmlformats.org/drawingml/2006/table">
            <a:tbl>
              <a:tblPr/>
              <a:tblGrid>
                <a:gridCol w="1411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2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2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5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 ITC %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 of interstate liability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to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Liability %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No. of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Taxpayers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8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VEHICLE/AUTOMOBILE &amp; SPARE PARTS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91.18%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40.47%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42970.14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2460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7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 dirty="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MACHINERY &amp; AIR CONDITIONING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89.71%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52.15%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60070.69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4603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0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FUEL AND ENERGY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78.63%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25.38%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55391.78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838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7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ELECTRICAL MACHINERY AND EQUIPMENT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93.44%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40.18%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46739.84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4892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8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IRON AND STEEL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94.89%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27.72%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27627.05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50" kern="1200" dirty="0">
                          <a:solidFill>
                            <a:srgbClr val="0A1F44"/>
                          </a:solidFill>
                          <a:latin typeface="Arial" pitchFamily="34" charset="0"/>
                          <a:cs typeface="Arial" pitchFamily="34" charset="-120"/>
                        </a:rPr>
                        <a:t>3422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Shape 20"/>
          <p:cNvSpPr/>
          <p:nvPr/>
        </p:nvSpPr>
        <p:spPr>
          <a:xfrm>
            <a:off x="393192" y="4708071"/>
            <a:ext cx="4160520" cy="566928"/>
          </a:xfrm>
          <a:prstGeom prst="roundRect">
            <a:avLst>
              <a:gd name="adj" fmla="val 8065"/>
            </a:avLst>
          </a:prstGeom>
          <a:solidFill>
            <a:srgbClr val="EAF0F9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/home/claude/pptx_work5/growth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" y="4854375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96112" y="4708071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sectors contribute </a:t>
            </a:r>
            <a:r>
              <a:rPr lang="en-US" sz="13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r>
              <a:rPr lang="en-US" sz="900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total Net Revenue to State in FY26.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393192" y="5343579"/>
            <a:ext cx="4160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3"/>
          <p:cNvSpPr/>
          <p:nvPr/>
        </p:nvSpPr>
        <p:spPr>
          <a:xfrm>
            <a:off x="484632" y="5416731"/>
            <a:ext cx="118872" cy="118872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4"/>
          <p:cNvSpPr/>
          <p:nvPr/>
        </p:nvSpPr>
        <p:spPr>
          <a:xfrm>
            <a:off x="667512" y="5361867"/>
            <a:ext cx="106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484632" y="5590467"/>
            <a:ext cx="124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acceptable</a:t>
            </a:r>
            <a:endParaRPr lang="en-US" sz="68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range</a:t>
            </a:r>
            <a:endParaRPr lang="en-US" sz="680" dirty="0"/>
          </a:p>
        </p:txBody>
      </p:sp>
      <p:sp>
        <p:nvSpPr>
          <p:cNvPr id="34" name="Shape 26"/>
          <p:cNvSpPr/>
          <p:nvPr/>
        </p:nvSpPr>
        <p:spPr>
          <a:xfrm>
            <a:off x="1871472" y="5416731"/>
            <a:ext cx="118872" cy="118872"/>
          </a:xfrm>
          <a:prstGeom prst="ellipse">
            <a:avLst/>
          </a:prstGeom>
          <a:solidFill>
            <a:srgbClr val="E07B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7"/>
          <p:cNvSpPr/>
          <p:nvPr/>
        </p:nvSpPr>
        <p:spPr>
          <a:xfrm>
            <a:off x="2054352" y="5361867"/>
            <a:ext cx="106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Outlier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1871472" y="5590467"/>
            <a:ext cx="124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Deviates moderately</a:t>
            </a:r>
            <a:endParaRPr lang="en-US" sz="68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sector benchmark</a:t>
            </a:r>
            <a:endParaRPr lang="en-US" sz="680" dirty="0"/>
          </a:p>
        </p:txBody>
      </p:sp>
      <p:sp>
        <p:nvSpPr>
          <p:cNvPr id="37" name="Shape 29"/>
          <p:cNvSpPr/>
          <p:nvPr/>
        </p:nvSpPr>
        <p:spPr>
          <a:xfrm>
            <a:off x="3258312" y="5416731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0"/>
          <p:cNvSpPr/>
          <p:nvPr/>
        </p:nvSpPr>
        <p:spPr>
          <a:xfrm>
            <a:off x="3441192" y="5361867"/>
            <a:ext cx="106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Outlier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3258312" y="5590467"/>
            <a:ext cx="124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Significantly deviates</a:t>
            </a:r>
            <a:endParaRPr lang="en-US" sz="68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sector benchmark</a:t>
            </a:r>
            <a:endParaRPr lang="en-US" sz="680" dirty="0"/>
          </a:p>
        </p:txBody>
      </p:sp>
      <p:sp>
        <p:nvSpPr>
          <p:cNvPr id="40" name="Shape 32"/>
          <p:cNvSpPr/>
          <p:nvPr/>
        </p:nvSpPr>
        <p:spPr>
          <a:xfrm>
            <a:off x="4663440" y="1911096"/>
            <a:ext cx="7159752" cy="292608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3"/>
          <p:cNvSpPr/>
          <p:nvPr/>
        </p:nvSpPr>
        <p:spPr>
          <a:xfrm>
            <a:off x="4754880" y="1911096"/>
            <a:ext cx="4831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TAXPAYER DRILL-DOWN (Accommodation, food and beverage services)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9589023" y="2011680"/>
            <a:ext cx="109728" cy="109728"/>
          </a:xfrm>
          <a:prstGeom prst="ellipse">
            <a:avLst/>
          </a:prstGeom>
          <a:solidFill>
            <a:srgbClr val="5BC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5"/>
          <p:cNvSpPr/>
          <p:nvPr/>
        </p:nvSpPr>
        <p:spPr>
          <a:xfrm>
            <a:off x="9774570" y="19293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700" dirty="0"/>
          </a:p>
        </p:txBody>
      </p:sp>
      <p:sp>
        <p:nvSpPr>
          <p:cNvPr id="44" name="Shape 36"/>
          <p:cNvSpPr/>
          <p:nvPr/>
        </p:nvSpPr>
        <p:spPr>
          <a:xfrm>
            <a:off x="10154046" y="2002536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37"/>
          <p:cNvSpPr/>
          <p:nvPr/>
        </p:nvSpPr>
        <p:spPr>
          <a:xfrm>
            <a:off x="10300350" y="19110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Outlier</a:t>
            </a:r>
            <a:endParaRPr lang="en-US" sz="700" dirty="0"/>
          </a:p>
        </p:txBody>
      </p:sp>
      <p:sp>
        <p:nvSpPr>
          <p:cNvPr id="46" name="Shape 38"/>
          <p:cNvSpPr/>
          <p:nvPr/>
        </p:nvSpPr>
        <p:spPr>
          <a:xfrm>
            <a:off x="11205606" y="2002536"/>
            <a:ext cx="109728" cy="109728"/>
          </a:xfrm>
          <a:prstGeom prst="ellipse">
            <a:avLst/>
          </a:prstGeom>
          <a:solidFill>
            <a:srgbClr val="E15C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39"/>
          <p:cNvSpPr/>
          <p:nvPr/>
        </p:nvSpPr>
        <p:spPr>
          <a:xfrm>
            <a:off x="11351910" y="19110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Outlier</a:t>
            </a:r>
            <a:endParaRPr lang="en-US" sz="700" dirty="0"/>
          </a:p>
        </p:txBody>
      </p:sp>
      <p:sp>
        <p:nvSpPr>
          <p:cNvPr id="49" name="Shape 40"/>
          <p:cNvSpPr/>
          <p:nvPr/>
        </p:nvSpPr>
        <p:spPr>
          <a:xfrm>
            <a:off x="4663440" y="5522976"/>
            <a:ext cx="7159752" cy="384048"/>
          </a:xfrm>
          <a:prstGeom prst="roundRect">
            <a:avLst>
              <a:gd name="adj" fmla="val 11905"/>
            </a:avLst>
          </a:prstGeom>
          <a:solidFill>
            <a:srgbClr val="EAF0F9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" name="Image 5" descr="/home/claude/pptx_work5/info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168" y="5596128"/>
            <a:ext cx="237744" cy="237744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5120640" y="5522976"/>
            <a:ext cx="6565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 are identified based on deviation from sector average benchmarks for ITC Ratio, Interstate Supply Ratio and Revenue-to-Liability Ratio.</a:t>
            </a:r>
            <a:endParaRPr lang="en-US" sz="850" dirty="0"/>
          </a:p>
        </p:txBody>
      </p:sp>
      <p:sp>
        <p:nvSpPr>
          <p:cNvPr id="52" name="Shape 42"/>
          <p:cNvSpPr/>
          <p:nvPr/>
        </p:nvSpPr>
        <p:spPr>
          <a:xfrm>
            <a:off x="338328" y="5997321"/>
            <a:ext cx="11457432" cy="777240"/>
          </a:xfrm>
          <a:prstGeom prst="roundRect">
            <a:avLst>
              <a:gd name="adj" fmla="val 5882"/>
            </a:avLst>
          </a:prstGeom>
          <a:solidFill>
            <a:srgbClr val="EAF0F9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43"/>
          <p:cNvSpPr/>
          <p:nvPr/>
        </p:nvSpPr>
        <p:spPr>
          <a:xfrm>
            <a:off x="448056" y="6157341"/>
            <a:ext cx="457200" cy="457200"/>
          </a:xfrm>
          <a:prstGeom prst="ellipse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4" name="Image 6" descr="/home/claude/pptx_work5/p1_build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784" y="6267069"/>
            <a:ext cx="237744" cy="237744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1014984" y="6070473"/>
            <a:ext cx="15051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Sector Selected</a:t>
            </a:r>
            <a:endParaRPr lang="en-US" sz="900" dirty="0"/>
          </a:p>
        </p:txBody>
      </p:sp>
      <p:sp>
        <p:nvSpPr>
          <p:cNvPr id="56" name="Text 45"/>
          <p:cNvSpPr/>
          <p:nvPr/>
        </p:nvSpPr>
        <p:spPr>
          <a:xfrm>
            <a:off x="1014984" y="6344793"/>
            <a:ext cx="15051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selects a sector from the sector list.</a:t>
            </a:r>
            <a:endParaRPr lang="en-US" sz="900" dirty="0"/>
          </a:p>
        </p:txBody>
      </p:sp>
      <p:sp>
        <p:nvSpPr>
          <p:cNvPr id="57" name="Shape 46"/>
          <p:cNvSpPr/>
          <p:nvPr/>
        </p:nvSpPr>
        <p:spPr>
          <a:xfrm>
            <a:off x="2584094" y="6385941"/>
            <a:ext cx="9144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47"/>
          <p:cNvSpPr/>
          <p:nvPr/>
        </p:nvSpPr>
        <p:spPr>
          <a:xfrm>
            <a:off x="2739542" y="6157341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9" name="Image 7" descr="/home/claude/pptx_work5/p2_ch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49270" y="6267069"/>
            <a:ext cx="237744" cy="237744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3306470" y="6070473"/>
            <a:ext cx="15051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Sector Benchmark Calculated</a:t>
            </a:r>
            <a:endParaRPr lang="en-US" sz="900" dirty="0"/>
          </a:p>
        </p:txBody>
      </p:sp>
      <p:sp>
        <p:nvSpPr>
          <p:cNvPr id="61" name="Text 49"/>
          <p:cNvSpPr/>
          <p:nvPr/>
        </p:nvSpPr>
        <p:spPr>
          <a:xfrm>
            <a:off x="3306470" y="6344793"/>
            <a:ext cx="15051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calculates average benchmarks for the sector.</a:t>
            </a:r>
            <a:endParaRPr lang="en-US" sz="900" dirty="0"/>
          </a:p>
        </p:txBody>
      </p:sp>
      <p:sp>
        <p:nvSpPr>
          <p:cNvPr id="62" name="Shape 50"/>
          <p:cNvSpPr/>
          <p:nvPr/>
        </p:nvSpPr>
        <p:spPr>
          <a:xfrm>
            <a:off x="4875581" y="6385941"/>
            <a:ext cx="9144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51"/>
          <p:cNvSpPr/>
          <p:nvPr/>
        </p:nvSpPr>
        <p:spPr>
          <a:xfrm>
            <a:off x="5031029" y="6157341"/>
            <a:ext cx="457200" cy="457200"/>
          </a:xfrm>
          <a:prstGeom prst="ellipse">
            <a:avLst/>
          </a:prstGeom>
          <a:solidFill>
            <a:srgbClr val="6C3FA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4" name="Image 8" descr="/home/claude/pptx_work5/p3_searc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40757" y="6267069"/>
            <a:ext cx="237744" cy="237744"/>
          </a:xfrm>
          <a:prstGeom prst="rect">
            <a:avLst/>
          </a:prstGeom>
        </p:spPr>
      </p:pic>
      <p:sp>
        <p:nvSpPr>
          <p:cNvPr id="65" name="Text 52"/>
          <p:cNvSpPr/>
          <p:nvPr/>
        </p:nvSpPr>
        <p:spPr>
          <a:xfrm>
            <a:off x="5597957" y="6070473"/>
            <a:ext cx="15051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Taxpayer Comparison</a:t>
            </a:r>
            <a:endParaRPr lang="en-US" sz="900" dirty="0"/>
          </a:p>
        </p:txBody>
      </p:sp>
      <p:sp>
        <p:nvSpPr>
          <p:cNvPr id="66" name="Text 53"/>
          <p:cNvSpPr/>
          <p:nvPr/>
        </p:nvSpPr>
        <p:spPr>
          <a:xfrm>
            <a:off x="5597956" y="6344793"/>
            <a:ext cx="16148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taxpayers in the sector are compared against benchmarks.</a:t>
            </a:r>
            <a:endParaRPr lang="en-US" sz="900" dirty="0"/>
          </a:p>
        </p:txBody>
      </p:sp>
      <p:sp>
        <p:nvSpPr>
          <p:cNvPr id="67" name="Shape 54"/>
          <p:cNvSpPr/>
          <p:nvPr/>
        </p:nvSpPr>
        <p:spPr>
          <a:xfrm>
            <a:off x="7167067" y="6385941"/>
            <a:ext cx="9144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55"/>
          <p:cNvSpPr/>
          <p:nvPr/>
        </p:nvSpPr>
        <p:spPr>
          <a:xfrm>
            <a:off x="7322515" y="6157341"/>
            <a:ext cx="457200" cy="457200"/>
          </a:xfrm>
          <a:prstGeom prst="ellipse">
            <a:avLst/>
          </a:prstGeom>
          <a:solidFill>
            <a:srgbClr val="E07B1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9" name="Image 9" descr="/home/claude/pptx_work5/p4_warnin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2243" y="6267069"/>
            <a:ext cx="237744" cy="237744"/>
          </a:xfrm>
          <a:prstGeom prst="rect">
            <a:avLst/>
          </a:prstGeom>
        </p:spPr>
      </p:pic>
      <p:sp>
        <p:nvSpPr>
          <p:cNvPr id="70" name="Text 56"/>
          <p:cNvSpPr/>
          <p:nvPr/>
        </p:nvSpPr>
        <p:spPr>
          <a:xfrm>
            <a:off x="7889442" y="6070473"/>
            <a:ext cx="1614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Outlier GSTIN Highlighted</a:t>
            </a:r>
            <a:endParaRPr lang="en-US" sz="900" dirty="0"/>
          </a:p>
        </p:txBody>
      </p:sp>
      <p:sp>
        <p:nvSpPr>
          <p:cNvPr id="71" name="Text 57"/>
          <p:cNvSpPr/>
          <p:nvPr/>
        </p:nvSpPr>
        <p:spPr>
          <a:xfrm>
            <a:off x="7889443" y="6344793"/>
            <a:ext cx="15051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taxpayers are flagged for review.</a:t>
            </a:r>
            <a:endParaRPr lang="en-US" sz="900" dirty="0"/>
          </a:p>
        </p:txBody>
      </p:sp>
      <p:sp>
        <p:nvSpPr>
          <p:cNvPr id="72" name="Shape 58"/>
          <p:cNvSpPr/>
          <p:nvPr/>
        </p:nvSpPr>
        <p:spPr>
          <a:xfrm>
            <a:off x="9458554" y="6385941"/>
            <a:ext cx="9144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59"/>
          <p:cNvSpPr/>
          <p:nvPr/>
        </p:nvSpPr>
        <p:spPr>
          <a:xfrm>
            <a:off x="9614002" y="6157341"/>
            <a:ext cx="457200" cy="457200"/>
          </a:xfrm>
          <a:prstGeom prst="ellipse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4" name="Image 10" descr="/home/claude/pptx_work5/p5_che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23730" y="6267069"/>
            <a:ext cx="237744" cy="237744"/>
          </a:xfrm>
          <a:prstGeom prst="rect">
            <a:avLst/>
          </a:prstGeom>
        </p:spPr>
      </p:pic>
      <p:sp>
        <p:nvSpPr>
          <p:cNvPr id="75" name="Text 60"/>
          <p:cNvSpPr/>
          <p:nvPr/>
        </p:nvSpPr>
        <p:spPr>
          <a:xfrm>
            <a:off x="10180930" y="6070473"/>
            <a:ext cx="15051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Officer Verification</a:t>
            </a:r>
            <a:endParaRPr lang="en-US" sz="900" dirty="0"/>
          </a:p>
        </p:txBody>
      </p:sp>
      <p:sp>
        <p:nvSpPr>
          <p:cNvPr id="76" name="Text 61"/>
          <p:cNvSpPr/>
          <p:nvPr/>
        </p:nvSpPr>
        <p:spPr>
          <a:xfrm>
            <a:off x="10180930" y="6344793"/>
            <a:ext cx="15051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officers verify and take appropriate action.</a:t>
            </a:r>
            <a:endParaRPr lang="en-US" sz="900" dirty="0"/>
          </a:p>
        </p:txBody>
      </p:sp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3B6650CA-D6AD-464A-AFEB-43501BA2D9DF}"/>
              </a:ext>
            </a:extLst>
          </p:cNvPr>
          <p:cNvGraphicFramePr>
            <a:graphicFrameLocks noGrp="1"/>
          </p:cNvGraphicFramePr>
          <p:nvPr/>
        </p:nvGraphicFramePr>
        <p:xfrm>
          <a:off x="4663440" y="2211320"/>
          <a:ext cx="7159752" cy="3201924"/>
        </p:xfrm>
        <a:graphic>
          <a:graphicData uri="http://schemas.openxmlformats.org/drawingml/2006/table">
            <a:tbl>
              <a:tblPr/>
              <a:tblGrid>
                <a:gridCol w="782342">
                  <a:extLst>
                    <a:ext uri="{9D8B030D-6E8A-4147-A177-3AD203B41FA5}">
                      <a16:colId xmlns:a16="http://schemas.microsoft.com/office/drawing/2014/main" val="2015043565"/>
                    </a:ext>
                  </a:extLst>
                </a:gridCol>
                <a:gridCol w="808714">
                  <a:extLst>
                    <a:ext uri="{9D8B030D-6E8A-4147-A177-3AD203B41FA5}">
                      <a16:colId xmlns:a16="http://schemas.microsoft.com/office/drawing/2014/main" val="3966285620"/>
                    </a:ext>
                  </a:extLst>
                </a:gridCol>
                <a:gridCol w="325244">
                  <a:extLst>
                    <a:ext uri="{9D8B030D-6E8A-4147-A177-3AD203B41FA5}">
                      <a16:colId xmlns:a16="http://schemas.microsoft.com/office/drawing/2014/main" val="3582110884"/>
                    </a:ext>
                  </a:extLst>
                </a:gridCol>
                <a:gridCol w="465889">
                  <a:extLst>
                    <a:ext uri="{9D8B030D-6E8A-4147-A177-3AD203B41FA5}">
                      <a16:colId xmlns:a16="http://schemas.microsoft.com/office/drawing/2014/main" val="1912613236"/>
                    </a:ext>
                  </a:extLst>
                </a:gridCol>
                <a:gridCol w="520829">
                  <a:extLst>
                    <a:ext uri="{9D8B030D-6E8A-4147-A177-3AD203B41FA5}">
                      <a16:colId xmlns:a16="http://schemas.microsoft.com/office/drawing/2014/main" val="142945675"/>
                    </a:ext>
                  </a:extLst>
                </a:gridCol>
                <a:gridCol w="465889">
                  <a:extLst>
                    <a:ext uri="{9D8B030D-6E8A-4147-A177-3AD203B41FA5}">
                      <a16:colId xmlns:a16="http://schemas.microsoft.com/office/drawing/2014/main" val="1732796668"/>
                    </a:ext>
                  </a:extLst>
                </a:gridCol>
                <a:gridCol w="307663">
                  <a:extLst>
                    <a:ext uri="{9D8B030D-6E8A-4147-A177-3AD203B41FA5}">
                      <a16:colId xmlns:a16="http://schemas.microsoft.com/office/drawing/2014/main" val="1840173519"/>
                    </a:ext>
                  </a:extLst>
                </a:gridCol>
                <a:gridCol w="404357">
                  <a:extLst>
                    <a:ext uri="{9D8B030D-6E8A-4147-A177-3AD203B41FA5}">
                      <a16:colId xmlns:a16="http://schemas.microsoft.com/office/drawing/2014/main" val="189564172"/>
                    </a:ext>
                  </a:extLst>
                </a:gridCol>
                <a:gridCol w="404357">
                  <a:extLst>
                    <a:ext uri="{9D8B030D-6E8A-4147-A177-3AD203B41FA5}">
                      <a16:colId xmlns:a16="http://schemas.microsoft.com/office/drawing/2014/main" val="3317307095"/>
                    </a:ext>
                  </a:extLst>
                </a:gridCol>
                <a:gridCol w="1221860">
                  <a:extLst>
                    <a:ext uri="{9D8B030D-6E8A-4147-A177-3AD203B41FA5}">
                      <a16:colId xmlns:a16="http://schemas.microsoft.com/office/drawing/2014/main" val="969118659"/>
                    </a:ext>
                  </a:extLst>
                </a:gridCol>
                <a:gridCol w="890025">
                  <a:extLst>
                    <a:ext uri="{9D8B030D-6E8A-4147-A177-3AD203B41FA5}">
                      <a16:colId xmlns:a16="http://schemas.microsoft.com/office/drawing/2014/main" val="1381118550"/>
                    </a:ext>
                  </a:extLst>
                </a:gridCol>
                <a:gridCol w="562583">
                  <a:extLst>
                    <a:ext uri="{9D8B030D-6E8A-4147-A177-3AD203B41FA5}">
                      <a16:colId xmlns:a16="http://schemas.microsoft.com/office/drawing/2014/main" val="474419677"/>
                    </a:ext>
                  </a:extLst>
                </a:gridCol>
              </a:tblGrid>
              <a:tr h="291084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GSTIN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Trade 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ITC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Interstate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Rev 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A1F4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Zone / Circle / Ward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GTO /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Interstate Supply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0406"/>
                  </a:ext>
                </a:extLst>
              </a:tr>
              <a:tr h="29108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Cash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ITC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Liability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Revenue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Ratio 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Supply 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Liability 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568283"/>
                  </a:ext>
                </a:extLst>
              </a:tr>
              <a:tr h="2910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0" i="0" u="none" strike="noStrike" dirty="0">
                          <a:solidFill>
                            <a:srgbClr val="1F5FA8"/>
                          </a:solidFill>
                          <a:effectLst/>
                          <a:latin typeface="Arial" panose="020B0604020202020204" pitchFamily="34" charset="0"/>
                        </a:rPr>
                        <a:t>08AABCD4946L1ZA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ETERNAL LIMITED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1,033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10,533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5,178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2E8B57"/>
                          </a:solidFill>
                          <a:effectLst/>
                          <a:latin typeface="Arial" panose="020B0604020202020204" pitchFamily="34" charset="0"/>
                        </a:rPr>
                        <a:t>9.81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1.14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2E8B57"/>
                          </a:solidFill>
                          <a:effectLst/>
                          <a:latin typeface="Arial" panose="020B0604020202020204" pitchFamily="34" charset="0"/>
                        </a:rPr>
                        <a:t>49.16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Circle-D Jaipur II / Ward 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3441.97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120.38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825958"/>
                  </a:ext>
                </a:extLst>
              </a:tr>
              <a:tr h="2910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0" i="0" u="none" strike="noStrike">
                          <a:solidFill>
                            <a:srgbClr val="1F5FA8"/>
                          </a:solidFill>
                          <a:effectLst/>
                          <a:latin typeface="Arial" panose="020B0604020202020204" pitchFamily="34" charset="0"/>
                        </a:rPr>
                        <a:t>08AACFJ2707D1ZU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SWIGGY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2,380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6,424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2,511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E07B1A"/>
                          </a:solidFill>
                          <a:effectLst/>
                          <a:latin typeface="Arial" panose="020B0604020202020204" pitchFamily="34" charset="0"/>
                        </a:rPr>
                        <a:t>37.04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0.01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E07B1A"/>
                          </a:solidFill>
                          <a:effectLst/>
                          <a:latin typeface="Arial" panose="020B0604020202020204" pitchFamily="34" charset="0"/>
                        </a:rPr>
                        <a:t>39.09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Circle-C Jaipur II / Ward 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2359.70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0.59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4778219"/>
                  </a:ext>
                </a:extLst>
              </a:tr>
              <a:tr h="2910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0" i="0" u="none" strike="noStrike">
                          <a:solidFill>
                            <a:srgbClr val="1F5FA8"/>
                          </a:solidFill>
                          <a:effectLst/>
                          <a:latin typeface="Arial" panose="020B0604020202020204" pitchFamily="34" charset="0"/>
                        </a:rPr>
                        <a:t>08AAKCM07S3E1Z1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KEYSTONE RESORTS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3,807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5,449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1,630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E07B1A"/>
                          </a:solidFill>
                          <a:effectLst/>
                          <a:latin typeface="Arial" panose="020B0604020202020204" pitchFamily="34" charset="0"/>
                        </a:rPr>
                        <a:t>69.86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0.35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E07B1A"/>
                          </a:solidFill>
                          <a:effectLst/>
                          <a:latin typeface="Arial" panose="020B0604020202020204" pitchFamily="34" charset="0"/>
                        </a:rPr>
                        <a:t>29.92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Circle-A Udaipur / Ward 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3304.71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1.93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623343"/>
                  </a:ext>
                </a:extLst>
              </a:tr>
              <a:tr h="2910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0" i="0" u="none" strike="noStrike">
                          <a:solidFill>
                            <a:srgbClr val="1F5FA8"/>
                          </a:solidFill>
                          <a:effectLst/>
                          <a:latin typeface="Arial" panose="020B0604020202020204" pitchFamily="34" charset="0"/>
                        </a:rPr>
                        <a:t>08AAACH4899R1Z6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RAMEAGH PALACE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2,127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4,829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1,785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E07B1A"/>
                          </a:solidFill>
                          <a:effectLst/>
                          <a:latin typeface="Arial" panose="020B0604020202020204" pitchFamily="34" charset="0"/>
                        </a:rPr>
                        <a:t>44.04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1.34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E07B1A"/>
                          </a:solidFill>
                          <a:effectLst/>
                          <a:latin typeface="Arial" panose="020B0604020202020204" pitchFamily="34" charset="0"/>
                        </a:rPr>
                        <a:t>36.97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Circle-I Jaipur II / Ward 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2976.83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6.47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107192"/>
                  </a:ext>
                </a:extLst>
              </a:tr>
              <a:tr h="2910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0" i="0" u="none" strike="noStrike" dirty="0">
                          <a:solidFill>
                            <a:srgbClr val="1F5FA8"/>
                          </a:solidFill>
                          <a:effectLst/>
                          <a:latin typeface="Arial" panose="020B0604020202020204" pitchFamily="34" charset="0"/>
                        </a:rPr>
                        <a:t>08AACCJ1676Z4WZ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TRITON HOTELS AN.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1,172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3,831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1,695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E07B1A"/>
                          </a:solidFill>
                          <a:effectLst/>
                          <a:latin typeface="Arial" panose="020B0604020202020204" pitchFamily="34" charset="0"/>
                        </a:rPr>
                        <a:t>30.58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1.68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E07B1A"/>
                          </a:solidFill>
                          <a:effectLst/>
                          <a:latin typeface="Arial" panose="020B0604020202020204" pitchFamily="34" charset="0"/>
                        </a:rPr>
                        <a:t>42.45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Circle-J Jaipur II / Ward 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2395.29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6.41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683000"/>
                  </a:ext>
                </a:extLst>
              </a:tr>
              <a:tr h="2910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0" i="0" u="none" strike="noStrike">
                          <a:solidFill>
                            <a:srgbClr val="1F5FA8"/>
                          </a:solidFill>
                          <a:effectLst/>
                          <a:latin typeface="Arial" panose="020B0604020202020204" pitchFamily="34" charset="0"/>
                        </a:rPr>
                        <a:t>08AACCK3145P1Z6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Tulsi Palace Resorts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1,150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3,869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1,702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38.61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46.18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Circle-J Jaipur II / Ward 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3213.68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5.79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221405"/>
                  </a:ext>
                </a:extLst>
              </a:tr>
              <a:tr h="2910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0" i="0" u="none" strike="noStrike">
                          <a:solidFill>
                            <a:srgbClr val="1F5FA8"/>
                          </a:solidFill>
                          <a:effectLst/>
                          <a:latin typeface="Arial" panose="020B0604020202020204" pitchFamily="34" charset="0"/>
                        </a:rPr>
                        <a:t>08AAGCS2560J1Z6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SERVEALL LAND PVT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1,815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2,930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1,040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E07B1A"/>
                          </a:solidFill>
                          <a:effectLst/>
                          <a:latin typeface="Arial" panose="020B0604020202020204" pitchFamily="34" charset="0"/>
                        </a:rPr>
                        <a:t>38.06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11.08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E07B1A"/>
                          </a:solidFill>
                          <a:effectLst/>
                          <a:latin typeface="Arial" panose="020B0604020202020204" pitchFamily="34" charset="0"/>
                        </a:rPr>
                        <a:t>35.61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Circle-D Jaipur I / Ward 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1824.50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324.86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13005"/>
                  </a:ext>
                </a:extLst>
              </a:tr>
              <a:tr h="2910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0" i="0" u="none" strike="noStrike" dirty="0">
                          <a:solidFill>
                            <a:srgbClr val="1F5FA8"/>
                          </a:solidFill>
                          <a:effectLst/>
                          <a:latin typeface="Arial" panose="020B0604020202020204" pitchFamily="34" charset="0"/>
                        </a:rPr>
                        <a:t>08AAACCF6489R1ZW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THE OBEROI UDAIVIL.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1,808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2,828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1,348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E07B1A"/>
                          </a:solidFill>
                          <a:effectLst/>
                          <a:latin typeface="Arial" panose="020B0604020202020204" pitchFamily="34" charset="0"/>
                        </a:rPr>
                        <a:t>35.65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E07B1A"/>
                          </a:solidFill>
                          <a:effectLst/>
                          <a:latin typeface="Arial" panose="020B0604020202020204" pitchFamily="34" charset="0"/>
                        </a:rPr>
                        <a:t>47.66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Circle-D Udaipur / Ward 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1708.46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57.06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622167"/>
                  </a:ext>
                </a:extLst>
              </a:tr>
              <a:tr h="2910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0" i="0" u="none" strike="noStrike" dirty="0">
                          <a:solidFill>
                            <a:srgbClr val="1F5FA8"/>
                          </a:solidFill>
                          <a:effectLst/>
                          <a:latin typeface="Arial" panose="020B0604020202020204" pitchFamily="34" charset="0"/>
                        </a:rPr>
                        <a:t>08AAACT3875G1Z7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THE INDIAN HOTELS..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1,704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2,652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895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E07B1A"/>
                          </a:solidFill>
                          <a:effectLst/>
                          <a:latin typeface="Arial" panose="020B0604020202020204" pitchFamily="34" charset="0"/>
                        </a:rPr>
                        <a:t>45.41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A1F44"/>
                          </a:solidFill>
                          <a:effectLst/>
                          <a:latin typeface="Arial" panose="020B0604020202020204" pitchFamily="34" charset="0"/>
                        </a:rPr>
                        <a:t>1.6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E07B1A"/>
                          </a:solidFill>
                          <a:effectLst/>
                          <a:latin typeface="Arial" panose="020B0604020202020204" pitchFamily="34" charset="0"/>
                        </a:rPr>
                        <a:t>33.74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800" b="0" i="0" u="none" strike="noStrike" dirty="0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Circle-D Udaipur / Ward 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1625.32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3A3F4A"/>
                          </a:solidFill>
                          <a:effectLst/>
                          <a:latin typeface="Arial" panose="020B0604020202020204" pitchFamily="34" charset="0"/>
                        </a:rPr>
                        <a:t>42.34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8204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78AC70-2D04-BF2B-FA7E-72E17FFFE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48D83AD5-83E6-6434-5214-DC4CDA524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CBEFCD-6A0D-9A41-CF45-C3B7232523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69" t="-14512" r="169" b="88927"/>
          <a:stretch>
            <a:fillRect/>
          </a:stretch>
        </p:blipFill>
        <p:spPr>
          <a:xfrm>
            <a:off x="-20554" y="-1181135"/>
            <a:ext cx="12191980" cy="20821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B1450B-59DA-3947-30BC-B954142F03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r="63864"/>
          <a:stretch>
            <a:fillRect/>
          </a:stretch>
        </p:blipFill>
        <p:spPr>
          <a:xfrm>
            <a:off x="366206" y="2224237"/>
            <a:ext cx="4049551" cy="33452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A4D26F3-C787-BCDA-0388-8A2AEA07A8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845" r="51770" b="74414"/>
          <a:stretch>
            <a:fillRect/>
          </a:stretch>
        </p:blipFill>
        <p:spPr>
          <a:xfrm>
            <a:off x="2141506" y="970697"/>
            <a:ext cx="5880235" cy="11996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004939-2BC0-C8EB-3058-1D28A4EC36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589" t="11071" r="18554" b="74414"/>
          <a:stretch>
            <a:fillRect/>
          </a:stretch>
        </p:blipFill>
        <p:spPr>
          <a:xfrm>
            <a:off x="8021741" y="986291"/>
            <a:ext cx="2299063" cy="11813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DCBF60-8DB2-8ADF-5291-62B0926045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9033" y="2287736"/>
            <a:ext cx="7484367" cy="31415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7D127A35-C847-72A2-2C27-ED3E806117CC}"/>
              </a:ext>
            </a:extLst>
          </p:cNvPr>
          <p:cNvSpPr/>
          <p:nvPr/>
        </p:nvSpPr>
        <p:spPr>
          <a:xfrm>
            <a:off x="228600" y="45720"/>
            <a:ext cx="11944350" cy="7200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b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</a:b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Sector Specific Approaches for revenue </a:t>
            </a:r>
          </a:p>
          <a:p>
            <a:pPr marL="0" indent="0">
              <a:buNone/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4211326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2E616788-4F59-2D56-BD72-46EA57F13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>
            <a:extLst>
              <a:ext uri="{FF2B5EF4-FFF2-40B4-BE49-F238E27FC236}">
                <a16:creationId xmlns:a16="http://schemas.microsoft.com/office/drawing/2014/main" id="{CD7BC2A0-4B5A-FC54-BAFE-5B43D8909F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26130" y="1969761"/>
            <a:ext cx="5600700" cy="2048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33" rIns="0" bIns="0" anchor="t" anchorCtr="0">
            <a:spAutoFit/>
          </a:bodyPr>
          <a:lstStyle/>
          <a:p>
            <a:pPr marL="16933" algn="ctr"/>
            <a:r>
              <a:rPr lang="en-US" sz="4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+mn-cs"/>
              </a:rPr>
              <a:t>Policy  and Administrative Reforms</a:t>
            </a:r>
            <a:endParaRPr sz="4400" dirty="0">
              <a:solidFill>
                <a:srgbClr val="1E2761"/>
              </a:solidFill>
              <a:latin typeface="Cambria" pitchFamily="34" charset="0"/>
              <a:ea typeface="Cambria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0937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61F68-7CD5-66C8-D688-2FBD8AC9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EB1A5-1739-1FE6-14A6-2D3228C9F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59594F2-D7B3-1CA0-1CE9-AD2C55E3DACB}"/>
              </a:ext>
            </a:extLst>
          </p:cNvPr>
          <p:cNvSpPr/>
          <p:nvPr/>
        </p:nvSpPr>
        <p:spPr>
          <a:xfrm>
            <a:off x="-11575" y="6099859"/>
            <a:ext cx="12192000" cy="7581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919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oogle Shape;473;p28"/>
          <p:cNvGrpSpPr/>
          <p:nvPr/>
        </p:nvGrpSpPr>
        <p:grpSpPr>
          <a:xfrm>
            <a:off x="0" y="-84"/>
            <a:ext cx="12192000" cy="1110015"/>
            <a:chOff x="0" y="-63"/>
            <a:chExt cx="9144000" cy="832511"/>
          </a:xfrm>
        </p:grpSpPr>
        <p:sp>
          <p:nvSpPr>
            <p:cNvPr id="474" name="Google Shape;474;p28"/>
            <p:cNvSpPr/>
            <p:nvPr/>
          </p:nvSpPr>
          <p:spPr>
            <a:xfrm>
              <a:off x="0" y="-63"/>
              <a:ext cx="9144000" cy="777875"/>
            </a:xfrm>
            <a:custGeom>
              <a:avLst/>
              <a:gdLst/>
              <a:ahLst/>
              <a:cxnLst/>
              <a:rect l="l" t="t" r="r" b="b"/>
              <a:pathLst>
                <a:path w="9144000" h="77787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777303"/>
                  </a:lnTo>
                  <a:lnTo>
                    <a:pt x="9144000" y="77730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2A4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475" name="Google Shape;475;p28"/>
            <p:cNvSpPr/>
            <p:nvPr/>
          </p:nvSpPr>
          <p:spPr>
            <a:xfrm>
              <a:off x="0" y="-63"/>
              <a:ext cx="9144000" cy="777875"/>
            </a:xfrm>
            <a:custGeom>
              <a:avLst/>
              <a:gdLst/>
              <a:ahLst/>
              <a:cxnLst/>
              <a:rect l="l" t="t" r="r" b="b"/>
              <a:pathLst>
                <a:path w="9144000" h="777875" extrusionOk="0">
                  <a:moveTo>
                    <a:pt x="0" y="777303"/>
                  </a:moveTo>
                  <a:lnTo>
                    <a:pt x="9144000" y="77730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77303"/>
                  </a:lnTo>
                  <a:close/>
                </a:path>
              </a:pathLst>
            </a:custGeom>
            <a:solidFill>
              <a:srgbClr val="1B2A49"/>
            </a:solidFill>
            <a:ln w="12700" cap="flat" cmpd="sng">
              <a:solidFill>
                <a:srgbClr val="1B2A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476" name="Google Shape;476;p28"/>
            <p:cNvSpPr/>
            <p:nvPr/>
          </p:nvSpPr>
          <p:spPr>
            <a:xfrm>
              <a:off x="0" y="77720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54899"/>
                  </a:lnTo>
                  <a:lnTo>
                    <a:pt x="9144000" y="548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2A4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477" name="Google Shape;477;p28"/>
            <p:cNvSpPr/>
            <p:nvPr/>
          </p:nvSpPr>
          <p:spPr>
            <a:xfrm>
              <a:off x="0" y="77720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54899"/>
                  </a:moveTo>
                  <a:lnTo>
                    <a:pt x="9144000" y="5489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899"/>
                  </a:lnTo>
                  <a:close/>
                </a:path>
              </a:pathLst>
            </a:custGeom>
            <a:solidFill>
              <a:srgbClr val="1B2A49"/>
            </a:solidFill>
            <a:ln w="12700" cap="flat" cmpd="sng">
              <a:solidFill>
                <a:srgbClr val="C8A8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78" name="Google Shape;478;p28"/>
          <p:cNvSpPr txBox="1">
            <a:spLocks noGrp="1"/>
          </p:cNvSpPr>
          <p:nvPr>
            <p:ph type="title"/>
          </p:nvPr>
        </p:nvSpPr>
        <p:spPr>
          <a:xfrm>
            <a:off x="592667" y="212682"/>
            <a:ext cx="9139600" cy="509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33" rIns="0" bIns="0" anchor="t" anchorCtr="0">
            <a:spAutoFit/>
          </a:bodyPr>
          <a:lstStyle/>
          <a:p>
            <a:pPr marL="16933"/>
            <a:r>
              <a:rPr lang="en-US" sz="3200" dirty="0">
                <a:solidFill>
                  <a:schemeClr val="lt1"/>
                </a:solidFill>
              </a:rPr>
              <a:t>#1 Organizational strengthening</a:t>
            </a:r>
            <a:endParaRPr sz="3200" dirty="0">
              <a:solidFill>
                <a:schemeClr val="lt1"/>
              </a:solidFill>
            </a:endParaRPr>
          </a:p>
        </p:txBody>
      </p:sp>
      <p:sp>
        <p:nvSpPr>
          <p:cNvPr id="479" name="Google Shape;479;p28"/>
          <p:cNvSpPr txBox="1"/>
          <p:nvPr/>
        </p:nvSpPr>
        <p:spPr>
          <a:xfrm>
            <a:off x="-101600" y="715467"/>
            <a:ext cx="8839200" cy="28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1048994"/>
            <a:r>
              <a:rPr lang="en-US" sz="1067" i="1">
                <a:solidFill>
                  <a:srgbClr val="EFD080"/>
                </a:solidFill>
                <a:latin typeface="Calibri"/>
                <a:ea typeface="Calibri"/>
                <a:cs typeface="Calibri"/>
                <a:sym typeface="Calibri"/>
              </a:rPr>
              <a:t>Re-align Rajasthan Commercial Taxes Service to the current GST workload — end the VAT-era pyramid.</a:t>
            </a:r>
            <a:endParaRPr sz="2400"/>
          </a:p>
        </p:txBody>
      </p:sp>
      <p:graphicFrame>
        <p:nvGraphicFramePr>
          <p:cNvPr id="480" name="Google Shape;480;p28"/>
          <p:cNvGraphicFramePr/>
          <p:nvPr/>
        </p:nvGraphicFramePr>
        <p:xfrm>
          <a:off x="7625976" y="1671707"/>
          <a:ext cx="4446496" cy="237629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23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3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Taxpayers</a:t>
                      </a:r>
                      <a:endParaRPr sz="1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share in Revenue</a:t>
                      </a:r>
                      <a:endParaRPr sz="1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500</a:t>
                      </a:r>
                      <a:endParaRPr sz="1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48.37%</a:t>
                      </a:r>
                      <a:endParaRPr sz="1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Top1000</a:t>
                      </a:r>
                      <a:endParaRPr sz="1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58.13%</a:t>
                      </a:r>
                      <a:endParaRPr sz="1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5000</a:t>
                      </a:r>
                      <a:endParaRPr sz="1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77.14%</a:t>
                      </a:r>
                      <a:endParaRPr sz="1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10000</a:t>
                      </a:r>
                      <a:endParaRPr sz="1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83.89%</a:t>
                      </a:r>
                      <a:endParaRPr sz="1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25000</a:t>
                      </a:r>
                      <a:endParaRPr sz="1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91.79%</a:t>
                      </a:r>
                      <a:endParaRPr sz="1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22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9F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9F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84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8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1 Lakh</a:t>
                      </a:r>
                      <a:endParaRPr sz="1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9F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8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98.70%</a:t>
                      </a:r>
                      <a:endParaRPr sz="1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9F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81" name="Google Shape;481;p28"/>
          <p:cNvSpPr txBox="1"/>
          <p:nvPr/>
        </p:nvSpPr>
        <p:spPr>
          <a:xfrm>
            <a:off x="-101600" y="1072378"/>
            <a:ext cx="7452659" cy="5192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219281" algn="just"/>
            <a:r>
              <a:rPr lang="en-US" sz="2133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endParaRPr sz="2133" dirty="0">
              <a:latin typeface="Calibri"/>
              <a:ea typeface="Calibri"/>
              <a:cs typeface="Calibri"/>
              <a:sym typeface="Calibri"/>
            </a:endParaRPr>
          </a:p>
          <a:p>
            <a:pPr marL="219281" algn="just">
              <a:spcBef>
                <a:spcPts val="600"/>
              </a:spcBef>
            </a:pPr>
            <a:r>
              <a:rPr lang="en-US" sz="2133" b="1" dirty="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rPr>
              <a:t>Operational levers</a:t>
            </a:r>
            <a:endParaRPr sz="2133" dirty="0">
              <a:latin typeface="Calibri"/>
              <a:ea typeface="Calibri"/>
              <a:cs typeface="Calibri"/>
              <a:sym typeface="Calibri"/>
            </a:endParaRPr>
          </a:p>
          <a:p>
            <a:pPr marL="617205" marR="700176" indent="-343738" algn="just">
              <a:spcBef>
                <a:spcPts val="660"/>
              </a:spcBef>
              <a:buClr>
                <a:srgbClr val="2C3D50"/>
              </a:buClr>
              <a:buSzPts val="1600"/>
              <a:buFont typeface="Calibri"/>
              <a:buChar char="●"/>
            </a:pPr>
            <a:r>
              <a:rPr lang="en-US" sz="2133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RCTS Cadre review with dedicated verticals: Refund &amp; ITC scrutiny, Big-Taxpayer Unit, Data Analytics Cell</a:t>
            </a:r>
            <a:endParaRPr sz="2133" dirty="0">
              <a:latin typeface="Calibri"/>
              <a:ea typeface="Calibri"/>
              <a:cs typeface="Calibri"/>
              <a:sym typeface="Calibri"/>
            </a:endParaRPr>
          </a:p>
          <a:p>
            <a:pPr marL="617205" marR="673928" indent="-343738" algn="just">
              <a:spcBef>
                <a:spcPts val="800"/>
              </a:spcBef>
              <a:buClr>
                <a:srgbClr val="2C3D50"/>
              </a:buClr>
              <a:buSzPts val="1600"/>
              <a:buFont typeface="Calibri"/>
              <a:buChar char="●"/>
            </a:pPr>
            <a:r>
              <a:rPr lang="en-US" sz="2133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Fill vacancies at ACCT / CTO levels, timely DPCs and postings.</a:t>
            </a:r>
            <a:endParaRPr sz="2133" dirty="0">
              <a:latin typeface="Calibri"/>
              <a:ea typeface="Calibri"/>
              <a:cs typeface="Calibri"/>
              <a:sym typeface="Calibri"/>
            </a:endParaRPr>
          </a:p>
          <a:p>
            <a:pPr marL="617205" indent="-342891" algn="just">
              <a:spcBef>
                <a:spcPts val="807"/>
              </a:spcBef>
              <a:buClr>
                <a:srgbClr val="2C3D50"/>
              </a:buClr>
              <a:buSzPts val="1600"/>
              <a:buFont typeface="Calibri"/>
              <a:buChar char="●"/>
            </a:pPr>
            <a:r>
              <a:rPr lang="en-US" sz="2133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Top-500 GSTIN State Big-Taxpayer Unit with continuity of officer engagement</a:t>
            </a:r>
          </a:p>
          <a:p>
            <a:pPr marL="617205" indent="-342891" algn="just">
              <a:spcBef>
                <a:spcPts val="807"/>
              </a:spcBef>
              <a:buClr>
                <a:srgbClr val="2C3D50"/>
              </a:buClr>
              <a:buSzPts val="1600"/>
              <a:buFont typeface="Calibri"/>
              <a:buChar char="●"/>
            </a:pPr>
            <a:r>
              <a:rPr lang="en-US" sz="2133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Creation and Strengthening of revision cell for the exercise of revisional authority of chief commissioner u/s section 108 of CGST ACT. This will help examine records of decisions passed by proper officers and if required modify annul or enhanced demands in these orders. </a:t>
            </a:r>
            <a:r>
              <a:rPr lang="en-US" sz="2133" b="1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For this proposal is already submitted with Finance Dept.</a:t>
            </a:r>
            <a:endParaRPr sz="2133" b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oogle Shape;495;p29">
            <a:extLst>
              <a:ext uri="{FF2B5EF4-FFF2-40B4-BE49-F238E27FC236}">
                <a16:creationId xmlns:a16="http://schemas.microsoft.com/office/drawing/2014/main" id="{B2D6EB7E-03F9-6607-C3FB-2E4BC10A1345}"/>
              </a:ext>
            </a:extLst>
          </p:cNvPr>
          <p:cNvGrpSpPr/>
          <p:nvPr/>
        </p:nvGrpSpPr>
        <p:grpSpPr>
          <a:xfrm>
            <a:off x="7724388" y="4501559"/>
            <a:ext cx="4145595" cy="1314027"/>
            <a:chOff x="5966459" y="3051810"/>
            <a:chExt cx="2812034" cy="1577339"/>
          </a:xfrm>
        </p:grpSpPr>
        <p:sp>
          <p:nvSpPr>
            <p:cNvPr id="3" name="Google Shape;496;p29">
              <a:extLst>
                <a:ext uri="{FF2B5EF4-FFF2-40B4-BE49-F238E27FC236}">
                  <a16:creationId xmlns:a16="http://schemas.microsoft.com/office/drawing/2014/main" id="{5F6A632B-E4EB-2894-3631-8850ED5DE581}"/>
                </a:ext>
              </a:extLst>
            </p:cNvPr>
            <p:cNvSpPr/>
            <p:nvPr/>
          </p:nvSpPr>
          <p:spPr>
            <a:xfrm>
              <a:off x="6021323" y="3051810"/>
              <a:ext cx="2757170" cy="1577339"/>
            </a:xfrm>
            <a:custGeom>
              <a:avLst/>
              <a:gdLst/>
              <a:ahLst/>
              <a:cxnLst/>
              <a:rect l="l" t="t" r="r" b="b"/>
              <a:pathLst>
                <a:path w="2757170" h="1577339" extrusionOk="0">
                  <a:moveTo>
                    <a:pt x="0" y="1577339"/>
                  </a:moveTo>
                  <a:lnTo>
                    <a:pt x="2756916" y="1577339"/>
                  </a:lnTo>
                  <a:lnTo>
                    <a:pt x="2756916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F4F8F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4" name="Google Shape;497;p29">
              <a:extLst>
                <a:ext uri="{FF2B5EF4-FFF2-40B4-BE49-F238E27FC236}">
                  <a16:creationId xmlns:a16="http://schemas.microsoft.com/office/drawing/2014/main" id="{85C570DF-585B-C895-A185-907B3205C146}"/>
                </a:ext>
              </a:extLst>
            </p:cNvPr>
            <p:cNvSpPr/>
            <p:nvPr/>
          </p:nvSpPr>
          <p:spPr>
            <a:xfrm>
              <a:off x="5966459" y="3051810"/>
              <a:ext cx="2811779" cy="1577339"/>
            </a:xfrm>
            <a:custGeom>
              <a:avLst/>
              <a:gdLst/>
              <a:ahLst/>
              <a:cxnLst/>
              <a:rect l="l" t="t" r="r" b="b"/>
              <a:pathLst>
                <a:path w="2811779" h="1577339" extrusionOk="0">
                  <a:moveTo>
                    <a:pt x="0" y="1577339"/>
                  </a:moveTo>
                  <a:lnTo>
                    <a:pt x="2811780" y="1577339"/>
                  </a:lnTo>
                  <a:lnTo>
                    <a:pt x="2811780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5" name="Google Shape;498;p29">
              <a:extLst>
                <a:ext uri="{FF2B5EF4-FFF2-40B4-BE49-F238E27FC236}">
                  <a16:creationId xmlns:a16="http://schemas.microsoft.com/office/drawing/2014/main" id="{3169CF94-11FA-991E-BC2A-94B7EE65C946}"/>
                </a:ext>
              </a:extLst>
            </p:cNvPr>
            <p:cNvSpPr/>
            <p:nvPr/>
          </p:nvSpPr>
          <p:spPr>
            <a:xfrm>
              <a:off x="5966459" y="3051810"/>
              <a:ext cx="55245" cy="1577339"/>
            </a:xfrm>
            <a:custGeom>
              <a:avLst/>
              <a:gdLst/>
              <a:ahLst/>
              <a:cxnLst/>
              <a:rect l="l" t="t" r="r" b="b"/>
              <a:pathLst>
                <a:path w="55245" h="1577339" extrusionOk="0">
                  <a:moveTo>
                    <a:pt x="54863" y="0"/>
                  </a:moveTo>
                  <a:lnTo>
                    <a:pt x="0" y="0"/>
                  </a:lnTo>
                  <a:lnTo>
                    <a:pt x="0" y="1577339"/>
                  </a:lnTo>
                  <a:lnTo>
                    <a:pt x="54863" y="1577339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5A8F6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Google Shape;499;p29">
              <a:extLst>
                <a:ext uri="{FF2B5EF4-FFF2-40B4-BE49-F238E27FC236}">
                  <a16:creationId xmlns:a16="http://schemas.microsoft.com/office/drawing/2014/main" id="{D2A8A65B-E884-2135-77A7-A3F14B50DDAA}"/>
                </a:ext>
              </a:extLst>
            </p:cNvPr>
            <p:cNvSpPr/>
            <p:nvPr/>
          </p:nvSpPr>
          <p:spPr>
            <a:xfrm>
              <a:off x="5966459" y="3051810"/>
              <a:ext cx="55245" cy="1577339"/>
            </a:xfrm>
            <a:custGeom>
              <a:avLst/>
              <a:gdLst/>
              <a:ahLst/>
              <a:cxnLst/>
              <a:rect l="l" t="t" r="r" b="b"/>
              <a:pathLst>
                <a:path w="55245" h="1577339" extrusionOk="0">
                  <a:moveTo>
                    <a:pt x="0" y="1577339"/>
                  </a:moveTo>
                  <a:lnTo>
                    <a:pt x="54863" y="1577339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C8A84B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" name="Google Shape;500;p29">
            <a:extLst>
              <a:ext uri="{FF2B5EF4-FFF2-40B4-BE49-F238E27FC236}">
                <a16:creationId xmlns:a16="http://schemas.microsoft.com/office/drawing/2014/main" id="{7905AED7-4015-873B-F5B4-93D65291C453}"/>
              </a:ext>
            </a:extLst>
          </p:cNvPr>
          <p:cNvSpPr txBox="1"/>
          <p:nvPr/>
        </p:nvSpPr>
        <p:spPr>
          <a:xfrm>
            <a:off x="7765109" y="4501558"/>
            <a:ext cx="4064711" cy="11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033" rIns="0" bIns="0" anchor="t" anchorCtr="0">
            <a:spAutoFit/>
          </a:bodyPr>
          <a:lstStyle/>
          <a:p>
            <a:pPr marL="148163"/>
            <a:r>
              <a:rPr lang="en-US" sz="1600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E x p e c t e d  o u t c o m e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376757" marR="33019" indent="-228594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Better monitoring of field officers.</a:t>
            </a:r>
          </a:p>
          <a:p>
            <a:pPr marL="376757" marR="33019" indent="-228594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Enhanced effectiveness by rationalizing of the workload.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p29"/>
          <p:cNvGrpSpPr/>
          <p:nvPr/>
        </p:nvGrpSpPr>
        <p:grpSpPr>
          <a:xfrm>
            <a:off x="0" y="-84"/>
            <a:ext cx="12192000" cy="1110015"/>
            <a:chOff x="0" y="-63"/>
            <a:chExt cx="9144000" cy="832511"/>
          </a:xfrm>
        </p:grpSpPr>
        <p:sp>
          <p:nvSpPr>
            <p:cNvPr id="488" name="Google Shape;488;p29"/>
            <p:cNvSpPr/>
            <p:nvPr/>
          </p:nvSpPr>
          <p:spPr>
            <a:xfrm>
              <a:off x="0" y="-63"/>
              <a:ext cx="9144000" cy="777875"/>
            </a:xfrm>
            <a:custGeom>
              <a:avLst/>
              <a:gdLst/>
              <a:ahLst/>
              <a:cxnLst/>
              <a:rect l="l" t="t" r="r" b="b"/>
              <a:pathLst>
                <a:path w="9144000" h="77787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777303"/>
                  </a:lnTo>
                  <a:lnTo>
                    <a:pt x="9144000" y="77730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2A4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489" name="Google Shape;489;p29"/>
            <p:cNvSpPr/>
            <p:nvPr/>
          </p:nvSpPr>
          <p:spPr>
            <a:xfrm>
              <a:off x="0" y="-63"/>
              <a:ext cx="9144000" cy="777875"/>
            </a:xfrm>
            <a:custGeom>
              <a:avLst/>
              <a:gdLst/>
              <a:ahLst/>
              <a:cxnLst/>
              <a:rect l="l" t="t" r="r" b="b"/>
              <a:pathLst>
                <a:path w="9144000" h="777875" extrusionOk="0">
                  <a:moveTo>
                    <a:pt x="0" y="777303"/>
                  </a:moveTo>
                  <a:lnTo>
                    <a:pt x="9144000" y="77730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77303"/>
                  </a:lnTo>
                  <a:close/>
                </a:path>
              </a:pathLst>
            </a:custGeom>
            <a:solidFill>
              <a:srgbClr val="1B2A49"/>
            </a:solidFill>
            <a:ln w="12700" cap="flat" cmpd="sng">
              <a:solidFill>
                <a:srgbClr val="1B2A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490" name="Google Shape;490;p29"/>
            <p:cNvSpPr/>
            <p:nvPr/>
          </p:nvSpPr>
          <p:spPr>
            <a:xfrm>
              <a:off x="0" y="77720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54899"/>
                  </a:lnTo>
                  <a:lnTo>
                    <a:pt x="9144000" y="548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2A4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491" name="Google Shape;491;p29"/>
            <p:cNvSpPr/>
            <p:nvPr/>
          </p:nvSpPr>
          <p:spPr>
            <a:xfrm>
              <a:off x="0" y="77720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54899"/>
                  </a:moveTo>
                  <a:lnTo>
                    <a:pt x="9144000" y="5489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899"/>
                  </a:lnTo>
                  <a:close/>
                </a:path>
              </a:pathLst>
            </a:custGeom>
            <a:solidFill>
              <a:srgbClr val="1B2A49"/>
            </a:solidFill>
            <a:ln w="12700" cap="flat" cmpd="sng">
              <a:solidFill>
                <a:srgbClr val="C8A8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92" name="Google Shape;492;p29"/>
          <p:cNvSpPr txBox="1">
            <a:spLocks noGrp="1"/>
          </p:cNvSpPr>
          <p:nvPr>
            <p:ph type="title"/>
          </p:nvPr>
        </p:nvSpPr>
        <p:spPr>
          <a:xfrm>
            <a:off x="592667" y="212682"/>
            <a:ext cx="10353600" cy="509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33" rIns="0" bIns="0" anchor="t" anchorCtr="0">
            <a:spAutoFit/>
          </a:bodyPr>
          <a:lstStyle/>
          <a:p>
            <a:pPr marL="16933"/>
            <a:r>
              <a:rPr lang="en-US" sz="3200" dirty="0">
                <a:solidFill>
                  <a:schemeClr val="lt1"/>
                </a:solidFill>
              </a:rPr>
              <a:t>#2 Housekeeping — Clean Databases &amp; Pendency Disposal</a:t>
            </a:r>
            <a:endParaRPr sz="3200" dirty="0">
              <a:solidFill>
                <a:schemeClr val="lt1"/>
              </a:solidFill>
            </a:endParaRPr>
          </a:p>
        </p:txBody>
      </p:sp>
      <p:sp>
        <p:nvSpPr>
          <p:cNvPr id="493" name="Google Shape;493;p29"/>
          <p:cNvSpPr txBox="1"/>
          <p:nvPr/>
        </p:nvSpPr>
        <p:spPr>
          <a:xfrm>
            <a:off x="-101600" y="715467"/>
            <a:ext cx="8839200" cy="28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1048994"/>
            <a:r>
              <a:rPr lang="en-US" sz="1067" i="1">
                <a:solidFill>
                  <a:srgbClr val="EFD080"/>
                </a:solidFill>
                <a:latin typeface="Calibri"/>
                <a:ea typeface="Calibri"/>
                <a:cs typeface="Calibri"/>
                <a:sym typeface="Calibri"/>
              </a:rPr>
              <a:t>Get the foundational data clean so analytics can actually work.</a:t>
            </a:r>
            <a:endParaRPr sz="2400"/>
          </a:p>
        </p:txBody>
      </p:sp>
      <p:sp>
        <p:nvSpPr>
          <p:cNvPr id="494" name="Google Shape;494;p29"/>
          <p:cNvSpPr txBox="1"/>
          <p:nvPr/>
        </p:nvSpPr>
        <p:spPr>
          <a:xfrm>
            <a:off x="76520" y="1059131"/>
            <a:ext cx="6815817" cy="58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219281" algn="just"/>
            <a:r>
              <a:rPr lang="en-US" sz="2133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endParaRPr sz="2133" dirty="0">
              <a:latin typeface="Calibri"/>
              <a:ea typeface="Calibri"/>
              <a:cs typeface="Calibri"/>
              <a:sym typeface="Calibri"/>
            </a:endParaRPr>
          </a:p>
          <a:p>
            <a:pPr marL="219281" algn="just">
              <a:spcBef>
                <a:spcPts val="600"/>
              </a:spcBef>
            </a:pPr>
            <a:r>
              <a:rPr lang="en-US" sz="2133" b="1" dirty="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rPr>
              <a:t>Operational levers</a:t>
            </a:r>
            <a:endParaRPr sz="2133" dirty="0">
              <a:latin typeface="Calibri"/>
              <a:ea typeface="Calibri"/>
              <a:cs typeface="Calibri"/>
              <a:sym typeface="Calibri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rgbClr val="2C3D50"/>
                </a:solidFill>
                <a:latin typeface="Calibri"/>
                <a:ea typeface="Calibri"/>
                <a:cs typeface="Calibri"/>
              </a:rPr>
              <a:t>Suo-moto cancellation of GSTINs for persistent non-filers.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rgbClr val="2C3D50"/>
                </a:solidFill>
                <a:latin typeface="Calibri"/>
                <a:ea typeface="Calibri"/>
                <a:cs typeface="Calibri"/>
              </a:rPr>
              <a:t>Verification of taxpayers with suspicious e-Way Bill transactions.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rgbClr val="2C3D50"/>
                </a:solidFill>
                <a:latin typeface="Calibri"/>
                <a:ea typeface="Calibri"/>
                <a:cs typeface="Calibri"/>
              </a:rPr>
              <a:t>Physical verification of new registrations with high inter-State sales and ITC claims.</a:t>
            </a:r>
            <a:endParaRPr sz="2133" dirty="0">
              <a:solidFill>
                <a:srgbClr val="2C3D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98674" indent="-343738" algn="just">
              <a:spcBef>
                <a:spcPts val="800"/>
              </a:spcBef>
              <a:buClr>
                <a:srgbClr val="FF0000"/>
              </a:buClr>
              <a:buSzPts val="1600"/>
              <a:buFont typeface="Calibri"/>
              <a:buChar char="●"/>
            </a:pPr>
            <a:r>
              <a:rPr lang="en-US" sz="2133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27896 </a:t>
            </a:r>
            <a:r>
              <a:rPr lang="en-US" sz="2133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pending SCNs as on 1</a:t>
            </a:r>
            <a:r>
              <a:rPr lang="en-US" sz="2133" baseline="30000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US" sz="2133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 May 2026 to be adjudicated/disposed on priority.</a:t>
            </a:r>
            <a:endParaRPr sz="2133" dirty="0">
              <a:latin typeface="Calibri"/>
              <a:ea typeface="Calibri"/>
              <a:cs typeface="Calibri"/>
              <a:sym typeface="Calibri"/>
            </a:endParaRPr>
          </a:p>
          <a:p>
            <a:pPr marL="498674" marR="6773" indent="-343738" algn="just">
              <a:spcBef>
                <a:spcPts val="800"/>
              </a:spcBef>
              <a:buClr>
                <a:srgbClr val="2C3D50"/>
              </a:buClr>
              <a:buSzPts val="1600"/>
              <a:buFont typeface="Calibri"/>
              <a:buChar char="●"/>
            </a:pPr>
            <a:r>
              <a:rPr lang="en-US" sz="2133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State-wide pendency dashboard (assessments, refunds, appeals) tracked bi-weekly.</a:t>
            </a:r>
            <a:endParaRPr sz="2400" dirty="0"/>
          </a:p>
          <a:p>
            <a:pPr marL="498674" marR="6773" indent="-343738" algn="just">
              <a:spcBef>
                <a:spcPts val="800"/>
              </a:spcBef>
              <a:buClr>
                <a:srgbClr val="2C3D50"/>
              </a:buClr>
              <a:buSzPts val="1600"/>
              <a:buFont typeface="Calibri"/>
              <a:buChar char="●"/>
            </a:pPr>
            <a:r>
              <a:rPr lang="en-US" sz="2133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GSTIN	PAN&lt;&gt;Aadhaar&lt;&gt;bank reconciliation; flag duplicate/clone GSTINs at the same address</a:t>
            </a:r>
          </a:p>
          <a:p>
            <a:pPr marL="498674" marR="6773" indent="-343738" algn="just">
              <a:spcBef>
                <a:spcPts val="800"/>
              </a:spcBef>
              <a:buClr>
                <a:srgbClr val="2C3D50"/>
              </a:buClr>
              <a:buSzPts val="1600"/>
              <a:buFont typeface="Calibri"/>
              <a:buChar char="●"/>
            </a:pPr>
            <a:r>
              <a:rPr lang="en-US" sz="2133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Total 2582 taxpayers are repeated offenders who have more than 10 notices in last 3FY.</a:t>
            </a:r>
            <a:endParaRPr sz="2133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5" name="Google Shape;495;p29"/>
          <p:cNvGrpSpPr/>
          <p:nvPr/>
        </p:nvGrpSpPr>
        <p:grpSpPr>
          <a:xfrm>
            <a:off x="7548203" y="4172374"/>
            <a:ext cx="4145595" cy="2595927"/>
            <a:chOff x="5966459" y="3051810"/>
            <a:chExt cx="2812034" cy="1577339"/>
          </a:xfrm>
        </p:grpSpPr>
        <p:sp>
          <p:nvSpPr>
            <p:cNvPr id="496" name="Google Shape;496;p29"/>
            <p:cNvSpPr/>
            <p:nvPr/>
          </p:nvSpPr>
          <p:spPr>
            <a:xfrm>
              <a:off x="6021323" y="3051810"/>
              <a:ext cx="2757170" cy="1577339"/>
            </a:xfrm>
            <a:custGeom>
              <a:avLst/>
              <a:gdLst/>
              <a:ahLst/>
              <a:cxnLst/>
              <a:rect l="l" t="t" r="r" b="b"/>
              <a:pathLst>
                <a:path w="2757170" h="1577339" extrusionOk="0">
                  <a:moveTo>
                    <a:pt x="0" y="1577339"/>
                  </a:moveTo>
                  <a:lnTo>
                    <a:pt x="2756916" y="1577339"/>
                  </a:lnTo>
                  <a:lnTo>
                    <a:pt x="2756916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F4F8F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497" name="Google Shape;497;p29"/>
            <p:cNvSpPr/>
            <p:nvPr/>
          </p:nvSpPr>
          <p:spPr>
            <a:xfrm>
              <a:off x="5966459" y="3051810"/>
              <a:ext cx="2811779" cy="1577339"/>
            </a:xfrm>
            <a:custGeom>
              <a:avLst/>
              <a:gdLst/>
              <a:ahLst/>
              <a:cxnLst/>
              <a:rect l="l" t="t" r="r" b="b"/>
              <a:pathLst>
                <a:path w="2811779" h="1577339" extrusionOk="0">
                  <a:moveTo>
                    <a:pt x="0" y="1577339"/>
                  </a:moveTo>
                  <a:lnTo>
                    <a:pt x="2811780" y="1577339"/>
                  </a:lnTo>
                  <a:lnTo>
                    <a:pt x="2811780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498" name="Google Shape;498;p29"/>
            <p:cNvSpPr/>
            <p:nvPr/>
          </p:nvSpPr>
          <p:spPr>
            <a:xfrm>
              <a:off x="5966459" y="3051810"/>
              <a:ext cx="55245" cy="1577339"/>
            </a:xfrm>
            <a:custGeom>
              <a:avLst/>
              <a:gdLst/>
              <a:ahLst/>
              <a:cxnLst/>
              <a:rect l="l" t="t" r="r" b="b"/>
              <a:pathLst>
                <a:path w="55245" h="1577339" extrusionOk="0">
                  <a:moveTo>
                    <a:pt x="54863" y="0"/>
                  </a:moveTo>
                  <a:lnTo>
                    <a:pt x="0" y="0"/>
                  </a:lnTo>
                  <a:lnTo>
                    <a:pt x="0" y="1577339"/>
                  </a:lnTo>
                  <a:lnTo>
                    <a:pt x="54863" y="1577339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5A8F6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499" name="Google Shape;499;p29"/>
            <p:cNvSpPr/>
            <p:nvPr/>
          </p:nvSpPr>
          <p:spPr>
            <a:xfrm>
              <a:off x="5966459" y="3051810"/>
              <a:ext cx="55245" cy="1577339"/>
            </a:xfrm>
            <a:custGeom>
              <a:avLst/>
              <a:gdLst/>
              <a:ahLst/>
              <a:cxnLst/>
              <a:rect l="l" t="t" r="r" b="b"/>
              <a:pathLst>
                <a:path w="55245" h="1577339" extrusionOk="0">
                  <a:moveTo>
                    <a:pt x="0" y="1577339"/>
                  </a:moveTo>
                  <a:lnTo>
                    <a:pt x="54863" y="1577339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C8A84B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500" name="Google Shape;500;p29"/>
          <p:cNvSpPr txBox="1"/>
          <p:nvPr/>
        </p:nvSpPr>
        <p:spPr>
          <a:xfrm>
            <a:off x="7588924" y="4172374"/>
            <a:ext cx="3983265" cy="107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033" rIns="0" bIns="0" anchor="t" anchorCtr="0">
            <a:spAutoFit/>
          </a:bodyPr>
          <a:lstStyle/>
          <a:p>
            <a:pPr marL="148163"/>
            <a:r>
              <a:rPr lang="en-US" sz="1600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E x p e c t e d  o u t c o m e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148163" marR="33019">
              <a:spcBef>
                <a:spcPts val="300"/>
              </a:spcBef>
            </a:pPr>
            <a:r>
              <a:rPr lang="en-US" sz="1600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Pendency &lt; 50% of inventory in 12 months; a cleaner base directly reduces the B2C-ratio reading.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9"/>
          <p:cNvSpPr txBox="1"/>
          <p:nvPr/>
        </p:nvSpPr>
        <p:spPr>
          <a:xfrm>
            <a:off x="7710529" y="5415745"/>
            <a:ext cx="3861659" cy="78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33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Addresses following diagnostic points</a:t>
            </a:r>
            <a:endParaRPr sz="2400" dirty="0"/>
          </a:p>
          <a:p>
            <a:pPr marL="228594" indent="-228594">
              <a:spcBef>
                <a:spcPts val="133"/>
              </a:spcBef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B2C Ratio Anomaly</a:t>
            </a:r>
            <a:endParaRPr sz="2400" dirty="0"/>
          </a:p>
          <a:p>
            <a:pPr marL="228594" indent="-228594">
              <a:spcBef>
                <a:spcPts val="133"/>
              </a:spcBef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 band and cash anomaly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2" name="Google Shape;502;p29"/>
          <p:cNvGraphicFramePr/>
          <p:nvPr/>
        </p:nvGraphicFramePr>
        <p:xfrm>
          <a:off x="7724961" y="1653204"/>
          <a:ext cx="3786867" cy="248125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309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7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 frame</a:t>
                      </a:r>
                      <a:endParaRPr sz="1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Pending Cases</a:t>
                      </a:r>
                      <a:br>
                        <a:rPr lang="en-US" sz="19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9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900" b="1" u="none" strike="noStrike" cap="none" baseline="3000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</a:t>
                      </a:r>
                      <a:r>
                        <a:rPr lang="en-US" sz="19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May 2026</a:t>
                      </a:r>
                      <a:endParaRPr sz="1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8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Less than 1 Month</a:t>
                      </a:r>
                      <a:endParaRPr sz="2400" dirty="0"/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3903</a:t>
                      </a:r>
                      <a:endParaRPr sz="1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8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1-3 Months</a:t>
                      </a:r>
                      <a:endParaRPr sz="2400" dirty="0"/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2800</a:t>
                      </a:r>
                      <a:endParaRPr sz="1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8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More than 3 Months</a:t>
                      </a:r>
                      <a:endParaRPr sz="2400" dirty="0"/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21193</a:t>
                      </a:r>
                      <a:endParaRPr sz="1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8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2400" dirty="0"/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27896</a:t>
                      </a:r>
                      <a:endParaRPr sz="1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08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0"/>
          <p:cNvGrpSpPr/>
          <p:nvPr/>
        </p:nvGrpSpPr>
        <p:grpSpPr>
          <a:xfrm>
            <a:off x="0" y="-84"/>
            <a:ext cx="12192000" cy="1110015"/>
            <a:chOff x="0" y="-63"/>
            <a:chExt cx="9144000" cy="832511"/>
          </a:xfrm>
        </p:grpSpPr>
        <p:sp>
          <p:nvSpPr>
            <p:cNvPr id="509" name="Google Shape;509;p30"/>
            <p:cNvSpPr/>
            <p:nvPr/>
          </p:nvSpPr>
          <p:spPr>
            <a:xfrm>
              <a:off x="0" y="-63"/>
              <a:ext cx="9144000" cy="777875"/>
            </a:xfrm>
            <a:custGeom>
              <a:avLst/>
              <a:gdLst/>
              <a:ahLst/>
              <a:cxnLst/>
              <a:rect l="l" t="t" r="r" b="b"/>
              <a:pathLst>
                <a:path w="9144000" h="77787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777303"/>
                  </a:lnTo>
                  <a:lnTo>
                    <a:pt x="9144000" y="77730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2A4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SzPts val="1800"/>
              </a:pPr>
              <a:endParaRPr sz="2400">
                <a:solidFill>
                  <a:srgbClr val="000000"/>
                </a:solidFill>
              </a:endParaRPr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0" y="-63"/>
              <a:ext cx="9144000" cy="777875"/>
            </a:xfrm>
            <a:custGeom>
              <a:avLst/>
              <a:gdLst/>
              <a:ahLst/>
              <a:cxnLst/>
              <a:rect l="l" t="t" r="r" b="b"/>
              <a:pathLst>
                <a:path w="9144000" h="777875" extrusionOk="0">
                  <a:moveTo>
                    <a:pt x="0" y="777303"/>
                  </a:moveTo>
                  <a:lnTo>
                    <a:pt x="9144000" y="77730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77303"/>
                  </a:lnTo>
                  <a:close/>
                </a:path>
              </a:pathLst>
            </a:custGeom>
            <a:solidFill>
              <a:srgbClr val="1B2A49"/>
            </a:solidFill>
            <a:ln w="12700" cap="flat" cmpd="sng">
              <a:solidFill>
                <a:srgbClr val="1B2A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SzPts val="1800"/>
              </a:pPr>
              <a:endParaRPr sz="2400">
                <a:solidFill>
                  <a:srgbClr val="000000"/>
                </a:solidFill>
              </a:endParaRPr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0" y="77720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54899"/>
                  </a:lnTo>
                  <a:lnTo>
                    <a:pt x="9144000" y="548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2A4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SzPts val="1800"/>
              </a:pPr>
              <a:endParaRPr sz="2400">
                <a:solidFill>
                  <a:srgbClr val="000000"/>
                </a:solidFill>
              </a:endParaRPr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0" y="77720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54899"/>
                  </a:moveTo>
                  <a:lnTo>
                    <a:pt x="9144000" y="5489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899"/>
                  </a:lnTo>
                  <a:close/>
                </a:path>
              </a:pathLst>
            </a:custGeom>
            <a:solidFill>
              <a:srgbClr val="1B2A49"/>
            </a:solidFill>
            <a:ln w="12700" cap="flat" cmpd="sng">
              <a:solidFill>
                <a:srgbClr val="C8A8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SzPts val="1800"/>
              </a:pPr>
              <a:endParaRPr sz="2400">
                <a:solidFill>
                  <a:srgbClr val="000000"/>
                </a:solidFill>
              </a:endParaRPr>
            </a:p>
          </p:txBody>
        </p:sp>
      </p:grpSp>
      <p:sp>
        <p:nvSpPr>
          <p:cNvPr id="513" name="Google Shape;513;p30"/>
          <p:cNvSpPr txBox="1">
            <a:spLocks noGrp="1"/>
          </p:cNvSpPr>
          <p:nvPr>
            <p:ph type="title"/>
          </p:nvPr>
        </p:nvSpPr>
        <p:spPr>
          <a:xfrm>
            <a:off x="592667" y="212682"/>
            <a:ext cx="10786400" cy="509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33" rIns="0" bIns="0" anchor="t" anchorCtr="0">
            <a:spAutoFit/>
          </a:bodyPr>
          <a:lstStyle/>
          <a:p>
            <a:pPr marL="16933"/>
            <a:r>
              <a:rPr lang="en-US" sz="3200">
                <a:solidFill>
                  <a:srgbClr val="FFFFFF"/>
                </a:solidFill>
              </a:rPr>
              <a:t>#3 </a:t>
            </a:r>
            <a:r>
              <a:rPr lang="en-US" sz="3200">
                <a:solidFill>
                  <a:schemeClr val="lt1"/>
                </a:solidFill>
              </a:rPr>
              <a:t>AI Tools for Monitoring, Audit, Enforcement &amp; Scrutiny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514" name="Google Shape;514;p30"/>
          <p:cNvSpPr txBox="1"/>
          <p:nvPr/>
        </p:nvSpPr>
        <p:spPr>
          <a:xfrm>
            <a:off x="-101600" y="715467"/>
            <a:ext cx="8839200" cy="489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1048994"/>
            <a:r>
              <a:rPr lang="en-US" sz="1067" i="1">
                <a:solidFill>
                  <a:srgbClr val="C8A84B"/>
                </a:solidFill>
                <a:latin typeface="Calibri"/>
                <a:ea typeface="Calibri"/>
                <a:cs typeface="Calibri"/>
                <a:sym typeface="Calibri"/>
              </a:rPr>
              <a:t>Industrialize AI/ML against the exact anomalies the diagnostic flags</a:t>
            </a:r>
            <a:r>
              <a:rPr lang="en-US" sz="1067" i="1">
                <a:solidFill>
                  <a:srgbClr val="2C5F7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67">
              <a:latin typeface="Calibri"/>
              <a:ea typeface="Calibri"/>
              <a:cs typeface="Calibri"/>
              <a:sym typeface="Calibri"/>
            </a:endParaRPr>
          </a:p>
          <a:p>
            <a:pPr marL="1048994">
              <a:spcBef>
                <a:spcPts val="347"/>
              </a:spcBef>
              <a:buClr>
                <a:srgbClr val="EFD080"/>
              </a:buClr>
              <a:buSzPts val="800"/>
            </a:pPr>
            <a:r>
              <a:rPr lang="en-US" sz="1067" i="1">
                <a:solidFill>
                  <a:srgbClr val="EFD08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/>
          </a:p>
        </p:txBody>
      </p:sp>
      <p:sp>
        <p:nvSpPr>
          <p:cNvPr id="515" name="Google Shape;515;p30"/>
          <p:cNvSpPr txBox="1"/>
          <p:nvPr/>
        </p:nvSpPr>
        <p:spPr>
          <a:xfrm>
            <a:off x="101600" y="1029147"/>
            <a:ext cx="11620800" cy="282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219281" algn="just">
              <a:buClr>
                <a:srgbClr val="6B7B8E"/>
              </a:buClr>
              <a:buSzPts val="1600"/>
            </a:pPr>
            <a:r>
              <a:rPr lang="en-US" sz="2133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endParaRPr sz="2133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9281" algn="just">
              <a:spcBef>
                <a:spcPts val="600"/>
              </a:spcBef>
              <a:buClr>
                <a:srgbClr val="1F3863"/>
              </a:buClr>
              <a:buSzPts val="1600"/>
            </a:pPr>
            <a:r>
              <a:rPr lang="en-US" sz="2133" b="1" dirty="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rPr>
              <a:t>Operational levers</a:t>
            </a:r>
            <a:endParaRPr sz="2133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79989" marR="180335" lvl="1" indent="-343738" algn="just">
              <a:spcBef>
                <a:spcPts val="400"/>
              </a:spcBef>
              <a:buClr>
                <a:srgbClr val="2C3D50"/>
              </a:buClr>
              <a:buSzPts val="1400"/>
              <a:buFont typeface="Calibri"/>
              <a:buChar char="●"/>
            </a:pPr>
            <a:r>
              <a:rPr lang="en-US" sz="1867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Data Request from CBIC/GSTN to understand the methodology behind the peer band distribution.</a:t>
            </a:r>
            <a:endParaRPr sz="2400" dirty="0"/>
          </a:p>
          <a:p>
            <a:pPr marL="479989" marR="180335" lvl="1" indent="-343738" algn="just">
              <a:spcBef>
                <a:spcPts val="400"/>
              </a:spcBef>
              <a:buClr>
                <a:srgbClr val="2C3D50"/>
              </a:buClr>
              <a:buSzPts val="1400"/>
              <a:buFont typeface="Calibri"/>
              <a:buChar char="●"/>
            </a:pPr>
            <a:r>
              <a:rPr lang="en-US" sz="1867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Once the list of 5.37 L taxpayers is received, Data Analysis on these taxpayers will be conducted at the state level to issue ASMT-10 wherever required.</a:t>
            </a:r>
            <a:endParaRPr sz="1867" dirty="0">
              <a:latin typeface="Calibri"/>
              <a:ea typeface="Calibri"/>
              <a:cs typeface="Calibri"/>
              <a:sym typeface="Calibri"/>
            </a:endParaRPr>
          </a:p>
          <a:p>
            <a:pPr marL="479989" marR="6773" lvl="2" indent="-343738" algn="just">
              <a:spcBef>
                <a:spcPts val="400"/>
              </a:spcBef>
              <a:buClr>
                <a:srgbClr val="2C3D50"/>
              </a:buClr>
              <a:buSzPts val="1400"/>
              <a:buFont typeface="Calibri"/>
              <a:buChar char="●"/>
            </a:pPr>
            <a:r>
              <a:rPr lang="en-US" sz="1867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Graph-network analysis on GSTR-1 and e-way bill for the identified taxpayers</a:t>
            </a:r>
            <a:endParaRPr sz="2400" dirty="0"/>
          </a:p>
          <a:p>
            <a:pPr marL="479989" lvl="2" indent="-342891" algn="just">
              <a:spcBef>
                <a:spcPts val="400"/>
              </a:spcBef>
              <a:buClr>
                <a:srgbClr val="2C3D50"/>
              </a:buClr>
              <a:buSzPts val="1400"/>
              <a:buFont typeface="Calibri"/>
              <a:buChar char="●"/>
            </a:pPr>
            <a:r>
              <a:rPr lang="en-US" sz="1867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AI / ML use cases to detect tax evasion and fake taxpayers.</a:t>
            </a:r>
            <a:endParaRPr sz="2400" dirty="0"/>
          </a:p>
          <a:p>
            <a:pPr marL="498674"/>
            <a:endParaRPr sz="2133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6" name="Google Shape;516;p30"/>
          <p:cNvGraphicFramePr/>
          <p:nvPr/>
        </p:nvGraphicFramePr>
        <p:xfrm>
          <a:off x="101601" y="3559896"/>
          <a:ext cx="11923482" cy="32913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12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2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8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0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89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0554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1829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7101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4871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Turnover vs cash</a:t>
                      </a:r>
                      <a:endParaRPr sz="16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Zero Cash</a:t>
                      </a:r>
                      <a:endParaRPr sz="16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to 10K</a:t>
                      </a:r>
                      <a:endParaRPr sz="16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10k to 25K</a:t>
                      </a:r>
                      <a:endParaRPr sz="16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5K to 50K</a:t>
                      </a:r>
                      <a:endParaRPr sz="16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50K to 1L</a:t>
                      </a:r>
                      <a:endParaRPr sz="16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1L to 5L</a:t>
                      </a:r>
                      <a:endParaRPr sz="16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5L to 10L</a:t>
                      </a:r>
                      <a:endParaRPr sz="16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10L to 20L</a:t>
                      </a:r>
                      <a:endParaRPr sz="16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20L to 50L</a:t>
                      </a:r>
                      <a:endParaRPr sz="16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50L to 1Cr</a:t>
                      </a:r>
                      <a:endParaRPr sz="16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1Cr to 2.5Cr</a:t>
                      </a:r>
                      <a:endParaRPr sz="16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2.5Cr to 5Cr</a:t>
                      </a:r>
                      <a:endParaRPr sz="16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above 5Cr</a:t>
                      </a:r>
                      <a:endParaRPr sz="16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Grand Total</a:t>
                      </a:r>
                      <a:endParaRPr sz="16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4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Above 500Cr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49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59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49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307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596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A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4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100Cr to 500Cr</a:t>
                      </a:r>
                      <a:endParaRPr sz="24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126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278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191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225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346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249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349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261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430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2,647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A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4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50Cr to 100Cr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317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129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129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541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343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354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455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377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450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227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155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3,647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A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4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25Cr to 50Cr</a:t>
                      </a:r>
                      <a:endParaRPr sz="24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1033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367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199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236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340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1493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815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746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876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668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667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254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7,751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A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4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10Cr to 25Cr</a:t>
                      </a:r>
                      <a:endParaRPr sz="24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3990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1233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757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930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1299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4819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2151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2072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2814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1483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884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118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22,556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A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4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5Cr to 10Cr</a:t>
                      </a:r>
                      <a:endParaRPr sz="24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5249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2182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1407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1717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2474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6948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2898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3151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3157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1002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396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30,584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A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4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2.5Cr to 5Cr</a:t>
                      </a:r>
                      <a:endParaRPr sz="24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9282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5476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3263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3381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4037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10623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4853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4254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2724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775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48,676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A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4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1Cr to 2.5Cr</a:t>
                      </a:r>
                      <a:endParaRPr sz="24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23939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14405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6409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6319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7499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19574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7893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4862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2960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93,876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A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4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40L to 1 Cr</a:t>
                      </a:r>
                      <a:endParaRPr sz="24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41601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20571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7864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7433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8779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22474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7831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3763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1,20,324 </a:t>
                      </a:r>
                      <a:endParaRPr sz="24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A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16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20L to 40 L</a:t>
                      </a:r>
                      <a:endParaRPr sz="24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34180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15036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5587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4974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6079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15777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3129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84,767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A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4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to 20 L</a:t>
                      </a:r>
                      <a:endParaRPr sz="24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117655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55145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15610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12477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11649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12919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2,25,474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A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4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Zero Turnover</a:t>
                      </a:r>
                      <a:endParaRPr sz="24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251959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429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240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2400" dirty="0"/>
                    </a:p>
                  </a:txBody>
                  <a:tcPr marL="8467" marR="8467" marT="84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2,52,514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A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80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Grand Total </a:t>
                      </a:r>
                      <a:endParaRPr sz="240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4,89,336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1,15,034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41,249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37,637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42,372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95,488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30,138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19,473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13,389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4,601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2,819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913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963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8,93,412 </a:t>
                      </a:r>
                      <a:endParaRPr sz="2400" dirty="0"/>
                    </a:p>
                  </a:txBody>
                  <a:tcPr marL="3867" marR="3867" marT="3867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E3A2A-7DDA-17E5-6A82-1812AA2CA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3617AD1-081B-BA41-EBA8-CF770BFE91DD}"/>
              </a:ext>
            </a:extLst>
          </p:cNvPr>
          <p:cNvGrpSpPr/>
          <p:nvPr/>
        </p:nvGrpSpPr>
        <p:grpSpPr>
          <a:xfrm>
            <a:off x="-8467" y="-8550"/>
            <a:ext cx="12208933" cy="1126913"/>
            <a:chOff x="-6350" y="-6413"/>
            <a:chExt cx="9156700" cy="845185"/>
          </a:xfrm>
          <a:solidFill>
            <a:srgbClr val="1B2A49"/>
          </a:solidFill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B9D9633-E86B-1070-1CB2-6D3513DC625D}"/>
                </a:ext>
              </a:extLst>
            </p:cNvPr>
            <p:cNvSpPr/>
            <p:nvPr/>
          </p:nvSpPr>
          <p:spPr>
            <a:xfrm>
              <a:off x="0" y="-63"/>
              <a:ext cx="9144000" cy="777875"/>
            </a:xfrm>
            <a:custGeom>
              <a:avLst/>
              <a:gdLst/>
              <a:ahLst/>
              <a:cxnLst/>
              <a:rect l="l" t="t" r="r" b="b"/>
              <a:pathLst>
                <a:path w="9144000" h="777875">
                  <a:moveTo>
                    <a:pt x="9144000" y="0"/>
                  </a:moveTo>
                  <a:lnTo>
                    <a:pt x="0" y="0"/>
                  </a:lnTo>
                  <a:lnTo>
                    <a:pt x="0" y="777303"/>
                  </a:lnTo>
                  <a:lnTo>
                    <a:pt x="9144000" y="777303"/>
                  </a:lnTo>
                  <a:lnTo>
                    <a:pt x="91440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D0BB376-F8D6-C2AC-75C9-EE38F56EFD60}"/>
                </a:ext>
              </a:extLst>
            </p:cNvPr>
            <p:cNvSpPr/>
            <p:nvPr/>
          </p:nvSpPr>
          <p:spPr>
            <a:xfrm>
              <a:off x="0" y="-63"/>
              <a:ext cx="9144000" cy="777875"/>
            </a:xfrm>
            <a:custGeom>
              <a:avLst/>
              <a:gdLst/>
              <a:ahLst/>
              <a:cxnLst/>
              <a:rect l="l" t="t" r="r" b="b"/>
              <a:pathLst>
                <a:path w="9144000" h="777875">
                  <a:moveTo>
                    <a:pt x="0" y="777303"/>
                  </a:moveTo>
                  <a:lnTo>
                    <a:pt x="9144000" y="77730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77303"/>
                  </a:lnTo>
                  <a:close/>
                </a:path>
              </a:pathLst>
            </a:custGeom>
            <a:grpFill/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3D80AB8-40AE-511B-09E4-B578CA0AC6CC}"/>
                </a:ext>
              </a:extLst>
            </p:cNvPr>
            <p:cNvSpPr/>
            <p:nvPr/>
          </p:nvSpPr>
          <p:spPr>
            <a:xfrm>
              <a:off x="0" y="77720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>
                  <a:moveTo>
                    <a:pt x="9144000" y="0"/>
                  </a:moveTo>
                  <a:lnTo>
                    <a:pt x="0" y="0"/>
                  </a:lnTo>
                  <a:lnTo>
                    <a:pt x="0" y="54899"/>
                  </a:lnTo>
                  <a:lnTo>
                    <a:pt x="9144000" y="54899"/>
                  </a:lnTo>
                  <a:lnTo>
                    <a:pt x="91440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1F1C714-2076-4ADD-7680-F0ED6C2BC36F}"/>
                </a:ext>
              </a:extLst>
            </p:cNvPr>
            <p:cNvSpPr/>
            <p:nvPr/>
          </p:nvSpPr>
          <p:spPr>
            <a:xfrm>
              <a:off x="0" y="77720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>
                  <a:moveTo>
                    <a:pt x="0" y="54899"/>
                  </a:moveTo>
                  <a:lnTo>
                    <a:pt x="9144000" y="5489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899"/>
                  </a:lnTo>
                  <a:close/>
                </a:path>
              </a:pathLst>
            </a:custGeom>
            <a:grpFill/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C944EF13-22FF-AEB6-423C-884AD2C5CE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2667" y="212682"/>
            <a:ext cx="10353547" cy="522365"/>
          </a:xfrm>
          <a:prstGeom prst="rect">
            <a:avLst/>
          </a:prstGeom>
        </p:spPr>
        <p:txBody>
          <a:bodyPr spcFirstLastPara="1" vert="horz" wrap="square" lIns="0" tIns="16933" rIns="0" bIns="0" rtlCol="0" anchor="t" anchorCtr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US" sz="3200">
                <a:solidFill>
                  <a:schemeClr val="bg1"/>
                </a:solidFill>
              </a:rPr>
              <a:t>#4 </a:t>
            </a:r>
            <a:r>
              <a:rPr lang="en-IN" sz="3200">
                <a:solidFill>
                  <a:schemeClr val="bg1"/>
                </a:solidFill>
              </a:rPr>
              <a:t>Informers &amp; Government-Servant Reward Scheme</a:t>
            </a:r>
            <a:endParaRPr sz="3200">
              <a:solidFill>
                <a:schemeClr val="bg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9C3B6DD-2EAB-0EFC-59EB-CB6E119C62D2}"/>
              </a:ext>
            </a:extLst>
          </p:cNvPr>
          <p:cNvSpPr txBox="1"/>
          <p:nvPr/>
        </p:nvSpPr>
        <p:spPr>
          <a:xfrm>
            <a:off x="-101600" y="715467"/>
            <a:ext cx="8839200" cy="459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48994" defTabSz="1219170">
              <a:spcBef>
                <a:spcPts val="347"/>
              </a:spcBef>
              <a:defRPr/>
            </a:pPr>
            <a:r>
              <a:rPr lang="en-US" sz="1067" i="1" kern="0">
                <a:solidFill>
                  <a:srgbClr val="EFD080"/>
                </a:solidFill>
                <a:latin typeface="Calibri"/>
                <a:cs typeface="Calibri"/>
              </a:rPr>
              <a:t>Operationalize the existing but dormant reward scheme — generate field intelligence.</a:t>
            </a:r>
          </a:p>
          <a:p>
            <a:pPr marL="1048994" defTabSz="1219170">
              <a:spcBef>
                <a:spcPts val="347"/>
              </a:spcBef>
              <a:defRPr/>
            </a:pPr>
            <a:endParaRPr lang="en-US" sz="1067" i="1" kern="0">
              <a:solidFill>
                <a:srgbClr val="EFD080"/>
              </a:solidFill>
              <a:latin typeface="Calibri"/>
              <a:cs typeface="Calibri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805E8A6-C233-23EB-E9BC-07DC099925A3}"/>
              </a:ext>
            </a:extLst>
          </p:cNvPr>
          <p:cNvSpPr txBox="1"/>
          <p:nvPr/>
        </p:nvSpPr>
        <p:spPr>
          <a:xfrm>
            <a:off x="-137662" y="1152313"/>
            <a:ext cx="8743683" cy="611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9281" algn="just" defTabSz="1219170">
              <a:spcBef>
                <a:spcPts val="927"/>
              </a:spcBef>
              <a:defRPr/>
            </a:pPr>
            <a:r>
              <a:rPr lang="en-US" sz="2000" b="1" kern="0" dirty="0">
                <a:solidFill>
                  <a:srgbClr val="6B7B8E"/>
                </a:solidFill>
                <a:latin typeface="Calibri"/>
                <a:cs typeface="Calibri"/>
              </a:rPr>
              <a:t>H</a:t>
            </a:r>
            <a:r>
              <a:rPr lang="en-US" sz="2000" b="1" kern="0" spc="-80" dirty="0">
                <a:solidFill>
                  <a:srgbClr val="6B7B8E"/>
                </a:solidFill>
                <a:latin typeface="Calibri"/>
                <a:cs typeface="Calibri"/>
              </a:rPr>
              <a:t> </a:t>
            </a:r>
            <a:r>
              <a:rPr lang="en-US" sz="2000" b="1" kern="0" dirty="0">
                <a:solidFill>
                  <a:srgbClr val="6B7B8E"/>
                </a:solidFill>
                <a:latin typeface="Calibri"/>
                <a:cs typeface="Calibri"/>
              </a:rPr>
              <a:t>o</a:t>
            </a:r>
            <a:r>
              <a:rPr lang="en-US" sz="2000" b="1" kern="0" spc="-67" dirty="0">
                <a:solidFill>
                  <a:srgbClr val="6B7B8E"/>
                </a:solidFill>
                <a:latin typeface="Calibri"/>
                <a:cs typeface="Calibri"/>
              </a:rPr>
              <a:t> w</a:t>
            </a:r>
            <a:endParaRPr lang="en-US" sz="2000" kern="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219281" algn="just" defTabSz="1219170">
              <a:spcBef>
                <a:spcPts val="600"/>
              </a:spcBef>
              <a:defRPr/>
            </a:pPr>
            <a:r>
              <a:rPr lang="en-US" sz="2000" b="1" kern="0" spc="-13" dirty="0">
                <a:solidFill>
                  <a:srgbClr val="1F3863"/>
                </a:solidFill>
                <a:latin typeface="Calibri"/>
                <a:cs typeface="Calibri"/>
              </a:rPr>
              <a:t>Operational</a:t>
            </a:r>
            <a:r>
              <a:rPr lang="en-US" sz="2000" b="1" kern="0" spc="27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lang="en-US" sz="2000" b="1" kern="0" spc="-13" dirty="0">
                <a:solidFill>
                  <a:srgbClr val="1F3863"/>
                </a:solidFill>
                <a:latin typeface="Calibri"/>
                <a:cs typeface="Calibri"/>
              </a:rPr>
              <a:t>levers</a:t>
            </a:r>
            <a:endParaRPr lang="en-US" sz="2000" kern="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673083" marR="841566" indent="-343738" algn="just" defTabSz="1219170">
              <a:spcBef>
                <a:spcPts val="1647"/>
              </a:spcBef>
              <a:buFontTx/>
              <a:buChar char="●"/>
              <a:tabLst>
                <a:tab pos="673083" algn="l"/>
              </a:tabLst>
              <a:defRPr/>
            </a:pP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SOP</a:t>
            </a:r>
            <a:r>
              <a:rPr lang="en-US" sz="2000" kern="0" spc="-13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at</a:t>
            </a:r>
            <a:r>
              <a:rPr lang="en-US" sz="2000" kern="0" spc="-7" dirty="0">
                <a:solidFill>
                  <a:srgbClr val="2C3D50"/>
                </a:solidFill>
                <a:latin typeface="Calibri"/>
                <a:cs typeface="Calibri"/>
              </a:rPr>
              <a:t> the </a:t>
            </a:r>
            <a:r>
              <a:rPr lang="en-US" sz="2000" kern="0" spc="-13" dirty="0">
                <a:solidFill>
                  <a:srgbClr val="2C3D50"/>
                </a:solidFill>
                <a:latin typeface="Calibri"/>
                <a:cs typeface="Calibri"/>
              </a:rPr>
              <a:t>department</a:t>
            </a:r>
            <a:r>
              <a:rPr lang="en-US" sz="2000" kern="0" spc="-67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level</a:t>
            </a:r>
            <a:r>
              <a:rPr lang="en-US" sz="2000" kern="0" spc="-27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is ready</a:t>
            </a:r>
            <a:r>
              <a:rPr lang="en-US" sz="2000" kern="0" spc="-60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and</a:t>
            </a:r>
            <a:r>
              <a:rPr lang="en-US" sz="2000" kern="0" spc="-33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will be</a:t>
            </a:r>
            <a:r>
              <a:rPr lang="en-US" sz="2000" kern="0" spc="-20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issued</a:t>
            </a:r>
            <a:r>
              <a:rPr lang="en-US" sz="2000" kern="0" spc="-20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this</a:t>
            </a:r>
            <a:r>
              <a:rPr lang="en-US" sz="2000" kern="0" spc="-27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month.</a:t>
            </a:r>
            <a:r>
              <a:rPr lang="en-US" sz="2000" kern="0" spc="-47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spc="-33" dirty="0">
                <a:solidFill>
                  <a:srgbClr val="2C3D50"/>
                </a:solidFill>
                <a:latin typeface="Calibri"/>
                <a:cs typeface="Calibri"/>
              </a:rPr>
              <a:t>For </a:t>
            </a:r>
            <a:r>
              <a:rPr lang="en-US" sz="2000" kern="0" spc="-13" dirty="0">
                <a:solidFill>
                  <a:srgbClr val="2C3D50"/>
                </a:solidFill>
                <a:latin typeface="Calibri"/>
                <a:cs typeface="Calibri"/>
              </a:rPr>
              <a:t>operationalizing</a:t>
            </a:r>
            <a:r>
              <a:rPr lang="en-US" sz="2000" kern="0" spc="-33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the</a:t>
            </a:r>
            <a:r>
              <a:rPr lang="en-US" sz="2000" kern="0" spc="-13" dirty="0">
                <a:solidFill>
                  <a:srgbClr val="2C3D50"/>
                </a:solidFill>
                <a:latin typeface="Calibri"/>
                <a:cs typeface="Calibri"/>
              </a:rPr>
              <a:t> existing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 finance</a:t>
            </a:r>
            <a:r>
              <a:rPr lang="en-US" sz="2000" kern="0" spc="-13" dirty="0">
                <a:solidFill>
                  <a:srgbClr val="2C3D50"/>
                </a:solidFill>
                <a:latin typeface="Calibri"/>
                <a:cs typeface="Calibri"/>
              </a:rPr>
              <a:t> department</a:t>
            </a:r>
            <a:r>
              <a:rPr lang="en-US" sz="2000" kern="0" spc="-40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scheme</a:t>
            </a:r>
            <a:r>
              <a:rPr lang="en-US" sz="2000" kern="0" spc="47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in</a:t>
            </a:r>
            <a:r>
              <a:rPr lang="en-US" sz="2000" kern="0" spc="7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spc="-27" dirty="0">
                <a:solidFill>
                  <a:srgbClr val="2C3D50"/>
                </a:solidFill>
                <a:latin typeface="Calibri"/>
                <a:cs typeface="Calibri"/>
              </a:rPr>
              <a:t>CTD.</a:t>
            </a:r>
            <a:endParaRPr lang="en-US" sz="2000" kern="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673083" marR="314105" indent="-343738" algn="just" defTabSz="1219170">
              <a:spcBef>
                <a:spcPts val="800"/>
              </a:spcBef>
              <a:buFontTx/>
              <a:buChar char="●"/>
              <a:tabLst>
                <a:tab pos="673083" algn="l"/>
              </a:tabLst>
              <a:defRPr/>
            </a:pP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For</a:t>
            </a:r>
            <a:r>
              <a:rPr lang="en-US" sz="2000" kern="0" spc="-27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this,</a:t>
            </a:r>
            <a:r>
              <a:rPr lang="en-US" sz="2000" kern="0" spc="-27" dirty="0">
                <a:solidFill>
                  <a:srgbClr val="2C3D50"/>
                </a:solidFill>
                <a:latin typeface="Calibri"/>
                <a:cs typeface="Calibri"/>
              </a:rPr>
              <a:t> a </a:t>
            </a:r>
            <a:r>
              <a:rPr lang="en-US" sz="2000" kern="0" spc="-13" dirty="0">
                <a:solidFill>
                  <a:srgbClr val="2C3D50"/>
                </a:solidFill>
                <a:latin typeface="Calibri"/>
                <a:cs typeface="Calibri"/>
              </a:rPr>
              <a:t>token</a:t>
            </a:r>
            <a:r>
              <a:rPr lang="en-US" sz="2000" kern="0" spc="-20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amount</a:t>
            </a:r>
            <a:r>
              <a:rPr lang="en-US" sz="2000" kern="0" spc="-40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of</a:t>
            </a:r>
            <a:r>
              <a:rPr lang="en-US" sz="2000" kern="0" spc="-13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1</a:t>
            </a:r>
            <a:r>
              <a:rPr lang="en-US" sz="2000" kern="0" spc="-7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Rs.</a:t>
            </a:r>
            <a:r>
              <a:rPr lang="en-US" sz="2000" kern="0" spc="-7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is</a:t>
            </a:r>
            <a:r>
              <a:rPr lang="en-US" sz="2000" kern="0" spc="-13" dirty="0">
                <a:solidFill>
                  <a:srgbClr val="2C3D50"/>
                </a:solidFill>
                <a:latin typeface="Calibri"/>
                <a:cs typeface="Calibri"/>
              </a:rPr>
              <a:t> allotted</a:t>
            </a:r>
            <a:r>
              <a:rPr lang="en-US" sz="2000" kern="0" spc="-47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in</a:t>
            </a:r>
            <a:r>
              <a:rPr lang="en-US" sz="2000" kern="0" spc="-27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the</a:t>
            </a:r>
            <a:r>
              <a:rPr lang="en-US" sz="2000" kern="0" spc="-20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budget</a:t>
            </a:r>
            <a:r>
              <a:rPr lang="en-US" sz="2000" kern="0" spc="-53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spc="-33" dirty="0">
                <a:solidFill>
                  <a:srgbClr val="2C3D50"/>
                </a:solidFill>
                <a:latin typeface="Calibri"/>
                <a:cs typeface="Calibri"/>
              </a:rPr>
              <a:t>and </a:t>
            </a:r>
            <a:r>
              <a:rPr lang="en-US" sz="2000" b="1" kern="0" dirty="0">
                <a:solidFill>
                  <a:srgbClr val="2C3D50"/>
                </a:solidFill>
                <a:latin typeface="Calibri"/>
                <a:cs typeface="Calibri"/>
              </a:rPr>
              <a:t>proposal for the budget will be sent.</a:t>
            </a:r>
          </a:p>
          <a:p>
            <a:pPr marL="673083" marR="207428" indent="-343738" algn="just" defTabSz="1219170">
              <a:spcBef>
                <a:spcPts val="800"/>
              </a:spcBef>
              <a:buFontTx/>
              <a:buChar char="●"/>
              <a:tabLst>
                <a:tab pos="673083" algn="l"/>
              </a:tabLst>
              <a:defRPr/>
            </a:pP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Sensitize</a:t>
            </a:r>
            <a:r>
              <a:rPr lang="en-US" sz="2000" kern="0" spc="-40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Police,</a:t>
            </a:r>
            <a:r>
              <a:rPr lang="en-US" sz="2000" kern="0" spc="-7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spc="-27" dirty="0">
                <a:solidFill>
                  <a:srgbClr val="2C3D50"/>
                </a:solidFill>
                <a:latin typeface="Calibri"/>
                <a:cs typeface="Calibri"/>
              </a:rPr>
              <a:t>Transport,</a:t>
            </a:r>
            <a:r>
              <a:rPr lang="en-US" sz="2000" kern="0" spc="-67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Mining,</a:t>
            </a:r>
            <a:r>
              <a:rPr lang="en-US" sz="2000" kern="0" spc="-47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Excise, RIICO</a:t>
            </a:r>
            <a:r>
              <a:rPr lang="en-US" sz="2000" kern="0" spc="-13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field</a:t>
            </a:r>
            <a:r>
              <a:rPr lang="en-US" sz="2000" kern="0" spc="-40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staff,</a:t>
            </a:r>
            <a:r>
              <a:rPr lang="en-US" sz="2000" kern="0" spc="-33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and</a:t>
            </a:r>
            <a:r>
              <a:rPr lang="en-US" sz="2000" kern="0" spc="-40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spc="-13" dirty="0">
                <a:solidFill>
                  <a:srgbClr val="2C3D50"/>
                </a:solidFill>
                <a:latin typeface="Calibri"/>
                <a:cs typeface="Calibri"/>
              </a:rPr>
              <a:t>citizens</a:t>
            </a:r>
            <a:r>
              <a:rPr lang="en-US" sz="2000" kern="0" spc="-53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dirty="0">
                <a:solidFill>
                  <a:srgbClr val="2C3D50"/>
                </a:solidFill>
                <a:latin typeface="Calibri"/>
                <a:cs typeface="Calibri"/>
              </a:rPr>
              <a:t>to</a:t>
            </a:r>
            <a:r>
              <a:rPr lang="en-US" sz="2000" kern="0" spc="-20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kern="0" spc="-33" dirty="0">
                <a:solidFill>
                  <a:srgbClr val="2C3D50"/>
                </a:solidFill>
                <a:latin typeface="Calibri"/>
                <a:cs typeface="Calibri"/>
              </a:rPr>
              <a:t>the </a:t>
            </a:r>
            <a:r>
              <a:rPr lang="en-US" sz="2000" kern="0" spc="-13" dirty="0">
                <a:solidFill>
                  <a:srgbClr val="2C3D50"/>
                </a:solidFill>
                <a:latin typeface="Calibri"/>
                <a:cs typeface="Calibri"/>
              </a:rPr>
              <a:t>scheme.</a:t>
            </a:r>
            <a:endParaRPr lang="en-US" sz="2000" kern="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673083" marR="1234409" indent="-343738" algn="just">
              <a:spcBef>
                <a:spcPts val="800"/>
              </a:spcBef>
              <a:buFontTx/>
              <a:buChar char="●"/>
              <a:tabLst>
                <a:tab pos="673083" algn="l"/>
              </a:tabLst>
              <a:defRPr/>
            </a:pPr>
            <a:r>
              <a:rPr lang="en-US" sz="2000" spc="-13" dirty="0">
                <a:solidFill>
                  <a:srgbClr val="2C3D50"/>
                </a:solidFill>
                <a:latin typeface="Calibri"/>
                <a:cs typeface="Calibri"/>
              </a:rPr>
              <a:t>An Informant Management System, ‘Sutra </a:t>
            </a:r>
            <a:r>
              <a:rPr lang="en-US" sz="2000" spc="-13" dirty="0" err="1">
                <a:solidFill>
                  <a:srgbClr val="2C3D50"/>
                </a:solidFill>
                <a:latin typeface="Calibri"/>
                <a:cs typeface="Calibri"/>
              </a:rPr>
              <a:t>Dhaar</a:t>
            </a:r>
            <a:r>
              <a:rPr lang="en-US" sz="2000" spc="-13" dirty="0">
                <a:solidFill>
                  <a:srgbClr val="2C3D50"/>
                </a:solidFill>
                <a:latin typeface="Calibri"/>
                <a:cs typeface="Calibri"/>
              </a:rPr>
              <a:t>’, will be created on the ITMS portal with automatic anonymization, secure case routing to the concerned Enforcement Wing, and escrow-style reward mapping under the Reward Scheme, 2021.</a:t>
            </a:r>
          </a:p>
          <a:p>
            <a:pPr marL="673083" marR="1234409" indent="-343738">
              <a:spcBef>
                <a:spcPts val="800"/>
              </a:spcBef>
              <a:buFontTx/>
              <a:buChar char="●"/>
              <a:tabLst>
                <a:tab pos="673083" algn="l"/>
              </a:tabLst>
              <a:defRPr/>
            </a:pPr>
            <a:r>
              <a:rPr lang="en-US" sz="2000" b="1" spc="-13" dirty="0">
                <a:solidFill>
                  <a:srgbClr val="2C3D50"/>
                </a:solidFill>
                <a:latin typeface="Calibri"/>
                <a:cs typeface="Calibri"/>
                <a:sym typeface="Calibri"/>
              </a:rPr>
              <a:t>Strengthen Human Intelligence Reports</a:t>
            </a:r>
            <a:r>
              <a:rPr lang="en-US" sz="2000" spc="-13" dirty="0">
                <a:solidFill>
                  <a:srgbClr val="2C3D50"/>
                </a:solidFill>
                <a:latin typeface="Calibri"/>
                <a:cs typeface="Calibri"/>
                <a:sym typeface="Calibri"/>
              </a:rPr>
              <a:t> :</a:t>
            </a:r>
            <a:r>
              <a:rPr lang="en-US" sz="2000" spc="-13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US" sz="2000" spc="-13" dirty="0">
                <a:solidFill>
                  <a:srgbClr val="2C3D50"/>
                </a:solidFill>
                <a:latin typeface="Calibri"/>
                <a:cs typeface="Calibri"/>
                <a:sym typeface="Calibri"/>
              </a:rPr>
              <a:t>Leverage field intelligence, market surveys, enforcement inputs, and local trade information to validate analytical findings and identify sectors exhibiting abnormal B2C patterns.</a:t>
            </a:r>
            <a:endParaRPr lang="en-US" sz="2000" spc="-13" dirty="0">
              <a:solidFill>
                <a:srgbClr val="2C3D50"/>
              </a:solidFill>
              <a:latin typeface="Calibri"/>
              <a:cs typeface="Calibri"/>
            </a:endParaRPr>
          </a:p>
          <a:p>
            <a:pPr marL="498674" marR="6773" indent="-343738" algn="just" defTabSz="1219170">
              <a:spcBef>
                <a:spcPts val="800"/>
              </a:spcBef>
              <a:buFontTx/>
              <a:buChar char="●"/>
              <a:tabLst>
                <a:tab pos="498674" algn="l"/>
              </a:tabLst>
              <a:defRPr/>
            </a:pPr>
            <a:endParaRPr lang="en-US" sz="2000" kern="0" dirty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grpSp>
        <p:nvGrpSpPr>
          <p:cNvPr id="2" name="object 26">
            <a:extLst>
              <a:ext uri="{FF2B5EF4-FFF2-40B4-BE49-F238E27FC236}">
                <a16:creationId xmlns:a16="http://schemas.microsoft.com/office/drawing/2014/main" id="{B49A25B1-2532-5769-051A-C42E3ED76967}"/>
              </a:ext>
            </a:extLst>
          </p:cNvPr>
          <p:cNvGrpSpPr/>
          <p:nvPr/>
        </p:nvGrpSpPr>
        <p:grpSpPr>
          <a:xfrm>
            <a:off x="8629227" y="4125094"/>
            <a:ext cx="3467947" cy="2017439"/>
            <a:chOff x="5966459" y="3051810"/>
            <a:chExt cx="2812034" cy="1577340"/>
          </a:xfrm>
        </p:grpSpPr>
        <p:sp>
          <p:nvSpPr>
            <p:cNvPr id="9" name="object 27">
              <a:extLst>
                <a:ext uri="{FF2B5EF4-FFF2-40B4-BE49-F238E27FC236}">
                  <a16:creationId xmlns:a16="http://schemas.microsoft.com/office/drawing/2014/main" id="{F044C98B-6CCC-02CA-4C5C-243236C3736A}"/>
                </a:ext>
              </a:extLst>
            </p:cNvPr>
            <p:cNvSpPr/>
            <p:nvPr/>
          </p:nvSpPr>
          <p:spPr>
            <a:xfrm>
              <a:off x="6021323" y="3051810"/>
              <a:ext cx="2757170" cy="1577340"/>
            </a:xfrm>
            <a:custGeom>
              <a:avLst/>
              <a:gdLst/>
              <a:ahLst/>
              <a:cxnLst/>
              <a:rect l="l" t="t" r="r" b="b"/>
              <a:pathLst>
                <a:path w="2757170" h="1577339">
                  <a:moveTo>
                    <a:pt x="0" y="1577339"/>
                  </a:moveTo>
                  <a:lnTo>
                    <a:pt x="2756916" y="1577339"/>
                  </a:lnTo>
                  <a:lnTo>
                    <a:pt x="2756916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F4F8FA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object 28">
              <a:extLst>
                <a:ext uri="{FF2B5EF4-FFF2-40B4-BE49-F238E27FC236}">
                  <a16:creationId xmlns:a16="http://schemas.microsoft.com/office/drawing/2014/main" id="{4FCEABFC-8E4F-B097-D0EF-A3D087B7046F}"/>
                </a:ext>
              </a:extLst>
            </p:cNvPr>
            <p:cNvSpPr/>
            <p:nvPr/>
          </p:nvSpPr>
          <p:spPr>
            <a:xfrm>
              <a:off x="5966459" y="3051810"/>
              <a:ext cx="2811780" cy="1577340"/>
            </a:xfrm>
            <a:custGeom>
              <a:avLst/>
              <a:gdLst/>
              <a:ahLst/>
              <a:cxnLst/>
              <a:rect l="l" t="t" r="r" b="b"/>
              <a:pathLst>
                <a:path w="2811779" h="1577339">
                  <a:moveTo>
                    <a:pt x="0" y="1577339"/>
                  </a:moveTo>
                  <a:lnTo>
                    <a:pt x="2811780" y="1577339"/>
                  </a:lnTo>
                  <a:lnTo>
                    <a:pt x="2811780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bject 29">
              <a:extLst>
                <a:ext uri="{FF2B5EF4-FFF2-40B4-BE49-F238E27FC236}">
                  <a16:creationId xmlns:a16="http://schemas.microsoft.com/office/drawing/2014/main" id="{130C146A-5B93-C402-8126-412DE36EEC04}"/>
                </a:ext>
              </a:extLst>
            </p:cNvPr>
            <p:cNvSpPr/>
            <p:nvPr/>
          </p:nvSpPr>
          <p:spPr>
            <a:xfrm>
              <a:off x="5966459" y="3051810"/>
              <a:ext cx="55244" cy="1577340"/>
            </a:xfrm>
            <a:custGeom>
              <a:avLst/>
              <a:gdLst/>
              <a:ahLst/>
              <a:cxnLst/>
              <a:rect l="l" t="t" r="r" b="b"/>
              <a:pathLst>
                <a:path w="55245" h="1577339">
                  <a:moveTo>
                    <a:pt x="54863" y="0"/>
                  </a:moveTo>
                  <a:lnTo>
                    <a:pt x="0" y="0"/>
                  </a:lnTo>
                  <a:lnTo>
                    <a:pt x="0" y="1577339"/>
                  </a:lnTo>
                  <a:lnTo>
                    <a:pt x="54863" y="1577339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5A8F69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30">
              <a:extLst>
                <a:ext uri="{FF2B5EF4-FFF2-40B4-BE49-F238E27FC236}">
                  <a16:creationId xmlns:a16="http://schemas.microsoft.com/office/drawing/2014/main" id="{3A50428C-B965-3C64-79C5-EDEC6EBF92B2}"/>
                </a:ext>
              </a:extLst>
            </p:cNvPr>
            <p:cNvSpPr/>
            <p:nvPr/>
          </p:nvSpPr>
          <p:spPr>
            <a:xfrm>
              <a:off x="5966459" y="3051810"/>
              <a:ext cx="55244" cy="1577340"/>
            </a:xfrm>
            <a:custGeom>
              <a:avLst/>
              <a:gdLst/>
              <a:ahLst/>
              <a:cxnLst/>
              <a:rect l="l" t="t" r="r" b="b"/>
              <a:pathLst>
                <a:path w="55245" h="1577339">
                  <a:moveTo>
                    <a:pt x="0" y="1577339"/>
                  </a:moveTo>
                  <a:lnTo>
                    <a:pt x="54863" y="1577339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C8A84B"/>
            </a:solidFill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" name="object 31">
            <a:extLst>
              <a:ext uri="{FF2B5EF4-FFF2-40B4-BE49-F238E27FC236}">
                <a16:creationId xmlns:a16="http://schemas.microsoft.com/office/drawing/2014/main" id="{45A7DF77-4D60-D489-682A-A7AEF0195A4E}"/>
              </a:ext>
            </a:extLst>
          </p:cNvPr>
          <p:cNvSpPr txBox="1"/>
          <p:nvPr/>
        </p:nvSpPr>
        <p:spPr>
          <a:xfrm>
            <a:off x="8765017" y="4183317"/>
            <a:ext cx="3426983" cy="1856448"/>
          </a:xfrm>
          <a:prstGeom prst="rect">
            <a:avLst/>
          </a:prstGeom>
        </p:spPr>
        <p:txBody>
          <a:bodyPr vert="horz" wrap="square" lIns="0" tIns="55033" rIns="0" bIns="0" rtlCol="0">
            <a:spAutoFit/>
          </a:bodyPr>
          <a:lstStyle/>
          <a:p>
            <a:pPr marL="148163" defTabSz="1219170">
              <a:spcBef>
                <a:spcPts val="433"/>
              </a:spcBef>
              <a:defRPr/>
            </a:pPr>
            <a:r>
              <a:rPr lang="en-IN" sz="1867" b="1" kern="0" dirty="0">
                <a:solidFill>
                  <a:srgbClr val="6B7B8E"/>
                </a:solidFill>
                <a:latin typeface="Calibri"/>
                <a:cs typeface="Calibri"/>
              </a:rPr>
              <a:t>E</a:t>
            </a:r>
            <a:r>
              <a:rPr lang="en-IN" sz="1867" b="1" kern="0" spc="-67" dirty="0">
                <a:solidFill>
                  <a:srgbClr val="6B7B8E"/>
                </a:solidFill>
                <a:latin typeface="Calibri"/>
                <a:cs typeface="Calibri"/>
              </a:rPr>
              <a:t> </a:t>
            </a:r>
            <a:r>
              <a:rPr lang="en-IN" sz="1867" b="1" kern="0" dirty="0">
                <a:solidFill>
                  <a:srgbClr val="6B7B8E"/>
                </a:solidFill>
                <a:latin typeface="Calibri"/>
                <a:cs typeface="Calibri"/>
              </a:rPr>
              <a:t>x</a:t>
            </a:r>
            <a:r>
              <a:rPr lang="en-IN" sz="1867" b="1" kern="0" spc="-60" dirty="0">
                <a:solidFill>
                  <a:srgbClr val="6B7B8E"/>
                </a:solidFill>
                <a:latin typeface="Calibri"/>
                <a:cs typeface="Calibri"/>
              </a:rPr>
              <a:t> </a:t>
            </a:r>
            <a:r>
              <a:rPr lang="en-IN" sz="1867" b="1" kern="0" dirty="0">
                <a:solidFill>
                  <a:srgbClr val="6B7B8E"/>
                </a:solidFill>
                <a:latin typeface="Calibri"/>
                <a:cs typeface="Calibri"/>
              </a:rPr>
              <a:t>p</a:t>
            </a:r>
            <a:r>
              <a:rPr lang="en-IN" sz="1867" b="1" kern="0" spc="-67" dirty="0">
                <a:solidFill>
                  <a:srgbClr val="6B7B8E"/>
                </a:solidFill>
                <a:latin typeface="Calibri"/>
                <a:cs typeface="Calibri"/>
              </a:rPr>
              <a:t> </a:t>
            </a:r>
            <a:r>
              <a:rPr lang="en-IN" sz="1867" b="1" kern="0" dirty="0">
                <a:solidFill>
                  <a:srgbClr val="6B7B8E"/>
                </a:solidFill>
                <a:latin typeface="Calibri"/>
                <a:cs typeface="Calibri"/>
              </a:rPr>
              <a:t>e</a:t>
            </a:r>
            <a:r>
              <a:rPr lang="en-IN" sz="1867" b="1" kern="0" spc="-67" dirty="0">
                <a:solidFill>
                  <a:srgbClr val="6B7B8E"/>
                </a:solidFill>
                <a:latin typeface="Calibri"/>
                <a:cs typeface="Calibri"/>
              </a:rPr>
              <a:t> </a:t>
            </a:r>
            <a:r>
              <a:rPr lang="en-IN" sz="1867" b="1" kern="0" dirty="0">
                <a:solidFill>
                  <a:srgbClr val="6B7B8E"/>
                </a:solidFill>
                <a:latin typeface="Calibri"/>
                <a:cs typeface="Calibri"/>
              </a:rPr>
              <a:t>c</a:t>
            </a:r>
            <a:r>
              <a:rPr lang="en-IN" sz="1867" b="1" kern="0" spc="-67" dirty="0">
                <a:solidFill>
                  <a:srgbClr val="6B7B8E"/>
                </a:solidFill>
                <a:latin typeface="Calibri"/>
                <a:cs typeface="Calibri"/>
              </a:rPr>
              <a:t> </a:t>
            </a:r>
            <a:r>
              <a:rPr lang="en-IN" sz="1867" b="1" kern="0" dirty="0">
                <a:solidFill>
                  <a:srgbClr val="6B7B8E"/>
                </a:solidFill>
                <a:latin typeface="Calibri"/>
                <a:cs typeface="Calibri"/>
              </a:rPr>
              <a:t>t</a:t>
            </a:r>
            <a:r>
              <a:rPr lang="en-IN" sz="1867" b="1" kern="0" spc="-60" dirty="0">
                <a:solidFill>
                  <a:srgbClr val="6B7B8E"/>
                </a:solidFill>
                <a:latin typeface="Calibri"/>
                <a:cs typeface="Calibri"/>
              </a:rPr>
              <a:t> </a:t>
            </a:r>
            <a:r>
              <a:rPr lang="en-IN" sz="1867" b="1" kern="0" dirty="0">
                <a:solidFill>
                  <a:srgbClr val="6B7B8E"/>
                </a:solidFill>
                <a:latin typeface="Calibri"/>
                <a:cs typeface="Calibri"/>
              </a:rPr>
              <a:t>e</a:t>
            </a:r>
            <a:r>
              <a:rPr lang="en-IN" sz="1867" b="1" kern="0" spc="-73" dirty="0">
                <a:solidFill>
                  <a:srgbClr val="6B7B8E"/>
                </a:solidFill>
                <a:latin typeface="Calibri"/>
                <a:cs typeface="Calibri"/>
              </a:rPr>
              <a:t> </a:t>
            </a:r>
            <a:r>
              <a:rPr lang="en-IN" sz="1867" b="1" kern="0" dirty="0">
                <a:solidFill>
                  <a:srgbClr val="6B7B8E"/>
                </a:solidFill>
                <a:latin typeface="Calibri"/>
                <a:cs typeface="Calibri"/>
              </a:rPr>
              <a:t>d</a:t>
            </a:r>
            <a:r>
              <a:rPr lang="en-IN" sz="1867" b="1" kern="0" spc="567" dirty="0">
                <a:solidFill>
                  <a:srgbClr val="6B7B8E"/>
                </a:solidFill>
                <a:latin typeface="Calibri"/>
                <a:cs typeface="Calibri"/>
              </a:rPr>
              <a:t> </a:t>
            </a:r>
            <a:r>
              <a:rPr lang="en-IN" sz="1867" b="1" kern="0" dirty="0">
                <a:solidFill>
                  <a:srgbClr val="6B7B8E"/>
                </a:solidFill>
                <a:latin typeface="Calibri"/>
                <a:cs typeface="Calibri"/>
              </a:rPr>
              <a:t>o</a:t>
            </a:r>
            <a:r>
              <a:rPr lang="en-IN" sz="1867" b="1" kern="0" spc="-67" dirty="0">
                <a:solidFill>
                  <a:srgbClr val="6B7B8E"/>
                </a:solidFill>
                <a:latin typeface="Calibri"/>
                <a:cs typeface="Calibri"/>
              </a:rPr>
              <a:t> </a:t>
            </a:r>
            <a:r>
              <a:rPr lang="en-IN" sz="1867" b="1" kern="0" dirty="0">
                <a:solidFill>
                  <a:srgbClr val="6B7B8E"/>
                </a:solidFill>
                <a:latin typeface="Calibri"/>
                <a:cs typeface="Calibri"/>
              </a:rPr>
              <a:t>u</a:t>
            </a:r>
            <a:r>
              <a:rPr lang="en-IN" sz="1867" b="1" kern="0" spc="-60" dirty="0">
                <a:solidFill>
                  <a:srgbClr val="6B7B8E"/>
                </a:solidFill>
                <a:latin typeface="Calibri"/>
                <a:cs typeface="Calibri"/>
              </a:rPr>
              <a:t> </a:t>
            </a:r>
            <a:r>
              <a:rPr lang="en-IN" sz="1867" b="1" kern="0" dirty="0">
                <a:solidFill>
                  <a:srgbClr val="6B7B8E"/>
                </a:solidFill>
                <a:latin typeface="Calibri"/>
                <a:cs typeface="Calibri"/>
              </a:rPr>
              <a:t>t</a:t>
            </a:r>
            <a:r>
              <a:rPr lang="en-IN" sz="1867" b="1" kern="0" spc="-67" dirty="0">
                <a:solidFill>
                  <a:srgbClr val="6B7B8E"/>
                </a:solidFill>
                <a:latin typeface="Calibri"/>
                <a:cs typeface="Calibri"/>
              </a:rPr>
              <a:t> </a:t>
            </a:r>
            <a:r>
              <a:rPr lang="en-IN" sz="1867" b="1" kern="0" dirty="0">
                <a:solidFill>
                  <a:srgbClr val="6B7B8E"/>
                </a:solidFill>
                <a:latin typeface="Calibri"/>
                <a:cs typeface="Calibri"/>
              </a:rPr>
              <a:t>c</a:t>
            </a:r>
            <a:r>
              <a:rPr lang="en-IN" sz="1867" b="1" kern="0" spc="-60" dirty="0">
                <a:solidFill>
                  <a:srgbClr val="6B7B8E"/>
                </a:solidFill>
                <a:latin typeface="Calibri"/>
                <a:cs typeface="Calibri"/>
              </a:rPr>
              <a:t> </a:t>
            </a:r>
            <a:r>
              <a:rPr lang="en-IN" sz="1867" b="1" kern="0" dirty="0">
                <a:solidFill>
                  <a:srgbClr val="6B7B8E"/>
                </a:solidFill>
                <a:latin typeface="Calibri"/>
                <a:cs typeface="Calibri"/>
              </a:rPr>
              <a:t>o</a:t>
            </a:r>
            <a:r>
              <a:rPr lang="en-IN" sz="1867" b="1" kern="0" spc="-67" dirty="0">
                <a:solidFill>
                  <a:srgbClr val="6B7B8E"/>
                </a:solidFill>
                <a:latin typeface="Calibri"/>
                <a:cs typeface="Calibri"/>
              </a:rPr>
              <a:t> </a:t>
            </a:r>
            <a:r>
              <a:rPr lang="en-IN" sz="1867" b="1" kern="0" dirty="0">
                <a:solidFill>
                  <a:srgbClr val="6B7B8E"/>
                </a:solidFill>
                <a:latin typeface="Calibri"/>
                <a:cs typeface="Calibri"/>
              </a:rPr>
              <a:t>m</a:t>
            </a:r>
            <a:r>
              <a:rPr lang="en-IN" sz="1867" b="1" kern="0" spc="-67" dirty="0">
                <a:solidFill>
                  <a:srgbClr val="6B7B8E"/>
                </a:solidFill>
                <a:latin typeface="Calibri"/>
                <a:cs typeface="Calibri"/>
              </a:rPr>
              <a:t> e</a:t>
            </a:r>
            <a:endParaRPr lang="en-IN" sz="1867" kern="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48163" marR="33019" defTabSz="1219170">
              <a:spcBef>
                <a:spcPts val="300"/>
              </a:spcBef>
              <a:defRPr/>
            </a:pPr>
            <a:r>
              <a:rPr lang="en-IN" sz="1867" kern="0" dirty="0">
                <a:solidFill>
                  <a:srgbClr val="2C3D50"/>
                </a:solidFill>
                <a:latin typeface="Calibri"/>
                <a:cs typeface="Calibri"/>
              </a:rPr>
              <a:t>Field </a:t>
            </a:r>
            <a:r>
              <a:rPr lang="en-IN" sz="1867" kern="0" spc="-13" dirty="0">
                <a:solidFill>
                  <a:srgbClr val="2C3D50"/>
                </a:solidFill>
                <a:latin typeface="Calibri"/>
                <a:cs typeface="Calibri"/>
              </a:rPr>
              <a:t>intelligence</a:t>
            </a:r>
            <a:r>
              <a:rPr lang="en-IN" sz="1867" kern="0" spc="-27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IN" sz="1867" kern="0" dirty="0">
                <a:solidFill>
                  <a:srgbClr val="2C3D50"/>
                </a:solidFill>
                <a:latin typeface="Calibri"/>
                <a:cs typeface="Calibri"/>
              </a:rPr>
              <a:t>pipeline</a:t>
            </a:r>
            <a:r>
              <a:rPr lang="en-IN" sz="1867" kern="0" spc="-33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IN" sz="1867" kern="0" spc="-13" dirty="0">
                <a:solidFill>
                  <a:srgbClr val="2C3D50"/>
                </a:solidFill>
                <a:latin typeface="Calibri"/>
                <a:cs typeface="Calibri"/>
              </a:rPr>
              <a:t>restarted; catalyses</a:t>
            </a:r>
            <a:r>
              <a:rPr lang="en-IN" sz="1867" kern="0" spc="-33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IN" sz="1867" kern="0" dirty="0">
                <a:solidFill>
                  <a:srgbClr val="2C3D50"/>
                </a:solidFill>
                <a:latin typeface="Calibri"/>
                <a:cs typeface="Calibri"/>
              </a:rPr>
              <a:t>cases</a:t>
            </a:r>
            <a:r>
              <a:rPr lang="en-IN" sz="1867" kern="0" spc="-27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IN" sz="1867" kern="0" dirty="0">
                <a:solidFill>
                  <a:srgbClr val="2C3D50"/>
                </a:solidFill>
                <a:latin typeface="Calibri"/>
                <a:cs typeface="Calibri"/>
              </a:rPr>
              <a:t>data</a:t>
            </a:r>
            <a:r>
              <a:rPr lang="en-IN" sz="1867" kern="0" spc="-67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IN" sz="1867" kern="0" dirty="0">
                <a:solidFill>
                  <a:srgbClr val="2C3D50"/>
                </a:solidFill>
                <a:latin typeface="Calibri"/>
                <a:cs typeface="Calibri"/>
              </a:rPr>
              <a:t>alone</a:t>
            </a:r>
            <a:r>
              <a:rPr lang="en-IN" sz="1867" kern="0" spc="-47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IN" sz="1867" kern="0" dirty="0">
                <a:solidFill>
                  <a:srgbClr val="2C3D50"/>
                </a:solidFill>
                <a:latin typeface="Calibri"/>
                <a:cs typeface="Calibri"/>
              </a:rPr>
              <a:t>misses</a:t>
            </a:r>
            <a:r>
              <a:rPr lang="en-IN" sz="1867" kern="0" spc="-33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IN" sz="1867" kern="0" spc="-13" dirty="0">
                <a:solidFill>
                  <a:srgbClr val="2C3D50"/>
                </a:solidFill>
                <a:latin typeface="Calibri"/>
                <a:cs typeface="Calibri"/>
              </a:rPr>
              <a:t>(cash- </a:t>
            </a:r>
            <a:r>
              <a:rPr lang="en-IN" sz="1867" kern="0" dirty="0">
                <a:solidFill>
                  <a:srgbClr val="2C3D50"/>
                </a:solidFill>
                <a:latin typeface="Calibri"/>
                <a:cs typeface="Calibri"/>
              </a:rPr>
              <a:t>leg</a:t>
            </a:r>
            <a:r>
              <a:rPr lang="en-IN" sz="1867" kern="0" spc="-13" dirty="0">
                <a:solidFill>
                  <a:srgbClr val="2C3D50"/>
                </a:solidFill>
                <a:latin typeface="Calibri"/>
                <a:cs typeface="Calibri"/>
              </a:rPr>
              <a:t> evasion,</a:t>
            </a:r>
            <a:r>
              <a:rPr lang="en-IN" sz="1867" kern="0" spc="-40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IN" sz="1867" kern="0" dirty="0">
                <a:solidFill>
                  <a:srgbClr val="2C3D50"/>
                </a:solidFill>
                <a:latin typeface="Calibri"/>
                <a:cs typeface="Calibri"/>
              </a:rPr>
              <a:t>parallel</a:t>
            </a:r>
            <a:r>
              <a:rPr lang="en-IN" sz="1867" kern="0" spc="-47" dirty="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lang="en-IN" sz="1867" kern="0" spc="-13" dirty="0">
                <a:solidFill>
                  <a:srgbClr val="2C3D50"/>
                </a:solidFill>
                <a:latin typeface="Calibri"/>
                <a:cs typeface="Calibri"/>
              </a:rPr>
              <a:t>invoicing).</a:t>
            </a:r>
            <a:endParaRPr lang="en-IN" sz="1867" kern="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48163" marR="33019" defTabSz="1219170">
              <a:spcBef>
                <a:spcPts val="300"/>
              </a:spcBef>
              <a:defRPr/>
            </a:pPr>
            <a:endParaRPr lang="en-IN" sz="1867" kern="0" dirty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grpSp>
        <p:nvGrpSpPr>
          <p:cNvPr id="21" name="object 26">
            <a:extLst>
              <a:ext uri="{FF2B5EF4-FFF2-40B4-BE49-F238E27FC236}">
                <a16:creationId xmlns:a16="http://schemas.microsoft.com/office/drawing/2014/main" id="{CCCD7C38-5A59-BBBB-5A9E-639C40B88100}"/>
              </a:ext>
            </a:extLst>
          </p:cNvPr>
          <p:cNvGrpSpPr/>
          <p:nvPr/>
        </p:nvGrpSpPr>
        <p:grpSpPr>
          <a:xfrm>
            <a:off x="8629226" y="1351379"/>
            <a:ext cx="3467633" cy="1534061"/>
            <a:chOff x="5960109" y="3045460"/>
            <a:chExt cx="2823210" cy="1590040"/>
          </a:xfrm>
        </p:grpSpPr>
        <p:sp>
          <p:nvSpPr>
            <p:cNvPr id="22" name="object 27">
              <a:extLst>
                <a:ext uri="{FF2B5EF4-FFF2-40B4-BE49-F238E27FC236}">
                  <a16:creationId xmlns:a16="http://schemas.microsoft.com/office/drawing/2014/main" id="{1887BECC-057D-733A-86C7-8C6808436CDC}"/>
                </a:ext>
              </a:extLst>
            </p:cNvPr>
            <p:cNvSpPr/>
            <p:nvPr/>
          </p:nvSpPr>
          <p:spPr>
            <a:xfrm>
              <a:off x="6021323" y="3051810"/>
              <a:ext cx="2757170" cy="1577340"/>
            </a:xfrm>
            <a:custGeom>
              <a:avLst/>
              <a:gdLst/>
              <a:ahLst/>
              <a:cxnLst/>
              <a:rect l="l" t="t" r="r" b="b"/>
              <a:pathLst>
                <a:path w="2757170" h="1577339">
                  <a:moveTo>
                    <a:pt x="0" y="1577339"/>
                  </a:moveTo>
                  <a:lnTo>
                    <a:pt x="2756916" y="1577339"/>
                  </a:lnTo>
                  <a:lnTo>
                    <a:pt x="2756916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F4F8FA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object 28">
              <a:extLst>
                <a:ext uri="{FF2B5EF4-FFF2-40B4-BE49-F238E27FC236}">
                  <a16:creationId xmlns:a16="http://schemas.microsoft.com/office/drawing/2014/main" id="{D175B7C9-F00C-F098-495B-AE8E23D8D001}"/>
                </a:ext>
              </a:extLst>
            </p:cNvPr>
            <p:cNvSpPr/>
            <p:nvPr/>
          </p:nvSpPr>
          <p:spPr>
            <a:xfrm>
              <a:off x="5966459" y="3051810"/>
              <a:ext cx="2811780" cy="1577340"/>
            </a:xfrm>
            <a:custGeom>
              <a:avLst/>
              <a:gdLst/>
              <a:ahLst/>
              <a:cxnLst/>
              <a:rect l="l" t="t" r="r" b="b"/>
              <a:pathLst>
                <a:path w="2811779" h="1577339">
                  <a:moveTo>
                    <a:pt x="0" y="1577339"/>
                  </a:moveTo>
                  <a:lnTo>
                    <a:pt x="2811780" y="1577339"/>
                  </a:lnTo>
                  <a:lnTo>
                    <a:pt x="2811780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bject 29">
              <a:extLst>
                <a:ext uri="{FF2B5EF4-FFF2-40B4-BE49-F238E27FC236}">
                  <a16:creationId xmlns:a16="http://schemas.microsoft.com/office/drawing/2014/main" id="{F06805AA-82E2-6A92-8177-5579F6B3C53A}"/>
                </a:ext>
              </a:extLst>
            </p:cNvPr>
            <p:cNvSpPr/>
            <p:nvPr/>
          </p:nvSpPr>
          <p:spPr>
            <a:xfrm>
              <a:off x="5966459" y="3051810"/>
              <a:ext cx="55244" cy="1577340"/>
            </a:xfrm>
            <a:custGeom>
              <a:avLst/>
              <a:gdLst/>
              <a:ahLst/>
              <a:cxnLst/>
              <a:rect l="l" t="t" r="r" b="b"/>
              <a:pathLst>
                <a:path w="55245" h="1577339">
                  <a:moveTo>
                    <a:pt x="54863" y="0"/>
                  </a:moveTo>
                  <a:lnTo>
                    <a:pt x="0" y="0"/>
                  </a:lnTo>
                  <a:lnTo>
                    <a:pt x="0" y="1577339"/>
                  </a:lnTo>
                  <a:lnTo>
                    <a:pt x="54863" y="1577339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5A8F69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object 30">
              <a:extLst>
                <a:ext uri="{FF2B5EF4-FFF2-40B4-BE49-F238E27FC236}">
                  <a16:creationId xmlns:a16="http://schemas.microsoft.com/office/drawing/2014/main" id="{FF16892C-1E4A-F258-1F1E-09626971E479}"/>
                </a:ext>
              </a:extLst>
            </p:cNvPr>
            <p:cNvSpPr/>
            <p:nvPr/>
          </p:nvSpPr>
          <p:spPr>
            <a:xfrm>
              <a:off x="5966459" y="3051810"/>
              <a:ext cx="55244" cy="1577340"/>
            </a:xfrm>
            <a:custGeom>
              <a:avLst/>
              <a:gdLst/>
              <a:ahLst/>
              <a:cxnLst/>
              <a:rect l="l" t="t" r="r" b="b"/>
              <a:pathLst>
                <a:path w="55245" h="1577339">
                  <a:moveTo>
                    <a:pt x="0" y="1577339"/>
                  </a:moveTo>
                  <a:lnTo>
                    <a:pt x="54863" y="1577339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C8A84B"/>
            </a:solidFill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7" name="object 25">
            <a:extLst>
              <a:ext uri="{FF2B5EF4-FFF2-40B4-BE49-F238E27FC236}">
                <a16:creationId xmlns:a16="http://schemas.microsoft.com/office/drawing/2014/main" id="{5ECD56A5-8ACE-378E-4DBC-0A3293C4C4E7}"/>
              </a:ext>
            </a:extLst>
          </p:cNvPr>
          <p:cNvSpPr txBox="1"/>
          <p:nvPr/>
        </p:nvSpPr>
        <p:spPr>
          <a:xfrm>
            <a:off x="8886614" y="1487450"/>
            <a:ext cx="2993413" cy="119203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 defTabSz="1219170">
              <a:spcBef>
                <a:spcPts val="133"/>
              </a:spcBef>
              <a:defRPr/>
            </a:pPr>
            <a:r>
              <a:rPr lang="en-US" sz="1867" b="1" kern="0" spc="-60" dirty="0">
                <a:solidFill>
                  <a:srgbClr val="6B7B8E"/>
                </a:solidFill>
                <a:latin typeface="Calibri"/>
                <a:cs typeface="Calibri"/>
              </a:rPr>
              <a:t>Addresses following diagnostic points</a:t>
            </a:r>
          </a:p>
          <a:p>
            <a:pPr marL="228594" indent="-228594" defTabSz="1219170">
              <a:spcBef>
                <a:spcPts val="133"/>
              </a:spcBef>
              <a:buFont typeface="Arial" panose="020B0604020202020204" pitchFamily="34" charset="0"/>
              <a:buChar char="•"/>
              <a:defRPr/>
            </a:pPr>
            <a:r>
              <a:rPr lang="en-US" sz="1867" kern="0" spc="-60" dirty="0" err="1">
                <a:solidFill>
                  <a:prstClr val="black"/>
                </a:solidFill>
                <a:latin typeface="Calibri"/>
                <a:cs typeface="Calibri"/>
              </a:rPr>
              <a:t>Eway</a:t>
            </a:r>
            <a:r>
              <a:rPr lang="en-US" sz="1867" kern="0" spc="-60" dirty="0">
                <a:solidFill>
                  <a:prstClr val="black"/>
                </a:solidFill>
                <a:latin typeface="Calibri"/>
                <a:cs typeface="Calibri"/>
              </a:rPr>
              <a:t> bill to revenue</a:t>
            </a:r>
          </a:p>
          <a:p>
            <a:pPr marL="228594" indent="-228594" defTabSz="1219170">
              <a:spcBef>
                <a:spcPts val="133"/>
              </a:spcBef>
              <a:buFont typeface="Arial" panose="020B0604020202020204" pitchFamily="34" charset="0"/>
              <a:buChar char="•"/>
              <a:defRPr/>
            </a:pPr>
            <a:r>
              <a:rPr lang="en-US" sz="1867" kern="0" spc="-60" dirty="0">
                <a:solidFill>
                  <a:prstClr val="black"/>
                </a:solidFill>
                <a:latin typeface="Calibri"/>
                <a:cs typeface="Calibri"/>
              </a:rPr>
              <a:t>B2C Ratio anomaly</a:t>
            </a:r>
          </a:p>
        </p:txBody>
      </p:sp>
    </p:spTree>
    <p:extLst>
      <p:ext uri="{BB962C8B-B14F-4D97-AF65-F5344CB8AC3E}">
        <p14:creationId xmlns:p14="http://schemas.microsoft.com/office/powerpoint/2010/main" val="1113560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7" name="Google Shape;547;p32"/>
          <p:cNvGrpSpPr/>
          <p:nvPr/>
        </p:nvGrpSpPr>
        <p:grpSpPr>
          <a:xfrm>
            <a:off x="0" y="-84"/>
            <a:ext cx="12192000" cy="1110015"/>
            <a:chOff x="0" y="-63"/>
            <a:chExt cx="9144000" cy="832511"/>
          </a:xfrm>
        </p:grpSpPr>
        <p:sp>
          <p:nvSpPr>
            <p:cNvPr id="548" name="Google Shape;548;p32"/>
            <p:cNvSpPr/>
            <p:nvPr/>
          </p:nvSpPr>
          <p:spPr>
            <a:xfrm>
              <a:off x="0" y="-63"/>
              <a:ext cx="9144000" cy="777875"/>
            </a:xfrm>
            <a:custGeom>
              <a:avLst/>
              <a:gdLst/>
              <a:ahLst/>
              <a:cxnLst/>
              <a:rect l="l" t="t" r="r" b="b"/>
              <a:pathLst>
                <a:path w="9144000" h="77787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777303"/>
                  </a:lnTo>
                  <a:lnTo>
                    <a:pt x="9144000" y="77730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2A4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549" name="Google Shape;549;p32"/>
            <p:cNvSpPr/>
            <p:nvPr/>
          </p:nvSpPr>
          <p:spPr>
            <a:xfrm>
              <a:off x="0" y="-63"/>
              <a:ext cx="9144000" cy="777875"/>
            </a:xfrm>
            <a:custGeom>
              <a:avLst/>
              <a:gdLst/>
              <a:ahLst/>
              <a:cxnLst/>
              <a:rect l="l" t="t" r="r" b="b"/>
              <a:pathLst>
                <a:path w="9144000" h="777875" extrusionOk="0">
                  <a:moveTo>
                    <a:pt x="0" y="777303"/>
                  </a:moveTo>
                  <a:lnTo>
                    <a:pt x="9144000" y="77730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77303"/>
                  </a:lnTo>
                  <a:close/>
                </a:path>
              </a:pathLst>
            </a:custGeom>
            <a:solidFill>
              <a:srgbClr val="1B2A49"/>
            </a:solidFill>
            <a:ln w="12700" cap="flat" cmpd="sng">
              <a:solidFill>
                <a:srgbClr val="1B2A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550" name="Google Shape;550;p32"/>
            <p:cNvSpPr/>
            <p:nvPr/>
          </p:nvSpPr>
          <p:spPr>
            <a:xfrm>
              <a:off x="0" y="77720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54899"/>
                  </a:lnTo>
                  <a:lnTo>
                    <a:pt x="9144000" y="548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2A4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551" name="Google Shape;551;p32"/>
            <p:cNvSpPr/>
            <p:nvPr/>
          </p:nvSpPr>
          <p:spPr>
            <a:xfrm>
              <a:off x="0" y="77720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54899"/>
                  </a:moveTo>
                  <a:lnTo>
                    <a:pt x="9144000" y="5489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899"/>
                  </a:lnTo>
                  <a:close/>
                </a:path>
              </a:pathLst>
            </a:custGeom>
            <a:solidFill>
              <a:srgbClr val="1B2A49"/>
            </a:solidFill>
            <a:ln w="12700" cap="flat" cmpd="sng">
              <a:solidFill>
                <a:srgbClr val="C8A8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552" name="Google Shape;552;p32"/>
          <p:cNvSpPr txBox="1">
            <a:spLocks noGrp="1"/>
          </p:cNvSpPr>
          <p:nvPr>
            <p:ph type="title"/>
          </p:nvPr>
        </p:nvSpPr>
        <p:spPr>
          <a:xfrm>
            <a:off x="592667" y="212682"/>
            <a:ext cx="10353600" cy="509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33" rIns="0" bIns="0" anchor="t" anchorCtr="0">
            <a:spAutoFit/>
          </a:bodyPr>
          <a:lstStyle/>
          <a:p>
            <a:pPr marL="16933"/>
            <a:r>
              <a:rPr lang="en-US" sz="3200">
                <a:solidFill>
                  <a:schemeClr val="lt1"/>
                </a:solidFill>
              </a:rPr>
              <a:t>#5 Expedite Legal cases disposal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553" name="Google Shape;553;p32"/>
          <p:cNvSpPr txBox="1"/>
          <p:nvPr/>
        </p:nvSpPr>
        <p:spPr>
          <a:xfrm>
            <a:off x="-101600" y="715467"/>
            <a:ext cx="8839200" cy="1020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1048994"/>
            <a:r>
              <a:rPr lang="en-US" sz="1067" i="1">
                <a:solidFill>
                  <a:srgbClr val="EFD080"/>
                </a:solidFill>
                <a:latin typeface="Calibri"/>
                <a:ea typeface="Calibri"/>
                <a:cs typeface="Calibri"/>
                <a:sym typeface="Calibri"/>
              </a:rPr>
              <a:t>Convert audit and enforcement detections into actual realization through a strong, motivated legal team.</a:t>
            </a:r>
            <a:endParaRPr sz="2400"/>
          </a:p>
          <a:p>
            <a:pPr marL="1048994">
              <a:spcBef>
                <a:spcPts val="347"/>
              </a:spcBef>
            </a:pPr>
            <a:endParaRPr sz="1067" i="1">
              <a:solidFill>
                <a:srgbClr val="EFD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8994">
              <a:spcBef>
                <a:spcPts val="347"/>
              </a:spcBef>
            </a:pPr>
            <a:endParaRPr sz="3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2"/>
          <p:cNvSpPr txBox="1"/>
          <p:nvPr/>
        </p:nvSpPr>
        <p:spPr>
          <a:xfrm>
            <a:off x="1" y="1109931"/>
            <a:ext cx="7393260" cy="6799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219281" algn="just"/>
            <a:r>
              <a:rPr lang="en-US" sz="2133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H o w</a:t>
            </a:r>
            <a:endParaRPr sz="2133" dirty="0">
              <a:latin typeface="Calibri"/>
              <a:ea typeface="Calibri"/>
              <a:cs typeface="Calibri"/>
              <a:sym typeface="Calibri"/>
            </a:endParaRPr>
          </a:p>
          <a:p>
            <a:pPr marL="219281" algn="just">
              <a:spcBef>
                <a:spcPts val="600"/>
              </a:spcBef>
            </a:pPr>
            <a:r>
              <a:rPr lang="en-US" sz="2133" b="1" dirty="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rPr>
              <a:t>Operational levers</a:t>
            </a:r>
            <a:endParaRPr sz="2133" dirty="0">
              <a:latin typeface="Calibri"/>
              <a:ea typeface="Calibri"/>
              <a:cs typeface="Calibri"/>
              <a:sym typeface="Calibri"/>
            </a:endParaRPr>
          </a:p>
          <a:p>
            <a:pPr marL="359824" marR="6773" indent="-343738">
              <a:spcBef>
                <a:spcPts val="133"/>
              </a:spcBef>
              <a:buClr>
                <a:srgbClr val="2C3D50"/>
              </a:buClr>
              <a:buSzPts val="1600"/>
              <a:buFont typeface="Calibri"/>
              <a:buChar char="●"/>
            </a:pPr>
            <a:r>
              <a:rPr lang="en-US" sz="2267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Urgent approval of the pending Panel Lawyers proposal for High Court, commercial courts and NCLT — engage a team of professional GST-specialist counsels.</a:t>
            </a:r>
            <a:endParaRPr sz="2267" dirty="0">
              <a:latin typeface="Calibri"/>
              <a:ea typeface="Calibri"/>
              <a:cs typeface="Calibri"/>
              <a:sym typeface="Calibri"/>
            </a:endParaRPr>
          </a:p>
          <a:p>
            <a:pPr marL="359824" marR="408930" indent="-343738">
              <a:spcBef>
                <a:spcPts val="800"/>
              </a:spcBef>
              <a:buClr>
                <a:srgbClr val="2C3D50"/>
              </a:buClr>
              <a:buSzPts val="1600"/>
              <a:buFont typeface="Calibri"/>
              <a:buChar char="●"/>
            </a:pPr>
            <a:r>
              <a:rPr lang="en-US" sz="2267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Appointment of panel lawyers at GSTAT; </a:t>
            </a:r>
            <a:endParaRPr sz="2267" dirty="0"/>
          </a:p>
          <a:p>
            <a:pPr marL="359824" marR="408930" indent="-343738">
              <a:spcBef>
                <a:spcPts val="800"/>
              </a:spcBef>
              <a:buClr>
                <a:srgbClr val="2C3D50"/>
              </a:buClr>
              <a:buSzPts val="1600"/>
              <a:buFont typeface="Calibri"/>
              <a:buChar char="●"/>
            </a:pPr>
            <a:r>
              <a:rPr lang="en-US" sz="2267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Strengthen the Appellate Authority bench-strength and infrastructure through cadre reorganization</a:t>
            </a:r>
            <a:endParaRPr sz="2267" dirty="0">
              <a:latin typeface="Calibri"/>
              <a:ea typeface="Calibri"/>
              <a:cs typeface="Calibri"/>
              <a:sym typeface="Calibri"/>
            </a:endParaRPr>
          </a:p>
          <a:p>
            <a:pPr marL="359824" marR="210815" indent="-343738">
              <a:spcBef>
                <a:spcPts val="807"/>
              </a:spcBef>
              <a:buClr>
                <a:srgbClr val="2C3D50"/>
              </a:buClr>
              <a:buSzPts val="1600"/>
              <a:buFont typeface="Calibri"/>
              <a:buChar char="●"/>
            </a:pPr>
            <a:r>
              <a:rPr lang="en-US" sz="2267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Departmental SOP — every significant audit/enforcement case to be monitored at HQ level; publish win-rate KPIs; </a:t>
            </a:r>
            <a:r>
              <a:rPr lang="en-US" sz="2267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CPE (</a:t>
            </a:r>
            <a:r>
              <a:rPr lang="en-IN" sz="2267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Continuing Professional Education)</a:t>
            </a:r>
            <a:r>
              <a:rPr lang="en-US" sz="2267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67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training in GST jurisprudence</a:t>
            </a:r>
          </a:p>
          <a:p>
            <a:pPr marL="359824" marR="210815" indent="-343738">
              <a:spcBef>
                <a:spcPts val="807"/>
              </a:spcBef>
              <a:buClr>
                <a:srgbClr val="2C3D50"/>
              </a:buClr>
              <a:buSzPts val="1600"/>
              <a:buFont typeface="Calibri"/>
              <a:buChar char="●"/>
            </a:pPr>
            <a:r>
              <a:rPr lang="en-US" sz="2400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Total Pending appeals as on date is 13913 and amount involved 3206.76 crores.</a:t>
            </a:r>
            <a:endParaRPr sz="2267" dirty="0">
              <a:latin typeface="Calibri"/>
              <a:ea typeface="Calibri"/>
              <a:cs typeface="Calibri"/>
              <a:sym typeface="Calibri"/>
            </a:endParaRPr>
          </a:p>
          <a:p>
            <a:pPr marL="673083" marR="1234409" indent="-208275">
              <a:spcBef>
                <a:spcPts val="800"/>
              </a:spcBef>
              <a:buSzPts val="1600"/>
            </a:pPr>
            <a:endParaRPr sz="2133" dirty="0">
              <a:latin typeface="Calibri"/>
              <a:ea typeface="Calibri"/>
              <a:cs typeface="Calibri"/>
              <a:sym typeface="Calibri"/>
            </a:endParaRPr>
          </a:p>
          <a:p>
            <a:pPr marL="498674" marR="6773" indent="-208275" algn="just">
              <a:spcBef>
                <a:spcPts val="800"/>
              </a:spcBef>
              <a:buSzPts val="1600"/>
            </a:pPr>
            <a:endParaRPr sz="2133" dirty="0">
              <a:latin typeface="Calibri"/>
              <a:ea typeface="Calibri"/>
              <a:cs typeface="Calibri"/>
              <a:sym typeface="Calibri"/>
            </a:endParaRPr>
          </a:p>
          <a:p>
            <a:pPr marL="498674" marR="6773" indent="-208275">
              <a:spcBef>
                <a:spcPts val="800"/>
              </a:spcBef>
              <a:buSzPts val="1600"/>
            </a:pPr>
            <a:endParaRPr sz="2133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5" name="Google Shape;555;p32"/>
          <p:cNvGrpSpPr/>
          <p:nvPr/>
        </p:nvGrpSpPr>
        <p:grpSpPr>
          <a:xfrm>
            <a:off x="7874180" y="4127321"/>
            <a:ext cx="4140064" cy="2403233"/>
            <a:chOff x="5966459" y="3051810"/>
            <a:chExt cx="2812034" cy="1577339"/>
          </a:xfrm>
        </p:grpSpPr>
        <p:sp>
          <p:nvSpPr>
            <p:cNvPr id="556" name="Google Shape;556;p32"/>
            <p:cNvSpPr/>
            <p:nvPr/>
          </p:nvSpPr>
          <p:spPr>
            <a:xfrm>
              <a:off x="6021323" y="3051810"/>
              <a:ext cx="2757170" cy="1577339"/>
            </a:xfrm>
            <a:custGeom>
              <a:avLst/>
              <a:gdLst/>
              <a:ahLst/>
              <a:cxnLst/>
              <a:rect l="l" t="t" r="r" b="b"/>
              <a:pathLst>
                <a:path w="2757170" h="1577339" extrusionOk="0">
                  <a:moveTo>
                    <a:pt x="0" y="1577339"/>
                  </a:moveTo>
                  <a:lnTo>
                    <a:pt x="2756916" y="1577339"/>
                  </a:lnTo>
                  <a:lnTo>
                    <a:pt x="2756916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F4F8F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557" name="Google Shape;557;p32"/>
            <p:cNvSpPr/>
            <p:nvPr/>
          </p:nvSpPr>
          <p:spPr>
            <a:xfrm>
              <a:off x="5966459" y="3051810"/>
              <a:ext cx="2811779" cy="1577339"/>
            </a:xfrm>
            <a:custGeom>
              <a:avLst/>
              <a:gdLst/>
              <a:ahLst/>
              <a:cxnLst/>
              <a:rect l="l" t="t" r="r" b="b"/>
              <a:pathLst>
                <a:path w="2811779" h="1577339" extrusionOk="0">
                  <a:moveTo>
                    <a:pt x="0" y="1577339"/>
                  </a:moveTo>
                  <a:lnTo>
                    <a:pt x="2811780" y="1577339"/>
                  </a:lnTo>
                  <a:lnTo>
                    <a:pt x="2811780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558" name="Google Shape;558;p32"/>
            <p:cNvSpPr/>
            <p:nvPr/>
          </p:nvSpPr>
          <p:spPr>
            <a:xfrm>
              <a:off x="5966459" y="3051810"/>
              <a:ext cx="55245" cy="1577339"/>
            </a:xfrm>
            <a:custGeom>
              <a:avLst/>
              <a:gdLst/>
              <a:ahLst/>
              <a:cxnLst/>
              <a:rect l="l" t="t" r="r" b="b"/>
              <a:pathLst>
                <a:path w="55245" h="1577339" extrusionOk="0">
                  <a:moveTo>
                    <a:pt x="54863" y="0"/>
                  </a:moveTo>
                  <a:lnTo>
                    <a:pt x="0" y="0"/>
                  </a:lnTo>
                  <a:lnTo>
                    <a:pt x="0" y="1577339"/>
                  </a:lnTo>
                  <a:lnTo>
                    <a:pt x="54863" y="1577339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5A8F6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559" name="Google Shape;559;p32"/>
            <p:cNvSpPr/>
            <p:nvPr/>
          </p:nvSpPr>
          <p:spPr>
            <a:xfrm>
              <a:off x="5966459" y="3051810"/>
              <a:ext cx="55245" cy="1577339"/>
            </a:xfrm>
            <a:custGeom>
              <a:avLst/>
              <a:gdLst/>
              <a:ahLst/>
              <a:cxnLst/>
              <a:rect l="l" t="t" r="r" b="b"/>
              <a:pathLst>
                <a:path w="55245" h="1577339" extrusionOk="0">
                  <a:moveTo>
                    <a:pt x="0" y="1577339"/>
                  </a:moveTo>
                  <a:lnTo>
                    <a:pt x="54863" y="1577339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C8A84B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560" name="Google Shape;560;p32"/>
          <p:cNvSpPr txBox="1"/>
          <p:nvPr/>
        </p:nvSpPr>
        <p:spPr>
          <a:xfrm>
            <a:off x="7976925" y="4183316"/>
            <a:ext cx="3662000" cy="2607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033" rIns="0" bIns="0" anchor="t" anchorCtr="0">
            <a:spAutoFit/>
          </a:bodyPr>
          <a:lstStyle/>
          <a:p>
            <a:pPr marL="148163"/>
            <a:r>
              <a:rPr lang="en-US" sz="1600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E x p e c t e d o u t c o m e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148163" marR="45719">
              <a:spcBef>
                <a:spcPts val="379"/>
              </a:spcBef>
            </a:pPr>
            <a:r>
              <a:rPr lang="en-US" sz="1600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GSTAT has just become operational — every favorable ruling creates a long-term, recurring revenue impact. Stronger representation directly raises realization from already-detected audit, enforcement and fake-ITC cases (the largest stock of unrealized demand on the books).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148163" marR="33019">
              <a:spcBef>
                <a:spcPts val="300"/>
              </a:spcBef>
            </a:pPr>
            <a:endParaRPr sz="1600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1" name="Google Shape;561;p32"/>
          <p:cNvGrpSpPr/>
          <p:nvPr/>
        </p:nvGrpSpPr>
        <p:grpSpPr>
          <a:xfrm>
            <a:off x="7850375" y="1519546"/>
            <a:ext cx="4163493" cy="1278677"/>
            <a:chOff x="5966459" y="3051810"/>
            <a:chExt cx="2812034" cy="1577339"/>
          </a:xfrm>
        </p:grpSpPr>
        <p:sp>
          <p:nvSpPr>
            <p:cNvPr id="562" name="Google Shape;562;p32"/>
            <p:cNvSpPr/>
            <p:nvPr/>
          </p:nvSpPr>
          <p:spPr>
            <a:xfrm>
              <a:off x="6021323" y="3051810"/>
              <a:ext cx="2757170" cy="1577339"/>
            </a:xfrm>
            <a:custGeom>
              <a:avLst/>
              <a:gdLst/>
              <a:ahLst/>
              <a:cxnLst/>
              <a:rect l="l" t="t" r="r" b="b"/>
              <a:pathLst>
                <a:path w="2757170" h="1577339" extrusionOk="0">
                  <a:moveTo>
                    <a:pt x="0" y="1577339"/>
                  </a:moveTo>
                  <a:lnTo>
                    <a:pt x="2756916" y="1577339"/>
                  </a:lnTo>
                  <a:lnTo>
                    <a:pt x="2756916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F4F8F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563" name="Google Shape;563;p32"/>
            <p:cNvSpPr/>
            <p:nvPr/>
          </p:nvSpPr>
          <p:spPr>
            <a:xfrm>
              <a:off x="5966459" y="3051810"/>
              <a:ext cx="2811779" cy="1577339"/>
            </a:xfrm>
            <a:custGeom>
              <a:avLst/>
              <a:gdLst/>
              <a:ahLst/>
              <a:cxnLst/>
              <a:rect l="l" t="t" r="r" b="b"/>
              <a:pathLst>
                <a:path w="2811779" h="1577339" extrusionOk="0">
                  <a:moveTo>
                    <a:pt x="0" y="1577339"/>
                  </a:moveTo>
                  <a:lnTo>
                    <a:pt x="2811780" y="1577339"/>
                  </a:lnTo>
                  <a:lnTo>
                    <a:pt x="2811780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564" name="Google Shape;564;p32"/>
            <p:cNvSpPr/>
            <p:nvPr/>
          </p:nvSpPr>
          <p:spPr>
            <a:xfrm>
              <a:off x="5966459" y="3051810"/>
              <a:ext cx="55245" cy="1577339"/>
            </a:xfrm>
            <a:custGeom>
              <a:avLst/>
              <a:gdLst/>
              <a:ahLst/>
              <a:cxnLst/>
              <a:rect l="l" t="t" r="r" b="b"/>
              <a:pathLst>
                <a:path w="55245" h="1577339" extrusionOk="0">
                  <a:moveTo>
                    <a:pt x="54863" y="0"/>
                  </a:moveTo>
                  <a:lnTo>
                    <a:pt x="0" y="0"/>
                  </a:lnTo>
                  <a:lnTo>
                    <a:pt x="0" y="1577339"/>
                  </a:lnTo>
                  <a:lnTo>
                    <a:pt x="54863" y="1577339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5A8F6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565" name="Google Shape;565;p32"/>
            <p:cNvSpPr/>
            <p:nvPr/>
          </p:nvSpPr>
          <p:spPr>
            <a:xfrm>
              <a:off x="5966459" y="3051810"/>
              <a:ext cx="55245" cy="1577339"/>
            </a:xfrm>
            <a:custGeom>
              <a:avLst/>
              <a:gdLst/>
              <a:ahLst/>
              <a:cxnLst/>
              <a:rect l="l" t="t" r="r" b="b"/>
              <a:pathLst>
                <a:path w="55245" h="1577339" extrusionOk="0">
                  <a:moveTo>
                    <a:pt x="0" y="1577339"/>
                  </a:moveTo>
                  <a:lnTo>
                    <a:pt x="54863" y="1577339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C8A84B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566" name="Google Shape;566;p32"/>
          <p:cNvSpPr txBox="1"/>
          <p:nvPr/>
        </p:nvSpPr>
        <p:spPr>
          <a:xfrm>
            <a:off x="8025571" y="1663556"/>
            <a:ext cx="3739708" cy="1040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33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Addresses following diagnostic points</a:t>
            </a:r>
            <a:endParaRPr sz="2400" dirty="0"/>
          </a:p>
          <a:p>
            <a:pPr marL="228594" indent="-228594">
              <a:spcBef>
                <a:spcPts val="133"/>
              </a:spcBef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Growth Lag</a:t>
            </a:r>
            <a:endParaRPr sz="2400" dirty="0"/>
          </a:p>
          <a:p>
            <a:pPr marL="228594" indent="-228594">
              <a:spcBef>
                <a:spcPts val="133"/>
              </a:spcBef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B2C Ratio anomaly</a:t>
            </a:r>
            <a:endParaRPr sz="2400" dirty="0"/>
          </a:p>
          <a:p>
            <a:pPr marL="228594" indent="-228594">
              <a:spcBef>
                <a:spcPts val="133"/>
              </a:spcBef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 band and cash anomaly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05EE8-AF26-C34E-7366-C588C6EEC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5816912-FE46-C0A8-CDCF-8438C13EE4E3}"/>
              </a:ext>
            </a:extLst>
          </p:cNvPr>
          <p:cNvGrpSpPr/>
          <p:nvPr/>
        </p:nvGrpSpPr>
        <p:grpSpPr>
          <a:xfrm>
            <a:off x="-8467" y="-8550"/>
            <a:ext cx="12208933" cy="1126913"/>
            <a:chOff x="-6350" y="-6413"/>
            <a:chExt cx="9156700" cy="845185"/>
          </a:xfrm>
          <a:solidFill>
            <a:srgbClr val="1B2A49"/>
          </a:solidFill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FE8362E-BD63-F023-7562-A9959FFEA680}"/>
                </a:ext>
              </a:extLst>
            </p:cNvPr>
            <p:cNvSpPr/>
            <p:nvPr/>
          </p:nvSpPr>
          <p:spPr>
            <a:xfrm>
              <a:off x="0" y="-63"/>
              <a:ext cx="9144000" cy="777875"/>
            </a:xfrm>
            <a:custGeom>
              <a:avLst/>
              <a:gdLst/>
              <a:ahLst/>
              <a:cxnLst/>
              <a:rect l="l" t="t" r="r" b="b"/>
              <a:pathLst>
                <a:path w="9144000" h="777875">
                  <a:moveTo>
                    <a:pt x="9144000" y="0"/>
                  </a:moveTo>
                  <a:lnTo>
                    <a:pt x="0" y="0"/>
                  </a:lnTo>
                  <a:lnTo>
                    <a:pt x="0" y="777303"/>
                  </a:lnTo>
                  <a:lnTo>
                    <a:pt x="9144000" y="777303"/>
                  </a:lnTo>
                  <a:lnTo>
                    <a:pt x="91440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47574D3-4721-F045-1058-170174D869C7}"/>
                </a:ext>
              </a:extLst>
            </p:cNvPr>
            <p:cNvSpPr/>
            <p:nvPr/>
          </p:nvSpPr>
          <p:spPr>
            <a:xfrm>
              <a:off x="0" y="-63"/>
              <a:ext cx="9144000" cy="777875"/>
            </a:xfrm>
            <a:custGeom>
              <a:avLst/>
              <a:gdLst/>
              <a:ahLst/>
              <a:cxnLst/>
              <a:rect l="l" t="t" r="r" b="b"/>
              <a:pathLst>
                <a:path w="9144000" h="777875">
                  <a:moveTo>
                    <a:pt x="0" y="777303"/>
                  </a:moveTo>
                  <a:lnTo>
                    <a:pt x="9144000" y="77730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77303"/>
                  </a:lnTo>
                  <a:close/>
                </a:path>
              </a:pathLst>
            </a:custGeom>
            <a:grpFill/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18491FF-FB41-C77B-55AC-13AF41D90F76}"/>
                </a:ext>
              </a:extLst>
            </p:cNvPr>
            <p:cNvSpPr/>
            <p:nvPr/>
          </p:nvSpPr>
          <p:spPr>
            <a:xfrm>
              <a:off x="0" y="77720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>
                  <a:moveTo>
                    <a:pt x="9144000" y="0"/>
                  </a:moveTo>
                  <a:lnTo>
                    <a:pt x="0" y="0"/>
                  </a:lnTo>
                  <a:lnTo>
                    <a:pt x="0" y="54899"/>
                  </a:lnTo>
                  <a:lnTo>
                    <a:pt x="9144000" y="54899"/>
                  </a:lnTo>
                  <a:lnTo>
                    <a:pt x="91440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39F9E18-C163-1E54-5697-145ECD8EEB2C}"/>
                </a:ext>
              </a:extLst>
            </p:cNvPr>
            <p:cNvSpPr/>
            <p:nvPr/>
          </p:nvSpPr>
          <p:spPr>
            <a:xfrm>
              <a:off x="0" y="77720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>
                  <a:moveTo>
                    <a:pt x="0" y="54899"/>
                  </a:moveTo>
                  <a:lnTo>
                    <a:pt x="9144000" y="5489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899"/>
                  </a:lnTo>
                  <a:close/>
                </a:path>
              </a:pathLst>
            </a:custGeom>
            <a:grpFill/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15BA4E29-3888-AFA9-D68C-78F0B5FC8F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2667" y="212682"/>
            <a:ext cx="11145677" cy="522365"/>
          </a:xfrm>
          <a:prstGeom prst="rect">
            <a:avLst/>
          </a:prstGeom>
        </p:spPr>
        <p:txBody>
          <a:bodyPr spcFirstLastPara="1" vert="horz" wrap="square" lIns="0" tIns="16933" rIns="0" bIns="0" rtlCol="0" anchor="t" anchorCtr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US" sz="3200">
                <a:solidFill>
                  <a:schemeClr val="bg1"/>
                </a:solidFill>
              </a:rPr>
              <a:t>#6 Data-Driven Enforcement &amp; Special Drives</a:t>
            </a:r>
            <a:endParaRPr sz="3200">
              <a:solidFill>
                <a:schemeClr val="bg1"/>
              </a:solidFill>
            </a:endParaRPr>
          </a:p>
        </p:txBody>
      </p:sp>
      <p:sp>
        <p:nvSpPr>
          <p:cNvPr id="2" name="Google Shape;336;p24">
            <a:extLst>
              <a:ext uri="{FF2B5EF4-FFF2-40B4-BE49-F238E27FC236}">
                <a16:creationId xmlns:a16="http://schemas.microsoft.com/office/drawing/2014/main" id="{87B1F012-E3A9-1BF3-D8F0-416F38D2CC61}"/>
              </a:ext>
            </a:extLst>
          </p:cNvPr>
          <p:cNvSpPr txBox="1"/>
          <p:nvPr/>
        </p:nvSpPr>
        <p:spPr>
          <a:xfrm>
            <a:off x="293772" y="1351133"/>
            <a:ext cx="7756136" cy="5239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33" rIns="0" bIns="0" anchor="t" anchorCtr="0">
            <a:spAutoFit/>
          </a:bodyPr>
          <a:lstStyle/>
          <a:p>
            <a:pPr lvl="0">
              <a:buClrTx/>
              <a:defRPr sz="1400" b="1"/>
            </a:pPr>
            <a:r>
              <a:rPr lang="en-US" sz="1867" b="1" dirty="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IN" sz="1867" b="1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Sector-Based Enforcement</a:t>
            </a:r>
            <a:r>
              <a:rPr lang="en-US" sz="1867" b="1" dirty="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133" b="1" dirty="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dirty="0">
                <a:solidFill>
                  <a:srgbClr val="495468"/>
                </a:solidFill>
                <a:latin typeface="Calibri"/>
                <a:ea typeface="Calibri"/>
                <a:cs typeface="Calibri"/>
              </a:rPr>
              <a:t>Identify sectors exhibiting abnormal B2C ratios, revenue growth lag, and GST-to-GSDP gaps.</a:t>
            </a:r>
            <a:br>
              <a:rPr lang="en-US" sz="1467" dirty="0">
                <a:solidFill>
                  <a:sysClr val="windowText" lastClr="000000"/>
                </a:solidFill>
              </a:rPr>
            </a:br>
            <a:r>
              <a:rPr lang="en-US" sz="1867" b="1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Focus : </a:t>
            </a:r>
            <a:r>
              <a:rPr lang="en-US" sz="1600" dirty="0">
                <a:solidFill>
                  <a:srgbClr val="495468"/>
                </a:solidFill>
                <a:latin typeface="Calibri"/>
                <a:ea typeface="Calibri"/>
                <a:cs typeface="Calibri"/>
              </a:rPr>
              <a:t>Automobile and spare parts, Electrical machinery, Finance and banking, construction, Iron steel, Support services.</a:t>
            </a:r>
          </a:p>
          <a:p>
            <a:pPr lvl="0">
              <a:buClrTx/>
              <a:defRPr/>
            </a:pPr>
            <a:r>
              <a:rPr lang="en-IN" sz="1867" b="1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2. Analytics-Based Taxpayer Selection :</a:t>
            </a:r>
            <a:r>
              <a:rPr lang="en-IN" sz="2400" b="1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>
                <a:solidFill>
                  <a:srgbClr val="495468"/>
                </a:solidFill>
                <a:latin typeface="Calibri"/>
                <a:ea typeface="Calibri"/>
                <a:cs typeface="Calibri"/>
              </a:rPr>
              <a:t>Identify sector-specific outliers through B2C ratio analysis.</a:t>
            </a:r>
            <a:br>
              <a:rPr lang="en-US" sz="1467" dirty="0">
                <a:solidFill>
                  <a:sysClr val="windowText" lastClr="000000"/>
                </a:solidFill>
              </a:rPr>
            </a:br>
            <a:r>
              <a:rPr lang="en-US" sz="1867" b="1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Detect taxpayers showing : </a:t>
            </a:r>
            <a:r>
              <a:rPr lang="en-US" sz="1600" b="1" dirty="0">
                <a:solidFill>
                  <a:srgbClr val="495468"/>
                </a:solidFill>
                <a:latin typeface="Calibri"/>
                <a:ea typeface="Calibri"/>
                <a:cs typeface="Calibri"/>
              </a:rPr>
              <a:t>B2C Ratio analysis, Peer band comparison, Cash Payment anomalies, Revenue growth deviations, E-way bill vs Revenue mismatch</a:t>
            </a:r>
            <a:br>
              <a:rPr lang="en-US" sz="1400" b="1" dirty="0">
                <a:solidFill>
                  <a:srgbClr val="495468"/>
                </a:solidFill>
                <a:latin typeface="Calibri"/>
                <a:ea typeface="Calibri"/>
                <a:cs typeface="Calibri"/>
              </a:rPr>
            </a:br>
            <a:endParaRPr lang="en-US" sz="1400" b="1" dirty="0">
              <a:solidFill>
                <a:srgbClr val="495468"/>
              </a:solidFill>
              <a:latin typeface="Calibri"/>
              <a:ea typeface="Calibri"/>
              <a:cs typeface="Calibri"/>
            </a:endParaRPr>
          </a:p>
          <a:p>
            <a:pPr lvl="0">
              <a:buClrTx/>
              <a:defRPr sz="1400" b="1"/>
            </a:pPr>
            <a:r>
              <a:rPr lang="en-IN" sz="1867" b="1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3. Theme-Based Special Drives : </a:t>
            </a:r>
          </a:p>
          <a:p>
            <a:pPr lvl="0">
              <a:buClrTx/>
              <a:defRPr/>
            </a:pPr>
            <a:r>
              <a:rPr lang="en-US" sz="1867" b="1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Area Specific campaigns: </a:t>
            </a:r>
            <a:r>
              <a:rPr lang="en-US" sz="1600" b="1" dirty="0">
                <a:solidFill>
                  <a:srgbClr val="495468"/>
                </a:solidFill>
                <a:latin typeface="Calibri"/>
                <a:ea typeface="Calibri"/>
                <a:cs typeface="Calibri"/>
              </a:rPr>
              <a:t>Kishangarh Makrana marble belt, Major commercial hubs </a:t>
            </a:r>
          </a:p>
          <a:p>
            <a:pPr lvl="0">
              <a:buClrTx/>
              <a:defRPr/>
            </a:pPr>
            <a:r>
              <a:rPr lang="en-US" sz="1867" b="1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Focused campaigns in high-risk sectors : </a:t>
            </a:r>
            <a:r>
              <a:rPr lang="en-US" sz="1600" b="1" dirty="0">
                <a:solidFill>
                  <a:srgbClr val="495468"/>
                </a:solidFill>
                <a:latin typeface="Calibri"/>
                <a:ea typeface="Calibri"/>
                <a:cs typeface="Calibri"/>
              </a:rPr>
              <a:t>Marble &amp; Stone, Tobacco Products, Timber &amp; Plywood, Hotels &amp; Tourism, Restaurants &amp; Banquets, Jewelry &amp; Textile Trade</a:t>
            </a:r>
            <a:br>
              <a:rPr lang="en-US" sz="1600" b="1" dirty="0">
                <a:solidFill>
                  <a:srgbClr val="495468"/>
                </a:solidFill>
                <a:latin typeface="Calibri"/>
                <a:ea typeface="Calibri"/>
                <a:cs typeface="Calibri"/>
              </a:rPr>
            </a:br>
            <a:br>
              <a:rPr lang="en-US" sz="2400" dirty="0">
                <a:solidFill>
                  <a:sysClr val="windowText" lastClr="000000"/>
                </a:solidFill>
              </a:rPr>
            </a:br>
            <a:r>
              <a:rPr lang="en-IN" sz="1867" b="1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4. Intelligence &amp; Inter-Agency Coordination</a:t>
            </a:r>
          </a:p>
          <a:p>
            <a:pPr lvl="0">
              <a:buClrTx/>
              <a:defRPr sz="1100"/>
            </a:pPr>
            <a:r>
              <a:rPr lang="en-IN" sz="1600" b="1" dirty="0">
                <a:solidFill>
                  <a:srgbClr val="495468"/>
                </a:solidFill>
                <a:latin typeface="Calibri"/>
                <a:ea typeface="Calibri"/>
                <a:cs typeface="Calibri"/>
              </a:rPr>
              <a:t>• Strengthen Human Intelligence inputs</a:t>
            </a:r>
          </a:p>
          <a:p>
            <a:pPr lvl="0">
              <a:buClrTx/>
              <a:defRPr/>
            </a:pPr>
            <a:r>
              <a:rPr lang="en-IN" sz="1600" b="1" dirty="0">
                <a:solidFill>
                  <a:srgbClr val="495468"/>
                </a:solidFill>
                <a:latin typeface="Calibri"/>
                <a:ea typeface="Calibri"/>
                <a:cs typeface="Calibri"/>
              </a:rPr>
              <a:t>• Market surveys and field verification</a:t>
            </a:r>
          </a:p>
          <a:p>
            <a:pPr lvl="0">
              <a:buClrTx/>
              <a:defRPr/>
            </a:pPr>
            <a:r>
              <a:rPr lang="en-IN" sz="1600" b="1" dirty="0">
                <a:solidFill>
                  <a:srgbClr val="495468"/>
                </a:solidFill>
                <a:latin typeface="Calibri"/>
                <a:ea typeface="Calibri"/>
                <a:cs typeface="Calibri"/>
              </a:rPr>
              <a:t>• Coordination with CBIC/ DGCI for interstate fraud networks.</a:t>
            </a:r>
          </a:p>
          <a:p>
            <a:pPr lvl="0">
              <a:buClrTx/>
              <a:defRPr/>
            </a:pPr>
            <a:r>
              <a:rPr lang="en-IN" sz="1600" b="1" dirty="0">
                <a:solidFill>
                  <a:srgbClr val="495468"/>
                </a:solidFill>
                <a:latin typeface="Calibri"/>
                <a:ea typeface="Calibri"/>
                <a:cs typeface="Calibri"/>
              </a:rPr>
              <a:t>• Aadhaar e-KYC verification for high risk taxpayers</a:t>
            </a:r>
          </a:p>
        </p:txBody>
      </p:sp>
      <p:grpSp>
        <p:nvGrpSpPr>
          <p:cNvPr id="14" name="object 26">
            <a:extLst>
              <a:ext uri="{FF2B5EF4-FFF2-40B4-BE49-F238E27FC236}">
                <a16:creationId xmlns:a16="http://schemas.microsoft.com/office/drawing/2014/main" id="{081579FA-2F51-FF4D-78F9-85C9EF954673}"/>
              </a:ext>
            </a:extLst>
          </p:cNvPr>
          <p:cNvGrpSpPr/>
          <p:nvPr/>
        </p:nvGrpSpPr>
        <p:grpSpPr>
          <a:xfrm>
            <a:off x="8218013" y="1249848"/>
            <a:ext cx="3973988" cy="1808099"/>
            <a:chOff x="5960109" y="3045460"/>
            <a:chExt cx="2823210" cy="1590040"/>
          </a:xfrm>
        </p:grpSpPr>
        <p:sp>
          <p:nvSpPr>
            <p:cNvPr id="15" name="object 27">
              <a:extLst>
                <a:ext uri="{FF2B5EF4-FFF2-40B4-BE49-F238E27FC236}">
                  <a16:creationId xmlns:a16="http://schemas.microsoft.com/office/drawing/2014/main" id="{AE27F710-2B2F-43F0-2017-C238691E239B}"/>
                </a:ext>
              </a:extLst>
            </p:cNvPr>
            <p:cNvSpPr/>
            <p:nvPr/>
          </p:nvSpPr>
          <p:spPr>
            <a:xfrm>
              <a:off x="6021323" y="3051810"/>
              <a:ext cx="2757170" cy="1577340"/>
            </a:xfrm>
            <a:custGeom>
              <a:avLst/>
              <a:gdLst/>
              <a:ahLst/>
              <a:cxnLst/>
              <a:rect l="l" t="t" r="r" b="b"/>
              <a:pathLst>
                <a:path w="2757170" h="1577339">
                  <a:moveTo>
                    <a:pt x="0" y="1577339"/>
                  </a:moveTo>
                  <a:lnTo>
                    <a:pt x="2756916" y="1577339"/>
                  </a:lnTo>
                  <a:lnTo>
                    <a:pt x="2756916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F4F8FA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28">
              <a:extLst>
                <a:ext uri="{FF2B5EF4-FFF2-40B4-BE49-F238E27FC236}">
                  <a16:creationId xmlns:a16="http://schemas.microsoft.com/office/drawing/2014/main" id="{76C3A436-D9B5-2769-887A-61AA5863BB57}"/>
                </a:ext>
              </a:extLst>
            </p:cNvPr>
            <p:cNvSpPr/>
            <p:nvPr/>
          </p:nvSpPr>
          <p:spPr>
            <a:xfrm>
              <a:off x="5966459" y="3051810"/>
              <a:ext cx="2811780" cy="1577340"/>
            </a:xfrm>
            <a:custGeom>
              <a:avLst/>
              <a:gdLst/>
              <a:ahLst/>
              <a:cxnLst/>
              <a:rect l="l" t="t" r="r" b="b"/>
              <a:pathLst>
                <a:path w="2811779" h="1577339">
                  <a:moveTo>
                    <a:pt x="0" y="1577339"/>
                  </a:moveTo>
                  <a:lnTo>
                    <a:pt x="2811780" y="1577339"/>
                  </a:lnTo>
                  <a:lnTo>
                    <a:pt x="2811780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object 29">
              <a:extLst>
                <a:ext uri="{FF2B5EF4-FFF2-40B4-BE49-F238E27FC236}">
                  <a16:creationId xmlns:a16="http://schemas.microsoft.com/office/drawing/2014/main" id="{62CE35FB-7DFC-5F97-2A83-73AC14FD4FE6}"/>
                </a:ext>
              </a:extLst>
            </p:cNvPr>
            <p:cNvSpPr/>
            <p:nvPr/>
          </p:nvSpPr>
          <p:spPr>
            <a:xfrm>
              <a:off x="5966459" y="3051810"/>
              <a:ext cx="55244" cy="1577340"/>
            </a:xfrm>
            <a:custGeom>
              <a:avLst/>
              <a:gdLst/>
              <a:ahLst/>
              <a:cxnLst/>
              <a:rect l="l" t="t" r="r" b="b"/>
              <a:pathLst>
                <a:path w="55245" h="1577339">
                  <a:moveTo>
                    <a:pt x="54863" y="0"/>
                  </a:moveTo>
                  <a:lnTo>
                    <a:pt x="0" y="0"/>
                  </a:lnTo>
                  <a:lnTo>
                    <a:pt x="0" y="1577339"/>
                  </a:lnTo>
                  <a:lnTo>
                    <a:pt x="54863" y="1577339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5A8F69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object 30">
              <a:extLst>
                <a:ext uri="{FF2B5EF4-FFF2-40B4-BE49-F238E27FC236}">
                  <a16:creationId xmlns:a16="http://schemas.microsoft.com/office/drawing/2014/main" id="{142CF634-4508-07B9-1A50-725685A7783D}"/>
                </a:ext>
              </a:extLst>
            </p:cNvPr>
            <p:cNvSpPr/>
            <p:nvPr/>
          </p:nvSpPr>
          <p:spPr>
            <a:xfrm>
              <a:off x="5966459" y="3051810"/>
              <a:ext cx="55244" cy="1577340"/>
            </a:xfrm>
            <a:custGeom>
              <a:avLst/>
              <a:gdLst/>
              <a:ahLst/>
              <a:cxnLst/>
              <a:rect l="l" t="t" r="r" b="b"/>
              <a:pathLst>
                <a:path w="55245" h="1577339">
                  <a:moveTo>
                    <a:pt x="0" y="1577339"/>
                  </a:moveTo>
                  <a:lnTo>
                    <a:pt x="54863" y="1577339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C8A84B"/>
            </a:solidFill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" name="object 25">
            <a:extLst>
              <a:ext uri="{FF2B5EF4-FFF2-40B4-BE49-F238E27FC236}">
                <a16:creationId xmlns:a16="http://schemas.microsoft.com/office/drawing/2014/main" id="{7EB44F16-24DD-43DD-021D-6292533FD814}"/>
              </a:ext>
            </a:extLst>
          </p:cNvPr>
          <p:cNvSpPr txBox="1"/>
          <p:nvPr/>
        </p:nvSpPr>
        <p:spPr>
          <a:xfrm>
            <a:off x="8407649" y="1351133"/>
            <a:ext cx="3600515" cy="22050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 defTabSz="1219170">
              <a:spcBef>
                <a:spcPts val="133"/>
              </a:spcBef>
              <a:defRPr/>
            </a:pPr>
            <a:r>
              <a:rPr lang="en-US" sz="1867" b="1" kern="0" spc="-60" dirty="0">
                <a:solidFill>
                  <a:srgbClr val="6B7B8E"/>
                </a:solidFill>
                <a:latin typeface="Calibri"/>
                <a:cs typeface="Calibri"/>
              </a:rPr>
              <a:t>Addresses following diagnostic points</a:t>
            </a:r>
          </a:p>
          <a:p>
            <a:pPr lvl="0">
              <a:buClrTx/>
              <a:defRPr/>
            </a:pPr>
            <a:r>
              <a:rPr lang="en-US" sz="1600" dirty="0">
                <a:solidFill>
                  <a:srgbClr val="2C3D50"/>
                </a:solidFill>
                <a:latin typeface="Calibri"/>
                <a:ea typeface="Calibri"/>
                <a:cs typeface="Calibri"/>
              </a:rPr>
              <a:t>• B2C Ratio Anomaly</a:t>
            </a:r>
          </a:p>
          <a:p>
            <a:pPr lvl="0">
              <a:buClrTx/>
              <a:defRPr/>
            </a:pPr>
            <a:r>
              <a:rPr lang="en-US" sz="1600" dirty="0">
                <a:solidFill>
                  <a:srgbClr val="2C3D50"/>
                </a:solidFill>
                <a:latin typeface="Calibri"/>
                <a:ea typeface="Calibri"/>
                <a:cs typeface="Calibri"/>
              </a:rPr>
              <a:t>• Peer Band Deviation</a:t>
            </a:r>
          </a:p>
          <a:p>
            <a:pPr lvl="0">
              <a:buClrTx/>
              <a:defRPr/>
            </a:pPr>
            <a:r>
              <a:rPr lang="en-US" sz="1600" dirty="0">
                <a:solidFill>
                  <a:srgbClr val="2C3D50"/>
                </a:solidFill>
                <a:latin typeface="Calibri"/>
                <a:ea typeface="Calibri"/>
                <a:cs typeface="Calibri"/>
              </a:rPr>
              <a:t>• Cash Payment Anomaly</a:t>
            </a:r>
          </a:p>
          <a:p>
            <a:pPr lvl="0">
              <a:buClrTx/>
              <a:defRPr/>
            </a:pPr>
            <a:r>
              <a:rPr lang="en-US" sz="1600" dirty="0">
                <a:solidFill>
                  <a:srgbClr val="2C3D50"/>
                </a:solidFill>
                <a:latin typeface="Calibri"/>
                <a:ea typeface="Calibri"/>
                <a:cs typeface="Calibri"/>
              </a:rPr>
              <a:t>• Revenue vs GSDP Gap</a:t>
            </a:r>
          </a:p>
          <a:p>
            <a:pPr lvl="0">
              <a:buClrTx/>
              <a:defRPr/>
            </a:pPr>
            <a:r>
              <a:rPr lang="en-US" sz="1600" dirty="0">
                <a:solidFill>
                  <a:srgbClr val="2C3D50"/>
                </a:solidFill>
                <a:latin typeface="Calibri"/>
                <a:ea typeface="Calibri"/>
                <a:cs typeface="Calibri"/>
              </a:rPr>
              <a:t>• e-Way Bill vs Revenue Mismatch</a:t>
            </a:r>
          </a:p>
          <a:p>
            <a:pPr lvl="0">
              <a:buClrTx/>
              <a:defRPr/>
            </a:pPr>
            <a:endParaRPr lang="en-US" sz="2400" dirty="0">
              <a:solidFill>
                <a:sysClr val="windowText" lastClr="000000"/>
              </a:solidFill>
            </a:endParaRPr>
          </a:p>
          <a:p>
            <a:pPr marL="228594" indent="-228594" defTabSz="1219170">
              <a:spcBef>
                <a:spcPts val="133"/>
              </a:spcBef>
              <a:buFont typeface="Arial" panose="020B0604020202020204" pitchFamily="34" charset="0"/>
              <a:buChar char="•"/>
              <a:defRPr/>
            </a:pPr>
            <a:endParaRPr lang="en-US" sz="1867" kern="0" spc="-6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20" name="object 26">
            <a:extLst>
              <a:ext uri="{FF2B5EF4-FFF2-40B4-BE49-F238E27FC236}">
                <a16:creationId xmlns:a16="http://schemas.microsoft.com/office/drawing/2014/main" id="{D56A7C3B-DF94-3E79-F80B-41CE799F9DEB}"/>
              </a:ext>
            </a:extLst>
          </p:cNvPr>
          <p:cNvGrpSpPr/>
          <p:nvPr/>
        </p:nvGrpSpPr>
        <p:grpSpPr>
          <a:xfrm>
            <a:off x="8209281" y="3901786"/>
            <a:ext cx="3881768" cy="1822657"/>
            <a:chOff x="5960109" y="3045460"/>
            <a:chExt cx="2823210" cy="1590040"/>
          </a:xfrm>
        </p:grpSpPr>
        <p:sp>
          <p:nvSpPr>
            <p:cNvPr id="21" name="object 27">
              <a:extLst>
                <a:ext uri="{FF2B5EF4-FFF2-40B4-BE49-F238E27FC236}">
                  <a16:creationId xmlns:a16="http://schemas.microsoft.com/office/drawing/2014/main" id="{6E6844F7-8FF0-A67A-EBF9-43F3C815D606}"/>
                </a:ext>
              </a:extLst>
            </p:cNvPr>
            <p:cNvSpPr/>
            <p:nvPr/>
          </p:nvSpPr>
          <p:spPr>
            <a:xfrm>
              <a:off x="6021323" y="3051810"/>
              <a:ext cx="2757170" cy="1577340"/>
            </a:xfrm>
            <a:custGeom>
              <a:avLst/>
              <a:gdLst/>
              <a:ahLst/>
              <a:cxnLst/>
              <a:rect l="l" t="t" r="r" b="b"/>
              <a:pathLst>
                <a:path w="2757170" h="1577339">
                  <a:moveTo>
                    <a:pt x="0" y="1577339"/>
                  </a:moveTo>
                  <a:lnTo>
                    <a:pt x="2756916" y="1577339"/>
                  </a:lnTo>
                  <a:lnTo>
                    <a:pt x="2756916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F4F8FA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object 28">
              <a:extLst>
                <a:ext uri="{FF2B5EF4-FFF2-40B4-BE49-F238E27FC236}">
                  <a16:creationId xmlns:a16="http://schemas.microsoft.com/office/drawing/2014/main" id="{36D18E9A-DC34-A100-C5FA-C0B1228B718D}"/>
                </a:ext>
              </a:extLst>
            </p:cNvPr>
            <p:cNvSpPr/>
            <p:nvPr/>
          </p:nvSpPr>
          <p:spPr>
            <a:xfrm>
              <a:off x="5966459" y="3051810"/>
              <a:ext cx="2811780" cy="1577340"/>
            </a:xfrm>
            <a:custGeom>
              <a:avLst/>
              <a:gdLst/>
              <a:ahLst/>
              <a:cxnLst/>
              <a:rect l="l" t="t" r="r" b="b"/>
              <a:pathLst>
                <a:path w="2811779" h="1577339">
                  <a:moveTo>
                    <a:pt x="0" y="1577339"/>
                  </a:moveTo>
                  <a:lnTo>
                    <a:pt x="2811780" y="1577339"/>
                  </a:lnTo>
                  <a:lnTo>
                    <a:pt x="2811780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object 29">
              <a:extLst>
                <a:ext uri="{FF2B5EF4-FFF2-40B4-BE49-F238E27FC236}">
                  <a16:creationId xmlns:a16="http://schemas.microsoft.com/office/drawing/2014/main" id="{4D04D60F-BDCA-26DF-CD6D-CB486FAE44CD}"/>
                </a:ext>
              </a:extLst>
            </p:cNvPr>
            <p:cNvSpPr/>
            <p:nvPr/>
          </p:nvSpPr>
          <p:spPr>
            <a:xfrm>
              <a:off x="5966459" y="3051810"/>
              <a:ext cx="55244" cy="1577340"/>
            </a:xfrm>
            <a:custGeom>
              <a:avLst/>
              <a:gdLst/>
              <a:ahLst/>
              <a:cxnLst/>
              <a:rect l="l" t="t" r="r" b="b"/>
              <a:pathLst>
                <a:path w="55245" h="1577339">
                  <a:moveTo>
                    <a:pt x="54863" y="0"/>
                  </a:moveTo>
                  <a:lnTo>
                    <a:pt x="0" y="0"/>
                  </a:lnTo>
                  <a:lnTo>
                    <a:pt x="0" y="1577339"/>
                  </a:lnTo>
                  <a:lnTo>
                    <a:pt x="54863" y="1577339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5A8F69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bject 30">
              <a:extLst>
                <a:ext uri="{FF2B5EF4-FFF2-40B4-BE49-F238E27FC236}">
                  <a16:creationId xmlns:a16="http://schemas.microsoft.com/office/drawing/2014/main" id="{02E5856D-C0C2-6770-193F-7BB33367E1FE}"/>
                </a:ext>
              </a:extLst>
            </p:cNvPr>
            <p:cNvSpPr/>
            <p:nvPr/>
          </p:nvSpPr>
          <p:spPr>
            <a:xfrm>
              <a:off x="5966459" y="3051810"/>
              <a:ext cx="55244" cy="1577340"/>
            </a:xfrm>
            <a:custGeom>
              <a:avLst/>
              <a:gdLst/>
              <a:ahLst/>
              <a:cxnLst/>
              <a:rect l="l" t="t" r="r" b="b"/>
              <a:pathLst>
                <a:path w="55245" h="1577339">
                  <a:moveTo>
                    <a:pt x="0" y="1577339"/>
                  </a:moveTo>
                  <a:lnTo>
                    <a:pt x="54863" y="1577339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C8A84B"/>
            </a:solidFill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5" name="object 25">
            <a:extLst>
              <a:ext uri="{FF2B5EF4-FFF2-40B4-BE49-F238E27FC236}">
                <a16:creationId xmlns:a16="http://schemas.microsoft.com/office/drawing/2014/main" id="{302D9D5B-42CB-EC48-004A-B261EFA9FA4D}"/>
              </a:ext>
            </a:extLst>
          </p:cNvPr>
          <p:cNvSpPr txBox="1"/>
          <p:nvPr/>
        </p:nvSpPr>
        <p:spPr>
          <a:xfrm>
            <a:off x="8407650" y="3901786"/>
            <a:ext cx="3676415" cy="257433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 defTabSz="1219170">
              <a:spcBef>
                <a:spcPts val="133"/>
              </a:spcBef>
              <a:defRPr/>
            </a:pPr>
            <a:r>
              <a:rPr lang="en-US" sz="1867" b="1" kern="0" spc="-60" dirty="0">
                <a:solidFill>
                  <a:srgbClr val="6B7B8E"/>
                </a:solidFill>
                <a:latin typeface="Calibri"/>
                <a:cs typeface="Calibri"/>
              </a:rPr>
              <a:t>Expected Outcome</a:t>
            </a:r>
          </a:p>
          <a:p>
            <a:pPr lvl="0">
              <a:buClrTx/>
              <a:defRPr/>
            </a:pPr>
            <a:r>
              <a:rPr lang="en-US" sz="1600" dirty="0">
                <a:solidFill>
                  <a:srgbClr val="2C3D50"/>
                </a:solidFill>
                <a:latin typeface="Calibri"/>
                <a:ea typeface="Calibri"/>
                <a:cs typeface="Calibri"/>
              </a:rPr>
              <a:t>• Identification of sectoral outliers</a:t>
            </a:r>
          </a:p>
          <a:p>
            <a:pPr lvl="0">
              <a:buClrTx/>
              <a:defRPr/>
            </a:pPr>
            <a:r>
              <a:rPr lang="en-US" sz="1600" dirty="0">
                <a:solidFill>
                  <a:srgbClr val="2C3D50"/>
                </a:solidFill>
                <a:latin typeface="Calibri"/>
                <a:ea typeface="Calibri"/>
                <a:cs typeface="Calibri"/>
              </a:rPr>
              <a:t>• Improved detection of suppression and fake invoicing.</a:t>
            </a:r>
          </a:p>
          <a:p>
            <a:pPr lvl="0">
              <a:buClrTx/>
              <a:defRPr/>
            </a:pPr>
            <a:r>
              <a:rPr lang="en-IN" sz="1600" dirty="0">
                <a:solidFill>
                  <a:srgbClr val="2C3D50"/>
                </a:solidFill>
                <a:latin typeface="Calibri"/>
                <a:ea typeface="Calibri"/>
                <a:cs typeface="Calibri"/>
              </a:rPr>
              <a:t>• Stronger intelligence-led enforcement</a:t>
            </a:r>
          </a:p>
          <a:p>
            <a:pPr lvl="0">
              <a:buClrTx/>
              <a:defRPr/>
            </a:pPr>
            <a:r>
              <a:rPr lang="en-IN" sz="1600" dirty="0">
                <a:solidFill>
                  <a:srgbClr val="2C3D50"/>
                </a:solidFill>
                <a:latin typeface="Calibri"/>
                <a:ea typeface="Calibri"/>
                <a:cs typeface="Calibri"/>
              </a:rPr>
              <a:t>• Improved compliance</a:t>
            </a:r>
          </a:p>
          <a:p>
            <a:pPr lvl="0">
              <a:buClrTx/>
              <a:defRPr/>
            </a:pPr>
            <a:endParaRPr lang="en-US" sz="2400" dirty="0">
              <a:solidFill>
                <a:sysClr val="windowText" lastClr="000000"/>
              </a:solidFill>
            </a:endParaRPr>
          </a:p>
          <a:p>
            <a:pPr lvl="0">
              <a:buClrTx/>
              <a:defRPr/>
            </a:pPr>
            <a:endParaRPr lang="en-US" sz="2400" dirty="0">
              <a:solidFill>
                <a:sysClr val="windowText" lastClr="000000"/>
              </a:solidFill>
            </a:endParaRPr>
          </a:p>
          <a:p>
            <a:pPr marL="228594" indent="-228594" defTabSz="1219170">
              <a:spcBef>
                <a:spcPts val="133"/>
              </a:spcBef>
              <a:buFont typeface="Arial" panose="020B0604020202020204" pitchFamily="34" charset="0"/>
              <a:buChar char="•"/>
              <a:defRPr/>
            </a:pPr>
            <a:endParaRPr lang="en-US" sz="1867" kern="0" spc="-6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3927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6"/>
          <p:cNvGrpSpPr/>
          <p:nvPr/>
        </p:nvGrpSpPr>
        <p:grpSpPr>
          <a:xfrm>
            <a:off x="0" y="-84"/>
            <a:ext cx="12192000" cy="1110015"/>
            <a:chOff x="0" y="-63"/>
            <a:chExt cx="9144000" cy="832511"/>
          </a:xfrm>
        </p:grpSpPr>
        <p:sp>
          <p:nvSpPr>
            <p:cNvPr id="640" name="Google Shape;640;p36"/>
            <p:cNvSpPr/>
            <p:nvPr/>
          </p:nvSpPr>
          <p:spPr>
            <a:xfrm>
              <a:off x="0" y="-63"/>
              <a:ext cx="9144000" cy="777875"/>
            </a:xfrm>
            <a:custGeom>
              <a:avLst/>
              <a:gdLst/>
              <a:ahLst/>
              <a:cxnLst/>
              <a:rect l="l" t="t" r="r" b="b"/>
              <a:pathLst>
                <a:path w="9144000" h="77787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777303"/>
                  </a:lnTo>
                  <a:lnTo>
                    <a:pt x="9144000" y="77730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2A4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641" name="Google Shape;641;p36"/>
            <p:cNvSpPr/>
            <p:nvPr/>
          </p:nvSpPr>
          <p:spPr>
            <a:xfrm>
              <a:off x="0" y="-63"/>
              <a:ext cx="9144000" cy="777875"/>
            </a:xfrm>
            <a:custGeom>
              <a:avLst/>
              <a:gdLst/>
              <a:ahLst/>
              <a:cxnLst/>
              <a:rect l="l" t="t" r="r" b="b"/>
              <a:pathLst>
                <a:path w="9144000" h="777875" extrusionOk="0">
                  <a:moveTo>
                    <a:pt x="0" y="777303"/>
                  </a:moveTo>
                  <a:lnTo>
                    <a:pt x="9144000" y="77730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77303"/>
                  </a:lnTo>
                  <a:close/>
                </a:path>
              </a:pathLst>
            </a:custGeom>
            <a:solidFill>
              <a:srgbClr val="1B2A49"/>
            </a:solidFill>
            <a:ln w="12700" cap="flat" cmpd="sng">
              <a:solidFill>
                <a:srgbClr val="1B2A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642" name="Google Shape;642;p36"/>
            <p:cNvSpPr/>
            <p:nvPr/>
          </p:nvSpPr>
          <p:spPr>
            <a:xfrm>
              <a:off x="0" y="77720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54899"/>
                  </a:lnTo>
                  <a:lnTo>
                    <a:pt x="9144000" y="548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2A4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643" name="Google Shape;643;p36"/>
            <p:cNvSpPr/>
            <p:nvPr/>
          </p:nvSpPr>
          <p:spPr>
            <a:xfrm>
              <a:off x="0" y="77720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54899"/>
                  </a:moveTo>
                  <a:lnTo>
                    <a:pt x="9144000" y="5489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899"/>
                  </a:lnTo>
                  <a:close/>
                </a:path>
              </a:pathLst>
            </a:custGeom>
            <a:solidFill>
              <a:srgbClr val="1B2A49"/>
            </a:solidFill>
            <a:ln w="12700" cap="flat" cmpd="sng">
              <a:solidFill>
                <a:srgbClr val="C8A8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644" name="Google Shape;644;p36"/>
          <p:cNvSpPr txBox="1">
            <a:spLocks noGrp="1"/>
          </p:cNvSpPr>
          <p:nvPr>
            <p:ph type="title"/>
          </p:nvPr>
        </p:nvSpPr>
        <p:spPr>
          <a:xfrm>
            <a:off x="592667" y="212682"/>
            <a:ext cx="11145600" cy="509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33" rIns="0" bIns="0" anchor="t" anchorCtr="0">
            <a:spAutoFit/>
          </a:bodyPr>
          <a:lstStyle/>
          <a:p>
            <a:pPr marL="16933"/>
            <a:r>
              <a:rPr lang="en-US" sz="3200" dirty="0">
                <a:solidFill>
                  <a:schemeClr val="lt1"/>
                </a:solidFill>
              </a:rPr>
              <a:t>#7 Enforcement Wing Strengthening — Fake ITC / Layer Cracking</a:t>
            </a:r>
            <a:endParaRPr sz="3200" dirty="0">
              <a:solidFill>
                <a:schemeClr val="lt1"/>
              </a:solidFill>
            </a:endParaRPr>
          </a:p>
        </p:txBody>
      </p:sp>
      <p:sp>
        <p:nvSpPr>
          <p:cNvPr id="645" name="Google Shape;645;p36"/>
          <p:cNvSpPr txBox="1"/>
          <p:nvPr/>
        </p:nvSpPr>
        <p:spPr>
          <a:xfrm>
            <a:off x="-101600" y="715467"/>
            <a:ext cx="8839200" cy="122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1048994"/>
            <a:r>
              <a:rPr lang="en-US" sz="1067" i="1">
                <a:solidFill>
                  <a:srgbClr val="EFD080"/>
                </a:solidFill>
                <a:latin typeface="Calibri"/>
                <a:ea typeface="Calibri"/>
                <a:cs typeface="Calibri"/>
                <a:sym typeface="Calibri"/>
              </a:rPr>
              <a:t>Build muscle to dismantle fake-invoicing layers (proposal already submitted).</a:t>
            </a:r>
            <a:endParaRPr sz="2400"/>
          </a:p>
          <a:p>
            <a:pPr marL="1048994">
              <a:spcBef>
                <a:spcPts val="347"/>
              </a:spcBef>
            </a:pPr>
            <a:endParaRPr sz="1067" i="1">
              <a:solidFill>
                <a:srgbClr val="EFD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8994">
              <a:spcBef>
                <a:spcPts val="347"/>
              </a:spcBef>
            </a:pPr>
            <a:endParaRPr sz="1067" i="1">
              <a:solidFill>
                <a:srgbClr val="EFD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8994">
              <a:spcBef>
                <a:spcPts val="347"/>
              </a:spcBef>
            </a:pPr>
            <a:endParaRPr sz="3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6"/>
          <p:cNvSpPr txBox="1"/>
          <p:nvPr/>
        </p:nvSpPr>
        <p:spPr>
          <a:xfrm>
            <a:off x="538727" y="1138971"/>
            <a:ext cx="8243587" cy="5882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219281" algn="just"/>
            <a:r>
              <a:rPr lang="en-US" sz="2133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H o w</a:t>
            </a:r>
            <a:endParaRPr sz="2133" dirty="0">
              <a:latin typeface="Calibri"/>
              <a:ea typeface="Calibri"/>
              <a:cs typeface="Calibri"/>
              <a:sym typeface="Calibri"/>
            </a:endParaRPr>
          </a:p>
          <a:p>
            <a:pPr marL="219281" algn="just">
              <a:spcBef>
                <a:spcPts val="600"/>
              </a:spcBef>
            </a:pPr>
            <a:r>
              <a:rPr lang="en-US" sz="2133" b="1" dirty="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rPr>
              <a:t>Operational levers</a:t>
            </a:r>
            <a:endParaRPr sz="2133" dirty="0">
              <a:latin typeface="Calibri"/>
              <a:ea typeface="Calibri"/>
              <a:cs typeface="Calibri"/>
              <a:sym typeface="Calibri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b="1" dirty="0">
                <a:solidFill>
                  <a:srgbClr val="1B2A49"/>
                </a:solidFill>
                <a:latin typeface="Calibri"/>
                <a:ea typeface="Calibri"/>
                <a:cs typeface="Calibri"/>
              </a:rPr>
              <a:t>Forensic Accounting, Cyber Investigation &amp; Prosecution Cells : </a:t>
            </a:r>
            <a:r>
              <a:rPr lang="en-US" sz="2133" dirty="0">
                <a:solidFill>
                  <a:srgbClr val="2C3D50"/>
                </a:solidFill>
                <a:latin typeface="Calibri"/>
                <a:ea typeface="Calibri"/>
                <a:cs typeface="Calibri"/>
              </a:rPr>
              <a:t>In-house wing equipped to extract and examine seized digital devices (mobile phones, laptops, Tally backups, and hard drives) and to forensically analyze </a:t>
            </a:r>
            <a:r>
              <a:rPr lang="en-US" sz="2133" dirty="0" err="1">
                <a:solidFill>
                  <a:srgbClr val="2C3D50"/>
                </a:solidFill>
                <a:latin typeface="Calibri"/>
                <a:ea typeface="Calibri"/>
                <a:cs typeface="Calibri"/>
              </a:rPr>
              <a:t>kacchi</a:t>
            </a:r>
            <a:r>
              <a:rPr lang="en-US" sz="2133" dirty="0">
                <a:solidFill>
                  <a:srgbClr val="2C3D5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33" dirty="0" err="1">
                <a:solidFill>
                  <a:srgbClr val="2C3D50"/>
                </a:solidFill>
                <a:latin typeface="Calibri"/>
                <a:ea typeface="Calibri"/>
                <a:cs typeface="Calibri"/>
              </a:rPr>
              <a:t>parchis</a:t>
            </a:r>
            <a:r>
              <a:rPr lang="en-US" sz="2133" dirty="0">
                <a:solidFill>
                  <a:srgbClr val="2C3D50"/>
                </a:solidFill>
                <a:latin typeface="Calibri"/>
                <a:ea typeface="Calibri"/>
                <a:cs typeface="Calibri"/>
              </a:rPr>
              <a:t> and other informal records, while maintaining a chain of custody compliant with Section 63 of the (BSA), 2023.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b="1" dirty="0">
                <a:solidFill>
                  <a:srgbClr val="1B2A49"/>
                </a:solidFill>
                <a:latin typeface="Calibri"/>
                <a:ea typeface="Calibri"/>
                <a:cs typeface="Calibri"/>
              </a:rPr>
              <a:t>Digital Search &amp; Seizure Toolkit : </a:t>
            </a:r>
            <a:r>
              <a:rPr lang="en-US" sz="2133" dirty="0">
                <a:solidFill>
                  <a:srgbClr val="2C3D50"/>
                </a:solidFill>
                <a:latin typeface="Calibri"/>
                <a:ea typeface="Calibri"/>
                <a:cs typeface="Calibri"/>
              </a:rPr>
              <a:t>Technology-enabled investigation framework for digital evidence collection, data extraction, document analysis, and forensic examination during search and seizure operations.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b="1" dirty="0">
                <a:solidFill>
                  <a:srgbClr val="1B2A49"/>
                </a:solidFill>
                <a:latin typeface="Calibri"/>
                <a:ea typeface="Calibri"/>
                <a:cs typeface="Calibri"/>
              </a:rPr>
              <a:t>Proposal Submitted to Finance Department : </a:t>
            </a:r>
            <a:r>
              <a:rPr lang="en-US" sz="2133" dirty="0">
                <a:solidFill>
                  <a:srgbClr val="2C3D50"/>
                </a:solidFill>
                <a:latin typeface="Calibri"/>
                <a:ea typeface="Calibri"/>
                <a:cs typeface="Calibri"/>
              </a:rPr>
              <a:t>Proposal for establishment of specialized investigation capabilities and deployment of digital enforcement tools has already been submitted for approval.</a:t>
            </a:r>
            <a:endParaRPr sz="2133" dirty="0">
              <a:solidFill>
                <a:srgbClr val="2C3D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98674" marR="6773" indent="-208275">
              <a:spcBef>
                <a:spcPts val="800"/>
              </a:spcBef>
              <a:buSzPts val="1600"/>
            </a:pPr>
            <a:endParaRPr sz="2133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7" name="Google Shape;647;p36"/>
          <p:cNvGrpSpPr/>
          <p:nvPr/>
        </p:nvGrpSpPr>
        <p:grpSpPr>
          <a:xfrm>
            <a:off x="8988304" y="3605084"/>
            <a:ext cx="3116531" cy="2403233"/>
            <a:chOff x="5966459" y="3051810"/>
            <a:chExt cx="2812034" cy="1577339"/>
          </a:xfrm>
        </p:grpSpPr>
        <p:sp>
          <p:nvSpPr>
            <p:cNvPr id="648" name="Google Shape;648;p36"/>
            <p:cNvSpPr/>
            <p:nvPr/>
          </p:nvSpPr>
          <p:spPr>
            <a:xfrm>
              <a:off x="6021323" y="3051810"/>
              <a:ext cx="2757170" cy="1577339"/>
            </a:xfrm>
            <a:custGeom>
              <a:avLst/>
              <a:gdLst/>
              <a:ahLst/>
              <a:cxnLst/>
              <a:rect l="l" t="t" r="r" b="b"/>
              <a:pathLst>
                <a:path w="2757170" h="1577339" extrusionOk="0">
                  <a:moveTo>
                    <a:pt x="0" y="1577339"/>
                  </a:moveTo>
                  <a:lnTo>
                    <a:pt x="2756916" y="1577339"/>
                  </a:lnTo>
                  <a:lnTo>
                    <a:pt x="2756916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F4F8F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649" name="Google Shape;649;p36"/>
            <p:cNvSpPr/>
            <p:nvPr/>
          </p:nvSpPr>
          <p:spPr>
            <a:xfrm>
              <a:off x="5966459" y="3051810"/>
              <a:ext cx="2811779" cy="1577339"/>
            </a:xfrm>
            <a:custGeom>
              <a:avLst/>
              <a:gdLst/>
              <a:ahLst/>
              <a:cxnLst/>
              <a:rect l="l" t="t" r="r" b="b"/>
              <a:pathLst>
                <a:path w="2811779" h="1577339" extrusionOk="0">
                  <a:moveTo>
                    <a:pt x="0" y="1577339"/>
                  </a:moveTo>
                  <a:lnTo>
                    <a:pt x="2811780" y="1577339"/>
                  </a:lnTo>
                  <a:lnTo>
                    <a:pt x="2811780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650" name="Google Shape;650;p36"/>
            <p:cNvSpPr/>
            <p:nvPr/>
          </p:nvSpPr>
          <p:spPr>
            <a:xfrm>
              <a:off x="5966459" y="3051810"/>
              <a:ext cx="55245" cy="1577339"/>
            </a:xfrm>
            <a:custGeom>
              <a:avLst/>
              <a:gdLst/>
              <a:ahLst/>
              <a:cxnLst/>
              <a:rect l="l" t="t" r="r" b="b"/>
              <a:pathLst>
                <a:path w="55245" h="1577339" extrusionOk="0">
                  <a:moveTo>
                    <a:pt x="54863" y="0"/>
                  </a:moveTo>
                  <a:lnTo>
                    <a:pt x="0" y="0"/>
                  </a:lnTo>
                  <a:lnTo>
                    <a:pt x="0" y="1577339"/>
                  </a:lnTo>
                  <a:lnTo>
                    <a:pt x="54863" y="1577339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5A8F6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651" name="Google Shape;651;p36"/>
            <p:cNvSpPr/>
            <p:nvPr/>
          </p:nvSpPr>
          <p:spPr>
            <a:xfrm>
              <a:off x="5966459" y="3051810"/>
              <a:ext cx="55245" cy="1577339"/>
            </a:xfrm>
            <a:custGeom>
              <a:avLst/>
              <a:gdLst/>
              <a:ahLst/>
              <a:cxnLst/>
              <a:rect l="l" t="t" r="r" b="b"/>
              <a:pathLst>
                <a:path w="55245" h="1577339" extrusionOk="0">
                  <a:moveTo>
                    <a:pt x="0" y="1577339"/>
                  </a:moveTo>
                  <a:lnTo>
                    <a:pt x="54863" y="1577339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C8A84B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652" name="Google Shape;652;p36"/>
          <p:cNvSpPr txBox="1"/>
          <p:nvPr/>
        </p:nvSpPr>
        <p:spPr>
          <a:xfrm>
            <a:off x="9108760" y="3978235"/>
            <a:ext cx="2995793" cy="1363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033" rIns="0" bIns="0" anchor="t" anchorCtr="0">
            <a:spAutoFit/>
          </a:bodyPr>
          <a:lstStyle/>
          <a:p>
            <a:pPr marL="148163"/>
            <a:r>
              <a:rPr lang="en-US" sz="1600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E x p e c t e d o u t c o m e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148163">
              <a:spcBef>
                <a:spcPts val="300"/>
              </a:spcBef>
            </a:pPr>
            <a:r>
              <a:rPr lang="en-US" sz="1600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Visible arrests / prosecutions break the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>
                <a:solidFill>
                  <a:srgbClr val="2C3D50"/>
                </a:solidFill>
                <a:latin typeface="Calibri"/>
                <a:ea typeface="Calibri"/>
                <a:cs typeface="Calibri"/>
                <a:sym typeface="Calibri"/>
              </a:rPr>
              <a:t>low-risk-high-reward perception.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148163" marR="33019">
              <a:spcBef>
                <a:spcPts val="300"/>
              </a:spcBef>
            </a:pPr>
            <a:endParaRPr sz="1600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3" name="Google Shape;653;p36"/>
          <p:cNvGrpSpPr/>
          <p:nvPr/>
        </p:nvGrpSpPr>
        <p:grpSpPr>
          <a:xfrm>
            <a:off x="8926285" y="1225068"/>
            <a:ext cx="3178839" cy="1366817"/>
            <a:chOff x="5966459" y="3051810"/>
            <a:chExt cx="2812034" cy="1577339"/>
          </a:xfrm>
        </p:grpSpPr>
        <p:sp>
          <p:nvSpPr>
            <p:cNvPr id="654" name="Google Shape;654;p36"/>
            <p:cNvSpPr/>
            <p:nvPr/>
          </p:nvSpPr>
          <p:spPr>
            <a:xfrm>
              <a:off x="6021323" y="3051810"/>
              <a:ext cx="2757170" cy="1577339"/>
            </a:xfrm>
            <a:custGeom>
              <a:avLst/>
              <a:gdLst/>
              <a:ahLst/>
              <a:cxnLst/>
              <a:rect l="l" t="t" r="r" b="b"/>
              <a:pathLst>
                <a:path w="2757170" h="1577339" extrusionOk="0">
                  <a:moveTo>
                    <a:pt x="0" y="1577339"/>
                  </a:moveTo>
                  <a:lnTo>
                    <a:pt x="2756916" y="1577339"/>
                  </a:lnTo>
                  <a:lnTo>
                    <a:pt x="2756916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F4F8FA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655" name="Google Shape;655;p36"/>
            <p:cNvSpPr/>
            <p:nvPr/>
          </p:nvSpPr>
          <p:spPr>
            <a:xfrm>
              <a:off x="5966459" y="3051810"/>
              <a:ext cx="2811779" cy="1577339"/>
            </a:xfrm>
            <a:custGeom>
              <a:avLst/>
              <a:gdLst/>
              <a:ahLst/>
              <a:cxnLst/>
              <a:rect l="l" t="t" r="r" b="b"/>
              <a:pathLst>
                <a:path w="2811779" h="1577339" extrusionOk="0">
                  <a:moveTo>
                    <a:pt x="0" y="1577339"/>
                  </a:moveTo>
                  <a:lnTo>
                    <a:pt x="2811780" y="1577339"/>
                  </a:lnTo>
                  <a:lnTo>
                    <a:pt x="2811780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656" name="Google Shape;656;p36"/>
            <p:cNvSpPr/>
            <p:nvPr/>
          </p:nvSpPr>
          <p:spPr>
            <a:xfrm>
              <a:off x="5966459" y="3051810"/>
              <a:ext cx="55245" cy="1577339"/>
            </a:xfrm>
            <a:custGeom>
              <a:avLst/>
              <a:gdLst/>
              <a:ahLst/>
              <a:cxnLst/>
              <a:rect l="l" t="t" r="r" b="b"/>
              <a:pathLst>
                <a:path w="55245" h="1577339" extrusionOk="0">
                  <a:moveTo>
                    <a:pt x="54863" y="0"/>
                  </a:moveTo>
                  <a:lnTo>
                    <a:pt x="0" y="0"/>
                  </a:lnTo>
                  <a:lnTo>
                    <a:pt x="0" y="1577339"/>
                  </a:lnTo>
                  <a:lnTo>
                    <a:pt x="54863" y="1577339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5A8F6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657" name="Google Shape;657;p36"/>
            <p:cNvSpPr/>
            <p:nvPr/>
          </p:nvSpPr>
          <p:spPr>
            <a:xfrm>
              <a:off x="5966459" y="3051810"/>
              <a:ext cx="55245" cy="1577339"/>
            </a:xfrm>
            <a:custGeom>
              <a:avLst/>
              <a:gdLst/>
              <a:ahLst/>
              <a:cxnLst/>
              <a:rect l="l" t="t" r="r" b="b"/>
              <a:pathLst>
                <a:path w="55245" h="1577339" extrusionOk="0">
                  <a:moveTo>
                    <a:pt x="0" y="1577339"/>
                  </a:moveTo>
                  <a:lnTo>
                    <a:pt x="54863" y="1577339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1577339"/>
                  </a:lnTo>
                  <a:close/>
                </a:path>
              </a:pathLst>
            </a:custGeom>
            <a:solidFill>
              <a:srgbClr val="C8A84B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658" name="Google Shape;658;p36"/>
          <p:cNvSpPr txBox="1"/>
          <p:nvPr/>
        </p:nvSpPr>
        <p:spPr>
          <a:xfrm>
            <a:off x="9108445" y="1261301"/>
            <a:ext cx="3069200" cy="1027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33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Addresses following diagnostic points</a:t>
            </a:r>
            <a:endParaRPr sz="2400" dirty="0"/>
          </a:p>
          <a:p>
            <a:pPr marL="228594" indent="-228594">
              <a:spcBef>
                <a:spcPts val="133"/>
              </a:spcBef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B2C Ratio anomaly</a:t>
            </a:r>
            <a:endParaRPr sz="2400" dirty="0"/>
          </a:p>
          <a:p>
            <a:pPr marL="228594" indent="-228594">
              <a:spcBef>
                <a:spcPts val="133"/>
              </a:spcBef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 band and cash anomaly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>
          <a:extLst>
            <a:ext uri="{FF2B5EF4-FFF2-40B4-BE49-F238E27FC236}">
              <a16:creationId xmlns:a16="http://schemas.microsoft.com/office/drawing/2014/main" id="{8C87EC88-B83A-EC5C-CBB5-AA2B00A1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6">
            <a:extLst>
              <a:ext uri="{FF2B5EF4-FFF2-40B4-BE49-F238E27FC236}">
                <a16:creationId xmlns:a16="http://schemas.microsoft.com/office/drawing/2014/main" id="{45E36ECD-CF18-A680-BA18-EB272FEE2FDC}"/>
              </a:ext>
            </a:extLst>
          </p:cNvPr>
          <p:cNvGrpSpPr/>
          <p:nvPr/>
        </p:nvGrpSpPr>
        <p:grpSpPr>
          <a:xfrm>
            <a:off x="-1" y="-83"/>
            <a:ext cx="12388241" cy="814276"/>
            <a:chOff x="0" y="-63"/>
            <a:chExt cx="9144000" cy="832511"/>
          </a:xfrm>
        </p:grpSpPr>
        <p:sp>
          <p:nvSpPr>
            <p:cNvPr id="640" name="Google Shape;640;p36">
              <a:extLst>
                <a:ext uri="{FF2B5EF4-FFF2-40B4-BE49-F238E27FC236}">
                  <a16:creationId xmlns:a16="http://schemas.microsoft.com/office/drawing/2014/main" id="{E0A42B10-AD08-6664-35C7-EF9F8B2ACD92}"/>
                </a:ext>
              </a:extLst>
            </p:cNvPr>
            <p:cNvSpPr/>
            <p:nvPr/>
          </p:nvSpPr>
          <p:spPr>
            <a:xfrm>
              <a:off x="0" y="-63"/>
              <a:ext cx="9144000" cy="777875"/>
            </a:xfrm>
            <a:custGeom>
              <a:avLst/>
              <a:gdLst/>
              <a:ahLst/>
              <a:cxnLst/>
              <a:rect l="l" t="t" r="r" b="b"/>
              <a:pathLst>
                <a:path w="9144000" h="77787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777303"/>
                  </a:lnTo>
                  <a:lnTo>
                    <a:pt x="9144000" y="77730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2A4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641" name="Google Shape;641;p36">
              <a:extLst>
                <a:ext uri="{FF2B5EF4-FFF2-40B4-BE49-F238E27FC236}">
                  <a16:creationId xmlns:a16="http://schemas.microsoft.com/office/drawing/2014/main" id="{E2D72B20-5E2A-6751-6DB0-5B6C5DD07456}"/>
                </a:ext>
              </a:extLst>
            </p:cNvPr>
            <p:cNvSpPr/>
            <p:nvPr/>
          </p:nvSpPr>
          <p:spPr>
            <a:xfrm>
              <a:off x="0" y="-63"/>
              <a:ext cx="9144000" cy="777875"/>
            </a:xfrm>
            <a:custGeom>
              <a:avLst/>
              <a:gdLst/>
              <a:ahLst/>
              <a:cxnLst/>
              <a:rect l="l" t="t" r="r" b="b"/>
              <a:pathLst>
                <a:path w="9144000" h="777875" extrusionOk="0">
                  <a:moveTo>
                    <a:pt x="0" y="777303"/>
                  </a:moveTo>
                  <a:lnTo>
                    <a:pt x="9144000" y="77730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77303"/>
                  </a:lnTo>
                  <a:close/>
                </a:path>
              </a:pathLst>
            </a:custGeom>
            <a:solidFill>
              <a:srgbClr val="1B2A49"/>
            </a:solidFill>
            <a:ln w="12700" cap="flat" cmpd="sng">
              <a:solidFill>
                <a:srgbClr val="1B2A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642" name="Google Shape;642;p36">
              <a:extLst>
                <a:ext uri="{FF2B5EF4-FFF2-40B4-BE49-F238E27FC236}">
                  <a16:creationId xmlns:a16="http://schemas.microsoft.com/office/drawing/2014/main" id="{374834A9-CBDE-8000-E193-7BEB84196B41}"/>
                </a:ext>
              </a:extLst>
            </p:cNvPr>
            <p:cNvSpPr/>
            <p:nvPr/>
          </p:nvSpPr>
          <p:spPr>
            <a:xfrm>
              <a:off x="0" y="77720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54899"/>
                  </a:lnTo>
                  <a:lnTo>
                    <a:pt x="9144000" y="548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2A4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643" name="Google Shape;643;p36">
              <a:extLst>
                <a:ext uri="{FF2B5EF4-FFF2-40B4-BE49-F238E27FC236}">
                  <a16:creationId xmlns:a16="http://schemas.microsoft.com/office/drawing/2014/main" id="{71DE34FA-D69A-1640-1D6E-9962933AC79D}"/>
                </a:ext>
              </a:extLst>
            </p:cNvPr>
            <p:cNvSpPr/>
            <p:nvPr/>
          </p:nvSpPr>
          <p:spPr>
            <a:xfrm>
              <a:off x="0" y="77720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54899"/>
                  </a:moveTo>
                  <a:lnTo>
                    <a:pt x="9144000" y="5489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899"/>
                  </a:lnTo>
                  <a:close/>
                </a:path>
              </a:pathLst>
            </a:custGeom>
            <a:solidFill>
              <a:srgbClr val="1B2A49"/>
            </a:solidFill>
            <a:ln w="12700" cap="flat" cmpd="sng">
              <a:solidFill>
                <a:srgbClr val="C8A8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644" name="Google Shape;644;p36">
            <a:extLst>
              <a:ext uri="{FF2B5EF4-FFF2-40B4-BE49-F238E27FC236}">
                <a16:creationId xmlns:a16="http://schemas.microsoft.com/office/drawing/2014/main" id="{63D8AB89-0393-38F6-DC0F-F1AC4330FB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2667" y="212682"/>
            <a:ext cx="11145600" cy="509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33" rIns="0" bIns="0" anchor="t" anchorCtr="0">
            <a:spAutoFit/>
          </a:bodyPr>
          <a:lstStyle/>
          <a:p>
            <a:pPr marL="16933"/>
            <a:r>
              <a:rPr lang="en-US" sz="3200" dirty="0">
                <a:solidFill>
                  <a:schemeClr val="lt1"/>
                </a:solidFill>
              </a:rPr>
              <a:t>CS </a:t>
            </a:r>
            <a:r>
              <a:rPr lang="en-IN" sz="3200" dirty="0">
                <a:solidFill>
                  <a:schemeClr val="lt1"/>
                </a:solidFill>
              </a:rPr>
              <a:t>meeting with Secretary Revenue</a:t>
            </a:r>
            <a:endParaRPr sz="3200" dirty="0">
              <a:solidFill>
                <a:schemeClr val="lt1"/>
              </a:solidFill>
            </a:endParaRPr>
          </a:p>
        </p:txBody>
      </p:sp>
      <p:sp>
        <p:nvSpPr>
          <p:cNvPr id="646" name="Google Shape;646;p36">
            <a:extLst>
              <a:ext uri="{FF2B5EF4-FFF2-40B4-BE49-F238E27FC236}">
                <a16:creationId xmlns:a16="http://schemas.microsoft.com/office/drawing/2014/main" id="{F86C7DA3-52BC-B70D-5EBE-3ECC294C97A1}"/>
              </a:ext>
            </a:extLst>
          </p:cNvPr>
          <p:cNvSpPr txBox="1"/>
          <p:nvPr/>
        </p:nvSpPr>
        <p:spPr>
          <a:xfrm>
            <a:off x="213361" y="852129"/>
            <a:ext cx="12056612" cy="100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219281" algn="just"/>
            <a:r>
              <a:rPr lang="en-US" sz="2133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Point 1 : </a:t>
            </a:r>
            <a:r>
              <a:rPr lang="en-IN" dirty="0"/>
              <a:t>The note mentions that </a:t>
            </a:r>
            <a:r>
              <a:rPr lang="en-IN" b="1" dirty="0"/>
              <a:t>Rajasthan's B2C ratio is approximately 7</a:t>
            </a:r>
            <a:r>
              <a:rPr lang="en-IN" dirty="0"/>
              <a:t>, against a normal benchmark ratio of </a:t>
            </a:r>
            <a:r>
              <a:rPr lang="en-IN" b="1" dirty="0"/>
              <a:t>4.5</a:t>
            </a:r>
            <a:r>
              <a:rPr lang="en-IN" dirty="0"/>
              <a:t>.</a:t>
            </a:r>
          </a:p>
          <a:p>
            <a:r>
              <a:rPr lang="en-IN" dirty="0"/>
              <a:t>To verify this observation, detailed data was requested from </a:t>
            </a:r>
            <a:r>
              <a:rPr lang="en-IN" b="1" dirty="0"/>
              <a:t>GSTN</a:t>
            </a:r>
            <a:r>
              <a:rPr lang="en-IN" dirty="0"/>
              <a:t> regarding </a:t>
            </a:r>
            <a:r>
              <a:rPr lang="en-IN" b="1" dirty="0"/>
              <a:t>Domestic Supply and B2C Supply reported in GSTR-1</a:t>
            </a:r>
            <a:r>
              <a:rPr lang="en-IN" dirty="0"/>
              <a:t> for Rajasthan as well as for All India.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639B4A-F6BA-B5D9-CF00-774E40EB3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333982"/>
              </p:ext>
            </p:extLst>
          </p:nvPr>
        </p:nvGraphicFramePr>
        <p:xfrm>
          <a:off x="363363" y="2098309"/>
          <a:ext cx="5759202" cy="4075005"/>
        </p:xfrm>
        <a:graphic>
          <a:graphicData uri="http://schemas.openxmlformats.org/drawingml/2006/table">
            <a:tbl>
              <a:tblPr/>
              <a:tblGrid>
                <a:gridCol w="974287">
                  <a:extLst>
                    <a:ext uri="{9D8B030D-6E8A-4147-A177-3AD203B41FA5}">
                      <a16:colId xmlns:a16="http://schemas.microsoft.com/office/drawing/2014/main" val="2814509864"/>
                    </a:ext>
                  </a:extLst>
                </a:gridCol>
                <a:gridCol w="1546069">
                  <a:extLst>
                    <a:ext uri="{9D8B030D-6E8A-4147-A177-3AD203B41FA5}">
                      <a16:colId xmlns:a16="http://schemas.microsoft.com/office/drawing/2014/main" val="592182426"/>
                    </a:ext>
                  </a:extLst>
                </a:gridCol>
                <a:gridCol w="1884625">
                  <a:extLst>
                    <a:ext uri="{9D8B030D-6E8A-4147-A177-3AD203B41FA5}">
                      <a16:colId xmlns:a16="http://schemas.microsoft.com/office/drawing/2014/main" val="2543260656"/>
                    </a:ext>
                  </a:extLst>
                </a:gridCol>
                <a:gridCol w="1354221">
                  <a:extLst>
                    <a:ext uri="{9D8B030D-6E8A-4147-A177-3AD203B41FA5}">
                      <a16:colId xmlns:a16="http://schemas.microsoft.com/office/drawing/2014/main" val="487293911"/>
                    </a:ext>
                  </a:extLst>
                </a:gridCol>
              </a:tblGrid>
              <a:tr h="331085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All India Financial Year wise Domestic supply and B2C supply declared in GST-R1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06894"/>
                  </a:ext>
                </a:extLst>
              </a:tr>
              <a:tr h="3310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Financial year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B2C Supply (in Cr.)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Domestic Supply (in Cr.)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%age of B2c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97516"/>
                  </a:ext>
                </a:extLst>
              </a:tr>
              <a:tr h="3310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2017-2018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32,03,149.70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1,68,31,561.66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19.03%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768476"/>
                  </a:ext>
                </a:extLst>
              </a:tr>
              <a:tr h="3310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2018-2019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48,64,369.10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2,60,84,624.77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18.65%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508940"/>
                  </a:ext>
                </a:extLst>
              </a:tr>
              <a:tr h="3310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2019-2020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49,56,674.65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2,61,51,869.40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18.95%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290168"/>
                  </a:ext>
                </a:extLst>
              </a:tr>
              <a:tr h="3310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2020-2021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46,76,537.97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2,61,05,687.42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17.91%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861257"/>
                  </a:ext>
                </a:extLst>
              </a:tr>
              <a:tr h="3310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2021-2022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58,34,371.10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3,44,32,704.92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16.94%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917460"/>
                  </a:ext>
                </a:extLst>
              </a:tr>
              <a:tr h="3310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2022-2023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69,44,319.61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4,07,16,149.24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17.06%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294857"/>
                  </a:ext>
                </a:extLst>
              </a:tr>
              <a:tr h="3310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2023-2024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76,38,258.07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4,44,21,758.61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364674"/>
                  </a:ext>
                </a:extLst>
              </a:tr>
              <a:tr h="3310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2024-2025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82,65,464.89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4,95,14,287.09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16.69%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44038"/>
                  </a:ext>
                </a:extLst>
              </a:tr>
              <a:tr h="3310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2025-2026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91,56,046.95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5,67,43,999.87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70023"/>
                  </a:ext>
                </a:extLst>
              </a:tr>
              <a:tr h="3310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5,55,39,192.04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32,10,02,642.96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17.30%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84767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9314E1E-1542-C29B-9A4B-C48D93EC2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257941"/>
              </p:ext>
            </p:extLst>
          </p:nvPr>
        </p:nvGraphicFramePr>
        <p:xfrm>
          <a:off x="6331481" y="2075157"/>
          <a:ext cx="5471795" cy="4130011"/>
        </p:xfrm>
        <a:graphic>
          <a:graphicData uri="http://schemas.openxmlformats.org/drawingml/2006/table">
            <a:tbl>
              <a:tblPr/>
              <a:tblGrid>
                <a:gridCol w="1142802">
                  <a:extLst>
                    <a:ext uri="{9D8B030D-6E8A-4147-A177-3AD203B41FA5}">
                      <a16:colId xmlns:a16="http://schemas.microsoft.com/office/drawing/2014/main" val="3380436217"/>
                    </a:ext>
                  </a:extLst>
                </a:gridCol>
                <a:gridCol w="1414993">
                  <a:extLst>
                    <a:ext uri="{9D8B030D-6E8A-4147-A177-3AD203B41FA5}">
                      <a16:colId xmlns:a16="http://schemas.microsoft.com/office/drawing/2014/main" val="3419039631"/>
                    </a:ext>
                  </a:extLst>
                </a:gridCol>
                <a:gridCol w="1459210">
                  <a:extLst>
                    <a:ext uri="{9D8B030D-6E8A-4147-A177-3AD203B41FA5}">
                      <a16:colId xmlns:a16="http://schemas.microsoft.com/office/drawing/2014/main" val="2228279328"/>
                    </a:ext>
                  </a:extLst>
                </a:gridCol>
                <a:gridCol w="1454790">
                  <a:extLst>
                    <a:ext uri="{9D8B030D-6E8A-4147-A177-3AD203B41FA5}">
                      <a16:colId xmlns:a16="http://schemas.microsoft.com/office/drawing/2014/main" val="1965794500"/>
                    </a:ext>
                  </a:extLst>
                </a:gridCol>
              </a:tblGrid>
              <a:tr h="30930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Rajasthan Financial Year wise Domestic supply and B2C supply declared in GST-R1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517428"/>
                  </a:ext>
                </a:extLst>
              </a:tr>
              <a:tr h="276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Financial year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B2C Supply (in Cr.)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Domestic Supply (in Cr.)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%age of B2c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760808"/>
                  </a:ext>
                </a:extLst>
              </a:tr>
              <a:tr h="3387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2017-2018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1,30,026.52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6,84,188.69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960357"/>
                  </a:ext>
                </a:extLst>
              </a:tr>
              <a:tr h="3387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2018-2019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1,95,779.32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10,53,037.60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18.59%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103208"/>
                  </a:ext>
                </a:extLst>
              </a:tr>
              <a:tr h="3387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2019-2020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2,00,408.75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10,52,293.59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19.04%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866190"/>
                  </a:ext>
                </a:extLst>
              </a:tr>
              <a:tr h="3387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2020-2021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1,97,259.29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10,86,096.29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244551"/>
                  </a:ext>
                </a:extLst>
              </a:tr>
              <a:tr h="3387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2021-2022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2,50,554.61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14,41,519.98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17.38%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658687"/>
                  </a:ext>
                </a:extLst>
              </a:tr>
              <a:tr h="3387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2022-2023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2,94,465.25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16,83,652.64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17.49%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104890"/>
                  </a:ext>
                </a:extLst>
              </a:tr>
              <a:tr h="3387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2023-2024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3,22,295.26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18,10,576.38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17.80%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221256"/>
                  </a:ext>
                </a:extLst>
              </a:tr>
              <a:tr h="3387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2024-2025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3,47,704.04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19,95,807.53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17.42%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854662"/>
                  </a:ext>
                </a:extLst>
              </a:tr>
              <a:tr h="3387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2025-2026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3,84,975.90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22,50,953.39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588517"/>
                  </a:ext>
                </a:extLst>
              </a:tr>
              <a:tr h="3387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23,23,468.94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1,30,58,126.10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17.79%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712378"/>
                  </a:ext>
                </a:extLst>
              </a:tr>
            </a:tbl>
          </a:graphicData>
        </a:graphic>
      </p:graphicFrame>
      <p:sp>
        <p:nvSpPr>
          <p:cNvPr id="8" name="Google Shape;646;p36">
            <a:extLst>
              <a:ext uri="{FF2B5EF4-FFF2-40B4-BE49-F238E27FC236}">
                <a16:creationId xmlns:a16="http://schemas.microsoft.com/office/drawing/2014/main" id="{FB51D881-2D8E-AF0F-F39D-FA438E6E5784}"/>
              </a:ext>
            </a:extLst>
          </p:cNvPr>
          <p:cNvSpPr txBox="1"/>
          <p:nvPr/>
        </p:nvSpPr>
        <p:spPr>
          <a:xfrm>
            <a:off x="432306" y="6186193"/>
            <a:ext cx="11731245" cy="6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IN" sz="1600" b="1" dirty="0"/>
              <a:t>Conclusion</a:t>
            </a:r>
            <a:r>
              <a:rPr lang="en-IN" sz="2000" b="1" dirty="0"/>
              <a:t> : </a:t>
            </a:r>
            <a:r>
              <a:rPr lang="en-IN" sz="1600" dirty="0"/>
              <a:t>Based on the data provided by GSTN, </a:t>
            </a:r>
            <a:r>
              <a:rPr lang="en-IN" sz="1600" b="1" dirty="0">
                <a:solidFill>
                  <a:srgbClr val="FF0000"/>
                </a:solidFill>
              </a:rPr>
              <a:t>no significant difference is observed</a:t>
            </a:r>
            <a:r>
              <a:rPr lang="en-IN" sz="1600" dirty="0"/>
              <a:t> in the proportion of B2C supplies reported by Rajasthan when compared with the All India trend.</a:t>
            </a:r>
          </a:p>
        </p:txBody>
      </p:sp>
    </p:spTree>
    <p:extLst>
      <p:ext uri="{BB962C8B-B14F-4D97-AF65-F5344CB8AC3E}">
        <p14:creationId xmlns:p14="http://schemas.microsoft.com/office/powerpoint/2010/main" val="2556406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>
          <a:extLst>
            <a:ext uri="{FF2B5EF4-FFF2-40B4-BE49-F238E27FC236}">
              <a16:creationId xmlns:a16="http://schemas.microsoft.com/office/drawing/2014/main" id="{51080C32-B64D-6DE4-B9BE-1079C0B50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6">
            <a:extLst>
              <a:ext uri="{FF2B5EF4-FFF2-40B4-BE49-F238E27FC236}">
                <a16:creationId xmlns:a16="http://schemas.microsoft.com/office/drawing/2014/main" id="{4BA4D508-56F5-4027-4E92-9B4E52704740}"/>
              </a:ext>
            </a:extLst>
          </p:cNvPr>
          <p:cNvGrpSpPr/>
          <p:nvPr/>
        </p:nvGrpSpPr>
        <p:grpSpPr>
          <a:xfrm>
            <a:off x="0" y="-84"/>
            <a:ext cx="12192000" cy="1110015"/>
            <a:chOff x="0" y="-63"/>
            <a:chExt cx="9144000" cy="832511"/>
          </a:xfrm>
        </p:grpSpPr>
        <p:sp>
          <p:nvSpPr>
            <p:cNvPr id="640" name="Google Shape;640;p36">
              <a:extLst>
                <a:ext uri="{FF2B5EF4-FFF2-40B4-BE49-F238E27FC236}">
                  <a16:creationId xmlns:a16="http://schemas.microsoft.com/office/drawing/2014/main" id="{D8D9C495-7327-689C-E05B-508D46D644E2}"/>
                </a:ext>
              </a:extLst>
            </p:cNvPr>
            <p:cNvSpPr/>
            <p:nvPr/>
          </p:nvSpPr>
          <p:spPr>
            <a:xfrm>
              <a:off x="0" y="-63"/>
              <a:ext cx="9144000" cy="777875"/>
            </a:xfrm>
            <a:custGeom>
              <a:avLst/>
              <a:gdLst/>
              <a:ahLst/>
              <a:cxnLst/>
              <a:rect l="l" t="t" r="r" b="b"/>
              <a:pathLst>
                <a:path w="9144000" h="77787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777303"/>
                  </a:lnTo>
                  <a:lnTo>
                    <a:pt x="9144000" y="77730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2A4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641" name="Google Shape;641;p36">
              <a:extLst>
                <a:ext uri="{FF2B5EF4-FFF2-40B4-BE49-F238E27FC236}">
                  <a16:creationId xmlns:a16="http://schemas.microsoft.com/office/drawing/2014/main" id="{290300B1-B0EB-BA17-7C11-FDA98F858697}"/>
                </a:ext>
              </a:extLst>
            </p:cNvPr>
            <p:cNvSpPr/>
            <p:nvPr/>
          </p:nvSpPr>
          <p:spPr>
            <a:xfrm>
              <a:off x="0" y="-63"/>
              <a:ext cx="9144000" cy="777875"/>
            </a:xfrm>
            <a:custGeom>
              <a:avLst/>
              <a:gdLst/>
              <a:ahLst/>
              <a:cxnLst/>
              <a:rect l="l" t="t" r="r" b="b"/>
              <a:pathLst>
                <a:path w="9144000" h="777875" extrusionOk="0">
                  <a:moveTo>
                    <a:pt x="0" y="777303"/>
                  </a:moveTo>
                  <a:lnTo>
                    <a:pt x="9144000" y="77730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77303"/>
                  </a:lnTo>
                  <a:close/>
                </a:path>
              </a:pathLst>
            </a:custGeom>
            <a:solidFill>
              <a:srgbClr val="1B2A49"/>
            </a:solidFill>
            <a:ln w="12700" cap="flat" cmpd="sng">
              <a:solidFill>
                <a:srgbClr val="1B2A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642" name="Google Shape;642;p36">
              <a:extLst>
                <a:ext uri="{FF2B5EF4-FFF2-40B4-BE49-F238E27FC236}">
                  <a16:creationId xmlns:a16="http://schemas.microsoft.com/office/drawing/2014/main" id="{25B9F49D-B34A-55DC-2DB3-A3CEAA224DBF}"/>
                </a:ext>
              </a:extLst>
            </p:cNvPr>
            <p:cNvSpPr/>
            <p:nvPr/>
          </p:nvSpPr>
          <p:spPr>
            <a:xfrm>
              <a:off x="0" y="77720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54899"/>
                  </a:lnTo>
                  <a:lnTo>
                    <a:pt x="9144000" y="548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2A4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643" name="Google Shape;643;p36">
              <a:extLst>
                <a:ext uri="{FF2B5EF4-FFF2-40B4-BE49-F238E27FC236}">
                  <a16:creationId xmlns:a16="http://schemas.microsoft.com/office/drawing/2014/main" id="{B34EFE1B-202E-9DA6-EE75-DD57E3CC658B}"/>
                </a:ext>
              </a:extLst>
            </p:cNvPr>
            <p:cNvSpPr/>
            <p:nvPr/>
          </p:nvSpPr>
          <p:spPr>
            <a:xfrm>
              <a:off x="0" y="77720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54899"/>
                  </a:moveTo>
                  <a:lnTo>
                    <a:pt x="9144000" y="5489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899"/>
                  </a:lnTo>
                  <a:close/>
                </a:path>
              </a:pathLst>
            </a:custGeom>
            <a:solidFill>
              <a:srgbClr val="1B2A49"/>
            </a:solidFill>
            <a:ln w="12700" cap="flat" cmpd="sng">
              <a:solidFill>
                <a:srgbClr val="C8A8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644" name="Google Shape;644;p36">
            <a:extLst>
              <a:ext uri="{FF2B5EF4-FFF2-40B4-BE49-F238E27FC236}">
                <a16:creationId xmlns:a16="http://schemas.microsoft.com/office/drawing/2014/main" id="{FD278968-0A99-EBAF-8A11-D080DF3E20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2667" y="212682"/>
            <a:ext cx="11145600" cy="509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33" rIns="0" bIns="0" anchor="t" anchorCtr="0">
            <a:spAutoFit/>
          </a:bodyPr>
          <a:lstStyle/>
          <a:p>
            <a:pPr marL="16933"/>
            <a:r>
              <a:rPr lang="en-US" sz="3200" dirty="0">
                <a:solidFill>
                  <a:schemeClr val="lt1"/>
                </a:solidFill>
              </a:rPr>
              <a:t>CS </a:t>
            </a:r>
            <a:r>
              <a:rPr lang="en-IN" sz="3200" dirty="0">
                <a:solidFill>
                  <a:schemeClr val="lt1"/>
                </a:solidFill>
              </a:rPr>
              <a:t>meeting with Secretary Revenue</a:t>
            </a:r>
            <a:endParaRPr sz="3200" dirty="0">
              <a:solidFill>
                <a:schemeClr val="lt1"/>
              </a:solidFill>
            </a:endParaRPr>
          </a:p>
        </p:txBody>
      </p:sp>
      <p:sp>
        <p:nvSpPr>
          <p:cNvPr id="646" name="Google Shape;646;p36">
            <a:extLst>
              <a:ext uri="{FF2B5EF4-FFF2-40B4-BE49-F238E27FC236}">
                <a16:creationId xmlns:a16="http://schemas.microsoft.com/office/drawing/2014/main" id="{F5FDAA85-C769-9258-CC85-06015178BC22}"/>
              </a:ext>
            </a:extLst>
          </p:cNvPr>
          <p:cNvSpPr txBox="1"/>
          <p:nvPr/>
        </p:nvSpPr>
        <p:spPr>
          <a:xfrm>
            <a:off x="538728" y="1043274"/>
            <a:ext cx="11288314" cy="46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219281" algn="just">
              <a:spcAft>
                <a:spcPts val="1200"/>
              </a:spcAft>
            </a:pPr>
            <a:r>
              <a:rPr lang="en-US" sz="2000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Point</a:t>
            </a:r>
            <a:r>
              <a:rPr lang="en-US" sz="2800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800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000" dirty="0"/>
              <a:t>The note further mentions that an </a:t>
            </a:r>
            <a:r>
              <a:rPr lang="en-IN" sz="2000" b="1" dirty="0"/>
              <a:t>anomaly detection technique</a:t>
            </a:r>
            <a:r>
              <a:rPr lang="en-IN" sz="2000" dirty="0"/>
              <a:t> identified approximately </a:t>
            </a:r>
            <a:r>
              <a:rPr lang="en-IN" sz="2000" b="1" dirty="0"/>
              <a:t>5.37 lakh taxpayers</a:t>
            </a:r>
            <a:r>
              <a:rPr lang="en-IN" sz="2000" dirty="0"/>
              <a:t> who paid lower tax compared to their respective peer band. It also states that, out of these, approximately </a:t>
            </a:r>
            <a:r>
              <a:rPr lang="en-IN" sz="2000" b="1" dirty="0"/>
              <a:t>1.22 lakh taxpayers</a:t>
            </a:r>
            <a:r>
              <a:rPr lang="en-IN" sz="2000" dirty="0"/>
              <a:t> paid only </a:t>
            </a:r>
            <a:r>
              <a:rPr lang="en-IN" sz="2000" b="1" dirty="0"/>
              <a:t>₹194 crore</a:t>
            </a:r>
            <a:r>
              <a:rPr lang="en-IN" sz="2000" dirty="0"/>
              <a:t> through the cash ledger.</a:t>
            </a:r>
          </a:p>
          <a:p>
            <a:pPr>
              <a:spcAft>
                <a:spcPts val="1200"/>
              </a:spcAft>
            </a:pPr>
            <a:r>
              <a:rPr lang="en-IN" sz="1700" dirty="0"/>
              <a:t>To facilitate detailed examination and appropriate enforcement action, the following information was requested from GSTN:</a:t>
            </a:r>
          </a:p>
          <a:p>
            <a:pPr>
              <a:spcAft>
                <a:spcPts val="1200"/>
              </a:spcAft>
            </a:pPr>
            <a:r>
              <a:rPr lang="en-IN" sz="1700" dirty="0"/>
              <a:t>a) Detailed methodology and analytical framework adopted for anomaly detection.</a:t>
            </a:r>
          </a:p>
          <a:p>
            <a:pPr>
              <a:spcAft>
                <a:spcPts val="1200"/>
              </a:spcAft>
            </a:pPr>
            <a:r>
              <a:rPr lang="en-IN" sz="1700" dirty="0"/>
              <a:t>b) Definition and criteria used for determining the </a:t>
            </a:r>
            <a:r>
              <a:rPr lang="en-IN" sz="1700" b="1" dirty="0"/>
              <a:t>"Peer Band"</a:t>
            </a:r>
            <a:r>
              <a:rPr lang="en-IN" sz="1700" dirty="0"/>
              <a:t>.</a:t>
            </a:r>
          </a:p>
          <a:p>
            <a:pPr>
              <a:spcAft>
                <a:spcPts val="1200"/>
              </a:spcAft>
            </a:pPr>
            <a:r>
              <a:rPr lang="en-IN" sz="1700" dirty="0"/>
              <a:t>c) Parameters considered for grouping taxpayers into peer bands, such as turnover, industry, HSN/SAC, geographical location, filing behaviour, compliance profile, or any other relevant criteria.</a:t>
            </a:r>
          </a:p>
          <a:p>
            <a:pPr>
              <a:spcAft>
                <a:spcPts val="1200"/>
              </a:spcAft>
            </a:pPr>
            <a:r>
              <a:rPr lang="en-IN" sz="1700" dirty="0"/>
              <a:t>d) Taxpayer-wise list of the identified </a:t>
            </a:r>
            <a:r>
              <a:rPr lang="en-IN" sz="1700" b="1" dirty="0"/>
              <a:t>5.37 lakh taxpayers</a:t>
            </a:r>
            <a:r>
              <a:rPr lang="en-IN" sz="1700" dirty="0"/>
              <a:t> categorized as paying lower tax than their respective peer band.</a:t>
            </a:r>
          </a:p>
          <a:p>
            <a:pPr>
              <a:spcAft>
                <a:spcPts val="1200"/>
              </a:spcAft>
            </a:pPr>
            <a:r>
              <a:rPr lang="en-IN" sz="1700" dirty="0"/>
              <a:t>e) Taxpayer-wise details of the </a:t>
            </a:r>
            <a:r>
              <a:rPr lang="en-IN" sz="1700" b="1" dirty="0"/>
              <a:t>1.22 lakh taxpayers</a:t>
            </a:r>
            <a:r>
              <a:rPr lang="en-IN" sz="1700" dirty="0"/>
              <a:t> referred to in the note who reportedly paid only </a:t>
            </a:r>
            <a:r>
              <a:rPr lang="en-IN" sz="1700" b="1" dirty="0"/>
              <a:t>₹194 crore</a:t>
            </a:r>
            <a:r>
              <a:rPr lang="en-IN" sz="1700" dirty="0"/>
              <a:t> in cash.</a:t>
            </a:r>
          </a:p>
          <a:p>
            <a:pPr>
              <a:spcAft>
                <a:spcPts val="1200"/>
              </a:spcAft>
            </a:pPr>
            <a:r>
              <a:rPr lang="en-IN" sz="2400" b="1" dirty="0"/>
              <a:t>Current Status : As on date, </a:t>
            </a:r>
            <a:r>
              <a:rPr lang="en-IN" sz="2400" b="1" dirty="0">
                <a:solidFill>
                  <a:srgbClr val="FF0000"/>
                </a:solidFill>
              </a:rPr>
              <a:t>GSTN has not provided any of the above information.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715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to be Adopted in Next Quarter for Revenue Augmentation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881360" cy="0"/>
          </a:xfrm>
          <a:prstGeom prst="line">
            <a:avLst/>
          </a:prstGeom>
          <a:noFill/>
          <a:ln w="254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292840" y="822960"/>
            <a:ext cx="91440" cy="9144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7280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administrative and technology interventions to enhance compliance, curb leakages and accelerate sustainable GST revenue growth.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74620" cy="50292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773936"/>
            <a:ext cx="338328" cy="338328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77393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1691640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Return Filing Compliance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26746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0" descr="/home/claude/pptx_work4/calenda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77440"/>
            <a:ext cx="685800" cy="685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3200400"/>
            <a:ext cx="23088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monitoring of Top 1 lakh taxpayers.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with high tax-paying GSTR-1 filers.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timely reversal of ineligible IGST ITC in exempt/non-GST supplies.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compliance reminders and officer-level monitoring.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5577840"/>
            <a:ext cx="2674620" cy="502920"/>
          </a:xfrm>
          <a:prstGeom prst="rect">
            <a:avLst/>
          </a:prstGeom>
          <a:solidFill>
            <a:srgbClr val="EAF0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/home/claude/pptx_work4/objec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569671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0120" y="5577840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Enhance timely compliance among high-value taxpayers.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314700" y="1691640"/>
            <a:ext cx="2674620" cy="50292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3406140" y="1773936"/>
            <a:ext cx="338328" cy="338328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3406140" y="177393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845052" y="1691640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Scrutiny of Returns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3314700" y="2194560"/>
            <a:ext cx="26746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2" descr="/home/claude/pptx_work4/search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0" y="2377440"/>
            <a:ext cx="685800" cy="6858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497580" y="3200400"/>
            <a:ext cx="23088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concurrent scrutiny using risk parameters.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identification of mismatches between GSTR-1, GSTR-3B and GSTR-2B.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high-revenue impact cases.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3314700" y="5577840"/>
            <a:ext cx="2674620" cy="502920"/>
          </a:xfrm>
          <a:prstGeom prst="rect">
            <a:avLst/>
          </a:prstGeom>
          <a:solidFill>
            <a:srgbClr val="EAF0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/home/claude/pptx_work4/objec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716" y="569671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817620" y="5577840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Detect revenue leakages at an early stage.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6172200" y="1691640"/>
            <a:ext cx="2674620" cy="50292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6263640" y="1773936"/>
            <a:ext cx="338328" cy="338328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6263640" y="177393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702552" y="1691640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Risk Profiling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6172200" y="2194560"/>
            <a:ext cx="26746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4" descr="/home/claude/pptx_work4/ai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377440"/>
            <a:ext cx="685800" cy="6858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355080" y="3200400"/>
            <a:ext cx="23088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profiling using GSTR-1, GSTR-3B, e-Invoice and e-Way Bill data.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identification of fake ITC beneficiaries.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risk scoring and prioritisation.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172200" y="5577840"/>
            <a:ext cx="2674620" cy="502920"/>
          </a:xfrm>
          <a:prstGeom prst="rect">
            <a:avLst/>
          </a:prstGeom>
          <a:solidFill>
            <a:srgbClr val="EAF0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5" descr="/home/claude/pptx_work4/objec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216" y="5696712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675120" y="5577840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Target high-risk taxpayers through analytics.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9029700" y="1691640"/>
            <a:ext cx="2674620" cy="50292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0"/>
          <p:cNvSpPr/>
          <p:nvPr/>
        </p:nvSpPr>
        <p:spPr>
          <a:xfrm>
            <a:off x="9121140" y="1773936"/>
            <a:ext cx="338328" cy="338328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1"/>
          <p:cNvSpPr/>
          <p:nvPr/>
        </p:nvSpPr>
        <p:spPr>
          <a:xfrm>
            <a:off x="9121140" y="177393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9560052" y="1691640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Sector-Specific Revenue Monitoring</a:t>
            </a:r>
            <a:endParaRPr lang="en-US" sz="1250" dirty="0"/>
          </a:p>
        </p:txBody>
      </p:sp>
      <p:sp>
        <p:nvSpPr>
          <p:cNvPr id="41" name="Shape 33"/>
          <p:cNvSpPr/>
          <p:nvPr/>
        </p:nvSpPr>
        <p:spPr>
          <a:xfrm>
            <a:off x="9029700" y="2194560"/>
            <a:ext cx="26746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Image 6" descr="/home/claude/pptx_work4/pie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2580" y="2350008"/>
            <a:ext cx="594360" cy="59436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9212580" y="3063240"/>
            <a:ext cx="2308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enforcement on sectors with declining tax buoyancy: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9212580" y="3520440"/>
            <a:ext cx="23088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/ Real Estate / Cement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&amp; Automobile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Machinery &amp; Solar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Machinery &amp; Air Conditioning</a:t>
            </a:r>
            <a:endParaRPr lang="en-US" sz="9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&amp; Energy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9029700" y="5577840"/>
            <a:ext cx="2674620" cy="502920"/>
          </a:xfrm>
          <a:prstGeom prst="rect">
            <a:avLst/>
          </a:prstGeom>
          <a:solidFill>
            <a:srgbClr val="EAF5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Image 7" descr="/home/claude/pptx_work4/objec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7716" y="5696712"/>
            <a:ext cx="274320" cy="27432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9532620" y="5577840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Focus enforcement on high-risk, low-buoyancy sectors.</a:t>
            </a:r>
            <a:endParaRPr lang="en-US" sz="950" dirty="0"/>
          </a:p>
        </p:txBody>
      </p:sp>
      <p:sp>
        <p:nvSpPr>
          <p:cNvPr id="48" name="Shape 38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39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of Rajasthan  |  GST Revenue Trends 2026–27</a:t>
            </a:r>
            <a:endParaRPr lang="en-US" sz="1100" dirty="0"/>
          </a:p>
        </p:txBody>
      </p:sp>
      <p:sp>
        <p:nvSpPr>
          <p:cNvPr id="50" name="Shape 40"/>
          <p:cNvSpPr/>
          <p:nvPr/>
        </p:nvSpPr>
        <p:spPr>
          <a:xfrm>
            <a:off x="11567160" y="6656832"/>
            <a:ext cx="118872" cy="118872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to be Adopted in Next Quarter for Revenue Augmentation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881360" cy="0"/>
          </a:xfrm>
          <a:prstGeom prst="line">
            <a:avLst/>
          </a:prstGeom>
          <a:noFill/>
          <a:ln w="254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292840" y="822960"/>
            <a:ext cx="91440" cy="9144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7280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administrative and technology interventions to enhance compliance, curb leakages and accelerate sustainable GST revenue growth.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74620" cy="50292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773936"/>
            <a:ext cx="338328" cy="338328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77393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1691640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Data Integration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26746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71547" y="4659795"/>
            <a:ext cx="2308860" cy="884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verification with external databases to detect suppression and ensure accuracy.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Cross-verification of taxpayer activities, assets and transactions.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5577840"/>
            <a:ext cx="2674620" cy="502920"/>
          </a:xfrm>
          <a:prstGeom prst="rect">
            <a:avLst/>
          </a:prstGeom>
          <a:solidFill>
            <a:srgbClr val="EAF0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/home/claude/pptx_work4/obj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569671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0120" y="5577840"/>
            <a:ext cx="22539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Improve cross-verification using external databases.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314700" y="1691640"/>
            <a:ext cx="2674620" cy="50292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3406140" y="1773936"/>
            <a:ext cx="338328" cy="338328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3406140" y="177393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845052" y="1691640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Audit &amp; Enforcement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3314700" y="2194560"/>
            <a:ext cx="26746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3314700" y="5577840"/>
            <a:ext cx="2674620" cy="502920"/>
          </a:xfrm>
          <a:prstGeom prst="rect">
            <a:avLst/>
          </a:prstGeom>
          <a:solidFill>
            <a:srgbClr val="EAF0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/home/claude/pptx_work4/obj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716" y="569671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817620" y="5577840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Improve realization of additional revenue.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6172200" y="1691640"/>
            <a:ext cx="2674620" cy="50292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6263640" y="1773936"/>
            <a:ext cx="338328" cy="338328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6263640" y="177393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702552" y="1691640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 Voluntary Compliance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6172200" y="2194560"/>
            <a:ext cx="26746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27"/>
          <p:cNvSpPr/>
          <p:nvPr/>
        </p:nvSpPr>
        <p:spPr>
          <a:xfrm>
            <a:off x="6172200" y="5577840"/>
            <a:ext cx="2674620" cy="502920"/>
          </a:xfrm>
          <a:prstGeom prst="rect">
            <a:avLst/>
          </a:prstGeom>
          <a:solidFill>
            <a:srgbClr val="EAF0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5" descr="/home/claude/pptx_work4/obj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5696712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675120" y="5577840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Improve compliance with minimum enforcement.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9029700" y="1691640"/>
            <a:ext cx="2674620" cy="50292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0"/>
          <p:cNvSpPr/>
          <p:nvPr/>
        </p:nvSpPr>
        <p:spPr>
          <a:xfrm>
            <a:off x="9121140" y="1773936"/>
            <a:ext cx="338328" cy="338328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1"/>
          <p:cNvSpPr/>
          <p:nvPr/>
        </p:nvSpPr>
        <p:spPr>
          <a:xfrm>
            <a:off x="9121140" y="177393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9560052" y="1691640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Cleansing of Nil Filers</a:t>
            </a:r>
            <a:endParaRPr lang="en-US" sz="1250" dirty="0"/>
          </a:p>
        </p:txBody>
      </p:sp>
      <p:sp>
        <p:nvSpPr>
          <p:cNvPr id="41" name="Shape 33"/>
          <p:cNvSpPr/>
          <p:nvPr/>
        </p:nvSpPr>
        <p:spPr>
          <a:xfrm>
            <a:off x="9029700" y="2194560"/>
            <a:ext cx="26746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5"/>
          <p:cNvSpPr/>
          <p:nvPr/>
        </p:nvSpPr>
        <p:spPr>
          <a:xfrm>
            <a:off x="9085962" y="3386194"/>
            <a:ext cx="2618358" cy="1924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A3F4A"/>
                </a:solidFill>
                <a:latin typeface="Arial" pitchFamily="34" charset="0"/>
                <a:cs typeface="Arial" pitchFamily="34" charset="-120"/>
              </a:rPr>
              <a:t>Identify and eliminate non-genuine Nil-filers to curb revenue leakage and maintain a clean taxpayer base.</a:t>
            </a:r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A3F4A"/>
                </a:solidFill>
                <a:latin typeface="Arial" pitchFamily="34" charset="0"/>
                <a:cs typeface="Arial" pitchFamily="34" charset="-120"/>
              </a:rPr>
              <a:t>Flag taxpayers filing Nil returns despite active signals like e-way bills &amp; Prioritize high-turnover-signal Nil-filers for investigation and follow-up action.</a:t>
            </a:r>
          </a:p>
        </p:txBody>
      </p:sp>
      <p:sp>
        <p:nvSpPr>
          <p:cNvPr id="45" name="Shape 36"/>
          <p:cNvSpPr/>
          <p:nvPr/>
        </p:nvSpPr>
        <p:spPr>
          <a:xfrm>
            <a:off x="9029700" y="5577840"/>
            <a:ext cx="2674620" cy="502920"/>
          </a:xfrm>
          <a:prstGeom prst="rect">
            <a:avLst/>
          </a:prstGeom>
          <a:solidFill>
            <a:srgbClr val="EAF5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Image 7" descr="/home/claude/pptx_work4/obj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7716" y="5696712"/>
            <a:ext cx="274320" cy="27432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9459468" y="5593214"/>
            <a:ext cx="22539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Deregister genuinely inactive GSTINs to maintain an accurate taxpayer base</a:t>
            </a:r>
            <a:endParaRPr lang="en-US" sz="950" dirty="0"/>
          </a:p>
        </p:txBody>
      </p:sp>
      <p:sp>
        <p:nvSpPr>
          <p:cNvPr id="48" name="Shape 38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39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of Rajasthan  |  GST Revenue Trends 2026–27</a:t>
            </a:r>
            <a:endParaRPr lang="en-US" sz="1100" dirty="0"/>
          </a:p>
        </p:txBody>
      </p:sp>
      <p:sp>
        <p:nvSpPr>
          <p:cNvPr id="50" name="Shape 40"/>
          <p:cNvSpPr/>
          <p:nvPr/>
        </p:nvSpPr>
        <p:spPr>
          <a:xfrm>
            <a:off x="11567160" y="6656832"/>
            <a:ext cx="118872" cy="118872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1" name="Image 10" descr="/home/claude/pptx_work4/shield_check_navy.png">
            <a:extLst>
              <a:ext uri="{FF2B5EF4-FFF2-40B4-BE49-F238E27FC236}">
                <a16:creationId xmlns:a16="http://schemas.microsoft.com/office/drawing/2014/main" id="{458A4520-334D-44C8-AF16-95F0FE667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430" y="2313432"/>
            <a:ext cx="914400" cy="914400"/>
          </a:xfrm>
          <a:prstGeom prst="rect">
            <a:avLst/>
          </a:prstGeom>
        </p:spPr>
      </p:pic>
      <p:sp>
        <p:nvSpPr>
          <p:cNvPr id="52" name="Text 42">
            <a:extLst>
              <a:ext uri="{FF2B5EF4-FFF2-40B4-BE49-F238E27FC236}">
                <a16:creationId xmlns:a16="http://schemas.microsoft.com/office/drawing/2014/main" id="{B997AE62-EF2B-4AE9-9FED-25A5407151EB}"/>
              </a:ext>
            </a:extLst>
          </p:cNvPr>
          <p:cNvSpPr/>
          <p:nvPr/>
        </p:nvSpPr>
        <p:spPr>
          <a:xfrm>
            <a:off x="3406140" y="3410712"/>
            <a:ext cx="24734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Risk-based audit selection.</a:t>
            </a:r>
            <a:endParaRPr lang="en-US" sz="98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audit planning.</a:t>
            </a:r>
            <a:endParaRPr lang="en-US" sz="98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fake invoice networks through supplier–recipient linkage analytics.</a:t>
            </a:r>
            <a:endParaRPr lang="en-US" sz="98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RCM compliance.</a:t>
            </a:r>
            <a:endParaRPr lang="en-US" sz="98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abnormal ITC utilization.</a:t>
            </a:r>
            <a:endParaRPr lang="en-US" sz="98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disposal of scrutiny and audit cases.</a:t>
            </a:r>
            <a:endParaRPr lang="en-US" sz="980" dirty="0"/>
          </a:p>
        </p:txBody>
      </p:sp>
      <p:pic>
        <p:nvPicPr>
          <p:cNvPr id="53" name="Image 12" descr="/home/claude/pptx_work4/handshake_green.png">
            <a:extLst>
              <a:ext uri="{FF2B5EF4-FFF2-40B4-BE49-F238E27FC236}">
                <a16:creationId xmlns:a16="http://schemas.microsoft.com/office/drawing/2014/main" id="{F02CF587-9402-4BE4-871E-02FDE4AA82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266" y="2199893"/>
            <a:ext cx="960120" cy="960120"/>
          </a:xfrm>
          <a:prstGeom prst="rect">
            <a:avLst/>
          </a:prstGeom>
        </p:spPr>
      </p:pic>
      <p:sp>
        <p:nvSpPr>
          <p:cNvPr id="54" name="Text 50">
            <a:extLst>
              <a:ext uri="{FF2B5EF4-FFF2-40B4-BE49-F238E27FC236}">
                <a16:creationId xmlns:a16="http://schemas.microsoft.com/office/drawing/2014/main" id="{2166E100-B87B-4E77-8E3D-949A95E05406}"/>
              </a:ext>
            </a:extLst>
          </p:cNvPr>
          <p:cNvSpPr/>
          <p:nvPr/>
        </p:nvSpPr>
        <p:spPr>
          <a:xfrm>
            <a:off x="6319266" y="3366514"/>
            <a:ext cx="23903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Pre-notice communication and taxpayer education.</a:t>
            </a:r>
            <a:endParaRPr lang="en-US" sz="98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ratings for taxpayers.</a:t>
            </a:r>
            <a:endParaRPr lang="en-US" sz="98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Facilitation of genuine taxpayers.</a:t>
            </a:r>
            <a:endParaRPr lang="en-US" sz="98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litigation and enhance trust.</a:t>
            </a:r>
            <a:endParaRPr lang="en-US" sz="980" dirty="0"/>
          </a:p>
        </p:txBody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193DB9C8-5132-40C3-B118-5693859BEAE8}"/>
              </a:ext>
            </a:extLst>
          </p:cNvPr>
          <p:cNvSpPr/>
          <p:nvPr/>
        </p:nvSpPr>
        <p:spPr>
          <a:xfrm>
            <a:off x="1964876" y="4283252"/>
            <a:ext cx="728159" cy="99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IGRS</a:t>
            </a:r>
            <a:endParaRPr lang="en-US" sz="680" dirty="0"/>
          </a:p>
        </p:txBody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87E20F74-E0FB-4BA2-A5F0-E5699E86C456}"/>
              </a:ext>
            </a:extLst>
          </p:cNvPr>
          <p:cNvSpPr/>
          <p:nvPr/>
        </p:nvSpPr>
        <p:spPr>
          <a:xfrm>
            <a:off x="944795" y="4339871"/>
            <a:ext cx="1228620" cy="52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</a:t>
            </a:r>
            <a:endParaRPr lang="en-US" sz="680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38ED85F-1623-4A0E-A9A2-AB7264E37AC5}"/>
              </a:ext>
            </a:extLst>
          </p:cNvPr>
          <p:cNvGrpSpPr/>
          <p:nvPr/>
        </p:nvGrpSpPr>
        <p:grpSpPr>
          <a:xfrm>
            <a:off x="84113" y="2382613"/>
            <a:ext cx="3491191" cy="1899693"/>
            <a:chOff x="-9803" y="1928296"/>
            <a:chExt cx="4420394" cy="2081284"/>
          </a:xfrm>
        </p:grpSpPr>
        <p:sp>
          <p:nvSpPr>
            <p:cNvPr id="58" name="Shape 9">
              <a:extLst>
                <a:ext uri="{FF2B5EF4-FFF2-40B4-BE49-F238E27FC236}">
                  <a16:creationId xmlns:a16="http://schemas.microsoft.com/office/drawing/2014/main" id="{BC4AC298-AD74-435E-B152-F66F006B7FCB}"/>
                </a:ext>
              </a:extLst>
            </p:cNvPr>
            <p:cNvSpPr/>
            <p:nvPr/>
          </p:nvSpPr>
          <p:spPr>
            <a:xfrm>
              <a:off x="1592142" y="2474687"/>
              <a:ext cx="1193210" cy="101359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A1F44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59" name="Image 0" descr="/home/claude/pptx_work4/n_database.png">
              <a:extLst>
                <a:ext uri="{FF2B5EF4-FFF2-40B4-BE49-F238E27FC236}">
                  <a16:creationId xmlns:a16="http://schemas.microsoft.com/office/drawing/2014/main" id="{BF9DDAB7-0E85-4365-8E3E-0BD15E7FB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15868" y="2664736"/>
              <a:ext cx="745756" cy="633497"/>
            </a:xfrm>
            <a:prstGeom prst="rect">
              <a:avLst/>
            </a:prstGeom>
          </p:spPr>
        </p:pic>
        <p:sp>
          <p:nvSpPr>
            <p:cNvPr id="60" name="Shape 10">
              <a:extLst>
                <a:ext uri="{FF2B5EF4-FFF2-40B4-BE49-F238E27FC236}">
                  <a16:creationId xmlns:a16="http://schemas.microsoft.com/office/drawing/2014/main" id="{414ACBC3-F22B-46F2-B2D4-653D0BB8F102}"/>
                </a:ext>
              </a:extLst>
            </p:cNvPr>
            <p:cNvSpPr/>
            <p:nvPr/>
          </p:nvSpPr>
          <p:spPr>
            <a:xfrm>
              <a:off x="1417516" y="2508109"/>
              <a:ext cx="771230" cy="473375"/>
            </a:xfrm>
            <a:prstGeom prst="line">
              <a:avLst/>
            </a:prstGeom>
            <a:noFill/>
            <a:ln w="9525">
              <a:solidFill>
                <a:srgbClr val="AAB6CC"/>
              </a:solidFill>
              <a:prstDash val="dash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Shape 11">
              <a:extLst>
                <a:ext uri="{FF2B5EF4-FFF2-40B4-BE49-F238E27FC236}">
                  <a16:creationId xmlns:a16="http://schemas.microsoft.com/office/drawing/2014/main" id="{FAB1D3DA-1F5D-42AC-9D0C-9C9882396619}"/>
                </a:ext>
              </a:extLst>
            </p:cNvPr>
            <p:cNvSpPr/>
            <p:nvPr/>
          </p:nvSpPr>
          <p:spPr>
            <a:xfrm>
              <a:off x="1070112" y="2184388"/>
              <a:ext cx="745756" cy="633497"/>
            </a:xfrm>
            <a:prstGeom prst="ellipse">
              <a:avLst/>
            </a:prstGeom>
            <a:solidFill>
              <a:srgbClr val="1D7874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62" name="Image 1" descr="/home/claude/pptx_work4/n_rera.png">
              <a:extLst>
                <a:ext uri="{FF2B5EF4-FFF2-40B4-BE49-F238E27FC236}">
                  <a16:creationId xmlns:a16="http://schemas.microsoft.com/office/drawing/2014/main" id="{6311C976-6E72-4420-AD18-A0D6D1C47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08704" y="2330730"/>
              <a:ext cx="417624" cy="354759"/>
            </a:xfrm>
            <a:prstGeom prst="rect">
              <a:avLst/>
            </a:prstGeom>
          </p:spPr>
        </p:pic>
        <p:sp>
          <p:nvSpPr>
            <p:cNvPr id="63" name="Text 12">
              <a:extLst>
                <a:ext uri="{FF2B5EF4-FFF2-40B4-BE49-F238E27FC236}">
                  <a16:creationId xmlns:a16="http://schemas.microsoft.com/office/drawing/2014/main" id="{FAF01241-0757-44A9-A827-7DF3F802C60C}"/>
                </a:ext>
              </a:extLst>
            </p:cNvPr>
            <p:cNvSpPr/>
            <p:nvPr/>
          </p:nvSpPr>
          <p:spPr>
            <a:xfrm>
              <a:off x="392101" y="2856533"/>
              <a:ext cx="2050829" cy="5067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680" b="1" dirty="0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RERA</a:t>
              </a:r>
              <a:endParaRPr lang="en-US" sz="680" dirty="0"/>
            </a:p>
          </p:txBody>
        </p:sp>
        <p:sp>
          <p:nvSpPr>
            <p:cNvPr id="64" name="Shape 13">
              <a:extLst>
                <a:ext uri="{FF2B5EF4-FFF2-40B4-BE49-F238E27FC236}">
                  <a16:creationId xmlns:a16="http://schemas.microsoft.com/office/drawing/2014/main" id="{5020194D-1AD7-4F3D-BB26-9A7BB5988DBE}"/>
                </a:ext>
              </a:extLst>
            </p:cNvPr>
            <p:cNvSpPr/>
            <p:nvPr/>
          </p:nvSpPr>
          <p:spPr>
            <a:xfrm>
              <a:off x="2188746" y="2245044"/>
              <a:ext cx="1864" cy="736440"/>
            </a:xfrm>
            <a:prstGeom prst="line">
              <a:avLst/>
            </a:prstGeom>
            <a:noFill/>
            <a:ln w="9525">
              <a:solidFill>
                <a:srgbClr val="AAB6CC"/>
              </a:solidFill>
              <a:prstDash val="dash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Shape 14">
              <a:extLst>
                <a:ext uri="{FF2B5EF4-FFF2-40B4-BE49-F238E27FC236}">
                  <a16:creationId xmlns:a16="http://schemas.microsoft.com/office/drawing/2014/main" id="{36C53A99-3609-4982-884F-27F725F655BE}"/>
                </a:ext>
              </a:extLst>
            </p:cNvPr>
            <p:cNvSpPr/>
            <p:nvPr/>
          </p:nvSpPr>
          <p:spPr>
            <a:xfrm>
              <a:off x="1815868" y="1928296"/>
              <a:ext cx="745756" cy="633497"/>
            </a:xfrm>
            <a:prstGeom prst="ellipse">
              <a:avLst/>
            </a:prstGeom>
            <a:solidFill>
              <a:srgbClr val="0A1F44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66" name="Image 2" descr="/home/claude/pptx_work4/n_banking.png">
              <a:extLst>
                <a:ext uri="{FF2B5EF4-FFF2-40B4-BE49-F238E27FC236}">
                  <a16:creationId xmlns:a16="http://schemas.microsoft.com/office/drawing/2014/main" id="{518416D2-5983-48CC-BEB9-09AC32655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979936" y="2067665"/>
              <a:ext cx="417624" cy="354759"/>
            </a:xfrm>
            <a:prstGeom prst="rect">
              <a:avLst/>
            </a:prstGeom>
          </p:spPr>
        </p:pic>
        <p:sp>
          <p:nvSpPr>
            <p:cNvPr id="67" name="Text 15">
              <a:extLst>
                <a:ext uri="{FF2B5EF4-FFF2-40B4-BE49-F238E27FC236}">
                  <a16:creationId xmlns:a16="http://schemas.microsoft.com/office/drawing/2014/main" id="{CE228228-C22A-4E37-8E92-6B5FDB33C912}"/>
                </a:ext>
              </a:extLst>
            </p:cNvPr>
            <p:cNvSpPr/>
            <p:nvPr/>
          </p:nvSpPr>
          <p:spPr>
            <a:xfrm>
              <a:off x="1390790" y="1964088"/>
              <a:ext cx="532921" cy="1298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680" b="1" dirty="0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Banking</a:t>
              </a:r>
              <a:endParaRPr lang="en-US" sz="680" dirty="0"/>
            </a:p>
          </p:txBody>
        </p:sp>
        <p:sp>
          <p:nvSpPr>
            <p:cNvPr id="68" name="Shape 16">
              <a:extLst>
                <a:ext uri="{FF2B5EF4-FFF2-40B4-BE49-F238E27FC236}">
                  <a16:creationId xmlns:a16="http://schemas.microsoft.com/office/drawing/2014/main" id="{427D2124-18A7-486F-B232-A21F8537E6AE}"/>
                </a:ext>
              </a:extLst>
            </p:cNvPr>
            <p:cNvSpPr/>
            <p:nvPr/>
          </p:nvSpPr>
          <p:spPr>
            <a:xfrm>
              <a:off x="2188746" y="2559081"/>
              <a:ext cx="824699" cy="422404"/>
            </a:xfrm>
            <a:prstGeom prst="line">
              <a:avLst/>
            </a:prstGeom>
            <a:noFill/>
            <a:ln w="9525">
              <a:solidFill>
                <a:srgbClr val="AAB6CC"/>
              </a:solidFill>
              <a:prstDash val="dash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Shape 17">
              <a:extLst>
                <a:ext uri="{FF2B5EF4-FFF2-40B4-BE49-F238E27FC236}">
                  <a16:creationId xmlns:a16="http://schemas.microsoft.com/office/drawing/2014/main" id="{21096013-FFAF-495E-8A0F-27638268A027}"/>
                </a:ext>
              </a:extLst>
            </p:cNvPr>
            <p:cNvSpPr/>
            <p:nvPr/>
          </p:nvSpPr>
          <p:spPr>
            <a:xfrm>
              <a:off x="2640567" y="2242332"/>
              <a:ext cx="745756" cy="633497"/>
            </a:xfrm>
            <a:prstGeom prst="ellipse">
              <a:avLst/>
            </a:prstGeom>
            <a:solidFill>
              <a:srgbClr val="2E7D4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70" name="Image 3" descr="/home/claude/pptx_work4/n_udh.png">
              <a:extLst>
                <a:ext uri="{FF2B5EF4-FFF2-40B4-BE49-F238E27FC236}">
                  <a16:creationId xmlns:a16="http://schemas.microsoft.com/office/drawing/2014/main" id="{4035FB9E-5CA0-403C-BEDA-0AD984E3A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804633" y="2381701"/>
              <a:ext cx="417624" cy="354759"/>
            </a:xfrm>
            <a:prstGeom prst="rect">
              <a:avLst/>
            </a:prstGeom>
          </p:spPr>
        </p:pic>
        <p:sp>
          <p:nvSpPr>
            <p:cNvPr id="71" name="Shape 19">
              <a:extLst>
                <a:ext uri="{FF2B5EF4-FFF2-40B4-BE49-F238E27FC236}">
                  <a16:creationId xmlns:a16="http://schemas.microsoft.com/office/drawing/2014/main" id="{BA83970F-248B-4630-AA06-C153F9CF0019}"/>
                </a:ext>
              </a:extLst>
            </p:cNvPr>
            <p:cNvSpPr/>
            <p:nvPr/>
          </p:nvSpPr>
          <p:spPr>
            <a:xfrm>
              <a:off x="2188746" y="2981484"/>
              <a:ext cx="972466" cy="190605"/>
            </a:xfrm>
            <a:prstGeom prst="line">
              <a:avLst/>
            </a:prstGeom>
            <a:noFill/>
            <a:ln w="9525">
              <a:solidFill>
                <a:srgbClr val="AAB6CC"/>
              </a:solidFill>
              <a:prstDash val="dash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Shape 20">
              <a:extLst>
                <a:ext uri="{FF2B5EF4-FFF2-40B4-BE49-F238E27FC236}">
                  <a16:creationId xmlns:a16="http://schemas.microsoft.com/office/drawing/2014/main" id="{579203F3-7597-4523-BB0E-6301D7466B58}"/>
                </a:ext>
              </a:extLst>
            </p:cNvPr>
            <p:cNvSpPr/>
            <p:nvPr/>
          </p:nvSpPr>
          <p:spPr>
            <a:xfrm>
              <a:off x="2788334" y="2855341"/>
              <a:ext cx="745756" cy="633497"/>
            </a:xfrm>
            <a:prstGeom prst="ellipse">
              <a:avLst/>
            </a:prstGeom>
            <a:solidFill>
              <a:srgbClr val="6C3FA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73" name="Image 4" descr="/home/claude/pptx_work4/n_jda.png">
              <a:extLst>
                <a:ext uri="{FF2B5EF4-FFF2-40B4-BE49-F238E27FC236}">
                  <a16:creationId xmlns:a16="http://schemas.microsoft.com/office/drawing/2014/main" id="{D23136E5-EC00-4275-B9C8-866434A3B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52402" y="2994710"/>
              <a:ext cx="417624" cy="354759"/>
            </a:xfrm>
            <a:prstGeom prst="rect">
              <a:avLst/>
            </a:prstGeom>
          </p:spPr>
        </p:pic>
        <p:sp>
          <p:nvSpPr>
            <p:cNvPr id="74" name="Text 21">
              <a:extLst>
                <a:ext uri="{FF2B5EF4-FFF2-40B4-BE49-F238E27FC236}">
                  <a16:creationId xmlns:a16="http://schemas.microsoft.com/office/drawing/2014/main" id="{50EDAB03-3CAE-4CB0-8DCD-0A8AB3B0D41B}"/>
                </a:ext>
              </a:extLst>
            </p:cNvPr>
            <p:cNvSpPr/>
            <p:nvPr/>
          </p:nvSpPr>
          <p:spPr>
            <a:xfrm>
              <a:off x="2588809" y="3399663"/>
              <a:ext cx="1821782" cy="884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680" b="1" dirty="0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JDA</a:t>
              </a:r>
              <a:endParaRPr lang="en-US" sz="680" dirty="0"/>
            </a:p>
          </p:txBody>
        </p:sp>
        <p:sp>
          <p:nvSpPr>
            <p:cNvPr id="75" name="Shape 22">
              <a:extLst>
                <a:ext uri="{FF2B5EF4-FFF2-40B4-BE49-F238E27FC236}">
                  <a16:creationId xmlns:a16="http://schemas.microsoft.com/office/drawing/2014/main" id="{E34A97A8-4126-4E73-AE90-D2092EB071D2}"/>
                </a:ext>
              </a:extLst>
            </p:cNvPr>
            <p:cNvSpPr/>
            <p:nvPr/>
          </p:nvSpPr>
          <p:spPr>
            <a:xfrm>
              <a:off x="2188746" y="2981484"/>
              <a:ext cx="577459" cy="603256"/>
            </a:xfrm>
            <a:prstGeom prst="line">
              <a:avLst/>
            </a:prstGeom>
            <a:noFill/>
            <a:ln w="9525">
              <a:solidFill>
                <a:srgbClr val="AAB6CC"/>
              </a:solidFill>
              <a:prstDash val="dash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Shape 23">
              <a:extLst>
                <a:ext uri="{FF2B5EF4-FFF2-40B4-BE49-F238E27FC236}">
                  <a16:creationId xmlns:a16="http://schemas.microsoft.com/office/drawing/2014/main" id="{86E4C12A-7B7C-4D9E-AC57-18F9BE2B5574}"/>
                </a:ext>
              </a:extLst>
            </p:cNvPr>
            <p:cNvSpPr/>
            <p:nvPr/>
          </p:nvSpPr>
          <p:spPr>
            <a:xfrm>
              <a:off x="2393330" y="3267992"/>
              <a:ext cx="745756" cy="633497"/>
            </a:xfrm>
            <a:prstGeom prst="ellipse">
              <a:avLst/>
            </a:prstGeom>
            <a:solidFill>
              <a:srgbClr val="1F5FA8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77" name="Image 5" descr="/home/claude/pptx_work4/n_igrs.png">
              <a:extLst>
                <a:ext uri="{FF2B5EF4-FFF2-40B4-BE49-F238E27FC236}">
                  <a16:creationId xmlns:a16="http://schemas.microsoft.com/office/drawing/2014/main" id="{44FBED12-F751-43D3-9B0E-FD5390B49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557396" y="3407361"/>
              <a:ext cx="417624" cy="354759"/>
            </a:xfrm>
            <a:prstGeom prst="rect">
              <a:avLst/>
            </a:prstGeom>
          </p:spPr>
        </p:pic>
        <p:sp>
          <p:nvSpPr>
            <p:cNvPr id="78" name="Shape 25">
              <a:extLst>
                <a:ext uri="{FF2B5EF4-FFF2-40B4-BE49-F238E27FC236}">
                  <a16:creationId xmlns:a16="http://schemas.microsoft.com/office/drawing/2014/main" id="{D3466C9B-7BBD-43FA-B4B6-470A6F23E230}"/>
                </a:ext>
              </a:extLst>
            </p:cNvPr>
            <p:cNvSpPr/>
            <p:nvPr/>
          </p:nvSpPr>
          <p:spPr>
            <a:xfrm>
              <a:off x="1928176" y="2981484"/>
              <a:ext cx="260572" cy="711347"/>
            </a:xfrm>
            <a:prstGeom prst="line">
              <a:avLst/>
            </a:prstGeom>
            <a:noFill/>
            <a:ln w="9525">
              <a:solidFill>
                <a:srgbClr val="AAB6CC"/>
              </a:solidFill>
              <a:prstDash val="dash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Shape 26">
              <a:extLst>
                <a:ext uri="{FF2B5EF4-FFF2-40B4-BE49-F238E27FC236}">
                  <a16:creationId xmlns:a16="http://schemas.microsoft.com/office/drawing/2014/main" id="{E50B5CD6-1937-4174-896A-5D8121472796}"/>
                </a:ext>
              </a:extLst>
            </p:cNvPr>
            <p:cNvSpPr/>
            <p:nvPr/>
          </p:nvSpPr>
          <p:spPr>
            <a:xfrm>
              <a:off x="1555298" y="3376083"/>
              <a:ext cx="745756" cy="633497"/>
            </a:xfrm>
            <a:prstGeom prst="ellipse">
              <a:avLst/>
            </a:prstGeom>
            <a:solidFill>
              <a:srgbClr val="D4A017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80" name="Image 6" descr="/home/claude/pptx_work4/n_electricity.png">
              <a:extLst>
                <a:ext uri="{FF2B5EF4-FFF2-40B4-BE49-F238E27FC236}">
                  <a16:creationId xmlns:a16="http://schemas.microsoft.com/office/drawing/2014/main" id="{A86496AA-EF7F-4B96-8DA2-383CD1ADD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719364" y="3515452"/>
              <a:ext cx="417624" cy="354759"/>
            </a:xfrm>
            <a:prstGeom prst="rect">
              <a:avLst/>
            </a:prstGeom>
          </p:spPr>
        </p:pic>
        <p:sp>
          <p:nvSpPr>
            <p:cNvPr id="81" name="Shape 28">
              <a:extLst>
                <a:ext uri="{FF2B5EF4-FFF2-40B4-BE49-F238E27FC236}">
                  <a16:creationId xmlns:a16="http://schemas.microsoft.com/office/drawing/2014/main" id="{A1AD1705-79EE-4521-89DA-809F04397A71}"/>
                </a:ext>
              </a:extLst>
            </p:cNvPr>
            <p:cNvSpPr/>
            <p:nvPr/>
          </p:nvSpPr>
          <p:spPr>
            <a:xfrm>
              <a:off x="1364049" y="2981484"/>
              <a:ext cx="824699" cy="422404"/>
            </a:xfrm>
            <a:prstGeom prst="line">
              <a:avLst/>
            </a:prstGeom>
            <a:noFill/>
            <a:ln w="9525">
              <a:solidFill>
                <a:srgbClr val="AAB6CC"/>
              </a:solidFill>
              <a:prstDash val="dash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Shape 29">
              <a:extLst>
                <a:ext uri="{FF2B5EF4-FFF2-40B4-BE49-F238E27FC236}">
                  <a16:creationId xmlns:a16="http://schemas.microsoft.com/office/drawing/2014/main" id="{551D8464-B9F4-42FE-A444-44C4CADA2C7F}"/>
                </a:ext>
              </a:extLst>
            </p:cNvPr>
            <p:cNvSpPr/>
            <p:nvPr/>
          </p:nvSpPr>
          <p:spPr>
            <a:xfrm>
              <a:off x="991171" y="3087140"/>
              <a:ext cx="745756" cy="633497"/>
            </a:xfrm>
            <a:prstGeom prst="ellipse">
              <a:avLst/>
            </a:prstGeom>
            <a:solidFill>
              <a:srgbClr val="8B5E34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83" name="Image 7" descr="/home/claude/pptx_work4/n_mining.png">
              <a:extLst>
                <a:ext uri="{FF2B5EF4-FFF2-40B4-BE49-F238E27FC236}">
                  <a16:creationId xmlns:a16="http://schemas.microsoft.com/office/drawing/2014/main" id="{98886B48-8A79-40BD-A0B7-2D8844EA9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55237" y="3226511"/>
              <a:ext cx="417624" cy="354759"/>
            </a:xfrm>
            <a:prstGeom prst="rect">
              <a:avLst/>
            </a:prstGeom>
          </p:spPr>
        </p:pic>
        <p:sp>
          <p:nvSpPr>
            <p:cNvPr id="84" name="Text 30">
              <a:extLst>
                <a:ext uri="{FF2B5EF4-FFF2-40B4-BE49-F238E27FC236}">
                  <a16:creationId xmlns:a16="http://schemas.microsoft.com/office/drawing/2014/main" id="{8D888C08-77EA-4665-A7B8-28AD31F65EAD}"/>
                </a:ext>
              </a:extLst>
            </p:cNvPr>
            <p:cNvSpPr/>
            <p:nvPr/>
          </p:nvSpPr>
          <p:spPr>
            <a:xfrm>
              <a:off x="-9803" y="3489188"/>
              <a:ext cx="1589541" cy="1450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680" b="1" dirty="0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Mining</a:t>
              </a:r>
              <a:endParaRPr lang="en-US" sz="680" dirty="0"/>
            </a:p>
          </p:txBody>
        </p:sp>
        <p:sp>
          <p:nvSpPr>
            <p:cNvPr id="85" name="Shape 31">
              <a:extLst>
                <a:ext uri="{FF2B5EF4-FFF2-40B4-BE49-F238E27FC236}">
                  <a16:creationId xmlns:a16="http://schemas.microsoft.com/office/drawing/2014/main" id="{A686A7A8-C340-4DDF-A2D2-75FEC223E5C7}"/>
                </a:ext>
              </a:extLst>
            </p:cNvPr>
            <p:cNvSpPr/>
            <p:nvPr/>
          </p:nvSpPr>
          <p:spPr>
            <a:xfrm>
              <a:off x="1181976" y="2981484"/>
              <a:ext cx="1006771" cy="1583"/>
            </a:xfrm>
            <a:prstGeom prst="line">
              <a:avLst/>
            </a:prstGeom>
            <a:noFill/>
            <a:ln w="9525">
              <a:solidFill>
                <a:srgbClr val="AAB6CC"/>
              </a:solidFill>
              <a:prstDash val="dash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Shape 32">
              <a:extLst>
                <a:ext uri="{FF2B5EF4-FFF2-40B4-BE49-F238E27FC236}">
                  <a16:creationId xmlns:a16="http://schemas.microsoft.com/office/drawing/2014/main" id="{914B07BA-5368-4282-91D0-E202750B6EEC}"/>
                </a:ext>
              </a:extLst>
            </p:cNvPr>
            <p:cNvSpPr/>
            <p:nvPr/>
          </p:nvSpPr>
          <p:spPr>
            <a:xfrm>
              <a:off x="809098" y="2664736"/>
              <a:ext cx="745756" cy="633497"/>
            </a:xfrm>
            <a:prstGeom prst="ellipse">
              <a:avLst/>
            </a:prstGeom>
            <a:solidFill>
              <a:srgbClr val="E07B1A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87" name="Image 8" descr="/home/claude/pptx_work4/n_transport.png">
              <a:extLst>
                <a:ext uri="{FF2B5EF4-FFF2-40B4-BE49-F238E27FC236}">
                  <a16:creationId xmlns:a16="http://schemas.microsoft.com/office/drawing/2014/main" id="{9471A763-9EAC-43B8-8F8A-5AB9AF066C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73166" y="2804105"/>
              <a:ext cx="417624" cy="354759"/>
            </a:xfrm>
            <a:prstGeom prst="rect">
              <a:avLst/>
            </a:prstGeom>
          </p:spPr>
        </p:pic>
      </p:grpSp>
      <p:sp>
        <p:nvSpPr>
          <p:cNvPr id="88" name="Text 18">
            <a:extLst>
              <a:ext uri="{FF2B5EF4-FFF2-40B4-BE49-F238E27FC236}">
                <a16:creationId xmlns:a16="http://schemas.microsoft.com/office/drawing/2014/main" id="{461C91F9-1884-4006-9F49-5CC406B50429}"/>
              </a:ext>
            </a:extLst>
          </p:cNvPr>
          <p:cNvSpPr/>
          <p:nvPr/>
        </p:nvSpPr>
        <p:spPr>
          <a:xfrm>
            <a:off x="2351039" y="2461366"/>
            <a:ext cx="906511" cy="248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Dev. &amp;</a:t>
            </a:r>
            <a:endParaRPr lang="en-US" sz="68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 (UDH)</a:t>
            </a:r>
            <a:endParaRPr lang="en-US" sz="680" dirty="0"/>
          </a:p>
        </p:txBody>
      </p:sp>
      <p:sp>
        <p:nvSpPr>
          <p:cNvPr id="89" name="Text 15">
            <a:extLst>
              <a:ext uri="{FF2B5EF4-FFF2-40B4-BE49-F238E27FC236}">
                <a16:creationId xmlns:a16="http://schemas.microsoft.com/office/drawing/2014/main" id="{399B444D-2C8B-48D7-94C6-5D088DA0312F}"/>
              </a:ext>
            </a:extLst>
          </p:cNvPr>
          <p:cNvSpPr/>
          <p:nvPr/>
        </p:nvSpPr>
        <p:spPr>
          <a:xfrm>
            <a:off x="571547" y="2632998"/>
            <a:ext cx="420897" cy="11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</a:t>
            </a:r>
            <a:endParaRPr lang="en-US" sz="680" dirty="0"/>
          </a:p>
        </p:txBody>
      </p:sp>
      <p:sp>
        <p:nvSpPr>
          <p:cNvPr id="90" name="Text 30">
            <a:extLst>
              <a:ext uri="{FF2B5EF4-FFF2-40B4-BE49-F238E27FC236}">
                <a16:creationId xmlns:a16="http://schemas.microsoft.com/office/drawing/2014/main" id="{67796A15-E947-42E6-AE11-79814A357EBD}"/>
              </a:ext>
            </a:extLst>
          </p:cNvPr>
          <p:cNvSpPr/>
          <p:nvPr/>
        </p:nvSpPr>
        <p:spPr>
          <a:xfrm>
            <a:off x="405404" y="3044624"/>
            <a:ext cx="523748" cy="14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VAHAAN</a:t>
            </a:r>
            <a:endParaRPr lang="en-US" sz="680" dirty="0"/>
          </a:p>
        </p:txBody>
      </p:sp>
      <p:pic>
        <p:nvPicPr>
          <p:cNvPr id="1026" name="Picture 2" descr="Filtering ">
            <a:extLst>
              <a:ext uri="{FF2B5EF4-FFF2-40B4-BE49-F238E27FC236}">
                <a16:creationId xmlns:a16="http://schemas.microsoft.com/office/drawing/2014/main" id="{22F3972C-1E36-441F-AAC9-66BE81EB4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3718" y="2313432"/>
            <a:ext cx="928684" cy="92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291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to be Adopted in Next Quarter for Revenue Augmentation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881360" cy="0"/>
          </a:xfrm>
          <a:prstGeom prst="line">
            <a:avLst/>
          </a:prstGeom>
          <a:noFill/>
          <a:ln w="254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292840" y="822960"/>
            <a:ext cx="91440" cy="9144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7280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19"/>
            <a:ext cx="11247120" cy="2937501"/>
          </a:xfrm>
          <a:prstGeom prst="rect">
            <a:avLst/>
          </a:prstGeom>
          <a:solidFill>
            <a:srgbClr val="FBF3E3"/>
          </a:solidFill>
          <a:ln w="12700">
            <a:solidFill>
              <a:srgbClr val="EBD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331719"/>
            <a:ext cx="11247120" cy="458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FOCUS AREAS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661160" y="2743200"/>
            <a:ext cx="8869680" cy="0"/>
          </a:xfrm>
          <a:prstGeom prst="line">
            <a:avLst/>
          </a:prstGeom>
          <a:noFill/>
          <a:ln w="9525">
            <a:solidFill>
              <a:srgbClr val="0A1F44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97280" y="2880360"/>
            <a:ext cx="594360" cy="596680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0" descr="/home/claude/pptx_work4/kfa_compl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926" y="3023006"/>
            <a:ext cx="310273" cy="31027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3566159"/>
            <a:ext cx="1728216" cy="504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Improvement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8640" y="4069080"/>
            <a:ext cx="1691640" cy="82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Timely filing, correct reporting and ITC reversals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71800" y="2880360"/>
            <a:ext cx="594360" cy="596680"/>
          </a:xfrm>
          <a:prstGeom prst="ellipse">
            <a:avLst/>
          </a:prstGeom>
          <a:solidFill>
            <a:srgbClr val="6C3FA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/home/claude/pptx_work4/kfa_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446" y="3023006"/>
            <a:ext cx="310273" cy="31027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04872" y="3566159"/>
            <a:ext cx="1728216" cy="504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Technology-Driven Monitoring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423160" y="4069080"/>
            <a:ext cx="1691640" cy="82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analytics, AI/ML and risk detection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2331720" y="2743200"/>
            <a:ext cx="0" cy="2019532"/>
          </a:xfrm>
          <a:prstGeom prst="line">
            <a:avLst/>
          </a:prstGeom>
          <a:noFill/>
          <a:ln w="9525">
            <a:solidFill>
              <a:srgbClr val="EBD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4846320" y="2880360"/>
            <a:ext cx="594360" cy="596680"/>
          </a:xfrm>
          <a:prstGeom prst="ellipse">
            <a:avLst/>
          </a:prstGeom>
          <a:solidFill>
            <a:srgbClr val="2E7D4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/home/claude/pptx_work4/kfa_sec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966" y="3023006"/>
            <a:ext cx="310273" cy="3102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279392" y="3566159"/>
            <a:ext cx="1728216" cy="504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Sector-Specific Enforcement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297680" y="4069080"/>
            <a:ext cx="1691640" cy="82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action on high-risk and low-buoyancy sectors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4206240" y="2743200"/>
            <a:ext cx="0" cy="2019532"/>
          </a:xfrm>
          <a:prstGeom prst="line">
            <a:avLst/>
          </a:prstGeom>
          <a:noFill/>
          <a:ln w="9525">
            <a:solidFill>
              <a:srgbClr val="EBD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6720840" y="2880360"/>
            <a:ext cx="594360" cy="596680"/>
          </a:xfrm>
          <a:prstGeom prst="ellipse">
            <a:avLst/>
          </a:prstGeom>
          <a:solidFill>
            <a:srgbClr val="E07B1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/home/claude/pptx_work4/kfa_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486" y="3023006"/>
            <a:ext cx="310273" cy="31027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153912" y="3566159"/>
            <a:ext cx="1728216" cy="504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Risk Profiling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172200" y="4069080"/>
            <a:ext cx="1691640" cy="82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identification of high-risk taxpayers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6080760" y="2743200"/>
            <a:ext cx="0" cy="2019532"/>
          </a:xfrm>
          <a:prstGeom prst="line">
            <a:avLst/>
          </a:prstGeom>
          <a:noFill/>
          <a:ln w="9525">
            <a:solidFill>
              <a:srgbClr val="EBD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8595360" y="2880360"/>
            <a:ext cx="594360" cy="596680"/>
          </a:xfrm>
          <a:prstGeom prst="ellipse">
            <a:avLst/>
          </a:prstGeom>
          <a:solidFill>
            <a:srgbClr val="1D787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4" descr="/home/claude/pptx_work4/kfa_da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8006" y="3023006"/>
            <a:ext cx="310273" cy="31027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028432" y="3566159"/>
            <a:ext cx="1728216" cy="504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Integration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8046720" y="4069080"/>
            <a:ext cx="1691640" cy="82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linkage with external government and departmental data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7955280" y="2743200"/>
            <a:ext cx="0" cy="2019532"/>
          </a:xfrm>
          <a:prstGeom prst="line">
            <a:avLst/>
          </a:prstGeom>
          <a:noFill/>
          <a:ln w="9525">
            <a:solidFill>
              <a:srgbClr val="EBD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27"/>
          <p:cNvSpPr/>
          <p:nvPr/>
        </p:nvSpPr>
        <p:spPr>
          <a:xfrm>
            <a:off x="10469880" y="2880360"/>
            <a:ext cx="594360" cy="596680"/>
          </a:xfrm>
          <a:prstGeom prst="ellipse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5" descr="/home/claude/pptx_work4/kfa_reven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2526" y="3023006"/>
            <a:ext cx="310273" cy="310273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902952" y="3566159"/>
            <a:ext cx="1728216" cy="504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Revenue Realization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9921240" y="4069080"/>
            <a:ext cx="1691640" cy="82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3A3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audits, enforcement and compliance actions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9829800" y="2743200"/>
            <a:ext cx="0" cy="2019532"/>
          </a:xfrm>
          <a:prstGeom prst="line">
            <a:avLst/>
          </a:prstGeom>
          <a:noFill/>
          <a:ln w="9525">
            <a:solidFill>
              <a:srgbClr val="EBD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1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2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of Rajasthan  |  GST Revenue Trends 2026–27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11567160" y="6656832"/>
            <a:ext cx="118872" cy="118872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D8A0E88A-6D32-8F2E-3DA5-C817C2B4E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19">
            <a:extLst>
              <a:ext uri="{FF2B5EF4-FFF2-40B4-BE49-F238E27FC236}">
                <a16:creationId xmlns:a16="http://schemas.microsoft.com/office/drawing/2014/main" id="{8CA8BBC0-C11D-66C3-8466-75EAB193615F}"/>
              </a:ext>
            </a:extLst>
          </p:cNvPr>
          <p:cNvGrpSpPr/>
          <p:nvPr/>
        </p:nvGrpSpPr>
        <p:grpSpPr>
          <a:xfrm>
            <a:off x="1" y="0"/>
            <a:ext cx="12192169" cy="6858000"/>
            <a:chOff x="0" y="0"/>
            <a:chExt cx="9144127" cy="5143500"/>
          </a:xfrm>
        </p:grpSpPr>
        <p:sp>
          <p:nvSpPr>
            <p:cNvPr id="200" name="Google Shape;200;p19">
              <a:extLst>
                <a:ext uri="{FF2B5EF4-FFF2-40B4-BE49-F238E27FC236}">
                  <a16:creationId xmlns:a16="http://schemas.microsoft.com/office/drawing/2014/main" id="{C9F7C30B-E640-2B2B-237C-8F7023B319CE}"/>
                </a:ext>
              </a:extLst>
            </p:cNvPr>
            <p:cNvSpPr/>
            <p:nvPr/>
          </p:nvSpPr>
          <p:spPr>
            <a:xfrm>
              <a:off x="164592" y="0"/>
              <a:ext cx="8979535" cy="5143500"/>
            </a:xfrm>
            <a:custGeom>
              <a:avLst/>
              <a:gdLst/>
              <a:ahLst/>
              <a:cxnLst/>
              <a:rect l="l" t="t" r="r" b="b"/>
              <a:pathLst>
                <a:path w="8979535" h="5143500" extrusionOk="0">
                  <a:moveTo>
                    <a:pt x="0" y="5143500"/>
                  </a:moveTo>
                  <a:lnTo>
                    <a:pt x="8979408" y="5143500"/>
                  </a:lnTo>
                  <a:lnTo>
                    <a:pt x="8979408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rgbClr val="1B2A4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201" name="Google Shape;201;p19">
              <a:extLst>
                <a:ext uri="{FF2B5EF4-FFF2-40B4-BE49-F238E27FC236}">
                  <a16:creationId xmlns:a16="http://schemas.microsoft.com/office/drawing/2014/main" id="{38EE31D2-504B-BC2F-C53F-6457F220B228}"/>
                </a:ext>
              </a:extLst>
            </p:cNvPr>
            <p:cNvSpPr/>
            <p:nvPr/>
          </p:nvSpPr>
          <p:spPr>
            <a:xfrm>
              <a:off x="0" y="0"/>
              <a:ext cx="165100" cy="5143500"/>
            </a:xfrm>
            <a:custGeom>
              <a:avLst/>
              <a:gdLst/>
              <a:ahLst/>
              <a:cxnLst/>
              <a:rect l="l" t="t" r="r" b="b"/>
              <a:pathLst>
                <a:path w="165100" h="5143500" extrusionOk="0">
                  <a:moveTo>
                    <a:pt x="16459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64592" y="5143500"/>
                  </a:lnTo>
                  <a:lnTo>
                    <a:pt x="164592" y="0"/>
                  </a:lnTo>
                  <a:close/>
                </a:path>
              </a:pathLst>
            </a:custGeom>
            <a:solidFill>
              <a:srgbClr val="C8A84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202" name="Google Shape;202;p19">
              <a:extLst>
                <a:ext uri="{FF2B5EF4-FFF2-40B4-BE49-F238E27FC236}">
                  <a16:creationId xmlns:a16="http://schemas.microsoft.com/office/drawing/2014/main" id="{45B8DD28-E1AC-292C-0635-A6570856989E}"/>
                </a:ext>
              </a:extLst>
            </p:cNvPr>
            <p:cNvSpPr/>
            <p:nvPr/>
          </p:nvSpPr>
          <p:spPr>
            <a:xfrm>
              <a:off x="0" y="0"/>
              <a:ext cx="165100" cy="5143500"/>
            </a:xfrm>
            <a:custGeom>
              <a:avLst/>
              <a:gdLst/>
              <a:ahLst/>
              <a:cxnLst/>
              <a:rect l="l" t="t" r="r" b="b"/>
              <a:pathLst>
                <a:path w="165100" h="5143500" extrusionOk="0">
                  <a:moveTo>
                    <a:pt x="0" y="5143500"/>
                  </a:moveTo>
                  <a:lnTo>
                    <a:pt x="164592" y="5143500"/>
                  </a:lnTo>
                  <a:lnTo>
                    <a:pt x="164592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noFill/>
            <a:ln w="12675" cap="flat" cmpd="sng">
              <a:solidFill>
                <a:srgbClr val="C8A8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06" name="Google Shape;206;p19">
            <a:extLst>
              <a:ext uri="{FF2B5EF4-FFF2-40B4-BE49-F238E27FC236}">
                <a16:creationId xmlns:a16="http://schemas.microsoft.com/office/drawing/2014/main" id="{8571411C-7571-A5EC-DF55-CFAFAE3721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05717" y="2785401"/>
            <a:ext cx="6688800" cy="63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33" rIns="0" bIns="0" anchor="t" anchorCtr="0">
            <a:spAutoFit/>
          </a:bodyPr>
          <a:lstStyle/>
          <a:p>
            <a:pPr marL="16933"/>
            <a:r>
              <a:rPr lang="en-US" sz="4000" dirty="0">
                <a:solidFill>
                  <a:srgbClr val="C8A84B"/>
                </a:solidFill>
              </a:rPr>
              <a:t>THANK YOU !!!</a:t>
            </a:r>
            <a:endParaRPr sz="4000" dirty="0"/>
          </a:p>
        </p:txBody>
      </p:sp>
      <p:grpSp>
        <p:nvGrpSpPr>
          <p:cNvPr id="208" name="Google Shape;208;p19">
            <a:extLst>
              <a:ext uri="{FF2B5EF4-FFF2-40B4-BE49-F238E27FC236}">
                <a16:creationId xmlns:a16="http://schemas.microsoft.com/office/drawing/2014/main" id="{68AAAE15-E41F-47CD-6E04-07E06D222A73}"/>
              </a:ext>
            </a:extLst>
          </p:cNvPr>
          <p:cNvGrpSpPr/>
          <p:nvPr/>
        </p:nvGrpSpPr>
        <p:grpSpPr>
          <a:xfrm>
            <a:off x="3657600" y="3657600"/>
            <a:ext cx="4876800" cy="49107"/>
            <a:chOff x="2743200" y="2743200"/>
            <a:chExt cx="3657600" cy="36830"/>
          </a:xfrm>
        </p:grpSpPr>
        <p:sp>
          <p:nvSpPr>
            <p:cNvPr id="209" name="Google Shape;209;p19">
              <a:extLst>
                <a:ext uri="{FF2B5EF4-FFF2-40B4-BE49-F238E27FC236}">
                  <a16:creationId xmlns:a16="http://schemas.microsoft.com/office/drawing/2014/main" id="{08159BA2-C1B7-3BA7-EEE5-B14858039B6D}"/>
                </a:ext>
              </a:extLst>
            </p:cNvPr>
            <p:cNvSpPr/>
            <p:nvPr/>
          </p:nvSpPr>
          <p:spPr>
            <a:xfrm>
              <a:off x="2743200" y="2743200"/>
              <a:ext cx="3657600" cy="36830"/>
            </a:xfrm>
            <a:custGeom>
              <a:avLst/>
              <a:gdLst/>
              <a:ahLst/>
              <a:cxnLst/>
              <a:rect l="l" t="t" r="r" b="b"/>
              <a:pathLst>
                <a:path w="3657600" h="36830" extrusionOk="0">
                  <a:moveTo>
                    <a:pt x="365760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657600" y="36575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C8A84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  <p:sp>
          <p:nvSpPr>
            <p:cNvPr id="210" name="Google Shape;210;p19">
              <a:extLst>
                <a:ext uri="{FF2B5EF4-FFF2-40B4-BE49-F238E27FC236}">
                  <a16:creationId xmlns:a16="http://schemas.microsoft.com/office/drawing/2014/main" id="{992C53C1-4CAA-B5FB-B9CC-DEC392043AB4}"/>
                </a:ext>
              </a:extLst>
            </p:cNvPr>
            <p:cNvSpPr/>
            <p:nvPr/>
          </p:nvSpPr>
          <p:spPr>
            <a:xfrm>
              <a:off x="2743200" y="2743200"/>
              <a:ext cx="3657600" cy="36830"/>
            </a:xfrm>
            <a:custGeom>
              <a:avLst/>
              <a:gdLst/>
              <a:ahLst/>
              <a:cxnLst/>
              <a:rect l="l" t="t" r="r" b="b"/>
              <a:pathLst>
                <a:path w="3657600" h="36830" extrusionOk="0">
                  <a:moveTo>
                    <a:pt x="0" y="36575"/>
                  </a:moveTo>
                  <a:lnTo>
                    <a:pt x="3657600" y="36575"/>
                  </a:lnTo>
                  <a:lnTo>
                    <a:pt x="3657600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noFill/>
            <a:ln w="12700" cap="flat" cmpd="sng">
              <a:solidFill>
                <a:srgbClr val="C8A8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228284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5275</TotalTime>
  <Words>4495</Words>
  <Application>Microsoft Office PowerPoint</Application>
  <PresentationFormat>Widescreen</PresentationFormat>
  <Paragraphs>1068</Paragraphs>
  <Slides>28</Slides>
  <Notes>25</Notes>
  <HiddenSlides>2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Aptos</vt:lpstr>
      <vt:lpstr>Aptos Display</vt:lpstr>
      <vt:lpstr>Aptos Narrow</vt:lpstr>
      <vt:lpstr>Arial</vt:lpstr>
      <vt:lpstr>Calibri</vt:lpstr>
      <vt:lpstr>Cambria</vt:lpstr>
      <vt:lpstr>Lato</vt:lpstr>
      <vt:lpstr>Lato SemiBold</vt:lpstr>
      <vt:lpstr>Poppins</vt:lpstr>
      <vt:lpstr>Poppins SemiBold</vt:lpstr>
      <vt:lpstr>Roboto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Policy  and Administrative Reforms</vt:lpstr>
      <vt:lpstr>PowerPoint Presentation</vt:lpstr>
      <vt:lpstr>#1 Organizational strengthening</vt:lpstr>
      <vt:lpstr>#2 Housekeeping — Clean Databases &amp; Pendency Disposal</vt:lpstr>
      <vt:lpstr>#3 AI Tools for Monitoring, Audit, Enforcement &amp; Scrutiny</vt:lpstr>
      <vt:lpstr>#4 Informers &amp; Government-Servant Reward Scheme</vt:lpstr>
      <vt:lpstr>#5 Expedite Legal cases disposal</vt:lpstr>
      <vt:lpstr>#6 Data-Driven Enforcement &amp; Special Drives</vt:lpstr>
      <vt:lpstr>#7 Enforcement Wing Strengthening — Fake ITC / Layer Cracking</vt:lpstr>
      <vt:lpstr>CS meeting with Secretary Revenue</vt:lpstr>
      <vt:lpstr>CS meeting with Secretary Revenue</vt:lpstr>
      <vt:lpstr>PowerPoint Presentation</vt:lpstr>
      <vt:lpstr>PowerPoint Presentation</vt:lpstr>
      <vt:lpstr>PowerPoint Presentation</vt:lpstr>
      <vt:lpstr>THANK YOU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Jain, Anant</dc:creator>
  <cp:lastModifiedBy>Jain, Anant</cp:lastModifiedBy>
  <cp:revision>45</cp:revision>
  <dcterms:created xsi:type="dcterms:W3CDTF">2026-07-15T10:36:15Z</dcterms:created>
  <dcterms:modified xsi:type="dcterms:W3CDTF">2026-07-23T08:13:36Z</dcterms:modified>
</cp:coreProperties>
</file>