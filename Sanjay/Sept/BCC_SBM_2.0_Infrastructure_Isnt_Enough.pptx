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08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306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SBM built sanitation access at unprecedented scale. But a toilet is only useful if used, and a bin only works if waste is segregated. The decisive variable now is human behaviour — and BCC is the tool that changes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SBM is the world's largest sanitation programme. Phase I was an infrastructure sprint that made India ODF on paper by 2019. SBM 2.0 (2021–26) is deliberately about sustainability — using, maintaining and managing what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is component-based and increasingly outcome-linked: money follows verified results. Collection and construction numbers are strong — the harder, behaviour-dependent components (segregation, treatment, sustained use) are where the mission is now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topic. The declaration of ODF and the construction totals are real — but survey evidence shows a persistent gap between having and using, and between collecting and segregating. That gap is behavioural, which is exactly what BCC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point: BCC is a disciplined process. It starts with formative research, segments audiences, uses CLTS-style triggering to create demand, then relies on trained Swachhagrahis for house-to-house interpersonal communication and community vigilance to sustain the behaviour. Broadcast alone does not change entrenched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evidence-based gaps. Note the pattern: collection and construction are strong, but every remaining gap depends on someone changing what they do — using the toilet, segregating waste, sustaining the habit. That is why the mission's success now rests on BCC.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items are deliberately owner- and horizon-tagged so they read as an implementation plan, not wishes. The through-line: budget, staff and measure behaviour with the same seriousness as concrete and pipes.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thesis and tying it back to the title. The argument: infrastructure is necessary but not sufficient; behaviour is the binding constraint; BCC is the instrument; and the recommendation is to resource behaviour change like the infrastructure it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515600" y="-548640"/>
            <a:ext cx="2743200" cy="274320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SWACHH BHARAT MISSION (SBM) 2.0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Infrastructure Isn't Enough: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Role of Behaviour Change Communication (BCC)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has been built. Outcomes depend on what people do next.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Scheme: SBM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nationwide sanitation mission that has evolved from building assets to sustaining outcomes.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 txBox="1"/>
          <p:nvPr/>
        </p:nvSpPr>
        <p:spPr>
          <a:xfrm>
            <a:off x="86868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 — "Build It"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56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Oct 2014 – 2019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9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open defecation.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786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million+ rural toilets constructed</a:t>
            </a:r>
            <a:endParaRPr lang="en-US" sz="12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rose from 39% to a declared 100%</a:t>
            </a:r>
            <a:endParaRPr lang="en-US" sz="12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declared ODF on 2 Oct 2019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0" name="Text 8"/>
          <p:cNvSpPr txBox="1"/>
          <p:nvPr/>
        </p:nvSpPr>
        <p:spPr>
          <a:xfrm>
            <a:off x="6519672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SBM 2.0 — "Sustain It"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56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D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Oct 2021 → 2025–26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249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cleanliness last.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5786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ODF Plus, waste management, Garbage-Free Cities</a:t>
            </a:r>
            <a:endParaRPr lang="en-US" sz="12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arms: SBM-Grameen II + SBM-Urban 2.0</a:t>
            </a:r>
            <a:endParaRPr lang="en-US" sz="12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shifts to usage, treatment &amp; segregation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5" name="Text 13"/>
          <p:cNvSpPr txBox="1"/>
          <p:nvPr/>
        </p:nvSpPr>
        <p:spPr>
          <a:xfrm>
            <a:off x="594360" y="426110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₹2.8 lakh cr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9560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SBM 2.0 outlay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(G: ~1.4L cr + U: 1.41L cr)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46704" y="402336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8" name="Text 16"/>
          <p:cNvSpPr txBox="1"/>
          <p:nvPr/>
        </p:nvSpPr>
        <p:spPr>
          <a:xfrm>
            <a:off x="3392424" y="426110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12.14 cr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456432" y="49560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 toilets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(as of June 2026)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402336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21" name="Text 19"/>
          <p:cNvSpPr txBox="1"/>
          <p:nvPr/>
        </p:nvSpPr>
        <p:spPr>
          <a:xfrm>
            <a:off x="6190488" y="426110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5.69 lakh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49560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declared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ODF Plus (2026)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2832" y="4023360"/>
            <a:ext cx="2688336" cy="1828800"/>
          </a:xfrm>
          <a:prstGeom prst="roundRect">
            <a:avLst>
              <a:gd name="adj" fmla="val 5000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24" name="Text 22"/>
          <p:cNvSpPr txBox="1"/>
          <p:nvPr/>
        </p:nvSpPr>
        <p:spPr>
          <a:xfrm>
            <a:off x="8988552" y="426110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49560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towns covered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SBM-Urban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MoHUA; DDWS, Ministry of Jal Shakti; PMIndia; PIB (2021–2026).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How SBM 2.0 Delivers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components, an outcome-linked delivery chain, and measurable progress.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(URBAN + RURAL)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0345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75564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segregation &amp; scientific solid-waste processing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0662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0" name="Shape 7"/>
          <p:cNvSpPr/>
          <p:nvPr/>
        </p:nvSpPr>
        <p:spPr>
          <a:xfrm>
            <a:off x="749808" y="292608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30403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76148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Used-water / greywater &amp; faecal-sludge management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1246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4" name="Shape 10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0462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76732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dumpsite remediation &amp; plastic-waste management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718304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8" name="Shape 13"/>
          <p:cNvSpPr/>
          <p:nvPr/>
        </p:nvSpPr>
        <p:spPr>
          <a:xfrm>
            <a:off x="749808" y="493776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50520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477316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ODF Plus villages: sustain ODF + SLWM (waste-to-wealth)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OUTCOME-LINKED DELIVERY CHAIN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1682496"/>
            <a:ext cx="5532120" cy="822960"/>
          </a:xfrm>
          <a:prstGeom prst="rect">
            <a:avLst/>
          </a:prstGeom>
          <a:solidFill>
            <a:srgbClr val="F4FA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</a:t>
            </a: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(MoHUA / DoWS-Jal Shakti)  →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</a:t>
            </a: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</a:t>
            </a: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/ Gram Panchayat </a:t>
            </a: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Swachhagrahis at the household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257860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released against </a:t>
            </a:r>
            <a:r>
              <a:rPr lang="en-US" sz="12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outcomes</a:t>
            </a: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expenditure, and tracked on </a:t>
            </a:r>
            <a:r>
              <a:rPr lang="en-US" sz="12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55080" y="3108960"/>
            <a:ext cx="5532120" cy="27432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1B4332">
                <a:alpha val="22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25" name="Text 19"/>
          <p:cNvSpPr txBox="1"/>
          <p:nvPr/>
        </p:nvSpPr>
        <p:spPr>
          <a:xfrm>
            <a:off x="662940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ON THE GROUND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629400" y="3639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3,300+</a:t>
            </a:r>
            <a:endParaRPr lang="en-US" sz="2800" dirty="0"/>
          </a:p>
        </p:txBody>
      </p:sp>
      <p:sp>
        <p:nvSpPr>
          <p:cNvPr id="27" name="Text 21"/>
          <p:cNvSpPr txBox="1"/>
          <p:nvPr/>
        </p:nvSpPr>
        <p:spPr>
          <a:xfrm>
            <a:off x="662940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certified ODF+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281160" y="3639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960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928116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certified ODF++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6294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lakh+</a:t>
            </a:r>
            <a:endParaRPr lang="en-US" sz="2800" dirty="0"/>
          </a:p>
        </p:txBody>
      </p:sp>
      <p:sp>
        <p:nvSpPr>
          <p:cNvPr id="31" name="Text 25"/>
          <p:cNvSpPr txBox="1"/>
          <p:nvPr/>
        </p:nvSpPr>
        <p:spPr>
          <a:xfrm>
            <a:off x="662940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toilets built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5.04 lakh</a:t>
            </a:r>
            <a:endParaRPr lang="en-US" sz="2800" dirty="0"/>
          </a:p>
        </p:txBody>
      </p:sp>
      <p:sp>
        <p:nvSpPr>
          <p:cNvPr id="33" name="Text 27"/>
          <p:cNvSpPr txBox="1"/>
          <p:nvPr/>
        </p:nvSpPr>
        <p:spPr>
          <a:xfrm>
            <a:off x="928116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ODF Plus Model villages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MoHUA SBM-U dashboard; DDWS; PIB (2024–2026).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Context: Why Infrastructure Isn't Enough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assets deliver very different outcomes depending on human behaviour.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toilet that is not used, lacks water, leaks, or whose waste is dumped untreated 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no safe sanitation.</a:t>
            </a:r>
            <a:r>
              <a:rPr lang="en-US" sz="16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bin only helps if waste is segregated. The gains now hinge on daily habits — </a:t>
            </a: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 problem, not a construction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577840" cy="2514600"/>
          </a:xfrm>
          <a:prstGeom prst="roundRect">
            <a:avLst>
              <a:gd name="adj" fmla="val 3636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7" name="Shape 5"/>
          <p:cNvSpPr/>
          <p:nvPr/>
        </p:nvSpPr>
        <p:spPr>
          <a:xfrm>
            <a:off x="822960" y="3767328"/>
            <a:ext cx="685800" cy="6858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938778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3822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BCC comes in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26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D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 Communication (BCC)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systematic, research-based use of communication to convert: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→ daily 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→ source segregation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achieved → a habit sustained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532120" cy="4663440"/>
          </a:xfrm>
          <a:prstGeom prst="roundRect">
            <a:avLst>
              <a:gd name="adj" fmla="val 2353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1B4332">
                <a:alpha val="22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3" name="Text 10"/>
          <p:cNvSpPr txBox="1"/>
          <p:nvPr/>
        </p:nvSpPr>
        <p:spPr>
          <a:xfrm>
            <a:off x="662940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ACCESS-vs-OUTCOME GAP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19933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4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250545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households still did not use a toilet in 2021 — despite the 2019 ODF declaration (NFHS-5).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 pts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8221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open-defecation when people are asked individually vs. by household: "owning a toilet ≠ using it."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626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30–35%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513892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municipal waste is scientifically segregated — even though ~97% of wards have door-to-door collection.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NFHS-5 (2019–21); r.i.c.e. survey; CPCB; MoHUA; Policy Circle (2026).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How BCC Bridges the Gap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staged, community-led process — not a one-off awareness campaign.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44752" y="2560320"/>
            <a:ext cx="93726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  <p:txBody>
          <a:bodyPr/>
          <a:lstStyle/>
          <a:p>
            <a:endParaRPr lang="en-IN" sz="2000"/>
          </a:p>
        </p:txBody>
      </p:sp>
      <p:sp>
        <p:nvSpPr>
          <p:cNvPr id="5" name="Shape 3"/>
          <p:cNvSpPr/>
          <p:nvPr/>
        </p:nvSpPr>
        <p:spPr>
          <a:xfrm>
            <a:off x="103327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35458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" name="Text 5"/>
          <p:cNvSpPr txBox="1"/>
          <p:nvPr/>
        </p:nvSpPr>
        <p:spPr>
          <a:xfrm>
            <a:off x="157276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0" name="Text 7"/>
          <p:cNvSpPr txBox="1"/>
          <p:nvPr/>
        </p:nvSpPr>
        <p:spPr>
          <a:xfrm>
            <a:off x="56692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before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0779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532" y="235458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728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5" name="Text 11"/>
          <p:cNvSpPr txBox="1"/>
          <p:nvPr/>
        </p:nvSpPr>
        <p:spPr>
          <a:xfrm>
            <a:off x="344728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44144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7" name="Text 13"/>
          <p:cNvSpPr txBox="1"/>
          <p:nvPr/>
        </p:nvSpPr>
        <p:spPr>
          <a:xfrm>
            <a:off x="244144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244144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each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8231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52" y="235458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2180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2" name="Text 17"/>
          <p:cNvSpPr txBox="1"/>
          <p:nvPr/>
        </p:nvSpPr>
        <p:spPr>
          <a:xfrm>
            <a:off x="532180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31596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24" name="Text 19"/>
          <p:cNvSpPr txBox="1"/>
          <p:nvPr/>
        </p:nvSpPr>
        <p:spPr>
          <a:xfrm>
            <a:off x="431596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431596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demand</a:t>
            </a:r>
            <a:endParaRPr lang="en-US" sz="1200" dirty="0"/>
          </a:p>
          <a:p>
            <a:pPr algn="ctr">
              <a:lnSpc>
                <a:spcPts val="1300"/>
              </a:lnSpc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(Community-Led Total Sanitation)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5683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572" y="2354580"/>
            <a:ext cx="411480" cy="4114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19632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9" name="Text 23"/>
          <p:cNvSpPr txBox="1"/>
          <p:nvPr/>
        </p:nvSpPr>
        <p:spPr>
          <a:xfrm>
            <a:off x="719632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619048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31" name="Text 25"/>
          <p:cNvSpPr txBox="1"/>
          <p:nvPr/>
        </p:nvSpPr>
        <p:spPr>
          <a:xfrm>
            <a:off x="619048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</a:t>
            </a:r>
            <a:endParaRPr lang="en-US" dirty="0"/>
          </a:p>
        </p:txBody>
      </p:sp>
      <p:sp>
        <p:nvSpPr>
          <p:cNvPr id="32" name="Text 26"/>
          <p:cNvSpPr txBox="1"/>
          <p:nvPr/>
        </p:nvSpPr>
        <p:spPr>
          <a:xfrm>
            <a:off x="619048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House-to-house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53135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092" y="2354580"/>
            <a:ext cx="411480" cy="4114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07084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6" name="Text 29"/>
          <p:cNvSpPr txBox="1"/>
          <p:nvPr/>
        </p:nvSpPr>
        <p:spPr>
          <a:xfrm>
            <a:off x="907084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806500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38" name="Text 31"/>
          <p:cNvSpPr txBox="1"/>
          <p:nvPr/>
        </p:nvSpPr>
        <p:spPr>
          <a:xfrm>
            <a:off x="806500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dirty="0"/>
          </a:p>
        </p:txBody>
      </p:sp>
      <p:sp>
        <p:nvSpPr>
          <p:cNvPr id="39" name="Text 32"/>
          <p:cNvSpPr txBox="1"/>
          <p:nvPr/>
        </p:nvSpPr>
        <p:spPr>
          <a:xfrm>
            <a:off x="806500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Nigrani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10405872" y="21488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1612" y="2354580"/>
            <a:ext cx="411480" cy="41148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945368" y="2039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3" name="Text 35"/>
          <p:cNvSpPr txBox="1"/>
          <p:nvPr/>
        </p:nvSpPr>
        <p:spPr>
          <a:xfrm>
            <a:off x="1094536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9939528" y="3172968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45" name="Text 37"/>
          <p:cNvSpPr txBox="1"/>
          <p:nvPr/>
        </p:nvSpPr>
        <p:spPr>
          <a:xfrm>
            <a:off x="9939528" y="328269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</a:t>
            </a:r>
            <a:endParaRPr lang="en-US" dirty="0"/>
          </a:p>
        </p:txBody>
      </p:sp>
      <p:sp>
        <p:nvSpPr>
          <p:cNvPr id="46" name="Text 38"/>
          <p:cNvSpPr txBox="1"/>
          <p:nvPr/>
        </p:nvSpPr>
        <p:spPr>
          <a:xfrm>
            <a:off x="9939528" y="3666744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norm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566928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1B4332">
                <a:alpha val="22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48" name="Shape 40"/>
          <p:cNvSpPr/>
          <p:nvPr/>
        </p:nvSpPr>
        <p:spPr>
          <a:xfrm>
            <a:off x="841248" y="5138928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68" y="5298948"/>
            <a:ext cx="320040" cy="32004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691640" y="5029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— interpersonal communication does the heavy lifting:  </a:t>
            </a: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SBM strategy SHACS (Sanitation, Hygiene &amp; Communication Strategy ) directs about </a:t>
            </a:r>
            <a:r>
              <a:rPr lang="en-US" sz="1400" b="1" dirty="0">
                <a:solidFill>
                  <a:srgbClr val="F5D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the IEC(Information, Education, and Communication) budget to face-to-face IPC(Interpersonal Communication)</a:t>
            </a: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backed by mid-media (folk, wall-art, vans) and mass media for reach. Consistent, local-language, community-owned messaging is what makes SBM the world's largest behaviour-change programme.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SBM Sanitation, Hygiene &amp; Communication Strategy (SHACS); DDWS IEC Manual for ODF Plus.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Analysis: Where the System Leaks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below is behavioural or communication-driven — not a shortage of assets.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7840" y="153924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72160" y="1795272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92" y="19370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5392" y="1813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≠ usage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72160" y="2471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 of households still had no toilet in 2021; ~1 in 4 rural households don't use one (NFHS-5).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9176" y="153924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Shape 7"/>
          <p:cNvSpPr/>
          <p:nvPr/>
        </p:nvSpPr>
        <p:spPr>
          <a:xfrm>
            <a:off x="4603496" y="1795272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228" y="19370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6728" y="1813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but not segregated</a:t>
            </a:r>
            <a:endParaRPr 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4603496" y="2471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30–35% of waste is scientifically segregated; source-segregation ~38% in large cities.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60512" y="153924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EAF5EE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5" name="Shape 11"/>
          <p:cNvSpPr/>
          <p:nvPr/>
        </p:nvSpPr>
        <p:spPr>
          <a:xfrm>
            <a:off x="8434832" y="1795272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564" y="19370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8064" y="1813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dichotomy</a:t>
            </a:r>
            <a:endParaRPr lang="en-US" dirty="0"/>
          </a:p>
        </p:txBody>
      </p:sp>
      <p:sp>
        <p:nvSpPr>
          <p:cNvPr id="18" name="Text 13"/>
          <p:cNvSpPr txBox="1"/>
          <p:nvPr/>
        </p:nvSpPr>
        <p:spPr>
          <a:xfrm>
            <a:off x="8434832" y="2471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claim &gt;80% processing; independent estimates put effective scientific processing below 50%.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18160" y="4009136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Shape 15"/>
          <p:cNvSpPr/>
          <p:nvPr/>
        </p:nvSpPr>
        <p:spPr>
          <a:xfrm>
            <a:off x="792480" y="42651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12" y="44069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5712" y="42834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&amp; fatigue</a:t>
            </a:r>
            <a:endParaRPr lang="en-US" dirty="0"/>
          </a:p>
        </p:txBody>
      </p:sp>
      <p:sp>
        <p:nvSpPr>
          <p:cNvPr id="23" name="Text 17"/>
          <p:cNvSpPr txBox="1"/>
          <p:nvPr/>
        </p:nvSpPr>
        <p:spPr>
          <a:xfrm>
            <a:off x="792480" y="49418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collapses when segregated waste is re-mixed at collection; ODF gains can reverse.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49496" y="4009136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Shape 19"/>
          <p:cNvSpPr/>
          <p:nvPr/>
        </p:nvSpPr>
        <p:spPr>
          <a:xfrm>
            <a:off x="4623816" y="42651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548" y="4406900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7048" y="42834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equity variation</a:t>
            </a:r>
            <a:endParaRPr lang="en-US" dirty="0"/>
          </a:p>
        </p:txBody>
      </p:sp>
      <p:sp>
        <p:nvSpPr>
          <p:cNvPr id="28" name="Text 21"/>
          <p:cNvSpPr txBox="1"/>
          <p:nvPr/>
        </p:nvSpPr>
        <p:spPr>
          <a:xfrm>
            <a:off x="4623816" y="49418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~38% of households without a toilet vs Haryana ~2.9% — one national message doesn't fit all.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80832" y="4009136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4FAF6"/>
          </a:solidFill>
          <a:ln w="12700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0" name="Shape 23"/>
          <p:cNvSpPr/>
          <p:nvPr/>
        </p:nvSpPr>
        <p:spPr>
          <a:xfrm>
            <a:off x="8455152" y="42651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884" y="4406900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68384" y="42834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under-prioritised</a:t>
            </a:r>
            <a:endParaRPr lang="en-US" dirty="0"/>
          </a:p>
        </p:txBody>
      </p:sp>
      <p:sp>
        <p:nvSpPr>
          <p:cNvPr id="33" name="Text 25"/>
          <p:cNvSpPr txBox="1"/>
          <p:nvPr/>
        </p:nvSpPr>
        <p:spPr>
          <a:xfrm>
            <a:off x="8455152" y="49418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often treated as an add-on; campaigns inform but rarely change lasting habits.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NFHS-5; CPCB; SBM-U dashboard vs. independent analyses; CEDA/Ashoka; r.i.c.e.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&amp; Action Items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to treat behaviour as core infrastructure — with owners and horizons.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804672" y="160934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7465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5910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use, not just access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KPIs and fund-release to verified usage &amp; segregation outcomes.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7"/>
          <p:cNvSpPr txBox="1"/>
          <p:nvPr/>
        </p:nvSpPr>
        <p:spPr>
          <a:xfrm>
            <a:off x="960120" y="30632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MoHUA / DoWS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9976" y="13716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2" name="Shape 9"/>
          <p:cNvSpPr/>
          <p:nvPr/>
        </p:nvSpPr>
        <p:spPr>
          <a:xfrm>
            <a:off x="4636008" y="160934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7465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12664" y="15910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and staff IPC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4654296" y="2286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 the IEC budget; deploy &amp; incentivise a Swachhagrahi per GP/ward.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54296" y="306324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3"/>
          <p:cNvSpPr txBox="1"/>
          <p:nvPr/>
        </p:nvSpPr>
        <p:spPr>
          <a:xfrm>
            <a:off x="4791456" y="30632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ULBs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0–6 mo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11312" y="13716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Shape 15"/>
          <p:cNvSpPr/>
          <p:nvPr/>
        </p:nvSpPr>
        <p:spPr>
          <a:xfrm>
            <a:off x="8467344" y="160934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174650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44000" y="15910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Institutionalise retention</a:t>
            </a: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8485632" y="2286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post-ODF / post-segregation campaigns — don't stop at declaration.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485632" y="306324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4" name="Text 19"/>
          <p:cNvSpPr txBox="1"/>
          <p:nvPr/>
        </p:nvSpPr>
        <p:spPr>
          <a:xfrm>
            <a:off x="8622792" y="30632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Ongoing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3703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Shape 21"/>
          <p:cNvSpPr/>
          <p:nvPr/>
        </p:nvSpPr>
        <p:spPr>
          <a:xfrm>
            <a:off x="804672" y="394106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07822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81328" y="3922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visibly</a:t>
            </a:r>
            <a:endParaRPr lang="en-US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46177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segregated waste segregated end-to-end so citizen effort is rewarded.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22960" y="539496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1" name="Text 25"/>
          <p:cNvSpPr txBox="1"/>
          <p:nvPr/>
        </p:nvSpPr>
        <p:spPr>
          <a:xfrm>
            <a:off x="960120" y="53949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ULBs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0–12 mo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379976" y="3703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3" name="Shape 27"/>
          <p:cNvSpPr/>
          <p:nvPr/>
        </p:nvSpPr>
        <p:spPr>
          <a:xfrm>
            <a:off x="4636008" y="394106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07822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312664" y="3922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&amp; segment</a:t>
            </a:r>
            <a:endParaRPr lang="en-US" dirty="0"/>
          </a:p>
        </p:txBody>
      </p:sp>
      <p:sp>
        <p:nvSpPr>
          <p:cNvPr id="36" name="Text 29"/>
          <p:cNvSpPr txBox="1"/>
          <p:nvPr/>
        </p:nvSpPr>
        <p:spPr>
          <a:xfrm>
            <a:off x="4654296" y="46177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 messaging via SHGs, schools, women &amp; community leaders; nudges.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4654296" y="539496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8" name="Text 31"/>
          <p:cNvSpPr txBox="1"/>
          <p:nvPr/>
        </p:nvSpPr>
        <p:spPr>
          <a:xfrm>
            <a:off x="4791456" y="53949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0–6 mo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211312" y="37033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DB"/>
            </a:solidFill>
            <a:prstDash val="solid"/>
          </a:ln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0" name="Shape 33"/>
          <p:cNvSpPr/>
          <p:nvPr/>
        </p:nvSpPr>
        <p:spPr>
          <a:xfrm>
            <a:off x="8467344" y="394106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504" y="4078224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144000" y="3922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data</a:t>
            </a:r>
            <a:endParaRPr lang="en-US" dirty="0"/>
          </a:p>
        </p:txBody>
      </p:sp>
      <p:sp>
        <p:nvSpPr>
          <p:cNvPr id="43" name="Text 35"/>
          <p:cNvSpPr txBox="1"/>
          <p:nvPr/>
        </p:nvSpPr>
        <p:spPr>
          <a:xfrm>
            <a:off x="8485632" y="46177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definitions, independent verification, real-time public dashboards.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8485632" y="5394960"/>
            <a:ext cx="3063240" cy="329184"/>
          </a:xfrm>
          <a:prstGeom prst="roundRect">
            <a:avLst>
              <a:gd name="adj" fmla="val 1388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5" name="Text 37"/>
          <p:cNvSpPr txBox="1"/>
          <p:nvPr/>
        </p:nvSpPr>
        <p:spPr>
          <a:xfrm>
            <a:off x="8622792" y="53949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MoHUA / CPCB</a:t>
            </a:r>
            <a:r>
              <a:rPr lang="en-US" sz="12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0–12 mo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63642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Author's synthesis, drawing on IISPPR &amp; CSE recommendations for SLWM behaviour change.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11155680" y="6364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023360" cy="40233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is the last mile of sanitation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7" name="Shape 5"/>
          <p:cNvSpPr/>
          <p:nvPr/>
        </p:nvSpPr>
        <p:spPr>
          <a:xfrm>
            <a:off x="1097280" y="2304288"/>
            <a:ext cx="621792" cy="6217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4597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65960" y="21945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got India to access.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615184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 crore toilets and near-universal collection are a genuine achievement — but they are the starting line, not the finish.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3355848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2" name="Shape 9"/>
          <p:cNvSpPr/>
          <p:nvPr/>
        </p:nvSpPr>
        <p:spPr>
          <a:xfrm>
            <a:off x="1097280" y="3648456"/>
            <a:ext cx="621792" cy="6217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380390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65960" y="353872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turns access into outcomes.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965960" y="3959352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source-segregation and sustained upkeep are all human choices. BCC is the proven method for changing them at scale.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2960" y="4700016"/>
            <a:ext cx="10515600" cy="1207008"/>
          </a:xfrm>
          <a:prstGeom prst="roundRect">
            <a:avLst>
              <a:gd name="adj" fmla="val 7576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45604F">
                <a:alpha val="16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17" name="Shape 13"/>
          <p:cNvSpPr/>
          <p:nvPr/>
        </p:nvSpPr>
        <p:spPr>
          <a:xfrm>
            <a:off x="1097280" y="4992624"/>
            <a:ext cx="621792" cy="6217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14807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65960" y="488289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treat behaviour as infrastructure.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530352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it, staff it, and measure it. The next leap in SBM 2.0 will be won house-to-house, not only site-to-site.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61447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infrastructure isn't enough" — because a clean India is built one behaviour at a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1511</Words>
  <Application>Microsoft Office PowerPoint</Application>
  <PresentationFormat>Widescreen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Giri, Sanjay</cp:lastModifiedBy>
  <cp:revision>14</cp:revision>
  <dcterms:created xsi:type="dcterms:W3CDTF">2026-09-03T06:14:44Z</dcterms:created>
  <dcterms:modified xsi:type="dcterms:W3CDTF">2026-09-03T07:14:37Z</dcterms:modified>
</cp:coreProperties>
</file>