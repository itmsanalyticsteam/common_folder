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96" r:id="rId4"/>
  </p:sldMasterIdLst>
  <p:notesMasterIdLst>
    <p:notesMasterId r:id="rId23"/>
  </p:notesMasterIdLst>
  <p:handoutMasterIdLst>
    <p:handoutMasterId r:id="rId24"/>
  </p:handoutMasterIdLst>
  <p:sldIdLst>
    <p:sldId id="341" r:id="rId5"/>
    <p:sldId id="639" r:id="rId6"/>
    <p:sldId id="812" r:id="rId7"/>
    <p:sldId id="717" r:id="rId8"/>
    <p:sldId id="813" r:id="rId9"/>
    <p:sldId id="814" r:id="rId10"/>
    <p:sldId id="826" r:id="rId11"/>
    <p:sldId id="816" r:id="rId12"/>
    <p:sldId id="820" r:id="rId13"/>
    <p:sldId id="824" r:id="rId14"/>
    <p:sldId id="825" r:id="rId15"/>
    <p:sldId id="647" r:id="rId16"/>
    <p:sldId id="817" r:id="rId17"/>
    <p:sldId id="818" r:id="rId18"/>
    <p:sldId id="819" r:id="rId19"/>
    <p:sldId id="821" r:id="rId20"/>
    <p:sldId id="822" r:id="rId21"/>
    <p:sldId id="823" r:id="rId22"/>
  </p:sldIdLst>
  <p:sldSz cx="12192000" cy="6858000"/>
  <p:notesSz cx="7315200" cy="96012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als main" id="{7A789CB4-A8B1-488E-A1C5-669FF06E2AD7}">
          <p14:sldIdLst>
            <p14:sldId id="341"/>
            <p14:sldId id="639"/>
            <p14:sldId id="812"/>
            <p14:sldId id="717"/>
            <p14:sldId id="813"/>
            <p14:sldId id="814"/>
            <p14:sldId id="826"/>
            <p14:sldId id="816"/>
            <p14:sldId id="820"/>
            <p14:sldId id="824"/>
            <p14:sldId id="825"/>
            <p14:sldId id="647"/>
            <p14:sldId id="817"/>
            <p14:sldId id="818"/>
            <p14:sldId id="819"/>
            <p14:sldId id="821"/>
            <p14:sldId id="822"/>
            <p14:sldId id="82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A44"/>
    <a:srgbClr val="26890D"/>
    <a:srgbClr val="43B02A"/>
    <a:srgbClr val="53565A"/>
    <a:srgbClr val="9B9FA1"/>
    <a:srgbClr val="FFFFFF"/>
    <a:srgbClr val="0A626C"/>
    <a:srgbClr val="007CB0"/>
    <a:srgbClr val="F2F2F2"/>
    <a:srgbClr val="027D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2997" autoAdjust="0"/>
  </p:normalViewPr>
  <p:slideViewPr>
    <p:cSldViewPr snapToGrid="0" showGuides="1">
      <p:cViewPr varScale="1">
        <p:scale>
          <a:sx n="69" d="100"/>
          <a:sy n="69" d="100"/>
        </p:scale>
        <p:origin x="540" y="44"/>
      </p:cViewPr>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15120"/>
    </p:cViewPr>
  </p:sorterViewPr>
  <p:notesViewPr>
    <p:cSldViewPr snapToGrid="0" showGuides="1">
      <p:cViewPr varScale="1">
        <p:scale>
          <a:sx n="53" d="100"/>
          <a:sy n="53" d="100"/>
        </p:scale>
        <p:origin x="2419" y="67"/>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61130F-80E9-4E7B-827A-6DDA86FE8F03}" type="doc">
      <dgm:prSet loTypeId="urn:microsoft.com/office/officeart/2005/8/layout/pyramid2" loCatId="pyramid" qsTypeId="urn:microsoft.com/office/officeart/2005/8/quickstyle/simple1" qsCatId="simple" csTypeId="urn:microsoft.com/office/officeart/2005/8/colors/accent1_2" csCatId="accent1" phldr="1"/>
      <dgm:spPr/>
    </dgm:pt>
    <dgm:pt modelId="{B4295222-E58B-4950-A0BE-1610A8AD83C4}">
      <dgm:prSet phldrT="[Text]" custT="1"/>
      <dgm:spPr>
        <a:xfrm>
          <a:off x="1241569" y="218784"/>
          <a:ext cx="1414499" cy="515136"/>
        </a:xfrm>
        <a:ln>
          <a:solidFill>
            <a:schemeClr val="accent2"/>
          </a:solidFill>
        </a:ln>
      </dgm:spPr>
      <dgm:t>
        <a:bodyPr/>
        <a:lstStyle/>
        <a:p>
          <a:r>
            <a:rPr lang="en-US" sz="1400" dirty="0">
              <a:latin typeface="+mj-lt"/>
              <a:ea typeface="+mn-ea"/>
              <a:cs typeface="+mn-cs"/>
            </a:rPr>
            <a:t>Strategic</a:t>
          </a:r>
        </a:p>
      </dgm:t>
    </dgm:pt>
    <dgm:pt modelId="{082D3332-6824-41DB-8BC1-42708BE4F780}" type="parTrans" cxnId="{1FB3C10A-B825-4ADB-AA89-FF2FDA5545DC}">
      <dgm:prSet/>
      <dgm:spPr/>
      <dgm:t>
        <a:bodyPr/>
        <a:lstStyle/>
        <a:p>
          <a:endParaRPr lang="en-US"/>
        </a:p>
      </dgm:t>
    </dgm:pt>
    <dgm:pt modelId="{6568EC76-4774-48B3-9815-D0ED11928A23}" type="sibTrans" cxnId="{1FB3C10A-B825-4ADB-AA89-FF2FDA5545DC}">
      <dgm:prSet/>
      <dgm:spPr/>
      <dgm:t>
        <a:bodyPr/>
        <a:lstStyle/>
        <a:p>
          <a:endParaRPr lang="en-US"/>
        </a:p>
      </dgm:t>
    </dgm:pt>
    <dgm:pt modelId="{CE50DF45-4920-4054-BAC4-6619A62C53FF}">
      <dgm:prSet phldrT="[Text]" custT="1"/>
      <dgm:spPr>
        <a:xfrm>
          <a:off x="1241569" y="798312"/>
          <a:ext cx="1414499" cy="515136"/>
        </a:xfrm>
        <a:ln>
          <a:solidFill>
            <a:schemeClr val="accent2"/>
          </a:solidFill>
        </a:ln>
      </dgm:spPr>
      <dgm:t>
        <a:bodyPr/>
        <a:lstStyle/>
        <a:p>
          <a:r>
            <a:rPr lang="en-US" sz="1400" dirty="0">
              <a:latin typeface="+mj-lt"/>
              <a:ea typeface="+mn-ea"/>
              <a:cs typeface="+mn-cs"/>
            </a:rPr>
            <a:t>Tactical</a:t>
          </a:r>
        </a:p>
      </dgm:t>
    </dgm:pt>
    <dgm:pt modelId="{BBCDAF4B-20BB-4B42-953F-159B7D6CE556}" type="parTrans" cxnId="{E76F3CC9-CE5A-405C-9C40-3630D21ACEE8}">
      <dgm:prSet/>
      <dgm:spPr/>
      <dgm:t>
        <a:bodyPr/>
        <a:lstStyle/>
        <a:p>
          <a:endParaRPr lang="en-US"/>
        </a:p>
      </dgm:t>
    </dgm:pt>
    <dgm:pt modelId="{22343C52-89B5-47CC-A907-807A13B93F07}" type="sibTrans" cxnId="{E76F3CC9-CE5A-405C-9C40-3630D21ACEE8}">
      <dgm:prSet/>
      <dgm:spPr/>
      <dgm:t>
        <a:bodyPr/>
        <a:lstStyle/>
        <a:p>
          <a:endParaRPr lang="en-US"/>
        </a:p>
      </dgm:t>
    </dgm:pt>
    <dgm:pt modelId="{2E513B10-87EB-4E60-8989-DB6CEBD6DE5F}">
      <dgm:prSet phldrT="[Text]" custT="1"/>
      <dgm:spPr>
        <a:xfrm>
          <a:off x="1241569" y="1377840"/>
          <a:ext cx="1414499" cy="515136"/>
        </a:xfrm>
        <a:ln>
          <a:solidFill>
            <a:schemeClr val="accent2"/>
          </a:solidFill>
        </a:ln>
      </dgm:spPr>
      <dgm:t>
        <a:bodyPr/>
        <a:lstStyle/>
        <a:p>
          <a:r>
            <a:rPr lang="en-US" sz="1400" dirty="0">
              <a:latin typeface="+mj-lt"/>
              <a:ea typeface="+mn-ea"/>
              <a:cs typeface="+mn-cs"/>
            </a:rPr>
            <a:t>Operational</a:t>
          </a:r>
        </a:p>
      </dgm:t>
    </dgm:pt>
    <dgm:pt modelId="{E2C8F0B9-7A58-4D1A-A3E8-CD8545ED004A}" type="parTrans" cxnId="{895A6CF6-6ACF-4B1E-AC80-27A2CC6D770F}">
      <dgm:prSet/>
      <dgm:spPr/>
      <dgm:t>
        <a:bodyPr/>
        <a:lstStyle/>
        <a:p>
          <a:endParaRPr lang="en-US"/>
        </a:p>
      </dgm:t>
    </dgm:pt>
    <dgm:pt modelId="{C8DCB194-6C1B-4674-8958-A455A041E4D8}" type="sibTrans" cxnId="{895A6CF6-6ACF-4B1E-AC80-27A2CC6D770F}">
      <dgm:prSet/>
      <dgm:spPr/>
      <dgm:t>
        <a:bodyPr/>
        <a:lstStyle/>
        <a:p>
          <a:endParaRPr lang="en-US"/>
        </a:p>
      </dgm:t>
    </dgm:pt>
    <dgm:pt modelId="{77D9E91A-6665-4435-B74B-FB335456624B}" type="pres">
      <dgm:prSet presAssocID="{5B61130F-80E9-4E7B-827A-6DDA86FE8F03}" presName="compositeShape" presStyleCnt="0">
        <dgm:presLayoutVars>
          <dgm:dir/>
          <dgm:resizeHandles/>
        </dgm:presLayoutVars>
      </dgm:prSet>
      <dgm:spPr/>
    </dgm:pt>
    <dgm:pt modelId="{13A4B551-3519-43A8-BCCD-C29F82062FE1}" type="pres">
      <dgm:prSet presAssocID="{5B61130F-80E9-4E7B-827A-6DDA86FE8F03}" presName="pyramid" presStyleLbl="node1" presStyleIdx="0" presStyleCnt="1" custScaleX="108763" custLinFactNeighborX="-2672" custLinFactNeighborY="-576"/>
      <dgm:spPr>
        <a:xfrm>
          <a:off x="0" y="0"/>
          <a:ext cx="2366849" cy="2176153"/>
        </a:xfrm>
        <a:prstGeom prst="triangle">
          <a:avLst/>
        </a:prstGeom>
        <a:solidFill>
          <a:schemeClr val="accent2">
            <a:lumMod val="20000"/>
            <a:lumOff val="80000"/>
          </a:schemeClr>
        </a:solidFill>
      </dgm:spPr>
    </dgm:pt>
    <dgm:pt modelId="{AB18418F-CFEC-4986-BBF6-98AFC00DB6F8}" type="pres">
      <dgm:prSet presAssocID="{5B61130F-80E9-4E7B-827A-6DDA86FE8F03}" presName="theList" presStyleCnt="0"/>
      <dgm:spPr/>
    </dgm:pt>
    <dgm:pt modelId="{EC81786F-E82B-4412-93AA-8A96D5BFD8C7}" type="pres">
      <dgm:prSet presAssocID="{B4295222-E58B-4950-A0BE-1610A8AD83C4}" presName="aNode" presStyleLbl="fgAcc1" presStyleIdx="0" presStyleCnt="3">
        <dgm:presLayoutVars>
          <dgm:bulletEnabled val="1"/>
        </dgm:presLayoutVars>
      </dgm:prSet>
      <dgm:spPr>
        <a:prstGeom prst="roundRect">
          <a:avLst/>
        </a:prstGeom>
      </dgm:spPr>
    </dgm:pt>
    <dgm:pt modelId="{09D16FA2-FEE6-4AE9-81CA-15151B914EEF}" type="pres">
      <dgm:prSet presAssocID="{B4295222-E58B-4950-A0BE-1610A8AD83C4}" presName="aSpace" presStyleCnt="0"/>
      <dgm:spPr/>
    </dgm:pt>
    <dgm:pt modelId="{9CAD38AE-E45B-4157-96DA-3953FF93FC26}" type="pres">
      <dgm:prSet presAssocID="{CE50DF45-4920-4054-BAC4-6619A62C53FF}" presName="aNode" presStyleLbl="fgAcc1" presStyleIdx="1" presStyleCnt="3">
        <dgm:presLayoutVars>
          <dgm:bulletEnabled val="1"/>
        </dgm:presLayoutVars>
      </dgm:prSet>
      <dgm:spPr>
        <a:prstGeom prst="roundRect">
          <a:avLst/>
        </a:prstGeom>
      </dgm:spPr>
    </dgm:pt>
    <dgm:pt modelId="{B7BFB06A-452F-4250-A630-9C015F1E9220}" type="pres">
      <dgm:prSet presAssocID="{CE50DF45-4920-4054-BAC4-6619A62C53FF}" presName="aSpace" presStyleCnt="0"/>
      <dgm:spPr/>
    </dgm:pt>
    <dgm:pt modelId="{447E50B1-213D-4ADA-B5FF-9B198F019E60}" type="pres">
      <dgm:prSet presAssocID="{2E513B10-87EB-4E60-8989-DB6CEBD6DE5F}" presName="aNode" presStyleLbl="fgAcc1" presStyleIdx="2" presStyleCnt="3">
        <dgm:presLayoutVars>
          <dgm:bulletEnabled val="1"/>
        </dgm:presLayoutVars>
      </dgm:prSet>
      <dgm:spPr>
        <a:prstGeom prst="roundRect">
          <a:avLst/>
        </a:prstGeom>
      </dgm:spPr>
    </dgm:pt>
    <dgm:pt modelId="{541A6EC2-C0F5-4A5E-BA9C-75BD0F320CC7}" type="pres">
      <dgm:prSet presAssocID="{2E513B10-87EB-4E60-8989-DB6CEBD6DE5F}" presName="aSpace" presStyleCnt="0"/>
      <dgm:spPr/>
    </dgm:pt>
  </dgm:ptLst>
  <dgm:cxnLst>
    <dgm:cxn modelId="{1FB3C10A-B825-4ADB-AA89-FF2FDA5545DC}" srcId="{5B61130F-80E9-4E7B-827A-6DDA86FE8F03}" destId="{B4295222-E58B-4950-A0BE-1610A8AD83C4}" srcOrd="0" destOrd="0" parTransId="{082D3332-6824-41DB-8BC1-42708BE4F780}" sibTransId="{6568EC76-4774-48B3-9815-D0ED11928A23}"/>
    <dgm:cxn modelId="{04C27732-C955-4C42-86DF-625191D035CA}" type="presOf" srcId="{CE50DF45-4920-4054-BAC4-6619A62C53FF}" destId="{9CAD38AE-E45B-4157-96DA-3953FF93FC26}" srcOrd="0" destOrd="0" presId="urn:microsoft.com/office/officeart/2005/8/layout/pyramid2"/>
    <dgm:cxn modelId="{6B95F585-376E-44B2-B567-5E71BADA1F4F}" type="presOf" srcId="{B4295222-E58B-4950-A0BE-1610A8AD83C4}" destId="{EC81786F-E82B-4412-93AA-8A96D5BFD8C7}" srcOrd="0" destOrd="0" presId="urn:microsoft.com/office/officeart/2005/8/layout/pyramid2"/>
    <dgm:cxn modelId="{8699F2A3-D40D-48F6-85A7-4E8957475A26}" type="presOf" srcId="{5B61130F-80E9-4E7B-827A-6DDA86FE8F03}" destId="{77D9E91A-6665-4435-B74B-FB335456624B}" srcOrd="0" destOrd="0" presId="urn:microsoft.com/office/officeart/2005/8/layout/pyramid2"/>
    <dgm:cxn modelId="{E76F3CC9-CE5A-405C-9C40-3630D21ACEE8}" srcId="{5B61130F-80E9-4E7B-827A-6DDA86FE8F03}" destId="{CE50DF45-4920-4054-BAC4-6619A62C53FF}" srcOrd="1" destOrd="0" parTransId="{BBCDAF4B-20BB-4B42-953F-159B7D6CE556}" sibTransId="{22343C52-89B5-47CC-A907-807A13B93F07}"/>
    <dgm:cxn modelId="{895A6CF6-6ACF-4B1E-AC80-27A2CC6D770F}" srcId="{5B61130F-80E9-4E7B-827A-6DDA86FE8F03}" destId="{2E513B10-87EB-4E60-8989-DB6CEBD6DE5F}" srcOrd="2" destOrd="0" parTransId="{E2C8F0B9-7A58-4D1A-A3E8-CD8545ED004A}" sibTransId="{C8DCB194-6C1B-4674-8958-A455A041E4D8}"/>
    <dgm:cxn modelId="{07781FF9-639F-4DB5-9584-5E64FE015ED9}" type="presOf" srcId="{2E513B10-87EB-4E60-8989-DB6CEBD6DE5F}" destId="{447E50B1-213D-4ADA-B5FF-9B198F019E60}" srcOrd="0" destOrd="0" presId="urn:microsoft.com/office/officeart/2005/8/layout/pyramid2"/>
    <dgm:cxn modelId="{EEDDB51E-AA99-4707-BFA1-B876D0A7FE07}" type="presParOf" srcId="{77D9E91A-6665-4435-B74B-FB335456624B}" destId="{13A4B551-3519-43A8-BCCD-C29F82062FE1}" srcOrd="0" destOrd="0" presId="urn:microsoft.com/office/officeart/2005/8/layout/pyramid2"/>
    <dgm:cxn modelId="{B732D574-5D04-448B-9AC8-CC1986DDB822}" type="presParOf" srcId="{77D9E91A-6665-4435-B74B-FB335456624B}" destId="{AB18418F-CFEC-4986-BBF6-98AFC00DB6F8}" srcOrd="1" destOrd="0" presId="urn:microsoft.com/office/officeart/2005/8/layout/pyramid2"/>
    <dgm:cxn modelId="{473869AD-7BE3-4EDB-9BAB-229B88C37930}" type="presParOf" srcId="{AB18418F-CFEC-4986-BBF6-98AFC00DB6F8}" destId="{EC81786F-E82B-4412-93AA-8A96D5BFD8C7}" srcOrd="0" destOrd="0" presId="urn:microsoft.com/office/officeart/2005/8/layout/pyramid2"/>
    <dgm:cxn modelId="{C7BAF193-B6D1-4211-91D0-371714E71BA9}" type="presParOf" srcId="{AB18418F-CFEC-4986-BBF6-98AFC00DB6F8}" destId="{09D16FA2-FEE6-4AE9-81CA-15151B914EEF}" srcOrd="1" destOrd="0" presId="urn:microsoft.com/office/officeart/2005/8/layout/pyramid2"/>
    <dgm:cxn modelId="{4B4F5E76-12EE-4262-BEF6-D995471CBDCB}" type="presParOf" srcId="{AB18418F-CFEC-4986-BBF6-98AFC00DB6F8}" destId="{9CAD38AE-E45B-4157-96DA-3953FF93FC26}" srcOrd="2" destOrd="0" presId="urn:microsoft.com/office/officeart/2005/8/layout/pyramid2"/>
    <dgm:cxn modelId="{633655F0-7A89-4A5A-BB26-982CB544628F}" type="presParOf" srcId="{AB18418F-CFEC-4986-BBF6-98AFC00DB6F8}" destId="{B7BFB06A-452F-4250-A630-9C015F1E9220}" srcOrd="3" destOrd="0" presId="urn:microsoft.com/office/officeart/2005/8/layout/pyramid2"/>
    <dgm:cxn modelId="{B237A6B2-B5CC-40AF-815C-D91BCB1C930D}" type="presParOf" srcId="{AB18418F-CFEC-4986-BBF6-98AFC00DB6F8}" destId="{447E50B1-213D-4ADA-B5FF-9B198F019E60}" srcOrd="4" destOrd="0" presId="urn:microsoft.com/office/officeart/2005/8/layout/pyramid2"/>
    <dgm:cxn modelId="{86BFADD7-A75C-4905-98FA-F037F11B9DAE}" type="presParOf" srcId="{AB18418F-CFEC-4986-BBF6-98AFC00DB6F8}" destId="{541A6EC2-C0F5-4A5E-BA9C-75BD0F320CC7}"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A4B551-3519-43A8-BCCD-C29F82062FE1}">
      <dsp:nvSpPr>
        <dsp:cNvPr id="0" name=""/>
        <dsp:cNvSpPr/>
      </dsp:nvSpPr>
      <dsp:spPr>
        <a:xfrm>
          <a:off x="0" y="0"/>
          <a:ext cx="2426650" cy="2231136"/>
        </a:xfrm>
        <a:prstGeom prst="triangle">
          <a:avLst/>
        </a:prstGeom>
        <a:solidFill>
          <a:schemeClr val="accent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81786F-E82B-4412-93AA-8A96D5BFD8C7}">
      <dsp:nvSpPr>
        <dsp:cNvPr id="0" name=""/>
        <dsp:cNvSpPr/>
      </dsp:nvSpPr>
      <dsp:spPr>
        <a:xfrm>
          <a:off x="1228634" y="224311"/>
          <a:ext cx="1450238" cy="528151"/>
        </a:xfrm>
        <a:prstGeom prst="roundRect">
          <a:avLst/>
        </a:prstGeom>
        <a:solidFill>
          <a:schemeClr val="lt1">
            <a:alpha val="90000"/>
            <a:hueOff val="0"/>
            <a:satOff val="0"/>
            <a:lumOff val="0"/>
            <a:alphaOff val="0"/>
          </a:schemeClr>
        </a:solidFill>
        <a:ln w="25400" cap="flat" cmpd="sng" algn="ctr">
          <a:solidFill>
            <a:schemeClr val="accent2"/>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mn-ea"/>
              <a:cs typeface="+mn-cs"/>
            </a:rPr>
            <a:t>Strategic</a:t>
          </a:r>
        </a:p>
      </dsp:txBody>
      <dsp:txXfrm>
        <a:off x="1254416" y="250093"/>
        <a:ext cx="1398674" cy="476587"/>
      </dsp:txXfrm>
    </dsp:sp>
    <dsp:sp modelId="{9CAD38AE-E45B-4157-96DA-3953FF93FC26}">
      <dsp:nvSpPr>
        <dsp:cNvPr id="0" name=""/>
        <dsp:cNvSpPr/>
      </dsp:nvSpPr>
      <dsp:spPr>
        <a:xfrm>
          <a:off x="1228634" y="818482"/>
          <a:ext cx="1450238" cy="528151"/>
        </a:xfrm>
        <a:prstGeom prst="roundRect">
          <a:avLst/>
        </a:prstGeom>
        <a:solidFill>
          <a:schemeClr val="lt1">
            <a:alpha val="90000"/>
            <a:hueOff val="0"/>
            <a:satOff val="0"/>
            <a:lumOff val="0"/>
            <a:alphaOff val="0"/>
          </a:schemeClr>
        </a:solidFill>
        <a:ln w="25400" cap="flat" cmpd="sng" algn="ctr">
          <a:solidFill>
            <a:schemeClr val="accent2"/>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mn-ea"/>
              <a:cs typeface="+mn-cs"/>
            </a:rPr>
            <a:t>Tactical</a:t>
          </a:r>
        </a:p>
      </dsp:txBody>
      <dsp:txXfrm>
        <a:off x="1254416" y="844264"/>
        <a:ext cx="1398674" cy="476587"/>
      </dsp:txXfrm>
    </dsp:sp>
    <dsp:sp modelId="{447E50B1-213D-4ADA-B5FF-9B198F019E60}">
      <dsp:nvSpPr>
        <dsp:cNvPr id="0" name=""/>
        <dsp:cNvSpPr/>
      </dsp:nvSpPr>
      <dsp:spPr>
        <a:xfrm>
          <a:off x="1228634" y="1412653"/>
          <a:ext cx="1450238" cy="528151"/>
        </a:xfrm>
        <a:prstGeom prst="roundRect">
          <a:avLst/>
        </a:prstGeom>
        <a:solidFill>
          <a:schemeClr val="lt1">
            <a:alpha val="90000"/>
            <a:hueOff val="0"/>
            <a:satOff val="0"/>
            <a:lumOff val="0"/>
            <a:alphaOff val="0"/>
          </a:schemeClr>
        </a:solidFill>
        <a:ln w="25400" cap="flat" cmpd="sng" algn="ctr">
          <a:solidFill>
            <a:schemeClr val="accent2"/>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mn-ea"/>
              <a:cs typeface="+mn-cs"/>
            </a:rPr>
            <a:t>Operational</a:t>
          </a:r>
        </a:p>
      </dsp:txBody>
      <dsp:txXfrm>
        <a:off x="1254416" y="1438435"/>
        <a:ext cx="1398674" cy="476587"/>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9/9/2026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9/9/2026</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9470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1658078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4177151" y="1437100"/>
            <a:ext cx="3833130" cy="383313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75327" y="5262880"/>
            <a:ext cx="11237248" cy="1138149"/>
          </a:xfrm>
          <a:prstGeom prst="rect">
            <a:avLst/>
          </a:prstGeom>
        </p:spPr>
        <p:txBody>
          <a:bodyPr anchor="b" anchorCtr="0">
            <a:noAutofit/>
          </a:bodyPr>
          <a:lstStyle>
            <a:lvl1pPr algn="l">
              <a:lnSpc>
                <a:spcPct val="100000"/>
              </a:lnSpc>
              <a:defRPr sz="24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dirty="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75325" y="6419036"/>
            <a:ext cx="4446269" cy="215444"/>
          </a:xfrm>
          <a:prstGeom prst="rect">
            <a:avLst/>
          </a:prstGeom>
        </p:spPr>
        <p:txBody>
          <a:bodyPr anchor="b">
            <a:spAutoFit/>
          </a:bodyPr>
          <a:lstStyle>
            <a:lvl1pPr>
              <a:spcAft>
                <a:spcPts val="0"/>
              </a:spcAft>
              <a:defRPr sz="1400" b="0">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239271626"/>
      </p:ext>
    </p:extLst>
  </p:cSld>
  <p:clrMapOvr>
    <a:masterClrMapping/>
  </p:clrMapOvr>
  <p:transition>
    <p:fade/>
  </p:transition>
  <p:hf hdr="0" dt="0"/>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898970023"/>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Tree>
    <p:extLst>
      <p:ext uri="{BB962C8B-B14F-4D97-AF65-F5344CB8AC3E}">
        <p14:creationId xmlns:p14="http://schemas.microsoft.com/office/powerpoint/2010/main" val="4205544640"/>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dirty="0"/>
              <a:t>Click to edit </a:t>
            </a:r>
            <a:br>
              <a:rPr lang="en-US" noProof="0" dirty="0"/>
            </a:br>
            <a:r>
              <a:rPr lang="en-US" noProof="0" dirty="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28" name="Title 1">
            <a:extLst>
              <a:ext uri="{FF2B5EF4-FFF2-40B4-BE49-F238E27FC236}">
                <a16:creationId xmlns:a16="http://schemas.microsoft.com/office/drawing/2014/main" id="{BF939DF8-C67D-4ED5-9DBC-98F2B43BDAEA}"/>
              </a:ext>
            </a:extLst>
          </p:cNvPr>
          <p:cNvSpPr txBox="1">
            <a:spLocks/>
          </p:cNvSpPr>
          <p:nvPr userDrawn="1"/>
        </p:nvSpPr>
        <p:spPr bwMode="gray">
          <a:xfrm>
            <a:off x="3417931" y="725455"/>
            <a:ext cx="5356735" cy="5356735"/>
          </a:xfrm>
          <a:prstGeom prst="ellipse">
            <a:avLst/>
          </a:prstGeom>
          <a:ln w="25400">
            <a:solidFill>
              <a:schemeClr val="accent1"/>
            </a:solidFill>
          </a:ln>
        </p:spPr>
        <p:txBody>
          <a:bodyPr vert="horz" lIns="108000" tIns="108000" rIns="108000" bIns="108000" rtlCol="0" anchor="ctr" anchorCtr="0">
            <a:normAutofit/>
          </a:bodyPr>
          <a:lstStyle>
            <a:lvl1pPr algn="ctr" defTabSz="914400" rtl="0" eaLnBrk="1" latinLnBrk="0" hangingPunct="1">
              <a:lnSpc>
                <a:spcPts val="4200"/>
              </a:lnSpc>
              <a:spcBef>
                <a:spcPct val="0"/>
              </a:spcBef>
              <a:buNone/>
              <a:defRPr sz="3600" b="0" kern="1200">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Tree>
    <p:extLst>
      <p:ext uri="{BB962C8B-B14F-4D97-AF65-F5344CB8AC3E}">
        <p14:creationId xmlns:p14="http://schemas.microsoft.com/office/powerpoint/2010/main" val="2488153871"/>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901090828"/>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BFFD92C3-7ED3-4D3C-8518-BD2C1CF3A89D}"/>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94F2D29F-D256-48DF-93EB-3649C0F15C84}"/>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9786271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C15CF50B-B21A-4219-A2F3-42CE64720300}"/>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D56403AF-FAB8-425F-B7B3-1CED91E5B09F}"/>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4" name="Copyright">
            <a:extLst>
              <a:ext uri="{FF2B5EF4-FFF2-40B4-BE49-F238E27FC236}">
                <a16:creationId xmlns:a16="http://schemas.microsoft.com/office/drawing/2014/main" id="{CA24B28E-5B13-4779-8D72-C52A20B99FE7}"/>
              </a:ext>
            </a:extLst>
          </p:cNvPr>
          <p:cNvSpPr txBox="1"/>
          <p:nvPr userDrawn="1"/>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408320480"/>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6C32543E-E807-47A4-A234-D5C7012187B4}"/>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userDrawn="1"/>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userDrawn="1"/>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a:t>Click to edit Master text styles</a:t>
            </a:r>
          </a:p>
        </p:txBody>
      </p:sp>
    </p:spTree>
    <p:extLst>
      <p:ext uri="{BB962C8B-B14F-4D97-AF65-F5344CB8AC3E}">
        <p14:creationId xmlns:p14="http://schemas.microsoft.com/office/powerpoint/2010/main" val="24016531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dirty="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57780961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866028850"/>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072037334"/>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grpSp>
        <p:nvGrpSpPr>
          <p:cNvPr id="20" name="Group 19">
            <a:extLst>
              <a:ext uri="{FF2B5EF4-FFF2-40B4-BE49-F238E27FC236}">
                <a16:creationId xmlns:a16="http://schemas.microsoft.com/office/drawing/2014/main" id="{A475D951-68C7-4A6F-ADC6-AB9C10E42F07}"/>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0549B55-8335-4CC4-9417-E768B8E137DA}"/>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0C08EAE3-1065-497F-B8AA-86005E1B7A68}"/>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966AA8D-FE19-49A0-B249-C78D2E85CC91}"/>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2289C80D-1FA5-42CC-A523-8259B7FD08F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6261A9E2-F698-4343-96EA-AA0015AC51BC}"/>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1D1108B0-A2B5-43FD-8CC1-CC36168B9031}"/>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AFA473B9-98DD-4132-83C3-26DCC5D0CC8F}"/>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E1286E94-0A74-4D64-8FE5-E2FC7038DCB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DB23453-5417-4773-B5E0-516CE48D9692}"/>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2DF2930F-8858-4645-96D1-C2224669578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279497671"/>
      </p:ext>
    </p:extLst>
  </p:cSld>
  <p:clrMapOvr>
    <a:masterClrMapping/>
  </p:clrMapOvr>
  <p:transition>
    <p:fade/>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38103440"/>
      </p:ext>
    </p:extLst>
  </p:cSld>
  <p:clrMapOvr>
    <a:masterClrMapping/>
  </p:clrMapOvr>
  <p:transition>
    <p:fade/>
  </p:transition>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56674626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48759708"/>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84072947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97757468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62798406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6140537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5261850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80763750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Rectangle 23">
            <a:extLst>
              <a:ext uri="{FF2B5EF4-FFF2-40B4-BE49-F238E27FC236}">
                <a16:creationId xmlns:a16="http://schemas.microsoft.com/office/drawing/2014/main" id="{56C776D0-A1AC-41AD-A930-68E62E311F28}"/>
              </a:ext>
            </a:extLst>
          </p:cNvPr>
          <p:cNvSpPr/>
          <p:nvPr userDrawn="1"/>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5" name="Rectangle 24">
            <a:extLst>
              <a:ext uri="{FF2B5EF4-FFF2-40B4-BE49-F238E27FC236}">
                <a16:creationId xmlns:a16="http://schemas.microsoft.com/office/drawing/2014/main" id="{8676016B-595B-4B09-8A9C-981F4092254D}"/>
              </a:ext>
            </a:extLst>
          </p:cNvPr>
          <p:cNvSpPr/>
          <p:nvPr userDrawn="1"/>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6" name="Rectangle 25">
            <a:extLst>
              <a:ext uri="{FF2B5EF4-FFF2-40B4-BE49-F238E27FC236}">
                <a16:creationId xmlns:a16="http://schemas.microsoft.com/office/drawing/2014/main" id="{E8772A29-A091-45EF-9E05-7D38B8B671A6}"/>
              </a:ext>
            </a:extLst>
          </p:cNvPr>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7" name="Rectangle 26">
            <a:extLst>
              <a:ext uri="{FF2B5EF4-FFF2-40B4-BE49-F238E27FC236}">
                <a16:creationId xmlns:a16="http://schemas.microsoft.com/office/drawing/2014/main" id="{331A621E-F4F0-40C4-8952-5BF179427ED7}"/>
              </a:ext>
            </a:extLst>
          </p:cNvPr>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Tree>
    <p:extLst>
      <p:ext uri="{BB962C8B-B14F-4D97-AF65-F5344CB8AC3E}">
        <p14:creationId xmlns:p14="http://schemas.microsoft.com/office/powerpoint/2010/main" val="403197155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Rectangle 13">
            <a:extLst>
              <a:ext uri="{FF2B5EF4-FFF2-40B4-BE49-F238E27FC236}">
                <a16:creationId xmlns:a16="http://schemas.microsoft.com/office/drawing/2014/main" id="{D360E003-ECB4-492B-8A94-28433C076FF8}"/>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5" name="Rectangle 14">
            <a:extLst>
              <a:ext uri="{FF2B5EF4-FFF2-40B4-BE49-F238E27FC236}">
                <a16:creationId xmlns:a16="http://schemas.microsoft.com/office/drawing/2014/main" id="{2D54539A-8172-4D14-BE07-3622A53C73DF}"/>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Tree>
    <p:extLst>
      <p:ext uri="{BB962C8B-B14F-4D97-AF65-F5344CB8AC3E}">
        <p14:creationId xmlns:p14="http://schemas.microsoft.com/office/powerpoint/2010/main" val="123676803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948382095"/>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285127962"/>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334485603"/>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521952939"/>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434321142"/>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475488" y="651600"/>
            <a:ext cx="11237976"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475488" y="317500"/>
            <a:ext cx="11237976"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74841521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475488" y="317500"/>
            <a:ext cx="11237976"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01054434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519788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89084700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774773341"/>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63719246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88376507"/>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072480636"/>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11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44192825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Content Placeholder 3"/>
          <p:cNvSpPr>
            <a:spLocks noGrp="1"/>
          </p:cNvSpPr>
          <p:nvPr>
            <p:ph sz="quarter" idx="16"/>
          </p:nvPr>
        </p:nvSpPr>
        <p:spPr>
          <a:xfrm>
            <a:off x="5450349" y="1665289"/>
            <a:ext cx="6240000"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38765488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dirty="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33970182"/>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0" y="1659145"/>
            <a:ext cx="3549549" cy="392112"/>
          </a:xfrm>
        </p:spPr>
        <p:txBody>
          <a:bodyPr/>
          <a:lstStyle/>
          <a:p>
            <a:pPr lvl="0"/>
            <a:r>
              <a:rPr lang="en-US" noProof="0" dirty="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21226" y="1659145"/>
            <a:ext cx="3549549" cy="392112"/>
          </a:xfrm>
        </p:spPr>
        <p:txBody>
          <a:bodyPr/>
          <a:lstStyle/>
          <a:p>
            <a:pPr lvl="0"/>
            <a:r>
              <a:rPr lang="en-US" noProof="0" dirty="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40801" y="1659145"/>
            <a:ext cx="3549549" cy="398256"/>
          </a:xfrm>
        </p:spPr>
        <p:txBody>
          <a:bodyPr/>
          <a:lstStyle/>
          <a:p>
            <a:pPr lvl="0"/>
            <a:r>
              <a:rPr lang="en-US" noProof="0" dirty="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7170507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p:nvPr>
        </p:nvSpPr>
        <p:spPr>
          <a:xfrm>
            <a:off x="6149963" y="3120551"/>
            <a:ext cx="2712000" cy="326119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9"/>
          </p:nvPr>
        </p:nvSpPr>
        <p:spPr>
          <a:xfrm>
            <a:off x="3330040" y="3124200"/>
            <a:ext cx="2712000" cy="325754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ext Placeholder 8"/>
          <p:cNvSpPr>
            <a:spLocks noGrp="1"/>
          </p:cNvSpPr>
          <p:nvPr>
            <p:ph type="body" sz="quarter" idx="20"/>
          </p:nvPr>
        </p:nvSpPr>
        <p:spPr>
          <a:xfrm>
            <a:off x="8993169" y="3108508"/>
            <a:ext cx="2697183" cy="3273240"/>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59157680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dirty="0"/>
              <a:t>Click to edit Master text styles</a:t>
            </a:r>
          </a:p>
          <a:p>
            <a:pPr lvl="1"/>
            <a:r>
              <a:rPr lang="en-US" dirty="0"/>
              <a:t>Second level</a:t>
            </a:r>
          </a:p>
        </p:txBody>
      </p:sp>
      <p:sp>
        <p:nvSpPr>
          <p:cNvPr id="14" name="Text Placeholder 12"/>
          <p:cNvSpPr>
            <a:spLocks noGrp="1"/>
          </p:cNvSpPr>
          <p:nvPr>
            <p:ph type="body" sz="quarter" idx="33"/>
          </p:nvPr>
        </p:nvSpPr>
        <p:spPr>
          <a:xfrm>
            <a:off x="8396560" y="1845377"/>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dirty="0"/>
              <a:t>Click to edit Master text styles</a:t>
            </a:r>
          </a:p>
          <a:p>
            <a:pPr lvl="1"/>
            <a:r>
              <a:rPr lang="en-US" dirty="0"/>
              <a:t>Second level</a:t>
            </a:r>
          </a:p>
        </p:txBody>
      </p:sp>
      <p:sp>
        <p:nvSpPr>
          <p:cNvPr id="15" name="Text Placeholder 12"/>
          <p:cNvSpPr>
            <a:spLocks noGrp="1"/>
          </p:cNvSpPr>
          <p:nvPr>
            <p:ph type="body" sz="quarter" idx="34"/>
          </p:nvPr>
        </p:nvSpPr>
        <p:spPr>
          <a:xfrm>
            <a:off x="2683483" y="4256213"/>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dirty="0"/>
              <a:t>Click to edit Master text styles</a:t>
            </a:r>
          </a:p>
          <a:p>
            <a:pPr lvl="1"/>
            <a:r>
              <a:rPr lang="en-US" dirty="0"/>
              <a:t>Second level</a:t>
            </a:r>
          </a:p>
        </p:txBody>
      </p:sp>
      <p:sp>
        <p:nvSpPr>
          <p:cNvPr id="16" name="Text Placeholder 12"/>
          <p:cNvSpPr>
            <a:spLocks noGrp="1"/>
          </p:cNvSpPr>
          <p:nvPr>
            <p:ph type="body" sz="quarter" idx="35"/>
          </p:nvPr>
        </p:nvSpPr>
        <p:spPr>
          <a:xfrm>
            <a:off x="8396560" y="4256213"/>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dirty="0"/>
              <a:t>Click to edit Master text styles</a:t>
            </a:r>
          </a:p>
          <a:p>
            <a:pPr lvl="1"/>
            <a:r>
              <a:rPr lang="en-US" dirty="0"/>
              <a:t>Second level</a:t>
            </a:r>
          </a:p>
        </p:txBody>
      </p:sp>
      <p:sp>
        <p:nvSpPr>
          <p:cNvPr id="18" name="Rectangle 17">
            <a:extLst>
              <a:ext uri="{FF2B5EF4-FFF2-40B4-BE49-F238E27FC236}">
                <a16:creationId xmlns:a16="http://schemas.microsoft.com/office/drawing/2014/main" id="{12753468-486C-4E44-B97B-3442F4990D23}"/>
              </a:ext>
            </a:extLst>
          </p:cNvPr>
          <p:cNvSpPr/>
          <p:nvPr userDrawn="1"/>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userDrawn="1"/>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59653694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570267097"/>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C0C507E7-B81B-4C48-A5AA-EB2302302973}"/>
              </a:ext>
            </a:extLst>
          </p:cNvPr>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5" name="Text Placeholder 8">
            <a:extLst>
              <a:ext uri="{FF2B5EF4-FFF2-40B4-BE49-F238E27FC236}">
                <a16:creationId xmlns:a16="http://schemas.microsoft.com/office/drawing/2014/main" id="{A4B9D944-7F4E-42D4-8A84-43402BC40F0D}"/>
              </a:ext>
            </a:extLst>
          </p:cNvPr>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6" name="Text Placeholder 8">
            <a:extLst>
              <a:ext uri="{FF2B5EF4-FFF2-40B4-BE49-F238E27FC236}">
                <a16:creationId xmlns:a16="http://schemas.microsoft.com/office/drawing/2014/main" id="{D3B7D15E-E3BF-4AE0-B657-86BF4076BE3E}"/>
              </a:ext>
            </a:extLst>
          </p:cNvPr>
          <p:cNvSpPr>
            <a:spLocks noGrp="1"/>
          </p:cNvSpPr>
          <p:nvPr>
            <p:ph type="body" sz="quarter" idx="26"/>
          </p:nvPr>
        </p:nvSpPr>
        <p:spPr>
          <a:xfrm>
            <a:off x="547075" y="4251853"/>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7" name="Text Placeholder 8">
            <a:extLst>
              <a:ext uri="{FF2B5EF4-FFF2-40B4-BE49-F238E27FC236}">
                <a16:creationId xmlns:a16="http://schemas.microsoft.com/office/drawing/2014/main" id="{960D4485-EAA8-48B3-931F-31B5CEB3E678}"/>
              </a:ext>
            </a:extLst>
          </p:cNvPr>
          <p:cNvSpPr>
            <a:spLocks noGrp="1"/>
          </p:cNvSpPr>
          <p:nvPr>
            <p:ph type="body" sz="quarter" idx="27"/>
          </p:nvPr>
        </p:nvSpPr>
        <p:spPr>
          <a:xfrm>
            <a:off x="6280396" y="4251853"/>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98278118"/>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68D44A10-A1BE-4B60-89A4-889D08B8B34B}"/>
              </a:ext>
            </a:extLst>
          </p:cNvPr>
          <p:cNvSpPr>
            <a:spLocks noGrp="1"/>
          </p:cNvSpPr>
          <p:nvPr>
            <p:ph type="body" sz="quarter" idx="17"/>
          </p:nvPr>
        </p:nvSpPr>
        <p:spPr>
          <a:xfrm>
            <a:off x="512874" y="1857892"/>
            <a:ext cx="3584464" cy="4265506"/>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Text Placeholder 8">
            <a:extLst>
              <a:ext uri="{FF2B5EF4-FFF2-40B4-BE49-F238E27FC236}">
                <a16:creationId xmlns:a16="http://schemas.microsoft.com/office/drawing/2014/main" id="{9F52FC78-7A4E-4367-9DA3-28A234B39DF1}"/>
              </a:ext>
            </a:extLst>
          </p:cNvPr>
          <p:cNvSpPr>
            <a:spLocks noGrp="1"/>
          </p:cNvSpPr>
          <p:nvPr>
            <p:ph type="body" sz="quarter" idx="22"/>
          </p:nvPr>
        </p:nvSpPr>
        <p:spPr>
          <a:xfrm>
            <a:off x="4320000"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8" name="Text Placeholder 8">
            <a:extLst>
              <a:ext uri="{FF2B5EF4-FFF2-40B4-BE49-F238E27FC236}">
                <a16:creationId xmlns:a16="http://schemas.microsoft.com/office/drawing/2014/main" id="{2D6B6D6E-986C-4D4B-8630-4EBB5F79C2AC}"/>
              </a:ext>
            </a:extLst>
          </p:cNvPr>
          <p:cNvSpPr>
            <a:spLocks noGrp="1"/>
          </p:cNvSpPr>
          <p:nvPr>
            <p:ph type="body" sz="quarter" idx="23"/>
          </p:nvPr>
        </p:nvSpPr>
        <p:spPr>
          <a:xfrm>
            <a:off x="8177084"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804612228"/>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06311285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8"/>
          <p:cNvSpPr>
            <a:spLocks noGrp="1"/>
          </p:cNvSpPr>
          <p:nvPr>
            <p:ph type="body" sz="quarter" idx="18"/>
          </p:nvPr>
        </p:nvSpPr>
        <p:spPr>
          <a:xfrm>
            <a:off x="9096836"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p:cNvSpPr>
            <a:spLocks noGrp="1"/>
          </p:cNvSpPr>
          <p:nvPr>
            <p:ph type="body" sz="quarter" idx="19"/>
          </p:nvPr>
        </p:nvSpPr>
        <p:spPr>
          <a:xfrm>
            <a:off x="3368279"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Text Placeholder 8"/>
          <p:cNvSpPr>
            <a:spLocks noGrp="1"/>
          </p:cNvSpPr>
          <p:nvPr>
            <p:ph type="body" sz="quarter" idx="20"/>
          </p:nvPr>
        </p:nvSpPr>
        <p:spPr>
          <a:xfrm>
            <a:off x="6232557"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67266964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24714485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812659203"/>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8" name="Round Same Side Corner Rectangle 4">
            <a:extLst>
              <a:ext uri="{FF2B5EF4-FFF2-40B4-BE49-F238E27FC236}">
                <a16:creationId xmlns:a16="http://schemas.microsoft.com/office/drawing/2014/main" id="{ED6879C2-E826-404C-AE4F-8FDFBA801CEB}"/>
              </a:ext>
            </a:extLst>
          </p:cNvPr>
          <p:cNvSpPr/>
          <p:nvPr/>
        </p:nvSpPr>
        <p:spPr bwMode="gray">
          <a:xfrm rot="16200000">
            <a:off x="11182294" y="-78943"/>
            <a:ext cx="809966" cy="1209446"/>
          </a:xfrm>
          <a:prstGeom prst="round2SameRect">
            <a:avLst>
              <a:gd name="adj1" fmla="val 50000"/>
              <a:gd name="adj2" fmla="val 0"/>
            </a:avLst>
          </a:prstGeom>
          <a:solidFill>
            <a:schemeClr val="accent5">
              <a:lumMod val="75000"/>
              <a:alpha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0" name="Title 8">
            <a:extLst>
              <a:ext uri="{FF2B5EF4-FFF2-40B4-BE49-F238E27FC236}">
                <a16:creationId xmlns:a16="http://schemas.microsoft.com/office/drawing/2014/main" id="{6FA79B15-BD2D-45C4-B809-6BDAFDA74F9C}"/>
              </a:ext>
            </a:extLst>
          </p:cNvPr>
          <p:cNvSpPr txBox="1">
            <a:spLocks/>
          </p:cNvSpPr>
          <p:nvPr/>
        </p:nvSpPr>
        <p:spPr>
          <a:xfrm rot="5400000">
            <a:off x="5018495" y="-4897698"/>
            <a:ext cx="809966" cy="10846955"/>
          </a:xfrm>
          <a:prstGeom prst="round2SameRect">
            <a:avLst>
              <a:gd name="adj1" fmla="val 50000"/>
              <a:gd name="adj2" fmla="val 0"/>
            </a:avLst>
          </a:prstGeom>
          <a:solidFill>
            <a:srgbClr val="00ABAB">
              <a:alpha val="80000"/>
            </a:srgbClr>
          </a:solidFill>
        </p:spPr>
        <p:txBody>
          <a:bodyPr vert="vert" lIns="91440" tIns="457200" rIns="91440" bIns="502920" anchor="ctr" anchorCtr="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endParaRPr lang="en-US" sz="3600" b="1" dirty="0">
              <a:solidFill>
                <a:schemeClr val="bg1"/>
              </a:solidFill>
            </a:endParaRPr>
          </a:p>
        </p:txBody>
      </p:sp>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478155" y="358730"/>
            <a:ext cx="10098405" cy="334099"/>
          </a:xfrm>
          <a:prstGeom prst="rect">
            <a:avLst/>
          </a:prstGeom>
        </p:spPr>
        <p:txBody>
          <a:bodyPr vert="horz" lIns="0" tIns="0" rIns="0" bIns="0" rtlCol="0" anchor="t" anchorCtr="0">
            <a:noAutofit/>
          </a:bodyPr>
          <a:lstStyle>
            <a:lvl1pPr>
              <a:defRPr b="1">
                <a:solidFill>
                  <a:schemeClr val="bg1"/>
                </a:solidFill>
                <a:latin typeface="+mj-lt"/>
              </a:defRPr>
            </a:lvl1pPr>
          </a:lstStyle>
          <a:p>
            <a:r>
              <a:rPr lang="en-US" dirty="0"/>
              <a:t>Click to add title</a:t>
            </a:r>
          </a:p>
        </p:txBody>
      </p:sp>
      <p:sp>
        <p:nvSpPr>
          <p:cNvPr id="13" name="Rectangle 12">
            <a:extLst>
              <a:ext uri="{FF2B5EF4-FFF2-40B4-BE49-F238E27FC236}">
                <a16:creationId xmlns:a16="http://schemas.microsoft.com/office/drawing/2014/main" id="{FDB2B186-AFFE-4C43-B515-01BF681E1D8E}"/>
              </a:ext>
            </a:extLst>
          </p:cNvPr>
          <p:cNvSpPr/>
          <p:nvPr userDrawn="1"/>
        </p:nvSpPr>
        <p:spPr bwMode="gray">
          <a:xfrm>
            <a:off x="0" y="6329680"/>
            <a:ext cx="12192000" cy="71120"/>
          </a:xfrm>
          <a:prstGeom prst="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3007733591"/>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DB2B186-AFFE-4C43-B515-01BF681E1D8E}"/>
              </a:ext>
            </a:extLst>
          </p:cNvPr>
          <p:cNvSpPr/>
          <p:nvPr userDrawn="1"/>
        </p:nvSpPr>
        <p:spPr bwMode="gray">
          <a:xfrm>
            <a:off x="0" y="6329680"/>
            <a:ext cx="12192000" cy="71120"/>
          </a:xfrm>
          <a:prstGeom prst="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23285737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1" y="4211955"/>
            <a:ext cx="11210923"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grpSp>
    </p:spTree>
    <p:extLst>
      <p:ext uri="{BB962C8B-B14F-4D97-AF65-F5344CB8AC3E}">
        <p14:creationId xmlns:p14="http://schemas.microsoft.com/office/powerpoint/2010/main" val="1302764508"/>
      </p:ext>
    </p:extLst>
  </p:cSld>
  <p:clrMapOvr>
    <a:masterClrMapping/>
  </p:clrMapOvr>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825336540"/>
      </p:ext>
    </p:extLst>
  </p:cSld>
  <p:clrMapOvr>
    <a:masterClrMapping/>
  </p:clrMapOvr>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5361463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524000" y="1122363"/>
            <a:ext cx="9144000" cy="2387600"/>
          </a:xfrm>
        </p:spPr>
        <p:txBody>
          <a:bodyPr anchor="b"/>
          <a:lstStyle>
            <a:lvl1pPr algn="ctr">
              <a:defRPr sz="6000">
                <a:latin typeface="Verdana" panose="020B0604030504040204" pitchFamily="34" charset="0"/>
                <a:ea typeface="Verdana" panose="020B0604030504040204" pitchFamily="34" charset="0"/>
                <a:sym typeface="Verdana" panose="020B0604030504040204" pitchFamily="34" charset="0"/>
              </a:defRPr>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Verdana" panose="020B0604030504040204" pitchFamily="34" charset="0"/>
                <a:ea typeface="Verdana" panose="020B0604030504040204" pitchFamily="34" charset="0"/>
                <a:sym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atin typeface="Verdana" panose="020B0604030504040204" pitchFamily="34" charset="0"/>
                <a:ea typeface="Verdana" panose="020B0604030504040204" pitchFamily="34" charset="0"/>
                <a:sym typeface="Verdana" panose="020B0604030504040204" pitchFamily="34" charset="0"/>
              </a:defRPr>
            </a:lvl1pPr>
          </a:lstStyle>
          <a:p>
            <a:endParaRPr lang="en-IN" dirty="0"/>
          </a:p>
        </p:txBody>
      </p:sp>
    </p:spTree>
    <p:extLst>
      <p:ext uri="{BB962C8B-B14F-4D97-AF65-F5344CB8AC3E}">
        <p14:creationId xmlns:p14="http://schemas.microsoft.com/office/powerpoint/2010/main" val="394052426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3_Divider - Deloitte black">
    <p:bg bwMode="gray">
      <p:bgPr>
        <a:solidFill>
          <a:schemeClr val="tx1"/>
        </a:solidFill>
        <a:effectLst/>
      </p:bgPr>
    </p:bg>
    <p:spTree>
      <p:nvGrpSpPr>
        <p:cNvPr id="1" name=""/>
        <p:cNvGrpSpPr/>
        <p:nvPr/>
      </p:nvGrpSpPr>
      <p:grpSpPr>
        <a:xfrm>
          <a:off x="0" y="0"/>
          <a:ext cx="0" cy="0"/>
          <a:chOff x="0" y="0"/>
          <a:chExt cx="0" cy="0"/>
        </a:xfrm>
      </p:grpSpPr>
      <p:sp>
        <p:nvSpPr>
          <p:cNvPr id="21" name="TextBox 20"/>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bg1"/>
                </a:solidFill>
              </a:rPr>
              <a:t>©2019 Deloitte Touche Tohmatsu India LLP. </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335430" y="6477000"/>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Deloitte proposal to CredAble for Application Security Managed Services</a:t>
            </a:r>
          </a:p>
        </p:txBody>
      </p:sp>
    </p:spTree>
    <p:extLst>
      <p:ext uri="{BB962C8B-B14F-4D97-AF65-F5344CB8AC3E}">
        <p14:creationId xmlns:p14="http://schemas.microsoft.com/office/powerpoint/2010/main" val="33157747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image" Target="../media/image1.emf"/><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9"/>
            </p:custDataLst>
            <p:extLst>
              <p:ext uri="{D42A27DB-BD31-4B8C-83A1-F6EECF244321}">
                <p14:modId xmlns:p14="http://schemas.microsoft.com/office/powerpoint/2010/main" val="308715144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60" imgW="270" imgH="270" progId="TCLayout.ActiveDocument.1">
                  <p:embed/>
                </p:oleObj>
              </mc:Choice>
              <mc:Fallback>
                <p:oleObj name="think-cell Slide" r:id="rId60" imgW="270" imgH="270" progId="TCLayout.ActiveDocument.1">
                  <p:embed/>
                  <p:pic>
                    <p:nvPicPr>
                      <p:cNvPr id="4" name="Object 3" hidden="1"/>
                      <p:cNvPicPr/>
                      <p:nvPr/>
                    </p:nvPicPr>
                    <p:blipFill>
                      <a:blip r:embed="rId61"/>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75325" y="317501"/>
            <a:ext cx="1123725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4988560" y="6477000"/>
            <a:ext cx="6243184"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Establishment of a Program Management Unit (PMU) to support Development Monitoring &amp; Evaluation Office (DMEO) in the Institutionalization of Output Outcome Monitoring Framework, Government of India</a:t>
            </a:r>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2020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a:t>
            </a:r>
            <a:r>
              <a:rPr lang="fr-FR" sz="900" noProof="0" dirty="0" err="1">
                <a:solidFill>
                  <a:schemeClr val="tx1"/>
                </a:solidFill>
                <a:latin typeface="Calibri" panose="020F0502020204030204" pitchFamily="34" charset="0"/>
                <a:cs typeface="Calibri" panose="020F0502020204030204" pitchFamily="34" charset="0"/>
              </a:rPr>
              <a:t>India</a:t>
            </a:r>
            <a:r>
              <a:rPr lang="fr-FR" sz="900" noProof="0" dirty="0">
                <a:solidFill>
                  <a:schemeClr val="tx1"/>
                </a:solidFill>
                <a:latin typeface="Calibri" panose="020F0502020204030204" pitchFamily="34" charset="0"/>
                <a:cs typeface="Calibri" panose="020F0502020204030204" pitchFamily="34" charset="0"/>
              </a:rPr>
              <a:t> LLP. </a:t>
            </a:r>
          </a:p>
        </p:txBody>
      </p:sp>
      <p:sp>
        <p:nvSpPr>
          <p:cNvPr id="19" name="Text Placeholder 18"/>
          <p:cNvSpPr>
            <a:spLocks noGrp="1"/>
          </p:cNvSpPr>
          <p:nvPr>
            <p:ph type="body" idx="1"/>
          </p:nvPr>
        </p:nvSpPr>
        <p:spPr>
          <a:xfrm>
            <a:off x="475324" y="1665289"/>
            <a:ext cx="11237247" cy="4716462"/>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495659210"/>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44" r:id="rId4"/>
    <p:sldLayoutId id="2147483900" r:id="rId5"/>
    <p:sldLayoutId id="2147483901" r:id="rId6"/>
    <p:sldLayoutId id="2147483902" r:id="rId7"/>
    <p:sldLayoutId id="2147483706" r:id="rId8"/>
    <p:sldLayoutId id="2147483707" r:id="rId9"/>
    <p:sldLayoutId id="2147483903" r:id="rId10"/>
    <p:sldLayoutId id="2147483904" r:id="rId11"/>
    <p:sldLayoutId id="2147483905" r:id="rId12"/>
    <p:sldLayoutId id="2147483906" r:id="rId13"/>
    <p:sldLayoutId id="2147483907" r:id="rId14"/>
    <p:sldLayoutId id="2147483908" r:id="rId15"/>
    <p:sldLayoutId id="2147483909" r:id="rId16"/>
    <p:sldLayoutId id="2147483910" r:id="rId17"/>
    <p:sldLayoutId id="2147483911" r:id="rId18"/>
    <p:sldLayoutId id="2147483912" r:id="rId19"/>
    <p:sldLayoutId id="2147483913" r:id="rId20"/>
    <p:sldLayoutId id="2147483914" r:id="rId21"/>
    <p:sldLayoutId id="2147483915" r:id="rId22"/>
    <p:sldLayoutId id="2147483916" r:id="rId23"/>
    <p:sldLayoutId id="2147483917" r:id="rId24"/>
    <p:sldLayoutId id="2147483918" r:id="rId25"/>
    <p:sldLayoutId id="2147483919" r:id="rId26"/>
    <p:sldLayoutId id="2147483920" r:id="rId27"/>
    <p:sldLayoutId id="2147483921" r:id="rId28"/>
    <p:sldLayoutId id="2147483922" r:id="rId29"/>
    <p:sldLayoutId id="2147483923" r:id="rId30"/>
    <p:sldLayoutId id="2147483924" r:id="rId31"/>
    <p:sldLayoutId id="2147483925" r:id="rId32"/>
    <p:sldLayoutId id="2147483926" r:id="rId33"/>
    <p:sldLayoutId id="2147483816" r:id="rId34"/>
    <p:sldLayoutId id="2147483813" r:id="rId35"/>
    <p:sldLayoutId id="2147483818" r:id="rId36"/>
    <p:sldLayoutId id="2147483819" r:id="rId37"/>
    <p:sldLayoutId id="2147483820" r:id="rId38"/>
    <p:sldLayoutId id="2147483821" r:id="rId39"/>
    <p:sldLayoutId id="2147483822" r:id="rId40"/>
    <p:sldLayoutId id="2147483823" r:id="rId41"/>
    <p:sldLayoutId id="2147483817" r:id="rId42"/>
    <p:sldLayoutId id="2147483824" r:id="rId43"/>
    <p:sldLayoutId id="2147483825" r:id="rId44"/>
    <p:sldLayoutId id="2147483828" r:id="rId45"/>
    <p:sldLayoutId id="2147483829" r:id="rId46"/>
    <p:sldLayoutId id="2147483830" r:id="rId47"/>
    <p:sldLayoutId id="2147483826" r:id="rId48"/>
    <p:sldLayoutId id="2147483831" r:id="rId49"/>
    <p:sldLayoutId id="2147483832" r:id="rId50"/>
    <p:sldLayoutId id="2147483827" r:id="rId51"/>
    <p:sldLayoutId id="2147483948" r:id="rId52"/>
    <p:sldLayoutId id="2147483950" r:id="rId53"/>
    <p:sldLayoutId id="2147483927" r:id="rId54"/>
    <p:sldLayoutId id="2147483928" r:id="rId55"/>
    <p:sldLayoutId id="2147483947" r:id="rId56"/>
    <p:sldLayoutId id="2147483951" r:id="rId57"/>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00" userDrawn="1">
          <p15:clr>
            <a:srgbClr val="F26B43"/>
          </p15:clr>
        </p15:guide>
        <p15:guide id="7" pos="3768">
          <p15:clr>
            <a:srgbClr val="F26B43"/>
          </p15:clr>
        </p15:guide>
        <p15:guide id="8" pos="7378" userDrawn="1">
          <p15:clr>
            <a:srgbClr val="F26B43"/>
          </p15:clr>
        </p15:guide>
        <p15:guide id="13" pos="3912">
          <p15:clr>
            <a:srgbClr val="F26B43"/>
          </p15:clr>
        </p15:guide>
        <p15:guide id="14" orient="horz" pos="4104">
          <p15:clr>
            <a:srgbClr val="F26B43"/>
          </p15:clr>
        </p15:guide>
        <p15:guide id="15" orient="horz" pos="40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jpeg"/><Relationship Id="rId3" Type="http://schemas.openxmlformats.org/officeDocument/2006/relationships/notesSlide" Target="../notesSlides/notesSlide2.xml"/><Relationship Id="rId21" Type="http://schemas.openxmlformats.org/officeDocument/2006/relationships/image" Target="../media/image20.jpeg"/><Relationship Id="rId7" Type="http://schemas.openxmlformats.org/officeDocument/2006/relationships/image" Target="../media/image4.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jpeg"/><Relationship Id="rId2" Type="http://schemas.openxmlformats.org/officeDocument/2006/relationships/slideLayout" Target="../slideLayouts/slideLayout52.xml"/><Relationship Id="rId16" Type="http://schemas.openxmlformats.org/officeDocument/2006/relationships/image" Target="../media/image15.png"/><Relationship Id="rId20" Type="http://schemas.openxmlformats.org/officeDocument/2006/relationships/image" Target="../media/image19.jpeg"/><Relationship Id="rId1" Type="http://schemas.openxmlformats.org/officeDocument/2006/relationships/tags" Target="../tags/tag4.xml"/><Relationship Id="rId6" Type="http://schemas.openxmlformats.org/officeDocument/2006/relationships/image" Target="../media/image6.png"/><Relationship Id="rId11" Type="http://schemas.openxmlformats.org/officeDocument/2006/relationships/image" Target="../media/image10.png"/><Relationship Id="rId24" Type="http://schemas.openxmlformats.org/officeDocument/2006/relationships/image" Target="../media/image23.jpg"/><Relationship Id="rId5" Type="http://schemas.openxmlformats.org/officeDocument/2006/relationships/image" Target="../media/image2.emf"/><Relationship Id="rId15" Type="http://schemas.openxmlformats.org/officeDocument/2006/relationships/image" Target="../media/image14.png"/><Relationship Id="rId23" Type="http://schemas.openxmlformats.org/officeDocument/2006/relationships/image" Target="../media/image22.jpeg"/><Relationship Id="rId10" Type="http://schemas.openxmlformats.org/officeDocument/2006/relationships/image" Target="../media/image9.png"/><Relationship Id="rId19" Type="http://schemas.openxmlformats.org/officeDocument/2006/relationships/image" Target="../media/image18.jpeg"/><Relationship Id="rId4" Type="http://schemas.openxmlformats.org/officeDocument/2006/relationships/oleObject" Target="../embeddings/oleObject3.bin"/><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jpeg"/></Relationships>
</file>

<file path=ppt/slides/_rels/slide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13.xml"/><Relationship Id="rId1" Type="http://schemas.openxmlformats.org/officeDocument/2006/relationships/slideLayout" Target="../slideLayouts/slideLayout52.xml"/><Relationship Id="rId4" Type="http://schemas.openxmlformats.org/officeDocument/2006/relationships/slide" Target="slide15.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26" Type="http://schemas.openxmlformats.org/officeDocument/2006/relationships/tags" Target="../tags/tag30.xml"/><Relationship Id="rId3" Type="http://schemas.openxmlformats.org/officeDocument/2006/relationships/tags" Target="../tags/tag7.xml"/><Relationship Id="rId21" Type="http://schemas.openxmlformats.org/officeDocument/2006/relationships/tags" Target="../tags/tag25.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5" Type="http://schemas.openxmlformats.org/officeDocument/2006/relationships/tags" Target="../tags/tag29.xml"/><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tags" Target="../tags/tag24.xml"/><Relationship Id="rId29" Type="http://schemas.openxmlformats.org/officeDocument/2006/relationships/slideLayout" Target="../slideLayouts/slideLayout52.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24" Type="http://schemas.openxmlformats.org/officeDocument/2006/relationships/tags" Target="../tags/tag28.xml"/><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tags" Target="../tags/tag27.xml"/><Relationship Id="rId28" Type="http://schemas.openxmlformats.org/officeDocument/2006/relationships/tags" Target="../tags/tag32.xml"/><Relationship Id="rId10" Type="http://schemas.openxmlformats.org/officeDocument/2006/relationships/tags" Target="../tags/tag14.xml"/><Relationship Id="rId19" Type="http://schemas.openxmlformats.org/officeDocument/2006/relationships/tags" Target="../tags/tag23.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tags" Target="../tags/tag26.xml"/><Relationship Id="rId27" Type="http://schemas.openxmlformats.org/officeDocument/2006/relationships/tags" Target="../tags/tag31.xml"/></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emf"/><Relationship Id="rId2" Type="http://schemas.openxmlformats.org/officeDocument/2006/relationships/image" Target="../media/image6.png"/><Relationship Id="rId1" Type="http://schemas.openxmlformats.org/officeDocument/2006/relationships/slideLayout" Target="../slideLayouts/slideLayout52.xml"/><Relationship Id="rId6" Type="http://schemas.openxmlformats.org/officeDocument/2006/relationships/image" Target="../media/image30.png"/><Relationship Id="rId11" Type="http://schemas.openxmlformats.org/officeDocument/2006/relationships/image" Target="../media/image35.jpe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jpe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Layout" Target="../diagrams/layout1.xml"/><Relationship Id="rId7" Type="http://schemas.openxmlformats.org/officeDocument/2006/relationships/image" Target="../media/image40.png"/><Relationship Id="rId2" Type="http://schemas.openxmlformats.org/officeDocument/2006/relationships/diagramData" Target="../diagrams/data1.xml"/><Relationship Id="rId1" Type="http://schemas.openxmlformats.org/officeDocument/2006/relationships/slideLayout" Target="../slideLayouts/slideLayout5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43.png"/><Relationship Id="rId4" Type="http://schemas.openxmlformats.org/officeDocument/2006/relationships/diagramQuickStyle" Target="../diagrams/quickStyle1.xml"/><Relationship Id="rId9" Type="http://schemas.openxmlformats.org/officeDocument/2006/relationships/image" Target="../media/image4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25">
            <a:extLst>
              <a:ext uri="{FF2B5EF4-FFF2-40B4-BE49-F238E27FC236}">
                <a16:creationId xmlns:a16="http://schemas.microsoft.com/office/drawing/2014/main" id="{A178EB55-60FC-4490-9F58-566029930E65}"/>
              </a:ext>
            </a:extLst>
          </p:cNvPr>
          <p:cNvPicPr>
            <a:picLocks noGrp="1" noChangeAspect="1"/>
          </p:cNvPicPr>
          <p:nvPr>
            <p:ph type="pic" sz="quarter" idx="11"/>
          </p:nvPr>
        </p:nvPicPr>
        <p:blipFill>
          <a:blip r:embed="rId3"/>
          <a:srcRect/>
          <a:stretch>
            <a:fillRect/>
          </a:stretch>
        </p:blipFill>
        <p:spPr/>
      </p:pic>
      <p:sp>
        <p:nvSpPr>
          <p:cNvPr id="13" name="Title 12">
            <a:extLst>
              <a:ext uri="{FF2B5EF4-FFF2-40B4-BE49-F238E27FC236}">
                <a16:creationId xmlns:a16="http://schemas.microsoft.com/office/drawing/2014/main" id="{DE5B9CEA-5E73-4E22-8C75-E8D43059FFC7}"/>
              </a:ext>
            </a:extLst>
          </p:cNvPr>
          <p:cNvSpPr>
            <a:spLocks noGrp="1"/>
          </p:cNvSpPr>
          <p:nvPr>
            <p:ph type="ctrTitle"/>
          </p:nvPr>
        </p:nvSpPr>
        <p:spPr/>
        <p:txBody>
          <a:bodyPr/>
          <a:lstStyle/>
          <a:p>
            <a:r>
              <a:rPr lang="en-US" dirty="0"/>
              <a:t>Establishment of a Program Management Unit (PMU) to support Development Monitoring &amp; Evaluation Office (DMEO) in the Institutionalization of Output Outcome Monitoring Framework, Government of India </a:t>
            </a:r>
          </a:p>
        </p:txBody>
      </p:sp>
      <p:sp>
        <p:nvSpPr>
          <p:cNvPr id="15" name="Text Placeholder 14">
            <a:extLst>
              <a:ext uri="{FF2B5EF4-FFF2-40B4-BE49-F238E27FC236}">
                <a16:creationId xmlns:a16="http://schemas.microsoft.com/office/drawing/2014/main" id="{E22672E0-7693-4B5C-8331-DE3495FB6BB0}"/>
              </a:ext>
            </a:extLst>
          </p:cNvPr>
          <p:cNvSpPr>
            <a:spLocks noGrp="1"/>
          </p:cNvSpPr>
          <p:nvPr>
            <p:ph type="body" sz="quarter" idx="10"/>
          </p:nvPr>
        </p:nvSpPr>
        <p:spPr/>
        <p:txBody>
          <a:bodyPr/>
          <a:lstStyle/>
          <a:p>
            <a:r>
              <a:rPr lang="en-US" dirty="0"/>
              <a:t>December 2020</a:t>
            </a:r>
          </a:p>
        </p:txBody>
      </p:sp>
      <p:pic>
        <p:nvPicPr>
          <p:cNvPr id="6" name="Picture 5" descr="A picture containing lit, table, light&#10;&#10;Description automatically generated">
            <a:extLst>
              <a:ext uri="{FF2B5EF4-FFF2-40B4-BE49-F238E27FC236}">
                <a16:creationId xmlns:a16="http://schemas.microsoft.com/office/drawing/2014/main" id="{C0913E7C-0A09-47CE-8FC0-2A252B018BA1}"/>
              </a:ext>
            </a:extLst>
          </p:cNvPr>
          <p:cNvPicPr>
            <a:picLocks noChangeAspect="1"/>
          </p:cNvPicPr>
          <p:nvPr/>
        </p:nvPicPr>
        <p:blipFill>
          <a:blip r:embed="rId4"/>
          <a:stretch>
            <a:fillRect/>
          </a:stretch>
        </p:blipFill>
        <p:spPr>
          <a:xfrm>
            <a:off x="9068925" y="310734"/>
            <a:ext cx="896275" cy="854042"/>
          </a:xfrm>
          <a:prstGeom prst="rect">
            <a:avLst/>
          </a:prstGeom>
        </p:spPr>
      </p:pic>
      <p:pic>
        <p:nvPicPr>
          <p:cNvPr id="7" name="Picture 6" descr="A picture containing application, logo&#10;&#10;Description automatically generated">
            <a:extLst>
              <a:ext uri="{FF2B5EF4-FFF2-40B4-BE49-F238E27FC236}">
                <a16:creationId xmlns:a16="http://schemas.microsoft.com/office/drawing/2014/main" id="{7F3467F0-077C-4607-AEE5-1F1D951FB379}"/>
              </a:ext>
            </a:extLst>
          </p:cNvPr>
          <p:cNvPicPr>
            <a:picLocks noChangeAspect="1"/>
          </p:cNvPicPr>
          <p:nvPr/>
        </p:nvPicPr>
        <p:blipFill rotWithShape="1">
          <a:blip r:embed="rId5"/>
          <a:srcRect l="14606" t="27122" r="16651" b="33789"/>
          <a:stretch/>
        </p:blipFill>
        <p:spPr>
          <a:xfrm>
            <a:off x="10036320" y="572736"/>
            <a:ext cx="1676490" cy="592040"/>
          </a:xfrm>
          <a:prstGeom prst="rect">
            <a:avLst/>
          </a:prstGeom>
        </p:spPr>
      </p:pic>
    </p:spTree>
    <p:extLst>
      <p:ext uri="{BB962C8B-B14F-4D97-AF65-F5344CB8AC3E}">
        <p14:creationId xmlns:p14="http://schemas.microsoft.com/office/powerpoint/2010/main" val="8619572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6"/>
          <p:cNvSpPr>
            <a:spLocks noGrp="1"/>
          </p:cNvSpPr>
          <p:nvPr>
            <p:ph type="title"/>
          </p:nvPr>
        </p:nvSpPr>
        <p:spPr/>
        <p:txBody>
          <a:bodyPr/>
          <a:lstStyle/>
          <a:p>
            <a:pPr lvl="0"/>
            <a:r>
              <a:rPr lang="en-US" dirty="0">
                <a:sym typeface="Verdana" panose="020B0604030504040204" pitchFamily="34" charset="0"/>
              </a:rPr>
              <a:t>With you today …</a:t>
            </a:r>
          </a:p>
        </p:txBody>
      </p:sp>
      <p:sp>
        <p:nvSpPr>
          <p:cNvPr id="51" name="Rectangle 50"/>
          <p:cNvSpPr/>
          <p:nvPr/>
        </p:nvSpPr>
        <p:spPr>
          <a:xfrm>
            <a:off x="0" y="5227422"/>
            <a:ext cx="12192000" cy="10679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nchorCtr="0"/>
          <a:lstStyle/>
          <a:p>
            <a:pPr algn="ctr"/>
            <a:r>
              <a:rPr lang="en-IN" sz="1200" b="1" dirty="0">
                <a:solidFill>
                  <a:schemeClr val="tx1"/>
                </a:solidFill>
                <a:latin typeface="+mj-lt"/>
                <a:ea typeface="Verdana" panose="020B0604030504040204" pitchFamily="34" charset="0"/>
                <a:cs typeface="Open Sans" panose="020B0604020202020204" charset="0"/>
                <a:sym typeface="Verdana" panose="020B0604030504040204" pitchFamily="34" charset="0"/>
              </a:rPr>
              <a:t>Marquee clients served by this team</a:t>
            </a:r>
          </a:p>
        </p:txBody>
      </p:sp>
      <p:grpSp>
        <p:nvGrpSpPr>
          <p:cNvPr id="64521" name="Group 64520">
            <a:extLst>
              <a:ext uri="{FF2B5EF4-FFF2-40B4-BE49-F238E27FC236}">
                <a16:creationId xmlns:a16="http://schemas.microsoft.com/office/drawing/2014/main" id="{BBDC9BE5-2164-423C-8CD8-C2984D7E3B53}"/>
              </a:ext>
            </a:extLst>
          </p:cNvPr>
          <p:cNvGrpSpPr/>
          <p:nvPr/>
        </p:nvGrpSpPr>
        <p:grpSpPr>
          <a:xfrm>
            <a:off x="478155" y="5566464"/>
            <a:ext cx="11235355" cy="577173"/>
            <a:chOff x="478155" y="5535984"/>
            <a:chExt cx="11235355" cy="577173"/>
          </a:xfrm>
        </p:grpSpPr>
        <p:pic>
          <p:nvPicPr>
            <p:cNvPr id="64558" name="Picture 46" descr="https://o.remove.bg/downloads/24982320-5d10-4bdb-84e5-5f44c5a9a032/Picture3-removebg-preview.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4451" y="5641468"/>
              <a:ext cx="784156" cy="366205"/>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descr="A picture containing lit, table, light&#10;&#10;Description automatically generated">
              <a:extLst>
                <a:ext uri="{FF2B5EF4-FFF2-40B4-BE49-F238E27FC236}">
                  <a16:creationId xmlns:a16="http://schemas.microsoft.com/office/drawing/2014/main" id="{04EC03D3-9ECC-41EA-B1A2-E3C14DA4052A}"/>
                </a:ext>
              </a:extLst>
            </p:cNvPr>
            <p:cNvPicPr>
              <a:picLocks noChangeAspect="1"/>
            </p:cNvPicPr>
            <p:nvPr/>
          </p:nvPicPr>
          <p:blipFill>
            <a:blip r:embed="rId7"/>
            <a:stretch>
              <a:fillRect/>
            </a:stretch>
          </p:blipFill>
          <p:spPr>
            <a:xfrm>
              <a:off x="478155" y="5587870"/>
              <a:ext cx="496811" cy="473401"/>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EB0A232C-A541-47BC-B36D-7B73DB3AD5A7}"/>
                </a:ext>
              </a:extLst>
            </p:cNvPr>
            <p:cNvPicPr>
              <a:picLocks noChangeAspect="1"/>
            </p:cNvPicPr>
            <p:nvPr/>
          </p:nvPicPr>
          <p:blipFill rotWithShape="1">
            <a:blip r:embed="rId8"/>
            <a:srcRect l="21207" t="4219" r="21490" b="7193"/>
            <a:stretch/>
          </p:blipFill>
          <p:spPr>
            <a:xfrm>
              <a:off x="8120330" y="5535984"/>
              <a:ext cx="786837" cy="577173"/>
            </a:xfrm>
            <a:prstGeom prst="rect">
              <a:avLst/>
            </a:prstGeom>
          </p:spPr>
        </p:pic>
        <p:pic>
          <p:nvPicPr>
            <p:cNvPr id="15" name="Picture 14" descr="Text&#10;&#10;Description automatically generated">
              <a:extLst>
                <a:ext uri="{FF2B5EF4-FFF2-40B4-BE49-F238E27FC236}">
                  <a16:creationId xmlns:a16="http://schemas.microsoft.com/office/drawing/2014/main" id="{9AF189B3-A339-474E-BD6E-3DCAC0DEAD26}"/>
                </a:ext>
              </a:extLst>
            </p:cNvPr>
            <p:cNvPicPr>
              <a:picLocks noChangeAspect="1"/>
            </p:cNvPicPr>
            <p:nvPr/>
          </p:nvPicPr>
          <p:blipFill rotWithShape="1">
            <a:blip r:embed="rId9"/>
            <a:srcRect t="6054" b="7385"/>
            <a:stretch/>
          </p:blipFill>
          <p:spPr>
            <a:xfrm>
              <a:off x="3090232" y="5605340"/>
              <a:ext cx="946801" cy="438461"/>
            </a:xfrm>
            <a:prstGeom prst="rect">
              <a:avLst/>
            </a:prstGeom>
          </p:spPr>
        </p:pic>
        <p:pic>
          <p:nvPicPr>
            <p:cNvPr id="18" name="Picture 17" descr="Text&#10;&#10;Description automatically generated">
              <a:extLst>
                <a:ext uri="{FF2B5EF4-FFF2-40B4-BE49-F238E27FC236}">
                  <a16:creationId xmlns:a16="http://schemas.microsoft.com/office/drawing/2014/main" id="{88C6DC80-3738-449E-8743-1DE5C660F3B2}"/>
                </a:ext>
              </a:extLst>
            </p:cNvPr>
            <p:cNvPicPr>
              <a:picLocks noChangeAspect="1"/>
            </p:cNvPicPr>
            <p:nvPr/>
          </p:nvPicPr>
          <p:blipFill>
            <a:blip r:embed="rId10"/>
            <a:stretch>
              <a:fillRect/>
            </a:stretch>
          </p:blipFill>
          <p:spPr>
            <a:xfrm>
              <a:off x="9016652" y="5620344"/>
              <a:ext cx="729380" cy="408452"/>
            </a:xfrm>
            <a:prstGeom prst="rect">
              <a:avLst/>
            </a:prstGeom>
          </p:spPr>
        </p:pic>
        <p:pic>
          <p:nvPicPr>
            <p:cNvPr id="64512" name="Picture 64511" descr="Text&#10;&#10;Description automatically generated">
              <a:extLst>
                <a:ext uri="{FF2B5EF4-FFF2-40B4-BE49-F238E27FC236}">
                  <a16:creationId xmlns:a16="http://schemas.microsoft.com/office/drawing/2014/main" id="{3820DEAF-40E6-4124-AC4F-99E7A77600FF}"/>
                </a:ext>
              </a:extLst>
            </p:cNvPr>
            <p:cNvPicPr>
              <a:picLocks noChangeAspect="1"/>
            </p:cNvPicPr>
            <p:nvPr/>
          </p:nvPicPr>
          <p:blipFill>
            <a:blip r:embed="rId11"/>
            <a:stretch>
              <a:fillRect/>
            </a:stretch>
          </p:blipFill>
          <p:spPr>
            <a:xfrm>
              <a:off x="5557646" y="5605340"/>
              <a:ext cx="876921" cy="438461"/>
            </a:xfrm>
            <a:prstGeom prst="rect">
              <a:avLst/>
            </a:prstGeom>
          </p:spPr>
        </p:pic>
        <p:pic>
          <p:nvPicPr>
            <p:cNvPr id="64514" name="Picture 64513" descr="A picture containing graphical user interface&#10;&#10;Description automatically generated">
              <a:extLst>
                <a:ext uri="{FF2B5EF4-FFF2-40B4-BE49-F238E27FC236}">
                  <a16:creationId xmlns:a16="http://schemas.microsoft.com/office/drawing/2014/main" id="{20839DC8-FA50-40CF-B655-F7E1F6600F9F}"/>
                </a:ext>
              </a:extLst>
            </p:cNvPr>
            <p:cNvPicPr>
              <a:picLocks noChangeAspect="1"/>
            </p:cNvPicPr>
            <p:nvPr/>
          </p:nvPicPr>
          <p:blipFill>
            <a:blip r:embed="rId12"/>
            <a:stretch>
              <a:fillRect/>
            </a:stretch>
          </p:blipFill>
          <p:spPr>
            <a:xfrm>
              <a:off x="4146518" y="5657693"/>
              <a:ext cx="1301643" cy="333755"/>
            </a:xfrm>
            <a:prstGeom prst="rect">
              <a:avLst/>
            </a:prstGeom>
          </p:spPr>
        </p:pic>
        <p:pic>
          <p:nvPicPr>
            <p:cNvPr id="8" name="Picture 7" descr="Text&#10;&#10;Description automatically generated">
              <a:extLst>
                <a:ext uri="{FF2B5EF4-FFF2-40B4-BE49-F238E27FC236}">
                  <a16:creationId xmlns:a16="http://schemas.microsoft.com/office/drawing/2014/main" id="{D0104B5C-51F1-4FDA-A743-8E4EE3CCA482}"/>
                </a:ext>
              </a:extLst>
            </p:cNvPr>
            <p:cNvPicPr>
              <a:picLocks noChangeAspect="1"/>
            </p:cNvPicPr>
            <p:nvPr/>
          </p:nvPicPr>
          <p:blipFill rotWithShape="1">
            <a:blip r:embed="rId13"/>
            <a:srcRect t="10216" b="12014"/>
            <a:stretch/>
          </p:blipFill>
          <p:spPr>
            <a:xfrm>
              <a:off x="6544052" y="5620088"/>
              <a:ext cx="1466793" cy="408964"/>
            </a:xfrm>
            <a:prstGeom prst="rect">
              <a:avLst/>
            </a:prstGeom>
          </p:spPr>
        </p:pic>
        <p:pic>
          <p:nvPicPr>
            <p:cNvPr id="11" name="Picture 10" descr="Logo&#10;&#10;Description automatically generated">
              <a:extLst>
                <a:ext uri="{FF2B5EF4-FFF2-40B4-BE49-F238E27FC236}">
                  <a16:creationId xmlns:a16="http://schemas.microsoft.com/office/drawing/2014/main" id="{3D439E91-A6BB-4D43-8DD5-5AE692F57328}"/>
                </a:ext>
              </a:extLst>
            </p:cNvPr>
            <p:cNvPicPr>
              <a:picLocks noChangeAspect="1"/>
            </p:cNvPicPr>
            <p:nvPr/>
          </p:nvPicPr>
          <p:blipFill rotWithShape="1">
            <a:blip r:embed="rId14"/>
            <a:srcRect t="33654" b="28146"/>
            <a:stretch/>
          </p:blipFill>
          <p:spPr>
            <a:xfrm>
              <a:off x="1978092" y="5633066"/>
              <a:ext cx="1002655" cy="383008"/>
            </a:xfrm>
            <a:prstGeom prst="rect">
              <a:avLst/>
            </a:prstGeom>
          </p:spPr>
        </p:pic>
        <p:pic>
          <p:nvPicPr>
            <p:cNvPr id="13" name="Picture 12" descr="Logo&#10;&#10;Description automatically generated">
              <a:extLst>
                <a:ext uri="{FF2B5EF4-FFF2-40B4-BE49-F238E27FC236}">
                  <a16:creationId xmlns:a16="http://schemas.microsoft.com/office/drawing/2014/main" id="{255DE3AC-1B9B-4096-B6F1-5027435BAB78}"/>
                </a:ext>
              </a:extLst>
            </p:cNvPr>
            <p:cNvPicPr>
              <a:picLocks noChangeAspect="1"/>
            </p:cNvPicPr>
            <p:nvPr/>
          </p:nvPicPr>
          <p:blipFill>
            <a:blip r:embed="rId15"/>
            <a:stretch>
              <a:fillRect/>
            </a:stretch>
          </p:blipFill>
          <p:spPr>
            <a:xfrm>
              <a:off x="9855517" y="5637519"/>
              <a:ext cx="712575" cy="374102"/>
            </a:xfrm>
            <a:prstGeom prst="rect">
              <a:avLst/>
            </a:prstGeom>
          </p:spPr>
        </p:pic>
        <p:pic>
          <p:nvPicPr>
            <p:cNvPr id="16" name="Picture 15" descr="Graphical user interface, text&#10;&#10;Description automatically generated">
              <a:extLst>
                <a:ext uri="{FF2B5EF4-FFF2-40B4-BE49-F238E27FC236}">
                  <a16:creationId xmlns:a16="http://schemas.microsoft.com/office/drawing/2014/main" id="{11AC8DF5-D78E-48C0-AAE4-00FA5D8678F5}"/>
                </a:ext>
              </a:extLst>
            </p:cNvPr>
            <p:cNvPicPr>
              <a:picLocks noChangeAspect="1"/>
            </p:cNvPicPr>
            <p:nvPr/>
          </p:nvPicPr>
          <p:blipFill rotWithShape="1">
            <a:blip r:embed="rId16"/>
            <a:srcRect t="5715" b="16481"/>
            <a:stretch/>
          </p:blipFill>
          <p:spPr>
            <a:xfrm>
              <a:off x="10677580" y="5598891"/>
              <a:ext cx="1035930" cy="451358"/>
            </a:xfrm>
            <a:prstGeom prst="rect">
              <a:avLst/>
            </a:prstGeom>
          </p:spPr>
        </p:pic>
      </p:grpSp>
      <p:grpSp>
        <p:nvGrpSpPr>
          <p:cNvPr id="64523" name="Group 64522">
            <a:extLst>
              <a:ext uri="{FF2B5EF4-FFF2-40B4-BE49-F238E27FC236}">
                <a16:creationId xmlns:a16="http://schemas.microsoft.com/office/drawing/2014/main" id="{577CAA6B-AB65-4700-A9C0-77178C12CC85}"/>
              </a:ext>
            </a:extLst>
          </p:cNvPr>
          <p:cNvGrpSpPr/>
          <p:nvPr/>
        </p:nvGrpSpPr>
        <p:grpSpPr>
          <a:xfrm>
            <a:off x="479465" y="1105634"/>
            <a:ext cx="6349535" cy="3903390"/>
            <a:chOff x="479465" y="1075154"/>
            <a:chExt cx="6349535" cy="3903390"/>
          </a:xfrm>
        </p:grpSpPr>
        <p:grpSp>
          <p:nvGrpSpPr>
            <p:cNvPr id="29" name="Group 28">
              <a:extLst>
                <a:ext uri="{FF2B5EF4-FFF2-40B4-BE49-F238E27FC236}">
                  <a16:creationId xmlns:a16="http://schemas.microsoft.com/office/drawing/2014/main" id="{F7BC70D8-EA07-428C-8882-D2FAF95852E4}"/>
                </a:ext>
              </a:extLst>
            </p:cNvPr>
            <p:cNvGrpSpPr/>
            <p:nvPr/>
          </p:nvGrpSpPr>
          <p:grpSpPr>
            <a:xfrm>
              <a:off x="3715042" y="2062044"/>
              <a:ext cx="3113958" cy="941832"/>
              <a:chOff x="3715042" y="2062044"/>
              <a:chExt cx="3113958" cy="941832"/>
            </a:xfrm>
          </p:grpSpPr>
          <p:sp>
            <p:nvSpPr>
              <p:cNvPr id="65" name="Rounded Rectangle 10">
                <a:extLst>
                  <a:ext uri="{FF2B5EF4-FFF2-40B4-BE49-F238E27FC236}">
                    <a16:creationId xmlns:a16="http://schemas.microsoft.com/office/drawing/2014/main" id="{6D5B8FEC-155E-4DB7-ACB6-E6EB73BE13C9}"/>
                  </a:ext>
                </a:extLst>
              </p:cNvPr>
              <p:cNvSpPr/>
              <p:nvPr/>
            </p:nvSpPr>
            <p:spPr bwMode="gray">
              <a:xfrm>
                <a:off x="4038892" y="2148188"/>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02920" tIns="40082" rIns="0" bIns="40082" rtlCol="0" anchor="ctr">
                <a:noAutofit/>
              </a:bodyPr>
              <a:lstStyle/>
              <a:p>
                <a:pPr marL="84138">
                  <a:spcAft>
                    <a:spcPts val="175"/>
                  </a:spcAft>
                </a:pPr>
                <a:r>
                  <a:rPr lang="en-US" sz="1400" b="1" dirty="0">
                    <a:latin typeface="+mj-lt"/>
                    <a:ea typeface="Open Sans" panose="020B0606030504020204" pitchFamily="34" charset="0"/>
                    <a:cs typeface="Open Sans" panose="020B0606030504020204" pitchFamily="34" charset="0"/>
                  </a:rPr>
                  <a:t>Dr. Debashish Biswas</a:t>
                </a:r>
              </a:p>
              <a:p>
                <a:pPr marL="84138">
                  <a:spcAft>
                    <a:spcPts val="175"/>
                  </a:spcAft>
                </a:pPr>
                <a:r>
                  <a:rPr lang="en-US" sz="1000" dirty="0">
                    <a:latin typeface="+mj-lt"/>
                    <a:ea typeface="Open Sans" panose="020B0606030504020204" pitchFamily="34" charset="0"/>
                    <a:cs typeface="Open Sans" panose="020B0606030504020204" pitchFamily="34" charset="0"/>
                  </a:rPr>
                  <a:t>International Development Expert</a:t>
                </a:r>
              </a:p>
            </p:txBody>
          </p:sp>
          <p:pic>
            <p:nvPicPr>
              <p:cNvPr id="48" name="Picture 9" descr="image002">
                <a:extLst>
                  <a:ext uri="{FF2B5EF4-FFF2-40B4-BE49-F238E27FC236}">
                    <a16:creationId xmlns:a16="http://schemas.microsoft.com/office/drawing/2014/main" id="{D72166FF-564E-4145-B4E4-7B6E210C4D7B}"/>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380" r="380" b="10515"/>
              <a:stretch/>
            </p:blipFill>
            <p:spPr bwMode="auto">
              <a:xfrm>
                <a:off x="3715042" y="2062044"/>
                <a:ext cx="941832" cy="941832"/>
              </a:xfrm>
              <a:prstGeom prst="ellipse">
                <a:avLst/>
              </a:prstGeom>
              <a:noFill/>
              <a:ln w="28575">
                <a:solidFill>
                  <a:schemeClr val="bg1">
                    <a:lumMod val="95000"/>
                  </a:schemeClr>
                </a:solidFill>
              </a:ln>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9A39541D-BCDB-4449-9D9E-DE25B5E80CBB}"/>
                </a:ext>
              </a:extLst>
            </p:cNvPr>
            <p:cNvGrpSpPr/>
            <p:nvPr/>
          </p:nvGrpSpPr>
          <p:grpSpPr>
            <a:xfrm>
              <a:off x="479465" y="2062044"/>
              <a:ext cx="3113958" cy="941832"/>
              <a:chOff x="479465" y="2062044"/>
              <a:chExt cx="3113958" cy="941832"/>
            </a:xfrm>
          </p:grpSpPr>
          <p:sp>
            <p:nvSpPr>
              <p:cNvPr id="62" name="Rounded Rectangle 10">
                <a:extLst>
                  <a:ext uri="{FF2B5EF4-FFF2-40B4-BE49-F238E27FC236}">
                    <a16:creationId xmlns:a16="http://schemas.microsoft.com/office/drawing/2014/main" id="{14218CF6-8FC5-4B55-A88C-AA364AC9508F}"/>
                  </a:ext>
                </a:extLst>
              </p:cNvPr>
              <p:cNvSpPr/>
              <p:nvPr/>
            </p:nvSpPr>
            <p:spPr bwMode="gray">
              <a:xfrm>
                <a:off x="803315" y="2148188"/>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02920" tIns="40082" rIns="0" bIns="40082" rtlCol="0" anchor="ctr">
                <a:noAutofit/>
              </a:bodyPr>
              <a:lstStyle/>
              <a:p>
                <a:pPr marL="84138">
                  <a:spcAft>
                    <a:spcPts val="175"/>
                  </a:spcAft>
                </a:pPr>
                <a:r>
                  <a:rPr lang="en-US" sz="1400" b="1" dirty="0" err="1">
                    <a:latin typeface="+mj-lt"/>
                    <a:ea typeface="Open Sans" panose="020B0606030504020204" pitchFamily="34" charset="0"/>
                    <a:cs typeface="Open Sans" panose="020B0606030504020204" pitchFamily="34" charset="0"/>
                  </a:rPr>
                  <a:t>Anees</a:t>
                </a:r>
                <a:r>
                  <a:rPr lang="en-US" sz="1400" b="1" dirty="0">
                    <a:latin typeface="+mj-lt"/>
                    <a:ea typeface="Open Sans" panose="020B0606030504020204" pitchFamily="34" charset="0"/>
                    <a:cs typeface="Open Sans" panose="020B0606030504020204" pitchFamily="34" charset="0"/>
                  </a:rPr>
                  <a:t> Vijayan</a:t>
                </a:r>
              </a:p>
              <a:p>
                <a:pPr marL="84138">
                  <a:spcAft>
                    <a:spcPts val="175"/>
                  </a:spcAft>
                </a:pPr>
                <a:r>
                  <a:rPr lang="en-US" sz="1000" dirty="0">
                    <a:latin typeface="+mj-lt"/>
                    <a:ea typeface="Open Sans" panose="020B0606030504020204" pitchFamily="34" charset="0"/>
                    <a:cs typeface="Open Sans" panose="020B0606030504020204" pitchFamily="34" charset="0"/>
                  </a:rPr>
                  <a:t>Monitoring &amp; Evaluation Expert</a:t>
                </a:r>
              </a:p>
            </p:txBody>
          </p:sp>
          <p:pic>
            <p:nvPicPr>
              <p:cNvPr id="61" name="Picture 1" descr="image011">
                <a:extLst>
                  <a:ext uri="{FF2B5EF4-FFF2-40B4-BE49-F238E27FC236}">
                    <a16:creationId xmlns:a16="http://schemas.microsoft.com/office/drawing/2014/main" id="{45BF5129-2AFE-454B-9B53-F31D82CB993D}"/>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r="2980" b="2980"/>
              <a:stretch/>
            </p:blipFill>
            <p:spPr bwMode="auto">
              <a:xfrm>
                <a:off x="479465" y="2062044"/>
                <a:ext cx="941832" cy="941832"/>
              </a:xfrm>
              <a:prstGeom prst="ellipse">
                <a:avLst/>
              </a:prstGeom>
              <a:noFill/>
              <a:ln w="28575">
                <a:solidFill>
                  <a:schemeClr val="bg1">
                    <a:lumMod val="95000"/>
                  </a:schemeClr>
                </a:solidFill>
              </a:ln>
              <a:extLst>
                <a:ext uri="{909E8E84-426E-40DD-AFC4-6F175D3DCCD1}">
                  <a14:hiddenFill xmlns:a14="http://schemas.microsoft.com/office/drawing/2010/main">
                    <a:solidFill>
                      <a:srgbClr val="FFFFFF"/>
                    </a:solidFill>
                  </a14:hiddenFill>
                </a:ext>
              </a:extLst>
            </p:spPr>
          </p:pic>
        </p:grpSp>
        <p:grpSp>
          <p:nvGrpSpPr>
            <p:cNvPr id="38" name="Group 37">
              <a:extLst>
                <a:ext uri="{FF2B5EF4-FFF2-40B4-BE49-F238E27FC236}">
                  <a16:creationId xmlns:a16="http://schemas.microsoft.com/office/drawing/2014/main" id="{AFC9DCA2-8A18-4F8B-BE52-4206199CFE90}"/>
                </a:ext>
              </a:extLst>
            </p:cNvPr>
            <p:cNvGrpSpPr/>
            <p:nvPr/>
          </p:nvGrpSpPr>
          <p:grpSpPr>
            <a:xfrm>
              <a:off x="2097253" y="1075154"/>
              <a:ext cx="3113958" cy="941388"/>
              <a:chOff x="2097253" y="1075154"/>
              <a:chExt cx="3113958" cy="941388"/>
            </a:xfrm>
          </p:grpSpPr>
          <p:sp>
            <p:nvSpPr>
              <p:cNvPr id="31" name="Rounded Rectangle 10">
                <a:extLst>
                  <a:ext uri="{FF2B5EF4-FFF2-40B4-BE49-F238E27FC236}">
                    <a16:creationId xmlns:a16="http://schemas.microsoft.com/office/drawing/2014/main" id="{BB588117-90A6-4740-B0CF-042E6E5D2CC7}"/>
                  </a:ext>
                </a:extLst>
              </p:cNvPr>
              <p:cNvSpPr/>
              <p:nvPr/>
            </p:nvSpPr>
            <p:spPr bwMode="gray">
              <a:xfrm>
                <a:off x="2421103" y="1160854"/>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02920" tIns="40082" rIns="0" bIns="40082" rtlCol="0" anchor="ctr">
                <a:noAutofit/>
              </a:bodyPr>
              <a:lstStyle/>
              <a:p>
                <a:pPr marL="84138">
                  <a:spcAft>
                    <a:spcPts val="175"/>
                  </a:spcAft>
                </a:pPr>
                <a:r>
                  <a:rPr lang="en-US" sz="1400" b="1" dirty="0">
                    <a:latin typeface="+mj-lt"/>
                    <a:ea typeface="Open Sans" panose="020B0606030504020204" pitchFamily="34" charset="0"/>
                    <a:cs typeface="Open Sans" panose="020B0606030504020204" pitchFamily="34" charset="0"/>
                  </a:rPr>
                  <a:t>Dr. Raja </a:t>
                </a:r>
                <a:r>
                  <a:rPr lang="en-US" sz="1400" b="1" dirty="0" err="1">
                    <a:latin typeface="+mj-lt"/>
                    <a:ea typeface="Open Sans" panose="020B0606030504020204" pitchFamily="34" charset="0"/>
                    <a:cs typeface="Open Sans" panose="020B0606030504020204" pitchFamily="34" charset="0"/>
                  </a:rPr>
                  <a:t>Venkataramani</a:t>
                </a:r>
                <a:endParaRPr lang="en-US" sz="1400" b="1" dirty="0">
                  <a:latin typeface="+mj-lt"/>
                  <a:ea typeface="Open Sans" panose="020B0606030504020204" pitchFamily="34" charset="0"/>
                  <a:cs typeface="Open Sans" panose="020B0606030504020204" pitchFamily="34" charset="0"/>
                </a:endParaRPr>
              </a:p>
              <a:p>
                <a:pPr marL="84138">
                  <a:spcAft>
                    <a:spcPts val="175"/>
                  </a:spcAft>
                </a:pPr>
                <a:r>
                  <a:rPr lang="en-US" sz="1000" dirty="0">
                    <a:latin typeface="+mj-lt"/>
                    <a:ea typeface="Open Sans" panose="020B0606030504020204" pitchFamily="34" charset="0"/>
                    <a:cs typeface="Open Sans" panose="020B0606030504020204" pitchFamily="34" charset="0"/>
                  </a:rPr>
                  <a:t>Lead Capacity Building Expert</a:t>
                </a:r>
                <a:br>
                  <a:rPr lang="en-US" sz="1000" dirty="0">
                    <a:latin typeface="+mj-lt"/>
                    <a:ea typeface="Open Sans" panose="020B0606030504020204" pitchFamily="34" charset="0"/>
                    <a:cs typeface="Open Sans" panose="020B0606030504020204" pitchFamily="34" charset="0"/>
                  </a:rPr>
                </a:br>
                <a:r>
                  <a:rPr lang="en-US" sz="1000" dirty="0">
                    <a:latin typeface="+mj-lt"/>
                    <a:ea typeface="Open Sans" panose="020B0606030504020204" pitchFamily="34" charset="0"/>
                    <a:cs typeface="Open Sans" panose="020B0606030504020204" pitchFamily="34" charset="0"/>
                  </a:rPr>
                  <a:t>(Team Leader)</a:t>
                </a:r>
              </a:p>
            </p:txBody>
          </p:sp>
          <p:pic>
            <p:nvPicPr>
              <p:cNvPr id="9228" name="Picture 12" descr="iFutures Speakers in India">
                <a:extLst>
                  <a:ext uri="{FF2B5EF4-FFF2-40B4-BE49-F238E27FC236}">
                    <a16:creationId xmlns:a16="http://schemas.microsoft.com/office/drawing/2014/main" id="{B6F0BD57-5794-42BD-A36E-DCB66DC3EF5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97253" y="1075154"/>
                <a:ext cx="941388" cy="941388"/>
              </a:xfrm>
              <a:prstGeom prst="ellipse">
                <a:avLst/>
              </a:prstGeom>
              <a:noFill/>
              <a:ln w="28575">
                <a:solidFill>
                  <a:schemeClr val="bg1">
                    <a:lumMod val="95000"/>
                  </a:schemeClr>
                </a:solidFill>
              </a:ln>
              <a:extLst>
                <a:ext uri="{909E8E84-426E-40DD-AFC4-6F175D3DCCD1}">
                  <a14:hiddenFill xmlns:a14="http://schemas.microsoft.com/office/drawing/2010/main">
                    <a:solidFill>
                      <a:srgbClr val="FFFFFF"/>
                    </a:solidFill>
                  </a14:hiddenFill>
                </a:ext>
              </a:extLst>
            </p:spPr>
          </p:pic>
        </p:grpSp>
        <p:grpSp>
          <p:nvGrpSpPr>
            <p:cNvPr id="27" name="Group 26">
              <a:extLst>
                <a:ext uri="{FF2B5EF4-FFF2-40B4-BE49-F238E27FC236}">
                  <a16:creationId xmlns:a16="http://schemas.microsoft.com/office/drawing/2014/main" id="{D3B5AF49-75DA-419E-B312-D80EDB267332}"/>
                </a:ext>
              </a:extLst>
            </p:cNvPr>
            <p:cNvGrpSpPr/>
            <p:nvPr/>
          </p:nvGrpSpPr>
          <p:grpSpPr>
            <a:xfrm>
              <a:off x="479465" y="3049378"/>
              <a:ext cx="3113958" cy="941832"/>
              <a:chOff x="479465" y="3049378"/>
              <a:chExt cx="3113958" cy="941832"/>
            </a:xfrm>
          </p:grpSpPr>
          <p:sp>
            <p:nvSpPr>
              <p:cNvPr id="75" name="Rounded Rectangle 10">
                <a:extLst>
                  <a:ext uri="{FF2B5EF4-FFF2-40B4-BE49-F238E27FC236}">
                    <a16:creationId xmlns:a16="http://schemas.microsoft.com/office/drawing/2014/main" id="{F27FC9D0-6FCB-4B4F-82FB-D80A110A3A4B}"/>
                  </a:ext>
                </a:extLst>
              </p:cNvPr>
              <p:cNvSpPr/>
              <p:nvPr/>
            </p:nvSpPr>
            <p:spPr bwMode="gray">
              <a:xfrm>
                <a:off x="803315" y="3135522"/>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02920" tIns="40082" rIns="0" bIns="40082" rtlCol="0" anchor="ctr">
                <a:noAutofit/>
              </a:bodyPr>
              <a:lstStyle/>
              <a:p>
                <a:pPr marL="84138">
                  <a:spcAft>
                    <a:spcPts val="175"/>
                  </a:spcAft>
                </a:pPr>
                <a:r>
                  <a:rPr lang="en-US" sz="1400" b="1" dirty="0" err="1">
                    <a:latin typeface="+mj-lt"/>
                    <a:ea typeface="Open Sans" panose="020B0606030504020204" pitchFamily="34" charset="0"/>
                    <a:cs typeface="Open Sans" panose="020B0606030504020204" pitchFamily="34" charset="0"/>
                  </a:rPr>
                  <a:t>Rishav</a:t>
                </a:r>
                <a:r>
                  <a:rPr lang="en-US" sz="1400" b="1" dirty="0">
                    <a:latin typeface="+mj-lt"/>
                    <a:ea typeface="Open Sans" panose="020B0606030504020204" pitchFamily="34" charset="0"/>
                    <a:cs typeface="Open Sans" panose="020B0606030504020204" pitchFamily="34" charset="0"/>
                  </a:rPr>
                  <a:t> Singh</a:t>
                </a:r>
              </a:p>
              <a:p>
                <a:pPr marL="84138">
                  <a:spcAft>
                    <a:spcPts val="175"/>
                  </a:spcAft>
                </a:pPr>
                <a:r>
                  <a:rPr lang="en-US" sz="1000" dirty="0">
                    <a:latin typeface="+mj-lt"/>
                    <a:ea typeface="Open Sans" panose="020B0606030504020204" pitchFamily="34" charset="0"/>
                    <a:cs typeface="Open Sans" panose="020B0606030504020204" pitchFamily="34" charset="0"/>
                  </a:rPr>
                  <a:t>Public Sector Expert</a:t>
                </a:r>
              </a:p>
            </p:txBody>
          </p:sp>
          <p:pic>
            <p:nvPicPr>
              <p:cNvPr id="91" name="Picture 50178" descr="image001">
                <a:extLst>
                  <a:ext uri="{FF2B5EF4-FFF2-40B4-BE49-F238E27FC236}">
                    <a16:creationId xmlns:a16="http://schemas.microsoft.com/office/drawing/2014/main" id="{BF2BD945-DF22-4C8B-B0DC-BA09A77F4BAC}"/>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l="629" r="629" b="21324"/>
              <a:stretch/>
            </p:blipFill>
            <p:spPr bwMode="auto">
              <a:xfrm>
                <a:off x="479465" y="3049378"/>
                <a:ext cx="941832" cy="941832"/>
              </a:xfrm>
              <a:prstGeom prst="ellipse">
                <a:avLst/>
              </a:prstGeom>
              <a:noFill/>
              <a:ln w="28575">
                <a:solidFill>
                  <a:schemeClr val="bg1">
                    <a:lumMod val="95000"/>
                  </a:schemeClr>
                </a:solidFill>
              </a:ln>
              <a:extLst>
                <a:ext uri="{909E8E84-426E-40DD-AFC4-6F175D3DCCD1}">
                  <a14:hiddenFill xmlns:a14="http://schemas.microsoft.com/office/drawing/2010/main">
                    <a:solidFill>
                      <a:srgbClr val="FFFFFF"/>
                    </a:solidFill>
                  </a14:hiddenFill>
                </a:ext>
              </a:extLst>
            </p:spPr>
          </p:pic>
        </p:grpSp>
        <p:grpSp>
          <p:nvGrpSpPr>
            <p:cNvPr id="28" name="Group 27">
              <a:extLst>
                <a:ext uri="{FF2B5EF4-FFF2-40B4-BE49-F238E27FC236}">
                  <a16:creationId xmlns:a16="http://schemas.microsoft.com/office/drawing/2014/main" id="{306A1AFA-D736-4396-BCA0-D1B78EADF8A9}"/>
                </a:ext>
              </a:extLst>
            </p:cNvPr>
            <p:cNvGrpSpPr/>
            <p:nvPr/>
          </p:nvGrpSpPr>
          <p:grpSpPr>
            <a:xfrm>
              <a:off x="479465" y="4036712"/>
              <a:ext cx="3113958" cy="941832"/>
              <a:chOff x="479465" y="4036712"/>
              <a:chExt cx="3113958" cy="941832"/>
            </a:xfrm>
          </p:grpSpPr>
          <p:sp>
            <p:nvSpPr>
              <p:cNvPr id="81" name="Rounded Rectangle 10">
                <a:extLst>
                  <a:ext uri="{FF2B5EF4-FFF2-40B4-BE49-F238E27FC236}">
                    <a16:creationId xmlns:a16="http://schemas.microsoft.com/office/drawing/2014/main" id="{1A5C8275-1C87-44BE-903B-AC49C83B77FF}"/>
                  </a:ext>
                </a:extLst>
              </p:cNvPr>
              <p:cNvSpPr/>
              <p:nvPr/>
            </p:nvSpPr>
            <p:spPr bwMode="gray">
              <a:xfrm>
                <a:off x="803315" y="4122856"/>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02920" tIns="40082" rIns="0" bIns="40082" rtlCol="0" anchor="ctr">
                <a:noAutofit/>
              </a:bodyPr>
              <a:lstStyle/>
              <a:p>
                <a:pPr marL="84138">
                  <a:spcAft>
                    <a:spcPts val="175"/>
                  </a:spcAft>
                </a:pPr>
                <a:r>
                  <a:rPr lang="en-US" sz="1400" b="1" dirty="0" err="1">
                    <a:latin typeface="+mj-lt"/>
                    <a:ea typeface="Open Sans" panose="020B0606030504020204" pitchFamily="34" charset="0"/>
                    <a:cs typeface="Open Sans" panose="020B0606030504020204" pitchFamily="34" charset="0"/>
                  </a:rPr>
                  <a:t>Paramjyoti</a:t>
                </a:r>
                <a:r>
                  <a:rPr lang="en-US" sz="1400" b="1" dirty="0">
                    <a:latin typeface="+mj-lt"/>
                    <a:ea typeface="Open Sans" panose="020B0606030504020204" pitchFamily="34" charset="0"/>
                    <a:cs typeface="Open Sans" panose="020B0606030504020204" pitchFamily="34" charset="0"/>
                  </a:rPr>
                  <a:t> Chattopadhyay</a:t>
                </a:r>
              </a:p>
              <a:p>
                <a:pPr marL="84138">
                  <a:spcAft>
                    <a:spcPts val="175"/>
                  </a:spcAft>
                </a:pPr>
                <a:r>
                  <a:rPr lang="en-US" sz="1000" dirty="0">
                    <a:latin typeface="+mj-lt"/>
                    <a:ea typeface="Open Sans" panose="020B0606030504020204" pitchFamily="34" charset="0"/>
                    <a:cs typeface="Open Sans" panose="020B0606030504020204" pitchFamily="34" charset="0"/>
                  </a:rPr>
                  <a:t>Evidence based capacity building Expert</a:t>
                </a:r>
              </a:p>
            </p:txBody>
          </p:sp>
          <p:pic>
            <p:nvPicPr>
              <p:cNvPr id="92" name="Picture 1909" descr="image009">
                <a:extLst>
                  <a:ext uri="{FF2B5EF4-FFF2-40B4-BE49-F238E27FC236}">
                    <a16:creationId xmlns:a16="http://schemas.microsoft.com/office/drawing/2014/main" id="{0B5F4F69-3CC5-4A09-AE57-0210BB6541BE}"/>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t="3145" b="3145"/>
              <a:stretch/>
            </p:blipFill>
            <p:spPr bwMode="auto">
              <a:xfrm>
                <a:off x="479465" y="4036712"/>
                <a:ext cx="941832" cy="941832"/>
              </a:xfrm>
              <a:prstGeom prst="ellipse">
                <a:avLst/>
              </a:prstGeom>
              <a:noFill/>
              <a:ln w="28575">
                <a:solidFill>
                  <a:schemeClr val="bg1">
                    <a:lumMod val="95000"/>
                  </a:schemeClr>
                </a:solidFill>
              </a:ln>
              <a:extLst>
                <a:ext uri="{909E8E84-426E-40DD-AFC4-6F175D3DCCD1}">
                  <a14:hiddenFill xmlns:a14="http://schemas.microsoft.com/office/drawing/2010/main">
                    <a:solidFill>
                      <a:srgbClr val="FFFFFF"/>
                    </a:solidFill>
                  </a14:hiddenFill>
                </a:ext>
              </a:extLst>
            </p:spPr>
          </p:pic>
        </p:grpSp>
        <p:grpSp>
          <p:nvGrpSpPr>
            <p:cNvPr id="30" name="Group 29">
              <a:extLst>
                <a:ext uri="{FF2B5EF4-FFF2-40B4-BE49-F238E27FC236}">
                  <a16:creationId xmlns:a16="http://schemas.microsoft.com/office/drawing/2014/main" id="{5F95B6B0-93DB-4AD0-B7F4-B2C53C3846FB}"/>
                </a:ext>
              </a:extLst>
            </p:cNvPr>
            <p:cNvGrpSpPr/>
            <p:nvPr/>
          </p:nvGrpSpPr>
          <p:grpSpPr>
            <a:xfrm>
              <a:off x="3715042" y="3049378"/>
              <a:ext cx="3113958" cy="941832"/>
              <a:chOff x="3715042" y="3049378"/>
              <a:chExt cx="3113958" cy="941832"/>
            </a:xfrm>
          </p:grpSpPr>
          <p:sp>
            <p:nvSpPr>
              <p:cNvPr id="72" name="Rounded Rectangle 10">
                <a:extLst>
                  <a:ext uri="{FF2B5EF4-FFF2-40B4-BE49-F238E27FC236}">
                    <a16:creationId xmlns:a16="http://schemas.microsoft.com/office/drawing/2014/main" id="{B68E4448-0DEC-4D45-A335-98E4F041D727}"/>
                  </a:ext>
                </a:extLst>
              </p:cNvPr>
              <p:cNvSpPr/>
              <p:nvPr/>
            </p:nvSpPr>
            <p:spPr bwMode="gray">
              <a:xfrm>
                <a:off x="4038892" y="3135522"/>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02920" tIns="40082" rIns="0" bIns="40082" rtlCol="0" anchor="ctr">
                <a:noAutofit/>
              </a:bodyPr>
              <a:lstStyle/>
              <a:p>
                <a:pPr marL="84138">
                  <a:spcAft>
                    <a:spcPts val="175"/>
                  </a:spcAft>
                </a:pPr>
                <a:r>
                  <a:rPr lang="en-US" sz="1400" b="1" dirty="0">
                    <a:latin typeface="+mj-lt"/>
                    <a:ea typeface="Open Sans" panose="020B0606030504020204" pitchFamily="34" charset="0"/>
                    <a:cs typeface="Open Sans" panose="020B0606030504020204" pitchFamily="34" charset="0"/>
                  </a:rPr>
                  <a:t>Rahul Akash Pandey</a:t>
                </a:r>
              </a:p>
              <a:p>
                <a:pPr marL="84138">
                  <a:spcAft>
                    <a:spcPts val="175"/>
                  </a:spcAft>
                </a:pPr>
                <a:r>
                  <a:rPr lang="en-US" sz="1000" dirty="0">
                    <a:latin typeface="+mj-lt"/>
                    <a:ea typeface="Open Sans" panose="020B0606030504020204" pitchFamily="34" charset="0"/>
                    <a:cs typeface="Open Sans" panose="020B0606030504020204" pitchFamily="34" charset="0"/>
                  </a:rPr>
                  <a:t>Technology Expert</a:t>
                </a:r>
              </a:p>
            </p:txBody>
          </p:sp>
          <p:pic>
            <p:nvPicPr>
              <p:cNvPr id="93" name="Picture 4" descr="image019">
                <a:extLst>
                  <a:ext uri="{FF2B5EF4-FFF2-40B4-BE49-F238E27FC236}">
                    <a16:creationId xmlns:a16="http://schemas.microsoft.com/office/drawing/2014/main" id="{BF9B09BD-4FA7-4097-A32B-6F29249B5D93}"/>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4083" t="4400" r="5021" b="8030"/>
              <a:stretch/>
            </p:blipFill>
            <p:spPr bwMode="auto">
              <a:xfrm>
                <a:off x="3715042" y="3049378"/>
                <a:ext cx="941832" cy="941832"/>
              </a:xfrm>
              <a:prstGeom prst="ellipse">
                <a:avLst/>
              </a:prstGeom>
              <a:noFill/>
              <a:ln w="28575">
                <a:solidFill>
                  <a:schemeClr val="bg1">
                    <a:lumMod val="95000"/>
                  </a:schemeClr>
                </a:solidFill>
              </a:ln>
              <a:extLst>
                <a:ext uri="{909E8E84-426E-40DD-AFC4-6F175D3DCCD1}">
                  <a14:hiddenFill xmlns:a14="http://schemas.microsoft.com/office/drawing/2010/main">
                    <a:solidFill>
                      <a:srgbClr val="FFFFFF"/>
                    </a:solidFill>
                  </a14:hiddenFill>
                </a:ext>
              </a:extLst>
            </p:spPr>
          </p:pic>
        </p:grpSp>
        <p:grpSp>
          <p:nvGrpSpPr>
            <p:cNvPr id="34" name="Group 33">
              <a:extLst>
                <a:ext uri="{FF2B5EF4-FFF2-40B4-BE49-F238E27FC236}">
                  <a16:creationId xmlns:a16="http://schemas.microsoft.com/office/drawing/2014/main" id="{BD08F199-A6D8-4B4B-BC56-CF9BC1F19741}"/>
                </a:ext>
              </a:extLst>
            </p:cNvPr>
            <p:cNvGrpSpPr/>
            <p:nvPr/>
          </p:nvGrpSpPr>
          <p:grpSpPr>
            <a:xfrm>
              <a:off x="3715042" y="4036712"/>
              <a:ext cx="3113958" cy="941832"/>
              <a:chOff x="3715042" y="4036712"/>
              <a:chExt cx="3113958" cy="941832"/>
            </a:xfrm>
          </p:grpSpPr>
          <p:sp>
            <p:nvSpPr>
              <p:cNvPr id="78" name="Rounded Rectangle 10">
                <a:extLst>
                  <a:ext uri="{FF2B5EF4-FFF2-40B4-BE49-F238E27FC236}">
                    <a16:creationId xmlns:a16="http://schemas.microsoft.com/office/drawing/2014/main" id="{A0A2EF15-4385-40A7-B064-8DCFAEF8B8F1}"/>
                  </a:ext>
                </a:extLst>
              </p:cNvPr>
              <p:cNvSpPr/>
              <p:nvPr/>
            </p:nvSpPr>
            <p:spPr bwMode="gray">
              <a:xfrm>
                <a:off x="4038892" y="4122856"/>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02920" tIns="40082" rIns="0" bIns="40082" rtlCol="0" anchor="ctr">
                <a:noAutofit/>
              </a:bodyPr>
              <a:lstStyle/>
              <a:p>
                <a:pPr marL="84138">
                  <a:spcAft>
                    <a:spcPts val="175"/>
                  </a:spcAft>
                </a:pPr>
                <a:r>
                  <a:rPr lang="en-US" sz="1400" b="1" dirty="0">
                    <a:latin typeface="+mj-lt"/>
                    <a:ea typeface="Open Sans" panose="020B0606030504020204" pitchFamily="34" charset="0"/>
                    <a:cs typeface="Open Sans" panose="020B0606030504020204" pitchFamily="34" charset="0"/>
                  </a:rPr>
                  <a:t>Arun Tyagi</a:t>
                </a:r>
              </a:p>
              <a:p>
                <a:pPr marL="84138">
                  <a:spcAft>
                    <a:spcPts val="175"/>
                  </a:spcAft>
                </a:pPr>
                <a:r>
                  <a:rPr lang="en-US" sz="1000" dirty="0">
                    <a:latin typeface="+mj-lt"/>
                    <a:ea typeface="Open Sans" panose="020B0606030504020204" pitchFamily="34" charset="0"/>
                    <a:cs typeface="Open Sans" panose="020B0606030504020204" pitchFamily="34" charset="0"/>
                  </a:rPr>
                  <a:t>Development Facilitation Expert</a:t>
                </a:r>
              </a:p>
            </p:txBody>
          </p:sp>
          <p:pic>
            <p:nvPicPr>
              <p:cNvPr id="94" name="Picture 2" descr="image015">
                <a:extLst>
                  <a:ext uri="{FF2B5EF4-FFF2-40B4-BE49-F238E27FC236}">
                    <a16:creationId xmlns:a16="http://schemas.microsoft.com/office/drawing/2014/main" id="{DADE1C6C-4FF1-455D-8117-72B9C45EFED1}"/>
                  </a:ext>
                </a:extLst>
              </p:cNvPr>
              <p:cNvPicPr>
                <a:picLocks noChangeAspect="1" noChangeArrowheads="1"/>
              </p:cNvPicPr>
              <p:nvPr/>
            </p:nvPicPr>
            <p:blipFill rotWithShape="1">
              <a:blip r:embed="rId23">
                <a:extLst>
                  <a:ext uri="{28A0092B-C50C-407E-A947-70E740481C1C}">
                    <a14:useLocalDpi xmlns:a14="http://schemas.microsoft.com/office/drawing/2010/main" val="0"/>
                  </a:ext>
                </a:extLst>
              </a:blip>
              <a:srcRect l="8149" t="6643" r="8149" b="6643"/>
              <a:stretch/>
            </p:blipFill>
            <p:spPr bwMode="auto">
              <a:xfrm>
                <a:off x="3715042" y="4036712"/>
                <a:ext cx="941832" cy="941832"/>
              </a:xfrm>
              <a:prstGeom prst="ellipse">
                <a:avLst/>
              </a:prstGeom>
              <a:noFill/>
              <a:ln w="28575">
                <a:solidFill>
                  <a:schemeClr val="bg1">
                    <a:lumMod val="95000"/>
                  </a:schemeClr>
                </a:solidFill>
              </a:ln>
              <a:extLst>
                <a:ext uri="{909E8E84-426E-40DD-AFC4-6F175D3DCCD1}">
                  <a14:hiddenFill xmlns:a14="http://schemas.microsoft.com/office/drawing/2010/main">
                    <a:solidFill>
                      <a:srgbClr val="FFFFFF"/>
                    </a:solidFill>
                  </a14:hiddenFill>
                </a:ext>
              </a:extLst>
            </p:spPr>
          </p:pic>
        </p:grpSp>
      </p:grpSp>
      <p:sp>
        <p:nvSpPr>
          <p:cNvPr id="42" name="Rectangle 41">
            <a:extLst>
              <a:ext uri="{FF2B5EF4-FFF2-40B4-BE49-F238E27FC236}">
                <a16:creationId xmlns:a16="http://schemas.microsoft.com/office/drawing/2014/main" id="{29187B48-EA81-4FDB-A60A-C92DCB4D60A4}"/>
              </a:ext>
            </a:extLst>
          </p:cNvPr>
          <p:cNvSpPr/>
          <p:nvPr/>
        </p:nvSpPr>
        <p:spPr bwMode="gray">
          <a:xfrm>
            <a:off x="8010844" y="1052353"/>
            <a:ext cx="3875901" cy="4023360"/>
          </a:xfrm>
          <a:prstGeom prst="rect">
            <a:avLst/>
          </a:prstGeom>
          <a:noFill/>
          <a:ln w="25400" algn="ctr">
            <a:solidFill>
              <a:schemeClr val="bg1">
                <a:lumMod val="50000"/>
              </a:schemeClr>
            </a:solidFill>
            <a:prstDash val="sys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200" b="1" dirty="0">
              <a:solidFill>
                <a:schemeClr val="bg1"/>
              </a:solidFill>
            </a:endParaRPr>
          </a:p>
        </p:txBody>
      </p:sp>
      <p:sp>
        <p:nvSpPr>
          <p:cNvPr id="43" name="Rectangle: Rounded Corners 42">
            <a:extLst>
              <a:ext uri="{FF2B5EF4-FFF2-40B4-BE49-F238E27FC236}">
                <a16:creationId xmlns:a16="http://schemas.microsoft.com/office/drawing/2014/main" id="{61E2C488-BAB7-4161-8E40-EE60B2FE8E49}"/>
              </a:ext>
            </a:extLst>
          </p:cNvPr>
          <p:cNvSpPr/>
          <p:nvPr/>
        </p:nvSpPr>
        <p:spPr bwMode="gray">
          <a:xfrm>
            <a:off x="8547050" y="1153579"/>
            <a:ext cx="2887304" cy="516105"/>
          </a:xfrm>
          <a:prstGeom prst="roundRect">
            <a:avLst>
              <a:gd name="adj" fmla="val 50000"/>
            </a:avLst>
          </a:prstGeom>
          <a:solidFill>
            <a:schemeClr val="accent1">
              <a:lumMod val="60000"/>
              <a:lumOff val="40000"/>
            </a:schemeClr>
          </a:solidFill>
          <a:ln w="19050" algn="ctr">
            <a:noFill/>
            <a:miter lim="800000"/>
            <a:headEnd/>
            <a:tailEnd/>
          </a:ln>
        </p:spPr>
        <p:txBody>
          <a:bodyPr wrap="square" lIns="88900" tIns="88900" rIns="88900" bIns="88900" rtlCol="0" anchor="ctr">
            <a:spAutoFit/>
          </a:bodyPr>
          <a:lstStyle/>
          <a:p>
            <a:pPr algn="ctr">
              <a:lnSpc>
                <a:spcPct val="106000"/>
              </a:lnSpc>
              <a:buFont typeface="Wingdings 2" pitchFamily="18" charset="2"/>
              <a:buNone/>
            </a:pPr>
            <a:r>
              <a:rPr lang="en-US" sz="1200" b="1" dirty="0"/>
              <a:t>Advisory Panel</a:t>
            </a:r>
            <a:endParaRPr lang="en-IN" sz="1200" b="1" dirty="0"/>
          </a:p>
        </p:txBody>
      </p:sp>
      <p:grpSp>
        <p:nvGrpSpPr>
          <p:cNvPr id="39" name="Group 38">
            <a:extLst>
              <a:ext uri="{FF2B5EF4-FFF2-40B4-BE49-F238E27FC236}">
                <a16:creationId xmlns:a16="http://schemas.microsoft.com/office/drawing/2014/main" id="{1C055459-22B3-4A84-A9C8-894436188FB5}"/>
              </a:ext>
            </a:extLst>
          </p:cNvPr>
          <p:cNvGrpSpPr/>
          <p:nvPr/>
        </p:nvGrpSpPr>
        <p:grpSpPr>
          <a:xfrm>
            <a:off x="8416957" y="1877585"/>
            <a:ext cx="3113958" cy="941832"/>
            <a:chOff x="7432711" y="983828"/>
            <a:chExt cx="3113958" cy="941832"/>
          </a:xfrm>
        </p:grpSpPr>
        <p:sp>
          <p:nvSpPr>
            <p:cNvPr id="102" name="Rounded Rectangle 10">
              <a:extLst>
                <a:ext uri="{FF2B5EF4-FFF2-40B4-BE49-F238E27FC236}">
                  <a16:creationId xmlns:a16="http://schemas.microsoft.com/office/drawing/2014/main" id="{48184074-EB57-4B14-8530-A191BF1FB0C3}"/>
                </a:ext>
              </a:extLst>
            </p:cNvPr>
            <p:cNvSpPr/>
            <p:nvPr/>
          </p:nvSpPr>
          <p:spPr bwMode="gray">
            <a:xfrm>
              <a:off x="7756561" y="1069528"/>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48640" tIns="40082" rIns="40082" bIns="40082" rtlCol="0" anchor="ctr">
              <a:noAutofit/>
            </a:bodyPr>
            <a:lstStyle/>
            <a:p>
              <a:pPr marL="84138">
                <a:spcAft>
                  <a:spcPts val="175"/>
                </a:spcAft>
              </a:pPr>
              <a:r>
                <a:rPr lang="en-US" sz="1400" b="1" dirty="0" err="1">
                  <a:latin typeface="+mj-lt"/>
                  <a:ea typeface="Open Sans" panose="020B0606030504020204" pitchFamily="34" charset="0"/>
                  <a:cs typeface="Open Sans" panose="020B0606030504020204" pitchFamily="34" charset="0"/>
                </a:rPr>
                <a:t>Rajib</a:t>
              </a:r>
              <a:r>
                <a:rPr lang="en-US" sz="1400" b="1" dirty="0">
                  <a:latin typeface="+mj-lt"/>
                  <a:ea typeface="Open Sans" panose="020B0606030504020204" pitchFamily="34" charset="0"/>
                  <a:cs typeface="Open Sans" panose="020B0606030504020204" pitchFamily="34" charset="0"/>
                </a:rPr>
                <a:t> Sinha</a:t>
              </a:r>
            </a:p>
            <a:p>
              <a:pPr marL="84138">
                <a:spcAft>
                  <a:spcPts val="175"/>
                </a:spcAft>
              </a:pPr>
              <a:r>
                <a:rPr lang="en-US" sz="1000" dirty="0">
                  <a:latin typeface="+mj-lt"/>
                  <a:ea typeface="Open Sans" panose="020B0606030504020204" pitchFamily="34" charset="0"/>
                  <a:cs typeface="Open Sans" panose="020B0606030504020204" pitchFamily="34" charset="0"/>
                </a:rPr>
                <a:t>Public Finance Leader</a:t>
              </a:r>
            </a:p>
          </p:txBody>
        </p:sp>
        <p:pic>
          <p:nvPicPr>
            <p:cNvPr id="114" name="Picture 113" descr="A person wearing a suit and tie&#10;&#10;Description automatically generated">
              <a:extLst>
                <a:ext uri="{FF2B5EF4-FFF2-40B4-BE49-F238E27FC236}">
                  <a16:creationId xmlns:a16="http://schemas.microsoft.com/office/drawing/2014/main" id="{B2EDCC3A-06A1-478E-B3D6-B152B7DE1EF1}"/>
                </a:ext>
              </a:extLst>
            </p:cNvPr>
            <p:cNvPicPr>
              <a:picLocks noChangeAspect="1"/>
            </p:cNvPicPr>
            <p:nvPr/>
          </p:nvPicPr>
          <p:blipFill rotWithShape="1">
            <a:blip r:embed="rId24"/>
            <a:srcRect t="3561" b="3561"/>
            <a:stretch/>
          </p:blipFill>
          <p:spPr>
            <a:xfrm>
              <a:off x="7432711" y="983828"/>
              <a:ext cx="941832" cy="941832"/>
            </a:xfrm>
            <a:prstGeom prst="ellipse">
              <a:avLst/>
            </a:prstGeom>
            <a:noFill/>
            <a:ln w="28575">
              <a:solidFill>
                <a:schemeClr val="bg1">
                  <a:lumMod val="95000"/>
                </a:schemeClr>
              </a:solidFill>
            </a:ln>
          </p:spPr>
        </p:pic>
      </p:grpSp>
      <p:grpSp>
        <p:nvGrpSpPr>
          <p:cNvPr id="64513" name="Group 64512">
            <a:extLst>
              <a:ext uri="{FF2B5EF4-FFF2-40B4-BE49-F238E27FC236}">
                <a16:creationId xmlns:a16="http://schemas.microsoft.com/office/drawing/2014/main" id="{D8852AA9-BAE5-449A-A4B9-3CA27D4B8FCF}"/>
              </a:ext>
            </a:extLst>
          </p:cNvPr>
          <p:cNvGrpSpPr/>
          <p:nvPr/>
        </p:nvGrpSpPr>
        <p:grpSpPr>
          <a:xfrm>
            <a:off x="8416957" y="2864919"/>
            <a:ext cx="3113958" cy="941832"/>
            <a:chOff x="7432711" y="2253667"/>
            <a:chExt cx="3113958" cy="941832"/>
          </a:xfrm>
        </p:grpSpPr>
        <p:sp>
          <p:nvSpPr>
            <p:cNvPr id="108" name="Rounded Rectangle 10">
              <a:extLst>
                <a:ext uri="{FF2B5EF4-FFF2-40B4-BE49-F238E27FC236}">
                  <a16:creationId xmlns:a16="http://schemas.microsoft.com/office/drawing/2014/main" id="{B1A638E4-C120-4486-AC5F-2E8E36FD7431}"/>
                </a:ext>
              </a:extLst>
            </p:cNvPr>
            <p:cNvSpPr/>
            <p:nvPr/>
          </p:nvSpPr>
          <p:spPr bwMode="gray">
            <a:xfrm>
              <a:off x="7756561" y="2339367"/>
              <a:ext cx="2790108" cy="769989"/>
            </a:xfrm>
            <a:prstGeom prst="roundRect">
              <a:avLst>
                <a:gd name="adj" fmla="val 50000"/>
              </a:avLst>
            </a:prstGeom>
            <a:solidFill>
              <a:schemeClr val="accent2">
                <a:lumMod val="20000"/>
                <a:lumOff val="80000"/>
              </a:schemeClr>
            </a:solidFill>
            <a:ln w="3175" algn="ctr">
              <a:noFill/>
              <a:miter lim="800000"/>
              <a:headEnd/>
              <a:tailEnd/>
            </a:ln>
          </p:spPr>
          <p:txBody>
            <a:bodyPr wrap="square" lIns="502920" tIns="40082" rIns="40082" bIns="40082" rtlCol="0" anchor="ctr">
              <a:noAutofit/>
            </a:bodyPr>
            <a:lstStyle/>
            <a:p>
              <a:pPr marL="84138">
                <a:spcAft>
                  <a:spcPts val="175"/>
                </a:spcAft>
              </a:pPr>
              <a:r>
                <a:rPr lang="en-US" sz="1400" b="1" dirty="0">
                  <a:latin typeface="+mj-lt"/>
                  <a:ea typeface="Open Sans" panose="020B0606030504020204" pitchFamily="34" charset="0"/>
                  <a:cs typeface="Open Sans" panose="020B0606030504020204" pitchFamily="34" charset="0"/>
                </a:rPr>
                <a:t>Arindam Guha</a:t>
              </a:r>
            </a:p>
            <a:p>
              <a:pPr marL="84138">
                <a:spcAft>
                  <a:spcPts val="175"/>
                </a:spcAft>
              </a:pPr>
              <a:r>
                <a:rPr lang="en-US" sz="1000" dirty="0">
                  <a:latin typeface="+mj-lt"/>
                  <a:ea typeface="Open Sans" panose="020B0606030504020204" pitchFamily="34" charset="0"/>
                  <a:cs typeface="Open Sans" panose="020B0606030504020204" pitchFamily="34" charset="0"/>
                </a:rPr>
                <a:t>Government and Public Sector (GPS) Leader</a:t>
              </a:r>
            </a:p>
          </p:txBody>
        </p:sp>
        <p:pic>
          <p:nvPicPr>
            <p:cNvPr id="115" name="Picture 100" descr="image001">
              <a:extLst>
                <a:ext uri="{FF2B5EF4-FFF2-40B4-BE49-F238E27FC236}">
                  <a16:creationId xmlns:a16="http://schemas.microsoft.com/office/drawing/2014/main" id="{64449876-CA64-47D2-B42D-BA04AE2125D7}"/>
                </a:ext>
              </a:extLst>
            </p:cNvPr>
            <p:cNvPicPr>
              <a:picLocks noChangeAspect="1" noChangeArrowheads="1"/>
            </p:cNvPicPr>
            <p:nvPr/>
          </p:nvPicPr>
          <p:blipFill rotWithShape="1">
            <a:blip r:embed="rId25">
              <a:extLst>
                <a:ext uri="{28A0092B-C50C-407E-A947-70E740481C1C}">
                  <a14:useLocalDpi xmlns:a14="http://schemas.microsoft.com/office/drawing/2010/main" val="0"/>
                </a:ext>
              </a:extLst>
            </a:blip>
            <a:srcRect l="325" r="325"/>
            <a:stretch/>
          </p:blipFill>
          <p:spPr bwMode="auto">
            <a:xfrm>
              <a:off x="7432711" y="2253667"/>
              <a:ext cx="941832" cy="941832"/>
            </a:xfrm>
            <a:prstGeom prst="ellipse">
              <a:avLst/>
            </a:prstGeom>
            <a:noFill/>
            <a:ln w="28575">
              <a:solidFill>
                <a:schemeClr val="bg1">
                  <a:lumMod val="95000"/>
                </a:schemeClr>
              </a:solidFill>
            </a:ln>
            <a:extLst>
              <a:ext uri="{909E8E84-426E-40DD-AFC4-6F175D3DCCD1}">
                <a14:hiddenFill xmlns:a14="http://schemas.microsoft.com/office/drawing/2010/main">
                  <a:solidFill>
                    <a:srgbClr val="FFFFFF"/>
                  </a:solidFill>
                </a14:hiddenFill>
              </a:ext>
            </a:extLst>
          </p:spPr>
        </p:pic>
      </p:grpSp>
      <p:sp>
        <p:nvSpPr>
          <p:cNvPr id="68" name="Freeform 180">
            <a:extLst>
              <a:ext uri="{FF2B5EF4-FFF2-40B4-BE49-F238E27FC236}">
                <a16:creationId xmlns:a16="http://schemas.microsoft.com/office/drawing/2014/main" id="{E592CF07-D2F5-4B9F-80C6-B3A4EF008634}"/>
              </a:ext>
            </a:extLst>
          </p:cNvPr>
          <p:cNvSpPr>
            <a:spLocks noChangeAspect="1" noEditPoints="1"/>
          </p:cNvSpPr>
          <p:nvPr/>
        </p:nvSpPr>
        <p:spPr bwMode="auto">
          <a:xfrm>
            <a:off x="11118215" y="227660"/>
            <a:ext cx="594360" cy="59436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47 w 512"/>
              <a:gd name="T11" fmla="*/ 365 h 512"/>
              <a:gd name="T12" fmla="*/ 339 w 512"/>
              <a:gd name="T13" fmla="*/ 369 h 512"/>
              <a:gd name="T14" fmla="*/ 332 w 512"/>
              <a:gd name="T15" fmla="*/ 366 h 512"/>
              <a:gd name="T16" fmla="*/ 331 w 512"/>
              <a:gd name="T17" fmla="*/ 351 h 512"/>
              <a:gd name="T18" fmla="*/ 352 w 512"/>
              <a:gd name="T19" fmla="*/ 284 h 512"/>
              <a:gd name="T20" fmla="*/ 352 w 512"/>
              <a:gd name="T21" fmla="*/ 242 h 512"/>
              <a:gd name="T22" fmla="*/ 339 w 512"/>
              <a:gd name="T23" fmla="*/ 231 h 512"/>
              <a:gd name="T24" fmla="*/ 330 w 512"/>
              <a:gd name="T25" fmla="*/ 245 h 512"/>
              <a:gd name="T26" fmla="*/ 320 w 512"/>
              <a:gd name="T27" fmla="*/ 256 h 512"/>
              <a:gd name="T28" fmla="*/ 309 w 512"/>
              <a:gd name="T29" fmla="*/ 245 h 512"/>
              <a:gd name="T30" fmla="*/ 309 w 512"/>
              <a:gd name="T31" fmla="*/ 245 h 512"/>
              <a:gd name="T32" fmla="*/ 309 w 512"/>
              <a:gd name="T33" fmla="*/ 245 h 512"/>
              <a:gd name="T34" fmla="*/ 309 w 512"/>
              <a:gd name="T35" fmla="*/ 231 h 512"/>
              <a:gd name="T36" fmla="*/ 297 w 512"/>
              <a:gd name="T37" fmla="*/ 221 h 512"/>
              <a:gd name="T38" fmla="*/ 288 w 512"/>
              <a:gd name="T39" fmla="*/ 234 h 512"/>
              <a:gd name="T40" fmla="*/ 288 w 512"/>
              <a:gd name="T41" fmla="*/ 245 h 512"/>
              <a:gd name="T42" fmla="*/ 277 w 512"/>
              <a:gd name="T43" fmla="*/ 256 h 512"/>
              <a:gd name="T44" fmla="*/ 266 w 512"/>
              <a:gd name="T45" fmla="*/ 245 h 512"/>
              <a:gd name="T46" fmla="*/ 266 w 512"/>
              <a:gd name="T47" fmla="*/ 209 h 512"/>
              <a:gd name="T48" fmla="*/ 255 w 512"/>
              <a:gd name="T49" fmla="*/ 199 h 512"/>
              <a:gd name="T50" fmla="*/ 245 w 512"/>
              <a:gd name="T51" fmla="*/ 213 h 512"/>
              <a:gd name="T52" fmla="*/ 245 w 512"/>
              <a:gd name="T53" fmla="*/ 245 h 512"/>
              <a:gd name="T54" fmla="*/ 234 w 512"/>
              <a:gd name="T55" fmla="*/ 256 h 512"/>
              <a:gd name="T56" fmla="*/ 224 w 512"/>
              <a:gd name="T57" fmla="*/ 245 h 512"/>
              <a:gd name="T58" fmla="*/ 224 w 512"/>
              <a:gd name="T59" fmla="*/ 156 h 512"/>
              <a:gd name="T60" fmla="*/ 213 w 512"/>
              <a:gd name="T61" fmla="*/ 145 h 512"/>
              <a:gd name="T62" fmla="*/ 202 w 512"/>
              <a:gd name="T63" fmla="*/ 156 h 512"/>
              <a:gd name="T64" fmla="*/ 202 w 512"/>
              <a:gd name="T65" fmla="*/ 284 h 512"/>
              <a:gd name="T66" fmla="*/ 197 w 512"/>
              <a:gd name="T67" fmla="*/ 293 h 512"/>
              <a:gd name="T68" fmla="*/ 187 w 512"/>
              <a:gd name="T69" fmla="*/ 293 h 512"/>
              <a:gd name="T70" fmla="*/ 150 w 512"/>
              <a:gd name="T71" fmla="*/ 234 h 512"/>
              <a:gd name="T72" fmla="*/ 144 w 512"/>
              <a:gd name="T73" fmla="*/ 230 h 512"/>
              <a:gd name="T74" fmla="*/ 135 w 512"/>
              <a:gd name="T75" fmla="*/ 231 h 512"/>
              <a:gd name="T76" fmla="*/ 134 w 512"/>
              <a:gd name="T77" fmla="*/ 247 h 512"/>
              <a:gd name="T78" fmla="*/ 134 w 512"/>
              <a:gd name="T79" fmla="*/ 248 h 512"/>
              <a:gd name="T80" fmla="*/ 206 w 512"/>
              <a:gd name="T81" fmla="*/ 351 h 512"/>
              <a:gd name="T82" fmla="*/ 210 w 512"/>
              <a:gd name="T83" fmla="*/ 366 h 512"/>
              <a:gd name="T84" fmla="*/ 201 w 512"/>
              <a:gd name="T85" fmla="*/ 371 h 512"/>
              <a:gd name="T86" fmla="*/ 195 w 512"/>
              <a:gd name="T87" fmla="*/ 369 h 512"/>
              <a:gd name="T88" fmla="*/ 115 w 512"/>
              <a:gd name="T89" fmla="*/ 256 h 512"/>
              <a:gd name="T90" fmla="*/ 126 w 512"/>
              <a:gd name="T91" fmla="*/ 211 h 512"/>
              <a:gd name="T92" fmla="*/ 151 w 512"/>
              <a:gd name="T93" fmla="*/ 210 h 512"/>
              <a:gd name="T94" fmla="*/ 170 w 512"/>
              <a:gd name="T95" fmla="*/ 226 h 512"/>
              <a:gd name="T96" fmla="*/ 171 w 512"/>
              <a:gd name="T97" fmla="*/ 228 h 512"/>
              <a:gd name="T98" fmla="*/ 181 w 512"/>
              <a:gd name="T99" fmla="*/ 256 h 512"/>
              <a:gd name="T100" fmla="*/ 181 w 512"/>
              <a:gd name="T101" fmla="*/ 156 h 512"/>
              <a:gd name="T102" fmla="*/ 213 w 512"/>
              <a:gd name="T103" fmla="*/ 124 h 512"/>
              <a:gd name="T104" fmla="*/ 245 w 512"/>
              <a:gd name="T105" fmla="*/ 156 h 512"/>
              <a:gd name="T106" fmla="*/ 245 w 512"/>
              <a:gd name="T107" fmla="*/ 180 h 512"/>
              <a:gd name="T108" fmla="*/ 255 w 512"/>
              <a:gd name="T109" fmla="*/ 178 h 512"/>
              <a:gd name="T110" fmla="*/ 287 w 512"/>
              <a:gd name="T111" fmla="*/ 202 h 512"/>
              <a:gd name="T112" fmla="*/ 297 w 512"/>
              <a:gd name="T113" fmla="*/ 199 h 512"/>
              <a:gd name="T114" fmla="*/ 325 w 512"/>
              <a:gd name="T115" fmla="*/ 214 h 512"/>
              <a:gd name="T116" fmla="*/ 339 w 512"/>
              <a:gd name="T117" fmla="*/ 210 h 512"/>
              <a:gd name="T118" fmla="*/ 373 w 512"/>
              <a:gd name="T119" fmla="*/ 242 h 512"/>
              <a:gd name="T120" fmla="*/ 373 w 512"/>
              <a:gd name="T121" fmla="*/ 284 h 512"/>
              <a:gd name="T122" fmla="*/ 347 w 512"/>
              <a:gd name="T123" fmla="*/ 3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47" y="365"/>
                </a:moveTo>
                <a:cubicBezTo>
                  <a:pt x="345" y="367"/>
                  <a:pt x="342" y="369"/>
                  <a:pt x="339" y="369"/>
                </a:cubicBezTo>
                <a:cubicBezTo>
                  <a:pt x="337" y="369"/>
                  <a:pt x="334" y="368"/>
                  <a:pt x="332" y="366"/>
                </a:cubicBezTo>
                <a:cubicBezTo>
                  <a:pt x="328" y="362"/>
                  <a:pt x="327" y="356"/>
                  <a:pt x="331" y="351"/>
                </a:cubicBezTo>
                <a:cubicBezTo>
                  <a:pt x="353" y="325"/>
                  <a:pt x="352" y="285"/>
                  <a:pt x="352" y="284"/>
                </a:cubicBezTo>
                <a:cubicBezTo>
                  <a:pt x="352" y="242"/>
                  <a:pt x="352" y="242"/>
                  <a:pt x="352" y="242"/>
                </a:cubicBezTo>
                <a:cubicBezTo>
                  <a:pt x="352" y="236"/>
                  <a:pt x="345" y="231"/>
                  <a:pt x="339" y="231"/>
                </a:cubicBezTo>
                <a:cubicBezTo>
                  <a:pt x="334" y="231"/>
                  <a:pt x="330" y="239"/>
                  <a:pt x="330" y="245"/>
                </a:cubicBezTo>
                <a:cubicBezTo>
                  <a:pt x="330" y="251"/>
                  <a:pt x="326" y="256"/>
                  <a:pt x="320" y="256"/>
                </a:cubicBezTo>
                <a:cubicBezTo>
                  <a:pt x="314" y="256"/>
                  <a:pt x="309" y="251"/>
                  <a:pt x="309" y="245"/>
                </a:cubicBezTo>
                <a:cubicBezTo>
                  <a:pt x="309" y="245"/>
                  <a:pt x="309" y="245"/>
                  <a:pt x="309" y="245"/>
                </a:cubicBezTo>
                <a:cubicBezTo>
                  <a:pt x="309" y="245"/>
                  <a:pt x="309" y="245"/>
                  <a:pt x="309" y="245"/>
                </a:cubicBezTo>
                <a:cubicBezTo>
                  <a:pt x="309" y="231"/>
                  <a:pt x="309" y="231"/>
                  <a:pt x="309" y="231"/>
                </a:cubicBezTo>
                <a:cubicBezTo>
                  <a:pt x="309" y="225"/>
                  <a:pt x="303" y="221"/>
                  <a:pt x="297" y="221"/>
                </a:cubicBezTo>
                <a:cubicBezTo>
                  <a:pt x="292" y="221"/>
                  <a:pt x="288" y="228"/>
                  <a:pt x="288" y="234"/>
                </a:cubicBezTo>
                <a:cubicBezTo>
                  <a:pt x="288" y="245"/>
                  <a:pt x="288" y="245"/>
                  <a:pt x="288" y="245"/>
                </a:cubicBezTo>
                <a:cubicBezTo>
                  <a:pt x="288" y="251"/>
                  <a:pt x="283" y="256"/>
                  <a:pt x="277" y="256"/>
                </a:cubicBezTo>
                <a:cubicBezTo>
                  <a:pt x="271" y="256"/>
                  <a:pt x="266" y="251"/>
                  <a:pt x="266" y="245"/>
                </a:cubicBezTo>
                <a:cubicBezTo>
                  <a:pt x="266" y="209"/>
                  <a:pt x="266" y="209"/>
                  <a:pt x="266" y="209"/>
                </a:cubicBezTo>
                <a:cubicBezTo>
                  <a:pt x="266" y="203"/>
                  <a:pt x="260" y="199"/>
                  <a:pt x="255" y="199"/>
                </a:cubicBezTo>
                <a:cubicBezTo>
                  <a:pt x="250" y="199"/>
                  <a:pt x="245" y="206"/>
                  <a:pt x="245" y="213"/>
                </a:cubicBezTo>
                <a:cubicBezTo>
                  <a:pt x="245" y="245"/>
                  <a:pt x="245" y="245"/>
                  <a:pt x="245" y="245"/>
                </a:cubicBezTo>
                <a:cubicBezTo>
                  <a:pt x="245" y="251"/>
                  <a:pt x="240" y="256"/>
                  <a:pt x="234" y="256"/>
                </a:cubicBezTo>
                <a:cubicBezTo>
                  <a:pt x="228" y="256"/>
                  <a:pt x="224" y="251"/>
                  <a:pt x="224" y="245"/>
                </a:cubicBezTo>
                <a:cubicBezTo>
                  <a:pt x="224" y="156"/>
                  <a:pt x="224" y="156"/>
                  <a:pt x="224" y="156"/>
                </a:cubicBezTo>
                <a:cubicBezTo>
                  <a:pt x="224" y="150"/>
                  <a:pt x="219" y="145"/>
                  <a:pt x="213" y="145"/>
                </a:cubicBezTo>
                <a:cubicBezTo>
                  <a:pt x="207" y="145"/>
                  <a:pt x="202" y="150"/>
                  <a:pt x="202" y="156"/>
                </a:cubicBezTo>
                <a:cubicBezTo>
                  <a:pt x="202" y="284"/>
                  <a:pt x="202" y="284"/>
                  <a:pt x="202" y="284"/>
                </a:cubicBezTo>
                <a:cubicBezTo>
                  <a:pt x="202" y="288"/>
                  <a:pt x="200" y="291"/>
                  <a:pt x="197" y="293"/>
                </a:cubicBezTo>
                <a:cubicBezTo>
                  <a:pt x="194" y="295"/>
                  <a:pt x="190" y="295"/>
                  <a:pt x="187" y="293"/>
                </a:cubicBezTo>
                <a:cubicBezTo>
                  <a:pt x="163" y="281"/>
                  <a:pt x="153" y="243"/>
                  <a:pt x="150" y="234"/>
                </a:cubicBezTo>
                <a:cubicBezTo>
                  <a:pt x="149" y="232"/>
                  <a:pt x="147" y="231"/>
                  <a:pt x="144" y="230"/>
                </a:cubicBezTo>
                <a:cubicBezTo>
                  <a:pt x="141" y="229"/>
                  <a:pt x="138" y="229"/>
                  <a:pt x="135" y="231"/>
                </a:cubicBezTo>
                <a:cubicBezTo>
                  <a:pt x="131" y="233"/>
                  <a:pt x="131" y="241"/>
                  <a:pt x="134" y="247"/>
                </a:cubicBezTo>
                <a:cubicBezTo>
                  <a:pt x="134" y="247"/>
                  <a:pt x="134" y="248"/>
                  <a:pt x="134" y="248"/>
                </a:cubicBezTo>
                <a:cubicBezTo>
                  <a:pt x="135" y="249"/>
                  <a:pt x="163" y="324"/>
                  <a:pt x="206" y="351"/>
                </a:cubicBezTo>
                <a:cubicBezTo>
                  <a:pt x="211" y="354"/>
                  <a:pt x="213" y="361"/>
                  <a:pt x="210" y="366"/>
                </a:cubicBezTo>
                <a:cubicBezTo>
                  <a:pt x="208" y="369"/>
                  <a:pt x="204" y="371"/>
                  <a:pt x="201" y="371"/>
                </a:cubicBezTo>
                <a:cubicBezTo>
                  <a:pt x="199" y="371"/>
                  <a:pt x="197" y="371"/>
                  <a:pt x="195" y="369"/>
                </a:cubicBezTo>
                <a:cubicBezTo>
                  <a:pt x="147" y="340"/>
                  <a:pt x="117" y="264"/>
                  <a:pt x="115" y="256"/>
                </a:cubicBezTo>
                <a:cubicBezTo>
                  <a:pt x="107" y="241"/>
                  <a:pt x="109" y="220"/>
                  <a:pt x="126" y="211"/>
                </a:cubicBezTo>
                <a:cubicBezTo>
                  <a:pt x="133" y="208"/>
                  <a:pt x="142" y="207"/>
                  <a:pt x="151" y="210"/>
                </a:cubicBezTo>
                <a:cubicBezTo>
                  <a:pt x="159" y="212"/>
                  <a:pt x="166" y="218"/>
                  <a:pt x="170" y="226"/>
                </a:cubicBezTo>
                <a:cubicBezTo>
                  <a:pt x="170" y="226"/>
                  <a:pt x="170" y="227"/>
                  <a:pt x="171" y="228"/>
                </a:cubicBezTo>
                <a:cubicBezTo>
                  <a:pt x="172" y="236"/>
                  <a:pt x="176" y="246"/>
                  <a:pt x="181" y="256"/>
                </a:cubicBezTo>
                <a:cubicBezTo>
                  <a:pt x="181" y="156"/>
                  <a:pt x="181" y="156"/>
                  <a:pt x="181" y="156"/>
                </a:cubicBezTo>
                <a:cubicBezTo>
                  <a:pt x="181" y="138"/>
                  <a:pt x="195" y="124"/>
                  <a:pt x="213" y="124"/>
                </a:cubicBezTo>
                <a:cubicBezTo>
                  <a:pt x="231" y="124"/>
                  <a:pt x="245" y="138"/>
                  <a:pt x="245" y="156"/>
                </a:cubicBezTo>
                <a:cubicBezTo>
                  <a:pt x="245" y="180"/>
                  <a:pt x="245" y="180"/>
                  <a:pt x="245" y="180"/>
                </a:cubicBezTo>
                <a:cubicBezTo>
                  <a:pt x="248" y="179"/>
                  <a:pt x="251" y="178"/>
                  <a:pt x="255" y="178"/>
                </a:cubicBezTo>
                <a:cubicBezTo>
                  <a:pt x="270" y="178"/>
                  <a:pt x="283" y="188"/>
                  <a:pt x="287" y="202"/>
                </a:cubicBezTo>
                <a:cubicBezTo>
                  <a:pt x="290" y="200"/>
                  <a:pt x="293" y="199"/>
                  <a:pt x="297" y="199"/>
                </a:cubicBezTo>
                <a:cubicBezTo>
                  <a:pt x="309" y="199"/>
                  <a:pt x="319" y="205"/>
                  <a:pt x="325" y="214"/>
                </a:cubicBezTo>
                <a:cubicBezTo>
                  <a:pt x="329" y="211"/>
                  <a:pt x="334" y="210"/>
                  <a:pt x="339" y="210"/>
                </a:cubicBezTo>
                <a:cubicBezTo>
                  <a:pt x="357" y="210"/>
                  <a:pt x="373" y="224"/>
                  <a:pt x="373" y="242"/>
                </a:cubicBezTo>
                <a:cubicBezTo>
                  <a:pt x="373" y="284"/>
                  <a:pt x="373" y="284"/>
                  <a:pt x="373" y="284"/>
                </a:cubicBezTo>
                <a:cubicBezTo>
                  <a:pt x="373" y="286"/>
                  <a:pt x="374" y="333"/>
                  <a:pt x="347" y="3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96367995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F93E36E-1F3C-42D3-9037-E7AA017BBC0B}"/>
              </a:ext>
            </a:extLst>
          </p:cNvPr>
          <p:cNvPicPr>
            <a:picLocks noChangeAspect="1"/>
          </p:cNvPicPr>
          <p:nvPr/>
        </p:nvPicPr>
        <p:blipFill>
          <a:blip r:embed="rId2"/>
          <a:stretch>
            <a:fillRect/>
          </a:stretch>
        </p:blipFill>
        <p:spPr>
          <a:xfrm>
            <a:off x="0" y="0"/>
            <a:ext cx="12192000" cy="6858000"/>
          </a:xfrm>
          <a:prstGeom prst="rect">
            <a:avLst/>
          </a:prstGeom>
        </p:spPr>
      </p:pic>
      <p:sp>
        <p:nvSpPr>
          <p:cNvPr id="18" name="Rectangle 17">
            <a:extLst>
              <a:ext uri="{FF2B5EF4-FFF2-40B4-BE49-F238E27FC236}">
                <a16:creationId xmlns:a16="http://schemas.microsoft.com/office/drawing/2014/main" id="{F23F97FA-08CA-494D-8222-0C9F13B6D3B7}"/>
              </a:ext>
            </a:extLst>
          </p:cNvPr>
          <p:cNvSpPr/>
          <p:nvPr/>
        </p:nvSpPr>
        <p:spPr bwMode="gray">
          <a:xfrm>
            <a:off x="0" y="-1"/>
            <a:ext cx="12192000" cy="6858001"/>
          </a:xfrm>
          <a:prstGeom prst="rect">
            <a:avLst/>
          </a:prstGeom>
          <a:solidFill>
            <a:schemeClr val="tx1">
              <a:alpha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19" name="Group 18">
            <a:extLst>
              <a:ext uri="{FF2B5EF4-FFF2-40B4-BE49-F238E27FC236}">
                <a16:creationId xmlns:a16="http://schemas.microsoft.com/office/drawing/2014/main" id="{6DA1E5F3-23A6-4D8D-BAFB-0516AF8A12A7}"/>
              </a:ext>
            </a:extLst>
          </p:cNvPr>
          <p:cNvGrpSpPr/>
          <p:nvPr/>
        </p:nvGrpSpPr>
        <p:grpSpPr>
          <a:xfrm>
            <a:off x="0" y="4343401"/>
            <a:ext cx="12192000" cy="1676400"/>
            <a:chOff x="0" y="2999979"/>
            <a:chExt cx="10688635" cy="1676400"/>
          </a:xfrm>
        </p:grpSpPr>
        <p:sp>
          <p:nvSpPr>
            <p:cNvPr id="20" name="Hexagon 19">
              <a:extLst>
                <a:ext uri="{FF2B5EF4-FFF2-40B4-BE49-F238E27FC236}">
                  <a16:creationId xmlns:a16="http://schemas.microsoft.com/office/drawing/2014/main" id="{B8CAEA98-2431-4D17-8ED6-D38BEB662641}"/>
                </a:ext>
              </a:extLst>
            </p:cNvPr>
            <p:cNvSpPr/>
            <p:nvPr/>
          </p:nvSpPr>
          <p:spPr bwMode="gray">
            <a:xfrm>
              <a:off x="1756947" y="2999979"/>
              <a:ext cx="7174744" cy="1676400"/>
            </a:xfrm>
            <a:prstGeom prst="hexagon">
              <a:avLst>
                <a:gd name="adj" fmla="val 19545"/>
                <a:gd name="vf" fmla="val 115470"/>
              </a:avLst>
            </a:prstGeom>
            <a:gradFill>
              <a:gsLst>
                <a:gs pos="0">
                  <a:schemeClr val="accent2"/>
                </a:gs>
                <a:gs pos="100000">
                  <a:srgbClr val="00ABAB"/>
                </a:gs>
              </a:gsLst>
              <a:lin ang="0" scaled="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21" name="Group 20">
              <a:extLst>
                <a:ext uri="{FF2B5EF4-FFF2-40B4-BE49-F238E27FC236}">
                  <a16:creationId xmlns:a16="http://schemas.microsoft.com/office/drawing/2014/main" id="{CB21DC55-2ACF-4C81-877E-D0F1A303F27A}"/>
                </a:ext>
              </a:extLst>
            </p:cNvPr>
            <p:cNvGrpSpPr/>
            <p:nvPr/>
          </p:nvGrpSpPr>
          <p:grpSpPr>
            <a:xfrm>
              <a:off x="8668283" y="3198085"/>
              <a:ext cx="2020352" cy="1280188"/>
              <a:chOff x="10903266" y="5513021"/>
              <a:chExt cx="2541269" cy="1280188"/>
            </a:xfrm>
          </p:grpSpPr>
          <p:sp>
            <p:nvSpPr>
              <p:cNvPr id="33" name="Chevron 16">
                <a:extLst>
                  <a:ext uri="{FF2B5EF4-FFF2-40B4-BE49-F238E27FC236}">
                    <a16:creationId xmlns:a16="http://schemas.microsoft.com/office/drawing/2014/main" id="{074F26CA-E032-40B0-B977-6F7EEC356C9D}"/>
                  </a:ext>
                </a:extLst>
              </p:cNvPr>
              <p:cNvSpPr/>
              <p:nvPr/>
            </p:nvSpPr>
            <p:spPr bwMode="gray">
              <a:xfrm rot="10800000" flipH="1">
                <a:off x="10903266" y="5513021"/>
                <a:ext cx="457201" cy="1280188"/>
              </a:xfrm>
              <a:prstGeom prst="chevron">
                <a:avLst>
                  <a:gd name="adj" fmla="val 70202"/>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34" name="Group 33">
                <a:extLst>
                  <a:ext uri="{FF2B5EF4-FFF2-40B4-BE49-F238E27FC236}">
                    <a16:creationId xmlns:a16="http://schemas.microsoft.com/office/drawing/2014/main" id="{095A11B0-F3A5-490E-98D8-9A8104AEAE89}"/>
                  </a:ext>
                </a:extLst>
              </p:cNvPr>
              <p:cNvGrpSpPr/>
              <p:nvPr/>
            </p:nvGrpSpPr>
            <p:grpSpPr>
              <a:xfrm>
                <a:off x="11301887" y="6041668"/>
                <a:ext cx="2142648" cy="227052"/>
                <a:chOff x="11338560" y="6041668"/>
                <a:chExt cx="2047717" cy="227052"/>
              </a:xfrm>
              <a:solidFill>
                <a:schemeClr val="accent5">
                  <a:alpha val="80000"/>
                </a:schemeClr>
              </a:solidFill>
            </p:grpSpPr>
            <p:sp>
              <p:nvSpPr>
                <p:cNvPr id="35" name="Rectangle 34">
                  <a:extLst>
                    <a:ext uri="{FF2B5EF4-FFF2-40B4-BE49-F238E27FC236}">
                      <a16:creationId xmlns:a16="http://schemas.microsoft.com/office/drawing/2014/main" id="{9C6A7C66-621A-43E6-A80F-64614D729D5A}"/>
                    </a:ext>
                  </a:extLst>
                </p:cNvPr>
                <p:cNvSpPr/>
                <p:nvPr/>
              </p:nvSpPr>
              <p:spPr bwMode="gray">
                <a:xfrm>
                  <a:off x="11390019" y="6041669"/>
                  <a:ext cx="1996258" cy="227051"/>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36" name="Group 35">
                  <a:extLst>
                    <a:ext uri="{FF2B5EF4-FFF2-40B4-BE49-F238E27FC236}">
                      <a16:creationId xmlns:a16="http://schemas.microsoft.com/office/drawing/2014/main" id="{F169794C-7F04-4853-86D6-8D1130208AAA}"/>
                    </a:ext>
                  </a:extLst>
                </p:cNvPr>
                <p:cNvGrpSpPr/>
                <p:nvPr/>
              </p:nvGrpSpPr>
              <p:grpSpPr>
                <a:xfrm>
                  <a:off x="11338560" y="6041668"/>
                  <a:ext cx="51458" cy="227052"/>
                  <a:chOff x="11778615" y="5998513"/>
                  <a:chExt cx="116958" cy="357524"/>
                </a:xfrm>
                <a:grpFill/>
              </p:grpSpPr>
              <p:sp>
                <p:nvSpPr>
                  <p:cNvPr id="37" name="Right Triangle 36">
                    <a:extLst>
                      <a:ext uri="{FF2B5EF4-FFF2-40B4-BE49-F238E27FC236}">
                        <a16:creationId xmlns:a16="http://schemas.microsoft.com/office/drawing/2014/main" id="{2C88BD60-D161-4EB4-A780-076174601B40}"/>
                      </a:ext>
                    </a:extLst>
                  </p:cNvPr>
                  <p:cNvSpPr/>
                  <p:nvPr/>
                </p:nvSpPr>
                <p:spPr bwMode="gray">
                  <a:xfrm rot="10800000" flipV="1">
                    <a:off x="11778615" y="6173078"/>
                    <a:ext cx="116958" cy="182959"/>
                  </a:xfrm>
                  <a:prstGeom prst="rtTriangle">
                    <a:avLst/>
                  </a:prstGeom>
                  <a:solidFill>
                    <a:srgbClr val="0D839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8" name="Right Triangle 37">
                    <a:extLst>
                      <a:ext uri="{FF2B5EF4-FFF2-40B4-BE49-F238E27FC236}">
                        <a16:creationId xmlns:a16="http://schemas.microsoft.com/office/drawing/2014/main" id="{AA6ACADD-D170-45E7-998E-01B35D0AD651}"/>
                      </a:ext>
                    </a:extLst>
                  </p:cNvPr>
                  <p:cNvSpPr/>
                  <p:nvPr/>
                </p:nvSpPr>
                <p:spPr bwMode="gray">
                  <a:xfrm rot="10800000">
                    <a:off x="11778615" y="5998513"/>
                    <a:ext cx="116958" cy="174565"/>
                  </a:xfrm>
                  <a:prstGeom prst="rtTriangle">
                    <a:avLst/>
                  </a:prstGeom>
                  <a:solidFill>
                    <a:srgbClr val="0D839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grpSp>
        <p:grpSp>
          <p:nvGrpSpPr>
            <p:cNvPr id="22" name="Group 21">
              <a:extLst>
                <a:ext uri="{FF2B5EF4-FFF2-40B4-BE49-F238E27FC236}">
                  <a16:creationId xmlns:a16="http://schemas.microsoft.com/office/drawing/2014/main" id="{F62B29AA-1E18-45E2-B2CE-F6304A75D149}"/>
                </a:ext>
              </a:extLst>
            </p:cNvPr>
            <p:cNvGrpSpPr/>
            <p:nvPr/>
          </p:nvGrpSpPr>
          <p:grpSpPr>
            <a:xfrm flipH="1">
              <a:off x="0" y="3198085"/>
              <a:ext cx="2020352" cy="1280188"/>
              <a:chOff x="10903266" y="5513021"/>
              <a:chExt cx="2541269" cy="1280188"/>
            </a:xfrm>
            <a:solidFill>
              <a:schemeClr val="accent1">
                <a:alpha val="80000"/>
              </a:schemeClr>
            </a:solidFill>
          </p:grpSpPr>
          <p:sp>
            <p:nvSpPr>
              <p:cNvPr id="27" name="Chevron 10">
                <a:extLst>
                  <a:ext uri="{FF2B5EF4-FFF2-40B4-BE49-F238E27FC236}">
                    <a16:creationId xmlns:a16="http://schemas.microsoft.com/office/drawing/2014/main" id="{83390DF0-C03A-454C-85B6-282FEDB779E3}"/>
                  </a:ext>
                </a:extLst>
              </p:cNvPr>
              <p:cNvSpPr/>
              <p:nvPr/>
            </p:nvSpPr>
            <p:spPr bwMode="gray">
              <a:xfrm rot="10800000" flipH="1">
                <a:off x="10903266" y="5513021"/>
                <a:ext cx="457201" cy="1280188"/>
              </a:xfrm>
              <a:prstGeom prst="chevron">
                <a:avLst>
                  <a:gd name="adj" fmla="val 70202"/>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28" name="Group 27">
                <a:extLst>
                  <a:ext uri="{FF2B5EF4-FFF2-40B4-BE49-F238E27FC236}">
                    <a16:creationId xmlns:a16="http://schemas.microsoft.com/office/drawing/2014/main" id="{2EE82799-1BE5-49F8-A9D7-78FF9A5137E6}"/>
                  </a:ext>
                </a:extLst>
              </p:cNvPr>
              <p:cNvGrpSpPr/>
              <p:nvPr/>
            </p:nvGrpSpPr>
            <p:grpSpPr>
              <a:xfrm>
                <a:off x="11301887" y="6041668"/>
                <a:ext cx="2142648" cy="227052"/>
                <a:chOff x="11338560" y="6041668"/>
                <a:chExt cx="2047717" cy="227052"/>
              </a:xfrm>
              <a:grpFill/>
            </p:grpSpPr>
            <p:sp>
              <p:nvSpPr>
                <p:cNvPr id="29" name="Rectangle 28">
                  <a:extLst>
                    <a:ext uri="{FF2B5EF4-FFF2-40B4-BE49-F238E27FC236}">
                      <a16:creationId xmlns:a16="http://schemas.microsoft.com/office/drawing/2014/main" id="{84A15A22-F658-45B3-A95A-CF496721D41F}"/>
                    </a:ext>
                  </a:extLst>
                </p:cNvPr>
                <p:cNvSpPr/>
                <p:nvPr/>
              </p:nvSpPr>
              <p:spPr bwMode="gray">
                <a:xfrm>
                  <a:off x="11390019" y="6041669"/>
                  <a:ext cx="1996258" cy="227051"/>
                </a:xfrm>
                <a:prstGeom prst="rect">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30" name="Group 29">
                  <a:extLst>
                    <a:ext uri="{FF2B5EF4-FFF2-40B4-BE49-F238E27FC236}">
                      <a16:creationId xmlns:a16="http://schemas.microsoft.com/office/drawing/2014/main" id="{319C76B8-088F-4595-B8BC-294E5B6613ED}"/>
                    </a:ext>
                  </a:extLst>
                </p:cNvPr>
                <p:cNvGrpSpPr/>
                <p:nvPr/>
              </p:nvGrpSpPr>
              <p:grpSpPr>
                <a:xfrm>
                  <a:off x="11338560" y="6041668"/>
                  <a:ext cx="51458" cy="227052"/>
                  <a:chOff x="11778615" y="5998513"/>
                  <a:chExt cx="116958" cy="357524"/>
                </a:xfrm>
                <a:grpFill/>
              </p:grpSpPr>
              <p:sp>
                <p:nvSpPr>
                  <p:cNvPr id="31" name="Right Triangle 30">
                    <a:extLst>
                      <a:ext uri="{FF2B5EF4-FFF2-40B4-BE49-F238E27FC236}">
                        <a16:creationId xmlns:a16="http://schemas.microsoft.com/office/drawing/2014/main" id="{B2450384-D5F1-4105-943F-3F2436AE3345}"/>
                      </a:ext>
                    </a:extLst>
                  </p:cNvPr>
                  <p:cNvSpPr/>
                  <p:nvPr/>
                </p:nvSpPr>
                <p:spPr bwMode="gray">
                  <a:xfrm rot="10800000" flipV="1">
                    <a:off x="11778615" y="6173078"/>
                    <a:ext cx="116958" cy="182959"/>
                  </a:xfrm>
                  <a:prstGeom prst="rtTriangle">
                    <a:avLst/>
                  </a:prstGeom>
                  <a:solidFill>
                    <a:srgbClr val="32841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2" name="Right Triangle 31">
                    <a:extLst>
                      <a:ext uri="{FF2B5EF4-FFF2-40B4-BE49-F238E27FC236}">
                        <a16:creationId xmlns:a16="http://schemas.microsoft.com/office/drawing/2014/main" id="{0DA9503C-6D4F-4E73-804B-0689106DA76E}"/>
                      </a:ext>
                    </a:extLst>
                  </p:cNvPr>
                  <p:cNvSpPr/>
                  <p:nvPr/>
                </p:nvSpPr>
                <p:spPr bwMode="gray">
                  <a:xfrm rot="10800000">
                    <a:off x="11778615" y="5998513"/>
                    <a:ext cx="116958" cy="174565"/>
                  </a:xfrm>
                  <a:prstGeom prst="rtTriangle">
                    <a:avLst/>
                  </a:prstGeom>
                  <a:solidFill>
                    <a:srgbClr val="32841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grpSp>
        <p:sp>
          <p:nvSpPr>
            <p:cNvPr id="23" name="Text Placeholder 9">
              <a:extLst>
                <a:ext uri="{FF2B5EF4-FFF2-40B4-BE49-F238E27FC236}">
                  <a16:creationId xmlns:a16="http://schemas.microsoft.com/office/drawing/2014/main" id="{E03F1869-F5FA-4C70-B689-8FC30F59D7C6}"/>
                </a:ext>
              </a:extLst>
            </p:cNvPr>
            <p:cNvSpPr txBox="1">
              <a:spLocks/>
            </p:cNvSpPr>
            <p:nvPr/>
          </p:nvSpPr>
          <p:spPr>
            <a:xfrm>
              <a:off x="2164640" y="2999979"/>
              <a:ext cx="6434194" cy="1676400"/>
            </a:xfrm>
            <a:prstGeom prst="rect">
              <a:avLst/>
            </a:prstGeom>
          </p:spPr>
          <p:txBody>
            <a:bodyPr vert="horz" lIns="0" tIns="0" rIns="0" bIns="0" rtlCol="0" anchor="ctr">
              <a:norm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r>
                <a:rPr lang="en-US" sz="5000" b="1" dirty="0">
                  <a:solidFill>
                    <a:schemeClr val="bg1"/>
                  </a:solidFill>
                  <a:effectLst>
                    <a:outerShdw blurRad="38100" dist="38100" dir="2700000" algn="tl">
                      <a:srgbClr val="000000">
                        <a:alpha val="43137"/>
                      </a:srgbClr>
                    </a:outerShdw>
                  </a:effectLst>
                </a:rPr>
                <a:t>Our understanding</a:t>
              </a:r>
            </a:p>
          </p:txBody>
        </p:sp>
      </p:grpSp>
    </p:spTree>
    <p:extLst>
      <p:ext uri="{BB962C8B-B14F-4D97-AF65-F5344CB8AC3E}">
        <p14:creationId xmlns:p14="http://schemas.microsoft.com/office/powerpoint/2010/main" val="219625770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IN" dirty="0"/>
              <a:t>Background</a:t>
            </a:r>
          </a:p>
        </p:txBody>
      </p:sp>
      <p:sp>
        <p:nvSpPr>
          <p:cNvPr id="3" name="Rectangle 2">
            <a:extLst>
              <a:ext uri="{FF2B5EF4-FFF2-40B4-BE49-F238E27FC236}">
                <a16:creationId xmlns:a16="http://schemas.microsoft.com/office/drawing/2014/main" id="{F8562C33-73A6-413B-9451-A4CB3DB15DE7}"/>
              </a:ext>
            </a:extLst>
          </p:cNvPr>
          <p:cNvSpPr/>
          <p:nvPr/>
        </p:nvSpPr>
        <p:spPr>
          <a:xfrm>
            <a:off x="478155" y="1011610"/>
            <a:ext cx="11234419" cy="553998"/>
          </a:xfrm>
          <a:prstGeom prst="rect">
            <a:avLst/>
          </a:prstGeom>
        </p:spPr>
        <p:txBody>
          <a:bodyPr wrap="square" lIns="0" tIns="0" rIns="0" bIns="0">
            <a:spAutoFit/>
          </a:bodyPr>
          <a:lstStyle/>
          <a:p>
            <a:r>
              <a:rPr lang="en-US" dirty="0">
                <a:cs typeface="Open Sans" panose="020B0606030504020204" pitchFamily="34" charset="0"/>
              </a:rPr>
              <a:t>Development Monitoring and Evaluation Office (DMEO) has formulated Output-Outcome Monitoring Framework (OOMF) and has undertaken number of initiatives for implementing ……. </a:t>
            </a:r>
            <a:endParaRPr lang="en-IN" dirty="0"/>
          </a:p>
        </p:txBody>
      </p:sp>
      <p:sp>
        <p:nvSpPr>
          <p:cNvPr id="4" name="Rectangle 3">
            <a:extLst>
              <a:ext uri="{FF2B5EF4-FFF2-40B4-BE49-F238E27FC236}">
                <a16:creationId xmlns:a16="http://schemas.microsoft.com/office/drawing/2014/main" id="{2348AA22-04EE-4667-AFE1-F1A21909A618}"/>
              </a:ext>
            </a:extLst>
          </p:cNvPr>
          <p:cNvSpPr/>
          <p:nvPr/>
        </p:nvSpPr>
        <p:spPr bwMode="gray">
          <a:xfrm>
            <a:off x="0" y="1678359"/>
            <a:ext cx="3383280"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Key objectives of the OOMF</a:t>
            </a:r>
          </a:p>
        </p:txBody>
      </p:sp>
      <p:grpSp>
        <p:nvGrpSpPr>
          <p:cNvPr id="58" name="Group 57">
            <a:extLst>
              <a:ext uri="{FF2B5EF4-FFF2-40B4-BE49-F238E27FC236}">
                <a16:creationId xmlns:a16="http://schemas.microsoft.com/office/drawing/2014/main" id="{87C368FE-472D-48B0-9131-7FB4CBA98B20}"/>
              </a:ext>
            </a:extLst>
          </p:cNvPr>
          <p:cNvGrpSpPr/>
          <p:nvPr/>
        </p:nvGrpSpPr>
        <p:grpSpPr>
          <a:xfrm>
            <a:off x="475307" y="2172370"/>
            <a:ext cx="2907951" cy="713232"/>
            <a:chOff x="424507" y="2152737"/>
            <a:chExt cx="2907951" cy="713232"/>
          </a:xfrm>
        </p:grpSpPr>
        <p:sp>
          <p:nvSpPr>
            <p:cNvPr id="5" name="Rectangle 4">
              <a:extLst>
                <a:ext uri="{FF2B5EF4-FFF2-40B4-BE49-F238E27FC236}">
                  <a16:creationId xmlns:a16="http://schemas.microsoft.com/office/drawing/2014/main" id="{0A0BEB77-0332-4AA8-A708-538F7F0B3FC5}"/>
                </a:ext>
              </a:extLst>
            </p:cNvPr>
            <p:cNvSpPr/>
            <p:nvPr/>
          </p:nvSpPr>
          <p:spPr bwMode="gray">
            <a:xfrm>
              <a:off x="495300" y="2152737"/>
              <a:ext cx="2837158" cy="713232"/>
            </a:xfrm>
            <a:prstGeom prst="rect">
              <a:avLst/>
            </a:prstGeom>
            <a:solidFill>
              <a:schemeClr val="bg1">
                <a:lumMod val="95000"/>
              </a:schemeClr>
            </a:solidFill>
            <a:ln w="3175" algn="ctr">
              <a:solidFill>
                <a:schemeClr val="accent5"/>
              </a:solidFill>
              <a:miter lim="800000"/>
              <a:headEnd/>
              <a:tailEnd/>
            </a:ln>
          </p:spPr>
          <p:txBody>
            <a:bodyPr wrap="square" lIns="457200" tIns="91440" rIns="91440" bIns="91440" rtlCol="0" anchor="ctr"/>
            <a:lstStyle/>
            <a:p>
              <a:r>
                <a:rPr lang="en-US" sz="1400" b="1" dirty="0"/>
                <a:t>Link budgets and other inputs to outputs &amp; outcomes though SMART indicators</a:t>
              </a:r>
            </a:p>
          </p:txBody>
        </p:sp>
        <p:sp>
          <p:nvSpPr>
            <p:cNvPr id="6" name="Rectangle 17">
              <a:extLst>
                <a:ext uri="{FF2B5EF4-FFF2-40B4-BE49-F238E27FC236}">
                  <a16:creationId xmlns:a16="http://schemas.microsoft.com/office/drawing/2014/main" id="{1BC72CFA-A6AA-4F72-990E-BF48E2AEBB2B}"/>
                </a:ext>
              </a:extLst>
            </p:cNvPr>
            <p:cNvSpPr/>
            <p:nvPr/>
          </p:nvSpPr>
          <p:spPr bwMode="gray">
            <a:xfrm>
              <a:off x="424507" y="2235033"/>
              <a:ext cx="74673" cy="548640"/>
            </a:xfrm>
            <a:custGeom>
              <a:avLst/>
              <a:gdLst>
                <a:gd name="connsiteX0" fmla="*/ 0 w 70035"/>
                <a:gd name="connsiteY0" fmla="*/ 0 h 822960"/>
                <a:gd name="connsiteX1" fmla="*/ 70035 w 70035"/>
                <a:gd name="connsiteY1" fmla="*/ 0 h 822960"/>
                <a:gd name="connsiteX2" fmla="*/ 70035 w 70035"/>
                <a:gd name="connsiteY2" fmla="*/ 822960 h 822960"/>
                <a:gd name="connsiteX3" fmla="*/ 0 w 70035"/>
                <a:gd name="connsiteY3" fmla="*/ 822960 h 822960"/>
                <a:gd name="connsiteX4" fmla="*/ 0 w 70035"/>
                <a:gd name="connsiteY4" fmla="*/ 0 h 822960"/>
                <a:gd name="connsiteX0" fmla="*/ 2381 w 70035"/>
                <a:gd name="connsiteY0" fmla="*/ 45244 h 822960"/>
                <a:gd name="connsiteX1" fmla="*/ 70035 w 70035"/>
                <a:gd name="connsiteY1" fmla="*/ 0 h 822960"/>
                <a:gd name="connsiteX2" fmla="*/ 70035 w 70035"/>
                <a:gd name="connsiteY2" fmla="*/ 822960 h 822960"/>
                <a:gd name="connsiteX3" fmla="*/ 0 w 70035"/>
                <a:gd name="connsiteY3" fmla="*/ 822960 h 822960"/>
                <a:gd name="connsiteX4" fmla="*/ 2381 w 70035"/>
                <a:gd name="connsiteY4" fmla="*/ 45244 h 822960"/>
                <a:gd name="connsiteX0" fmla="*/ 230 w 67884"/>
                <a:gd name="connsiteY0" fmla="*/ 45244 h 822960"/>
                <a:gd name="connsiteX1" fmla="*/ 67884 w 67884"/>
                <a:gd name="connsiteY1" fmla="*/ 0 h 822960"/>
                <a:gd name="connsiteX2" fmla="*/ 67884 w 67884"/>
                <a:gd name="connsiteY2" fmla="*/ 822960 h 822960"/>
                <a:gd name="connsiteX3" fmla="*/ 231 w 67884"/>
                <a:gd name="connsiteY3" fmla="*/ 775335 h 822960"/>
                <a:gd name="connsiteX4" fmla="*/ 230 w 67884"/>
                <a:gd name="connsiteY4" fmla="*/ 45244 h 822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4" h="822960">
                  <a:moveTo>
                    <a:pt x="230" y="45244"/>
                  </a:moveTo>
                  <a:lnTo>
                    <a:pt x="67884" y="0"/>
                  </a:lnTo>
                  <a:lnTo>
                    <a:pt x="67884" y="822960"/>
                  </a:lnTo>
                  <a:lnTo>
                    <a:pt x="231" y="775335"/>
                  </a:lnTo>
                  <a:cubicBezTo>
                    <a:pt x="1025" y="516096"/>
                    <a:pt x="-564" y="304483"/>
                    <a:pt x="230" y="45244"/>
                  </a:cubicBezTo>
                  <a:close/>
                </a:path>
              </a:pathLst>
            </a:cu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7" name="Flowchart: Delay 6">
              <a:extLst>
                <a:ext uri="{FF2B5EF4-FFF2-40B4-BE49-F238E27FC236}">
                  <a16:creationId xmlns:a16="http://schemas.microsoft.com/office/drawing/2014/main" id="{C8ED0812-BD1D-43B2-AFBA-45226C7C4AB0}"/>
                </a:ext>
              </a:extLst>
            </p:cNvPr>
            <p:cNvSpPr/>
            <p:nvPr/>
          </p:nvSpPr>
          <p:spPr bwMode="gray">
            <a:xfrm>
              <a:off x="425683" y="2280753"/>
              <a:ext cx="457200" cy="457200"/>
            </a:xfrm>
            <a:prstGeom prst="flowChartDelay">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48" name="Freeform 370">
              <a:extLst>
                <a:ext uri="{FF2B5EF4-FFF2-40B4-BE49-F238E27FC236}">
                  <a16:creationId xmlns:a16="http://schemas.microsoft.com/office/drawing/2014/main" id="{4CA33854-E6B6-4F73-8423-7ADBBDA1BE2C}"/>
                </a:ext>
              </a:extLst>
            </p:cNvPr>
            <p:cNvSpPr>
              <a:spLocks noChangeAspect="1" noEditPoints="1"/>
            </p:cNvSpPr>
            <p:nvPr/>
          </p:nvSpPr>
          <p:spPr bwMode="auto">
            <a:xfrm>
              <a:off x="469445" y="2326473"/>
              <a:ext cx="365760" cy="365760"/>
            </a:xfrm>
            <a:custGeom>
              <a:avLst/>
              <a:gdLst>
                <a:gd name="T0" fmla="*/ 371 w 512"/>
                <a:gd name="T1" fmla="*/ 202 h 512"/>
                <a:gd name="T2" fmla="*/ 309 w 512"/>
                <a:gd name="T3" fmla="*/ 202 h 512"/>
                <a:gd name="T4" fmla="*/ 309 w 512"/>
                <a:gd name="T5" fmla="*/ 140 h 512"/>
                <a:gd name="T6" fmla="*/ 371 w 512"/>
                <a:gd name="T7" fmla="*/ 202 h 512"/>
                <a:gd name="T8" fmla="*/ 245 w 512"/>
                <a:gd name="T9" fmla="*/ 256 h 512"/>
                <a:gd name="T10" fmla="*/ 245 w 512"/>
                <a:gd name="T11" fmla="*/ 150 h 512"/>
                <a:gd name="T12" fmla="*/ 149 w 512"/>
                <a:gd name="T13" fmla="*/ 256 h 512"/>
                <a:gd name="T14" fmla="*/ 256 w 512"/>
                <a:gd name="T15" fmla="*/ 362 h 512"/>
                <a:gd name="T16" fmla="*/ 362 w 512"/>
                <a:gd name="T17" fmla="*/ 266 h 512"/>
                <a:gd name="T18" fmla="*/ 256 w 512"/>
                <a:gd name="T19" fmla="*/ 266 h 512"/>
                <a:gd name="T20" fmla="*/ 245 w 512"/>
                <a:gd name="T21" fmla="*/ 256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84 w 512"/>
                <a:gd name="T33" fmla="*/ 256 h 512"/>
                <a:gd name="T34" fmla="*/ 373 w 512"/>
                <a:gd name="T35" fmla="*/ 245 h 512"/>
                <a:gd name="T36" fmla="*/ 266 w 512"/>
                <a:gd name="T37" fmla="*/ 245 h 512"/>
                <a:gd name="T38" fmla="*/ 266 w 512"/>
                <a:gd name="T39" fmla="*/ 138 h 512"/>
                <a:gd name="T40" fmla="*/ 256 w 512"/>
                <a:gd name="T41" fmla="*/ 128 h 512"/>
                <a:gd name="T42" fmla="*/ 128 w 512"/>
                <a:gd name="T43" fmla="*/ 256 h 512"/>
                <a:gd name="T44" fmla="*/ 256 w 512"/>
                <a:gd name="T45" fmla="*/ 384 h 512"/>
                <a:gd name="T46" fmla="*/ 384 w 512"/>
                <a:gd name="T47" fmla="*/ 256 h 512"/>
                <a:gd name="T48" fmla="*/ 397 w 512"/>
                <a:gd name="T49" fmla="*/ 210 h 512"/>
                <a:gd name="T50" fmla="*/ 302 w 512"/>
                <a:gd name="T51" fmla="*/ 115 h 512"/>
                <a:gd name="T52" fmla="*/ 292 w 512"/>
                <a:gd name="T53" fmla="*/ 116 h 512"/>
                <a:gd name="T54" fmla="*/ 288 w 512"/>
                <a:gd name="T55" fmla="*/ 125 h 512"/>
                <a:gd name="T56" fmla="*/ 288 w 512"/>
                <a:gd name="T57" fmla="*/ 213 h 512"/>
                <a:gd name="T58" fmla="*/ 298 w 512"/>
                <a:gd name="T59" fmla="*/ 224 h 512"/>
                <a:gd name="T60" fmla="*/ 386 w 512"/>
                <a:gd name="T61" fmla="*/ 224 h 512"/>
                <a:gd name="T62" fmla="*/ 395 w 512"/>
                <a:gd name="T63" fmla="*/ 219 h 512"/>
                <a:gd name="T64" fmla="*/ 397 w 512"/>
                <a:gd name="T65" fmla="*/ 21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71" y="202"/>
                  </a:moveTo>
                  <a:cubicBezTo>
                    <a:pt x="309" y="202"/>
                    <a:pt x="309" y="202"/>
                    <a:pt x="309" y="202"/>
                  </a:cubicBezTo>
                  <a:cubicBezTo>
                    <a:pt x="309" y="140"/>
                    <a:pt x="309" y="140"/>
                    <a:pt x="309" y="140"/>
                  </a:cubicBezTo>
                  <a:cubicBezTo>
                    <a:pt x="336" y="153"/>
                    <a:pt x="358" y="175"/>
                    <a:pt x="371" y="202"/>
                  </a:cubicBezTo>
                  <a:close/>
                  <a:moveTo>
                    <a:pt x="245" y="256"/>
                  </a:moveTo>
                  <a:cubicBezTo>
                    <a:pt x="245" y="150"/>
                    <a:pt x="245" y="150"/>
                    <a:pt x="245" y="150"/>
                  </a:cubicBezTo>
                  <a:cubicBezTo>
                    <a:pt x="191" y="155"/>
                    <a:pt x="149" y="200"/>
                    <a:pt x="149" y="256"/>
                  </a:cubicBezTo>
                  <a:cubicBezTo>
                    <a:pt x="149" y="314"/>
                    <a:pt x="197" y="362"/>
                    <a:pt x="256" y="362"/>
                  </a:cubicBezTo>
                  <a:cubicBezTo>
                    <a:pt x="311" y="362"/>
                    <a:pt x="356" y="320"/>
                    <a:pt x="362" y="266"/>
                  </a:cubicBezTo>
                  <a:cubicBezTo>
                    <a:pt x="256" y="266"/>
                    <a:pt x="256" y="266"/>
                    <a:pt x="256" y="266"/>
                  </a:cubicBezTo>
                  <a:cubicBezTo>
                    <a:pt x="250" y="266"/>
                    <a:pt x="245" y="262"/>
                    <a:pt x="245" y="25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84" y="256"/>
                  </a:moveTo>
                  <a:cubicBezTo>
                    <a:pt x="384" y="250"/>
                    <a:pt x="379" y="245"/>
                    <a:pt x="373" y="245"/>
                  </a:cubicBezTo>
                  <a:cubicBezTo>
                    <a:pt x="266" y="245"/>
                    <a:pt x="266" y="245"/>
                    <a:pt x="266" y="245"/>
                  </a:cubicBezTo>
                  <a:cubicBezTo>
                    <a:pt x="266" y="138"/>
                    <a:pt x="266" y="138"/>
                    <a:pt x="266" y="138"/>
                  </a:cubicBezTo>
                  <a:cubicBezTo>
                    <a:pt x="266" y="132"/>
                    <a:pt x="262" y="128"/>
                    <a:pt x="256" y="128"/>
                  </a:cubicBezTo>
                  <a:cubicBezTo>
                    <a:pt x="185" y="128"/>
                    <a:pt x="128" y="185"/>
                    <a:pt x="128" y="256"/>
                  </a:cubicBezTo>
                  <a:cubicBezTo>
                    <a:pt x="128" y="326"/>
                    <a:pt x="185" y="384"/>
                    <a:pt x="256" y="384"/>
                  </a:cubicBezTo>
                  <a:cubicBezTo>
                    <a:pt x="326" y="384"/>
                    <a:pt x="384" y="326"/>
                    <a:pt x="384" y="256"/>
                  </a:cubicBezTo>
                  <a:close/>
                  <a:moveTo>
                    <a:pt x="397" y="210"/>
                  </a:moveTo>
                  <a:cubicBezTo>
                    <a:pt x="382" y="165"/>
                    <a:pt x="347" y="129"/>
                    <a:pt x="302" y="115"/>
                  </a:cubicBezTo>
                  <a:cubicBezTo>
                    <a:pt x="298" y="114"/>
                    <a:pt x="295" y="114"/>
                    <a:pt x="292" y="116"/>
                  </a:cubicBezTo>
                  <a:cubicBezTo>
                    <a:pt x="289" y="118"/>
                    <a:pt x="288" y="122"/>
                    <a:pt x="288" y="125"/>
                  </a:cubicBezTo>
                  <a:cubicBezTo>
                    <a:pt x="288" y="213"/>
                    <a:pt x="288" y="213"/>
                    <a:pt x="288" y="213"/>
                  </a:cubicBezTo>
                  <a:cubicBezTo>
                    <a:pt x="288" y="219"/>
                    <a:pt x="292" y="224"/>
                    <a:pt x="298" y="224"/>
                  </a:cubicBezTo>
                  <a:cubicBezTo>
                    <a:pt x="386" y="224"/>
                    <a:pt x="386" y="224"/>
                    <a:pt x="386" y="224"/>
                  </a:cubicBezTo>
                  <a:cubicBezTo>
                    <a:pt x="390" y="224"/>
                    <a:pt x="393" y="222"/>
                    <a:pt x="395" y="219"/>
                  </a:cubicBezTo>
                  <a:cubicBezTo>
                    <a:pt x="397" y="217"/>
                    <a:pt x="398" y="213"/>
                    <a:pt x="397" y="2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400"/>
              <a:endParaRPr lang="en-GB" sz="1400" dirty="0">
                <a:solidFill>
                  <a:prstClr val="black"/>
                </a:solidFill>
                <a:latin typeface="Calibri"/>
              </a:endParaRPr>
            </a:p>
          </p:txBody>
        </p:sp>
      </p:grpSp>
      <p:grpSp>
        <p:nvGrpSpPr>
          <p:cNvPr id="59" name="Group 58">
            <a:extLst>
              <a:ext uri="{FF2B5EF4-FFF2-40B4-BE49-F238E27FC236}">
                <a16:creationId xmlns:a16="http://schemas.microsoft.com/office/drawing/2014/main" id="{A2CB6C18-111B-4B22-8F4D-778E5E617AFA}"/>
              </a:ext>
            </a:extLst>
          </p:cNvPr>
          <p:cNvGrpSpPr/>
          <p:nvPr/>
        </p:nvGrpSpPr>
        <p:grpSpPr>
          <a:xfrm>
            <a:off x="475307" y="3013853"/>
            <a:ext cx="2907951" cy="713232"/>
            <a:chOff x="424507" y="3101427"/>
            <a:chExt cx="2907951" cy="713232"/>
          </a:xfrm>
        </p:grpSpPr>
        <p:sp>
          <p:nvSpPr>
            <p:cNvPr id="8" name="Rectangle 7">
              <a:extLst>
                <a:ext uri="{FF2B5EF4-FFF2-40B4-BE49-F238E27FC236}">
                  <a16:creationId xmlns:a16="http://schemas.microsoft.com/office/drawing/2014/main" id="{E8D0D8EE-264B-4BA9-9CC5-B061CD39394C}"/>
                </a:ext>
              </a:extLst>
            </p:cNvPr>
            <p:cNvSpPr/>
            <p:nvPr/>
          </p:nvSpPr>
          <p:spPr bwMode="gray">
            <a:xfrm>
              <a:off x="495299" y="3101427"/>
              <a:ext cx="2837159" cy="713232"/>
            </a:xfrm>
            <a:prstGeom prst="rect">
              <a:avLst/>
            </a:prstGeom>
            <a:solidFill>
              <a:schemeClr val="bg1">
                <a:lumMod val="95000"/>
              </a:schemeClr>
            </a:solidFill>
            <a:ln w="3175" algn="ctr">
              <a:solidFill>
                <a:schemeClr val="accent5"/>
              </a:solidFill>
              <a:miter lim="800000"/>
              <a:headEnd/>
              <a:tailEnd/>
            </a:ln>
          </p:spPr>
          <p:txBody>
            <a:bodyPr wrap="square" lIns="457200" tIns="91440" rIns="91440" bIns="91440" rtlCol="0" anchor="ctr"/>
            <a:lstStyle/>
            <a:p>
              <a:r>
                <a:rPr lang="en-US" sz="1400" b="1" dirty="0"/>
                <a:t>Monitor progress of </a:t>
              </a:r>
              <a:r>
                <a:rPr lang="en-US" sz="1400" b="1" dirty="0" err="1"/>
                <a:t>programmes</a:t>
              </a:r>
              <a:endParaRPr lang="en-US" sz="1400" b="1" dirty="0"/>
            </a:p>
          </p:txBody>
        </p:sp>
        <p:sp>
          <p:nvSpPr>
            <p:cNvPr id="9" name="Rectangle 17">
              <a:extLst>
                <a:ext uri="{FF2B5EF4-FFF2-40B4-BE49-F238E27FC236}">
                  <a16:creationId xmlns:a16="http://schemas.microsoft.com/office/drawing/2014/main" id="{7F6742D8-A347-4FBF-B306-8F24F13D3378}"/>
                </a:ext>
              </a:extLst>
            </p:cNvPr>
            <p:cNvSpPr/>
            <p:nvPr/>
          </p:nvSpPr>
          <p:spPr bwMode="gray">
            <a:xfrm>
              <a:off x="424507" y="3183723"/>
              <a:ext cx="74673" cy="548640"/>
            </a:xfrm>
            <a:custGeom>
              <a:avLst/>
              <a:gdLst>
                <a:gd name="connsiteX0" fmla="*/ 0 w 70035"/>
                <a:gd name="connsiteY0" fmla="*/ 0 h 822960"/>
                <a:gd name="connsiteX1" fmla="*/ 70035 w 70035"/>
                <a:gd name="connsiteY1" fmla="*/ 0 h 822960"/>
                <a:gd name="connsiteX2" fmla="*/ 70035 w 70035"/>
                <a:gd name="connsiteY2" fmla="*/ 822960 h 822960"/>
                <a:gd name="connsiteX3" fmla="*/ 0 w 70035"/>
                <a:gd name="connsiteY3" fmla="*/ 822960 h 822960"/>
                <a:gd name="connsiteX4" fmla="*/ 0 w 70035"/>
                <a:gd name="connsiteY4" fmla="*/ 0 h 822960"/>
                <a:gd name="connsiteX0" fmla="*/ 2381 w 70035"/>
                <a:gd name="connsiteY0" fmla="*/ 45244 h 822960"/>
                <a:gd name="connsiteX1" fmla="*/ 70035 w 70035"/>
                <a:gd name="connsiteY1" fmla="*/ 0 h 822960"/>
                <a:gd name="connsiteX2" fmla="*/ 70035 w 70035"/>
                <a:gd name="connsiteY2" fmla="*/ 822960 h 822960"/>
                <a:gd name="connsiteX3" fmla="*/ 0 w 70035"/>
                <a:gd name="connsiteY3" fmla="*/ 822960 h 822960"/>
                <a:gd name="connsiteX4" fmla="*/ 2381 w 70035"/>
                <a:gd name="connsiteY4" fmla="*/ 45244 h 822960"/>
                <a:gd name="connsiteX0" fmla="*/ 230 w 67884"/>
                <a:gd name="connsiteY0" fmla="*/ 45244 h 822960"/>
                <a:gd name="connsiteX1" fmla="*/ 67884 w 67884"/>
                <a:gd name="connsiteY1" fmla="*/ 0 h 822960"/>
                <a:gd name="connsiteX2" fmla="*/ 67884 w 67884"/>
                <a:gd name="connsiteY2" fmla="*/ 822960 h 822960"/>
                <a:gd name="connsiteX3" fmla="*/ 231 w 67884"/>
                <a:gd name="connsiteY3" fmla="*/ 775335 h 822960"/>
                <a:gd name="connsiteX4" fmla="*/ 230 w 67884"/>
                <a:gd name="connsiteY4" fmla="*/ 45244 h 822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4" h="822960">
                  <a:moveTo>
                    <a:pt x="230" y="45244"/>
                  </a:moveTo>
                  <a:lnTo>
                    <a:pt x="67884" y="0"/>
                  </a:lnTo>
                  <a:lnTo>
                    <a:pt x="67884" y="822960"/>
                  </a:lnTo>
                  <a:lnTo>
                    <a:pt x="231" y="775335"/>
                  </a:lnTo>
                  <a:cubicBezTo>
                    <a:pt x="1025" y="516096"/>
                    <a:pt x="-564" y="304483"/>
                    <a:pt x="230" y="45244"/>
                  </a:cubicBezTo>
                  <a:close/>
                </a:path>
              </a:pathLst>
            </a:cu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0" name="Flowchart: Delay 9">
              <a:extLst>
                <a:ext uri="{FF2B5EF4-FFF2-40B4-BE49-F238E27FC236}">
                  <a16:creationId xmlns:a16="http://schemas.microsoft.com/office/drawing/2014/main" id="{2FCF2102-531B-4A6A-B9FC-F914D4BD176D}"/>
                </a:ext>
              </a:extLst>
            </p:cNvPr>
            <p:cNvSpPr/>
            <p:nvPr/>
          </p:nvSpPr>
          <p:spPr bwMode="gray">
            <a:xfrm>
              <a:off x="425683" y="3229443"/>
              <a:ext cx="457200" cy="457200"/>
            </a:xfrm>
            <a:prstGeom prst="flowChartDelay">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9" name="Freeform 899">
              <a:extLst>
                <a:ext uri="{FF2B5EF4-FFF2-40B4-BE49-F238E27FC236}">
                  <a16:creationId xmlns:a16="http://schemas.microsoft.com/office/drawing/2014/main" id="{F12D0630-6635-4B90-A88A-1FC42207F3E7}"/>
                </a:ext>
              </a:extLst>
            </p:cNvPr>
            <p:cNvSpPr>
              <a:spLocks noChangeAspect="1" noEditPoints="1"/>
            </p:cNvSpPr>
            <p:nvPr/>
          </p:nvSpPr>
          <p:spPr bwMode="auto">
            <a:xfrm>
              <a:off x="469773" y="3275163"/>
              <a:ext cx="365760" cy="36576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dirty="0">
                <a:latin typeface="+mj-lt"/>
              </a:endParaRPr>
            </a:p>
          </p:txBody>
        </p:sp>
      </p:grpSp>
      <p:grpSp>
        <p:nvGrpSpPr>
          <p:cNvPr id="60" name="Group 59">
            <a:extLst>
              <a:ext uri="{FF2B5EF4-FFF2-40B4-BE49-F238E27FC236}">
                <a16:creationId xmlns:a16="http://schemas.microsoft.com/office/drawing/2014/main" id="{7D3D1A9E-A7E4-4B02-B683-A87886B0F28F}"/>
              </a:ext>
            </a:extLst>
          </p:cNvPr>
          <p:cNvGrpSpPr/>
          <p:nvPr/>
        </p:nvGrpSpPr>
        <p:grpSpPr>
          <a:xfrm>
            <a:off x="475307" y="3855336"/>
            <a:ext cx="2907955" cy="713232"/>
            <a:chOff x="424507" y="4050117"/>
            <a:chExt cx="2907955" cy="713232"/>
          </a:xfrm>
        </p:grpSpPr>
        <p:sp>
          <p:nvSpPr>
            <p:cNvPr id="11" name="Rectangle 10">
              <a:extLst>
                <a:ext uri="{FF2B5EF4-FFF2-40B4-BE49-F238E27FC236}">
                  <a16:creationId xmlns:a16="http://schemas.microsoft.com/office/drawing/2014/main" id="{677ECDC5-D9A3-418B-B2A3-D0623EC642FE}"/>
                </a:ext>
              </a:extLst>
            </p:cNvPr>
            <p:cNvSpPr/>
            <p:nvPr/>
          </p:nvSpPr>
          <p:spPr bwMode="gray">
            <a:xfrm>
              <a:off x="495300" y="4050117"/>
              <a:ext cx="2837162" cy="713232"/>
            </a:xfrm>
            <a:prstGeom prst="rect">
              <a:avLst/>
            </a:prstGeom>
            <a:solidFill>
              <a:schemeClr val="bg1">
                <a:lumMod val="95000"/>
              </a:schemeClr>
            </a:solidFill>
            <a:ln w="3175" algn="ctr">
              <a:solidFill>
                <a:schemeClr val="accent5"/>
              </a:solidFill>
              <a:miter lim="800000"/>
              <a:headEnd/>
              <a:tailEnd/>
            </a:ln>
          </p:spPr>
          <p:txBody>
            <a:bodyPr wrap="square" lIns="457200" tIns="91440" rIns="91440" bIns="91440" rtlCol="0" anchor="ctr"/>
            <a:lstStyle/>
            <a:p>
              <a:r>
                <a:rPr lang="en-US" sz="1400" b="1" dirty="0"/>
                <a:t>Maximize development impact</a:t>
              </a:r>
            </a:p>
          </p:txBody>
        </p:sp>
        <p:sp>
          <p:nvSpPr>
            <p:cNvPr id="12" name="Rectangle 17">
              <a:extLst>
                <a:ext uri="{FF2B5EF4-FFF2-40B4-BE49-F238E27FC236}">
                  <a16:creationId xmlns:a16="http://schemas.microsoft.com/office/drawing/2014/main" id="{91D176D8-28C0-4EAC-A479-4B6FA9B6CDC3}"/>
                </a:ext>
              </a:extLst>
            </p:cNvPr>
            <p:cNvSpPr/>
            <p:nvPr/>
          </p:nvSpPr>
          <p:spPr bwMode="gray">
            <a:xfrm>
              <a:off x="424507" y="4132413"/>
              <a:ext cx="74673" cy="548640"/>
            </a:xfrm>
            <a:custGeom>
              <a:avLst/>
              <a:gdLst>
                <a:gd name="connsiteX0" fmla="*/ 0 w 70035"/>
                <a:gd name="connsiteY0" fmla="*/ 0 h 822960"/>
                <a:gd name="connsiteX1" fmla="*/ 70035 w 70035"/>
                <a:gd name="connsiteY1" fmla="*/ 0 h 822960"/>
                <a:gd name="connsiteX2" fmla="*/ 70035 w 70035"/>
                <a:gd name="connsiteY2" fmla="*/ 822960 h 822960"/>
                <a:gd name="connsiteX3" fmla="*/ 0 w 70035"/>
                <a:gd name="connsiteY3" fmla="*/ 822960 h 822960"/>
                <a:gd name="connsiteX4" fmla="*/ 0 w 70035"/>
                <a:gd name="connsiteY4" fmla="*/ 0 h 822960"/>
                <a:gd name="connsiteX0" fmla="*/ 2381 w 70035"/>
                <a:gd name="connsiteY0" fmla="*/ 45244 h 822960"/>
                <a:gd name="connsiteX1" fmla="*/ 70035 w 70035"/>
                <a:gd name="connsiteY1" fmla="*/ 0 h 822960"/>
                <a:gd name="connsiteX2" fmla="*/ 70035 w 70035"/>
                <a:gd name="connsiteY2" fmla="*/ 822960 h 822960"/>
                <a:gd name="connsiteX3" fmla="*/ 0 w 70035"/>
                <a:gd name="connsiteY3" fmla="*/ 822960 h 822960"/>
                <a:gd name="connsiteX4" fmla="*/ 2381 w 70035"/>
                <a:gd name="connsiteY4" fmla="*/ 45244 h 822960"/>
                <a:gd name="connsiteX0" fmla="*/ 230 w 67884"/>
                <a:gd name="connsiteY0" fmla="*/ 45244 h 822960"/>
                <a:gd name="connsiteX1" fmla="*/ 67884 w 67884"/>
                <a:gd name="connsiteY1" fmla="*/ 0 h 822960"/>
                <a:gd name="connsiteX2" fmla="*/ 67884 w 67884"/>
                <a:gd name="connsiteY2" fmla="*/ 822960 h 822960"/>
                <a:gd name="connsiteX3" fmla="*/ 231 w 67884"/>
                <a:gd name="connsiteY3" fmla="*/ 775335 h 822960"/>
                <a:gd name="connsiteX4" fmla="*/ 230 w 67884"/>
                <a:gd name="connsiteY4" fmla="*/ 45244 h 822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4" h="822960">
                  <a:moveTo>
                    <a:pt x="230" y="45244"/>
                  </a:moveTo>
                  <a:lnTo>
                    <a:pt x="67884" y="0"/>
                  </a:lnTo>
                  <a:lnTo>
                    <a:pt x="67884" y="822960"/>
                  </a:lnTo>
                  <a:lnTo>
                    <a:pt x="231" y="775335"/>
                  </a:lnTo>
                  <a:cubicBezTo>
                    <a:pt x="1025" y="516096"/>
                    <a:pt x="-564" y="304483"/>
                    <a:pt x="230" y="45244"/>
                  </a:cubicBezTo>
                  <a:close/>
                </a:path>
              </a:pathLst>
            </a:cu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13" name="Flowchart: Delay 12">
              <a:extLst>
                <a:ext uri="{FF2B5EF4-FFF2-40B4-BE49-F238E27FC236}">
                  <a16:creationId xmlns:a16="http://schemas.microsoft.com/office/drawing/2014/main" id="{FE9D06CA-511F-4DC6-BE9B-3A11CEB7AD70}"/>
                </a:ext>
              </a:extLst>
            </p:cNvPr>
            <p:cNvSpPr/>
            <p:nvPr/>
          </p:nvSpPr>
          <p:spPr bwMode="gray">
            <a:xfrm>
              <a:off x="425421" y="4178133"/>
              <a:ext cx="457200" cy="457200"/>
            </a:xfrm>
            <a:prstGeom prst="flowChartDelay">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51" name="Freeform 430">
              <a:extLst>
                <a:ext uri="{FF2B5EF4-FFF2-40B4-BE49-F238E27FC236}">
                  <a16:creationId xmlns:a16="http://schemas.microsoft.com/office/drawing/2014/main" id="{727C0594-F492-41FD-85BE-D0AD6A1F57DE}"/>
                </a:ext>
              </a:extLst>
            </p:cNvPr>
            <p:cNvSpPr>
              <a:spLocks noChangeAspect="1" noEditPoints="1"/>
            </p:cNvSpPr>
            <p:nvPr/>
          </p:nvSpPr>
          <p:spPr bwMode="auto">
            <a:xfrm>
              <a:off x="469183" y="4223853"/>
              <a:ext cx="365760" cy="365760"/>
            </a:xfrm>
            <a:custGeom>
              <a:avLst/>
              <a:gdLst>
                <a:gd name="T0" fmla="*/ 235 w 512"/>
                <a:gd name="T1" fmla="*/ 139 h 512"/>
                <a:gd name="T2" fmla="*/ 256 w 512"/>
                <a:gd name="T3" fmla="*/ 118 h 512"/>
                <a:gd name="T4" fmla="*/ 277 w 512"/>
                <a:gd name="T5" fmla="*/ 139 h 512"/>
                <a:gd name="T6" fmla="*/ 256 w 512"/>
                <a:gd name="T7" fmla="*/ 160 h 512"/>
                <a:gd name="T8" fmla="*/ 235 w 512"/>
                <a:gd name="T9" fmla="*/ 139 h 512"/>
                <a:gd name="T10" fmla="*/ 267 w 512"/>
                <a:gd name="T11" fmla="*/ 363 h 512"/>
                <a:gd name="T12" fmla="*/ 267 w 512"/>
                <a:gd name="T13" fmla="*/ 224 h 512"/>
                <a:gd name="T14" fmla="*/ 213 w 512"/>
                <a:gd name="T15" fmla="*/ 224 h 512"/>
                <a:gd name="T16" fmla="*/ 213 w 512"/>
                <a:gd name="T17" fmla="*/ 246 h 512"/>
                <a:gd name="T18" fmla="*/ 235 w 512"/>
                <a:gd name="T19" fmla="*/ 246 h 512"/>
                <a:gd name="T20" fmla="*/ 245 w 512"/>
                <a:gd name="T21" fmla="*/ 256 h 512"/>
                <a:gd name="T22" fmla="*/ 245 w 512"/>
                <a:gd name="T23" fmla="*/ 363 h 512"/>
                <a:gd name="T24" fmla="*/ 235 w 512"/>
                <a:gd name="T25" fmla="*/ 374 h 512"/>
                <a:gd name="T26" fmla="*/ 203 w 512"/>
                <a:gd name="T27" fmla="*/ 374 h 512"/>
                <a:gd name="T28" fmla="*/ 203 w 512"/>
                <a:gd name="T29" fmla="*/ 395 h 512"/>
                <a:gd name="T30" fmla="*/ 309 w 512"/>
                <a:gd name="T31" fmla="*/ 395 h 512"/>
                <a:gd name="T32" fmla="*/ 309 w 512"/>
                <a:gd name="T33" fmla="*/ 374 h 512"/>
                <a:gd name="T34" fmla="*/ 277 w 512"/>
                <a:gd name="T35" fmla="*/ 374 h 512"/>
                <a:gd name="T36" fmla="*/ 267 w 512"/>
                <a:gd name="T37" fmla="*/ 36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213 w 512"/>
                <a:gd name="T49" fmla="*/ 139 h 512"/>
                <a:gd name="T50" fmla="*/ 256 w 512"/>
                <a:gd name="T51" fmla="*/ 182 h 512"/>
                <a:gd name="T52" fmla="*/ 299 w 512"/>
                <a:gd name="T53" fmla="*/ 139 h 512"/>
                <a:gd name="T54" fmla="*/ 256 w 512"/>
                <a:gd name="T55" fmla="*/ 96 h 512"/>
                <a:gd name="T56" fmla="*/ 213 w 512"/>
                <a:gd name="T57" fmla="*/ 139 h 512"/>
                <a:gd name="T58" fmla="*/ 331 w 512"/>
                <a:gd name="T59" fmla="*/ 363 h 512"/>
                <a:gd name="T60" fmla="*/ 320 w 512"/>
                <a:gd name="T61" fmla="*/ 352 h 512"/>
                <a:gd name="T62" fmla="*/ 288 w 512"/>
                <a:gd name="T63" fmla="*/ 352 h 512"/>
                <a:gd name="T64" fmla="*/ 288 w 512"/>
                <a:gd name="T65" fmla="*/ 214 h 512"/>
                <a:gd name="T66" fmla="*/ 277 w 512"/>
                <a:gd name="T67" fmla="*/ 203 h 512"/>
                <a:gd name="T68" fmla="*/ 203 w 512"/>
                <a:gd name="T69" fmla="*/ 203 h 512"/>
                <a:gd name="T70" fmla="*/ 192 w 512"/>
                <a:gd name="T71" fmla="*/ 214 h 512"/>
                <a:gd name="T72" fmla="*/ 192 w 512"/>
                <a:gd name="T73" fmla="*/ 256 h 512"/>
                <a:gd name="T74" fmla="*/ 203 w 512"/>
                <a:gd name="T75" fmla="*/ 267 h 512"/>
                <a:gd name="T76" fmla="*/ 224 w 512"/>
                <a:gd name="T77" fmla="*/ 267 h 512"/>
                <a:gd name="T78" fmla="*/ 224 w 512"/>
                <a:gd name="T79" fmla="*/ 352 h 512"/>
                <a:gd name="T80" fmla="*/ 192 w 512"/>
                <a:gd name="T81" fmla="*/ 352 h 512"/>
                <a:gd name="T82" fmla="*/ 181 w 512"/>
                <a:gd name="T83" fmla="*/ 363 h 512"/>
                <a:gd name="T84" fmla="*/ 181 w 512"/>
                <a:gd name="T85" fmla="*/ 406 h 512"/>
                <a:gd name="T86" fmla="*/ 192 w 512"/>
                <a:gd name="T87" fmla="*/ 416 h 512"/>
                <a:gd name="T88" fmla="*/ 320 w 512"/>
                <a:gd name="T89" fmla="*/ 416 h 512"/>
                <a:gd name="T90" fmla="*/ 331 w 512"/>
                <a:gd name="T91" fmla="*/ 406 h 512"/>
                <a:gd name="T92" fmla="*/ 331 w 512"/>
                <a:gd name="T93" fmla="*/ 3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2" h="512">
                  <a:moveTo>
                    <a:pt x="235" y="139"/>
                  </a:moveTo>
                  <a:cubicBezTo>
                    <a:pt x="235" y="127"/>
                    <a:pt x="244" y="118"/>
                    <a:pt x="256" y="118"/>
                  </a:cubicBezTo>
                  <a:cubicBezTo>
                    <a:pt x="268" y="118"/>
                    <a:pt x="277" y="127"/>
                    <a:pt x="277" y="139"/>
                  </a:cubicBezTo>
                  <a:cubicBezTo>
                    <a:pt x="277" y="151"/>
                    <a:pt x="268" y="160"/>
                    <a:pt x="256" y="160"/>
                  </a:cubicBezTo>
                  <a:cubicBezTo>
                    <a:pt x="244" y="160"/>
                    <a:pt x="235" y="151"/>
                    <a:pt x="235" y="139"/>
                  </a:cubicBezTo>
                  <a:close/>
                  <a:moveTo>
                    <a:pt x="267" y="363"/>
                  </a:moveTo>
                  <a:cubicBezTo>
                    <a:pt x="267" y="224"/>
                    <a:pt x="267" y="224"/>
                    <a:pt x="267" y="224"/>
                  </a:cubicBezTo>
                  <a:cubicBezTo>
                    <a:pt x="213" y="224"/>
                    <a:pt x="213" y="224"/>
                    <a:pt x="213" y="224"/>
                  </a:cubicBezTo>
                  <a:cubicBezTo>
                    <a:pt x="213" y="246"/>
                    <a:pt x="213" y="246"/>
                    <a:pt x="213" y="246"/>
                  </a:cubicBezTo>
                  <a:cubicBezTo>
                    <a:pt x="235" y="246"/>
                    <a:pt x="235" y="246"/>
                    <a:pt x="235" y="246"/>
                  </a:cubicBezTo>
                  <a:cubicBezTo>
                    <a:pt x="241" y="246"/>
                    <a:pt x="245" y="250"/>
                    <a:pt x="245" y="256"/>
                  </a:cubicBezTo>
                  <a:cubicBezTo>
                    <a:pt x="245" y="363"/>
                    <a:pt x="245" y="363"/>
                    <a:pt x="245" y="363"/>
                  </a:cubicBezTo>
                  <a:cubicBezTo>
                    <a:pt x="245" y="369"/>
                    <a:pt x="241" y="374"/>
                    <a:pt x="235" y="374"/>
                  </a:cubicBezTo>
                  <a:cubicBezTo>
                    <a:pt x="203" y="374"/>
                    <a:pt x="203" y="374"/>
                    <a:pt x="203" y="374"/>
                  </a:cubicBezTo>
                  <a:cubicBezTo>
                    <a:pt x="203" y="395"/>
                    <a:pt x="203" y="395"/>
                    <a:pt x="203" y="395"/>
                  </a:cubicBezTo>
                  <a:cubicBezTo>
                    <a:pt x="309" y="395"/>
                    <a:pt x="309" y="395"/>
                    <a:pt x="309" y="395"/>
                  </a:cubicBezTo>
                  <a:cubicBezTo>
                    <a:pt x="309" y="374"/>
                    <a:pt x="309" y="374"/>
                    <a:pt x="309" y="374"/>
                  </a:cubicBezTo>
                  <a:cubicBezTo>
                    <a:pt x="277" y="374"/>
                    <a:pt x="277" y="374"/>
                    <a:pt x="277" y="374"/>
                  </a:cubicBezTo>
                  <a:cubicBezTo>
                    <a:pt x="271" y="374"/>
                    <a:pt x="267" y="369"/>
                    <a:pt x="267" y="363"/>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213" y="139"/>
                  </a:moveTo>
                  <a:cubicBezTo>
                    <a:pt x="213" y="163"/>
                    <a:pt x="232" y="182"/>
                    <a:pt x="256" y="182"/>
                  </a:cubicBezTo>
                  <a:cubicBezTo>
                    <a:pt x="280" y="182"/>
                    <a:pt x="299" y="163"/>
                    <a:pt x="299" y="139"/>
                  </a:cubicBezTo>
                  <a:cubicBezTo>
                    <a:pt x="299" y="115"/>
                    <a:pt x="280" y="96"/>
                    <a:pt x="256" y="96"/>
                  </a:cubicBezTo>
                  <a:cubicBezTo>
                    <a:pt x="232" y="96"/>
                    <a:pt x="213" y="115"/>
                    <a:pt x="213" y="139"/>
                  </a:cubicBezTo>
                  <a:close/>
                  <a:moveTo>
                    <a:pt x="331" y="363"/>
                  </a:moveTo>
                  <a:cubicBezTo>
                    <a:pt x="331" y="357"/>
                    <a:pt x="326" y="352"/>
                    <a:pt x="320" y="352"/>
                  </a:cubicBezTo>
                  <a:cubicBezTo>
                    <a:pt x="288" y="352"/>
                    <a:pt x="288" y="352"/>
                    <a:pt x="288" y="352"/>
                  </a:cubicBezTo>
                  <a:cubicBezTo>
                    <a:pt x="288" y="214"/>
                    <a:pt x="288" y="214"/>
                    <a:pt x="288" y="214"/>
                  </a:cubicBezTo>
                  <a:cubicBezTo>
                    <a:pt x="288" y="208"/>
                    <a:pt x="283" y="203"/>
                    <a:pt x="277" y="203"/>
                  </a:cubicBezTo>
                  <a:cubicBezTo>
                    <a:pt x="203" y="203"/>
                    <a:pt x="203" y="203"/>
                    <a:pt x="203" y="203"/>
                  </a:cubicBezTo>
                  <a:cubicBezTo>
                    <a:pt x="197" y="203"/>
                    <a:pt x="192" y="208"/>
                    <a:pt x="192" y="214"/>
                  </a:cubicBezTo>
                  <a:cubicBezTo>
                    <a:pt x="192" y="256"/>
                    <a:pt x="192" y="256"/>
                    <a:pt x="192" y="256"/>
                  </a:cubicBezTo>
                  <a:cubicBezTo>
                    <a:pt x="192" y="262"/>
                    <a:pt x="197" y="267"/>
                    <a:pt x="203" y="267"/>
                  </a:cubicBezTo>
                  <a:cubicBezTo>
                    <a:pt x="224" y="267"/>
                    <a:pt x="224" y="267"/>
                    <a:pt x="224" y="267"/>
                  </a:cubicBezTo>
                  <a:cubicBezTo>
                    <a:pt x="224" y="352"/>
                    <a:pt x="224" y="352"/>
                    <a:pt x="224" y="352"/>
                  </a:cubicBezTo>
                  <a:cubicBezTo>
                    <a:pt x="192" y="352"/>
                    <a:pt x="192" y="352"/>
                    <a:pt x="192" y="352"/>
                  </a:cubicBezTo>
                  <a:cubicBezTo>
                    <a:pt x="186" y="352"/>
                    <a:pt x="181" y="357"/>
                    <a:pt x="181" y="363"/>
                  </a:cubicBezTo>
                  <a:cubicBezTo>
                    <a:pt x="181" y="406"/>
                    <a:pt x="181" y="406"/>
                    <a:pt x="181" y="406"/>
                  </a:cubicBezTo>
                  <a:cubicBezTo>
                    <a:pt x="181" y="412"/>
                    <a:pt x="186" y="416"/>
                    <a:pt x="192" y="416"/>
                  </a:cubicBezTo>
                  <a:cubicBezTo>
                    <a:pt x="320" y="416"/>
                    <a:pt x="320" y="416"/>
                    <a:pt x="320" y="416"/>
                  </a:cubicBezTo>
                  <a:cubicBezTo>
                    <a:pt x="326" y="416"/>
                    <a:pt x="331" y="412"/>
                    <a:pt x="331" y="406"/>
                  </a:cubicBezTo>
                  <a:lnTo>
                    <a:pt x="331" y="36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400"/>
              <a:endParaRPr lang="en-GB" sz="1400" dirty="0">
                <a:solidFill>
                  <a:prstClr val="black"/>
                </a:solidFill>
                <a:latin typeface="Calibri"/>
              </a:endParaRPr>
            </a:p>
          </p:txBody>
        </p:sp>
      </p:grpSp>
      <p:grpSp>
        <p:nvGrpSpPr>
          <p:cNvPr id="62" name="Group 61">
            <a:extLst>
              <a:ext uri="{FF2B5EF4-FFF2-40B4-BE49-F238E27FC236}">
                <a16:creationId xmlns:a16="http://schemas.microsoft.com/office/drawing/2014/main" id="{BACC35EF-A8DC-4FDA-A3D1-E8381608F7C7}"/>
              </a:ext>
            </a:extLst>
          </p:cNvPr>
          <p:cNvGrpSpPr/>
          <p:nvPr/>
        </p:nvGrpSpPr>
        <p:grpSpPr>
          <a:xfrm>
            <a:off x="475307" y="5538303"/>
            <a:ext cx="2907959" cy="708660"/>
            <a:chOff x="424507" y="6004647"/>
            <a:chExt cx="2907959" cy="708660"/>
          </a:xfrm>
        </p:grpSpPr>
        <p:sp>
          <p:nvSpPr>
            <p:cNvPr id="17" name="Rectangle 16">
              <a:extLst>
                <a:ext uri="{FF2B5EF4-FFF2-40B4-BE49-F238E27FC236}">
                  <a16:creationId xmlns:a16="http://schemas.microsoft.com/office/drawing/2014/main" id="{E11E9F5E-603A-4ADC-AC45-9CC077208A6E}"/>
                </a:ext>
              </a:extLst>
            </p:cNvPr>
            <p:cNvSpPr/>
            <p:nvPr/>
          </p:nvSpPr>
          <p:spPr bwMode="gray">
            <a:xfrm>
              <a:off x="495299" y="6004647"/>
              <a:ext cx="2837167" cy="708660"/>
            </a:xfrm>
            <a:prstGeom prst="rect">
              <a:avLst/>
            </a:prstGeom>
            <a:solidFill>
              <a:schemeClr val="bg1">
                <a:lumMod val="95000"/>
              </a:schemeClr>
            </a:solidFill>
            <a:ln w="3175" algn="ctr">
              <a:solidFill>
                <a:schemeClr val="accent5"/>
              </a:solidFill>
              <a:miter lim="800000"/>
              <a:headEnd/>
              <a:tailEnd/>
            </a:ln>
          </p:spPr>
          <p:txBody>
            <a:bodyPr wrap="square" lIns="457200" tIns="91440" rIns="91440" bIns="91440" rtlCol="0" anchor="ctr"/>
            <a:lstStyle/>
            <a:p>
              <a:r>
                <a:rPr lang="en-US" sz="1400" b="1" dirty="0"/>
                <a:t>Design output and outcome based new schemes/ </a:t>
              </a:r>
              <a:r>
                <a:rPr lang="en-US" sz="1400" b="1" dirty="0" err="1"/>
                <a:t>programmes</a:t>
              </a:r>
              <a:r>
                <a:rPr lang="en-US" sz="1400" b="1" dirty="0"/>
                <a:t> in the near future </a:t>
              </a:r>
            </a:p>
          </p:txBody>
        </p:sp>
        <p:sp>
          <p:nvSpPr>
            <p:cNvPr id="18" name="Rectangle 17">
              <a:extLst>
                <a:ext uri="{FF2B5EF4-FFF2-40B4-BE49-F238E27FC236}">
                  <a16:creationId xmlns:a16="http://schemas.microsoft.com/office/drawing/2014/main" id="{05A0DFE3-26B2-474D-9C11-03ED7E9A3887}"/>
                </a:ext>
              </a:extLst>
            </p:cNvPr>
            <p:cNvSpPr/>
            <p:nvPr/>
          </p:nvSpPr>
          <p:spPr bwMode="gray">
            <a:xfrm>
              <a:off x="424507" y="6084657"/>
              <a:ext cx="74673" cy="548640"/>
            </a:xfrm>
            <a:custGeom>
              <a:avLst/>
              <a:gdLst>
                <a:gd name="connsiteX0" fmla="*/ 0 w 70035"/>
                <a:gd name="connsiteY0" fmla="*/ 0 h 822960"/>
                <a:gd name="connsiteX1" fmla="*/ 70035 w 70035"/>
                <a:gd name="connsiteY1" fmla="*/ 0 h 822960"/>
                <a:gd name="connsiteX2" fmla="*/ 70035 w 70035"/>
                <a:gd name="connsiteY2" fmla="*/ 822960 h 822960"/>
                <a:gd name="connsiteX3" fmla="*/ 0 w 70035"/>
                <a:gd name="connsiteY3" fmla="*/ 822960 h 822960"/>
                <a:gd name="connsiteX4" fmla="*/ 0 w 70035"/>
                <a:gd name="connsiteY4" fmla="*/ 0 h 822960"/>
                <a:gd name="connsiteX0" fmla="*/ 2381 w 70035"/>
                <a:gd name="connsiteY0" fmla="*/ 45244 h 822960"/>
                <a:gd name="connsiteX1" fmla="*/ 70035 w 70035"/>
                <a:gd name="connsiteY1" fmla="*/ 0 h 822960"/>
                <a:gd name="connsiteX2" fmla="*/ 70035 w 70035"/>
                <a:gd name="connsiteY2" fmla="*/ 822960 h 822960"/>
                <a:gd name="connsiteX3" fmla="*/ 0 w 70035"/>
                <a:gd name="connsiteY3" fmla="*/ 822960 h 822960"/>
                <a:gd name="connsiteX4" fmla="*/ 2381 w 70035"/>
                <a:gd name="connsiteY4" fmla="*/ 45244 h 822960"/>
                <a:gd name="connsiteX0" fmla="*/ 230 w 67884"/>
                <a:gd name="connsiteY0" fmla="*/ 45244 h 822960"/>
                <a:gd name="connsiteX1" fmla="*/ 67884 w 67884"/>
                <a:gd name="connsiteY1" fmla="*/ 0 h 822960"/>
                <a:gd name="connsiteX2" fmla="*/ 67884 w 67884"/>
                <a:gd name="connsiteY2" fmla="*/ 822960 h 822960"/>
                <a:gd name="connsiteX3" fmla="*/ 231 w 67884"/>
                <a:gd name="connsiteY3" fmla="*/ 775335 h 822960"/>
                <a:gd name="connsiteX4" fmla="*/ 230 w 67884"/>
                <a:gd name="connsiteY4" fmla="*/ 45244 h 822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4" h="822960">
                  <a:moveTo>
                    <a:pt x="230" y="45244"/>
                  </a:moveTo>
                  <a:lnTo>
                    <a:pt x="67884" y="0"/>
                  </a:lnTo>
                  <a:lnTo>
                    <a:pt x="67884" y="822960"/>
                  </a:lnTo>
                  <a:lnTo>
                    <a:pt x="231" y="775335"/>
                  </a:lnTo>
                  <a:cubicBezTo>
                    <a:pt x="1025" y="516096"/>
                    <a:pt x="-564" y="304483"/>
                    <a:pt x="230" y="45244"/>
                  </a:cubicBezTo>
                  <a:close/>
                </a:path>
              </a:pathLst>
            </a:cu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19" name="Flowchart: Delay 18">
              <a:extLst>
                <a:ext uri="{FF2B5EF4-FFF2-40B4-BE49-F238E27FC236}">
                  <a16:creationId xmlns:a16="http://schemas.microsoft.com/office/drawing/2014/main" id="{9F01CCB5-D6B3-43AF-8757-8BE66D23C383}"/>
                </a:ext>
              </a:extLst>
            </p:cNvPr>
            <p:cNvSpPr/>
            <p:nvPr/>
          </p:nvSpPr>
          <p:spPr bwMode="gray">
            <a:xfrm>
              <a:off x="425683" y="6130377"/>
              <a:ext cx="457200" cy="457200"/>
            </a:xfrm>
            <a:prstGeom prst="flowChartDelay">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52" name="Freeform 5">
              <a:extLst>
                <a:ext uri="{FF2B5EF4-FFF2-40B4-BE49-F238E27FC236}">
                  <a16:creationId xmlns:a16="http://schemas.microsoft.com/office/drawing/2014/main" id="{6448B4BF-DD75-4053-811E-137C378AA878}"/>
                </a:ext>
              </a:extLst>
            </p:cNvPr>
            <p:cNvSpPr>
              <a:spLocks noChangeAspect="1" noEditPoints="1"/>
            </p:cNvSpPr>
            <p:nvPr/>
          </p:nvSpPr>
          <p:spPr bwMode="auto">
            <a:xfrm>
              <a:off x="469340" y="6178955"/>
              <a:ext cx="365760" cy="365760"/>
            </a:xfrm>
            <a:custGeom>
              <a:avLst/>
              <a:gdLst>
                <a:gd name="T0" fmla="*/ 791 w 791"/>
                <a:gd name="T1" fmla="*/ 396 h 792"/>
                <a:gd name="T2" fmla="*/ 0 w 791"/>
                <a:gd name="T3" fmla="*/ 396 h 792"/>
                <a:gd name="T4" fmla="*/ 791 w 791"/>
                <a:gd name="T5" fmla="*/ 396 h 792"/>
                <a:gd name="T6" fmla="*/ 514 w 791"/>
                <a:gd name="T7" fmla="*/ 399 h 792"/>
                <a:gd name="T8" fmla="*/ 482 w 791"/>
                <a:gd name="T9" fmla="*/ 286 h 792"/>
                <a:gd name="T10" fmla="*/ 376 w 791"/>
                <a:gd name="T11" fmla="*/ 252 h 792"/>
                <a:gd name="T12" fmla="*/ 238 w 791"/>
                <a:gd name="T13" fmla="*/ 176 h 792"/>
                <a:gd name="T14" fmla="*/ 352 w 791"/>
                <a:gd name="T15" fmla="*/ 528 h 792"/>
                <a:gd name="T16" fmla="*/ 227 w 791"/>
                <a:gd name="T17" fmla="*/ 560 h 792"/>
                <a:gd name="T18" fmla="*/ 207 w 791"/>
                <a:gd name="T19" fmla="*/ 165 h 792"/>
                <a:gd name="T20" fmla="*/ 410 w 791"/>
                <a:gd name="T21" fmla="*/ 145 h 792"/>
                <a:gd name="T22" fmla="*/ 514 w 791"/>
                <a:gd name="T23" fmla="*/ 399 h 792"/>
                <a:gd name="T24" fmla="*/ 455 w 791"/>
                <a:gd name="T25" fmla="*/ 380 h 792"/>
                <a:gd name="T26" fmla="*/ 442 w 791"/>
                <a:gd name="T27" fmla="*/ 394 h 792"/>
                <a:gd name="T28" fmla="*/ 262 w 791"/>
                <a:gd name="T29" fmla="*/ 380 h 792"/>
                <a:gd name="T30" fmla="*/ 442 w 791"/>
                <a:gd name="T31" fmla="*/ 366 h 792"/>
                <a:gd name="T32" fmla="*/ 442 w 791"/>
                <a:gd name="T33" fmla="*/ 338 h 792"/>
                <a:gd name="T34" fmla="*/ 276 w 791"/>
                <a:gd name="T35" fmla="*/ 338 h 792"/>
                <a:gd name="T36" fmla="*/ 276 w 791"/>
                <a:gd name="T37" fmla="*/ 311 h 792"/>
                <a:gd name="T38" fmla="*/ 455 w 791"/>
                <a:gd name="T39" fmla="*/ 325 h 792"/>
                <a:gd name="T40" fmla="*/ 388 w 791"/>
                <a:gd name="T41" fmla="*/ 423 h 792"/>
                <a:gd name="T42" fmla="*/ 367 w 791"/>
                <a:gd name="T43" fmla="*/ 450 h 792"/>
                <a:gd name="T44" fmla="*/ 262 w 791"/>
                <a:gd name="T45" fmla="*/ 437 h 792"/>
                <a:gd name="T46" fmla="*/ 388 w 791"/>
                <a:gd name="T47" fmla="*/ 423 h 792"/>
                <a:gd name="T48" fmla="*/ 276 w 791"/>
                <a:gd name="T49" fmla="*/ 477 h 792"/>
                <a:gd name="T50" fmla="*/ 355 w 791"/>
                <a:gd name="T51" fmla="*/ 477 h 792"/>
                <a:gd name="T52" fmla="*/ 276 w 791"/>
                <a:gd name="T53" fmla="*/ 504 h 792"/>
                <a:gd name="T54" fmla="*/ 276 w 791"/>
                <a:gd name="T55" fmla="*/ 477 h 792"/>
                <a:gd name="T56" fmla="*/ 616 w 791"/>
                <a:gd name="T57" fmla="*/ 657 h 792"/>
                <a:gd name="T58" fmla="*/ 536 w 791"/>
                <a:gd name="T59" fmla="*/ 595 h 792"/>
                <a:gd name="T60" fmla="*/ 470 w 791"/>
                <a:gd name="T61" fmla="*/ 617 h 792"/>
                <a:gd name="T62" fmla="*/ 470 w 791"/>
                <a:gd name="T63" fmla="*/ 404 h 792"/>
                <a:gd name="T64" fmla="*/ 558 w 791"/>
                <a:gd name="T65" fmla="*/ 571 h 792"/>
                <a:gd name="T66" fmla="*/ 616 w 791"/>
                <a:gd name="T67" fmla="*/ 638 h 792"/>
                <a:gd name="T68" fmla="*/ 552 w 791"/>
                <a:gd name="T69" fmla="*/ 513 h 792"/>
                <a:gd name="T70" fmla="*/ 470 w 791"/>
                <a:gd name="T71" fmla="*/ 432 h 792"/>
                <a:gd name="T72" fmla="*/ 470 w 791"/>
                <a:gd name="T73" fmla="*/ 595 h 792"/>
                <a:gd name="T74" fmla="*/ 455 w 791"/>
                <a:gd name="T75" fmla="*/ 494 h 792"/>
                <a:gd name="T76" fmla="*/ 442 w 791"/>
                <a:gd name="T77" fmla="*/ 507 h 792"/>
                <a:gd name="T78" fmla="*/ 411 w 791"/>
                <a:gd name="T79" fmla="*/ 480 h 792"/>
                <a:gd name="T80" fmla="*/ 455 w 791"/>
                <a:gd name="T81" fmla="*/ 494 h 792"/>
                <a:gd name="T82" fmla="*/ 514 w 791"/>
                <a:gd name="T83" fmla="*/ 542 h 792"/>
                <a:gd name="T84" fmla="*/ 423 w 791"/>
                <a:gd name="T85" fmla="*/ 563 h 792"/>
                <a:gd name="T86" fmla="*/ 482 w 791"/>
                <a:gd name="T87" fmla="*/ 531 h 792"/>
                <a:gd name="T88" fmla="*/ 514 w 791"/>
                <a:gd name="T89" fmla="*/ 462 h 792"/>
                <a:gd name="T90" fmla="*/ 514 w 791"/>
                <a:gd name="T91" fmla="*/ 542 h 792"/>
                <a:gd name="T92" fmla="*/ 410 w 791"/>
                <a:gd name="T93" fmla="*/ 261 h 792"/>
                <a:gd name="T94" fmla="*/ 403 w 791"/>
                <a:gd name="T95" fmla="*/ 185 h 792"/>
                <a:gd name="T96" fmla="*/ 410 w 791"/>
                <a:gd name="T97" fmla="*/ 26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1" h="792">
                  <a:moveTo>
                    <a:pt x="791" y="396"/>
                  </a:moveTo>
                  <a:lnTo>
                    <a:pt x="791" y="396"/>
                  </a:lnTo>
                  <a:cubicBezTo>
                    <a:pt x="791" y="178"/>
                    <a:pt x="614" y="0"/>
                    <a:pt x="395" y="0"/>
                  </a:cubicBezTo>
                  <a:cubicBezTo>
                    <a:pt x="177" y="0"/>
                    <a:pt x="0" y="178"/>
                    <a:pt x="0" y="396"/>
                  </a:cubicBezTo>
                  <a:cubicBezTo>
                    <a:pt x="0" y="615"/>
                    <a:pt x="177" y="792"/>
                    <a:pt x="395" y="792"/>
                  </a:cubicBezTo>
                  <a:cubicBezTo>
                    <a:pt x="614" y="792"/>
                    <a:pt x="791" y="615"/>
                    <a:pt x="791" y="396"/>
                  </a:cubicBezTo>
                  <a:close/>
                  <a:moveTo>
                    <a:pt x="514" y="399"/>
                  </a:moveTo>
                  <a:lnTo>
                    <a:pt x="514" y="399"/>
                  </a:lnTo>
                  <a:cubicBezTo>
                    <a:pt x="504" y="395"/>
                    <a:pt x="493" y="393"/>
                    <a:pt x="482" y="392"/>
                  </a:cubicBezTo>
                  <a:lnTo>
                    <a:pt x="482" y="286"/>
                  </a:lnTo>
                  <a:lnTo>
                    <a:pt x="410" y="286"/>
                  </a:lnTo>
                  <a:cubicBezTo>
                    <a:pt x="391" y="286"/>
                    <a:pt x="376" y="270"/>
                    <a:pt x="376" y="252"/>
                  </a:cubicBezTo>
                  <a:lnTo>
                    <a:pt x="376" y="176"/>
                  </a:lnTo>
                  <a:lnTo>
                    <a:pt x="238" y="176"/>
                  </a:lnTo>
                  <a:lnTo>
                    <a:pt x="238" y="528"/>
                  </a:lnTo>
                  <a:lnTo>
                    <a:pt x="352" y="528"/>
                  </a:lnTo>
                  <a:cubicBezTo>
                    <a:pt x="353" y="540"/>
                    <a:pt x="356" y="550"/>
                    <a:pt x="361" y="560"/>
                  </a:cubicBezTo>
                  <a:lnTo>
                    <a:pt x="227" y="560"/>
                  </a:lnTo>
                  <a:cubicBezTo>
                    <a:pt x="216" y="560"/>
                    <a:pt x="207" y="551"/>
                    <a:pt x="207" y="540"/>
                  </a:cubicBezTo>
                  <a:lnTo>
                    <a:pt x="207" y="165"/>
                  </a:lnTo>
                  <a:cubicBezTo>
                    <a:pt x="207" y="154"/>
                    <a:pt x="216" y="145"/>
                    <a:pt x="227" y="145"/>
                  </a:cubicBezTo>
                  <a:lnTo>
                    <a:pt x="410" y="145"/>
                  </a:lnTo>
                  <a:lnTo>
                    <a:pt x="514" y="249"/>
                  </a:lnTo>
                  <a:lnTo>
                    <a:pt x="514" y="399"/>
                  </a:lnTo>
                  <a:lnTo>
                    <a:pt x="514" y="399"/>
                  </a:lnTo>
                  <a:close/>
                  <a:moveTo>
                    <a:pt x="455" y="380"/>
                  </a:moveTo>
                  <a:lnTo>
                    <a:pt x="455" y="380"/>
                  </a:lnTo>
                  <a:cubicBezTo>
                    <a:pt x="455" y="387"/>
                    <a:pt x="449" y="394"/>
                    <a:pt x="442" y="394"/>
                  </a:cubicBezTo>
                  <a:lnTo>
                    <a:pt x="276" y="394"/>
                  </a:lnTo>
                  <a:cubicBezTo>
                    <a:pt x="268" y="394"/>
                    <a:pt x="262" y="387"/>
                    <a:pt x="262" y="380"/>
                  </a:cubicBezTo>
                  <a:cubicBezTo>
                    <a:pt x="262" y="372"/>
                    <a:pt x="268" y="366"/>
                    <a:pt x="276" y="366"/>
                  </a:cubicBezTo>
                  <a:lnTo>
                    <a:pt x="442" y="366"/>
                  </a:lnTo>
                  <a:cubicBezTo>
                    <a:pt x="449" y="366"/>
                    <a:pt x="455" y="372"/>
                    <a:pt x="455" y="380"/>
                  </a:cubicBezTo>
                  <a:close/>
                  <a:moveTo>
                    <a:pt x="442" y="338"/>
                  </a:moveTo>
                  <a:lnTo>
                    <a:pt x="442" y="338"/>
                  </a:lnTo>
                  <a:lnTo>
                    <a:pt x="276" y="338"/>
                  </a:lnTo>
                  <a:cubicBezTo>
                    <a:pt x="268" y="338"/>
                    <a:pt x="262" y="332"/>
                    <a:pt x="262" y="325"/>
                  </a:cubicBezTo>
                  <a:cubicBezTo>
                    <a:pt x="262" y="317"/>
                    <a:pt x="268" y="311"/>
                    <a:pt x="276" y="311"/>
                  </a:cubicBezTo>
                  <a:lnTo>
                    <a:pt x="442" y="311"/>
                  </a:lnTo>
                  <a:cubicBezTo>
                    <a:pt x="449" y="311"/>
                    <a:pt x="455" y="317"/>
                    <a:pt x="455" y="325"/>
                  </a:cubicBezTo>
                  <a:cubicBezTo>
                    <a:pt x="455" y="332"/>
                    <a:pt x="449" y="338"/>
                    <a:pt x="442" y="338"/>
                  </a:cubicBezTo>
                  <a:close/>
                  <a:moveTo>
                    <a:pt x="388" y="423"/>
                  </a:moveTo>
                  <a:lnTo>
                    <a:pt x="388" y="423"/>
                  </a:lnTo>
                  <a:cubicBezTo>
                    <a:pt x="380" y="431"/>
                    <a:pt x="373" y="440"/>
                    <a:pt x="367" y="450"/>
                  </a:cubicBezTo>
                  <a:lnTo>
                    <a:pt x="276" y="450"/>
                  </a:lnTo>
                  <a:cubicBezTo>
                    <a:pt x="268" y="450"/>
                    <a:pt x="262" y="444"/>
                    <a:pt x="262" y="437"/>
                  </a:cubicBezTo>
                  <a:cubicBezTo>
                    <a:pt x="262" y="429"/>
                    <a:pt x="268" y="423"/>
                    <a:pt x="276" y="423"/>
                  </a:cubicBezTo>
                  <a:lnTo>
                    <a:pt x="388" y="423"/>
                  </a:lnTo>
                  <a:lnTo>
                    <a:pt x="388" y="423"/>
                  </a:lnTo>
                  <a:close/>
                  <a:moveTo>
                    <a:pt x="276" y="477"/>
                  </a:moveTo>
                  <a:lnTo>
                    <a:pt x="276" y="477"/>
                  </a:lnTo>
                  <a:lnTo>
                    <a:pt x="355" y="477"/>
                  </a:lnTo>
                  <a:cubicBezTo>
                    <a:pt x="353" y="486"/>
                    <a:pt x="351" y="495"/>
                    <a:pt x="350" y="504"/>
                  </a:cubicBezTo>
                  <a:lnTo>
                    <a:pt x="276" y="504"/>
                  </a:lnTo>
                  <a:cubicBezTo>
                    <a:pt x="268" y="504"/>
                    <a:pt x="262" y="498"/>
                    <a:pt x="262" y="491"/>
                  </a:cubicBezTo>
                  <a:cubicBezTo>
                    <a:pt x="262" y="483"/>
                    <a:pt x="268" y="477"/>
                    <a:pt x="276" y="477"/>
                  </a:cubicBezTo>
                  <a:close/>
                  <a:moveTo>
                    <a:pt x="616" y="657"/>
                  </a:moveTo>
                  <a:lnTo>
                    <a:pt x="616" y="657"/>
                  </a:lnTo>
                  <a:cubicBezTo>
                    <a:pt x="611" y="662"/>
                    <a:pt x="602" y="662"/>
                    <a:pt x="597" y="657"/>
                  </a:cubicBezTo>
                  <a:lnTo>
                    <a:pt x="536" y="595"/>
                  </a:lnTo>
                  <a:lnTo>
                    <a:pt x="531" y="598"/>
                  </a:lnTo>
                  <a:cubicBezTo>
                    <a:pt x="513" y="611"/>
                    <a:pt x="492" y="617"/>
                    <a:pt x="470" y="617"/>
                  </a:cubicBezTo>
                  <a:cubicBezTo>
                    <a:pt x="411" y="617"/>
                    <a:pt x="363" y="570"/>
                    <a:pt x="363" y="511"/>
                  </a:cubicBezTo>
                  <a:cubicBezTo>
                    <a:pt x="363" y="452"/>
                    <a:pt x="411" y="404"/>
                    <a:pt x="470" y="404"/>
                  </a:cubicBezTo>
                  <a:cubicBezTo>
                    <a:pt x="529" y="404"/>
                    <a:pt x="577" y="452"/>
                    <a:pt x="577" y="511"/>
                  </a:cubicBezTo>
                  <a:cubicBezTo>
                    <a:pt x="577" y="532"/>
                    <a:pt x="570" y="553"/>
                    <a:pt x="558" y="571"/>
                  </a:cubicBezTo>
                  <a:lnTo>
                    <a:pt x="555" y="575"/>
                  </a:lnTo>
                  <a:lnTo>
                    <a:pt x="616" y="638"/>
                  </a:lnTo>
                  <a:cubicBezTo>
                    <a:pt x="621" y="643"/>
                    <a:pt x="621" y="652"/>
                    <a:pt x="616" y="657"/>
                  </a:cubicBezTo>
                  <a:close/>
                  <a:moveTo>
                    <a:pt x="552" y="513"/>
                  </a:moveTo>
                  <a:lnTo>
                    <a:pt x="552" y="513"/>
                  </a:lnTo>
                  <a:cubicBezTo>
                    <a:pt x="552" y="468"/>
                    <a:pt x="515" y="432"/>
                    <a:pt x="470" y="432"/>
                  </a:cubicBezTo>
                  <a:cubicBezTo>
                    <a:pt x="425" y="432"/>
                    <a:pt x="388" y="468"/>
                    <a:pt x="388" y="513"/>
                  </a:cubicBezTo>
                  <a:cubicBezTo>
                    <a:pt x="388" y="559"/>
                    <a:pt x="425" y="595"/>
                    <a:pt x="470" y="595"/>
                  </a:cubicBezTo>
                  <a:cubicBezTo>
                    <a:pt x="515" y="595"/>
                    <a:pt x="552" y="559"/>
                    <a:pt x="552" y="513"/>
                  </a:cubicBezTo>
                  <a:close/>
                  <a:moveTo>
                    <a:pt x="455" y="494"/>
                  </a:moveTo>
                  <a:lnTo>
                    <a:pt x="455" y="494"/>
                  </a:lnTo>
                  <a:cubicBezTo>
                    <a:pt x="455" y="501"/>
                    <a:pt x="449" y="507"/>
                    <a:pt x="442" y="507"/>
                  </a:cubicBezTo>
                  <a:lnTo>
                    <a:pt x="403" y="507"/>
                  </a:lnTo>
                  <a:cubicBezTo>
                    <a:pt x="403" y="497"/>
                    <a:pt x="406" y="488"/>
                    <a:pt x="411" y="480"/>
                  </a:cubicBezTo>
                  <a:lnTo>
                    <a:pt x="442" y="480"/>
                  </a:lnTo>
                  <a:cubicBezTo>
                    <a:pt x="449" y="480"/>
                    <a:pt x="455" y="486"/>
                    <a:pt x="455" y="494"/>
                  </a:cubicBezTo>
                  <a:close/>
                  <a:moveTo>
                    <a:pt x="514" y="542"/>
                  </a:moveTo>
                  <a:lnTo>
                    <a:pt x="514" y="542"/>
                  </a:lnTo>
                  <a:cubicBezTo>
                    <a:pt x="514" y="554"/>
                    <a:pt x="505" y="563"/>
                    <a:pt x="494" y="563"/>
                  </a:cubicBezTo>
                  <a:lnTo>
                    <a:pt x="423" y="563"/>
                  </a:lnTo>
                  <a:cubicBezTo>
                    <a:pt x="414" y="554"/>
                    <a:pt x="408" y="543"/>
                    <a:pt x="405" y="531"/>
                  </a:cubicBezTo>
                  <a:lnTo>
                    <a:pt x="482" y="531"/>
                  </a:lnTo>
                  <a:lnTo>
                    <a:pt x="482" y="446"/>
                  </a:lnTo>
                  <a:cubicBezTo>
                    <a:pt x="494" y="449"/>
                    <a:pt x="505" y="454"/>
                    <a:pt x="514" y="462"/>
                  </a:cubicBezTo>
                  <a:lnTo>
                    <a:pt x="514" y="542"/>
                  </a:lnTo>
                  <a:lnTo>
                    <a:pt x="514" y="542"/>
                  </a:lnTo>
                  <a:close/>
                  <a:moveTo>
                    <a:pt x="410" y="261"/>
                  </a:moveTo>
                  <a:lnTo>
                    <a:pt x="410" y="261"/>
                  </a:lnTo>
                  <a:lnTo>
                    <a:pt x="479" y="261"/>
                  </a:lnTo>
                  <a:lnTo>
                    <a:pt x="403" y="185"/>
                  </a:lnTo>
                  <a:lnTo>
                    <a:pt x="403" y="254"/>
                  </a:lnTo>
                  <a:cubicBezTo>
                    <a:pt x="403" y="258"/>
                    <a:pt x="406" y="261"/>
                    <a:pt x="410" y="2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latin typeface="+mj-lt"/>
              </a:endParaRPr>
            </a:p>
          </p:txBody>
        </p:sp>
      </p:grpSp>
      <p:grpSp>
        <p:nvGrpSpPr>
          <p:cNvPr id="61" name="Group 60">
            <a:extLst>
              <a:ext uri="{FF2B5EF4-FFF2-40B4-BE49-F238E27FC236}">
                <a16:creationId xmlns:a16="http://schemas.microsoft.com/office/drawing/2014/main" id="{A7876C1C-297D-41E2-BDFA-535F3AE4447E}"/>
              </a:ext>
            </a:extLst>
          </p:cNvPr>
          <p:cNvGrpSpPr/>
          <p:nvPr/>
        </p:nvGrpSpPr>
        <p:grpSpPr>
          <a:xfrm>
            <a:off x="475307" y="4696819"/>
            <a:ext cx="2907955" cy="713232"/>
            <a:chOff x="424507" y="4998807"/>
            <a:chExt cx="2907955" cy="713232"/>
          </a:xfrm>
        </p:grpSpPr>
        <p:sp>
          <p:nvSpPr>
            <p:cNvPr id="14" name="Rectangle 13">
              <a:extLst>
                <a:ext uri="{FF2B5EF4-FFF2-40B4-BE49-F238E27FC236}">
                  <a16:creationId xmlns:a16="http://schemas.microsoft.com/office/drawing/2014/main" id="{79DF3AF1-83AC-48A0-A538-C07220ACC52A}"/>
                </a:ext>
              </a:extLst>
            </p:cNvPr>
            <p:cNvSpPr/>
            <p:nvPr/>
          </p:nvSpPr>
          <p:spPr bwMode="gray">
            <a:xfrm>
              <a:off x="495299" y="4998807"/>
              <a:ext cx="2837163" cy="713232"/>
            </a:xfrm>
            <a:prstGeom prst="rect">
              <a:avLst/>
            </a:prstGeom>
            <a:solidFill>
              <a:schemeClr val="bg1">
                <a:lumMod val="95000"/>
              </a:schemeClr>
            </a:solidFill>
            <a:ln w="3175" algn="ctr">
              <a:solidFill>
                <a:schemeClr val="accent5"/>
              </a:solidFill>
              <a:miter lim="800000"/>
              <a:headEnd/>
              <a:tailEnd/>
            </a:ln>
          </p:spPr>
          <p:txBody>
            <a:bodyPr wrap="square" lIns="457200" tIns="91440" rIns="91440" bIns="91440" rtlCol="0" anchor="ctr"/>
            <a:lstStyle/>
            <a:p>
              <a:r>
                <a:rPr lang="en-US" sz="1400" b="1" dirty="0"/>
                <a:t>Rationalize portfolio of projects – scale up better performing schemes </a:t>
              </a:r>
            </a:p>
          </p:txBody>
        </p:sp>
        <p:sp>
          <p:nvSpPr>
            <p:cNvPr id="15" name="Rectangle 17">
              <a:extLst>
                <a:ext uri="{FF2B5EF4-FFF2-40B4-BE49-F238E27FC236}">
                  <a16:creationId xmlns:a16="http://schemas.microsoft.com/office/drawing/2014/main" id="{231B7259-84A1-40C1-9242-B1030B694FC0}"/>
                </a:ext>
              </a:extLst>
            </p:cNvPr>
            <p:cNvSpPr/>
            <p:nvPr/>
          </p:nvSpPr>
          <p:spPr bwMode="gray">
            <a:xfrm>
              <a:off x="424507" y="5081103"/>
              <a:ext cx="74673" cy="548640"/>
            </a:xfrm>
            <a:custGeom>
              <a:avLst/>
              <a:gdLst>
                <a:gd name="connsiteX0" fmla="*/ 0 w 70035"/>
                <a:gd name="connsiteY0" fmla="*/ 0 h 822960"/>
                <a:gd name="connsiteX1" fmla="*/ 70035 w 70035"/>
                <a:gd name="connsiteY1" fmla="*/ 0 h 822960"/>
                <a:gd name="connsiteX2" fmla="*/ 70035 w 70035"/>
                <a:gd name="connsiteY2" fmla="*/ 822960 h 822960"/>
                <a:gd name="connsiteX3" fmla="*/ 0 w 70035"/>
                <a:gd name="connsiteY3" fmla="*/ 822960 h 822960"/>
                <a:gd name="connsiteX4" fmla="*/ 0 w 70035"/>
                <a:gd name="connsiteY4" fmla="*/ 0 h 822960"/>
                <a:gd name="connsiteX0" fmla="*/ 2381 w 70035"/>
                <a:gd name="connsiteY0" fmla="*/ 45244 h 822960"/>
                <a:gd name="connsiteX1" fmla="*/ 70035 w 70035"/>
                <a:gd name="connsiteY1" fmla="*/ 0 h 822960"/>
                <a:gd name="connsiteX2" fmla="*/ 70035 w 70035"/>
                <a:gd name="connsiteY2" fmla="*/ 822960 h 822960"/>
                <a:gd name="connsiteX3" fmla="*/ 0 w 70035"/>
                <a:gd name="connsiteY3" fmla="*/ 822960 h 822960"/>
                <a:gd name="connsiteX4" fmla="*/ 2381 w 70035"/>
                <a:gd name="connsiteY4" fmla="*/ 45244 h 822960"/>
                <a:gd name="connsiteX0" fmla="*/ 230 w 67884"/>
                <a:gd name="connsiteY0" fmla="*/ 45244 h 822960"/>
                <a:gd name="connsiteX1" fmla="*/ 67884 w 67884"/>
                <a:gd name="connsiteY1" fmla="*/ 0 h 822960"/>
                <a:gd name="connsiteX2" fmla="*/ 67884 w 67884"/>
                <a:gd name="connsiteY2" fmla="*/ 822960 h 822960"/>
                <a:gd name="connsiteX3" fmla="*/ 231 w 67884"/>
                <a:gd name="connsiteY3" fmla="*/ 775335 h 822960"/>
                <a:gd name="connsiteX4" fmla="*/ 230 w 67884"/>
                <a:gd name="connsiteY4" fmla="*/ 45244 h 822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4" h="822960">
                  <a:moveTo>
                    <a:pt x="230" y="45244"/>
                  </a:moveTo>
                  <a:lnTo>
                    <a:pt x="67884" y="0"/>
                  </a:lnTo>
                  <a:lnTo>
                    <a:pt x="67884" y="822960"/>
                  </a:lnTo>
                  <a:lnTo>
                    <a:pt x="231" y="775335"/>
                  </a:lnTo>
                  <a:cubicBezTo>
                    <a:pt x="1025" y="516096"/>
                    <a:pt x="-564" y="304483"/>
                    <a:pt x="230" y="45244"/>
                  </a:cubicBezTo>
                  <a:close/>
                </a:path>
              </a:pathLst>
            </a:cu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16" name="Flowchart: Delay 15">
              <a:extLst>
                <a:ext uri="{FF2B5EF4-FFF2-40B4-BE49-F238E27FC236}">
                  <a16:creationId xmlns:a16="http://schemas.microsoft.com/office/drawing/2014/main" id="{9366A235-B893-4D34-9F1C-F523234F1AFB}"/>
                </a:ext>
              </a:extLst>
            </p:cNvPr>
            <p:cNvSpPr/>
            <p:nvPr/>
          </p:nvSpPr>
          <p:spPr bwMode="gray">
            <a:xfrm>
              <a:off x="425683" y="5126823"/>
              <a:ext cx="457200" cy="457200"/>
            </a:xfrm>
            <a:prstGeom prst="flowChartDelay">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57" name="Freeform 5">
              <a:extLst>
                <a:ext uri="{FF2B5EF4-FFF2-40B4-BE49-F238E27FC236}">
                  <a16:creationId xmlns:a16="http://schemas.microsoft.com/office/drawing/2014/main" id="{2DA219FE-1D37-4152-B02B-B914BCF4E4DA}"/>
                </a:ext>
              </a:extLst>
            </p:cNvPr>
            <p:cNvSpPr>
              <a:spLocks noChangeAspect="1" noEditPoints="1"/>
            </p:cNvSpPr>
            <p:nvPr/>
          </p:nvSpPr>
          <p:spPr bwMode="auto">
            <a:xfrm>
              <a:off x="470468" y="5172543"/>
              <a:ext cx="365759" cy="365760"/>
            </a:xfrm>
            <a:custGeom>
              <a:avLst/>
              <a:gdLst>
                <a:gd name="T0" fmla="*/ 341 w 512"/>
                <a:gd name="T1" fmla="*/ 232 h 512"/>
                <a:gd name="T2" fmla="*/ 373 w 512"/>
                <a:gd name="T3" fmla="*/ 200 h 512"/>
                <a:gd name="T4" fmla="*/ 364 w 512"/>
                <a:gd name="T5" fmla="*/ 237 h 512"/>
                <a:gd name="T6" fmla="*/ 364 w 512"/>
                <a:gd name="T7" fmla="*/ 237 h 512"/>
                <a:gd name="T8" fmla="*/ 354 w 512"/>
                <a:gd name="T9" fmla="*/ 249 h 512"/>
                <a:gd name="T10" fmla="*/ 288 w 512"/>
                <a:gd name="T11" fmla="*/ 264 h 512"/>
                <a:gd name="T12" fmla="*/ 276 w 512"/>
                <a:gd name="T13" fmla="*/ 267 h 512"/>
                <a:gd name="T14" fmla="*/ 167 w 512"/>
                <a:gd name="T15" fmla="*/ 376 h 512"/>
                <a:gd name="T16" fmla="*/ 137 w 512"/>
                <a:gd name="T17" fmla="*/ 376 h 512"/>
                <a:gd name="T18" fmla="*/ 131 w 512"/>
                <a:gd name="T19" fmla="*/ 361 h 512"/>
                <a:gd name="T20" fmla="*/ 137 w 512"/>
                <a:gd name="T21" fmla="*/ 346 h 512"/>
                <a:gd name="T22" fmla="*/ 246 w 512"/>
                <a:gd name="T23" fmla="*/ 237 h 512"/>
                <a:gd name="T24" fmla="*/ 249 w 512"/>
                <a:gd name="T25" fmla="*/ 225 h 512"/>
                <a:gd name="T26" fmla="*/ 264 w 512"/>
                <a:gd name="T27" fmla="*/ 159 h 512"/>
                <a:gd name="T28" fmla="*/ 276 w 512"/>
                <a:gd name="T29" fmla="*/ 149 h 512"/>
                <a:gd name="T30" fmla="*/ 309 w 512"/>
                <a:gd name="T31" fmla="*/ 140 h 512"/>
                <a:gd name="T32" fmla="*/ 312 w 512"/>
                <a:gd name="T33" fmla="*/ 140 h 512"/>
                <a:gd name="T34" fmla="*/ 281 w 512"/>
                <a:gd name="T35" fmla="*/ 171 h 512"/>
                <a:gd name="T36" fmla="*/ 280 w 512"/>
                <a:gd name="T37" fmla="*/ 185 h 512"/>
                <a:gd name="T38" fmla="*/ 301 w 512"/>
                <a:gd name="T39" fmla="*/ 211 h 512"/>
                <a:gd name="T40" fmla="*/ 328 w 512"/>
                <a:gd name="T41" fmla="*/ 233 h 512"/>
                <a:gd name="T42" fmla="*/ 341 w 512"/>
                <a:gd name="T43" fmla="*/ 232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89 w 512"/>
                <a:gd name="T55" fmla="*/ 175 h 512"/>
                <a:gd name="T56" fmla="*/ 382 w 512"/>
                <a:gd name="T57" fmla="*/ 169 h 512"/>
                <a:gd name="T58" fmla="*/ 372 w 512"/>
                <a:gd name="T59" fmla="*/ 171 h 512"/>
                <a:gd name="T60" fmla="*/ 333 w 512"/>
                <a:gd name="T61" fmla="*/ 210 h 512"/>
                <a:gd name="T62" fmla="*/ 317 w 512"/>
                <a:gd name="T63" fmla="*/ 196 h 512"/>
                <a:gd name="T64" fmla="*/ 303 w 512"/>
                <a:gd name="T65" fmla="*/ 180 h 512"/>
                <a:gd name="T66" fmla="*/ 342 w 512"/>
                <a:gd name="T67" fmla="*/ 141 h 512"/>
                <a:gd name="T68" fmla="*/ 344 w 512"/>
                <a:gd name="T69" fmla="*/ 131 h 512"/>
                <a:gd name="T70" fmla="*/ 338 w 512"/>
                <a:gd name="T71" fmla="*/ 124 h 512"/>
                <a:gd name="T72" fmla="*/ 265 w 512"/>
                <a:gd name="T73" fmla="*/ 131 h 512"/>
                <a:gd name="T74" fmla="*/ 249 w 512"/>
                <a:gd name="T75" fmla="*/ 144 h 512"/>
                <a:gd name="T76" fmla="*/ 227 w 512"/>
                <a:gd name="T77" fmla="*/ 226 h 512"/>
                <a:gd name="T78" fmla="*/ 122 w 512"/>
                <a:gd name="T79" fmla="*/ 331 h 512"/>
                <a:gd name="T80" fmla="*/ 109 w 512"/>
                <a:gd name="T81" fmla="*/ 361 h 512"/>
                <a:gd name="T82" fmla="*/ 122 w 512"/>
                <a:gd name="T83" fmla="*/ 391 h 512"/>
                <a:gd name="T84" fmla="*/ 152 w 512"/>
                <a:gd name="T85" fmla="*/ 404 h 512"/>
                <a:gd name="T86" fmla="*/ 182 w 512"/>
                <a:gd name="T87" fmla="*/ 391 h 512"/>
                <a:gd name="T88" fmla="*/ 287 w 512"/>
                <a:gd name="T89" fmla="*/ 286 h 512"/>
                <a:gd name="T90" fmla="*/ 369 w 512"/>
                <a:gd name="T91" fmla="*/ 264 h 512"/>
                <a:gd name="T92" fmla="*/ 382 w 512"/>
                <a:gd name="T93" fmla="*/ 248 h 512"/>
                <a:gd name="T94" fmla="*/ 389 w 512"/>
                <a:gd name="T95" fmla="*/ 17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341" y="232"/>
                  </a:moveTo>
                  <a:cubicBezTo>
                    <a:pt x="373" y="200"/>
                    <a:pt x="373" y="200"/>
                    <a:pt x="373" y="200"/>
                  </a:cubicBezTo>
                  <a:cubicBezTo>
                    <a:pt x="374" y="213"/>
                    <a:pt x="370" y="226"/>
                    <a:pt x="364" y="237"/>
                  </a:cubicBezTo>
                  <a:cubicBezTo>
                    <a:pt x="364" y="237"/>
                    <a:pt x="364" y="237"/>
                    <a:pt x="364" y="237"/>
                  </a:cubicBezTo>
                  <a:cubicBezTo>
                    <a:pt x="361" y="242"/>
                    <a:pt x="358" y="246"/>
                    <a:pt x="354" y="249"/>
                  </a:cubicBezTo>
                  <a:cubicBezTo>
                    <a:pt x="337" y="267"/>
                    <a:pt x="311" y="272"/>
                    <a:pt x="288" y="264"/>
                  </a:cubicBezTo>
                  <a:cubicBezTo>
                    <a:pt x="284" y="263"/>
                    <a:pt x="279" y="264"/>
                    <a:pt x="276" y="267"/>
                  </a:cubicBezTo>
                  <a:cubicBezTo>
                    <a:pt x="167" y="376"/>
                    <a:pt x="167" y="376"/>
                    <a:pt x="167" y="376"/>
                  </a:cubicBezTo>
                  <a:cubicBezTo>
                    <a:pt x="159" y="384"/>
                    <a:pt x="145" y="384"/>
                    <a:pt x="137" y="376"/>
                  </a:cubicBezTo>
                  <a:cubicBezTo>
                    <a:pt x="133" y="372"/>
                    <a:pt x="131" y="367"/>
                    <a:pt x="131" y="361"/>
                  </a:cubicBezTo>
                  <a:cubicBezTo>
                    <a:pt x="131" y="355"/>
                    <a:pt x="133" y="350"/>
                    <a:pt x="137" y="346"/>
                  </a:cubicBezTo>
                  <a:cubicBezTo>
                    <a:pt x="246" y="237"/>
                    <a:pt x="246" y="237"/>
                    <a:pt x="246" y="237"/>
                  </a:cubicBezTo>
                  <a:cubicBezTo>
                    <a:pt x="249" y="234"/>
                    <a:pt x="250" y="229"/>
                    <a:pt x="249" y="225"/>
                  </a:cubicBezTo>
                  <a:cubicBezTo>
                    <a:pt x="241" y="202"/>
                    <a:pt x="246" y="176"/>
                    <a:pt x="264" y="159"/>
                  </a:cubicBezTo>
                  <a:cubicBezTo>
                    <a:pt x="267" y="155"/>
                    <a:pt x="271" y="152"/>
                    <a:pt x="276" y="149"/>
                  </a:cubicBezTo>
                  <a:cubicBezTo>
                    <a:pt x="286" y="143"/>
                    <a:pt x="297" y="140"/>
                    <a:pt x="309" y="140"/>
                  </a:cubicBezTo>
                  <a:cubicBezTo>
                    <a:pt x="310" y="140"/>
                    <a:pt x="311" y="140"/>
                    <a:pt x="312" y="140"/>
                  </a:cubicBezTo>
                  <a:cubicBezTo>
                    <a:pt x="281" y="171"/>
                    <a:pt x="281" y="171"/>
                    <a:pt x="281" y="171"/>
                  </a:cubicBezTo>
                  <a:cubicBezTo>
                    <a:pt x="277" y="175"/>
                    <a:pt x="277" y="181"/>
                    <a:pt x="280" y="185"/>
                  </a:cubicBezTo>
                  <a:cubicBezTo>
                    <a:pt x="286" y="194"/>
                    <a:pt x="293" y="203"/>
                    <a:pt x="301" y="211"/>
                  </a:cubicBezTo>
                  <a:cubicBezTo>
                    <a:pt x="310" y="220"/>
                    <a:pt x="318" y="227"/>
                    <a:pt x="328" y="233"/>
                  </a:cubicBezTo>
                  <a:cubicBezTo>
                    <a:pt x="332" y="236"/>
                    <a:pt x="338" y="235"/>
                    <a:pt x="341" y="232"/>
                  </a:cubicBezTo>
                  <a:close/>
                  <a:moveTo>
                    <a:pt x="512" y="256"/>
                  </a:moveTo>
                  <a:cubicBezTo>
                    <a:pt x="512" y="397"/>
                    <a:pt x="397" y="512"/>
                    <a:pt x="256" y="512"/>
                  </a:cubicBezTo>
                  <a:cubicBezTo>
                    <a:pt x="115" y="512"/>
                    <a:pt x="0" y="397"/>
                    <a:pt x="0" y="256"/>
                  </a:cubicBezTo>
                  <a:cubicBezTo>
                    <a:pt x="0" y="114"/>
                    <a:pt x="115" y="0"/>
                    <a:pt x="256" y="0"/>
                  </a:cubicBezTo>
                  <a:cubicBezTo>
                    <a:pt x="397" y="0"/>
                    <a:pt x="512" y="114"/>
                    <a:pt x="512" y="256"/>
                  </a:cubicBezTo>
                  <a:close/>
                  <a:moveTo>
                    <a:pt x="389" y="175"/>
                  </a:moveTo>
                  <a:cubicBezTo>
                    <a:pt x="388" y="172"/>
                    <a:pt x="385" y="169"/>
                    <a:pt x="382" y="169"/>
                  </a:cubicBezTo>
                  <a:cubicBezTo>
                    <a:pt x="378" y="168"/>
                    <a:pt x="374" y="169"/>
                    <a:pt x="372" y="171"/>
                  </a:cubicBezTo>
                  <a:cubicBezTo>
                    <a:pt x="333" y="210"/>
                    <a:pt x="333" y="210"/>
                    <a:pt x="333" y="210"/>
                  </a:cubicBezTo>
                  <a:cubicBezTo>
                    <a:pt x="327" y="206"/>
                    <a:pt x="322" y="201"/>
                    <a:pt x="317" y="196"/>
                  </a:cubicBezTo>
                  <a:cubicBezTo>
                    <a:pt x="311" y="191"/>
                    <a:pt x="307" y="186"/>
                    <a:pt x="303" y="180"/>
                  </a:cubicBezTo>
                  <a:cubicBezTo>
                    <a:pt x="342" y="141"/>
                    <a:pt x="342" y="141"/>
                    <a:pt x="342" y="141"/>
                  </a:cubicBezTo>
                  <a:cubicBezTo>
                    <a:pt x="344" y="139"/>
                    <a:pt x="345" y="135"/>
                    <a:pt x="344" y="131"/>
                  </a:cubicBezTo>
                  <a:cubicBezTo>
                    <a:pt x="344" y="128"/>
                    <a:pt x="341" y="125"/>
                    <a:pt x="338" y="124"/>
                  </a:cubicBezTo>
                  <a:cubicBezTo>
                    <a:pt x="313" y="115"/>
                    <a:pt x="287" y="118"/>
                    <a:pt x="265" y="131"/>
                  </a:cubicBezTo>
                  <a:cubicBezTo>
                    <a:pt x="259" y="135"/>
                    <a:pt x="253" y="139"/>
                    <a:pt x="249" y="144"/>
                  </a:cubicBezTo>
                  <a:cubicBezTo>
                    <a:pt x="227" y="165"/>
                    <a:pt x="219" y="197"/>
                    <a:pt x="227" y="226"/>
                  </a:cubicBezTo>
                  <a:cubicBezTo>
                    <a:pt x="122" y="331"/>
                    <a:pt x="122" y="331"/>
                    <a:pt x="122" y="331"/>
                  </a:cubicBezTo>
                  <a:cubicBezTo>
                    <a:pt x="114" y="339"/>
                    <a:pt x="109" y="350"/>
                    <a:pt x="109" y="361"/>
                  </a:cubicBezTo>
                  <a:cubicBezTo>
                    <a:pt x="109" y="372"/>
                    <a:pt x="114" y="383"/>
                    <a:pt x="122" y="391"/>
                  </a:cubicBezTo>
                  <a:cubicBezTo>
                    <a:pt x="130" y="399"/>
                    <a:pt x="140" y="404"/>
                    <a:pt x="152" y="404"/>
                  </a:cubicBezTo>
                  <a:cubicBezTo>
                    <a:pt x="163" y="404"/>
                    <a:pt x="174" y="399"/>
                    <a:pt x="182" y="391"/>
                  </a:cubicBezTo>
                  <a:cubicBezTo>
                    <a:pt x="287" y="286"/>
                    <a:pt x="287" y="286"/>
                    <a:pt x="287" y="286"/>
                  </a:cubicBezTo>
                  <a:cubicBezTo>
                    <a:pt x="316" y="294"/>
                    <a:pt x="348" y="286"/>
                    <a:pt x="369" y="264"/>
                  </a:cubicBezTo>
                  <a:cubicBezTo>
                    <a:pt x="374" y="260"/>
                    <a:pt x="378" y="254"/>
                    <a:pt x="382" y="248"/>
                  </a:cubicBezTo>
                  <a:cubicBezTo>
                    <a:pt x="395" y="226"/>
                    <a:pt x="398" y="200"/>
                    <a:pt x="389" y="17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400" dirty="0"/>
            </a:p>
          </p:txBody>
        </p:sp>
      </p:grpSp>
      <p:sp>
        <p:nvSpPr>
          <p:cNvPr id="63" name="Rectangle 62">
            <a:extLst>
              <a:ext uri="{FF2B5EF4-FFF2-40B4-BE49-F238E27FC236}">
                <a16:creationId xmlns:a16="http://schemas.microsoft.com/office/drawing/2014/main" id="{EC6D0D5D-DC61-4B7B-AB22-B7AA5A7C5C84}"/>
              </a:ext>
            </a:extLst>
          </p:cNvPr>
          <p:cNvSpPr/>
          <p:nvPr/>
        </p:nvSpPr>
        <p:spPr bwMode="gray">
          <a:xfrm>
            <a:off x="3982089" y="1678359"/>
            <a:ext cx="8209908"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NITI Aayog’s Journey in institutionalizing the OOMF</a:t>
            </a:r>
          </a:p>
        </p:txBody>
      </p:sp>
      <p:grpSp>
        <p:nvGrpSpPr>
          <p:cNvPr id="23" name="Group 22">
            <a:extLst>
              <a:ext uri="{FF2B5EF4-FFF2-40B4-BE49-F238E27FC236}">
                <a16:creationId xmlns:a16="http://schemas.microsoft.com/office/drawing/2014/main" id="{F0A8F022-8CE7-4B6F-8E15-3871E11C7ECC}"/>
              </a:ext>
            </a:extLst>
          </p:cNvPr>
          <p:cNvGrpSpPr/>
          <p:nvPr/>
        </p:nvGrpSpPr>
        <p:grpSpPr>
          <a:xfrm>
            <a:off x="3982088" y="2188762"/>
            <a:ext cx="7734932" cy="2179450"/>
            <a:chOff x="3982088" y="2268840"/>
            <a:chExt cx="7734932" cy="2179450"/>
          </a:xfrm>
        </p:grpSpPr>
        <p:sp>
          <p:nvSpPr>
            <p:cNvPr id="84" name="TextBox 83">
              <a:extLst>
                <a:ext uri="{FF2B5EF4-FFF2-40B4-BE49-F238E27FC236}">
                  <a16:creationId xmlns:a16="http://schemas.microsoft.com/office/drawing/2014/main" id="{15522D52-E156-458C-BA51-DC6D3DA879F7}"/>
                </a:ext>
              </a:extLst>
            </p:cNvPr>
            <p:cNvSpPr txBox="1"/>
            <p:nvPr/>
          </p:nvSpPr>
          <p:spPr>
            <a:xfrm>
              <a:off x="3982089" y="2686775"/>
              <a:ext cx="2642616" cy="228396"/>
            </a:xfrm>
            <a:prstGeom prst="rect">
              <a:avLst/>
            </a:prstGeom>
            <a:noFill/>
          </p:spPr>
          <p:txBody>
            <a:bodyPr wrap="square" lIns="0" tIns="0" rIns="0" bIns="0" rtlCol="0" anchor="b">
              <a:spAutoFit/>
            </a:bodyPr>
            <a:lstStyle/>
            <a:p>
              <a:pPr algn="r">
                <a:lnSpc>
                  <a:spcPct val="112000"/>
                </a:lnSpc>
                <a:spcBef>
                  <a:spcPts val="600"/>
                </a:spcBef>
                <a:buClr>
                  <a:schemeClr val="accent1"/>
                </a:buClr>
              </a:pPr>
              <a:r>
                <a:rPr lang="en-US" sz="1400" b="1" dirty="0"/>
                <a:t>Created Sector-specific teams</a:t>
              </a:r>
            </a:p>
          </p:txBody>
        </p:sp>
        <p:sp>
          <p:nvSpPr>
            <p:cNvPr id="86" name="TextBox 85">
              <a:extLst>
                <a:ext uri="{FF2B5EF4-FFF2-40B4-BE49-F238E27FC236}">
                  <a16:creationId xmlns:a16="http://schemas.microsoft.com/office/drawing/2014/main" id="{7267E01B-37BA-4C32-8787-39E56A0915CE}"/>
                </a:ext>
              </a:extLst>
            </p:cNvPr>
            <p:cNvSpPr txBox="1"/>
            <p:nvPr/>
          </p:nvSpPr>
          <p:spPr>
            <a:xfrm>
              <a:off x="9073226" y="2268840"/>
              <a:ext cx="2643792" cy="646331"/>
            </a:xfrm>
            <a:prstGeom prst="rect">
              <a:avLst/>
            </a:prstGeom>
            <a:noFill/>
          </p:spPr>
          <p:txBody>
            <a:bodyPr wrap="square" lIns="0" tIns="0" rIns="0" bIns="0" rtlCol="0" anchor="b">
              <a:spAutoFit/>
            </a:bodyPr>
            <a:lstStyle/>
            <a:p>
              <a:pPr>
                <a:spcBef>
                  <a:spcPts val="600"/>
                </a:spcBef>
                <a:buClr>
                  <a:schemeClr val="accent1"/>
                </a:buClr>
              </a:pPr>
              <a:r>
                <a:rPr lang="en-US" sz="1400" b="1" dirty="0"/>
                <a:t>Developed Outputs and Outcomes for schemes and sub-schemes across 68 ministries/Departments</a:t>
              </a:r>
            </a:p>
          </p:txBody>
        </p:sp>
        <p:sp>
          <p:nvSpPr>
            <p:cNvPr id="96" name="Rectangle 95">
              <a:extLst>
                <a:ext uri="{FF2B5EF4-FFF2-40B4-BE49-F238E27FC236}">
                  <a16:creationId xmlns:a16="http://schemas.microsoft.com/office/drawing/2014/main" id="{79C4A97A-506C-4FA4-872F-32E846776FEA}"/>
                </a:ext>
              </a:extLst>
            </p:cNvPr>
            <p:cNvSpPr/>
            <p:nvPr/>
          </p:nvSpPr>
          <p:spPr>
            <a:xfrm>
              <a:off x="3982089" y="2985215"/>
              <a:ext cx="2642616" cy="31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8" name="Rectangle 97">
              <a:extLst>
                <a:ext uri="{FF2B5EF4-FFF2-40B4-BE49-F238E27FC236}">
                  <a16:creationId xmlns:a16="http://schemas.microsoft.com/office/drawing/2014/main" id="{F8CCED08-369E-4F4C-BD1D-42B89E16CA40}"/>
                </a:ext>
              </a:extLst>
            </p:cNvPr>
            <p:cNvSpPr/>
            <p:nvPr/>
          </p:nvSpPr>
          <p:spPr>
            <a:xfrm>
              <a:off x="9073228" y="2985215"/>
              <a:ext cx="2642616" cy="311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5" name="TextBox 84">
              <a:extLst>
                <a:ext uri="{FF2B5EF4-FFF2-40B4-BE49-F238E27FC236}">
                  <a16:creationId xmlns:a16="http://schemas.microsoft.com/office/drawing/2014/main" id="{4BA036AE-D70B-4564-86FA-E8B70B0D923E}"/>
                </a:ext>
              </a:extLst>
            </p:cNvPr>
            <p:cNvSpPr txBox="1"/>
            <p:nvPr/>
          </p:nvSpPr>
          <p:spPr>
            <a:xfrm>
              <a:off x="3982088" y="3801959"/>
              <a:ext cx="2642616" cy="646331"/>
            </a:xfrm>
            <a:prstGeom prst="rect">
              <a:avLst/>
            </a:prstGeom>
            <a:noFill/>
          </p:spPr>
          <p:txBody>
            <a:bodyPr wrap="square" lIns="0" tIns="0" rIns="0" bIns="0" rtlCol="0" anchor="t">
              <a:spAutoFit/>
            </a:bodyPr>
            <a:lstStyle/>
            <a:p>
              <a:pPr algn="r">
                <a:spcBef>
                  <a:spcPts val="600"/>
                </a:spcBef>
                <a:buClr>
                  <a:schemeClr val="accent1"/>
                </a:buClr>
              </a:pPr>
              <a:r>
                <a:rPr lang="en-US" sz="1400" b="1" dirty="0"/>
                <a:t>Created Dashboard for Enabling monitoring of outputs and outcomes on an ongoing basis</a:t>
              </a:r>
            </a:p>
          </p:txBody>
        </p:sp>
        <p:sp>
          <p:nvSpPr>
            <p:cNvPr id="87" name="TextBox 86">
              <a:extLst>
                <a:ext uri="{FF2B5EF4-FFF2-40B4-BE49-F238E27FC236}">
                  <a16:creationId xmlns:a16="http://schemas.microsoft.com/office/drawing/2014/main" id="{3BB9AF05-325E-484D-83D6-47B7B68C2C7C}"/>
                </a:ext>
              </a:extLst>
            </p:cNvPr>
            <p:cNvSpPr txBox="1"/>
            <p:nvPr/>
          </p:nvSpPr>
          <p:spPr>
            <a:xfrm>
              <a:off x="9073228" y="3801959"/>
              <a:ext cx="2643792" cy="646331"/>
            </a:xfrm>
            <a:prstGeom prst="rect">
              <a:avLst/>
            </a:prstGeom>
            <a:noFill/>
          </p:spPr>
          <p:txBody>
            <a:bodyPr wrap="square" lIns="0" tIns="0" rIns="0" bIns="0" rtlCol="0" anchor="t">
              <a:spAutoFit/>
            </a:bodyPr>
            <a:lstStyle/>
            <a:p>
              <a:pPr>
                <a:spcBef>
                  <a:spcPts val="600"/>
                </a:spcBef>
                <a:buClr>
                  <a:schemeClr val="accent1"/>
                </a:buClr>
              </a:pPr>
              <a:r>
                <a:rPr lang="en-US" sz="1400" b="1" dirty="0"/>
                <a:t>Conducted evaluation of Schemes/ </a:t>
              </a:r>
              <a:r>
                <a:rPr lang="en-US" sz="1400" b="1" dirty="0" err="1"/>
                <a:t>Programmes</a:t>
              </a:r>
              <a:r>
                <a:rPr lang="en-US" sz="1400" b="1" dirty="0"/>
                <a:t> across 10 sectors and YY schemes</a:t>
              </a:r>
            </a:p>
          </p:txBody>
        </p:sp>
        <p:sp>
          <p:nvSpPr>
            <p:cNvPr id="97" name="Rectangle 96">
              <a:extLst>
                <a:ext uri="{FF2B5EF4-FFF2-40B4-BE49-F238E27FC236}">
                  <a16:creationId xmlns:a16="http://schemas.microsoft.com/office/drawing/2014/main" id="{9E32B569-1644-4803-B432-9E2CFD786BF3}"/>
                </a:ext>
              </a:extLst>
            </p:cNvPr>
            <p:cNvSpPr/>
            <p:nvPr/>
          </p:nvSpPr>
          <p:spPr>
            <a:xfrm>
              <a:off x="3982089" y="3695051"/>
              <a:ext cx="2642616" cy="311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9" name="Rectangle 98">
              <a:extLst>
                <a:ext uri="{FF2B5EF4-FFF2-40B4-BE49-F238E27FC236}">
                  <a16:creationId xmlns:a16="http://schemas.microsoft.com/office/drawing/2014/main" id="{B0047FCF-6AA1-4CCC-BC0B-8A647B43170E}"/>
                </a:ext>
              </a:extLst>
            </p:cNvPr>
            <p:cNvSpPr/>
            <p:nvPr/>
          </p:nvSpPr>
          <p:spPr>
            <a:xfrm>
              <a:off x="9073228" y="3695051"/>
              <a:ext cx="2642616" cy="311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21" name="Group 20">
              <a:extLst>
                <a:ext uri="{FF2B5EF4-FFF2-40B4-BE49-F238E27FC236}">
                  <a16:creationId xmlns:a16="http://schemas.microsoft.com/office/drawing/2014/main" id="{BA1FCB58-CF6B-47BE-8B0E-C2139232D3F0}"/>
                </a:ext>
              </a:extLst>
            </p:cNvPr>
            <p:cNvGrpSpPr/>
            <p:nvPr/>
          </p:nvGrpSpPr>
          <p:grpSpPr>
            <a:xfrm>
              <a:off x="6745956" y="2296058"/>
              <a:ext cx="2204404" cy="2119334"/>
              <a:chOff x="6745956" y="2296058"/>
              <a:chExt cx="2204404" cy="2119334"/>
            </a:xfrm>
          </p:grpSpPr>
          <p:sp>
            <p:nvSpPr>
              <p:cNvPr id="88" name="Rectangle: Rounded Corners 24">
                <a:extLst>
                  <a:ext uri="{FF2B5EF4-FFF2-40B4-BE49-F238E27FC236}">
                    <a16:creationId xmlns:a16="http://schemas.microsoft.com/office/drawing/2014/main" id="{BC215EF1-8C85-43E4-BE53-CFB11971AA52}"/>
                  </a:ext>
                </a:extLst>
              </p:cNvPr>
              <p:cNvSpPr/>
              <p:nvPr/>
            </p:nvSpPr>
            <p:spPr>
              <a:xfrm>
                <a:off x="6745956" y="2393514"/>
                <a:ext cx="917899" cy="9179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9" name="Rectangle: Rounded Corners 7">
                <a:extLst>
                  <a:ext uri="{FF2B5EF4-FFF2-40B4-BE49-F238E27FC236}">
                    <a16:creationId xmlns:a16="http://schemas.microsoft.com/office/drawing/2014/main" id="{4C00D4AD-1019-4965-AA8B-426127B40864}"/>
                  </a:ext>
                </a:extLst>
              </p:cNvPr>
              <p:cNvSpPr/>
              <p:nvPr/>
            </p:nvSpPr>
            <p:spPr>
              <a:xfrm>
                <a:off x="6868825" y="2296058"/>
                <a:ext cx="917899" cy="9179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2" name="Rectangle: Rounded Corners 41">
                <a:extLst>
                  <a:ext uri="{FF2B5EF4-FFF2-40B4-BE49-F238E27FC236}">
                    <a16:creationId xmlns:a16="http://schemas.microsoft.com/office/drawing/2014/main" id="{55F1B2E1-C4B7-4D27-AD49-DABFA7F1BB0B}"/>
                  </a:ext>
                </a:extLst>
              </p:cNvPr>
              <p:cNvSpPr/>
              <p:nvPr/>
            </p:nvSpPr>
            <p:spPr>
              <a:xfrm flipH="1">
                <a:off x="8032461" y="2393514"/>
                <a:ext cx="917899" cy="9179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3" name="Rectangle: Rounded Corners 43">
                <a:extLst>
                  <a:ext uri="{FF2B5EF4-FFF2-40B4-BE49-F238E27FC236}">
                    <a16:creationId xmlns:a16="http://schemas.microsoft.com/office/drawing/2014/main" id="{803946AA-8D80-4B9A-9B0E-A1E1FBD1352B}"/>
                  </a:ext>
                </a:extLst>
              </p:cNvPr>
              <p:cNvSpPr/>
              <p:nvPr/>
            </p:nvSpPr>
            <p:spPr>
              <a:xfrm flipH="1">
                <a:off x="7909592" y="2296058"/>
                <a:ext cx="917899" cy="9179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9" name="Freeform 109">
                <a:extLst>
                  <a:ext uri="{FF2B5EF4-FFF2-40B4-BE49-F238E27FC236}">
                    <a16:creationId xmlns:a16="http://schemas.microsoft.com/office/drawing/2014/main" id="{B60CDBFE-9B28-461B-A3D4-D541E2FBE5FD}"/>
                  </a:ext>
                </a:extLst>
              </p:cNvPr>
              <p:cNvSpPr>
                <a:spLocks noChangeAspect="1" noEditPoints="1"/>
              </p:cNvSpPr>
              <p:nvPr/>
            </p:nvSpPr>
            <p:spPr bwMode="auto">
              <a:xfrm>
                <a:off x="7053454" y="2480688"/>
                <a:ext cx="548640" cy="548640"/>
              </a:xfrm>
              <a:custGeom>
                <a:avLst/>
                <a:gdLst>
                  <a:gd name="T0" fmla="*/ 235 w 512"/>
                  <a:gd name="T1" fmla="*/ 150 h 512"/>
                  <a:gd name="T2" fmla="*/ 277 w 512"/>
                  <a:gd name="T3" fmla="*/ 118 h 512"/>
                  <a:gd name="T4" fmla="*/ 235 w 512"/>
                  <a:gd name="T5" fmla="*/ 342 h 512"/>
                  <a:gd name="T6" fmla="*/ 277 w 512"/>
                  <a:gd name="T7" fmla="*/ 320 h 512"/>
                  <a:gd name="T8" fmla="*/ 235 w 512"/>
                  <a:gd name="T9" fmla="*/ 342 h 512"/>
                  <a:gd name="T10" fmla="*/ 160 w 512"/>
                  <a:gd name="T11" fmla="*/ 342 h 512"/>
                  <a:gd name="T12" fmla="*/ 117 w 512"/>
                  <a:gd name="T13" fmla="*/ 320 h 512"/>
                  <a:gd name="T14" fmla="*/ 512 w 512"/>
                  <a:gd name="T15" fmla="*/ 256 h 512"/>
                  <a:gd name="T16" fmla="*/ 0 w 512"/>
                  <a:gd name="T17" fmla="*/ 256 h 512"/>
                  <a:gd name="T18" fmla="*/ 512 w 512"/>
                  <a:gd name="T19" fmla="*/ 256 h 512"/>
                  <a:gd name="T20" fmla="*/ 405 w 512"/>
                  <a:gd name="T21" fmla="*/ 299 h 512"/>
                  <a:gd name="T22" fmla="*/ 384 w 512"/>
                  <a:gd name="T23" fmla="*/ 235 h 512"/>
                  <a:gd name="T24" fmla="*/ 267 w 512"/>
                  <a:gd name="T25" fmla="*/ 224 h 512"/>
                  <a:gd name="T26" fmla="*/ 288 w 512"/>
                  <a:gd name="T27" fmla="*/ 171 h 512"/>
                  <a:gd name="T28" fmla="*/ 299 w 512"/>
                  <a:gd name="T29" fmla="*/ 107 h 512"/>
                  <a:gd name="T30" fmla="*/ 224 w 512"/>
                  <a:gd name="T31" fmla="*/ 96 h 512"/>
                  <a:gd name="T32" fmla="*/ 213 w 512"/>
                  <a:gd name="T33" fmla="*/ 160 h 512"/>
                  <a:gd name="T34" fmla="*/ 245 w 512"/>
                  <a:gd name="T35" fmla="*/ 171 h 512"/>
                  <a:gd name="T36" fmla="*/ 139 w 512"/>
                  <a:gd name="T37" fmla="*/ 224 h 512"/>
                  <a:gd name="T38" fmla="*/ 128 w 512"/>
                  <a:gd name="T39" fmla="*/ 299 h 512"/>
                  <a:gd name="T40" fmla="*/ 96 w 512"/>
                  <a:gd name="T41" fmla="*/ 310 h 512"/>
                  <a:gd name="T42" fmla="*/ 107 w 512"/>
                  <a:gd name="T43" fmla="*/ 363 h 512"/>
                  <a:gd name="T44" fmla="*/ 181 w 512"/>
                  <a:gd name="T45" fmla="*/ 352 h 512"/>
                  <a:gd name="T46" fmla="*/ 171 w 512"/>
                  <a:gd name="T47" fmla="*/ 299 h 512"/>
                  <a:gd name="T48" fmla="*/ 149 w 512"/>
                  <a:gd name="T49" fmla="*/ 246 h 512"/>
                  <a:gd name="T50" fmla="*/ 245 w 512"/>
                  <a:gd name="T51" fmla="*/ 299 h 512"/>
                  <a:gd name="T52" fmla="*/ 213 w 512"/>
                  <a:gd name="T53" fmla="*/ 310 h 512"/>
                  <a:gd name="T54" fmla="*/ 224 w 512"/>
                  <a:gd name="T55" fmla="*/ 363 h 512"/>
                  <a:gd name="T56" fmla="*/ 299 w 512"/>
                  <a:gd name="T57" fmla="*/ 352 h 512"/>
                  <a:gd name="T58" fmla="*/ 288 w 512"/>
                  <a:gd name="T59" fmla="*/ 299 h 512"/>
                  <a:gd name="T60" fmla="*/ 267 w 512"/>
                  <a:gd name="T61" fmla="*/ 246 h 512"/>
                  <a:gd name="T62" fmla="*/ 363 w 512"/>
                  <a:gd name="T63" fmla="*/ 299 h 512"/>
                  <a:gd name="T64" fmla="*/ 331 w 512"/>
                  <a:gd name="T65" fmla="*/ 310 h 512"/>
                  <a:gd name="T66" fmla="*/ 341 w 512"/>
                  <a:gd name="T67" fmla="*/ 363 h 512"/>
                  <a:gd name="T68" fmla="*/ 416 w 512"/>
                  <a:gd name="T69" fmla="*/ 352 h 512"/>
                  <a:gd name="T70" fmla="*/ 352 w 512"/>
                  <a:gd name="T71" fmla="*/ 342 h 512"/>
                  <a:gd name="T72" fmla="*/ 395 w 512"/>
                  <a:gd name="T73" fmla="*/ 320 h 512"/>
                  <a:gd name="T74" fmla="*/ 352 w 512"/>
                  <a:gd name="T75" fmla="*/ 34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77" y="150"/>
                    </a:moveTo>
                    <a:cubicBezTo>
                      <a:pt x="235" y="150"/>
                      <a:pt x="235" y="150"/>
                      <a:pt x="235" y="150"/>
                    </a:cubicBezTo>
                    <a:cubicBezTo>
                      <a:pt x="235" y="118"/>
                      <a:pt x="235" y="118"/>
                      <a:pt x="235" y="118"/>
                    </a:cubicBezTo>
                    <a:cubicBezTo>
                      <a:pt x="277" y="118"/>
                      <a:pt x="277" y="118"/>
                      <a:pt x="277" y="118"/>
                    </a:cubicBezTo>
                    <a:lnTo>
                      <a:pt x="277" y="150"/>
                    </a:lnTo>
                    <a:close/>
                    <a:moveTo>
                      <a:pt x="235" y="342"/>
                    </a:moveTo>
                    <a:cubicBezTo>
                      <a:pt x="277" y="342"/>
                      <a:pt x="277" y="342"/>
                      <a:pt x="277" y="342"/>
                    </a:cubicBezTo>
                    <a:cubicBezTo>
                      <a:pt x="277" y="320"/>
                      <a:pt x="277" y="320"/>
                      <a:pt x="277" y="320"/>
                    </a:cubicBezTo>
                    <a:cubicBezTo>
                      <a:pt x="235" y="320"/>
                      <a:pt x="235" y="320"/>
                      <a:pt x="235" y="320"/>
                    </a:cubicBezTo>
                    <a:lnTo>
                      <a:pt x="235" y="342"/>
                    </a:lnTo>
                    <a:close/>
                    <a:moveTo>
                      <a:pt x="117" y="342"/>
                    </a:moveTo>
                    <a:cubicBezTo>
                      <a:pt x="160" y="342"/>
                      <a:pt x="160" y="342"/>
                      <a:pt x="160" y="342"/>
                    </a:cubicBezTo>
                    <a:cubicBezTo>
                      <a:pt x="160" y="320"/>
                      <a:pt x="160" y="320"/>
                      <a:pt x="160" y="320"/>
                    </a:cubicBezTo>
                    <a:cubicBezTo>
                      <a:pt x="117" y="320"/>
                      <a:pt x="117" y="320"/>
                      <a:pt x="117" y="320"/>
                    </a:cubicBezTo>
                    <a:lnTo>
                      <a:pt x="117" y="342"/>
                    </a:ln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416" y="310"/>
                    </a:moveTo>
                    <a:cubicBezTo>
                      <a:pt x="416" y="304"/>
                      <a:pt x="411" y="299"/>
                      <a:pt x="405" y="299"/>
                    </a:cubicBezTo>
                    <a:cubicBezTo>
                      <a:pt x="384" y="299"/>
                      <a:pt x="384" y="299"/>
                      <a:pt x="384" y="299"/>
                    </a:cubicBezTo>
                    <a:cubicBezTo>
                      <a:pt x="384" y="235"/>
                      <a:pt x="384" y="235"/>
                      <a:pt x="384" y="235"/>
                    </a:cubicBezTo>
                    <a:cubicBezTo>
                      <a:pt x="384" y="229"/>
                      <a:pt x="379" y="224"/>
                      <a:pt x="373" y="224"/>
                    </a:cubicBezTo>
                    <a:cubicBezTo>
                      <a:pt x="267" y="224"/>
                      <a:pt x="267" y="224"/>
                      <a:pt x="267" y="224"/>
                    </a:cubicBezTo>
                    <a:cubicBezTo>
                      <a:pt x="267" y="171"/>
                      <a:pt x="267" y="171"/>
                      <a:pt x="267" y="171"/>
                    </a:cubicBezTo>
                    <a:cubicBezTo>
                      <a:pt x="288" y="171"/>
                      <a:pt x="288" y="171"/>
                      <a:pt x="288" y="171"/>
                    </a:cubicBezTo>
                    <a:cubicBezTo>
                      <a:pt x="294" y="171"/>
                      <a:pt x="299" y="166"/>
                      <a:pt x="299" y="160"/>
                    </a:cubicBezTo>
                    <a:cubicBezTo>
                      <a:pt x="299" y="107"/>
                      <a:pt x="299" y="107"/>
                      <a:pt x="299" y="107"/>
                    </a:cubicBezTo>
                    <a:cubicBezTo>
                      <a:pt x="299" y="101"/>
                      <a:pt x="294" y="96"/>
                      <a:pt x="288" y="96"/>
                    </a:cubicBezTo>
                    <a:cubicBezTo>
                      <a:pt x="224" y="96"/>
                      <a:pt x="224" y="96"/>
                      <a:pt x="224" y="96"/>
                    </a:cubicBezTo>
                    <a:cubicBezTo>
                      <a:pt x="218" y="96"/>
                      <a:pt x="213" y="101"/>
                      <a:pt x="213" y="107"/>
                    </a:cubicBezTo>
                    <a:cubicBezTo>
                      <a:pt x="213" y="160"/>
                      <a:pt x="213" y="160"/>
                      <a:pt x="213" y="160"/>
                    </a:cubicBezTo>
                    <a:cubicBezTo>
                      <a:pt x="213" y="166"/>
                      <a:pt x="218" y="171"/>
                      <a:pt x="224" y="171"/>
                    </a:cubicBezTo>
                    <a:cubicBezTo>
                      <a:pt x="245" y="171"/>
                      <a:pt x="245" y="171"/>
                      <a:pt x="245" y="171"/>
                    </a:cubicBezTo>
                    <a:cubicBezTo>
                      <a:pt x="245" y="224"/>
                      <a:pt x="245" y="224"/>
                      <a:pt x="245" y="224"/>
                    </a:cubicBezTo>
                    <a:cubicBezTo>
                      <a:pt x="139" y="224"/>
                      <a:pt x="139" y="224"/>
                      <a:pt x="139" y="224"/>
                    </a:cubicBezTo>
                    <a:cubicBezTo>
                      <a:pt x="133" y="224"/>
                      <a:pt x="128" y="229"/>
                      <a:pt x="128" y="235"/>
                    </a:cubicBezTo>
                    <a:cubicBezTo>
                      <a:pt x="128" y="299"/>
                      <a:pt x="128" y="299"/>
                      <a:pt x="128" y="299"/>
                    </a:cubicBezTo>
                    <a:cubicBezTo>
                      <a:pt x="107" y="299"/>
                      <a:pt x="107" y="299"/>
                      <a:pt x="107" y="299"/>
                    </a:cubicBezTo>
                    <a:cubicBezTo>
                      <a:pt x="101" y="299"/>
                      <a:pt x="96" y="304"/>
                      <a:pt x="96" y="310"/>
                    </a:cubicBezTo>
                    <a:cubicBezTo>
                      <a:pt x="96" y="352"/>
                      <a:pt x="96" y="352"/>
                      <a:pt x="96" y="352"/>
                    </a:cubicBezTo>
                    <a:cubicBezTo>
                      <a:pt x="96" y="358"/>
                      <a:pt x="101" y="363"/>
                      <a:pt x="107" y="363"/>
                    </a:cubicBezTo>
                    <a:cubicBezTo>
                      <a:pt x="171" y="363"/>
                      <a:pt x="171" y="363"/>
                      <a:pt x="171" y="363"/>
                    </a:cubicBezTo>
                    <a:cubicBezTo>
                      <a:pt x="177" y="363"/>
                      <a:pt x="181" y="358"/>
                      <a:pt x="181" y="352"/>
                    </a:cubicBezTo>
                    <a:cubicBezTo>
                      <a:pt x="181" y="310"/>
                      <a:pt x="181" y="310"/>
                      <a:pt x="181" y="310"/>
                    </a:cubicBezTo>
                    <a:cubicBezTo>
                      <a:pt x="181" y="304"/>
                      <a:pt x="177" y="299"/>
                      <a:pt x="171" y="299"/>
                    </a:cubicBezTo>
                    <a:cubicBezTo>
                      <a:pt x="149" y="299"/>
                      <a:pt x="149" y="299"/>
                      <a:pt x="149" y="299"/>
                    </a:cubicBezTo>
                    <a:cubicBezTo>
                      <a:pt x="149" y="246"/>
                      <a:pt x="149" y="246"/>
                      <a:pt x="149" y="246"/>
                    </a:cubicBezTo>
                    <a:cubicBezTo>
                      <a:pt x="245" y="246"/>
                      <a:pt x="245" y="246"/>
                      <a:pt x="245" y="246"/>
                    </a:cubicBezTo>
                    <a:cubicBezTo>
                      <a:pt x="245" y="299"/>
                      <a:pt x="245" y="299"/>
                      <a:pt x="245" y="299"/>
                    </a:cubicBezTo>
                    <a:cubicBezTo>
                      <a:pt x="224" y="299"/>
                      <a:pt x="224" y="299"/>
                      <a:pt x="224" y="299"/>
                    </a:cubicBezTo>
                    <a:cubicBezTo>
                      <a:pt x="218" y="299"/>
                      <a:pt x="213" y="304"/>
                      <a:pt x="213" y="310"/>
                    </a:cubicBezTo>
                    <a:cubicBezTo>
                      <a:pt x="213" y="352"/>
                      <a:pt x="213" y="352"/>
                      <a:pt x="213" y="352"/>
                    </a:cubicBezTo>
                    <a:cubicBezTo>
                      <a:pt x="213" y="358"/>
                      <a:pt x="218" y="363"/>
                      <a:pt x="224" y="363"/>
                    </a:cubicBezTo>
                    <a:cubicBezTo>
                      <a:pt x="288" y="363"/>
                      <a:pt x="288" y="363"/>
                      <a:pt x="288" y="363"/>
                    </a:cubicBezTo>
                    <a:cubicBezTo>
                      <a:pt x="294" y="363"/>
                      <a:pt x="299" y="358"/>
                      <a:pt x="299" y="352"/>
                    </a:cubicBezTo>
                    <a:cubicBezTo>
                      <a:pt x="299" y="310"/>
                      <a:pt x="299" y="310"/>
                      <a:pt x="299" y="310"/>
                    </a:cubicBezTo>
                    <a:cubicBezTo>
                      <a:pt x="299" y="304"/>
                      <a:pt x="294" y="299"/>
                      <a:pt x="288" y="299"/>
                    </a:cubicBezTo>
                    <a:cubicBezTo>
                      <a:pt x="267" y="299"/>
                      <a:pt x="267" y="299"/>
                      <a:pt x="267" y="299"/>
                    </a:cubicBezTo>
                    <a:cubicBezTo>
                      <a:pt x="267" y="246"/>
                      <a:pt x="267" y="246"/>
                      <a:pt x="267" y="246"/>
                    </a:cubicBezTo>
                    <a:cubicBezTo>
                      <a:pt x="363" y="246"/>
                      <a:pt x="363" y="246"/>
                      <a:pt x="363" y="246"/>
                    </a:cubicBezTo>
                    <a:cubicBezTo>
                      <a:pt x="363" y="299"/>
                      <a:pt x="363" y="299"/>
                      <a:pt x="363" y="299"/>
                    </a:cubicBezTo>
                    <a:cubicBezTo>
                      <a:pt x="341" y="299"/>
                      <a:pt x="341" y="299"/>
                      <a:pt x="341" y="299"/>
                    </a:cubicBezTo>
                    <a:cubicBezTo>
                      <a:pt x="335" y="299"/>
                      <a:pt x="331" y="304"/>
                      <a:pt x="331" y="310"/>
                    </a:cubicBezTo>
                    <a:cubicBezTo>
                      <a:pt x="331" y="352"/>
                      <a:pt x="331" y="352"/>
                      <a:pt x="331" y="352"/>
                    </a:cubicBezTo>
                    <a:cubicBezTo>
                      <a:pt x="331" y="358"/>
                      <a:pt x="335" y="363"/>
                      <a:pt x="341" y="363"/>
                    </a:cubicBezTo>
                    <a:cubicBezTo>
                      <a:pt x="405" y="363"/>
                      <a:pt x="405" y="363"/>
                      <a:pt x="405" y="363"/>
                    </a:cubicBezTo>
                    <a:cubicBezTo>
                      <a:pt x="411" y="363"/>
                      <a:pt x="416" y="358"/>
                      <a:pt x="416" y="352"/>
                    </a:cubicBezTo>
                    <a:lnTo>
                      <a:pt x="416" y="310"/>
                    </a:lnTo>
                    <a:close/>
                    <a:moveTo>
                      <a:pt x="352" y="342"/>
                    </a:moveTo>
                    <a:cubicBezTo>
                      <a:pt x="395" y="342"/>
                      <a:pt x="395" y="342"/>
                      <a:pt x="395" y="342"/>
                    </a:cubicBezTo>
                    <a:cubicBezTo>
                      <a:pt x="395" y="320"/>
                      <a:pt x="395" y="320"/>
                      <a:pt x="395" y="320"/>
                    </a:cubicBezTo>
                    <a:cubicBezTo>
                      <a:pt x="352" y="320"/>
                      <a:pt x="352" y="320"/>
                      <a:pt x="352" y="320"/>
                    </a:cubicBezTo>
                    <a:lnTo>
                      <a:pt x="352" y="342"/>
                    </a:ln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1" name="Freeform 787">
                <a:extLst>
                  <a:ext uri="{FF2B5EF4-FFF2-40B4-BE49-F238E27FC236}">
                    <a16:creationId xmlns:a16="http://schemas.microsoft.com/office/drawing/2014/main" id="{A4F93B02-A1FB-4F9B-950D-ABA374CD3868}"/>
                  </a:ext>
                </a:extLst>
              </p:cNvPr>
              <p:cNvSpPr>
                <a:spLocks noChangeAspect="1" noEditPoints="1"/>
              </p:cNvSpPr>
              <p:nvPr/>
            </p:nvSpPr>
            <p:spPr bwMode="auto">
              <a:xfrm>
                <a:off x="8094221" y="2480688"/>
                <a:ext cx="548640" cy="548640"/>
              </a:xfrm>
              <a:custGeom>
                <a:avLst/>
                <a:gdLst>
                  <a:gd name="T0" fmla="*/ 0 w 512"/>
                  <a:gd name="T1" fmla="*/ 256 h 512"/>
                  <a:gd name="T2" fmla="*/ 512 w 512"/>
                  <a:gd name="T3" fmla="*/ 256 h 512"/>
                  <a:gd name="T4" fmla="*/ 330 w 512"/>
                  <a:gd name="T5" fmla="*/ 96 h 512"/>
                  <a:gd name="T6" fmla="*/ 330 w 512"/>
                  <a:gd name="T7" fmla="*/ 138 h 512"/>
                  <a:gd name="T8" fmla="*/ 330 w 512"/>
                  <a:gd name="T9" fmla="*/ 96 h 512"/>
                  <a:gd name="T10" fmla="*/ 351 w 512"/>
                  <a:gd name="T11" fmla="*/ 192 h 512"/>
                  <a:gd name="T12" fmla="*/ 309 w 512"/>
                  <a:gd name="T13" fmla="*/ 192 h 512"/>
                  <a:gd name="T14" fmla="*/ 330 w 512"/>
                  <a:gd name="T15" fmla="*/ 245 h 512"/>
                  <a:gd name="T16" fmla="*/ 330 w 512"/>
                  <a:gd name="T17" fmla="*/ 287 h 512"/>
                  <a:gd name="T18" fmla="*/ 330 w 512"/>
                  <a:gd name="T19" fmla="*/ 245 h 512"/>
                  <a:gd name="T20" fmla="*/ 277 w 512"/>
                  <a:gd name="T21" fmla="*/ 117 h 512"/>
                  <a:gd name="T22" fmla="*/ 235 w 512"/>
                  <a:gd name="T23" fmla="*/ 117 h 512"/>
                  <a:gd name="T24" fmla="*/ 256 w 512"/>
                  <a:gd name="T25" fmla="*/ 171 h 512"/>
                  <a:gd name="T26" fmla="*/ 256 w 512"/>
                  <a:gd name="T27" fmla="*/ 213 h 512"/>
                  <a:gd name="T28" fmla="*/ 256 w 512"/>
                  <a:gd name="T29" fmla="*/ 171 h 512"/>
                  <a:gd name="T30" fmla="*/ 202 w 512"/>
                  <a:gd name="T31" fmla="*/ 117 h 512"/>
                  <a:gd name="T32" fmla="*/ 160 w 512"/>
                  <a:gd name="T33" fmla="*/ 117 h 512"/>
                  <a:gd name="T34" fmla="*/ 181 w 512"/>
                  <a:gd name="T35" fmla="*/ 171 h 512"/>
                  <a:gd name="T36" fmla="*/ 181 w 512"/>
                  <a:gd name="T37" fmla="*/ 213 h 512"/>
                  <a:gd name="T38" fmla="*/ 181 w 512"/>
                  <a:gd name="T39" fmla="*/ 171 h 512"/>
                  <a:gd name="T40" fmla="*/ 202 w 512"/>
                  <a:gd name="T41" fmla="*/ 266 h 512"/>
                  <a:gd name="T42" fmla="*/ 160 w 512"/>
                  <a:gd name="T43" fmla="*/ 266 h 512"/>
                  <a:gd name="T44" fmla="*/ 373 w 512"/>
                  <a:gd name="T45" fmla="*/ 373 h 512"/>
                  <a:gd name="T46" fmla="*/ 352 w 512"/>
                  <a:gd name="T47" fmla="*/ 373 h 512"/>
                  <a:gd name="T48" fmla="*/ 341 w 512"/>
                  <a:gd name="T49" fmla="*/ 341 h 512"/>
                  <a:gd name="T50" fmla="*/ 330 w 512"/>
                  <a:gd name="T51" fmla="*/ 362 h 512"/>
                  <a:gd name="T52" fmla="*/ 309 w 512"/>
                  <a:gd name="T53" fmla="*/ 362 h 512"/>
                  <a:gd name="T54" fmla="*/ 298 w 512"/>
                  <a:gd name="T55" fmla="*/ 320 h 512"/>
                  <a:gd name="T56" fmla="*/ 288 w 512"/>
                  <a:gd name="T57" fmla="*/ 362 h 512"/>
                  <a:gd name="T58" fmla="*/ 266 w 512"/>
                  <a:gd name="T59" fmla="*/ 362 h 512"/>
                  <a:gd name="T60" fmla="*/ 256 w 512"/>
                  <a:gd name="T61" fmla="*/ 256 h 512"/>
                  <a:gd name="T62" fmla="*/ 245 w 512"/>
                  <a:gd name="T63" fmla="*/ 394 h 512"/>
                  <a:gd name="T64" fmla="*/ 239 w 512"/>
                  <a:gd name="T65" fmla="*/ 408 h 512"/>
                  <a:gd name="T66" fmla="*/ 210 w 512"/>
                  <a:gd name="T67" fmla="*/ 371 h 512"/>
                  <a:gd name="T68" fmla="*/ 188 w 512"/>
                  <a:gd name="T69" fmla="*/ 352 h 512"/>
                  <a:gd name="T70" fmla="*/ 182 w 512"/>
                  <a:gd name="T71" fmla="*/ 356 h 512"/>
                  <a:gd name="T72" fmla="*/ 189 w 512"/>
                  <a:gd name="T73" fmla="*/ 380 h 512"/>
                  <a:gd name="T74" fmla="*/ 193 w 512"/>
                  <a:gd name="T75" fmla="*/ 415 h 512"/>
                  <a:gd name="T76" fmla="*/ 179 w 512"/>
                  <a:gd name="T77" fmla="*/ 410 h 512"/>
                  <a:gd name="T78" fmla="*/ 162 w 512"/>
                  <a:gd name="T79" fmla="*/ 348 h 512"/>
                  <a:gd name="T80" fmla="*/ 206 w 512"/>
                  <a:gd name="T81" fmla="*/ 335 h 512"/>
                  <a:gd name="T82" fmla="*/ 224 w 512"/>
                  <a:gd name="T83" fmla="*/ 266 h 512"/>
                  <a:gd name="T84" fmla="*/ 288 w 512"/>
                  <a:gd name="T85" fmla="*/ 266 h 512"/>
                  <a:gd name="T86" fmla="*/ 298 w 512"/>
                  <a:gd name="T87" fmla="*/ 298 h 512"/>
                  <a:gd name="T88" fmla="*/ 341 w 512"/>
                  <a:gd name="T89" fmla="*/ 320 h 512"/>
                  <a:gd name="T90" fmla="*/ 373 w 512"/>
                  <a:gd name="T91" fmla="*/ 37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30" y="96"/>
                    </a:moveTo>
                    <a:cubicBezTo>
                      <a:pt x="342" y="96"/>
                      <a:pt x="351" y="105"/>
                      <a:pt x="351" y="117"/>
                    </a:cubicBezTo>
                    <a:cubicBezTo>
                      <a:pt x="351" y="129"/>
                      <a:pt x="342" y="138"/>
                      <a:pt x="330" y="138"/>
                    </a:cubicBezTo>
                    <a:cubicBezTo>
                      <a:pt x="319" y="138"/>
                      <a:pt x="309" y="129"/>
                      <a:pt x="309" y="117"/>
                    </a:cubicBezTo>
                    <a:cubicBezTo>
                      <a:pt x="309" y="105"/>
                      <a:pt x="319" y="96"/>
                      <a:pt x="330" y="96"/>
                    </a:cubicBezTo>
                    <a:close/>
                    <a:moveTo>
                      <a:pt x="330" y="171"/>
                    </a:moveTo>
                    <a:cubicBezTo>
                      <a:pt x="342" y="171"/>
                      <a:pt x="351" y="180"/>
                      <a:pt x="351" y="192"/>
                    </a:cubicBezTo>
                    <a:cubicBezTo>
                      <a:pt x="351" y="203"/>
                      <a:pt x="342" y="213"/>
                      <a:pt x="330" y="213"/>
                    </a:cubicBezTo>
                    <a:cubicBezTo>
                      <a:pt x="319" y="213"/>
                      <a:pt x="309" y="203"/>
                      <a:pt x="309" y="192"/>
                    </a:cubicBezTo>
                    <a:cubicBezTo>
                      <a:pt x="309" y="180"/>
                      <a:pt x="319" y="171"/>
                      <a:pt x="330" y="171"/>
                    </a:cubicBezTo>
                    <a:close/>
                    <a:moveTo>
                      <a:pt x="330" y="245"/>
                    </a:moveTo>
                    <a:cubicBezTo>
                      <a:pt x="342" y="245"/>
                      <a:pt x="351" y="255"/>
                      <a:pt x="351" y="266"/>
                    </a:cubicBezTo>
                    <a:cubicBezTo>
                      <a:pt x="351" y="278"/>
                      <a:pt x="342" y="287"/>
                      <a:pt x="330" y="287"/>
                    </a:cubicBezTo>
                    <a:cubicBezTo>
                      <a:pt x="319" y="287"/>
                      <a:pt x="309" y="278"/>
                      <a:pt x="309" y="266"/>
                    </a:cubicBezTo>
                    <a:cubicBezTo>
                      <a:pt x="309" y="255"/>
                      <a:pt x="319" y="245"/>
                      <a:pt x="330" y="245"/>
                    </a:cubicBezTo>
                    <a:close/>
                    <a:moveTo>
                      <a:pt x="256" y="96"/>
                    </a:moveTo>
                    <a:cubicBezTo>
                      <a:pt x="267" y="96"/>
                      <a:pt x="277" y="105"/>
                      <a:pt x="277" y="117"/>
                    </a:cubicBezTo>
                    <a:cubicBezTo>
                      <a:pt x="277" y="129"/>
                      <a:pt x="267" y="138"/>
                      <a:pt x="256" y="138"/>
                    </a:cubicBezTo>
                    <a:cubicBezTo>
                      <a:pt x="244" y="138"/>
                      <a:pt x="235" y="129"/>
                      <a:pt x="235" y="117"/>
                    </a:cubicBezTo>
                    <a:cubicBezTo>
                      <a:pt x="235" y="105"/>
                      <a:pt x="244" y="96"/>
                      <a:pt x="256" y="96"/>
                    </a:cubicBezTo>
                    <a:close/>
                    <a:moveTo>
                      <a:pt x="256" y="171"/>
                    </a:moveTo>
                    <a:cubicBezTo>
                      <a:pt x="267" y="171"/>
                      <a:pt x="277" y="180"/>
                      <a:pt x="277" y="192"/>
                    </a:cubicBezTo>
                    <a:cubicBezTo>
                      <a:pt x="277" y="203"/>
                      <a:pt x="267" y="213"/>
                      <a:pt x="256" y="213"/>
                    </a:cubicBezTo>
                    <a:cubicBezTo>
                      <a:pt x="244" y="213"/>
                      <a:pt x="235" y="203"/>
                      <a:pt x="235" y="192"/>
                    </a:cubicBezTo>
                    <a:cubicBezTo>
                      <a:pt x="235" y="180"/>
                      <a:pt x="244" y="171"/>
                      <a:pt x="256" y="171"/>
                    </a:cubicBezTo>
                    <a:close/>
                    <a:moveTo>
                      <a:pt x="181" y="96"/>
                    </a:moveTo>
                    <a:cubicBezTo>
                      <a:pt x="193" y="96"/>
                      <a:pt x="202" y="105"/>
                      <a:pt x="202" y="117"/>
                    </a:cubicBezTo>
                    <a:cubicBezTo>
                      <a:pt x="202" y="129"/>
                      <a:pt x="193" y="138"/>
                      <a:pt x="181" y="138"/>
                    </a:cubicBezTo>
                    <a:cubicBezTo>
                      <a:pt x="169" y="138"/>
                      <a:pt x="160" y="129"/>
                      <a:pt x="160" y="117"/>
                    </a:cubicBezTo>
                    <a:cubicBezTo>
                      <a:pt x="160" y="105"/>
                      <a:pt x="169" y="96"/>
                      <a:pt x="181" y="96"/>
                    </a:cubicBezTo>
                    <a:close/>
                    <a:moveTo>
                      <a:pt x="181" y="171"/>
                    </a:moveTo>
                    <a:cubicBezTo>
                      <a:pt x="193" y="171"/>
                      <a:pt x="202" y="180"/>
                      <a:pt x="202" y="192"/>
                    </a:cubicBezTo>
                    <a:cubicBezTo>
                      <a:pt x="202" y="203"/>
                      <a:pt x="193" y="213"/>
                      <a:pt x="181" y="213"/>
                    </a:cubicBezTo>
                    <a:cubicBezTo>
                      <a:pt x="169" y="213"/>
                      <a:pt x="160" y="203"/>
                      <a:pt x="160" y="192"/>
                    </a:cubicBezTo>
                    <a:cubicBezTo>
                      <a:pt x="160" y="180"/>
                      <a:pt x="169" y="171"/>
                      <a:pt x="181" y="171"/>
                    </a:cubicBezTo>
                    <a:close/>
                    <a:moveTo>
                      <a:pt x="181" y="245"/>
                    </a:moveTo>
                    <a:cubicBezTo>
                      <a:pt x="193" y="245"/>
                      <a:pt x="202" y="255"/>
                      <a:pt x="202" y="266"/>
                    </a:cubicBezTo>
                    <a:cubicBezTo>
                      <a:pt x="202" y="278"/>
                      <a:pt x="193" y="287"/>
                      <a:pt x="181" y="287"/>
                    </a:cubicBezTo>
                    <a:cubicBezTo>
                      <a:pt x="169" y="287"/>
                      <a:pt x="160" y="278"/>
                      <a:pt x="160" y="266"/>
                    </a:cubicBezTo>
                    <a:cubicBezTo>
                      <a:pt x="160" y="255"/>
                      <a:pt x="169" y="245"/>
                      <a:pt x="181" y="245"/>
                    </a:cubicBezTo>
                    <a:close/>
                    <a:moveTo>
                      <a:pt x="373" y="373"/>
                    </a:moveTo>
                    <a:cubicBezTo>
                      <a:pt x="373" y="379"/>
                      <a:pt x="368" y="384"/>
                      <a:pt x="362" y="384"/>
                    </a:cubicBezTo>
                    <a:cubicBezTo>
                      <a:pt x="356" y="384"/>
                      <a:pt x="352" y="379"/>
                      <a:pt x="352" y="373"/>
                    </a:cubicBezTo>
                    <a:cubicBezTo>
                      <a:pt x="352" y="352"/>
                      <a:pt x="352" y="352"/>
                      <a:pt x="352" y="352"/>
                    </a:cubicBezTo>
                    <a:cubicBezTo>
                      <a:pt x="352" y="346"/>
                      <a:pt x="347" y="341"/>
                      <a:pt x="341" y="341"/>
                    </a:cubicBezTo>
                    <a:cubicBezTo>
                      <a:pt x="335" y="341"/>
                      <a:pt x="330" y="346"/>
                      <a:pt x="330" y="352"/>
                    </a:cubicBezTo>
                    <a:cubicBezTo>
                      <a:pt x="330" y="362"/>
                      <a:pt x="330" y="362"/>
                      <a:pt x="330" y="362"/>
                    </a:cubicBezTo>
                    <a:cubicBezTo>
                      <a:pt x="330" y="368"/>
                      <a:pt x="326" y="373"/>
                      <a:pt x="320" y="373"/>
                    </a:cubicBezTo>
                    <a:cubicBezTo>
                      <a:pt x="314" y="373"/>
                      <a:pt x="309" y="368"/>
                      <a:pt x="309" y="362"/>
                    </a:cubicBezTo>
                    <a:cubicBezTo>
                      <a:pt x="309" y="330"/>
                      <a:pt x="309" y="330"/>
                      <a:pt x="309" y="330"/>
                    </a:cubicBezTo>
                    <a:cubicBezTo>
                      <a:pt x="309" y="324"/>
                      <a:pt x="304" y="320"/>
                      <a:pt x="298" y="320"/>
                    </a:cubicBezTo>
                    <a:cubicBezTo>
                      <a:pt x="292" y="320"/>
                      <a:pt x="288" y="324"/>
                      <a:pt x="288" y="330"/>
                    </a:cubicBezTo>
                    <a:cubicBezTo>
                      <a:pt x="288" y="362"/>
                      <a:pt x="288" y="362"/>
                      <a:pt x="288" y="362"/>
                    </a:cubicBezTo>
                    <a:cubicBezTo>
                      <a:pt x="288" y="368"/>
                      <a:pt x="283" y="373"/>
                      <a:pt x="277" y="373"/>
                    </a:cubicBezTo>
                    <a:cubicBezTo>
                      <a:pt x="271" y="373"/>
                      <a:pt x="266" y="368"/>
                      <a:pt x="266" y="362"/>
                    </a:cubicBezTo>
                    <a:cubicBezTo>
                      <a:pt x="266" y="266"/>
                      <a:pt x="266" y="266"/>
                      <a:pt x="266" y="266"/>
                    </a:cubicBezTo>
                    <a:cubicBezTo>
                      <a:pt x="266" y="260"/>
                      <a:pt x="262" y="256"/>
                      <a:pt x="256" y="256"/>
                    </a:cubicBezTo>
                    <a:cubicBezTo>
                      <a:pt x="250" y="256"/>
                      <a:pt x="245" y="260"/>
                      <a:pt x="245" y="266"/>
                    </a:cubicBezTo>
                    <a:cubicBezTo>
                      <a:pt x="245" y="394"/>
                      <a:pt x="245" y="394"/>
                      <a:pt x="245" y="394"/>
                    </a:cubicBezTo>
                    <a:cubicBezTo>
                      <a:pt x="245" y="395"/>
                      <a:pt x="245" y="395"/>
                      <a:pt x="245" y="396"/>
                    </a:cubicBezTo>
                    <a:cubicBezTo>
                      <a:pt x="246" y="401"/>
                      <a:pt x="244" y="406"/>
                      <a:pt x="239" y="408"/>
                    </a:cubicBezTo>
                    <a:cubicBezTo>
                      <a:pt x="234" y="410"/>
                      <a:pt x="227" y="408"/>
                      <a:pt x="225" y="403"/>
                    </a:cubicBezTo>
                    <a:cubicBezTo>
                      <a:pt x="210" y="371"/>
                      <a:pt x="210" y="371"/>
                      <a:pt x="210" y="371"/>
                    </a:cubicBezTo>
                    <a:cubicBezTo>
                      <a:pt x="207" y="365"/>
                      <a:pt x="203" y="358"/>
                      <a:pt x="195" y="354"/>
                    </a:cubicBezTo>
                    <a:cubicBezTo>
                      <a:pt x="193" y="353"/>
                      <a:pt x="190" y="351"/>
                      <a:pt x="188" y="352"/>
                    </a:cubicBezTo>
                    <a:cubicBezTo>
                      <a:pt x="188" y="352"/>
                      <a:pt x="187" y="352"/>
                      <a:pt x="186" y="353"/>
                    </a:cubicBezTo>
                    <a:cubicBezTo>
                      <a:pt x="183" y="353"/>
                      <a:pt x="182" y="355"/>
                      <a:pt x="182" y="356"/>
                    </a:cubicBezTo>
                    <a:cubicBezTo>
                      <a:pt x="180" y="360"/>
                      <a:pt x="181" y="368"/>
                      <a:pt x="188" y="379"/>
                    </a:cubicBezTo>
                    <a:cubicBezTo>
                      <a:pt x="188" y="379"/>
                      <a:pt x="189" y="379"/>
                      <a:pt x="189" y="380"/>
                    </a:cubicBezTo>
                    <a:cubicBezTo>
                      <a:pt x="198" y="401"/>
                      <a:pt x="198" y="401"/>
                      <a:pt x="198" y="401"/>
                    </a:cubicBezTo>
                    <a:cubicBezTo>
                      <a:pt x="201" y="406"/>
                      <a:pt x="199" y="412"/>
                      <a:pt x="193" y="415"/>
                    </a:cubicBezTo>
                    <a:cubicBezTo>
                      <a:pt x="192" y="415"/>
                      <a:pt x="190" y="416"/>
                      <a:pt x="189" y="416"/>
                    </a:cubicBezTo>
                    <a:cubicBezTo>
                      <a:pt x="185" y="416"/>
                      <a:pt x="181" y="413"/>
                      <a:pt x="179" y="410"/>
                    </a:cubicBezTo>
                    <a:cubicBezTo>
                      <a:pt x="170" y="389"/>
                      <a:pt x="170" y="389"/>
                      <a:pt x="170" y="389"/>
                    </a:cubicBezTo>
                    <a:cubicBezTo>
                      <a:pt x="160" y="374"/>
                      <a:pt x="157" y="359"/>
                      <a:pt x="162" y="348"/>
                    </a:cubicBezTo>
                    <a:cubicBezTo>
                      <a:pt x="165" y="340"/>
                      <a:pt x="172" y="334"/>
                      <a:pt x="180" y="332"/>
                    </a:cubicBezTo>
                    <a:cubicBezTo>
                      <a:pt x="188" y="329"/>
                      <a:pt x="197" y="330"/>
                      <a:pt x="206" y="335"/>
                    </a:cubicBezTo>
                    <a:cubicBezTo>
                      <a:pt x="213" y="339"/>
                      <a:pt x="218" y="345"/>
                      <a:pt x="224" y="352"/>
                    </a:cubicBezTo>
                    <a:cubicBezTo>
                      <a:pt x="224" y="266"/>
                      <a:pt x="224" y="266"/>
                      <a:pt x="224" y="266"/>
                    </a:cubicBezTo>
                    <a:cubicBezTo>
                      <a:pt x="224" y="249"/>
                      <a:pt x="238" y="234"/>
                      <a:pt x="256" y="234"/>
                    </a:cubicBezTo>
                    <a:cubicBezTo>
                      <a:pt x="273" y="234"/>
                      <a:pt x="288" y="249"/>
                      <a:pt x="288" y="266"/>
                    </a:cubicBezTo>
                    <a:cubicBezTo>
                      <a:pt x="288" y="300"/>
                      <a:pt x="288" y="300"/>
                      <a:pt x="288" y="300"/>
                    </a:cubicBezTo>
                    <a:cubicBezTo>
                      <a:pt x="292" y="299"/>
                      <a:pt x="295" y="298"/>
                      <a:pt x="298" y="298"/>
                    </a:cubicBezTo>
                    <a:cubicBezTo>
                      <a:pt x="313" y="298"/>
                      <a:pt x="325" y="308"/>
                      <a:pt x="329" y="322"/>
                    </a:cubicBezTo>
                    <a:cubicBezTo>
                      <a:pt x="333" y="321"/>
                      <a:pt x="337" y="320"/>
                      <a:pt x="341" y="320"/>
                    </a:cubicBezTo>
                    <a:cubicBezTo>
                      <a:pt x="359" y="320"/>
                      <a:pt x="373" y="334"/>
                      <a:pt x="373" y="352"/>
                    </a:cubicBezTo>
                    <a:lnTo>
                      <a:pt x="373" y="373"/>
                    </a:ln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0" name="Rectangle: Rounded Corners 27">
                <a:extLst>
                  <a:ext uri="{FF2B5EF4-FFF2-40B4-BE49-F238E27FC236}">
                    <a16:creationId xmlns:a16="http://schemas.microsoft.com/office/drawing/2014/main" id="{728896EA-CE78-48C7-A5B8-AD03520F0E0A}"/>
                  </a:ext>
                </a:extLst>
              </p:cNvPr>
              <p:cNvSpPr/>
              <p:nvPr/>
            </p:nvSpPr>
            <p:spPr>
              <a:xfrm>
                <a:off x="6745956" y="3400036"/>
                <a:ext cx="917899" cy="9179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1" name="Rectangle: Rounded Corners 28">
                <a:extLst>
                  <a:ext uri="{FF2B5EF4-FFF2-40B4-BE49-F238E27FC236}">
                    <a16:creationId xmlns:a16="http://schemas.microsoft.com/office/drawing/2014/main" id="{F77A4870-284C-4B27-A723-723C9DB27CCB}"/>
                  </a:ext>
                </a:extLst>
              </p:cNvPr>
              <p:cNvSpPr/>
              <p:nvPr/>
            </p:nvSpPr>
            <p:spPr>
              <a:xfrm>
                <a:off x="6868825" y="3497492"/>
                <a:ext cx="917899" cy="9179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4" name="Rectangle: Rounded Corners 37">
                <a:extLst>
                  <a:ext uri="{FF2B5EF4-FFF2-40B4-BE49-F238E27FC236}">
                    <a16:creationId xmlns:a16="http://schemas.microsoft.com/office/drawing/2014/main" id="{5AB4B85D-E406-4795-9046-FE84DDB59D33}"/>
                  </a:ext>
                </a:extLst>
              </p:cNvPr>
              <p:cNvSpPr/>
              <p:nvPr/>
            </p:nvSpPr>
            <p:spPr>
              <a:xfrm flipH="1">
                <a:off x="8032461" y="3400036"/>
                <a:ext cx="917899" cy="9179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5" name="Rectangle: Rounded Corners 38">
                <a:extLst>
                  <a:ext uri="{FF2B5EF4-FFF2-40B4-BE49-F238E27FC236}">
                    <a16:creationId xmlns:a16="http://schemas.microsoft.com/office/drawing/2014/main" id="{AEA91C9D-DF28-4FFA-99FA-71B07D6C5ACF}"/>
                  </a:ext>
                </a:extLst>
              </p:cNvPr>
              <p:cNvSpPr/>
              <p:nvPr/>
            </p:nvSpPr>
            <p:spPr>
              <a:xfrm flipH="1">
                <a:off x="7909592" y="3497492"/>
                <a:ext cx="917899" cy="9179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0" name="Freeform 420">
                <a:extLst>
                  <a:ext uri="{FF2B5EF4-FFF2-40B4-BE49-F238E27FC236}">
                    <a16:creationId xmlns:a16="http://schemas.microsoft.com/office/drawing/2014/main" id="{2FF1B41E-58ED-4BA8-8B13-1BF89269D891}"/>
                  </a:ext>
                </a:extLst>
              </p:cNvPr>
              <p:cNvSpPr>
                <a:spLocks noChangeAspect="1" noEditPoints="1"/>
              </p:cNvSpPr>
              <p:nvPr/>
            </p:nvSpPr>
            <p:spPr bwMode="auto">
              <a:xfrm>
                <a:off x="7053454" y="3682122"/>
                <a:ext cx="548640" cy="548640"/>
              </a:xfrm>
              <a:custGeom>
                <a:avLst/>
                <a:gdLst>
                  <a:gd name="T0" fmla="*/ 117 w 512"/>
                  <a:gd name="T1" fmla="*/ 170 h 512"/>
                  <a:gd name="T2" fmla="*/ 394 w 512"/>
                  <a:gd name="T3" fmla="*/ 170 h 512"/>
                  <a:gd name="T4" fmla="*/ 394 w 512"/>
                  <a:gd name="T5" fmla="*/ 341 h 512"/>
                  <a:gd name="T6" fmla="*/ 117 w 512"/>
                  <a:gd name="T7" fmla="*/ 341 h 512"/>
                  <a:gd name="T8" fmla="*/ 117 w 512"/>
                  <a:gd name="T9" fmla="*/ 17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416 w 512"/>
                  <a:gd name="T21" fmla="*/ 160 h 512"/>
                  <a:gd name="T22" fmla="*/ 405 w 512"/>
                  <a:gd name="T23" fmla="*/ 149 h 512"/>
                  <a:gd name="T24" fmla="*/ 106 w 512"/>
                  <a:gd name="T25" fmla="*/ 149 h 512"/>
                  <a:gd name="T26" fmla="*/ 96 w 512"/>
                  <a:gd name="T27" fmla="*/ 160 h 512"/>
                  <a:gd name="T28" fmla="*/ 96 w 512"/>
                  <a:gd name="T29" fmla="*/ 352 h 512"/>
                  <a:gd name="T30" fmla="*/ 106 w 512"/>
                  <a:gd name="T31" fmla="*/ 362 h 512"/>
                  <a:gd name="T32" fmla="*/ 192 w 512"/>
                  <a:gd name="T33" fmla="*/ 362 h 512"/>
                  <a:gd name="T34" fmla="*/ 181 w 512"/>
                  <a:gd name="T35" fmla="*/ 373 h 512"/>
                  <a:gd name="T36" fmla="*/ 192 w 512"/>
                  <a:gd name="T37" fmla="*/ 384 h 512"/>
                  <a:gd name="T38" fmla="*/ 320 w 512"/>
                  <a:gd name="T39" fmla="*/ 384 h 512"/>
                  <a:gd name="T40" fmla="*/ 330 w 512"/>
                  <a:gd name="T41" fmla="*/ 373 h 512"/>
                  <a:gd name="T42" fmla="*/ 320 w 512"/>
                  <a:gd name="T43" fmla="*/ 362 h 512"/>
                  <a:gd name="T44" fmla="*/ 405 w 512"/>
                  <a:gd name="T45" fmla="*/ 362 h 512"/>
                  <a:gd name="T46" fmla="*/ 416 w 512"/>
                  <a:gd name="T47" fmla="*/ 352 h 512"/>
                  <a:gd name="T48" fmla="*/ 416 w 512"/>
                  <a:gd name="T49"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12" h="512">
                    <a:moveTo>
                      <a:pt x="117" y="170"/>
                    </a:moveTo>
                    <a:cubicBezTo>
                      <a:pt x="394" y="170"/>
                      <a:pt x="394" y="170"/>
                      <a:pt x="394" y="170"/>
                    </a:cubicBezTo>
                    <a:cubicBezTo>
                      <a:pt x="394" y="341"/>
                      <a:pt x="394" y="341"/>
                      <a:pt x="394" y="341"/>
                    </a:cubicBezTo>
                    <a:cubicBezTo>
                      <a:pt x="117" y="341"/>
                      <a:pt x="117" y="341"/>
                      <a:pt x="117" y="341"/>
                    </a:cubicBezTo>
                    <a:lnTo>
                      <a:pt x="117"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60"/>
                    </a:moveTo>
                    <a:cubicBezTo>
                      <a:pt x="416" y="154"/>
                      <a:pt x="411" y="149"/>
                      <a:pt x="405" y="149"/>
                    </a:cubicBezTo>
                    <a:cubicBezTo>
                      <a:pt x="106" y="149"/>
                      <a:pt x="106" y="149"/>
                      <a:pt x="106" y="149"/>
                    </a:cubicBezTo>
                    <a:cubicBezTo>
                      <a:pt x="100" y="149"/>
                      <a:pt x="96" y="154"/>
                      <a:pt x="96" y="160"/>
                    </a:cubicBezTo>
                    <a:cubicBezTo>
                      <a:pt x="96" y="352"/>
                      <a:pt x="96" y="352"/>
                      <a:pt x="96" y="352"/>
                    </a:cubicBezTo>
                    <a:cubicBezTo>
                      <a:pt x="96" y="358"/>
                      <a:pt x="100" y="362"/>
                      <a:pt x="106" y="362"/>
                    </a:cubicBezTo>
                    <a:cubicBezTo>
                      <a:pt x="192" y="362"/>
                      <a:pt x="192" y="362"/>
                      <a:pt x="192" y="362"/>
                    </a:cubicBezTo>
                    <a:cubicBezTo>
                      <a:pt x="186" y="362"/>
                      <a:pt x="181" y="367"/>
                      <a:pt x="181" y="373"/>
                    </a:cubicBezTo>
                    <a:cubicBezTo>
                      <a:pt x="181" y="379"/>
                      <a:pt x="186" y="384"/>
                      <a:pt x="192" y="384"/>
                    </a:cubicBezTo>
                    <a:cubicBezTo>
                      <a:pt x="320" y="384"/>
                      <a:pt x="320" y="384"/>
                      <a:pt x="320" y="384"/>
                    </a:cubicBezTo>
                    <a:cubicBezTo>
                      <a:pt x="326" y="384"/>
                      <a:pt x="330" y="379"/>
                      <a:pt x="330" y="373"/>
                    </a:cubicBezTo>
                    <a:cubicBezTo>
                      <a:pt x="330" y="367"/>
                      <a:pt x="326" y="362"/>
                      <a:pt x="320" y="362"/>
                    </a:cubicBezTo>
                    <a:cubicBezTo>
                      <a:pt x="405" y="362"/>
                      <a:pt x="405" y="362"/>
                      <a:pt x="405" y="362"/>
                    </a:cubicBezTo>
                    <a:cubicBezTo>
                      <a:pt x="411" y="362"/>
                      <a:pt x="416" y="358"/>
                      <a:pt x="416" y="352"/>
                    </a:cubicBezTo>
                    <a:lnTo>
                      <a:pt x="416" y="160"/>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2" name="Freeform 469">
                <a:extLst>
                  <a:ext uri="{FF2B5EF4-FFF2-40B4-BE49-F238E27FC236}">
                    <a16:creationId xmlns:a16="http://schemas.microsoft.com/office/drawing/2014/main" id="{76D250A8-34FA-4320-A7AD-4AE743FD0CAE}"/>
                  </a:ext>
                </a:extLst>
              </p:cNvPr>
              <p:cNvSpPr>
                <a:spLocks noChangeAspect="1" noEditPoints="1"/>
              </p:cNvSpPr>
              <p:nvPr/>
            </p:nvSpPr>
            <p:spPr bwMode="auto">
              <a:xfrm>
                <a:off x="8094221" y="3682122"/>
                <a:ext cx="548640" cy="548640"/>
              </a:xfrm>
              <a:custGeom>
                <a:avLst/>
                <a:gdLst>
                  <a:gd name="T0" fmla="*/ 309 w 512"/>
                  <a:gd name="T1" fmla="*/ 320 h 512"/>
                  <a:gd name="T2" fmla="*/ 288 w 512"/>
                  <a:gd name="T3" fmla="*/ 341 h 512"/>
                  <a:gd name="T4" fmla="*/ 266 w 512"/>
                  <a:gd name="T5" fmla="*/ 320 h 512"/>
                  <a:gd name="T6" fmla="*/ 288 w 512"/>
                  <a:gd name="T7" fmla="*/ 298 h 512"/>
                  <a:gd name="T8" fmla="*/ 309 w 512"/>
                  <a:gd name="T9" fmla="*/ 320 h 512"/>
                  <a:gd name="T10" fmla="*/ 213 w 512"/>
                  <a:gd name="T11" fmla="*/ 160 h 512"/>
                  <a:gd name="T12" fmla="*/ 192 w 512"/>
                  <a:gd name="T13" fmla="*/ 181 h 512"/>
                  <a:gd name="T14" fmla="*/ 213 w 512"/>
                  <a:gd name="T15" fmla="*/ 202 h 512"/>
                  <a:gd name="T16" fmla="*/ 234 w 512"/>
                  <a:gd name="T17" fmla="*/ 181 h 512"/>
                  <a:gd name="T18" fmla="*/ 213 w 512"/>
                  <a:gd name="T19" fmla="*/ 160 h 512"/>
                  <a:gd name="T20" fmla="*/ 138 w 512"/>
                  <a:gd name="T21" fmla="*/ 298 h 512"/>
                  <a:gd name="T22" fmla="*/ 117 w 512"/>
                  <a:gd name="T23" fmla="*/ 320 h 512"/>
                  <a:gd name="T24" fmla="*/ 138 w 512"/>
                  <a:gd name="T25" fmla="*/ 341 h 512"/>
                  <a:gd name="T26" fmla="*/ 160 w 512"/>
                  <a:gd name="T27" fmla="*/ 320 h 512"/>
                  <a:gd name="T28" fmla="*/ 138 w 512"/>
                  <a:gd name="T29" fmla="*/ 298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6 w 512"/>
                  <a:gd name="T41" fmla="*/ 181 h 512"/>
                  <a:gd name="T42" fmla="*/ 373 w 512"/>
                  <a:gd name="T43" fmla="*/ 138 h 512"/>
                  <a:gd name="T44" fmla="*/ 330 w 512"/>
                  <a:gd name="T45" fmla="*/ 181 h 512"/>
                  <a:gd name="T46" fmla="*/ 342 w 512"/>
                  <a:gd name="T47" fmla="*/ 211 h 512"/>
                  <a:gd name="T48" fmla="*/ 300 w 512"/>
                  <a:gd name="T49" fmla="*/ 279 h 512"/>
                  <a:gd name="T50" fmla="*/ 288 w 512"/>
                  <a:gd name="T51" fmla="*/ 277 h 512"/>
                  <a:gd name="T52" fmla="*/ 278 w 512"/>
                  <a:gd name="T53" fmla="*/ 278 h 512"/>
                  <a:gd name="T54" fmla="*/ 242 w 512"/>
                  <a:gd name="T55" fmla="*/ 212 h 512"/>
                  <a:gd name="T56" fmla="*/ 256 w 512"/>
                  <a:gd name="T57" fmla="*/ 181 h 512"/>
                  <a:gd name="T58" fmla="*/ 213 w 512"/>
                  <a:gd name="T59" fmla="*/ 138 h 512"/>
                  <a:gd name="T60" fmla="*/ 170 w 512"/>
                  <a:gd name="T61" fmla="*/ 181 h 512"/>
                  <a:gd name="T62" fmla="*/ 184 w 512"/>
                  <a:gd name="T63" fmla="*/ 212 h 512"/>
                  <a:gd name="T64" fmla="*/ 148 w 512"/>
                  <a:gd name="T65" fmla="*/ 278 h 512"/>
                  <a:gd name="T66" fmla="*/ 138 w 512"/>
                  <a:gd name="T67" fmla="*/ 277 h 512"/>
                  <a:gd name="T68" fmla="*/ 96 w 512"/>
                  <a:gd name="T69" fmla="*/ 320 h 512"/>
                  <a:gd name="T70" fmla="*/ 138 w 512"/>
                  <a:gd name="T71" fmla="*/ 362 h 512"/>
                  <a:gd name="T72" fmla="*/ 181 w 512"/>
                  <a:gd name="T73" fmla="*/ 320 h 512"/>
                  <a:gd name="T74" fmla="*/ 167 w 512"/>
                  <a:gd name="T75" fmla="*/ 288 h 512"/>
                  <a:gd name="T76" fmla="*/ 203 w 512"/>
                  <a:gd name="T77" fmla="*/ 222 h 512"/>
                  <a:gd name="T78" fmla="*/ 213 w 512"/>
                  <a:gd name="T79" fmla="*/ 224 h 512"/>
                  <a:gd name="T80" fmla="*/ 223 w 512"/>
                  <a:gd name="T81" fmla="*/ 222 h 512"/>
                  <a:gd name="T82" fmla="*/ 259 w 512"/>
                  <a:gd name="T83" fmla="*/ 288 h 512"/>
                  <a:gd name="T84" fmla="*/ 245 w 512"/>
                  <a:gd name="T85" fmla="*/ 320 h 512"/>
                  <a:gd name="T86" fmla="*/ 288 w 512"/>
                  <a:gd name="T87" fmla="*/ 362 h 512"/>
                  <a:gd name="T88" fmla="*/ 330 w 512"/>
                  <a:gd name="T89" fmla="*/ 320 h 512"/>
                  <a:gd name="T90" fmla="*/ 318 w 512"/>
                  <a:gd name="T91" fmla="*/ 290 h 512"/>
                  <a:gd name="T92" fmla="*/ 361 w 512"/>
                  <a:gd name="T93" fmla="*/ 222 h 512"/>
                  <a:gd name="T94" fmla="*/ 373 w 512"/>
                  <a:gd name="T95" fmla="*/ 224 h 512"/>
                  <a:gd name="T96" fmla="*/ 416 w 512"/>
                  <a:gd name="T97" fmla="*/ 181 h 512"/>
                  <a:gd name="T98" fmla="*/ 373 w 512"/>
                  <a:gd name="T99" fmla="*/ 160 h 512"/>
                  <a:gd name="T100" fmla="*/ 352 w 512"/>
                  <a:gd name="T101" fmla="*/ 181 h 512"/>
                  <a:gd name="T102" fmla="*/ 373 w 512"/>
                  <a:gd name="T103" fmla="*/ 202 h 512"/>
                  <a:gd name="T104" fmla="*/ 394 w 512"/>
                  <a:gd name="T105" fmla="*/ 181 h 512"/>
                  <a:gd name="T106" fmla="*/ 373 w 512"/>
                  <a:gd name="T107"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309" y="320"/>
                    </a:moveTo>
                    <a:cubicBezTo>
                      <a:pt x="309" y="331"/>
                      <a:pt x="299" y="341"/>
                      <a:pt x="288" y="341"/>
                    </a:cubicBezTo>
                    <a:cubicBezTo>
                      <a:pt x="276" y="341"/>
                      <a:pt x="266" y="331"/>
                      <a:pt x="266" y="320"/>
                    </a:cubicBezTo>
                    <a:cubicBezTo>
                      <a:pt x="266" y="308"/>
                      <a:pt x="276" y="298"/>
                      <a:pt x="288" y="298"/>
                    </a:cubicBezTo>
                    <a:cubicBezTo>
                      <a:pt x="299" y="298"/>
                      <a:pt x="309" y="308"/>
                      <a:pt x="309" y="320"/>
                    </a:cubicBezTo>
                    <a:close/>
                    <a:moveTo>
                      <a:pt x="213" y="160"/>
                    </a:moveTo>
                    <a:cubicBezTo>
                      <a:pt x="201" y="160"/>
                      <a:pt x="192" y="169"/>
                      <a:pt x="192" y="181"/>
                    </a:cubicBezTo>
                    <a:cubicBezTo>
                      <a:pt x="192" y="193"/>
                      <a:pt x="201" y="202"/>
                      <a:pt x="213" y="202"/>
                    </a:cubicBezTo>
                    <a:cubicBezTo>
                      <a:pt x="225" y="202"/>
                      <a:pt x="234" y="193"/>
                      <a:pt x="234" y="181"/>
                    </a:cubicBezTo>
                    <a:cubicBezTo>
                      <a:pt x="234" y="169"/>
                      <a:pt x="225" y="160"/>
                      <a:pt x="213" y="160"/>
                    </a:cubicBezTo>
                    <a:close/>
                    <a:moveTo>
                      <a:pt x="138" y="298"/>
                    </a:moveTo>
                    <a:cubicBezTo>
                      <a:pt x="127" y="298"/>
                      <a:pt x="117" y="308"/>
                      <a:pt x="117" y="320"/>
                    </a:cubicBezTo>
                    <a:cubicBezTo>
                      <a:pt x="117" y="331"/>
                      <a:pt x="127" y="341"/>
                      <a:pt x="138" y="341"/>
                    </a:cubicBezTo>
                    <a:cubicBezTo>
                      <a:pt x="150" y="341"/>
                      <a:pt x="160" y="331"/>
                      <a:pt x="160" y="320"/>
                    </a:cubicBezTo>
                    <a:cubicBezTo>
                      <a:pt x="160" y="308"/>
                      <a:pt x="150" y="298"/>
                      <a:pt x="138" y="29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81"/>
                    </a:moveTo>
                    <a:cubicBezTo>
                      <a:pt x="416" y="157"/>
                      <a:pt x="397" y="138"/>
                      <a:pt x="373" y="138"/>
                    </a:cubicBezTo>
                    <a:cubicBezTo>
                      <a:pt x="349" y="138"/>
                      <a:pt x="330" y="157"/>
                      <a:pt x="330" y="181"/>
                    </a:cubicBezTo>
                    <a:cubicBezTo>
                      <a:pt x="330" y="192"/>
                      <a:pt x="335" y="203"/>
                      <a:pt x="342" y="211"/>
                    </a:cubicBezTo>
                    <a:cubicBezTo>
                      <a:pt x="300" y="279"/>
                      <a:pt x="300" y="279"/>
                      <a:pt x="300" y="279"/>
                    </a:cubicBezTo>
                    <a:cubicBezTo>
                      <a:pt x="296" y="278"/>
                      <a:pt x="292" y="277"/>
                      <a:pt x="288" y="277"/>
                    </a:cubicBezTo>
                    <a:cubicBezTo>
                      <a:pt x="284" y="277"/>
                      <a:pt x="281" y="278"/>
                      <a:pt x="278" y="278"/>
                    </a:cubicBezTo>
                    <a:cubicBezTo>
                      <a:pt x="242" y="212"/>
                      <a:pt x="242" y="212"/>
                      <a:pt x="242" y="212"/>
                    </a:cubicBezTo>
                    <a:cubicBezTo>
                      <a:pt x="250" y="204"/>
                      <a:pt x="256" y="193"/>
                      <a:pt x="256" y="181"/>
                    </a:cubicBezTo>
                    <a:cubicBezTo>
                      <a:pt x="256" y="157"/>
                      <a:pt x="237" y="138"/>
                      <a:pt x="213" y="138"/>
                    </a:cubicBezTo>
                    <a:cubicBezTo>
                      <a:pt x="189" y="138"/>
                      <a:pt x="170" y="157"/>
                      <a:pt x="170" y="181"/>
                    </a:cubicBezTo>
                    <a:cubicBezTo>
                      <a:pt x="170" y="193"/>
                      <a:pt x="176" y="204"/>
                      <a:pt x="184" y="212"/>
                    </a:cubicBezTo>
                    <a:cubicBezTo>
                      <a:pt x="148" y="278"/>
                      <a:pt x="148" y="278"/>
                      <a:pt x="148" y="278"/>
                    </a:cubicBezTo>
                    <a:cubicBezTo>
                      <a:pt x="145" y="278"/>
                      <a:pt x="142" y="277"/>
                      <a:pt x="138" y="277"/>
                    </a:cubicBezTo>
                    <a:cubicBezTo>
                      <a:pt x="115" y="277"/>
                      <a:pt x="96" y="296"/>
                      <a:pt x="96" y="320"/>
                    </a:cubicBezTo>
                    <a:cubicBezTo>
                      <a:pt x="96" y="343"/>
                      <a:pt x="115" y="362"/>
                      <a:pt x="138" y="362"/>
                    </a:cubicBezTo>
                    <a:cubicBezTo>
                      <a:pt x="162" y="362"/>
                      <a:pt x="181" y="343"/>
                      <a:pt x="181" y="320"/>
                    </a:cubicBezTo>
                    <a:cubicBezTo>
                      <a:pt x="181" y="307"/>
                      <a:pt x="176" y="296"/>
                      <a:pt x="167" y="288"/>
                    </a:cubicBezTo>
                    <a:cubicBezTo>
                      <a:pt x="203" y="222"/>
                      <a:pt x="203" y="222"/>
                      <a:pt x="203" y="222"/>
                    </a:cubicBezTo>
                    <a:cubicBezTo>
                      <a:pt x="206" y="223"/>
                      <a:pt x="209" y="224"/>
                      <a:pt x="213" y="224"/>
                    </a:cubicBezTo>
                    <a:cubicBezTo>
                      <a:pt x="217" y="224"/>
                      <a:pt x="220" y="223"/>
                      <a:pt x="223" y="222"/>
                    </a:cubicBezTo>
                    <a:cubicBezTo>
                      <a:pt x="259" y="288"/>
                      <a:pt x="259" y="288"/>
                      <a:pt x="259" y="288"/>
                    </a:cubicBezTo>
                    <a:cubicBezTo>
                      <a:pt x="250" y="296"/>
                      <a:pt x="245" y="307"/>
                      <a:pt x="245" y="320"/>
                    </a:cubicBezTo>
                    <a:cubicBezTo>
                      <a:pt x="245" y="343"/>
                      <a:pt x="264" y="362"/>
                      <a:pt x="288" y="362"/>
                    </a:cubicBezTo>
                    <a:cubicBezTo>
                      <a:pt x="311" y="362"/>
                      <a:pt x="330" y="343"/>
                      <a:pt x="330" y="320"/>
                    </a:cubicBezTo>
                    <a:cubicBezTo>
                      <a:pt x="330" y="308"/>
                      <a:pt x="326" y="298"/>
                      <a:pt x="318" y="290"/>
                    </a:cubicBezTo>
                    <a:cubicBezTo>
                      <a:pt x="361" y="222"/>
                      <a:pt x="361" y="222"/>
                      <a:pt x="361" y="222"/>
                    </a:cubicBezTo>
                    <a:cubicBezTo>
                      <a:pt x="365" y="223"/>
                      <a:pt x="369" y="224"/>
                      <a:pt x="373" y="224"/>
                    </a:cubicBezTo>
                    <a:cubicBezTo>
                      <a:pt x="397" y="224"/>
                      <a:pt x="416" y="205"/>
                      <a:pt x="416" y="181"/>
                    </a:cubicBezTo>
                    <a:close/>
                    <a:moveTo>
                      <a:pt x="373" y="160"/>
                    </a:moveTo>
                    <a:cubicBezTo>
                      <a:pt x="361" y="160"/>
                      <a:pt x="352" y="169"/>
                      <a:pt x="352" y="181"/>
                    </a:cubicBezTo>
                    <a:cubicBezTo>
                      <a:pt x="352" y="193"/>
                      <a:pt x="361" y="202"/>
                      <a:pt x="373" y="202"/>
                    </a:cubicBezTo>
                    <a:cubicBezTo>
                      <a:pt x="385" y="202"/>
                      <a:pt x="394" y="193"/>
                      <a:pt x="394" y="181"/>
                    </a:cubicBezTo>
                    <a:cubicBezTo>
                      <a:pt x="394" y="169"/>
                      <a:pt x="385" y="160"/>
                      <a:pt x="373" y="160"/>
                    </a:cubicBezTo>
                    <a:close/>
                  </a:path>
                </a:pathLst>
              </a:custGeom>
              <a:solidFill>
                <a:srgbClr val="26890D"/>
              </a:solidFill>
              <a:ln>
                <a:noFill/>
              </a:ln>
            </p:spPr>
            <p:txBody>
              <a:bodyPr vert="horz" wrap="square" lIns="91440" tIns="45720" rIns="91440" bIns="45720" numCol="1" anchor="t" anchorCtr="0" compatLnSpc="1">
                <a:prstTxWarp prst="textNoShape">
                  <a:avLst/>
                </a:prstTxWarp>
              </a:bodyPr>
              <a:lstStyle/>
              <a:p>
                <a:endParaRPr lang="en-GB" dirty="0"/>
              </a:p>
            </p:txBody>
          </p:sp>
        </p:grpSp>
      </p:grpSp>
      <p:grpSp>
        <p:nvGrpSpPr>
          <p:cNvPr id="24" name="Group 23">
            <a:extLst>
              <a:ext uri="{FF2B5EF4-FFF2-40B4-BE49-F238E27FC236}">
                <a16:creationId xmlns:a16="http://schemas.microsoft.com/office/drawing/2014/main" id="{36516C6F-9E1A-4ED6-B18E-CAD61BAD42E0}"/>
              </a:ext>
            </a:extLst>
          </p:cNvPr>
          <p:cNvGrpSpPr/>
          <p:nvPr/>
        </p:nvGrpSpPr>
        <p:grpSpPr>
          <a:xfrm>
            <a:off x="3565641" y="1678359"/>
            <a:ext cx="234087" cy="4568604"/>
            <a:chOff x="3565641" y="1678359"/>
            <a:chExt cx="234087" cy="4568604"/>
          </a:xfrm>
        </p:grpSpPr>
        <p:cxnSp>
          <p:nvCxnSpPr>
            <p:cNvPr id="125" name="Straight Connector 124">
              <a:extLst>
                <a:ext uri="{FF2B5EF4-FFF2-40B4-BE49-F238E27FC236}">
                  <a16:creationId xmlns:a16="http://schemas.microsoft.com/office/drawing/2014/main" id="{D397181C-DA6B-455E-A10D-12919BC5D1FD}"/>
                </a:ext>
              </a:extLst>
            </p:cNvPr>
            <p:cNvCxnSpPr>
              <a:cxnSpLocks/>
            </p:cNvCxnSpPr>
            <p:nvPr/>
          </p:nvCxnSpPr>
          <p:spPr>
            <a:xfrm>
              <a:off x="3565641" y="1678359"/>
              <a:ext cx="0" cy="4568604"/>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129" name="Isosceles Triangle 128">
              <a:extLst>
                <a:ext uri="{FF2B5EF4-FFF2-40B4-BE49-F238E27FC236}">
                  <a16:creationId xmlns:a16="http://schemas.microsoft.com/office/drawing/2014/main" id="{0161A430-BD08-4A8D-9702-E441623F1AFB}"/>
                </a:ext>
              </a:extLst>
            </p:cNvPr>
            <p:cNvSpPr/>
            <p:nvPr/>
          </p:nvSpPr>
          <p:spPr bwMode="gray">
            <a:xfrm rot="5400000">
              <a:off x="3410215" y="3161444"/>
              <a:ext cx="544940" cy="234087"/>
            </a:xfrm>
            <a:prstGeom prst="triangle">
              <a:avLst/>
            </a:prstGeom>
            <a:solidFill>
              <a:schemeClr val="bg1">
                <a:lumMod val="50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nvGrpSpPr>
          <p:cNvPr id="137" name="Group 136">
            <a:extLst>
              <a:ext uri="{FF2B5EF4-FFF2-40B4-BE49-F238E27FC236}">
                <a16:creationId xmlns:a16="http://schemas.microsoft.com/office/drawing/2014/main" id="{250A2C05-C531-42C8-BAFC-3733864EABF7}"/>
              </a:ext>
            </a:extLst>
          </p:cNvPr>
          <p:cNvGrpSpPr/>
          <p:nvPr/>
        </p:nvGrpSpPr>
        <p:grpSpPr>
          <a:xfrm>
            <a:off x="5565252" y="4512855"/>
            <a:ext cx="4568604" cy="237744"/>
            <a:chOff x="5351811" y="4626870"/>
            <a:chExt cx="4568604" cy="237744"/>
          </a:xfrm>
        </p:grpSpPr>
        <p:cxnSp>
          <p:nvCxnSpPr>
            <p:cNvPr id="132" name="Straight Connector 131">
              <a:extLst>
                <a:ext uri="{FF2B5EF4-FFF2-40B4-BE49-F238E27FC236}">
                  <a16:creationId xmlns:a16="http://schemas.microsoft.com/office/drawing/2014/main" id="{E8E82571-D89D-4292-863C-A1B03754B576}"/>
                </a:ext>
              </a:extLst>
            </p:cNvPr>
            <p:cNvCxnSpPr>
              <a:cxnSpLocks/>
            </p:cNvCxnSpPr>
            <p:nvPr/>
          </p:nvCxnSpPr>
          <p:spPr>
            <a:xfrm rot="5400000">
              <a:off x="7636113" y="2342568"/>
              <a:ext cx="0" cy="4568604"/>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133" name="Isosceles Triangle 132">
              <a:extLst>
                <a:ext uri="{FF2B5EF4-FFF2-40B4-BE49-F238E27FC236}">
                  <a16:creationId xmlns:a16="http://schemas.microsoft.com/office/drawing/2014/main" id="{D5D27AD8-A0FD-4AC9-A1DF-6823D9CE1EE3}"/>
                </a:ext>
              </a:extLst>
            </p:cNvPr>
            <p:cNvSpPr/>
            <p:nvPr/>
          </p:nvSpPr>
          <p:spPr bwMode="gray">
            <a:xfrm rot="10800000">
              <a:off x="7363644" y="4626870"/>
              <a:ext cx="544940" cy="237744"/>
            </a:xfrm>
            <a:prstGeom prst="triangle">
              <a:avLst/>
            </a:prstGeom>
            <a:solidFill>
              <a:schemeClr val="bg1">
                <a:lumMod val="50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sp>
        <p:nvSpPr>
          <p:cNvPr id="134" name="Rectangle 133">
            <a:extLst>
              <a:ext uri="{FF2B5EF4-FFF2-40B4-BE49-F238E27FC236}">
                <a16:creationId xmlns:a16="http://schemas.microsoft.com/office/drawing/2014/main" id="{92007874-29C3-4938-99D3-FF103C188823}"/>
              </a:ext>
            </a:extLst>
          </p:cNvPr>
          <p:cNvSpPr/>
          <p:nvPr/>
        </p:nvSpPr>
        <p:spPr bwMode="gray">
          <a:xfrm>
            <a:off x="3982089" y="4895243"/>
            <a:ext cx="8209908"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Current Assignment</a:t>
            </a:r>
          </a:p>
        </p:txBody>
      </p:sp>
      <p:grpSp>
        <p:nvGrpSpPr>
          <p:cNvPr id="140" name="Group 139">
            <a:extLst>
              <a:ext uri="{FF2B5EF4-FFF2-40B4-BE49-F238E27FC236}">
                <a16:creationId xmlns:a16="http://schemas.microsoft.com/office/drawing/2014/main" id="{362533A4-D12D-4943-AD2C-D74A5CCEF609}"/>
              </a:ext>
            </a:extLst>
          </p:cNvPr>
          <p:cNvGrpSpPr/>
          <p:nvPr/>
        </p:nvGrpSpPr>
        <p:grpSpPr>
          <a:xfrm>
            <a:off x="3982089" y="5302304"/>
            <a:ext cx="7730486" cy="944659"/>
            <a:chOff x="3982089" y="5302304"/>
            <a:chExt cx="7730486" cy="944659"/>
          </a:xfrm>
        </p:grpSpPr>
        <p:sp>
          <p:nvSpPr>
            <p:cNvPr id="138" name="TextBox 137">
              <a:extLst>
                <a:ext uri="{FF2B5EF4-FFF2-40B4-BE49-F238E27FC236}">
                  <a16:creationId xmlns:a16="http://schemas.microsoft.com/office/drawing/2014/main" id="{03FBD925-A60D-4B39-A426-A93575F0C28F}"/>
                </a:ext>
              </a:extLst>
            </p:cNvPr>
            <p:cNvSpPr txBox="1"/>
            <p:nvPr/>
          </p:nvSpPr>
          <p:spPr>
            <a:xfrm>
              <a:off x="3982089" y="5302304"/>
              <a:ext cx="7722232" cy="369332"/>
            </a:xfrm>
            <a:prstGeom prst="rect">
              <a:avLst/>
            </a:prstGeom>
            <a:noFill/>
          </p:spPr>
          <p:txBody>
            <a:bodyPr wrap="square" lIns="0" tIns="0" rIns="0" bIns="0" rtlCol="0" anchor="ctr">
              <a:spAutoFit/>
            </a:bodyPr>
            <a:lstStyle/>
            <a:p>
              <a:pPr defTabSz="914400">
                <a:buSzPct val="100000"/>
                <a:defRPr/>
              </a:pPr>
              <a:r>
                <a:rPr lang="en-US" sz="1200" dirty="0">
                  <a:latin typeface="Calibri" panose="020F0502020204030204" pitchFamily="34" charset="0"/>
                  <a:cs typeface="Calibri" panose="020F0502020204030204" pitchFamily="34" charset="0"/>
                </a:rPr>
                <a:t>Intends to further Institutionalize OOMF across </a:t>
              </a:r>
              <a:r>
                <a:rPr lang="en-US" sz="1200" dirty="0" err="1">
                  <a:latin typeface="Calibri" panose="020F0502020204030204" pitchFamily="34" charset="0"/>
                  <a:cs typeface="Calibri" panose="020F0502020204030204" pitchFamily="34" charset="0"/>
                </a:rPr>
                <a:t>GoI</a:t>
              </a:r>
              <a:r>
                <a:rPr lang="en-US" sz="1200" dirty="0">
                  <a:latin typeface="Calibri" panose="020F0502020204030204" pitchFamily="34" charset="0"/>
                  <a:cs typeface="Calibri" panose="020F0502020204030204" pitchFamily="34" charset="0"/>
                </a:rPr>
                <a:t> and State Governments OOMF by selecting a consulting partner to conduct the following: </a:t>
              </a:r>
            </a:p>
          </p:txBody>
        </p:sp>
        <p:sp>
          <p:nvSpPr>
            <p:cNvPr id="139" name="Content Placeholder 6">
              <a:extLst>
                <a:ext uri="{FF2B5EF4-FFF2-40B4-BE49-F238E27FC236}">
                  <a16:creationId xmlns:a16="http://schemas.microsoft.com/office/drawing/2014/main" id="{A96683B4-7127-4D96-B869-8392FD9EC852}"/>
                </a:ext>
              </a:extLst>
            </p:cNvPr>
            <p:cNvSpPr txBox="1">
              <a:spLocks/>
            </p:cNvSpPr>
            <p:nvPr/>
          </p:nvSpPr>
          <p:spPr>
            <a:xfrm>
              <a:off x="3982089" y="5692965"/>
              <a:ext cx="7730486" cy="553998"/>
            </a:xfrm>
            <a:prstGeom prst="rect">
              <a:avLst/>
            </a:prstGeom>
          </p:spPr>
          <p:txBody>
            <a:bodyPr lIns="0" tIns="0" rIns="0" bIns="0" numCol="2">
              <a:spAutoFit/>
            </a:bodyPr>
            <a:lstStyle>
              <a:lvl1pPr marL="0" indent="0" algn="l" defTabSz="914400" rtl="0" eaLnBrk="1" latinLnBrk="0" hangingPunct="1">
                <a:spcBef>
                  <a:spcPts val="0"/>
                </a:spcBef>
                <a:spcAft>
                  <a:spcPts val="300"/>
                </a:spcAft>
                <a:buFont typeface="Arial" pitchFamily="34" charset="0"/>
                <a:buNone/>
                <a:defRPr lang="en-US" sz="1800" kern="1200" dirty="0" smtClean="0">
                  <a:solidFill>
                    <a:schemeClr val="accent1"/>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28600" indent="-228600">
                <a:spcAft>
                  <a:spcPts val="0"/>
                </a:spcAft>
                <a:buFont typeface="+mj-lt"/>
                <a:buAutoNum type="arabicPeriod"/>
              </a:pPr>
              <a:r>
                <a:rPr lang="en-US" sz="1200" dirty="0">
                  <a:solidFill>
                    <a:schemeClr val="tx1"/>
                  </a:solidFill>
                  <a:latin typeface="Calibri" panose="020F0502020204030204" pitchFamily="34" charset="0"/>
                  <a:cs typeface="Calibri" panose="020F0502020204030204" pitchFamily="34" charset="0"/>
                </a:rPr>
                <a:t>Review OOMF</a:t>
              </a:r>
            </a:p>
            <a:p>
              <a:pPr marL="228600" indent="-228600">
                <a:spcAft>
                  <a:spcPts val="0"/>
                </a:spcAft>
                <a:buFont typeface="+mj-lt"/>
                <a:buAutoNum type="arabicPeriod"/>
              </a:pPr>
              <a:r>
                <a:rPr lang="en-US" sz="1200" dirty="0">
                  <a:solidFill>
                    <a:schemeClr val="tx1"/>
                  </a:solidFill>
                  <a:latin typeface="Calibri" panose="020F0502020204030204" pitchFamily="34" charset="0"/>
                  <a:cs typeface="Calibri" panose="020F0502020204030204" pitchFamily="34" charset="0"/>
                </a:rPr>
                <a:t>Expand OOMF to Departments/ Ministries</a:t>
              </a:r>
            </a:p>
            <a:p>
              <a:pPr marL="228600" indent="-228600">
                <a:spcAft>
                  <a:spcPts val="0"/>
                </a:spcAft>
                <a:buFont typeface="+mj-lt"/>
                <a:buAutoNum type="arabicPeriod"/>
              </a:pPr>
              <a:r>
                <a:rPr lang="en-US" sz="1200" dirty="0">
                  <a:solidFill>
                    <a:schemeClr val="tx1"/>
                  </a:solidFill>
                  <a:latin typeface="Calibri" panose="020F0502020204030204" pitchFamily="34" charset="0"/>
                  <a:cs typeface="Calibri" panose="020F0502020204030204" pitchFamily="34" charset="0"/>
                </a:rPr>
                <a:t>Expand OOMF to States</a:t>
              </a:r>
            </a:p>
            <a:p>
              <a:pPr marL="228600" indent="-228600">
                <a:spcAft>
                  <a:spcPts val="0"/>
                </a:spcAft>
                <a:buFont typeface="+mj-lt"/>
                <a:buAutoNum type="arabicPeriod"/>
              </a:pPr>
              <a:r>
                <a:rPr lang="en-US" sz="1200" dirty="0">
                  <a:solidFill>
                    <a:schemeClr val="tx1"/>
                  </a:solidFill>
                  <a:latin typeface="Calibri" panose="020F0502020204030204" pitchFamily="34" charset="0"/>
                  <a:cs typeface="Calibri" panose="020F0502020204030204" pitchFamily="34" charset="0"/>
                </a:rPr>
                <a:t>Advocacy of Outcomes to transform M&amp;E ecosystem</a:t>
              </a:r>
            </a:p>
            <a:p>
              <a:pPr marL="228600" indent="-228600">
                <a:spcAft>
                  <a:spcPts val="0"/>
                </a:spcAft>
                <a:buFont typeface="+mj-lt"/>
                <a:buAutoNum type="arabicPeriod"/>
              </a:pPr>
              <a:r>
                <a:rPr lang="en-US" sz="1200" dirty="0">
                  <a:solidFill>
                    <a:schemeClr val="tx1"/>
                  </a:solidFill>
                  <a:latin typeface="Calibri" panose="020F0502020204030204" pitchFamily="34" charset="0"/>
                  <a:cs typeface="Calibri" panose="020F0502020204030204" pitchFamily="34" charset="0"/>
                </a:rPr>
                <a:t>Strengthen the OOMF dashboard, stakeholder communications and online services</a:t>
              </a:r>
            </a:p>
          </p:txBody>
        </p:sp>
      </p:grpSp>
      <p:sp>
        <p:nvSpPr>
          <p:cNvPr id="144" name="Freeform 379">
            <a:extLst>
              <a:ext uri="{FF2B5EF4-FFF2-40B4-BE49-F238E27FC236}">
                <a16:creationId xmlns:a16="http://schemas.microsoft.com/office/drawing/2014/main" id="{1249FE0D-C086-4BA3-9060-A21FA58C0406}"/>
              </a:ext>
            </a:extLst>
          </p:cNvPr>
          <p:cNvSpPr>
            <a:spLocks noChangeAspect="1" noEditPoints="1"/>
          </p:cNvSpPr>
          <p:nvPr/>
        </p:nvSpPr>
        <p:spPr bwMode="auto">
          <a:xfrm>
            <a:off x="11118215" y="227660"/>
            <a:ext cx="594360" cy="594360"/>
          </a:xfrm>
          <a:custGeom>
            <a:avLst/>
            <a:gdLst>
              <a:gd name="T0" fmla="*/ 350 w 512"/>
              <a:gd name="T1" fmla="*/ 283 h 512"/>
              <a:gd name="T2" fmla="*/ 394 w 512"/>
              <a:gd name="T3" fmla="*/ 344 h 512"/>
              <a:gd name="T4" fmla="*/ 394 w 512"/>
              <a:gd name="T5" fmla="*/ 352 h 512"/>
              <a:gd name="T6" fmla="*/ 117 w 512"/>
              <a:gd name="T7" fmla="*/ 352 h 512"/>
              <a:gd name="T8" fmla="*/ 117 w 512"/>
              <a:gd name="T9" fmla="*/ 324 h 512"/>
              <a:gd name="T10" fmla="*/ 208 w 512"/>
              <a:gd name="T11" fmla="*/ 233 h 512"/>
              <a:gd name="T12" fmla="*/ 296 w 512"/>
              <a:gd name="T13" fmla="*/ 322 h 512"/>
              <a:gd name="T14" fmla="*/ 311 w 512"/>
              <a:gd name="T15" fmla="*/ 322 h 512"/>
              <a:gd name="T16" fmla="*/ 350 w 512"/>
              <a:gd name="T17" fmla="*/ 283 h 512"/>
              <a:gd name="T18" fmla="*/ 117 w 512"/>
              <a:gd name="T19" fmla="*/ 160 h 512"/>
              <a:gd name="T20" fmla="*/ 394 w 512"/>
              <a:gd name="T21" fmla="*/ 160 h 512"/>
              <a:gd name="T22" fmla="*/ 394 w 512"/>
              <a:gd name="T23" fmla="*/ 308 h 512"/>
              <a:gd name="T24" fmla="*/ 360 w 512"/>
              <a:gd name="T25" fmla="*/ 260 h 512"/>
              <a:gd name="T26" fmla="*/ 353 w 512"/>
              <a:gd name="T27" fmla="*/ 256 h 512"/>
              <a:gd name="T28" fmla="*/ 344 w 512"/>
              <a:gd name="T29" fmla="*/ 259 h 512"/>
              <a:gd name="T30" fmla="*/ 304 w 512"/>
              <a:gd name="T31" fmla="*/ 299 h 512"/>
              <a:gd name="T32" fmla="*/ 215 w 512"/>
              <a:gd name="T33" fmla="*/ 211 h 512"/>
              <a:gd name="T34" fmla="*/ 200 w 512"/>
              <a:gd name="T35" fmla="*/ 211 h 512"/>
              <a:gd name="T36" fmla="*/ 117 w 512"/>
              <a:gd name="T37" fmla="*/ 294 h 512"/>
              <a:gd name="T38" fmla="*/ 117 w 512"/>
              <a:gd name="T39" fmla="*/ 160 h 512"/>
              <a:gd name="T40" fmla="*/ 288 w 512"/>
              <a:gd name="T41" fmla="*/ 213 h 512"/>
              <a:gd name="T42" fmla="*/ 309 w 512"/>
              <a:gd name="T43" fmla="*/ 234 h 512"/>
              <a:gd name="T44" fmla="*/ 330 w 512"/>
              <a:gd name="T45" fmla="*/ 213 h 512"/>
              <a:gd name="T46" fmla="*/ 309 w 512"/>
              <a:gd name="T47" fmla="*/ 192 h 512"/>
              <a:gd name="T48" fmla="*/ 288 w 512"/>
              <a:gd name="T49" fmla="*/ 213 h 512"/>
              <a:gd name="T50" fmla="*/ 512 w 512"/>
              <a:gd name="T51" fmla="*/ 256 h 512"/>
              <a:gd name="T52" fmla="*/ 256 w 512"/>
              <a:gd name="T53" fmla="*/ 512 h 512"/>
              <a:gd name="T54" fmla="*/ 0 w 512"/>
              <a:gd name="T55" fmla="*/ 256 h 512"/>
              <a:gd name="T56" fmla="*/ 256 w 512"/>
              <a:gd name="T57" fmla="*/ 0 h 512"/>
              <a:gd name="T58" fmla="*/ 512 w 512"/>
              <a:gd name="T59" fmla="*/ 256 h 512"/>
              <a:gd name="T60" fmla="*/ 416 w 512"/>
              <a:gd name="T61" fmla="*/ 149 h 512"/>
              <a:gd name="T62" fmla="*/ 405 w 512"/>
              <a:gd name="T63" fmla="*/ 138 h 512"/>
              <a:gd name="T64" fmla="*/ 106 w 512"/>
              <a:gd name="T65" fmla="*/ 138 h 512"/>
              <a:gd name="T66" fmla="*/ 96 w 512"/>
              <a:gd name="T67" fmla="*/ 149 h 512"/>
              <a:gd name="T68" fmla="*/ 96 w 512"/>
              <a:gd name="T69" fmla="*/ 362 h 512"/>
              <a:gd name="T70" fmla="*/ 106 w 512"/>
              <a:gd name="T71" fmla="*/ 373 h 512"/>
              <a:gd name="T72" fmla="*/ 405 w 512"/>
              <a:gd name="T73" fmla="*/ 373 h 512"/>
              <a:gd name="T74" fmla="*/ 416 w 512"/>
              <a:gd name="T75" fmla="*/ 362 h 512"/>
              <a:gd name="T76" fmla="*/ 416 w 512"/>
              <a:gd name="T77" fmla="*/ 14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12" h="512">
                <a:moveTo>
                  <a:pt x="350" y="283"/>
                </a:moveTo>
                <a:cubicBezTo>
                  <a:pt x="394" y="344"/>
                  <a:pt x="394" y="344"/>
                  <a:pt x="394" y="344"/>
                </a:cubicBezTo>
                <a:cubicBezTo>
                  <a:pt x="394" y="352"/>
                  <a:pt x="394" y="352"/>
                  <a:pt x="394" y="352"/>
                </a:cubicBezTo>
                <a:cubicBezTo>
                  <a:pt x="117" y="352"/>
                  <a:pt x="117" y="352"/>
                  <a:pt x="117" y="352"/>
                </a:cubicBezTo>
                <a:cubicBezTo>
                  <a:pt x="117" y="324"/>
                  <a:pt x="117" y="324"/>
                  <a:pt x="117" y="324"/>
                </a:cubicBezTo>
                <a:cubicBezTo>
                  <a:pt x="208" y="233"/>
                  <a:pt x="208" y="233"/>
                  <a:pt x="208" y="233"/>
                </a:cubicBezTo>
                <a:cubicBezTo>
                  <a:pt x="296" y="322"/>
                  <a:pt x="296" y="322"/>
                  <a:pt x="296" y="322"/>
                </a:cubicBezTo>
                <a:cubicBezTo>
                  <a:pt x="300" y="326"/>
                  <a:pt x="307" y="326"/>
                  <a:pt x="311" y="322"/>
                </a:cubicBezTo>
                <a:lnTo>
                  <a:pt x="350" y="283"/>
                </a:lnTo>
                <a:close/>
                <a:moveTo>
                  <a:pt x="117" y="160"/>
                </a:moveTo>
                <a:cubicBezTo>
                  <a:pt x="394" y="160"/>
                  <a:pt x="394" y="160"/>
                  <a:pt x="394" y="160"/>
                </a:cubicBezTo>
                <a:cubicBezTo>
                  <a:pt x="394" y="308"/>
                  <a:pt x="394" y="308"/>
                  <a:pt x="394" y="308"/>
                </a:cubicBezTo>
                <a:cubicBezTo>
                  <a:pt x="360" y="260"/>
                  <a:pt x="360" y="260"/>
                  <a:pt x="360" y="260"/>
                </a:cubicBezTo>
                <a:cubicBezTo>
                  <a:pt x="359" y="258"/>
                  <a:pt x="356" y="256"/>
                  <a:pt x="353" y="256"/>
                </a:cubicBezTo>
                <a:cubicBezTo>
                  <a:pt x="349" y="255"/>
                  <a:pt x="346" y="257"/>
                  <a:pt x="344" y="259"/>
                </a:cubicBezTo>
                <a:cubicBezTo>
                  <a:pt x="304" y="299"/>
                  <a:pt x="304" y="299"/>
                  <a:pt x="304" y="299"/>
                </a:cubicBezTo>
                <a:cubicBezTo>
                  <a:pt x="215" y="211"/>
                  <a:pt x="215" y="211"/>
                  <a:pt x="215" y="211"/>
                </a:cubicBezTo>
                <a:cubicBezTo>
                  <a:pt x="211" y="207"/>
                  <a:pt x="204" y="207"/>
                  <a:pt x="200" y="211"/>
                </a:cubicBezTo>
                <a:cubicBezTo>
                  <a:pt x="117" y="294"/>
                  <a:pt x="117" y="294"/>
                  <a:pt x="117" y="294"/>
                </a:cubicBezTo>
                <a:lnTo>
                  <a:pt x="117" y="160"/>
                </a:lnTo>
                <a:close/>
                <a:moveTo>
                  <a:pt x="288" y="213"/>
                </a:moveTo>
                <a:cubicBezTo>
                  <a:pt x="288" y="225"/>
                  <a:pt x="297" y="234"/>
                  <a:pt x="309" y="234"/>
                </a:cubicBezTo>
                <a:cubicBezTo>
                  <a:pt x="321" y="234"/>
                  <a:pt x="330" y="225"/>
                  <a:pt x="330" y="213"/>
                </a:cubicBezTo>
                <a:cubicBezTo>
                  <a:pt x="330" y="201"/>
                  <a:pt x="321" y="192"/>
                  <a:pt x="309" y="192"/>
                </a:cubicBezTo>
                <a:cubicBezTo>
                  <a:pt x="297" y="192"/>
                  <a:pt x="288" y="201"/>
                  <a:pt x="288"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49"/>
                </a:moveTo>
                <a:cubicBezTo>
                  <a:pt x="416" y="143"/>
                  <a:pt x="411" y="138"/>
                  <a:pt x="405" y="138"/>
                </a:cubicBezTo>
                <a:cubicBezTo>
                  <a:pt x="106" y="138"/>
                  <a:pt x="106" y="138"/>
                  <a:pt x="106" y="138"/>
                </a:cubicBezTo>
                <a:cubicBezTo>
                  <a:pt x="100" y="138"/>
                  <a:pt x="96" y="143"/>
                  <a:pt x="96" y="149"/>
                </a:cubicBezTo>
                <a:cubicBezTo>
                  <a:pt x="96" y="362"/>
                  <a:pt x="96" y="362"/>
                  <a:pt x="96" y="362"/>
                </a:cubicBezTo>
                <a:cubicBezTo>
                  <a:pt x="96" y="368"/>
                  <a:pt x="100" y="373"/>
                  <a:pt x="106" y="373"/>
                </a:cubicBezTo>
                <a:cubicBezTo>
                  <a:pt x="405" y="373"/>
                  <a:pt x="405" y="373"/>
                  <a:pt x="405" y="373"/>
                </a:cubicBezTo>
                <a:cubicBezTo>
                  <a:pt x="411" y="373"/>
                  <a:pt x="416" y="368"/>
                  <a:pt x="416" y="362"/>
                </a:cubicBezTo>
                <a:lnTo>
                  <a:pt x="416" y="14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98753051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IN" dirty="0"/>
              <a:t>Challenges and Potential Solutions</a:t>
            </a:r>
          </a:p>
        </p:txBody>
      </p:sp>
      <p:sp>
        <p:nvSpPr>
          <p:cNvPr id="3" name="Rectangle 2">
            <a:extLst>
              <a:ext uri="{FF2B5EF4-FFF2-40B4-BE49-F238E27FC236}">
                <a16:creationId xmlns:a16="http://schemas.microsoft.com/office/drawing/2014/main" id="{F8562C33-73A6-413B-9451-A4CB3DB15DE7}"/>
              </a:ext>
            </a:extLst>
          </p:cNvPr>
          <p:cNvSpPr/>
          <p:nvPr/>
        </p:nvSpPr>
        <p:spPr>
          <a:xfrm>
            <a:off x="478155" y="1011610"/>
            <a:ext cx="11234419" cy="553998"/>
          </a:xfrm>
          <a:prstGeom prst="rect">
            <a:avLst/>
          </a:prstGeom>
        </p:spPr>
        <p:txBody>
          <a:bodyPr wrap="square" lIns="0" tIns="0" rIns="0" bIns="0">
            <a:spAutoFit/>
          </a:bodyPr>
          <a:lstStyle/>
          <a:p>
            <a:r>
              <a:rPr lang="en-US" dirty="0">
                <a:cs typeface="Open Sans" panose="020B0606030504020204" pitchFamily="34" charset="0"/>
              </a:rPr>
              <a:t>Based on experience the current project will need to address the following issues/ challenges for effective institutionalization of OOMF………</a:t>
            </a:r>
            <a:endParaRPr lang="en-IN" dirty="0"/>
          </a:p>
        </p:txBody>
      </p:sp>
      <p:sp>
        <p:nvSpPr>
          <p:cNvPr id="67" name="Freeform 538">
            <a:extLst>
              <a:ext uri="{FF2B5EF4-FFF2-40B4-BE49-F238E27FC236}">
                <a16:creationId xmlns:a16="http://schemas.microsoft.com/office/drawing/2014/main" id="{0F3B4597-40F1-4365-980C-9EB083A6685D}"/>
              </a:ext>
            </a:extLst>
          </p:cNvPr>
          <p:cNvSpPr>
            <a:spLocks noChangeAspect="1" noEditPoints="1"/>
          </p:cNvSpPr>
          <p:nvPr/>
        </p:nvSpPr>
        <p:spPr bwMode="auto">
          <a:xfrm>
            <a:off x="11118215" y="227660"/>
            <a:ext cx="594360" cy="594360"/>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41" name="Rectangle 140">
            <a:extLst>
              <a:ext uri="{FF2B5EF4-FFF2-40B4-BE49-F238E27FC236}">
                <a16:creationId xmlns:a16="http://schemas.microsoft.com/office/drawing/2014/main" id="{6F0AA0BE-3789-41F0-8657-176D56B24514}"/>
              </a:ext>
            </a:extLst>
          </p:cNvPr>
          <p:cNvSpPr/>
          <p:nvPr/>
        </p:nvSpPr>
        <p:spPr bwMode="gray">
          <a:xfrm>
            <a:off x="0" y="5143394"/>
            <a:ext cx="2280708" cy="848543"/>
          </a:xfrm>
          <a:prstGeom prst="rect">
            <a:avLst/>
          </a:prstGeom>
          <a:solidFill>
            <a:schemeClr val="accent5">
              <a:lumMod val="20000"/>
              <a:lumOff val="80000"/>
            </a:schemeClr>
          </a:solidFill>
          <a:ln w="19050" algn="ctr">
            <a:noFill/>
            <a:miter lim="800000"/>
            <a:headEnd/>
            <a:tailEnd/>
          </a:ln>
        </p:spPr>
        <p:txBody>
          <a:bodyPr wrap="square" lIns="1005840" tIns="88900" rIns="88900" bIns="88900" rtlCol="0" anchor="ctr"/>
          <a:lstStyle/>
          <a:p>
            <a:pPr>
              <a:spcBef>
                <a:spcPts val="600"/>
              </a:spcBef>
              <a:buSzPct val="100000"/>
            </a:pPr>
            <a:r>
              <a:rPr lang="en-US" sz="1400" b="1" dirty="0"/>
              <a:t>Institution</a:t>
            </a:r>
          </a:p>
        </p:txBody>
      </p:sp>
      <p:sp>
        <p:nvSpPr>
          <p:cNvPr id="131" name="Rectangle 130">
            <a:extLst>
              <a:ext uri="{FF2B5EF4-FFF2-40B4-BE49-F238E27FC236}">
                <a16:creationId xmlns:a16="http://schemas.microsoft.com/office/drawing/2014/main" id="{42C42886-555F-42DD-94F0-54F7399990A6}"/>
              </a:ext>
            </a:extLst>
          </p:cNvPr>
          <p:cNvSpPr/>
          <p:nvPr/>
        </p:nvSpPr>
        <p:spPr bwMode="gray">
          <a:xfrm>
            <a:off x="0" y="3770105"/>
            <a:ext cx="2280708" cy="848543"/>
          </a:xfrm>
          <a:prstGeom prst="rect">
            <a:avLst/>
          </a:prstGeom>
          <a:solidFill>
            <a:schemeClr val="accent5">
              <a:lumMod val="20000"/>
              <a:lumOff val="80000"/>
            </a:schemeClr>
          </a:solidFill>
          <a:ln w="19050" algn="ctr">
            <a:noFill/>
            <a:miter lim="800000"/>
            <a:headEnd/>
            <a:tailEnd/>
          </a:ln>
        </p:spPr>
        <p:txBody>
          <a:bodyPr wrap="square" lIns="1005840" tIns="88900" rIns="88900" bIns="88900" rtlCol="0" anchor="ctr"/>
          <a:lstStyle/>
          <a:p>
            <a:pPr>
              <a:spcBef>
                <a:spcPts val="600"/>
              </a:spcBef>
              <a:buSzPct val="100000"/>
            </a:pPr>
            <a:r>
              <a:rPr lang="en-US" sz="1400" b="1" dirty="0"/>
              <a:t>Capacity </a:t>
            </a:r>
          </a:p>
        </p:txBody>
      </p:sp>
      <p:sp>
        <p:nvSpPr>
          <p:cNvPr id="23" name="Rectangle 22">
            <a:extLst>
              <a:ext uri="{FF2B5EF4-FFF2-40B4-BE49-F238E27FC236}">
                <a16:creationId xmlns:a16="http://schemas.microsoft.com/office/drawing/2014/main" id="{4A8B68AF-F6C3-4BC3-8BA4-F65084C81EC4}"/>
              </a:ext>
            </a:extLst>
          </p:cNvPr>
          <p:cNvSpPr/>
          <p:nvPr/>
        </p:nvSpPr>
        <p:spPr bwMode="gray">
          <a:xfrm>
            <a:off x="0" y="2388919"/>
            <a:ext cx="2280708" cy="848543"/>
          </a:xfrm>
          <a:prstGeom prst="rect">
            <a:avLst/>
          </a:prstGeom>
          <a:solidFill>
            <a:schemeClr val="accent5">
              <a:lumMod val="20000"/>
              <a:lumOff val="80000"/>
            </a:schemeClr>
          </a:solidFill>
          <a:ln w="19050" algn="ctr">
            <a:noFill/>
            <a:miter lim="800000"/>
            <a:headEnd/>
            <a:tailEnd/>
          </a:ln>
        </p:spPr>
        <p:txBody>
          <a:bodyPr wrap="square" lIns="1005840" tIns="88900" rIns="88900" bIns="88900" rtlCol="0" anchor="ctr"/>
          <a:lstStyle/>
          <a:p>
            <a:pPr>
              <a:spcBef>
                <a:spcPts val="600"/>
              </a:spcBef>
              <a:buSzPct val="100000"/>
            </a:pPr>
            <a:r>
              <a:rPr lang="en-US" sz="1400" b="1" dirty="0"/>
              <a:t>OOMF design</a:t>
            </a:r>
            <a:endParaRPr lang="en-IN" sz="1400" b="1" dirty="0"/>
          </a:p>
        </p:txBody>
      </p:sp>
      <p:sp>
        <p:nvSpPr>
          <p:cNvPr id="4" name="Rectangle 3">
            <a:extLst>
              <a:ext uri="{FF2B5EF4-FFF2-40B4-BE49-F238E27FC236}">
                <a16:creationId xmlns:a16="http://schemas.microsoft.com/office/drawing/2014/main" id="{2348AA22-04EE-4667-AFE1-F1A21909A618}"/>
              </a:ext>
            </a:extLst>
          </p:cNvPr>
          <p:cNvSpPr/>
          <p:nvPr/>
        </p:nvSpPr>
        <p:spPr bwMode="gray">
          <a:xfrm>
            <a:off x="2799324" y="1678359"/>
            <a:ext cx="4297680"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Challenges</a:t>
            </a:r>
          </a:p>
        </p:txBody>
      </p:sp>
      <p:sp>
        <p:nvSpPr>
          <p:cNvPr id="101" name="Rectangle 100">
            <a:extLst>
              <a:ext uri="{FF2B5EF4-FFF2-40B4-BE49-F238E27FC236}">
                <a16:creationId xmlns:a16="http://schemas.microsoft.com/office/drawing/2014/main" id="{DFF928BF-873A-4218-841F-BEF206DDC694}"/>
              </a:ext>
            </a:extLst>
          </p:cNvPr>
          <p:cNvSpPr/>
          <p:nvPr/>
        </p:nvSpPr>
        <p:spPr bwMode="gray">
          <a:xfrm>
            <a:off x="7414894" y="1678359"/>
            <a:ext cx="4297680"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Our POV/ Potential Solutions</a:t>
            </a:r>
          </a:p>
        </p:txBody>
      </p:sp>
      <p:sp>
        <p:nvSpPr>
          <p:cNvPr id="102" name="TextBox 101">
            <a:extLst>
              <a:ext uri="{FF2B5EF4-FFF2-40B4-BE49-F238E27FC236}">
                <a16:creationId xmlns:a16="http://schemas.microsoft.com/office/drawing/2014/main" id="{4ED0D6B7-64CF-40AE-B124-E6321809CA9F}"/>
              </a:ext>
            </a:extLst>
          </p:cNvPr>
          <p:cNvSpPr txBox="1"/>
          <p:nvPr/>
        </p:nvSpPr>
        <p:spPr>
          <a:xfrm>
            <a:off x="2799324" y="2207141"/>
            <a:ext cx="4297680" cy="1154162"/>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Different maturity levels of the schemes/ </a:t>
            </a:r>
            <a:r>
              <a:rPr lang="en-US" sz="1400" dirty="0" err="1">
                <a:solidFill>
                  <a:srgbClr val="313131"/>
                </a:solidFill>
              </a:rPr>
              <a:t>programmes</a:t>
            </a:r>
            <a:endParaRPr lang="en-US" sz="1400" dirty="0">
              <a:solidFill>
                <a:srgbClr val="313131"/>
              </a:solidFill>
            </a:endParaRPr>
          </a:p>
          <a:p>
            <a:pPr marL="285750" indent="-285750">
              <a:spcAft>
                <a:spcPts val="300"/>
              </a:spcAft>
              <a:buSzPct val="100000"/>
              <a:buFont typeface="Arial" panose="020B0604020202020204" pitchFamily="34" charset="0"/>
              <a:buChar char="•"/>
            </a:pPr>
            <a:r>
              <a:rPr lang="en-US" sz="1400" dirty="0">
                <a:solidFill>
                  <a:srgbClr val="313131"/>
                </a:solidFill>
              </a:rPr>
              <a:t>Different schemes/</a:t>
            </a:r>
            <a:r>
              <a:rPr lang="en-US" sz="1400" dirty="0" err="1">
                <a:solidFill>
                  <a:srgbClr val="313131"/>
                </a:solidFill>
              </a:rPr>
              <a:t>programmes</a:t>
            </a:r>
            <a:r>
              <a:rPr lang="en-US" sz="1400" dirty="0">
                <a:solidFill>
                  <a:srgbClr val="313131"/>
                </a:solidFill>
              </a:rPr>
              <a:t> having similar outcomes</a:t>
            </a:r>
          </a:p>
          <a:p>
            <a:pPr marL="285750" indent="-285750">
              <a:spcAft>
                <a:spcPts val="300"/>
              </a:spcAft>
              <a:buSzPct val="100000"/>
              <a:buFont typeface="Arial" panose="020B0604020202020204" pitchFamily="34" charset="0"/>
              <a:buChar char="•"/>
            </a:pPr>
            <a:r>
              <a:rPr lang="en-US" sz="1400" dirty="0">
                <a:solidFill>
                  <a:srgbClr val="313131"/>
                </a:solidFill>
              </a:rPr>
              <a:t>Need to align the outcomes and outputs better for some schemes/</a:t>
            </a:r>
            <a:r>
              <a:rPr lang="en-US" sz="1400" dirty="0" err="1">
                <a:solidFill>
                  <a:srgbClr val="313131"/>
                </a:solidFill>
              </a:rPr>
              <a:t>programmes</a:t>
            </a:r>
            <a:endParaRPr lang="en-US" sz="1400" dirty="0">
              <a:solidFill>
                <a:srgbClr val="313131"/>
              </a:solidFill>
            </a:endParaRPr>
          </a:p>
        </p:txBody>
      </p:sp>
      <p:sp>
        <p:nvSpPr>
          <p:cNvPr id="103" name="TextBox 102">
            <a:extLst>
              <a:ext uri="{FF2B5EF4-FFF2-40B4-BE49-F238E27FC236}">
                <a16:creationId xmlns:a16="http://schemas.microsoft.com/office/drawing/2014/main" id="{C97536D5-43FD-4B18-BA21-8F4744590CA8}"/>
              </a:ext>
            </a:extLst>
          </p:cNvPr>
          <p:cNvSpPr txBox="1"/>
          <p:nvPr/>
        </p:nvSpPr>
        <p:spPr>
          <a:xfrm>
            <a:off x="2799324" y="3744253"/>
            <a:ext cx="4297680" cy="900246"/>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Inadequate resources at Ministry as well as state level – increase in time for obtaining information</a:t>
            </a:r>
          </a:p>
          <a:p>
            <a:pPr marL="285750" indent="-285750">
              <a:spcAft>
                <a:spcPts val="300"/>
              </a:spcAft>
              <a:buSzPct val="100000"/>
              <a:buFont typeface="Arial" panose="020B0604020202020204" pitchFamily="34" charset="0"/>
              <a:buChar char="•"/>
            </a:pPr>
            <a:r>
              <a:rPr lang="en-US" sz="1400" dirty="0">
                <a:solidFill>
                  <a:srgbClr val="313131"/>
                </a:solidFill>
              </a:rPr>
              <a:t>Inadequate knowledge on usage of OOMF for Ministry level M&amp;E and budgeting</a:t>
            </a:r>
            <a:endParaRPr lang="en-IN" sz="1400" dirty="0">
              <a:solidFill>
                <a:srgbClr val="313131"/>
              </a:solidFill>
            </a:endParaRPr>
          </a:p>
        </p:txBody>
      </p:sp>
      <p:sp>
        <p:nvSpPr>
          <p:cNvPr id="104" name="TextBox 103">
            <a:extLst>
              <a:ext uri="{FF2B5EF4-FFF2-40B4-BE49-F238E27FC236}">
                <a16:creationId xmlns:a16="http://schemas.microsoft.com/office/drawing/2014/main" id="{FD7C05BD-D012-4E49-90A7-6945AD347269}"/>
              </a:ext>
            </a:extLst>
          </p:cNvPr>
          <p:cNvSpPr txBox="1"/>
          <p:nvPr/>
        </p:nvSpPr>
        <p:spPr>
          <a:xfrm>
            <a:off x="2799323" y="5225264"/>
            <a:ext cx="4297680" cy="684803"/>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Lack of ownership / buy in - specially at the lower level</a:t>
            </a:r>
          </a:p>
          <a:p>
            <a:pPr marL="285750" indent="-285750">
              <a:spcAft>
                <a:spcPts val="300"/>
              </a:spcAft>
              <a:buSzPct val="100000"/>
              <a:buFont typeface="Arial" panose="020B0604020202020204" pitchFamily="34" charset="0"/>
              <a:buChar char="•"/>
            </a:pPr>
            <a:r>
              <a:rPr lang="en-US" sz="1400" dirty="0">
                <a:solidFill>
                  <a:srgbClr val="313131"/>
                </a:solidFill>
              </a:rPr>
              <a:t>In some cases, frequent transfers to top management leading to institutional memory loss</a:t>
            </a:r>
            <a:endParaRPr lang="en-IN" sz="1400" dirty="0">
              <a:solidFill>
                <a:srgbClr val="313131"/>
              </a:solidFill>
            </a:endParaRPr>
          </a:p>
        </p:txBody>
      </p:sp>
      <p:sp>
        <p:nvSpPr>
          <p:cNvPr id="105" name="TextBox 104">
            <a:extLst>
              <a:ext uri="{FF2B5EF4-FFF2-40B4-BE49-F238E27FC236}">
                <a16:creationId xmlns:a16="http://schemas.microsoft.com/office/drawing/2014/main" id="{962847FB-63E6-4E31-9037-F34C6191C340}"/>
              </a:ext>
            </a:extLst>
          </p:cNvPr>
          <p:cNvSpPr txBox="1"/>
          <p:nvPr/>
        </p:nvSpPr>
        <p:spPr>
          <a:xfrm>
            <a:off x="7414894" y="2370966"/>
            <a:ext cx="4297680" cy="900246"/>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Segregate the schemes/</a:t>
            </a:r>
            <a:r>
              <a:rPr lang="en-US" sz="1400" dirty="0" err="1">
                <a:solidFill>
                  <a:srgbClr val="313131"/>
                </a:solidFill>
              </a:rPr>
              <a:t>progammes</a:t>
            </a:r>
            <a:r>
              <a:rPr lang="en-US" sz="1400" dirty="0">
                <a:solidFill>
                  <a:srgbClr val="313131"/>
                </a:solidFill>
              </a:rPr>
              <a:t> by Value and years of existence</a:t>
            </a:r>
          </a:p>
          <a:p>
            <a:pPr marL="285750" indent="-285750">
              <a:spcAft>
                <a:spcPts val="300"/>
              </a:spcAft>
              <a:buSzPct val="100000"/>
              <a:buFont typeface="Arial" panose="020B0604020202020204" pitchFamily="34" charset="0"/>
              <a:buChar char="•"/>
            </a:pPr>
            <a:r>
              <a:rPr lang="en-US" sz="1400" dirty="0">
                <a:solidFill>
                  <a:srgbClr val="313131"/>
                </a:solidFill>
              </a:rPr>
              <a:t>Define operational KPIs for specific schemes for better alignment with outcomes </a:t>
            </a:r>
            <a:endParaRPr lang="en-IN" sz="1400" dirty="0">
              <a:solidFill>
                <a:srgbClr val="313131"/>
              </a:solidFill>
            </a:endParaRPr>
          </a:p>
        </p:txBody>
      </p:sp>
      <p:sp>
        <p:nvSpPr>
          <p:cNvPr id="106" name="TextBox 105">
            <a:extLst>
              <a:ext uri="{FF2B5EF4-FFF2-40B4-BE49-F238E27FC236}">
                <a16:creationId xmlns:a16="http://schemas.microsoft.com/office/drawing/2014/main" id="{31FBAA11-A801-4626-9068-6D54611EA2FF}"/>
              </a:ext>
            </a:extLst>
          </p:cNvPr>
          <p:cNvSpPr txBox="1"/>
          <p:nvPr/>
        </p:nvSpPr>
        <p:spPr>
          <a:xfrm>
            <a:off x="7414894" y="3687347"/>
            <a:ext cx="4297680" cy="977191"/>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Develop Guidelines, reference documents</a:t>
            </a:r>
          </a:p>
          <a:p>
            <a:pPr marL="285750" indent="-285750">
              <a:spcAft>
                <a:spcPts val="300"/>
              </a:spcAft>
              <a:buSzPct val="100000"/>
              <a:buFont typeface="Arial" panose="020B0604020202020204" pitchFamily="34" charset="0"/>
              <a:buChar char="•"/>
            </a:pPr>
            <a:r>
              <a:rPr lang="en-US" sz="1400" dirty="0">
                <a:solidFill>
                  <a:srgbClr val="313131"/>
                </a:solidFill>
              </a:rPr>
              <a:t>Train the trainer </a:t>
            </a:r>
            <a:r>
              <a:rPr lang="en-US" sz="1400" dirty="0" err="1">
                <a:solidFill>
                  <a:srgbClr val="313131"/>
                </a:solidFill>
              </a:rPr>
              <a:t>programme</a:t>
            </a:r>
            <a:endParaRPr lang="en-US" sz="1400" dirty="0">
              <a:solidFill>
                <a:srgbClr val="313131"/>
              </a:solidFill>
            </a:endParaRPr>
          </a:p>
          <a:p>
            <a:pPr marL="285750" indent="-285750">
              <a:spcAft>
                <a:spcPts val="300"/>
              </a:spcAft>
              <a:buSzPct val="100000"/>
              <a:buFont typeface="Arial" panose="020B0604020202020204" pitchFamily="34" charset="0"/>
              <a:buChar char="•"/>
            </a:pPr>
            <a:r>
              <a:rPr lang="en-US" sz="1400" dirty="0">
                <a:solidFill>
                  <a:srgbClr val="313131"/>
                </a:solidFill>
              </a:rPr>
              <a:t>Regular structured capacity building</a:t>
            </a:r>
          </a:p>
          <a:p>
            <a:pPr marL="285750" indent="-285750">
              <a:spcAft>
                <a:spcPts val="300"/>
              </a:spcAft>
              <a:buSzPct val="100000"/>
              <a:buFont typeface="Arial" panose="020B0604020202020204" pitchFamily="34" charset="0"/>
              <a:buChar char="•"/>
            </a:pPr>
            <a:r>
              <a:rPr lang="en-US" sz="1400" dirty="0">
                <a:solidFill>
                  <a:srgbClr val="313131"/>
                </a:solidFill>
              </a:rPr>
              <a:t>Knowledge management system</a:t>
            </a:r>
            <a:endParaRPr lang="en-IN" sz="1400" dirty="0">
              <a:solidFill>
                <a:srgbClr val="313131"/>
              </a:solidFill>
            </a:endParaRPr>
          </a:p>
        </p:txBody>
      </p:sp>
      <p:sp>
        <p:nvSpPr>
          <p:cNvPr id="107" name="TextBox 106">
            <a:extLst>
              <a:ext uri="{FF2B5EF4-FFF2-40B4-BE49-F238E27FC236}">
                <a16:creationId xmlns:a16="http://schemas.microsoft.com/office/drawing/2014/main" id="{204F03F8-7CEB-4311-A480-8D2522FB51F1}"/>
              </a:ext>
            </a:extLst>
          </p:cNvPr>
          <p:cNvSpPr txBox="1"/>
          <p:nvPr/>
        </p:nvSpPr>
        <p:spPr>
          <a:xfrm>
            <a:off x="7414894" y="4990584"/>
            <a:ext cx="4297680" cy="1154162"/>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Performance agreement with Ministry/ Department with </a:t>
            </a:r>
            <a:r>
              <a:rPr lang="en-US" sz="1400" dirty="0" err="1">
                <a:solidFill>
                  <a:srgbClr val="313131"/>
                </a:solidFill>
              </a:rPr>
              <a:t>Niti</a:t>
            </a:r>
            <a:r>
              <a:rPr lang="en-US" sz="1400" dirty="0">
                <a:solidFill>
                  <a:srgbClr val="313131"/>
                </a:solidFill>
              </a:rPr>
              <a:t> Aayog</a:t>
            </a:r>
          </a:p>
          <a:p>
            <a:pPr marL="285750" indent="-285750">
              <a:spcAft>
                <a:spcPts val="300"/>
              </a:spcAft>
              <a:buSzPct val="100000"/>
              <a:buFont typeface="Arial" panose="020B0604020202020204" pitchFamily="34" charset="0"/>
              <a:buChar char="•"/>
            </a:pPr>
            <a:r>
              <a:rPr lang="en-US" sz="1400" dirty="0">
                <a:solidFill>
                  <a:srgbClr val="313131"/>
                </a:solidFill>
              </a:rPr>
              <a:t>Incentives for adopting OOMF</a:t>
            </a:r>
          </a:p>
          <a:p>
            <a:pPr marL="285750" indent="-285750">
              <a:spcAft>
                <a:spcPts val="300"/>
              </a:spcAft>
              <a:buSzPct val="100000"/>
              <a:buFont typeface="Arial" panose="020B0604020202020204" pitchFamily="34" charset="0"/>
              <a:buChar char="•"/>
            </a:pPr>
            <a:r>
              <a:rPr lang="en-US" sz="1400" dirty="0">
                <a:solidFill>
                  <a:srgbClr val="313131"/>
                </a:solidFill>
              </a:rPr>
              <a:t>Competition within Ministries/ Departments/ States for adopting OOMP </a:t>
            </a:r>
            <a:endParaRPr lang="en-IN" sz="1400" dirty="0">
              <a:solidFill>
                <a:srgbClr val="313131"/>
              </a:solidFill>
            </a:endParaRPr>
          </a:p>
        </p:txBody>
      </p:sp>
      <p:cxnSp>
        <p:nvCxnSpPr>
          <p:cNvPr id="109" name="Straight Connector 108">
            <a:extLst>
              <a:ext uri="{FF2B5EF4-FFF2-40B4-BE49-F238E27FC236}">
                <a16:creationId xmlns:a16="http://schemas.microsoft.com/office/drawing/2014/main" id="{8141E271-888B-4724-8B32-136EE56633C0}"/>
              </a:ext>
            </a:extLst>
          </p:cNvPr>
          <p:cNvCxnSpPr>
            <a:cxnSpLocks/>
          </p:cNvCxnSpPr>
          <p:nvPr/>
        </p:nvCxnSpPr>
        <p:spPr>
          <a:xfrm>
            <a:off x="7255949" y="1678359"/>
            <a:ext cx="0" cy="4568604"/>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1ED04C2D-20C2-42BD-832E-A78E841D6EA3}"/>
              </a:ext>
            </a:extLst>
          </p:cNvPr>
          <p:cNvCxnSpPr>
            <a:cxnSpLocks/>
          </p:cNvCxnSpPr>
          <p:nvPr/>
        </p:nvCxnSpPr>
        <p:spPr>
          <a:xfrm rot="5400000">
            <a:off x="4948164" y="1375485"/>
            <a:ext cx="0" cy="4297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C660D2C-091F-4BCD-8BA1-5388BA11BD3F}"/>
              </a:ext>
            </a:extLst>
          </p:cNvPr>
          <p:cNvCxnSpPr>
            <a:cxnSpLocks/>
          </p:cNvCxnSpPr>
          <p:nvPr/>
        </p:nvCxnSpPr>
        <p:spPr>
          <a:xfrm rot="5400000">
            <a:off x="9563734" y="1375485"/>
            <a:ext cx="0" cy="4297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D824F82D-9172-475A-B660-007570856ECA}"/>
              </a:ext>
            </a:extLst>
          </p:cNvPr>
          <p:cNvCxnSpPr>
            <a:cxnSpLocks/>
          </p:cNvCxnSpPr>
          <p:nvPr/>
        </p:nvCxnSpPr>
        <p:spPr>
          <a:xfrm rot="5400000">
            <a:off x="4948164" y="2678720"/>
            <a:ext cx="0" cy="4297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0D03851-D244-41D6-A027-8C5EA4B3316B}"/>
              </a:ext>
            </a:extLst>
          </p:cNvPr>
          <p:cNvCxnSpPr>
            <a:cxnSpLocks/>
          </p:cNvCxnSpPr>
          <p:nvPr/>
        </p:nvCxnSpPr>
        <p:spPr>
          <a:xfrm rot="5400000">
            <a:off x="9563734" y="2678720"/>
            <a:ext cx="0" cy="4297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142" name="Isosceles Triangle 141">
            <a:extLst>
              <a:ext uri="{FF2B5EF4-FFF2-40B4-BE49-F238E27FC236}">
                <a16:creationId xmlns:a16="http://schemas.microsoft.com/office/drawing/2014/main" id="{54C1ADFE-3F51-4EBF-A31D-7B255918C1FE}"/>
              </a:ext>
            </a:extLst>
          </p:cNvPr>
          <p:cNvSpPr/>
          <p:nvPr/>
        </p:nvSpPr>
        <p:spPr bwMode="gray">
          <a:xfrm rot="5400000">
            <a:off x="2159072" y="2696148"/>
            <a:ext cx="544940" cy="234087"/>
          </a:xfrm>
          <a:prstGeom prst="triangle">
            <a:avLst/>
          </a:prstGeom>
          <a:solidFill>
            <a:schemeClr val="bg1">
              <a:lumMod val="75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43" name="Isosceles Triangle 142">
            <a:extLst>
              <a:ext uri="{FF2B5EF4-FFF2-40B4-BE49-F238E27FC236}">
                <a16:creationId xmlns:a16="http://schemas.microsoft.com/office/drawing/2014/main" id="{D08116D3-FB50-4DBB-B8AA-CAC2159E7B09}"/>
              </a:ext>
            </a:extLst>
          </p:cNvPr>
          <p:cNvSpPr/>
          <p:nvPr/>
        </p:nvSpPr>
        <p:spPr bwMode="gray">
          <a:xfrm rot="5400000">
            <a:off x="2159072" y="4077333"/>
            <a:ext cx="544940" cy="234087"/>
          </a:xfrm>
          <a:prstGeom prst="triangle">
            <a:avLst/>
          </a:prstGeom>
          <a:solidFill>
            <a:schemeClr val="bg1">
              <a:lumMod val="75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45" name="Isosceles Triangle 144">
            <a:extLst>
              <a:ext uri="{FF2B5EF4-FFF2-40B4-BE49-F238E27FC236}">
                <a16:creationId xmlns:a16="http://schemas.microsoft.com/office/drawing/2014/main" id="{9591BAB2-7B25-4E99-B19E-7AE4AB37D041}"/>
              </a:ext>
            </a:extLst>
          </p:cNvPr>
          <p:cNvSpPr/>
          <p:nvPr/>
        </p:nvSpPr>
        <p:spPr bwMode="gray">
          <a:xfrm rot="5400000">
            <a:off x="2159072" y="5450623"/>
            <a:ext cx="544940" cy="234087"/>
          </a:xfrm>
          <a:prstGeom prst="triangle">
            <a:avLst/>
          </a:prstGeom>
          <a:solidFill>
            <a:schemeClr val="bg1">
              <a:lumMod val="75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47" name="Freeform 173">
            <a:extLst>
              <a:ext uri="{FF2B5EF4-FFF2-40B4-BE49-F238E27FC236}">
                <a16:creationId xmlns:a16="http://schemas.microsoft.com/office/drawing/2014/main" id="{22C0D953-681D-4851-B50C-4A21638952E1}"/>
              </a:ext>
            </a:extLst>
          </p:cNvPr>
          <p:cNvSpPr>
            <a:spLocks noChangeAspect="1" noEditPoints="1"/>
          </p:cNvSpPr>
          <p:nvPr/>
        </p:nvSpPr>
        <p:spPr bwMode="auto">
          <a:xfrm>
            <a:off x="478155" y="2590401"/>
            <a:ext cx="438912" cy="438912"/>
          </a:xfrm>
          <a:custGeom>
            <a:avLst/>
            <a:gdLst>
              <a:gd name="T0" fmla="*/ 392 w 512"/>
              <a:gd name="T1" fmla="*/ 188 h 512"/>
              <a:gd name="T2" fmla="*/ 394 w 512"/>
              <a:gd name="T3" fmla="*/ 193 h 512"/>
              <a:gd name="T4" fmla="*/ 393 w 512"/>
              <a:gd name="T5" fmla="*/ 196 h 512"/>
              <a:gd name="T6" fmla="*/ 267 w 512"/>
              <a:gd name="T7" fmla="*/ 325 h 512"/>
              <a:gd name="T8" fmla="*/ 266 w 512"/>
              <a:gd name="T9" fmla="*/ 323 h 512"/>
              <a:gd name="T10" fmla="*/ 254 w 512"/>
              <a:gd name="T11" fmla="*/ 315 h 512"/>
              <a:gd name="T12" fmla="*/ 383 w 512"/>
              <a:gd name="T13" fmla="*/ 186 h 512"/>
              <a:gd name="T14" fmla="*/ 392 w 512"/>
              <a:gd name="T15" fmla="*/ 188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143 w 512"/>
              <a:gd name="T27" fmla="*/ 360 h 512"/>
              <a:gd name="T28" fmla="*/ 149 w 512"/>
              <a:gd name="T29" fmla="*/ 362 h 512"/>
              <a:gd name="T30" fmla="*/ 158 w 512"/>
              <a:gd name="T31" fmla="*/ 358 h 512"/>
              <a:gd name="T32" fmla="*/ 155 w 512"/>
              <a:gd name="T33" fmla="*/ 343 h 512"/>
              <a:gd name="T34" fmla="*/ 143 w 512"/>
              <a:gd name="T35" fmla="*/ 327 h 512"/>
              <a:gd name="T36" fmla="*/ 153 w 512"/>
              <a:gd name="T37" fmla="*/ 319 h 512"/>
              <a:gd name="T38" fmla="*/ 194 w 512"/>
              <a:gd name="T39" fmla="*/ 263 h 512"/>
              <a:gd name="T40" fmla="*/ 105 w 512"/>
              <a:gd name="T41" fmla="*/ 234 h 512"/>
              <a:gd name="T42" fmla="*/ 96 w 512"/>
              <a:gd name="T43" fmla="*/ 246 h 512"/>
              <a:gd name="T44" fmla="*/ 107 w 512"/>
              <a:gd name="T45" fmla="*/ 256 h 512"/>
              <a:gd name="T46" fmla="*/ 174 w 512"/>
              <a:gd name="T47" fmla="*/ 269 h 512"/>
              <a:gd name="T48" fmla="*/ 145 w 512"/>
              <a:gd name="T49" fmla="*/ 299 h 512"/>
              <a:gd name="T50" fmla="*/ 122 w 512"/>
              <a:gd name="T51" fmla="*/ 326 h 512"/>
              <a:gd name="T52" fmla="*/ 143 w 512"/>
              <a:gd name="T53" fmla="*/ 360 h 512"/>
              <a:gd name="T54" fmla="*/ 416 w 512"/>
              <a:gd name="T55" fmla="*/ 191 h 512"/>
              <a:gd name="T56" fmla="*/ 407 w 512"/>
              <a:gd name="T57" fmla="*/ 173 h 512"/>
              <a:gd name="T58" fmla="*/ 368 w 512"/>
              <a:gd name="T59" fmla="*/ 171 h 512"/>
              <a:gd name="T60" fmla="*/ 230 w 512"/>
              <a:gd name="T61" fmla="*/ 309 h 512"/>
              <a:gd name="T62" fmla="*/ 182 w 512"/>
              <a:gd name="T63" fmla="*/ 348 h 512"/>
              <a:gd name="T64" fmla="*/ 150 w 512"/>
              <a:gd name="T65" fmla="*/ 373 h 512"/>
              <a:gd name="T66" fmla="*/ 139 w 512"/>
              <a:gd name="T67" fmla="*/ 381 h 512"/>
              <a:gd name="T68" fmla="*/ 145 w 512"/>
              <a:gd name="T69" fmla="*/ 394 h 512"/>
              <a:gd name="T70" fmla="*/ 212 w 512"/>
              <a:gd name="T71" fmla="*/ 406 h 512"/>
              <a:gd name="T72" fmla="*/ 255 w 512"/>
              <a:gd name="T73" fmla="*/ 395 h 512"/>
              <a:gd name="T74" fmla="*/ 277 w 512"/>
              <a:gd name="T75" fmla="*/ 352 h 512"/>
              <a:gd name="T76" fmla="*/ 277 w 512"/>
              <a:gd name="T77" fmla="*/ 346 h 512"/>
              <a:gd name="T78" fmla="*/ 409 w 512"/>
              <a:gd name="T79" fmla="*/ 211 h 512"/>
              <a:gd name="T80" fmla="*/ 416 w 512"/>
              <a:gd name="T81" fmla="*/ 191 h 512"/>
              <a:gd name="T82" fmla="*/ 234 w 512"/>
              <a:gd name="T83" fmla="*/ 330 h 512"/>
              <a:gd name="T84" fmla="*/ 202 w 512"/>
              <a:gd name="T85" fmla="*/ 355 h 512"/>
              <a:gd name="T86" fmla="*/ 185 w 512"/>
              <a:gd name="T87" fmla="*/ 382 h 512"/>
              <a:gd name="T88" fmla="*/ 243 w 512"/>
              <a:gd name="T89" fmla="*/ 377 h 512"/>
              <a:gd name="T90" fmla="*/ 256 w 512"/>
              <a:gd name="T91" fmla="*/ 351 h 512"/>
              <a:gd name="T92" fmla="*/ 250 w 512"/>
              <a:gd name="T93" fmla="*/ 338 h 512"/>
              <a:gd name="T94" fmla="*/ 234 w 512"/>
              <a:gd name="T95" fmla="*/ 33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392" y="188"/>
                </a:moveTo>
                <a:cubicBezTo>
                  <a:pt x="393" y="189"/>
                  <a:pt x="394" y="191"/>
                  <a:pt x="394" y="193"/>
                </a:cubicBezTo>
                <a:cubicBezTo>
                  <a:pt x="394" y="194"/>
                  <a:pt x="394" y="195"/>
                  <a:pt x="393" y="196"/>
                </a:cubicBezTo>
                <a:cubicBezTo>
                  <a:pt x="267" y="325"/>
                  <a:pt x="267" y="325"/>
                  <a:pt x="267" y="325"/>
                </a:cubicBezTo>
                <a:cubicBezTo>
                  <a:pt x="267" y="324"/>
                  <a:pt x="266" y="324"/>
                  <a:pt x="266" y="323"/>
                </a:cubicBezTo>
                <a:cubicBezTo>
                  <a:pt x="263" y="320"/>
                  <a:pt x="259" y="317"/>
                  <a:pt x="254" y="315"/>
                </a:cubicBezTo>
                <a:cubicBezTo>
                  <a:pt x="383" y="186"/>
                  <a:pt x="383" y="186"/>
                  <a:pt x="383" y="186"/>
                </a:cubicBezTo>
                <a:cubicBezTo>
                  <a:pt x="385" y="184"/>
                  <a:pt x="389" y="185"/>
                  <a:pt x="392" y="18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60"/>
                </a:moveTo>
                <a:cubicBezTo>
                  <a:pt x="145" y="362"/>
                  <a:pt x="147" y="362"/>
                  <a:pt x="149" y="362"/>
                </a:cubicBezTo>
                <a:cubicBezTo>
                  <a:pt x="152" y="362"/>
                  <a:pt x="156" y="361"/>
                  <a:pt x="158" y="358"/>
                </a:cubicBezTo>
                <a:cubicBezTo>
                  <a:pt x="161" y="353"/>
                  <a:pt x="160" y="346"/>
                  <a:pt x="155" y="343"/>
                </a:cubicBezTo>
                <a:cubicBezTo>
                  <a:pt x="151" y="340"/>
                  <a:pt x="143" y="332"/>
                  <a:pt x="143" y="327"/>
                </a:cubicBez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lose/>
                <a:moveTo>
                  <a:pt x="416" y="191"/>
                </a:moveTo>
                <a:cubicBezTo>
                  <a:pt x="415" y="185"/>
                  <a:pt x="412" y="178"/>
                  <a:pt x="407" y="173"/>
                </a:cubicBezTo>
                <a:cubicBezTo>
                  <a:pt x="396" y="162"/>
                  <a:pt x="378" y="161"/>
                  <a:pt x="368" y="171"/>
                </a:cubicBezTo>
                <a:cubicBezTo>
                  <a:pt x="230" y="309"/>
                  <a:pt x="230" y="309"/>
                  <a:pt x="230" y="309"/>
                </a:cubicBezTo>
                <a:cubicBezTo>
                  <a:pt x="217" y="310"/>
                  <a:pt x="193" y="314"/>
                  <a:pt x="182" y="348"/>
                </a:cubicBezTo>
                <a:cubicBezTo>
                  <a:pt x="173" y="374"/>
                  <a:pt x="152" y="373"/>
                  <a:pt x="150" y="373"/>
                </a:cubicBezTo>
                <a:cubicBezTo>
                  <a:pt x="145" y="372"/>
                  <a:pt x="140" y="376"/>
                  <a:pt x="139" y="381"/>
                </a:cubicBezTo>
                <a:cubicBezTo>
                  <a:pt x="137" y="386"/>
                  <a:pt x="140" y="392"/>
                  <a:pt x="145" y="394"/>
                </a:cubicBezTo>
                <a:cubicBezTo>
                  <a:pt x="147" y="394"/>
                  <a:pt x="179" y="406"/>
                  <a:pt x="212" y="406"/>
                </a:cubicBezTo>
                <a:cubicBezTo>
                  <a:pt x="227" y="406"/>
                  <a:pt x="243" y="403"/>
                  <a:pt x="255" y="395"/>
                </a:cubicBezTo>
                <a:cubicBezTo>
                  <a:pt x="269" y="386"/>
                  <a:pt x="276" y="372"/>
                  <a:pt x="277" y="352"/>
                </a:cubicBezTo>
                <a:cubicBezTo>
                  <a:pt x="277" y="350"/>
                  <a:pt x="277" y="348"/>
                  <a:pt x="277" y="346"/>
                </a:cubicBezTo>
                <a:cubicBezTo>
                  <a:pt x="409" y="211"/>
                  <a:pt x="409" y="211"/>
                  <a:pt x="409" y="211"/>
                </a:cubicBezTo>
                <a:cubicBezTo>
                  <a:pt x="414" y="206"/>
                  <a:pt x="416" y="199"/>
                  <a:pt x="416" y="191"/>
                </a:cubicBezTo>
                <a:close/>
                <a:moveTo>
                  <a:pt x="234" y="330"/>
                </a:moveTo>
                <a:cubicBezTo>
                  <a:pt x="222" y="331"/>
                  <a:pt x="209" y="334"/>
                  <a:pt x="202" y="355"/>
                </a:cubicBezTo>
                <a:cubicBezTo>
                  <a:pt x="198" y="367"/>
                  <a:pt x="192" y="376"/>
                  <a:pt x="185" y="382"/>
                </a:cubicBezTo>
                <a:cubicBezTo>
                  <a:pt x="205" y="386"/>
                  <a:pt x="229" y="387"/>
                  <a:pt x="243" y="377"/>
                </a:cubicBezTo>
                <a:cubicBezTo>
                  <a:pt x="251" y="372"/>
                  <a:pt x="255" y="364"/>
                  <a:pt x="256" y="351"/>
                </a:cubicBezTo>
                <a:cubicBezTo>
                  <a:pt x="256" y="346"/>
                  <a:pt x="254" y="342"/>
                  <a:pt x="250" y="338"/>
                </a:cubicBezTo>
                <a:cubicBezTo>
                  <a:pt x="246" y="333"/>
                  <a:pt x="239" y="330"/>
                  <a:pt x="234" y="330"/>
                </a:cubicBezTo>
                <a:close/>
              </a:path>
            </a:pathLst>
          </a:custGeom>
          <a:solidFill>
            <a:srgbClr val="0A626C"/>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49" name="Freeform 412">
            <a:extLst>
              <a:ext uri="{FF2B5EF4-FFF2-40B4-BE49-F238E27FC236}">
                <a16:creationId xmlns:a16="http://schemas.microsoft.com/office/drawing/2014/main" id="{EA8E5C0F-5C3E-44CD-8FDC-381883E8A5E1}"/>
              </a:ext>
            </a:extLst>
          </p:cNvPr>
          <p:cNvSpPr>
            <a:spLocks noChangeAspect="1" noEditPoints="1"/>
          </p:cNvSpPr>
          <p:nvPr/>
        </p:nvSpPr>
        <p:spPr bwMode="auto">
          <a:xfrm>
            <a:off x="478155" y="3974920"/>
            <a:ext cx="437626" cy="438912"/>
          </a:xfrm>
          <a:custGeom>
            <a:avLst/>
            <a:gdLst>
              <a:gd name="T0" fmla="*/ 0 w 512"/>
              <a:gd name="T1" fmla="*/ 256 h 512"/>
              <a:gd name="T2" fmla="*/ 512 w 512"/>
              <a:gd name="T3" fmla="*/ 256 h 512"/>
              <a:gd name="T4" fmla="*/ 232 w 512"/>
              <a:gd name="T5" fmla="*/ 296 h 512"/>
              <a:gd name="T6" fmla="*/ 203 w 512"/>
              <a:gd name="T7" fmla="*/ 352 h 512"/>
              <a:gd name="T8" fmla="*/ 203 w 512"/>
              <a:gd name="T9" fmla="*/ 374 h 512"/>
              <a:gd name="T10" fmla="*/ 139 w 512"/>
              <a:gd name="T11" fmla="*/ 367 h 512"/>
              <a:gd name="T12" fmla="*/ 139 w 512"/>
              <a:gd name="T13" fmla="*/ 363 h 512"/>
              <a:gd name="T14" fmla="*/ 149 w 512"/>
              <a:gd name="T15" fmla="*/ 299 h 512"/>
              <a:gd name="T16" fmla="*/ 160 w 512"/>
              <a:gd name="T17" fmla="*/ 337 h 512"/>
              <a:gd name="T18" fmla="*/ 232 w 512"/>
              <a:gd name="T19" fmla="*/ 281 h 512"/>
              <a:gd name="T20" fmla="*/ 232 w 512"/>
              <a:gd name="T21" fmla="*/ 232 h 512"/>
              <a:gd name="T22" fmla="*/ 216 w 512"/>
              <a:gd name="T23" fmla="*/ 232 h 512"/>
              <a:gd name="T24" fmla="*/ 160 w 512"/>
              <a:gd name="T25" fmla="*/ 203 h 512"/>
              <a:gd name="T26" fmla="*/ 139 w 512"/>
              <a:gd name="T27" fmla="*/ 203 h 512"/>
              <a:gd name="T28" fmla="*/ 145 w 512"/>
              <a:gd name="T29" fmla="*/ 140 h 512"/>
              <a:gd name="T30" fmla="*/ 149 w 512"/>
              <a:gd name="T31" fmla="*/ 139 h 512"/>
              <a:gd name="T32" fmla="*/ 213 w 512"/>
              <a:gd name="T33" fmla="*/ 150 h 512"/>
              <a:gd name="T34" fmla="*/ 175 w 512"/>
              <a:gd name="T35" fmla="*/ 160 h 512"/>
              <a:gd name="T36" fmla="*/ 232 w 512"/>
              <a:gd name="T37" fmla="*/ 232 h 512"/>
              <a:gd name="T38" fmla="*/ 373 w 512"/>
              <a:gd name="T39" fmla="*/ 363 h 512"/>
              <a:gd name="T40" fmla="*/ 363 w 512"/>
              <a:gd name="T41" fmla="*/ 374 h 512"/>
              <a:gd name="T42" fmla="*/ 299 w 512"/>
              <a:gd name="T43" fmla="*/ 363 h 512"/>
              <a:gd name="T44" fmla="*/ 337 w 512"/>
              <a:gd name="T45" fmla="*/ 352 h 512"/>
              <a:gd name="T46" fmla="*/ 280 w 512"/>
              <a:gd name="T47" fmla="*/ 281 h 512"/>
              <a:gd name="T48" fmla="*/ 352 w 512"/>
              <a:gd name="T49" fmla="*/ 337 h 512"/>
              <a:gd name="T50" fmla="*/ 363 w 512"/>
              <a:gd name="T51" fmla="*/ 299 h 512"/>
              <a:gd name="T52" fmla="*/ 373 w 512"/>
              <a:gd name="T53" fmla="*/ 363 h 512"/>
              <a:gd name="T54" fmla="*/ 363 w 512"/>
              <a:gd name="T55" fmla="*/ 214 h 512"/>
              <a:gd name="T56" fmla="*/ 352 w 512"/>
              <a:gd name="T57" fmla="*/ 175 h 512"/>
              <a:gd name="T58" fmla="*/ 288 w 512"/>
              <a:gd name="T59" fmla="*/ 235 h 512"/>
              <a:gd name="T60" fmla="*/ 280 w 512"/>
              <a:gd name="T61" fmla="*/ 217 h 512"/>
              <a:gd name="T62" fmla="*/ 309 w 512"/>
              <a:gd name="T63" fmla="*/ 160 h 512"/>
              <a:gd name="T64" fmla="*/ 309 w 512"/>
              <a:gd name="T65" fmla="*/ 139 h 512"/>
              <a:gd name="T66" fmla="*/ 363 w 512"/>
              <a:gd name="T67" fmla="*/ 139 h 512"/>
              <a:gd name="T68" fmla="*/ 373 w 512"/>
              <a:gd name="T69" fmla="*/ 15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232" y="296"/>
                </a:moveTo>
                <a:cubicBezTo>
                  <a:pt x="175" y="352"/>
                  <a:pt x="175" y="352"/>
                  <a:pt x="175" y="352"/>
                </a:cubicBezTo>
                <a:cubicBezTo>
                  <a:pt x="203" y="352"/>
                  <a:pt x="203" y="352"/>
                  <a:pt x="203" y="352"/>
                </a:cubicBezTo>
                <a:cubicBezTo>
                  <a:pt x="209" y="352"/>
                  <a:pt x="213" y="357"/>
                  <a:pt x="213" y="363"/>
                </a:cubicBezTo>
                <a:cubicBezTo>
                  <a:pt x="213" y="369"/>
                  <a:pt x="209" y="374"/>
                  <a:pt x="203" y="374"/>
                </a:cubicBezTo>
                <a:cubicBezTo>
                  <a:pt x="149" y="374"/>
                  <a:pt x="149" y="374"/>
                  <a:pt x="149" y="374"/>
                </a:cubicBezTo>
                <a:cubicBezTo>
                  <a:pt x="145" y="374"/>
                  <a:pt x="141" y="371"/>
                  <a:pt x="139" y="367"/>
                </a:cubicBezTo>
                <a:cubicBezTo>
                  <a:pt x="139" y="366"/>
                  <a:pt x="139" y="365"/>
                  <a:pt x="139" y="363"/>
                </a:cubicBezTo>
                <a:cubicBezTo>
                  <a:pt x="139" y="363"/>
                  <a:pt x="139" y="363"/>
                  <a:pt x="139" y="363"/>
                </a:cubicBezTo>
                <a:cubicBezTo>
                  <a:pt x="139" y="310"/>
                  <a:pt x="139" y="310"/>
                  <a:pt x="139" y="310"/>
                </a:cubicBezTo>
                <a:cubicBezTo>
                  <a:pt x="139" y="304"/>
                  <a:pt x="143" y="299"/>
                  <a:pt x="149" y="299"/>
                </a:cubicBezTo>
                <a:cubicBezTo>
                  <a:pt x="155" y="299"/>
                  <a:pt x="160" y="304"/>
                  <a:pt x="160" y="310"/>
                </a:cubicBezTo>
                <a:cubicBezTo>
                  <a:pt x="160" y="337"/>
                  <a:pt x="160" y="337"/>
                  <a:pt x="160" y="337"/>
                </a:cubicBezTo>
                <a:cubicBezTo>
                  <a:pt x="216" y="281"/>
                  <a:pt x="216" y="281"/>
                  <a:pt x="216" y="281"/>
                </a:cubicBezTo>
                <a:cubicBezTo>
                  <a:pt x="221" y="277"/>
                  <a:pt x="227" y="277"/>
                  <a:pt x="232" y="281"/>
                </a:cubicBezTo>
                <a:cubicBezTo>
                  <a:pt x="236" y="285"/>
                  <a:pt x="236" y="292"/>
                  <a:pt x="232" y="296"/>
                </a:cubicBezTo>
                <a:close/>
                <a:moveTo>
                  <a:pt x="232" y="232"/>
                </a:moveTo>
                <a:cubicBezTo>
                  <a:pt x="229" y="234"/>
                  <a:pt x="227" y="235"/>
                  <a:pt x="224" y="235"/>
                </a:cubicBezTo>
                <a:cubicBezTo>
                  <a:pt x="221" y="235"/>
                  <a:pt x="219" y="234"/>
                  <a:pt x="216" y="232"/>
                </a:cubicBezTo>
                <a:cubicBezTo>
                  <a:pt x="160" y="175"/>
                  <a:pt x="160" y="175"/>
                  <a:pt x="160" y="175"/>
                </a:cubicBezTo>
                <a:cubicBezTo>
                  <a:pt x="160" y="203"/>
                  <a:pt x="160" y="203"/>
                  <a:pt x="160" y="203"/>
                </a:cubicBezTo>
                <a:cubicBezTo>
                  <a:pt x="160" y="209"/>
                  <a:pt x="155" y="214"/>
                  <a:pt x="149" y="214"/>
                </a:cubicBezTo>
                <a:cubicBezTo>
                  <a:pt x="143" y="214"/>
                  <a:pt x="139" y="209"/>
                  <a:pt x="139" y="203"/>
                </a:cubicBezTo>
                <a:cubicBezTo>
                  <a:pt x="139" y="150"/>
                  <a:pt x="139" y="150"/>
                  <a:pt x="139" y="150"/>
                </a:cubicBezTo>
                <a:cubicBezTo>
                  <a:pt x="139" y="145"/>
                  <a:pt x="141" y="141"/>
                  <a:pt x="145" y="140"/>
                </a:cubicBezTo>
                <a:cubicBezTo>
                  <a:pt x="147" y="139"/>
                  <a:pt x="148" y="139"/>
                  <a:pt x="149" y="139"/>
                </a:cubicBezTo>
                <a:cubicBezTo>
                  <a:pt x="149" y="139"/>
                  <a:pt x="149" y="139"/>
                  <a:pt x="149" y="139"/>
                </a:cubicBezTo>
                <a:cubicBezTo>
                  <a:pt x="203" y="139"/>
                  <a:pt x="203" y="139"/>
                  <a:pt x="203" y="139"/>
                </a:cubicBezTo>
                <a:cubicBezTo>
                  <a:pt x="209" y="139"/>
                  <a:pt x="213" y="144"/>
                  <a:pt x="213" y="150"/>
                </a:cubicBezTo>
                <a:cubicBezTo>
                  <a:pt x="213" y="156"/>
                  <a:pt x="209" y="160"/>
                  <a:pt x="203" y="160"/>
                </a:cubicBezTo>
                <a:cubicBezTo>
                  <a:pt x="175" y="160"/>
                  <a:pt x="175" y="160"/>
                  <a:pt x="175" y="160"/>
                </a:cubicBezTo>
                <a:cubicBezTo>
                  <a:pt x="232" y="217"/>
                  <a:pt x="232" y="217"/>
                  <a:pt x="232" y="217"/>
                </a:cubicBezTo>
                <a:cubicBezTo>
                  <a:pt x="236" y="221"/>
                  <a:pt x="236" y="228"/>
                  <a:pt x="232" y="232"/>
                </a:cubicBezTo>
                <a:close/>
                <a:moveTo>
                  <a:pt x="373" y="363"/>
                </a:moveTo>
                <a:cubicBezTo>
                  <a:pt x="373" y="363"/>
                  <a:pt x="373" y="363"/>
                  <a:pt x="373" y="363"/>
                </a:cubicBezTo>
                <a:cubicBezTo>
                  <a:pt x="373" y="365"/>
                  <a:pt x="373" y="366"/>
                  <a:pt x="373" y="367"/>
                </a:cubicBezTo>
                <a:cubicBezTo>
                  <a:pt x="371" y="371"/>
                  <a:pt x="367" y="374"/>
                  <a:pt x="363" y="374"/>
                </a:cubicBezTo>
                <a:cubicBezTo>
                  <a:pt x="309" y="374"/>
                  <a:pt x="309" y="374"/>
                  <a:pt x="309" y="374"/>
                </a:cubicBezTo>
                <a:cubicBezTo>
                  <a:pt x="303" y="374"/>
                  <a:pt x="299" y="369"/>
                  <a:pt x="299" y="363"/>
                </a:cubicBezTo>
                <a:cubicBezTo>
                  <a:pt x="299" y="357"/>
                  <a:pt x="303" y="352"/>
                  <a:pt x="309" y="352"/>
                </a:cubicBezTo>
                <a:cubicBezTo>
                  <a:pt x="337" y="352"/>
                  <a:pt x="337" y="352"/>
                  <a:pt x="337" y="352"/>
                </a:cubicBezTo>
                <a:cubicBezTo>
                  <a:pt x="280" y="296"/>
                  <a:pt x="280" y="296"/>
                  <a:pt x="280" y="296"/>
                </a:cubicBezTo>
                <a:cubicBezTo>
                  <a:pt x="276" y="292"/>
                  <a:pt x="276" y="285"/>
                  <a:pt x="280" y="281"/>
                </a:cubicBezTo>
                <a:cubicBezTo>
                  <a:pt x="285" y="277"/>
                  <a:pt x="291" y="277"/>
                  <a:pt x="296" y="281"/>
                </a:cubicBezTo>
                <a:cubicBezTo>
                  <a:pt x="352" y="337"/>
                  <a:pt x="352" y="337"/>
                  <a:pt x="352" y="337"/>
                </a:cubicBezTo>
                <a:cubicBezTo>
                  <a:pt x="352" y="310"/>
                  <a:pt x="352" y="310"/>
                  <a:pt x="352" y="310"/>
                </a:cubicBezTo>
                <a:cubicBezTo>
                  <a:pt x="352" y="304"/>
                  <a:pt x="357" y="299"/>
                  <a:pt x="363" y="299"/>
                </a:cubicBezTo>
                <a:cubicBezTo>
                  <a:pt x="369" y="299"/>
                  <a:pt x="373" y="304"/>
                  <a:pt x="373" y="310"/>
                </a:cubicBezTo>
                <a:lnTo>
                  <a:pt x="373" y="363"/>
                </a:lnTo>
                <a:close/>
                <a:moveTo>
                  <a:pt x="373" y="203"/>
                </a:moveTo>
                <a:cubicBezTo>
                  <a:pt x="373" y="209"/>
                  <a:pt x="369" y="214"/>
                  <a:pt x="363" y="214"/>
                </a:cubicBezTo>
                <a:cubicBezTo>
                  <a:pt x="357" y="214"/>
                  <a:pt x="352" y="209"/>
                  <a:pt x="352" y="203"/>
                </a:cubicBezTo>
                <a:cubicBezTo>
                  <a:pt x="352" y="175"/>
                  <a:pt x="352" y="175"/>
                  <a:pt x="352" y="175"/>
                </a:cubicBezTo>
                <a:cubicBezTo>
                  <a:pt x="296" y="232"/>
                  <a:pt x="296" y="232"/>
                  <a:pt x="296" y="232"/>
                </a:cubicBezTo>
                <a:cubicBezTo>
                  <a:pt x="293" y="234"/>
                  <a:pt x="291" y="235"/>
                  <a:pt x="288" y="235"/>
                </a:cubicBezTo>
                <a:cubicBezTo>
                  <a:pt x="285" y="235"/>
                  <a:pt x="283" y="234"/>
                  <a:pt x="280" y="232"/>
                </a:cubicBezTo>
                <a:cubicBezTo>
                  <a:pt x="276" y="228"/>
                  <a:pt x="276" y="221"/>
                  <a:pt x="280" y="217"/>
                </a:cubicBezTo>
                <a:cubicBezTo>
                  <a:pt x="337" y="160"/>
                  <a:pt x="337" y="160"/>
                  <a:pt x="337" y="160"/>
                </a:cubicBezTo>
                <a:cubicBezTo>
                  <a:pt x="309" y="160"/>
                  <a:pt x="309" y="160"/>
                  <a:pt x="309" y="160"/>
                </a:cubicBezTo>
                <a:cubicBezTo>
                  <a:pt x="303" y="160"/>
                  <a:pt x="299" y="156"/>
                  <a:pt x="299" y="150"/>
                </a:cubicBezTo>
                <a:cubicBezTo>
                  <a:pt x="299" y="144"/>
                  <a:pt x="303" y="139"/>
                  <a:pt x="309" y="139"/>
                </a:cubicBezTo>
                <a:cubicBezTo>
                  <a:pt x="363" y="139"/>
                  <a:pt x="363" y="139"/>
                  <a:pt x="363" y="139"/>
                </a:cubicBezTo>
                <a:cubicBezTo>
                  <a:pt x="363" y="139"/>
                  <a:pt x="363" y="139"/>
                  <a:pt x="363" y="139"/>
                </a:cubicBezTo>
                <a:cubicBezTo>
                  <a:pt x="364" y="139"/>
                  <a:pt x="365" y="139"/>
                  <a:pt x="367" y="140"/>
                </a:cubicBezTo>
                <a:cubicBezTo>
                  <a:pt x="371" y="141"/>
                  <a:pt x="373" y="145"/>
                  <a:pt x="373" y="150"/>
                </a:cubicBezTo>
                <a:lnTo>
                  <a:pt x="373" y="203"/>
                </a:lnTo>
                <a:close/>
              </a:path>
            </a:pathLst>
          </a:custGeom>
          <a:solidFill>
            <a:srgbClr val="0A626C"/>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153" name="Group 531">
            <a:extLst>
              <a:ext uri="{FF2B5EF4-FFF2-40B4-BE49-F238E27FC236}">
                <a16:creationId xmlns:a16="http://schemas.microsoft.com/office/drawing/2014/main" id="{6133D639-1DA0-44A4-B173-DAF3517201C5}"/>
              </a:ext>
            </a:extLst>
          </p:cNvPr>
          <p:cNvGrpSpPr>
            <a:grpSpLocks noChangeAspect="1"/>
          </p:cNvGrpSpPr>
          <p:nvPr/>
        </p:nvGrpSpPr>
        <p:grpSpPr bwMode="auto">
          <a:xfrm>
            <a:off x="478155" y="5348209"/>
            <a:ext cx="438912" cy="438912"/>
            <a:chOff x="3061" y="1953"/>
            <a:chExt cx="340" cy="340"/>
          </a:xfrm>
          <a:solidFill>
            <a:srgbClr val="0A626C"/>
          </a:solidFill>
        </p:grpSpPr>
        <p:sp>
          <p:nvSpPr>
            <p:cNvPr id="154" name="Freeform 532">
              <a:extLst>
                <a:ext uri="{FF2B5EF4-FFF2-40B4-BE49-F238E27FC236}">
                  <a16:creationId xmlns:a16="http://schemas.microsoft.com/office/drawing/2014/main" id="{2D644C07-D50E-4B78-A92F-E5C41A839C0B}"/>
                </a:ext>
              </a:extLst>
            </p:cNvPr>
            <p:cNvSpPr>
              <a:spLocks noEditPoints="1"/>
            </p:cNvSpPr>
            <p:nvPr/>
          </p:nvSpPr>
          <p:spPr bwMode="auto">
            <a:xfrm>
              <a:off x="3061" y="1953"/>
              <a:ext cx="340" cy="340"/>
            </a:xfrm>
            <a:custGeom>
              <a:avLst/>
              <a:gdLst>
                <a:gd name="T0" fmla="*/ 356 w 512"/>
                <a:gd name="T1" fmla="*/ 352 h 512"/>
                <a:gd name="T2" fmla="*/ 366 w 512"/>
                <a:gd name="T3" fmla="*/ 373 h 512"/>
                <a:gd name="T4" fmla="*/ 145 w 512"/>
                <a:gd name="T5" fmla="*/ 373 h 512"/>
                <a:gd name="T6" fmla="*/ 156 w 512"/>
                <a:gd name="T7" fmla="*/ 352 h 512"/>
                <a:gd name="T8" fmla="*/ 356 w 512"/>
                <a:gd name="T9" fmla="*/ 352 h 512"/>
                <a:gd name="T10" fmla="*/ 256 w 512"/>
                <a:gd name="T11" fmla="*/ 118 h 512"/>
                <a:gd name="T12" fmla="*/ 180 w 512"/>
                <a:gd name="T13" fmla="*/ 160 h 512"/>
                <a:gd name="T14" fmla="*/ 331 w 512"/>
                <a:gd name="T15" fmla="*/ 160 h 512"/>
                <a:gd name="T16" fmla="*/ 256 w 512"/>
                <a:gd name="T17" fmla="*/ 118 h 512"/>
                <a:gd name="T18" fmla="*/ 512 w 512"/>
                <a:gd name="T19" fmla="*/ 256 h 512"/>
                <a:gd name="T20" fmla="*/ 256 w 512"/>
                <a:gd name="T21" fmla="*/ 512 h 512"/>
                <a:gd name="T22" fmla="*/ 0 w 512"/>
                <a:gd name="T23" fmla="*/ 256 h 512"/>
                <a:gd name="T24" fmla="*/ 256 w 512"/>
                <a:gd name="T25" fmla="*/ 0 h 512"/>
                <a:gd name="T26" fmla="*/ 512 w 512"/>
                <a:gd name="T27" fmla="*/ 256 h 512"/>
                <a:gd name="T28" fmla="*/ 128 w 512"/>
                <a:gd name="T29" fmla="*/ 173 h 512"/>
                <a:gd name="T30" fmla="*/ 138 w 512"/>
                <a:gd name="T31" fmla="*/ 181 h 512"/>
                <a:gd name="T32" fmla="*/ 373 w 512"/>
                <a:gd name="T33" fmla="*/ 181 h 512"/>
                <a:gd name="T34" fmla="*/ 383 w 512"/>
                <a:gd name="T35" fmla="*/ 173 h 512"/>
                <a:gd name="T36" fmla="*/ 378 w 512"/>
                <a:gd name="T37" fmla="*/ 161 h 512"/>
                <a:gd name="T38" fmla="*/ 261 w 512"/>
                <a:gd name="T39" fmla="*/ 97 h 512"/>
                <a:gd name="T40" fmla="*/ 251 w 512"/>
                <a:gd name="T41" fmla="*/ 97 h 512"/>
                <a:gd name="T42" fmla="*/ 133 w 512"/>
                <a:gd name="T43" fmla="*/ 161 h 512"/>
                <a:gd name="T44" fmla="*/ 128 w 512"/>
                <a:gd name="T45" fmla="*/ 173 h 512"/>
                <a:gd name="T46" fmla="*/ 352 w 512"/>
                <a:gd name="T47" fmla="*/ 202 h 512"/>
                <a:gd name="T48" fmla="*/ 341 w 512"/>
                <a:gd name="T49" fmla="*/ 213 h 512"/>
                <a:gd name="T50" fmla="*/ 341 w 512"/>
                <a:gd name="T51" fmla="*/ 298 h 512"/>
                <a:gd name="T52" fmla="*/ 352 w 512"/>
                <a:gd name="T53" fmla="*/ 309 h 512"/>
                <a:gd name="T54" fmla="*/ 362 w 512"/>
                <a:gd name="T55" fmla="*/ 298 h 512"/>
                <a:gd name="T56" fmla="*/ 362 w 512"/>
                <a:gd name="T57" fmla="*/ 213 h 512"/>
                <a:gd name="T58" fmla="*/ 352 w 512"/>
                <a:gd name="T59" fmla="*/ 202 h 512"/>
                <a:gd name="T60" fmla="*/ 288 w 512"/>
                <a:gd name="T61" fmla="*/ 202 h 512"/>
                <a:gd name="T62" fmla="*/ 277 w 512"/>
                <a:gd name="T63" fmla="*/ 213 h 512"/>
                <a:gd name="T64" fmla="*/ 277 w 512"/>
                <a:gd name="T65" fmla="*/ 298 h 512"/>
                <a:gd name="T66" fmla="*/ 288 w 512"/>
                <a:gd name="T67" fmla="*/ 309 h 512"/>
                <a:gd name="T68" fmla="*/ 298 w 512"/>
                <a:gd name="T69" fmla="*/ 298 h 512"/>
                <a:gd name="T70" fmla="*/ 298 w 512"/>
                <a:gd name="T71" fmla="*/ 213 h 512"/>
                <a:gd name="T72" fmla="*/ 288 w 512"/>
                <a:gd name="T73" fmla="*/ 202 h 512"/>
                <a:gd name="T74" fmla="*/ 224 w 512"/>
                <a:gd name="T75" fmla="*/ 202 h 512"/>
                <a:gd name="T76" fmla="*/ 213 w 512"/>
                <a:gd name="T77" fmla="*/ 213 h 512"/>
                <a:gd name="T78" fmla="*/ 213 w 512"/>
                <a:gd name="T79" fmla="*/ 298 h 512"/>
                <a:gd name="T80" fmla="*/ 224 w 512"/>
                <a:gd name="T81" fmla="*/ 309 h 512"/>
                <a:gd name="T82" fmla="*/ 234 w 512"/>
                <a:gd name="T83" fmla="*/ 298 h 512"/>
                <a:gd name="T84" fmla="*/ 234 w 512"/>
                <a:gd name="T85" fmla="*/ 213 h 512"/>
                <a:gd name="T86" fmla="*/ 224 w 512"/>
                <a:gd name="T87" fmla="*/ 202 h 512"/>
                <a:gd name="T88" fmla="*/ 160 w 512"/>
                <a:gd name="T89" fmla="*/ 202 h 512"/>
                <a:gd name="T90" fmla="*/ 149 w 512"/>
                <a:gd name="T91" fmla="*/ 213 h 512"/>
                <a:gd name="T92" fmla="*/ 149 w 512"/>
                <a:gd name="T93" fmla="*/ 298 h 512"/>
                <a:gd name="T94" fmla="*/ 160 w 512"/>
                <a:gd name="T95" fmla="*/ 309 h 512"/>
                <a:gd name="T96" fmla="*/ 170 w 512"/>
                <a:gd name="T97" fmla="*/ 298 h 512"/>
                <a:gd name="T98" fmla="*/ 170 w 512"/>
                <a:gd name="T99" fmla="*/ 213 h 512"/>
                <a:gd name="T100" fmla="*/ 160 w 512"/>
                <a:gd name="T101" fmla="*/ 202 h 512"/>
                <a:gd name="T102" fmla="*/ 393 w 512"/>
                <a:gd name="T103" fmla="*/ 379 h 512"/>
                <a:gd name="T104" fmla="*/ 372 w 512"/>
                <a:gd name="T105" fmla="*/ 336 h 512"/>
                <a:gd name="T106" fmla="*/ 362 w 512"/>
                <a:gd name="T107" fmla="*/ 330 h 512"/>
                <a:gd name="T108" fmla="*/ 149 w 512"/>
                <a:gd name="T109" fmla="*/ 330 h 512"/>
                <a:gd name="T110" fmla="*/ 139 w 512"/>
                <a:gd name="T111" fmla="*/ 336 h 512"/>
                <a:gd name="T112" fmla="*/ 118 w 512"/>
                <a:gd name="T113" fmla="*/ 379 h 512"/>
                <a:gd name="T114" fmla="*/ 119 w 512"/>
                <a:gd name="T115" fmla="*/ 389 h 512"/>
                <a:gd name="T116" fmla="*/ 128 w 512"/>
                <a:gd name="T117" fmla="*/ 394 h 512"/>
                <a:gd name="T118" fmla="*/ 384 w 512"/>
                <a:gd name="T119" fmla="*/ 394 h 512"/>
                <a:gd name="T120" fmla="*/ 393 w 512"/>
                <a:gd name="T121" fmla="*/ 389 h 512"/>
                <a:gd name="T122" fmla="*/ 393 w 512"/>
                <a:gd name="T123" fmla="*/ 37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356" y="352"/>
                  </a:moveTo>
                  <a:cubicBezTo>
                    <a:pt x="366" y="373"/>
                    <a:pt x="366" y="373"/>
                    <a:pt x="366" y="373"/>
                  </a:cubicBezTo>
                  <a:cubicBezTo>
                    <a:pt x="145" y="373"/>
                    <a:pt x="145" y="373"/>
                    <a:pt x="145" y="373"/>
                  </a:cubicBezTo>
                  <a:cubicBezTo>
                    <a:pt x="156" y="352"/>
                    <a:pt x="156" y="352"/>
                    <a:pt x="156" y="352"/>
                  </a:cubicBezTo>
                  <a:lnTo>
                    <a:pt x="356" y="352"/>
                  </a:lnTo>
                  <a:close/>
                  <a:moveTo>
                    <a:pt x="256" y="118"/>
                  </a:moveTo>
                  <a:cubicBezTo>
                    <a:pt x="180" y="160"/>
                    <a:pt x="180" y="160"/>
                    <a:pt x="180" y="160"/>
                  </a:cubicBezTo>
                  <a:cubicBezTo>
                    <a:pt x="331" y="160"/>
                    <a:pt x="331" y="160"/>
                    <a:pt x="331" y="160"/>
                  </a:cubicBezTo>
                  <a:lnTo>
                    <a:pt x="256" y="11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28" y="173"/>
                  </a:moveTo>
                  <a:cubicBezTo>
                    <a:pt x="129" y="178"/>
                    <a:pt x="133" y="181"/>
                    <a:pt x="138" y="181"/>
                  </a:cubicBezTo>
                  <a:cubicBezTo>
                    <a:pt x="373" y="181"/>
                    <a:pt x="373" y="181"/>
                    <a:pt x="373" y="181"/>
                  </a:cubicBezTo>
                  <a:cubicBezTo>
                    <a:pt x="378" y="181"/>
                    <a:pt x="382" y="178"/>
                    <a:pt x="383" y="173"/>
                  </a:cubicBezTo>
                  <a:cubicBezTo>
                    <a:pt x="385" y="168"/>
                    <a:pt x="382" y="163"/>
                    <a:pt x="378" y="161"/>
                  </a:cubicBezTo>
                  <a:cubicBezTo>
                    <a:pt x="261" y="97"/>
                    <a:pt x="261" y="97"/>
                    <a:pt x="261" y="97"/>
                  </a:cubicBezTo>
                  <a:cubicBezTo>
                    <a:pt x="258" y="95"/>
                    <a:pt x="254" y="95"/>
                    <a:pt x="251" y="97"/>
                  </a:cubicBezTo>
                  <a:cubicBezTo>
                    <a:pt x="133" y="161"/>
                    <a:pt x="133" y="161"/>
                    <a:pt x="133" y="161"/>
                  </a:cubicBezTo>
                  <a:cubicBezTo>
                    <a:pt x="129" y="163"/>
                    <a:pt x="127" y="168"/>
                    <a:pt x="128" y="173"/>
                  </a:cubicBezTo>
                  <a:close/>
                  <a:moveTo>
                    <a:pt x="352" y="202"/>
                  </a:moveTo>
                  <a:cubicBezTo>
                    <a:pt x="346" y="202"/>
                    <a:pt x="341" y="207"/>
                    <a:pt x="341" y="213"/>
                  </a:cubicBezTo>
                  <a:cubicBezTo>
                    <a:pt x="341" y="298"/>
                    <a:pt x="341" y="298"/>
                    <a:pt x="341" y="298"/>
                  </a:cubicBezTo>
                  <a:cubicBezTo>
                    <a:pt x="341" y="304"/>
                    <a:pt x="346" y="309"/>
                    <a:pt x="352" y="309"/>
                  </a:cubicBezTo>
                  <a:cubicBezTo>
                    <a:pt x="358" y="309"/>
                    <a:pt x="362" y="304"/>
                    <a:pt x="362" y="298"/>
                  </a:cubicBezTo>
                  <a:cubicBezTo>
                    <a:pt x="362" y="213"/>
                    <a:pt x="362" y="213"/>
                    <a:pt x="362" y="213"/>
                  </a:cubicBezTo>
                  <a:cubicBezTo>
                    <a:pt x="362" y="207"/>
                    <a:pt x="358" y="202"/>
                    <a:pt x="352" y="202"/>
                  </a:cubicBezTo>
                  <a:close/>
                  <a:moveTo>
                    <a:pt x="288" y="202"/>
                  </a:moveTo>
                  <a:cubicBezTo>
                    <a:pt x="282" y="202"/>
                    <a:pt x="277" y="207"/>
                    <a:pt x="277" y="213"/>
                  </a:cubicBezTo>
                  <a:cubicBezTo>
                    <a:pt x="277" y="298"/>
                    <a:pt x="277" y="298"/>
                    <a:pt x="277" y="298"/>
                  </a:cubicBezTo>
                  <a:cubicBezTo>
                    <a:pt x="277" y="304"/>
                    <a:pt x="282" y="309"/>
                    <a:pt x="288" y="309"/>
                  </a:cubicBezTo>
                  <a:cubicBezTo>
                    <a:pt x="294" y="309"/>
                    <a:pt x="298" y="304"/>
                    <a:pt x="298" y="298"/>
                  </a:cubicBezTo>
                  <a:cubicBezTo>
                    <a:pt x="298" y="213"/>
                    <a:pt x="298" y="213"/>
                    <a:pt x="298" y="213"/>
                  </a:cubicBezTo>
                  <a:cubicBezTo>
                    <a:pt x="298" y="207"/>
                    <a:pt x="294" y="202"/>
                    <a:pt x="288" y="202"/>
                  </a:cubicBezTo>
                  <a:close/>
                  <a:moveTo>
                    <a:pt x="224" y="202"/>
                  </a:moveTo>
                  <a:cubicBezTo>
                    <a:pt x="218" y="202"/>
                    <a:pt x="213" y="207"/>
                    <a:pt x="213" y="213"/>
                  </a:cubicBezTo>
                  <a:cubicBezTo>
                    <a:pt x="213" y="298"/>
                    <a:pt x="213" y="298"/>
                    <a:pt x="213" y="298"/>
                  </a:cubicBezTo>
                  <a:cubicBezTo>
                    <a:pt x="213" y="304"/>
                    <a:pt x="218" y="309"/>
                    <a:pt x="224" y="309"/>
                  </a:cubicBezTo>
                  <a:cubicBezTo>
                    <a:pt x="230" y="309"/>
                    <a:pt x="234" y="304"/>
                    <a:pt x="234" y="298"/>
                  </a:cubicBezTo>
                  <a:cubicBezTo>
                    <a:pt x="234" y="213"/>
                    <a:pt x="234" y="213"/>
                    <a:pt x="234" y="213"/>
                  </a:cubicBezTo>
                  <a:cubicBezTo>
                    <a:pt x="234" y="207"/>
                    <a:pt x="230" y="202"/>
                    <a:pt x="224" y="202"/>
                  </a:cubicBezTo>
                  <a:close/>
                  <a:moveTo>
                    <a:pt x="160" y="202"/>
                  </a:moveTo>
                  <a:cubicBezTo>
                    <a:pt x="154" y="202"/>
                    <a:pt x="149" y="207"/>
                    <a:pt x="149" y="213"/>
                  </a:cubicBezTo>
                  <a:cubicBezTo>
                    <a:pt x="149" y="298"/>
                    <a:pt x="149" y="298"/>
                    <a:pt x="149" y="298"/>
                  </a:cubicBezTo>
                  <a:cubicBezTo>
                    <a:pt x="149" y="304"/>
                    <a:pt x="154" y="309"/>
                    <a:pt x="160" y="309"/>
                  </a:cubicBezTo>
                  <a:cubicBezTo>
                    <a:pt x="166" y="309"/>
                    <a:pt x="170" y="304"/>
                    <a:pt x="170" y="298"/>
                  </a:cubicBezTo>
                  <a:cubicBezTo>
                    <a:pt x="170" y="213"/>
                    <a:pt x="170" y="213"/>
                    <a:pt x="170" y="213"/>
                  </a:cubicBezTo>
                  <a:cubicBezTo>
                    <a:pt x="170" y="207"/>
                    <a:pt x="166" y="202"/>
                    <a:pt x="160" y="202"/>
                  </a:cubicBezTo>
                  <a:close/>
                  <a:moveTo>
                    <a:pt x="393" y="379"/>
                  </a:moveTo>
                  <a:cubicBezTo>
                    <a:pt x="372" y="336"/>
                    <a:pt x="372" y="336"/>
                    <a:pt x="372" y="336"/>
                  </a:cubicBezTo>
                  <a:cubicBezTo>
                    <a:pt x="370" y="333"/>
                    <a:pt x="366" y="330"/>
                    <a:pt x="362" y="330"/>
                  </a:cubicBezTo>
                  <a:cubicBezTo>
                    <a:pt x="149" y="330"/>
                    <a:pt x="149" y="330"/>
                    <a:pt x="149" y="330"/>
                  </a:cubicBezTo>
                  <a:cubicBezTo>
                    <a:pt x="145" y="330"/>
                    <a:pt x="141" y="333"/>
                    <a:pt x="139" y="336"/>
                  </a:cubicBezTo>
                  <a:cubicBezTo>
                    <a:pt x="118" y="379"/>
                    <a:pt x="118" y="379"/>
                    <a:pt x="118" y="379"/>
                  </a:cubicBezTo>
                  <a:cubicBezTo>
                    <a:pt x="116" y="382"/>
                    <a:pt x="117" y="386"/>
                    <a:pt x="119" y="389"/>
                  </a:cubicBezTo>
                  <a:cubicBezTo>
                    <a:pt x="121" y="392"/>
                    <a:pt x="124" y="394"/>
                    <a:pt x="128" y="394"/>
                  </a:cubicBezTo>
                  <a:cubicBezTo>
                    <a:pt x="384" y="394"/>
                    <a:pt x="384" y="394"/>
                    <a:pt x="384" y="394"/>
                  </a:cubicBezTo>
                  <a:cubicBezTo>
                    <a:pt x="387" y="394"/>
                    <a:pt x="391" y="392"/>
                    <a:pt x="393" y="389"/>
                  </a:cubicBezTo>
                  <a:cubicBezTo>
                    <a:pt x="395" y="386"/>
                    <a:pt x="395" y="382"/>
                    <a:pt x="393" y="37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55" name="Freeform 533">
              <a:extLst>
                <a:ext uri="{FF2B5EF4-FFF2-40B4-BE49-F238E27FC236}">
                  <a16:creationId xmlns:a16="http://schemas.microsoft.com/office/drawing/2014/main" id="{04EE9E67-A3A9-4C6D-9FAE-6456C6BC69C4}"/>
                </a:ext>
              </a:extLst>
            </p:cNvPr>
            <p:cNvSpPr>
              <a:spLocks noEditPoints="1"/>
            </p:cNvSpPr>
            <p:nvPr/>
          </p:nvSpPr>
          <p:spPr bwMode="auto">
            <a:xfrm>
              <a:off x="3061" y="1953"/>
              <a:ext cx="340" cy="340"/>
            </a:xfrm>
            <a:custGeom>
              <a:avLst/>
              <a:gdLst>
                <a:gd name="T0" fmla="*/ 356 w 512"/>
                <a:gd name="T1" fmla="*/ 352 h 512"/>
                <a:gd name="T2" fmla="*/ 366 w 512"/>
                <a:gd name="T3" fmla="*/ 373 h 512"/>
                <a:gd name="T4" fmla="*/ 145 w 512"/>
                <a:gd name="T5" fmla="*/ 373 h 512"/>
                <a:gd name="T6" fmla="*/ 156 w 512"/>
                <a:gd name="T7" fmla="*/ 352 h 512"/>
                <a:gd name="T8" fmla="*/ 356 w 512"/>
                <a:gd name="T9" fmla="*/ 352 h 512"/>
                <a:gd name="T10" fmla="*/ 256 w 512"/>
                <a:gd name="T11" fmla="*/ 118 h 512"/>
                <a:gd name="T12" fmla="*/ 180 w 512"/>
                <a:gd name="T13" fmla="*/ 160 h 512"/>
                <a:gd name="T14" fmla="*/ 331 w 512"/>
                <a:gd name="T15" fmla="*/ 160 h 512"/>
                <a:gd name="T16" fmla="*/ 256 w 512"/>
                <a:gd name="T17" fmla="*/ 118 h 512"/>
                <a:gd name="T18" fmla="*/ 512 w 512"/>
                <a:gd name="T19" fmla="*/ 256 h 512"/>
                <a:gd name="T20" fmla="*/ 256 w 512"/>
                <a:gd name="T21" fmla="*/ 512 h 512"/>
                <a:gd name="T22" fmla="*/ 0 w 512"/>
                <a:gd name="T23" fmla="*/ 256 h 512"/>
                <a:gd name="T24" fmla="*/ 256 w 512"/>
                <a:gd name="T25" fmla="*/ 0 h 512"/>
                <a:gd name="T26" fmla="*/ 512 w 512"/>
                <a:gd name="T27" fmla="*/ 256 h 512"/>
                <a:gd name="T28" fmla="*/ 128 w 512"/>
                <a:gd name="T29" fmla="*/ 173 h 512"/>
                <a:gd name="T30" fmla="*/ 138 w 512"/>
                <a:gd name="T31" fmla="*/ 181 h 512"/>
                <a:gd name="T32" fmla="*/ 373 w 512"/>
                <a:gd name="T33" fmla="*/ 181 h 512"/>
                <a:gd name="T34" fmla="*/ 383 w 512"/>
                <a:gd name="T35" fmla="*/ 173 h 512"/>
                <a:gd name="T36" fmla="*/ 378 w 512"/>
                <a:gd name="T37" fmla="*/ 161 h 512"/>
                <a:gd name="T38" fmla="*/ 261 w 512"/>
                <a:gd name="T39" fmla="*/ 97 h 512"/>
                <a:gd name="T40" fmla="*/ 251 w 512"/>
                <a:gd name="T41" fmla="*/ 97 h 512"/>
                <a:gd name="T42" fmla="*/ 133 w 512"/>
                <a:gd name="T43" fmla="*/ 161 h 512"/>
                <a:gd name="T44" fmla="*/ 128 w 512"/>
                <a:gd name="T45" fmla="*/ 173 h 512"/>
                <a:gd name="T46" fmla="*/ 352 w 512"/>
                <a:gd name="T47" fmla="*/ 202 h 512"/>
                <a:gd name="T48" fmla="*/ 341 w 512"/>
                <a:gd name="T49" fmla="*/ 213 h 512"/>
                <a:gd name="T50" fmla="*/ 341 w 512"/>
                <a:gd name="T51" fmla="*/ 298 h 512"/>
                <a:gd name="T52" fmla="*/ 352 w 512"/>
                <a:gd name="T53" fmla="*/ 309 h 512"/>
                <a:gd name="T54" fmla="*/ 362 w 512"/>
                <a:gd name="T55" fmla="*/ 298 h 512"/>
                <a:gd name="T56" fmla="*/ 362 w 512"/>
                <a:gd name="T57" fmla="*/ 213 h 512"/>
                <a:gd name="T58" fmla="*/ 352 w 512"/>
                <a:gd name="T59" fmla="*/ 202 h 512"/>
                <a:gd name="T60" fmla="*/ 288 w 512"/>
                <a:gd name="T61" fmla="*/ 202 h 512"/>
                <a:gd name="T62" fmla="*/ 277 w 512"/>
                <a:gd name="T63" fmla="*/ 213 h 512"/>
                <a:gd name="T64" fmla="*/ 277 w 512"/>
                <a:gd name="T65" fmla="*/ 298 h 512"/>
                <a:gd name="T66" fmla="*/ 288 w 512"/>
                <a:gd name="T67" fmla="*/ 309 h 512"/>
                <a:gd name="T68" fmla="*/ 298 w 512"/>
                <a:gd name="T69" fmla="*/ 298 h 512"/>
                <a:gd name="T70" fmla="*/ 298 w 512"/>
                <a:gd name="T71" fmla="*/ 213 h 512"/>
                <a:gd name="T72" fmla="*/ 288 w 512"/>
                <a:gd name="T73" fmla="*/ 202 h 512"/>
                <a:gd name="T74" fmla="*/ 224 w 512"/>
                <a:gd name="T75" fmla="*/ 202 h 512"/>
                <a:gd name="T76" fmla="*/ 213 w 512"/>
                <a:gd name="T77" fmla="*/ 213 h 512"/>
                <a:gd name="T78" fmla="*/ 213 w 512"/>
                <a:gd name="T79" fmla="*/ 298 h 512"/>
                <a:gd name="T80" fmla="*/ 224 w 512"/>
                <a:gd name="T81" fmla="*/ 309 h 512"/>
                <a:gd name="T82" fmla="*/ 234 w 512"/>
                <a:gd name="T83" fmla="*/ 298 h 512"/>
                <a:gd name="T84" fmla="*/ 234 w 512"/>
                <a:gd name="T85" fmla="*/ 213 h 512"/>
                <a:gd name="T86" fmla="*/ 224 w 512"/>
                <a:gd name="T87" fmla="*/ 202 h 512"/>
                <a:gd name="T88" fmla="*/ 160 w 512"/>
                <a:gd name="T89" fmla="*/ 202 h 512"/>
                <a:gd name="T90" fmla="*/ 149 w 512"/>
                <a:gd name="T91" fmla="*/ 213 h 512"/>
                <a:gd name="T92" fmla="*/ 149 w 512"/>
                <a:gd name="T93" fmla="*/ 298 h 512"/>
                <a:gd name="T94" fmla="*/ 160 w 512"/>
                <a:gd name="T95" fmla="*/ 309 h 512"/>
                <a:gd name="T96" fmla="*/ 170 w 512"/>
                <a:gd name="T97" fmla="*/ 298 h 512"/>
                <a:gd name="T98" fmla="*/ 170 w 512"/>
                <a:gd name="T99" fmla="*/ 213 h 512"/>
                <a:gd name="T100" fmla="*/ 160 w 512"/>
                <a:gd name="T101" fmla="*/ 202 h 512"/>
                <a:gd name="T102" fmla="*/ 393 w 512"/>
                <a:gd name="T103" fmla="*/ 379 h 512"/>
                <a:gd name="T104" fmla="*/ 372 w 512"/>
                <a:gd name="T105" fmla="*/ 336 h 512"/>
                <a:gd name="T106" fmla="*/ 362 w 512"/>
                <a:gd name="T107" fmla="*/ 330 h 512"/>
                <a:gd name="T108" fmla="*/ 149 w 512"/>
                <a:gd name="T109" fmla="*/ 330 h 512"/>
                <a:gd name="T110" fmla="*/ 139 w 512"/>
                <a:gd name="T111" fmla="*/ 336 h 512"/>
                <a:gd name="T112" fmla="*/ 118 w 512"/>
                <a:gd name="T113" fmla="*/ 379 h 512"/>
                <a:gd name="T114" fmla="*/ 119 w 512"/>
                <a:gd name="T115" fmla="*/ 389 h 512"/>
                <a:gd name="T116" fmla="*/ 128 w 512"/>
                <a:gd name="T117" fmla="*/ 394 h 512"/>
                <a:gd name="T118" fmla="*/ 384 w 512"/>
                <a:gd name="T119" fmla="*/ 394 h 512"/>
                <a:gd name="T120" fmla="*/ 393 w 512"/>
                <a:gd name="T121" fmla="*/ 389 h 512"/>
                <a:gd name="T122" fmla="*/ 393 w 512"/>
                <a:gd name="T123" fmla="*/ 37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356" y="352"/>
                  </a:moveTo>
                  <a:cubicBezTo>
                    <a:pt x="366" y="373"/>
                    <a:pt x="366" y="373"/>
                    <a:pt x="366" y="373"/>
                  </a:cubicBezTo>
                  <a:cubicBezTo>
                    <a:pt x="145" y="373"/>
                    <a:pt x="145" y="373"/>
                    <a:pt x="145" y="373"/>
                  </a:cubicBezTo>
                  <a:cubicBezTo>
                    <a:pt x="156" y="352"/>
                    <a:pt x="156" y="352"/>
                    <a:pt x="156" y="352"/>
                  </a:cubicBezTo>
                  <a:lnTo>
                    <a:pt x="356" y="352"/>
                  </a:lnTo>
                  <a:close/>
                  <a:moveTo>
                    <a:pt x="256" y="118"/>
                  </a:moveTo>
                  <a:cubicBezTo>
                    <a:pt x="180" y="160"/>
                    <a:pt x="180" y="160"/>
                    <a:pt x="180" y="160"/>
                  </a:cubicBezTo>
                  <a:cubicBezTo>
                    <a:pt x="331" y="160"/>
                    <a:pt x="331" y="160"/>
                    <a:pt x="331" y="160"/>
                  </a:cubicBezTo>
                  <a:lnTo>
                    <a:pt x="256" y="11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28" y="173"/>
                  </a:moveTo>
                  <a:cubicBezTo>
                    <a:pt x="129" y="178"/>
                    <a:pt x="133" y="181"/>
                    <a:pt x="138" y="181"/>
                  </a:cubicBezTo>
                  <a:cubicBezTo>
                    <a:pt x="373" y="181"/>
                    <a:pt x="373" y="181"/>
                    <a:pt x="373" y="181"/>
                  </a:cubicBezTo>
                  <a:cubicBezTo>
                    <a:pt x="378" y="181"/>
                    <a:pt x="382" y="178"/>
                    <a:pt x="383" y="173"/>
                  </a:cubicBezTo>
                  <a:cubicBezTo>
                    <a:pt x="385" y="168"/>
                    <a:pt x="382" y="163"/>
                    <a:pt x="378" y="161"/>
                  </a:cubicBezTo>
                  <a:cubicBezTo>
                    <a:pt x="261" y="97"/>
                    <a:pt x="261" y="97"/>
                    <a:pt x="261" y="97"/>
                  </a:cubicBezTo>
                  <a:cubicBezTo>
                    <a:pt x="258" y="95"/>
                    <a:pt x="254" y="95"/>
                    <a:pt x="251" y="97"/>
                  </a:cubicBezTo>
                  <a:cubicBezTo>
                    <a:pt x="133" y="161"/>
                    <a:pt x="133" y="161"/>
                    <a:pt x="133" y="161"/>
                  </a:cubicBezTo>
                  <a:cubicBezTo>
                    <a:pt x="129" y="163"/>
                    <a:pt x="127" y="168"/>
                    <a:pt x="128" y="173"/>
                  </a:cubicBezTo>
                  <a:close/>
                  <a:moveTo>
                    <a:pt x="352" y="202"/>
                  </a:moveTo>
                  <a:cubicBezTo>
                    <a:pt x="346" y="202"/>
                    <a:pt x="341" y="207"/>
                    <a:pt x="341" y="213"/>
                  </a:cubicBezTo>
                  <a:cubicBezTo>
                    <a:pt x="341" y="298"/>
                    <a:pt x="341" y="298"/>
                    <a:pt x="341" y="298"/>
                  </a:cubicBezTo>
                  <a:cubicBezTo>
                    <a:pt x="341" y="304"/>
                    <a:pt x="346" y="309"/>
                    <a:pt x="352" y="309"/>
                  </a:cubicBezTo>
                  <a:cubicBezTo>
                    <a:pt x="358" y="309"/>
                    <a:pt x="362" y="304"/>
                    <a:pt x="362" y="298"/>
                  </a:cubicBezTo>
                  <a:cubicBezTo>
                    <a:pt x="362" y="213"/>
                    <a:pt x="362" y="213"/>
                    <a:pt x="362" y="213"/>
                  </a:cubicBezTo>
                  <a:cubicBezTo>
                    <a:pt x="362" y="207"/>
                    <a:pt x="358" y="202"/>
                    <a:pt x="352" y="202"/>
                  </a:cubicBezTo>
                  <a:close/>
                  <a:moveTo>
                    <a:pt x="288" y="202"/>
                  </a:moveTo>
                  <a:cubicBezTo>
                    <a:pt x="282" y="202"/>
                    <a:pt x="277" y="207"/>
                    <a:pt x="277" y="213"/>
                  </a:cubicBezTo>
                  <a:cubicBezTo>
                    <a:pt x="277" y="298"/>
                    <a:pt x="277" y="298"/>
                    <a:pt x="277" y="298"/>
                  </a:cubicBezTo>
                  <a:cubicBezTo>
                    <a:pt x="277" y="304"/>
                    <a:pt x="282" y="309"/>
                    <a:pt x="288" y="309"/>
                  </a:cubicBezTo>
                  <a:cubicBezTo>
                    <a:pt x="294" y="309"/>
                    <a:pt x="298" y="304"/>
                    <a:pt x="298" y="298"/>
                  </a:cubicBezTo>
                  <a:cubicBezTo>
                    <a:pt x="298" y="213"/>
                    <a:pt x="298" y="213"/>
                    <a:pt x="298" y="213"/>
                  </a:cubicBezTo>
                  <a:cubicBezTo>
                    <a:pt x="298" y="207"/>
                    <a:pt x="294" y="202"/>
                    <a:pt x="288" y="202"/>
                  </a:cubicBezTo>
                  <a:close/>
                  <a:moveTo>
                    <a:pt x="224" y="202"/>
                  </a:moveTo>
                  <a:cubicBezTo>
                    <a:pt x="218" y="202"/>
                    <a:pt x="213" y="207"/>
                    <a:pt x="213" y="213"/>
                  </a:cubicBezTo>
                  <a:cubicBezTo>
                    <a:pt x="213" y="298"/>
                    <a:pt x="213" y="298"/>
                    <a:pt x="213" y="298"/>
                  </a:cubicBezTo>
                  <a:cubicBezTo>
                    <a:pt x="213" y="304"/>
                    <a:pt x="218" y="309"/>
                    <a:pt x="224" y="309"/>
                  </a:cubicBezTo>
                  <a:cubicBezTo>
                    <a:pt x="230" y="309"/>
                    <a:pt x="234" y="304"/>
                    <a:pt x="234" y="298"/>
                  </a:cubicBezTo>
                  <a:cubicBezTo>
                    <a:pt x="234" y="213"/>
                    <a:pt x="234" y="213"/>
                    <a:pt x="234" y="213"/>
                  </a:cubicBezTo>
                  <a:cubicBezTo>
                    <a:pt x="234" y="207"/>
                    <a:pt x="230" y="202"/>
                    <a:pt x="224" y="202"/>
                  </a:cubicBezTo>
                  <a:close/>
                  <a:moveTo>
                    <a:pt x="160" y="202"/>
                  </a:moveTo>
                  <a:cubicBezTo>
                    <a:pt x="154" y="202"/>
                    <a:pt x="149" y="207"/>
                    <a:pt x="149" y="213"/>
                  </a:cubicBezTo>
                  <a:cubicBezTo>
                    <a:pt x="149" y="298"/>
                    <a:pt x="149" y="298"/>
                    <a:pt x="149" y="298"/>
                  </a:cubicBezTo>
                  <a:cubicBezTo>
                    <a:pt x="149" y="304"/>
                    <a:pt x="154" y="309"/>
                    <a:pt x="160" y="309"/>
                  </a:cubicBezTo>
                  <a:cubicBezTo>
                    <a:pt x="166" y="309"/>
                    <a:pt x="170" y="304"/>
                    <a:pt x="170" y="298"/>
                  </a:cubicBezTo>
                  <a:cubicBezTo>
                    <a:pt x="170" y="213"/>
                    <a:pt x="170" y="213"/>
                    <a:pt x="170" y="213"/>
                  </a:cubicBezTo>
                  <a:cubicBezTo>
                    <a:pt x="170" y="207"/>
                    <a:pt x="166" y="202"/>
                    <a:pt x="160" y="202"/>
                  </a:cubicBezTo>
                  <a:close/>
                  <a:moveTo>
                    <a:pt x="393" y="379"/>
                  </a:moveTo>
                  <a:cubicBezTo>
                    <a:pt x="372" y="336"/>
                    <a:pt x="372" y="336"/>
                    <a:pt x="372" y="336"/>
                  </a:cubicBezTo>
                  <a:cubicBezTo>
                    <a:pt x="370" y="333"/>
                    <a:pt x="366" y="330"/>
                    <a:pt x="362" y="330"/>
                  </a:cubicBezTo>
                  <a:cubicBezTo>
                    <a:pt x="149" y="330"/>
                    <a:pt x="149" y="330"/>
                    <a:pt x="149" y="330"/>
                  </a:cubicBezTo>
                  <a:cubicBezTo>
                    <a:pt x="145" y="330"/>
                    <a:pt x="141" y="333"/>
                    <a:pt x="139" y="336"/>
                  </a:cubicBezTo>
                  <a:cubicBezTo>
                    <a:pt x="118" y="379"/>
                    <a:pt x="118" y="379"/>
                    <a:pt x="118" y="379"/>
                  </a:cubicBezTo>
                  <a:cubicBezTo>
                    <a:pt x="116" y="382"/>
                    <a:pt x="117" y="386"/>
                    <a:pt x="119" y="389"/>
                  </a:cubicBezTo>
                  <a:cubicBezTo>
                    <a:pt x="121" y="392"/>
                    <a:pt x="124" y="394"/>
                    <a:pt x="128" y="394"/>
                  </a:cubicBezTo>
                  <a:cubicBezTo>
                    <a:pt x="384" y="394"/>
                    <a:pt x="384" y="394"/>
                    <a:pt x="384" y="394"/>
                  </a:cubicBezTo>
                  <a:cubicBezTo>
                    <a:pt x="387" y="394"/>
                    <a:pt x="391" y="392"/>
                    <a:pt x="393" y="389"/>
                  </a:cubicBezTo>
                  <a:cubicBezTo>
                    <a:pt x="395" y="386"/>
                    <a:pt x="395" y="382"/>
                    <a:pt x="393" y="37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98354867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IN" dirty="0"/>
              <a:t>Challenges and Potential Solutions</a:t>
            </a:r>
          </a:p>
        </p:txBody>
      </p:sp>
      <p:sp>
        <p:nvSpPr>
          <p:cNvPr id="3" name="Rectangle 2">
            <a:extLst>
              <a:ext uri="{FF2B5EF4-FFF2-40B4-BE49-F238E27FC236}">
                <a16:creationId xmlns:a16="http://schemas.microsoft.com/office/drawing/2014/main" id="{F8562C33-73A6-413B-9451-A4CB3DB15DE7}"/>
              </a:ext>
            </a:extLst>
          </p:cNvPr>
          <p:cNvSpPr/>
          <p:nvPr/>
        </p:nvSpPr>
        <p:spPr>
          <a:xfrm>
            <a:off x="478155" y="1011610"/>
            <a:ext cx="11234419" cy="553998"/>
          </a:xfrm>
          <a:prstGeom prst="rect">
            <a:avLst/>
          </a:prstGeom>
        </p:spPr>
        <p:txBody>
          <a:bodyPr wrap="square" lIns="0" tIns="0" rIns="0" bIns="0">
            <a:spAutoFit/>
          </a:bodyPr>
          <a:lstStyle/>
          <a:p>
            <a:r>
              <a:rPr lang="en-US" dirty="0">
                <a:cs typeface="Open Sans" panose="020B0606030504020204" pitchFamily="34" charset="0"/>
              </a:rPr>
              <a:t>Based on experience the current project will need to address the following issues/ challenges for effective institutionalization of OOMF………</a:t>
            </a:r>
            <a:endParaRPr lang="en-IN" dirty="0"/>
          </a:p>
        </p:txBody>
      </p:sp>
      <p:sp>
        <p:nvSpPr>
          <p:cNvPr id="67" name="Freeform 538">
            <a:extLst>
              <a:ext uri="{FF2B5EF4-FFF2-40B4-BE49-F238E27FC236}">
                <a16:creationId xmlns:a16="http://schemas.microsoft.com/office/drawing/2014/main" id="{0F3B4597-40F1-4365-980C-9EB083A6685D}"/>
              </a:ext>
            </a:extLst>
          </p:cNvPr>
          <p:cNvSpPr>
            <a:spLocks noChangeAspect="1" noEditPoints="1"/>
          </p:cNvSpPr>
          <p:nvPr/>
        </p:nvSpPr>
        <p:spPr bwMode="auto">
          <a:xfrm>
            <a:off x="11118215" y="227660"/>
            <a:ext cx="594360" cy="594360"/>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41" name="Rectangle 140">
            <a:extLst>
              <a:ext uri="{FF2B5EF4-FFF2-40B4-BE49-F238E27FC236}">
                <a16:creationId xmlns:a16="http://schemas.microsoft.com/office/drawing/2014/main" id="{6F0AA0BE-3789-41F0-8657-176D56B24514}"/>
              </a:ext>
            </a:extLst>
          </p:cNvPr>
          <p:cNvSpPr/>
          <p:nvPr/>
        </p:nvSpPr>
        <p:spPr bwMode="gray">
          <a:xfrm>
            <a:off x="0" y="5143394"/>
            <a:ext cx="2280708" cy="848543"/>
          </a:xfrm>
          <a:prstGeom prst="rect">
            <a:avLst/>
          </a:prstGeom>
          <a:solidFill>
            <a:schemeClr val="accent5">
              <a:lumMod val="20000"/>
              <a:lumOff val="80000"/>
            </a:schemeClr>
          </a:solidFill>
          <a:ln w="19050" algn="ctr">
            <a:noFill/>
            <a:miter lim="800000"/>
            <a:headEnd/>
            <a:tailEnd/>
          </a:ln>
        </p:spPr>
        <p:txBody>
          <a:bodyPr wrap="square" lIns="1005840" tIns="88900" rIns="88900" bIns="88900" rtlCol="0" anchor="ctr"/>
          <a:lstStyle/>
          <a:p>
            <a:pPr>
              <a:spcBef>
                <a:spcPts val="600"/>
              </a:spcBef>
              <a:buSzPct val="100000"/>
            </a:pPr>
            <a:r>
              <a:rPr lang="en-US" sz="1400" b="1" dirty="0"/>
              <a:t>Branding and Communication</a:t>
            </a:r>
          </a:p>
        </p:txBody>
      </p:sp>
      <p:sp>
        <p:nvSpPr>
          <p:cNvPr id="131" name="Rectangle 130">
            <a:extLst>
              <a:ext uri="{FF2B5EF4-FFF2-40B4-BE49-F238E27FC236}">
                <a16:creationId xmlns:a16="http://schemas.microsoft.com/office/drawing/2014/main" id="{42C42886-555F-42DD-94F0-54F7399990A6}"/>
              </a:ext>
            </a:extLst>
          </p:cNvPr>
          <p:cNvSpPr/>
          <p:nvPr/>
        </p:nvSpPr>
        <p:spPr bwMode="gray">
          <a:xfrm>
            <a:off x="0" y="3770105"/>
            <a:ext cx="2280708" cy="848543"/>
          </a:xfrm>
          <a:prstGeom prst="rect">
            <a:avLst/>
          </a:prstGeom>
          <a:solidFill>
            <a:schemeClr val="accent5">
              <a:lumMod val="20000"/>
              <a:lumOff val="80000"/>
            </a:schemeClr>
          </a:solidFill>
          <a:ln w="19050" algn="ctr">
            <a:noFill/>
            <a:miter lim="800000"/>
            <a:headEnd/>
            <a:tailEnd/>
          </a:ln>
        </p:spPr>
        <p:txBody>
          <a:bodyPr wrap="square" lIns="1005840" tIns="88900" rIns="88900" bIns="88900" rtlCol="0" anchor="ctr"/>
          <a:lstStyle/>
          <a:p>
            <a:pPr>
              <a:spcBef>
                <a:spcPts val="600"/>
              </a:spcBef>
              <a:buSzPct val="100000"/>
            </a:pPr>
            <a:r>
              <a:rPr lang="en-US" sz="1400" b="1" dirty="0"/>
              <a:t>Process</a:t>
            </a:r>
          </a:p>
        </p:txBody>
      </p:sp>
      <p:sp>
        <p:nvSpPr>
          <p:cNvPr id="23" name="Rectangle 22">
            <a:extLst>
              <a:ext uri="{FF2B5EF4-FFF2-40B4-BE49-F238E27FC236}">
                <a16:creationId xmlns:a16="http://schemas.microsoft.com/office/drawing/2014/main" id="{4A8B68AF-F6C3-4BC3-8BA4-F65084C81EC4}"/>
              </a:ext>
            </a:extLst>
          </p:cNvPr>
          <p:cNvSpPr/>
          <p:nvPr/>
        </p:nvSpPr>
        <p:spPr bwMode="gray">
          <a:xfrm>
            <a:off x="0" y="2388919"/>
            <a:ext cx="2280708" cy="848543"/>
          </a:xfrm>
          <a:prstGeom prst="rect">
            <a:avLst/>
          </a:prstGeom>
          <a:solidFill>
            <a:schemeClr val="accent5">
              <a:lumMod val="20000"/>
              <a:lumOff val="80000"/>
            </a:schemeClr>
          </a:solidFill>
          <a:ln w="19050" algn="ctr">
            <a:noFill/>
            <a:miter lim="800000"/>
            <a:headEnd/>
            <a:tailEnd/>
          </a:ln>
        </p:spPr>
        <p:txBody>
          <a:bodyPr wrap="square" lIns="1005840" tIns="88900" rIns="88900" bIns="88900" rtlCol="0" anchor="ctr"/>
          <a:lstStyle/>
          <a:p>
            <a:pPr>
              <a:spcBef>
                <a:spcPts val="600"/>
              </a:spcBef>
              <a:buSzPct val="100000"/>
            </a:pPr>
            <a:r>
              <a:rPr lang="en-US" sz="1400" b="1" dirty="0"/>
              <a:t>Data </a:t>
            </a:r>
          </a:p>
        </p:txBody>
      </p:sp>
      <p:sp>
        <p:nvSpPr>
          <p:cNvPr id="4" name="Rectangle 3">
            <a:extLst>
              <a:ext uri="{FF2B5EF4-FFF2-40B4-BE49-F238E27FC236}">
                <a16:creationId xmlns:a16="http://schemas.microsoft.com/office/drawing/2014/main" id="{2348AA22-04EE-4667-AFE1-F1A21909A618}"/>
              </a:ext>
            </a:extLst>
          </p:cNvPr>
          <p:cNvSpPr/>
          <p:nvPr/>
        </p:nvSpPr>
        <p:spPr bwMode="gray">
          <a:xfrm>
            <a:off x="2799324" y="1678359"/>
            <a:ext cx="4297680"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Challenges</a:t>
            </a:r>
          </a:p>
        </p:txBody>
      </p:sp>
      <p:sp>
        <p:nvSpPr>
          <p:cNvPr id="101" name="Rectangle 100">
            <a:extLst>
              <a:ext uri="{FF2B5EF4-FFF2-40B4-BE49-F238E27FC236}">
                <a16:creationId xmlns:a16="http://schemas.microsoft.com/office/drawing/2014/main" id="{DFF928BF-873A-4218-841F-BEF206DDC694}"/>
              </a:ext>
            </a:extLst>
          </p:cNvPr>
          <p:cNvSpPr/>
          <p:nvPr/>
        </p:nvSpPr>
        <p:spPr bwMode="gray">
          <a:xfrm>
            <a:off x="7414894" y="1678359"/>
            <a:ext cx="4297680"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Our POV/ Potential Solutions</a:t>
            </a:r>
          </a:p>
        </p:txBody>
      </p:sp>
      <p:sp>
        <p:nvSpPr>
          <p:cNvPr id="102" name="TextBox 101">
            <a:extLst>
              <a:ext uri="{FF2B5EF4-FFF2-40B4-BE49-F238E27FC236}">
                <a16:creationId xmlns:a16="http://schemas.microsoft.com/office/drawing/2014/main" id="{4ED0D6B7-64CF-40AE-B124-E6321809CA9F}"/>
              </a:ext>
            </a:extLst>
          </p:cNvPr>
          <p:cNvSpPr txBox="1"/>
          <p:nvPr/>
        </p:nvSpPr>
        <p:spPr>
          <a:xfrm>
            <a:off x="2799324" y="2207141"/>
            <a:ext cx="4297680" cy="1154162"/>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Lack of baseline data for many of the schemes/ </a:t>
            </a:r>
            <a:r>
              <a:rPr lang="en-US" sz="1400" dirty="0" err="1">
                <a:solidFill>
                  <a:srgbClr val="313131"/>
                </a:solidFill>
              </a:rPr>
              <a:t>programmes</a:t>
            </a:r>
            <a:r>
              <a:rPr lang="en-US" sz="1400" dirty="0">
                <a:solidFill>
                  <a:srgbClr val="313131"/>
                </a:solidFill>
              </a:rPr>
              <a:t> leading to difficulty in target setting</a:t>
            </a:r>
          </a:p>
          <a:p>
            <a:pPr marL="285750" indent="-285750">
              <a:spcAft>
                <a:spcPts val="300"/>
              </a:spcAft>
              <a:buSzPct val="100000"/>
              <a:buFont typeface="Arial" panose="020B0604020202020204" pitchFamily="34" charset="0"/>
              <a:buChar char="•"/>
            </a:pPr>
            <a:r>
              <a:rPr lang="en-US" sz="1400" dirty="0">
                <a:solidFill>
                  <a:srgbClr val="313131"/>
                </a:solidFill>
              </a:rPr>
              <a:t>Unavailability of data for some outputs and outcomes</a:t>
            </a:r>
          </a:p>
          <a:p>
            <a:pPr marL="285750" indent="-285750">
              <a:spcAft>
                <a:spcPts val="300"/>
              </a:spcAft>
              <a:buSzPct val="100000"/>
              <a:buFont typeface="Arial" panose="020B0604020202020204" pitchFamily="34" charset="0"/>
              <a:buChar char="•"/>
            </a:pPr>
            <a:r>
              <a:rPr lang="en-US" sz="1400" dirty="0">
                <a:solidFill>
                  <a:srgbClr val="313131"/>
                </a:solidFill>
              </a:rPr>
              <a:t>Some indicators are not aligned to the data that is collected as part of regular MIS</a:t>
            </a:r>
          </a:p>
        </p:txBody>
      </p:sp>
      <p:sp>
        <p:nvSpPr>
          <p:cNvPr id="103" name="TextBox 102">
            <a:extLst>
              <a:ext uri="{FF2B5EF4-FFF2-40B4-BE49-F238E27FC236}">
                <a16:creationId xmlns:a16="http://schemas.microsoft.com/office/drawing/2014/main" id="{C97536D5-43FD-4B18-BA21-8F4744590CA8}"/>
              </a:ext>
            </a:extLst>
          </p:cNvPr>
          <p:cNvSpPr txBox="1"/>
          <p:nvPr/>
        </p:nvSpPr>
        <p:spPr>
          <a:xfrm>
            <a:off x="2799324" y="3598861"/>
            <a:ext cx="4297680" cy="1154162"/>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Need for standard operating processes for data collection, verification, </a:t>
            </a:r>
            <a:r>
              <a:rPr lang="en-US" sz="1400" dirty="0" err="1">
                <a:solidFill>
                  <a:srgbClr val="313131"/>
                </a:solidFill>
              </a:rPr>
              <a:t>updation</a:t>
            </a:r>
            <a:r>
              <a:rPr lang="en-US" sz="1400" dirty="0">
                <a:solidFill>
                  <a:srgbClr val="313131"/>
                </a:solidFill>
              </a:rPr>
              <a:t> and approval</a:t>
            </a:r>
          </a:p>
          <a:p>
            <a:pPr marL="285750" indent="-285750">
              <a:spcAft>
                <a:spcPts val="300"/>
              </a:spcAft>
              <a:buSzPct val="100000"/>
              <a:buFont typeface="Arial" panose="020B0604020202020204" pitchFamily="34" charset="0"/>
              <a:buChar char="•"/>
            </a:pPr>
            <a:r>
              <a:rPr lang="en-US" sz="1400" dirty="0">
                <a:solidFill>
                  <a:srgbClr val="313131"/>
                </a:solidFill>
              </a:rPr>
              <a:t>Similar information requested by different agencies – lack of coordinated data collection</a:t>
            </a:r>
          </a:p>
          <a:p>
            <a:pPr marL="285750" indent="-285750">
              <a:spcAft>
                <a:spcPts val="300"/>
              </a:spcAft>
              <a:buSzPct val="100000"/>
              <a:buFont typeface="Arial" panose="020B0604020202020204" pitchFamily="34" charset="0"/>
              <a:buChar char="•"/>
            </a:pPr>
            <a:r>
              <a:rPr lang="en-US" sz="1400" dirty="0">
                <a:solidFill>
                  <a:srgbClr val="313131"/>
                </a:solidFill>
              </a:rPr>
              <a:t>Inadequate linkage with existing budgeting process</a:t>
            </a:r>
          </a:p>
        </p:txBody>
      </p:sp>
      <p:sp>
        <p:nvSpPr>
          <p:cNvPr id="104" name="TextBox 103">
            <a:extLst>
              <a:ext uri="{FF2B5EF4-FFF2-40B4-BE49-F238E27FC236}">
                <a16:creationId xmlns:a16="http://schemas.microsoft.com/office/drawing/2014/main" id="{FD7C05BD-D012-4E49-90A7-6945AD347269}"/>
              </a:ext>
            </a:extLst>
          </p:cNvPr>
          <p:cNvSpPr txBox="1"/>
          <p:nvPr/>
        </p:nvSpPr>
        <p:spPr>
          <a:xfrm>
            <a:off x="2799323" y="5117542"/>
            <a:ext cx="4297680" cy="900246"/>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DMEO may be regarded as another Monitoring &amp; Evaluation agency</a:t>
            </a:r>
          </a:p>
          <a:p>
            <a:pPr marL="285750" indent="-285750">
              <a:spcAft>
                <a:spcPts val="300"/>
              </a:spcAft>
              <a:buSzPct val="100000"/>
              <a:buFont typeface="Arial" panose="020B0604020202020204" pitchFamily="34" charset="0"/>
              <a:buChar char="•"/>
            </a:pPr>
            <a:r>
              <a:rPr lang="en-US" sz="1400" dirty="0">
                <a:solidFill>
                  <a:srgbClr val="313131"/>
                </a:solidFill>
              </a:rPr>
              <a:t>Lack of understanding about OOMF and its benefits at lower level</a:t>
            </a:r>
          </a:p>
        </p:txBody>
      </p:sp>
      <p:sp>
        <p:nvSpPr>
          <p:cNvPr id="105" name="TextBox 104">
            <a:extLst>
              <a:ext uri="{FF2B5EF4-FFF2-40B4-BE49-F238E27FC236}">
                <a16:creationId xmlns:a16="http://schemas.microsoft.com/office/drawing/2014/main" id="{962847FB-63E6-4E31-9037-F34C6191C340}"/>
              </a:ext>
            </a:extLst>
          </p:cNvPr>
          <p:cNvSpPr txBox="1"/>
          <p:nvPr/>
        </p:nvSpPr>
        <p:spPr>
          <a:xfrm>
            <a:off x="7414894" y="2118655"/>
            <a:ext cx="4297680" cy="1331134"/>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Creating baselines as per availability of data –years may be different depending of the maturity of the scheme/ </a:t>
            </a:r>
            <a:r>
              <a:rPr lang="en-US" sz="1400" dirty="0" err="1">
                <a:solidFill>
                  <a:srgbClr val="313131"/>
                </a:solidFill>
              </a:rPr>
              <a:t>programme</a:t>
            </a:r>
            <a:endParaRPr lang="en-US" sz="1400" dirty="0">
              <a:solidFill>
                <a:srgbClr val="313131"/>
              </a:solidFill>
            </a:endParaRPr>
          </a:p>
          <a:p>
            <a:pPr marL="285750" indent="-285750">
              <a:spcAft>
                <a:spcPts val="300"/>
              </a:spcAft>
              <a:buSzPct val="100000"/>
              <a:buFont typeface="Arial" panose="020B0604020202020204" pitchFamily="34" charset="0"/>
              <a:buChar char="•"/>
            </a:pPr>
            <a:r>
              <a:rPr lang="en-US" sz="1400" dirty="0">
                <a:solidFill>
                  <a:srgbClr val="313131"/>
                </a:solidFill>
              </a:rPr>
              <a:t>In some cases we may need to monitor inputs/ operational KPIs before moving to output and outcome budgeting </a:t>
            </a:r>
          </a:p>
        </p:txBody>
      </p:sp>
      <p:sp>
        <p:nvSpPr>
          <p:cNvPr id="106" name="TextBox 105">
            <a:extLst>
              <a:ext uri="{FF2B5EF4-FFF2-40B4-BE49-F238E27FC236}">
                <a16:creationId xmlns:a16="http://schemas.microsoft.com/office/drawing/2014/main" id="{31FBAA11-A801-4626-9068-6D54611EA2FF}"/>
              </a:ext>
            </a:extLst>
          </p:cNvPr>
          <p:cNvSpPr txBox="1"/>
          <p:nvPr/>
        </p:nvSpPr>
        <p:spPr>
          <a:xfrm>
            <a:off x="7414894" y="3598861"/>
            <a:ext cx="4297680" cy="1154162"/>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Create an user friendly dashboard</a:t>
            </a:r>
          </a:p>
          <a:p>
            <a:pPr marL="285750" indent="-285750">
              <a:spcAft>
                <a:spcPts val="300"/>
              </a:spcAft>
              <a:buSzPct val="100000"/>
              <a:buFont typeface="Arial" panose="020B0604020202020204" pitchFamily="34" charset="0"/>
              <a:buChar char="•"/>
            </a:pPr>
            <a:r>
              <a:rPr lang="en-US" sz="1400" dirty="0">
                <a:solidFill>
                  <a:srgbClr val="313131"/>
                </a:solidFill>
              </a:rPr>
              <a:t>Guidelines/ SOPs of various processes updated from time of time</a:t>
            </a:r>
          </a:p>
          <a:p>
            <a:pPr marL="285750" indent="-285750">
              <a:spcAft>
                <a:spcPts val="300"/>
              </a:spcAft>
              <a:buSzPct val="100000"/>
              <a:buFont typeface="Arial" panose="020B0604020202020204" pitchFamily="34" charset="0"/>
              <a:buChar char="•"/>
            </a:pPr>
            <a:r>
              <a:rPr lang="en-US" sz="1400" dirty="0">
                <a:solidFill>
                  <a:srgbClr val="313131"/>
                </a:solidFill>
              </a:rPr>
              <a:t>Bolt-on/ integration with existing MIS where-ever possible</a:t>
            </a:r>
          </a:p>
        </p:txBody>
      </p:sp>
      <p:sp>
        <p:nvSpPr>
          <p:cNvPr id="107" name="TextBox 106">
            <a:extLst>
              <a:ext uri="{FF2B5EF4-FFF2-40B4-BE49-F238E27FC236}">
                <a16:creationId xmlns:a16="http://schemas.microsoft.com/office/drawing/2014/main" id="{204F03F8-7CEB-4311-A480-8D2522FB51F1}"/>
              </a:ext>
            </a:extLst>
          </p:cNvPr>
          <p:cNvSpPr txBox="1"/>
          <p:nvPr/>
        </p:nvSpPr>
        <p:spPr>
          <a:xfrm>
            <a:off x="7414894" y="4990584"/>
            <a:ext cx="4297680" cy="1154162"/>
          </a:xfrm>
          <a:prstGeom prst="rect">
            <a:avLst/>
          </a:prstGeom>
          <a:noFill/>
        </p:spPr>
        <p:txBody>
          <a:bodyPr wrap="square" lIns="0" tIns="0" rIns="0" bIns="0" rtlCol="0">
            <a:spAutoFit/>
          </a:bodyPr>
          <a:lstStyle/>
          <a:p>
            <a:pPr marL="285750" indent="-285750">
              <a:spcAft>
                <a:spcPts val="300"/>
              </a:spcAft>
              <a:buSzPct val="100000"/>
              <a:buFont typeface="Arial" panose="020B0604020202020204" pitchFamily="34" charset="0"/>
              <a:buChar char="•"/>
            </a:pPr>
            <a:r>
              <a:rPr lang="en-US" sz="1400" dirty="0">
                <a:solidFill>
                  <a:srgbClr val="313131"/>
                </a:solidFill>
              </a:rPr>
              <a:t>DMEO repositioning as “Supporting and Facilitation Agency”</a:t>
            </a:r>
          </a:p>
          <a:p>
            <a:pPr marL="285750" indent="-285750">
              <a:spcAft>
                <a:spcPts val="300"/>
              </a:spcAft>
              <a:buSzPct val="100000"/>
              <a:buFont typeface="Arial" panose="020B0604020202020204" pitchFamily="34" charset="0"/>
              <a:buChar char="•"/>
            </a:pPr>
            <a:r>
              <a:rPr lang="en-US" sz="1400" dirty="0">
                <a:solidFill>
                  <a:srgbClr val="313131"/>
                </a:solidFill>
              </a:rPr>
              <a:t>Knowledge dissemination plan including Train the trainers </a:t>
            </a:r>
            <a:r>
              <a:rPr lang="en-US" sz="1400" dirty="0" err="1">
                <a:solidFill>
                  <a:srgbClr val="313131"/>
                </a:solidFill>
              </a:rPr>
              <a:t>programme</a:t>
            </a:r>
            <a:endParaRPr lang="en-US" sz="1400" dirty="0">
              <a:solidFill>
                <a:srgbClr val="313131"/>
              </a:solidFill>
            </a:endParaRPr>
          </a:p>
          <a:p>
            <a:pPr marL="285750" indent="-285750">
              <a:spcAft>
                <a:spcPts val="300"/>
              </a:spcAft>
              <a:buSzPct val="100000"/>
              <a:buFont typeface="Arial" panose="020B0604020202020204" pitchFamily="34" charset="0"/>
              <a:buChar char="•"/>
            </a:pPr>
            <a:r>
              <a:rPr lang="en-US" sz="1400" dirty="0">
                <a:solidFill>
                  <a:srgbClr val="313131"/>
                </a:solidFill>
              </a:rPr>
              <a:t>Knowledge products</a:t>
            </a:r>
          </a:p>
        </p:txBody>
      </p:sp>
      <p:cxnSp>
        <p:nvCxnSpPr>
          <p:cNvPr id="109" name="Straight Connector 108">
            <a:extLst>
              <a:ext uri="{FF2B5EF4-FFF2-40B4-BE49-F238E27FC236}">
                <a16:creationId xmlns:a16="http://schemas.microsoft.com/office/drawing/2014/main" id="{8141E271-888B-4724-8B32-136EE56633C0}"/>
              </a:ext>
            </a:extLst>
          </p:cNvPr>
          <p:cNvCxnSpPr>
            <a:cxnSpLocks/>
          </p:cNvCxnSpPr>
          <p:nvPr/>
        </p:nvCxnSpPr>
        <p:spPr>
          <a:xfrm>
            <a:off x="7255949" y="1678359"/>
            <a:ext cx="0" cy="4568604"/>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1ED04C2D-20C2-42BD-832E-A78E841D6EA3}"/>
              </a:ext>
            </a:extLst>
          </p:cNvPr>
          <p:cNvCxnSpPr>
            <a:cxnSpLocks/>
          </p:cNvCxnSpPr>
          <p:nvPr/>
        </p:nvCxnSpPr>
        <p:spPr>
          <a:xfrm rot="5400000">
            <a:off x="4948164" y="1375485"/>
            <a:ext cx="0" cy="4297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C660D2C-091F-4BCD-8BA1-5388BA11BD3F}"/>
              </a:ext>
            </a:extLst>
          </p:cNvPr>
          <p:cNvCxnSpPr>
            <a:cxnSpLocks/>
          </p:cNvCxnSpPr>
          <p:nvPr/>
        </p:nvCxnSpPr>
        <p:spPr>
          <a:xfrm rot="5400000">
            <a:off x="9563734" y="1375485"/>
            <a:ext cx="0" cy="4297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D824F82D-9172-475A-B660-007570856ECA}"/>
              </a:ext>
            </a:extLst>
          </p:cNvPr>
          <p:cNvCxnSpPr>
            <a:cxnSpLocks/>
          </p:cNvCxnSpPr>
          <p:nvPr/>
        </p:nvCxnSpPr>
        <p:spPr>
          <a:xfrm rot="5400000">
            <a:off x="4948164" y="2678720"/>
            <a:ext cx="0" cy="4297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0D03851-D244-41D6-A027-8C5EA4B3316B}"/>
              </a:ext>
            </a:extLst>
          </p:cNvPr>
          <p:cNvCxnSpPr>
            <a:cxnSpLocks/>
          </p:cNvCxnSpPr>
          <p:nvPr/>
        </p:nvCxnSpPr>
        <p:spPr>
          <a:xfrm rot="5400000">
            <a:off x="9563734" y="2678720"/>
            <a:ext cx="0" cy="4297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142" name="Isosceles Triangle 141">
            <a:extLst>
              <a:ext uri="{FF2B5EF4-FFF2-40B4-BE49-F238E27FC236}">
                <a16:creationId xmlns:a16="http://schemas.microsoft.com/office/drawing/2014/main" id="{54C1ADFE-3F51-4EBF-A31D-7B255918C1FE}"/>
              </a:ext>
            </a:extLst>
          </p:cNvPr>
          <p:cNvSpPr/>
          <p:nvPr/>
        </p:nvSpPr>
        <p:spPr bwMode="gray">
          <a:xfrm rot="5400000">
            <a:off x="2159072" y="2696148"/>
            <a:ext cx="544940" cy="234087"/>
          </a:xfrm>
          <a:prstGeom prst="triangle">
            <a:avLst/>
          </a:prstGeom>
          <a:solidFill>
            <a:schemeClr val="bg1">
              <a:lumMod val="75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43" name="Isosceles Triangle 142">
            <a:extLst>
              <a:ext uri="{FF2B5EF4-FFF2-40B4-BE49-F238E27FC236}">
                <a16:creationId xmlns:a16="http://schemas.microsoft.com/office/drawing/2014/main" id="{D08116D3-FB50-4DBB-B8AA-CAC2159E7B09}"/>
              </a:ext>
            </a:extLst>
          </p:cNvPr>
          <p:cNvSpPr/>
          <p:nvPr/>
        </p:nvSpPr>
        <p:spPr bwMode="gray">
          <a:xfrm rot="5400000">
            <a:off x="2159072" y="4077333"/>
            <a:ext cx="544940" cy="234087"/>
          </a:xfrm>
          <a:prstGeom prst="triangle">
            <a:avLst/>
          </a:prstGeom>
          <a:solidFill>
            <a:schemeClr val="bg1">
              <a:lumMod val="75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45" name="Isosceles Triangle 144">
            <a:extLst>
              <a:ext uri="{FF2B5EF4-FFF2-40B4-BE49-F238E27FC236}">
                <a16:creationId xmlns:a16="http://schemas.microsoft.com/office/drawing/2014/main" id="{9591BAB2-7B25-4E99-B19E-7AE4AB37D041}"/>
              </a:ext>
            </a:extLst>
          </p:cNvPr>
          <p:cNvSpPr/>
          <p:nvPr/>
        </p:nvSpPr>
        <p:spPr bwMode="gray">
          <a:xfrm rot="5400000">
            <a:off x="2159072" y="5450623"/>
            <a:ext cx="544940" cy="234087"/>
          </a:xfrm>
          <a:prstGeom prst="triangle">
            <a:avLst/>
          </a:prstGeom>
          <a:solidFill>
            <a:schemeClr val="bg1">
              <a:lumMod val="75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8" name="Freeform 7">
            <a:extLst>
              <a:ext uri="{FF2B5EF4-FFF2-40B4-BE49-F238E27FC236}">
                <a16:creationId xmlns:a16="http://schemas.microsoft.com/office/drawing/2014/main" id="{A216F0CF-27DE-4C0E-99EF-31EDA1871725}"/>
              </a:ext>
            </a:extLst>
          </p:cNvPr>
          <p:cNvSpPr>
            <a:spLocks noEditPoints="1"/>
          </p:cNvSpPr>
          <p:nvPr/>
        </p:nvSpPr>
        <p:spPr bwMode="auto">
          <a:xfrm>
            <a:off x="478155" y="2590401"/>
            <a:ext cx="438912" cy="438912"/>
          </a:xfrm>
          <a:custGeom>
            <a:avLst/>
            <a:gdLst>
              <a:gd name="T0" fmla="*/ 642 w 753"/>
              <a:gd name="T1" fmla="*/ 581 h 754"/>
              <a:gd name="T2" fmla="*/ 374 w 753"/>
              <a:gd name="T3" fmla="*/ 463 h 754"/>
              <a:gd name="T4" fmla="*/ 126 w 753"/>
              <a:gd name="T5" fmla="*/ 401 h 754"/>
              <a:gd name="T6" fmla="*/ 543 w 753"/>
              <a:gd name="T7" fmla="*/ 452 h 754"/>
              <a:gd name="T8" fmla="*/ 382 w 753"/>
              <a:gd name="T9" fmla="*/ 394 h 754"/>
              <a:gd name="T10" fmla="*/ 527 w 753"/>
              <a:gd name="T11" fmla="*/ 424 h 754"/>
              <a:gd name="T12" fmla="*/ 520 w 753"/>
              <a:gd name="T13" fmla="*/ 336 h 754"/>
              <a:gd name="T14" fmla="*/ 383 w 753"/>
              <a:gd name="T15" fmla="*/ 352 h 754"/>
              <a:gd name="T16" fmla="*/ 383 w 753"/>
              <a:gd name="T17" fmla="*/ 400 h 754"/>
              <a:gd name="T18" fmla="*/ 395 w 753"/>
              <a:gd name="T19" fmla="*/ 427 h 754"/>
              <a:gd name="T20" fmla="*/ 509 w 753"/>
              <a:gd name="T21" fmla="*/ 446 h 754"/>
              <a:gd name="T22" fmla="*/ 515 w 753"/>
              <a:gd name="T23" fmla="*/ 425 h 754"/>
              <a:gd name="T24" fmla="*/ 401 w 753"/>
              <a:gd name="T25" fmla="*/ 352 h 754"/>
              <a:gd name="T26" fmla="*/ 407 w 753"/>
              <a:gd name="T27" fmla="*/ 330 h 754"/>
              <a:gd name="T28" fmla="*/ 395 w 753"/>
              <a:gd name="T29" fmla="*/ 397 h 754"/>
              <a:gd name="T30" fmla="*/ 466 w 753"/>
              <a:gd name="T31" fmla="*/ 431 h 754"/>
              <a:gd name="T32" fmla="*/ 471 w 753"/>
              <a:gd name="T33" fmla="*/ 433 h 754"/>
              <a:gd name="T34" fmla="*/ 461 w 753"/>
              <a:gd name="T35" fmla="*/ 425 h 754"/>
              <a:gd name="T36" fmla="*/ 448 w 753"/>
              <a:gd name="T37" fmla="*/ 431 h 754"/>
              <a:gd name="T38" fmla="*/ 455 w 753"/>
              <a:gd name="T39" fmla="*/ 399 h 754"/>
              <a:gd name="T40" fmla="*/ 430 w 753"/>
              <a:gd name="T41" fmla="*/ 431 h 754"/>
              <a:gd name="T42" fmla="*/ 437 w 753"/>
              <a:gd name="T43" fmla="*/ 431 h 754"/>
              <a:gd name="T44" fmla="*/ 425 w 753"/>
              <a:gd name="T45" fmla="*/ 350 h 754"/>
              <a:gd name="T46" fmla="*/ 427 w 753"/>
              <a:gd name="T47" fmla="*/ 341 h 754"/>
              <a:gd name="T48" fmla="*/ 425 w 753"/>
              <a:gd name="T49" fmla="*/ 377 h 754"/>
              <a:gd name="T50" fmla="*/ 425 w 753"/>
              <a:gd name="T51" fmla="*/ 444 h 754"/>
              <a:gd name="T52" fmla="*/ 427 w 753"/>
              <a:gd name="T53" fmla="*/ 436 h 754"/>
              <a:gd name="T54" fmla="*/ 433 w 753"/>
              <a:gd name="T55" fmla="*/ 340 h 754"/>
              <a:gd name="T56" fmla="*/ 445 w 753"/>
              <a:gd name="T57" fmla="*/ 388 h 754"/>
              <a:gd name="T58" fmla="*/ 443 w 753"/>
              <a:gd name="T59" fmla="*/ 380 h 754"/>
              <a:gd name="T60" fmla="*/ 448 w 753"/>
              <a:gd name="T61" fmla="*/ 341 h 754"/>
              <a:gd name="T62" fmla="*/ 480 w 753"/>
              <a:gd name="T63" fmla="*/ 350 h 754"/>
              <a:gd name="T64" fmla="*/ 482 w 753"/>
              <a:gd name="T65" fmla="*/ 341 h 754"/>
              <a:gd name="T66" fmla="*/ 468 w 753"/>
              <a:gd name="T67" fmla="*/ 380 h 754"/>
              <a:gd name="T68" fmla="*/ 491 w 753"/>
              <a:gd name="T69" fmla="*/ 340 h 754"/>
              <a:gd name="T70" fmla="*/ 497 w 753"/>
              <a:gd name="T71" fmla="*/ 352 h 754"/>
              <a:gd name="T72" fmla="*/ 484 w 753"/>
              <a:gd name="T73" fmla="*/ 388 h 754"/>
              <a:gd name="T74" fmla="*/ 498 w 753"/>
              <a:gd name="T75" fmla="*/ 444 h 754"/>
              <a:gd name="T76" fmla="*/ 500 w 753"/>
              <a:gd name="T77" fmla="*/ 436 h 754"/>
              <a:gd name="T78" fmla="*/ 505 w 753"/>
              <a:gd name="T79" fmla="*/ 340 h 754"/>
              <a:gd name="T80" fmla="*/ 515 w 753"/>
              <a:gd name="T81" fmla="*/ 399 h 754"/>
              <a:gd name="T82" fmla="*/ 510 w 753"/>
              <a:gd name="T83" fmla="*/ 377 h 754"/>
              <a:gd name="T84" fmla="*/ 520 w 753"/>
              <a:gd name="T85" fmla="*/ 388 h 754"/>
              <a:gd name="T86" fmla="*/ 526 w 753"/>
              <a:gd name="T87" fmla="*/ 383 h 754"/>
              <a:gd name="T88" fmla="*/ 529 w 753"/>
              <a:gd name="T89" fmla="*/ 383 h 754"/>
              <a:gd name="T90" fmla="*/ 492 w 753"/>
              <a:gd name="T91" fmla="*/ 429 h 754"/>
              <a:gd name="T92" fmla="*/ 493 w 753"/>
              <a:gd name="T93" fmla="*/ 393 h 754"/>
              <a:gd name="T94" fmla="*/ 492 w 753"/>
              <a:gd name="T95" fmla="*/ 395 h 754"/>
              <a:gd name="T96" fmla="*/ 472 w 753"/>
              <a:gd name="T97" fmla="*/ 383 h 754"/>
              <a:gd name="T98" fmla="*/ 476 w 753"/>
              <a:gd name="T99" fmla="*/ 341 h 754"/>
              <a:gd name="T100" fmla="*/ 475 w 753"/>
              <a:gd name="T101" fmla="*/ 346 h 754"/>
              <a:gd name="T102" fmla="*/ 454 w 753"/>
              <a:gd name="T103" fmla="*/ 341 h 754"/>
              <a:gd name="T104" fmla="*/ 439 w 753"/>
              <a:gd name="T105" fmla="*/ 383 h 754"/>
              <a:gd name="T106" fmla="*/ 421 w 753"/>
              <a:gd name="T107" fmla="*/ 441 h 754"/>
              <a:gd name="T108" fmla="*/ 418 w 753"/>
              <a:gd name="T109" fmla="*/ 441 h 754"/>
              <a:gd name="T110" fmla="*/ 419 w 753"/>
              <a:gd name="T111" fmla="*/ 335 h 754"/>
              <a:gd name="T112" fmla="*/ 403 w 753"/>
              <a:gd name="T113" fmla="*/ 393 h 754"/>
              <a:gd name="T114" fmla="*/ 401 w 753"/>
              <a:gd name="T115" fmla="*/ 395 h 754"/>
              <a:gd name="T116" fmla="*/ 150 w 753"/>
              <a:gd name="T117" fmla="*/ 388 h 754"/>
              <a:gd name="T118" fmla="*/ 324 w 753"/>
              <a:gd name="T119" fmla="*/ 438 h 754"/>
              <a:gd name="T120" fmla="*/ 400 w 753"/>
              <a:gd name="T121" fmla="*/ 441 h 754"/>
              <a:gd name="T122" fmla="*/ 400 w 753"/>
              <a:gd name="T123" fmla="*/ 43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3" h="754">
                <a:moveTo>
                  <a:pt x="753" y="377"/>
                </a:moveTo>
                <a:lnTo>
                  <a:pt x="753" y="377"/>
                </a:lnTo>
                <a:cubicBezTo>
                  <a:pt x="753" y="169"/>
                  <a:pt x="584" y="0"/>
                  <a:pt x="376" y="0"/>
                </a:cubicBezTo>
                <a:cubicBezTo>
                  <a:pt x="168" y="0"/>
                  <a:pt x="0" y="169"/>
                  <a:pt x="0" y="377"/>
                </a:cubicBezTo>
                <a:cubicBezTo>
                  <a:pt x="0" y="585"/>
                  <a:pt x="168" y="754"/>
                  <a:pt x="376" y="754"/>
                </a:cubicBezTo>
                <a:cubicBezTo>
                  <a:pt x="584" y="754"/>
                  <a:pt x="753" y="585"/>
                  <a:pt x="753" y="377"/>
                </a:cubicBezTo>
                <a:close/>
                <a:moveTo>
                  <a:pt x="642" y="581"/>
                </a:moveTo>
                <a:lnTo>
                  <a:pt x="642" y="581"/>
                </a:lnTo>
                <a:cubicBezTo>
                  <a:pt x="638" y="585"/>
                  <a:pt x="632" y="587"/>
                  <a:pt x="627" y="587"/>
                </a:cubicBezTo>
                <a:cubicBezTo>
                  <a:pt x="621" y="587"/>
                  <a:pt x="616" y="585"/>
                  <a:pt x="611" y="581"/>
                </a:cubicBezTo>
                <a:lnTo>
                  <a:pt x="510" y="480"/>
                </a:lnTo>
                <a:cubicBezTo>
                  <a:pt x="494" y="489"/>
                  <a:pt x="476" y="494"/>
                  <a:pt x="457" y="494"/>
                </a:cubicBezTo>
                <a:cubicBezTo>
                  <a:pt x="427" y="494"/>
                  <a:pt x="399" y="481"/>
                  <a:pt x="380" y="461"/>
                </a:cubicBezTo>
                <a:cubicBezTo>
                  <a:pt x="378" y="462"/>
                  <a:pt x="376" y="463"/>
                  <a:pt x="374" y="463"/>
                </a:cubicBezTo>
                <a:lnTo>
                  <a:pt x="249" y="463"/>
                </a:lnTo>
                <a:cubicBezTo>
                  <a:pt x="242" y="463"/>
                  <a:pt x="238" y="458"/>
                  <a:pt x="238" y="451"/>
                </a:cubicBezTo>
                <a:cubicBezTo>
                  <a:pt x="238" y="444"/>
                  <a:pt x="242" y="438"/>
                  <a:pt x="249" y="438"/>
                </a:cubicBezTo>
                <a:lnTo>
                  <a:pt x="299" y="438"/>
                </a:lnTo>
                <a:lnTo>
                  <a:pt x="299" y="414"/>
                </a:lnTo>
                <a:lnTo>
                  <a:pt x="137" y="414"/>
                </a:lnTo>
                <a:cubicBezTo>
                  <a:pt x="130" y="414"/>
                  <a:pt x="126" y="408"/>
                  <a:pt x="126" y="401"/>
                </a:cubicBezTo>
                <a:lnTo>
                  <a:pt x="126" y="179"/>
                </a:lnTo>
                <a:cubicBezTo>
                  <a:pt x="126" y="172"/>
                  <a:pt x="130" y="166"/>
                  <a:pt x="137" y="166"/>
                </a:cubicBezTo>
                <a:lnTo>
                  <a:pt x="486" y="166"/>
                </a:lnTo>
                <a:cubicBezTo>
                  <a:pt x="493" y="166"/>
                  <a:pt x="499" y="172"/>
                  <a:pt x="499" y="179"/>
                </a:cubicBezTo>
                <a:lnTo>
                  <a:pt x="499" y="283"/>
                </a:lnTo>
                <a:cubicBezTo>
                  <a:pt x="539" y="299"/>
                  <a:pt x="567" y="338"/>
                  <a:pt x="567" y="384"/>
                </a:cubicBezTo>
                <a:cubicBezTo>
                  <a:pt x="567" y="410"/>
                  <a:pt x="558" y="433"/>
                  <a:pt x="543" y="452"/>
                </a:cubicBezTo>
                <a:lnTo>
                  <a:pt x="642" y="551"/>
                </a:lnTo>
                <a:cubicBezTo>
                  <a:pt x="650" y="559"/>
                  <a:pt x="650" y="573"/>
                  <a:pt x="642" y="581"/>
                </a:cubicBezTo>
                <a:close/>
                <a:moveTo>
                  <a:pt x="383" y="382"/>
                </a:moveTo>
                <a:lnTo>
                  <a:pt x="383" y="382"/>
                </a:lnTo>
                <a:cubicBezTo>
                  <a:pt x="383" y="382"/>
                  <a:pt x="382" y="382"/>
                  <a:pt x="382" y="383"/>
                </a:cubicBezTo>
                <a:cubicBezTo>
                  <a:pt x="381" y="384"/>
                  <a:pt x="381" y="386"/>
                  <a:pt x="381" y="388"/>
                </a:cubicBezTo>
                <a:cubicBezTo>
                  <a:pt x="381" y="391"/>
                  <a:pt x="381" y="393"/>
                  <a:pt x="382" y="394"/>
                </a:cubicBezTo>
                <a:cubicBezTo>
                  <a:pt x="382" y="394"/>
                  <a:pt x="383" y="395"/>
                  <a:pt x="383" y="395"/>
                </a:cubicBezTo>
                <a:cubicBezTo>
                  <a:pt x="384" y="395"/>
                  <a:pt x="385" y="394"/>
                  <a:pt x="385" y="393"/>
                </a:cubicBezTo>
                <a:cubicBezTo>
                  <a:pt x="385" y="393"/>
                  <a:pt x="385" y="391"/>
                  <a:pt x="385" y="388"/>
                </a:cubicBezTo>
                <a:cubicBezTo>
                  <a:pt x="385" y="386"/>
                  <a:pt x="385" y="384"/>
                  <a:pt x="385" y="383"/>
                </a:cubicBezTo>
                <a:cubicBezTo>
                  <a:pt x="385" y="382"/>
                  <a:pt x="384" y="382"/>
                  <a:pt x="383" y="382"/>
                </a:cubicBezTo>
                <a:close/>
                <a:moveTo>
                  <a:pt x="527" y="424"/>
                </a:moveTo>
                <a:lnTo>
                  <a:pt x="527" y="424"/>
                </a:lnTo>
                <a:cubicBezTo>
                  <a:pt x="534" y="412"/>
                  <a:pt x="538" y="399"/>
                  <a:pt x="538" y="384"/>
                </a:cubicBezTo>
                <a:cubicBezTo>
                  <a:pt x="538" y="373"/>
                  <a:pt x="536" y="362"/>
                  <a:pt x="532" y="352"/>
                </a:cubicBezTo>
                <a:lnTo>
                  <a:pt x="527" y="352"/>
                </a:lnTo>
                <a:lnTo>
                  <a:pt x="527" y="343"/>
                </a:lnTo>
                <a:cubicBezTo>
                  <a:pt x="526" y="341"/>
                  <a:pt x="525" y="340"/>
                  <a:pt x="525" y="339"/>
                </a:cubicBezTo>
                <a:lnTo>
                  <a:pt x="523" y="340"/>
                </a:lnTo>
                <a:lnTo>
                  <a:pt x="520" y="336"/>
                </a:lnTo>
                <a:lnTo>
                  <a:pt x="522" y="335"/>
                </a:lnTo>
                <a:cubicBezTo>
                  <a:pt x="507" y="315"/>
                  <a:pt x="483" y="303"/>
                  <a:pt x="457" y="303"/>
                </a:cubicBezTo>
                <a:cubicBezTo>
                  <a:pt x="430" y="303"/>
                  <a:pt x="406" y="316"/>
                  <a:pt x="391" y="337"/>
                </a:cubicBezTo>
                <a:cubicBezTo>
                  <a:pt x="391" y="338"/>
                  <a:pt x="391" y="340"/>
                  <a:pt x="391" y="341"/>
                </a:cubicBezTo>
                <a:cubicBezTo>
                  <a:pt x="391" y="345"/>
                  <a:pt x="391" y="348"/>
                  <a:pt x="389" y="350"/>
                </a:cubicBezTo>
                <a:cubicBezTo>
                  <a:pt x="388" y="351"/>
                  <a:pt x="386" y="352"/>
                  <a:pt x="383" y="352"/>
                </a:cubicBezTo>
                <a:cubicBezTo>
                  <a:pt x="383" y="352"/>
                  <a:pt x="383" y="352"/>
                  <a:pt x="383" y="352"/>
                </a:cubicBezTo>
                <a:cubicBezTo>
                  <a:pt x="379" y="362"/>
                  <a:pt x="376" y="372"/>
                  <a:pt x="376" y="382"/>
                </a:cubicBezTo>
                <a:cubicBezTo>
                  <a:pt x="376" y="381"/>
                  <a:pt x="377" y="380"/>
                  <a:pt x="377" y="380"/>
                </a:cubicBezTo>
                <a:cubicBezTo>
                  <a:pt x="379" y="378"/>
                  <a:pt x="381" y="377"/>
                  <a:pt x="383" y="377"/>
                </a:cubicBezTo>
                <a:cubicBezTo>
                  <a:pt x="386" y="377"/>
                  <a:pt x="388" y="378"/>
                  <a:pt x="389" y="380"/>
                </a:cubicBezTo>
                <a:cubicBezTo>
                  <a:pt x="391" y="382"/>
                  <a:pt x="391" y="385"/>
                  <a:pt x="391" y="388"/>
                </a:cubicBezTo>
                <a:cubicBezTo>
                  <a:pt x="391" y="392"/>
                  <a:pt x="391" y="395"/>
                  <a:pt x="389" y="397"/>
                </a:cubicBezTo>
                <a:cubicBezTo>
                  <a:pt x="388" y="399"/>
                  <a:pt x="386" y="400"/>
                  <a:pt x="383" y="400"/>
                </a:cubicBezTo>
                <a:cubicBezTo>
                  <a:pt x="381" y="400"/>
                  <a:pt x="379" y="399"/>
                  <a:pt x="377" y="397"/>
                </a:cubicBezTo>
                <a:cubicBezTo>
                  <a:pt x="377" y="397"/>
                  <a:pt x="377" y="397"/>
                  <a:pt x="377" y="396"/>
                </a:cubicBezTo>
                <a:cubicBezTo>
                  <a:pt x="379" y="407"/>
                  <a:pt x="382" y="417"/>
                  <a:pt x="388" y="426"/>
                </a:cubicBezTo>
                <a:cubicBezTo>
                  <a:pt x="388" y="426"/>
                  <a:pt x="389" y="427"/>
                  <a:pt x="389" y="427"/>
                </a:cubicBezTo>
                <a:cubicBezTo>
                  <a:pt x="390" y="428"/>
                  <a:pt x="390" y="429"/>
                  <a:pt x="391" y="430"/>
                </a:cubicBezTo>
                <a:cubicBezTo>
                  <a:pt x="392" y="431"/>
                  <a:pt x="392" y="433"/>
                  <a:pt x="394" y="434"/>
                </a:cubicBezTo>
                <a:cubicBezTo>
                  <a:pt x="394" y="431"/>
                  <a:pt x="394" y="429"/>
                  <a:pt x="395" y="427"/>
                </a:cubicBezTo>
                <a:cubicBezTo>
                  <a:pt x="397" y="425"/>
                  <a:pt x="399" y="424"/>
                  <a:pt x="401" y="424"/>
                </a:cubicBezTo>
                <a:cubicBezTo>
                  <a:pt x="404" y="424"/>
                  <a:pt x="406" y="425"/>
                  <a:pt x="407" y="427"/>
                </a:cubicBezTo>
                <a:cubicBezTo>
                  <a:pt x="409" y="429"/>
                  <a:pt x="409" y="432"/>
                  <a:pt x="409" y="436"/>
                </a:cubicBezTo>
                <a:cubicBezTo>
                  <a:pt x="409" y="440"/>
                  <a:pt x="409" y="442"/>
                  <a:pt x="407" y="444"/>
                </a:cubicBezTo>
                <a:cubicBezTo>
                  <a:pt x="407" y="445"/>
                  <a:pt x="406" y="446"/>
                  <a:pt x="405" y="446"/>
                </a:cubicBezTo>
                <a:cubicBezTo>
                  <a:pt x="419" y="458"/>
                  <a:pt x="437" y="465"/>
                  <a:pt x="457" y="465"/>
                </a:cubicBezTo>
                <a:cubicBezTo>
                  <a:pt x="477" y="465"/>
                  <a:pt x="495" y="458"/>
                  <a:pt x="509" y="446"/>
                </a:cubicBezTo>
                <a:lnTo>
                  <a:pt x="509" y="435"/>
                </a:lnTo>
                <a:cubicBezTo>
                  <a:pt x="509" y="434"/>
                  <a:pt x="509" y="432"/>
                  <a:pt x="509" y="431"/>
                </a:cubicBezTo>
                <a:cubicBezTo>
                  <a:pt x="509" y="432"/>
                  <a:pt x="508" y="432"/>
                  <a:pt x="508" y="433"/>
                </a:cubicBezTo>
                <a:lnTo>
                  <a:pt x="505" y="435"/>
                </a:lnTo>
                <a:lnTo>
                  <a:pt x="502" y="431"/>
                </a:lnTo>
                <a:lnTo>
                  <a:pt x="510" y="425"/>
                </a:lnTo>
                <a:lnTo>
                  <a:pt x="515" y="425"/>
                </a:lnTo>
                <a:lnTo>
                  <a:pt x="515" y="441"/>
                </a:lnTo>
                <a:cubicBezTo>
                  <a:pt x="517" y="439"/>
                  <a:pt x="518" y="437"/>
                  <a:pt x="520" y="435"/>
                </a:cubicBezTo>
                <a:cubicBezTo>
                  <a:pt x="520" y="432"/>
                  <a:pt x="521" y="429"/>
                  <a:pt x="522" y="427"/>
                </a:cubicBezTo>
                <a:cubicBezTo>
                  <a:pt x="523" y="425"/>
                  <a:pt x="525" y="424"/>
                  <a:pt x="527" y="424"/>
                </a:cubicBezTo>
                <a:close/>
                <a:moveTo>
                  <a:pt x="407" y="352"/>
                </a:moveTo>
                <a:lnTo>
                  <a:pt x="407" y="352"/>
                </a:lnTo>
                <a:lnTo>
                  <a:pt x="401" y="352"/>
                </a:lnTo>
                <a:lnTo>
                  <a:pt x="401" y="340"/>
                </a:lnTo>
                <a:cubicBezTo>
                  <a:pt x="401" y="339"/>
                  <a:pt x="401" y="338"/>
                  <a:pt x="401" y="337"/>
                </a:cubicBezTo>
                <a:cubicBezTo>
                  <a:pt x="400" y="337"/>
                  <a:pt x="400" y="337"/>
                  <a:pt x="399" y="338"/>
                </a:cubicBezTo>
                <a:lnTo>
                  <a:pt x="397" y="340"/>
                </a:lnTo>
                <a:lnTo>
                  <a:pt x="394" y="336"/>
                </a:lnTo>
                <a:lnTo>
                  <a:pt x="401" y="330"/>
                </a:lnTo>
                <a:lnTo>
                  <a:pt x="407" y="330"/>
                </a:lnTo>
                <a:lnTo>
                  <a:pt x="407" y="352"/>
                </a:lnTo>
                <a:lnTo>
                  <a:pt x="407" y="352"/>
                </a:lnTo>
                <a:close/>
                <a:moveTo>
                  <a:pt x="409" y="388"/>
                </a:moveTo>
                <a:lnTo>
                  <a:pt x="409" y="388"/>
                </a:lnTo>
                <a:cubicBezTo>
                  <a:pt x="409" y="392"/>
                  <a:pt x="409" y="395"/>
                  <a:pt x="407" y="397"/>
                </a:cubicBezTo>
                <a:cubicBezTo>
                  <a:pt x="406" y="399"/>
                  <a:pt x="404" y="400"/>
                  <a:pt x="401" y="400"/>
                </a:cubicBezTo>
                <a:cubicBezTo>
                  <a:pt x="399" y="400"/>
                  <a:pt x="397" y="399"/>
                  <a:pt x="395" y="397"/>
                </a:cubicBezTo>
                <a:cubicBezTo>
                  <a:pt x="394" y="395"/>
                  <a:pt x="393" y="392"/>
                  <a:pt x="393" y="388"/>
                </a:cubicBezTo>
                <a:cubicBezTo>
                  <a:pt x="393" y="384"/>
                  <a:pt x="394" y="382"/>
                  <a:pt x="395" y="380"/>
                </a:cubicBezTo>
                <a:cubicBezTo>
                  <a:pt x="397" y="378"/>
                  <a:pt x="399" y="377"/>
                  <a:pt x="401" y="377"/>
                </a:cubicBezTo>
                <a:cubicBezTo>
                  <a:pt x="404" y="377"/>
                  <a:pt x="406" y="378"/>
                  <a:pt x="407" y="380"/>
                </a:cubicBezTo>
                <a:cubicBezTo>
                  <a:pt x="409" y="382"/>
                  <a:pt x="409" y="385"/>
                  <a:pt x="409" y="388"/>
                </a:cubicBezTo>
                <a:close/>
                <a:moveTo>
                  <a:pt x="466" y="431"/>
                </a:moveTo>
                <a:lnTo>
                  <a:pt x="466" y="431"/>
                </a:lnTo>
                <a:lnTo>
                  <a:pt x="473" y="425"/>
                </a:lnTo>
                <a:lnTo>
                  <a:pt x="479" y="425"/>
                </a:lnTo>
                <a:lnTo>
                  <a:pt x="479" y="447"/>
                </a:lnTo>
                <a:lnTo>
                  <a:pt x="473" y="447"/>
                </a:lnTo>
                <a:lnTo>
                  <a:pt x="473" y="435"/>
                </a:lnTo>
                <a:cubicBezTo>
                  <a:pt x="473" y="434"/>
                  <a:pt x="473" y="432"/>
                  <a:pt x="473" y="431"/>
                </a:cubicBezTo>
                <a:cubicBezTo>
                  <a:pt x="472" y="432"/>
                  <a:pt x="472" y="432"/>
                  <a:pt x="471" y="433"/>
                </a:cubicBezTo>
                <a:lnTo>
                  <a:pt x="469" y="435"/>
                </a:lnTo>
                <a:lnTo>
                  <a:pt x="466" y="431"/>
                </a:lnTo>
                <a:lnTo>
                  <a:pt x="466" y="431"/>
                </a:lnTo>
                <a:close/>
                <a:moveTo>
                  <a:pt x="448" y="431"/>
                </a:moveTo>
                <a:lnTo>
                  <a:pt x="448" y="431"/>
                </a:lnTo>
                <a:lnTo>
                  <a:pt x="455" y="425"/>
                </a:lnTo>
                <a:lnTo>
                  <a:pt x="461" y="425"/>
                </a:lnTo>
                <a:lnTo>
                  <a:pt x="461" y="447"/>
                </a:lnTo>
                <a:lnTo>
                  <a:pt x="455" y="447"/>
                </a:lnTo>
                <a:lnTo>
                  <a:pt x="455" y="435"/>
                </a:lnTo>
                <a:cubicBezTo>
                  <a:pt x="455" y="434"/>
                  <a:pt x="455" y="432"/>
                  <a:pt x="455" y="431"/>
                </a:cubicBezTo>
                <a:cubicBezTo>
                  <a:pt x="454" y="432"/>
                  <a:pt x="454" y="432"/>
                  <a:pt x="453" y="433"/>
                </a:cubicBezTo>
                <a:lnTo>
                  <a:pt x="451" y="435"/>
                </a:lnTo>
                <a:lnTo>
                  <a:pt x="448" y="431"/>
                </a:lnTo>
                <a:lnTo>
                  <a:pt x="448" y="431"/>
                </a:lnTo>
                <a:close/>
                <a:moveTo>
                  <a:pt x="448" y="384"/>
                </a:moveTo>
                <a:lnTo>
                  <a:pt x="448" y="384"/>
                </a:lnTo>
                <a:lnTo>
                  <a:pt x="455" y="377"/>
                </a:lnTo>
                <a:lnTo>
                  <a:pt x="461" y="377"/>
                </a:lnTo>
                <a:lnTo>
                  <a:pt x="461" y="399"/>
                </a:lnTo>
                <a:lnTo>
                  <a:pt x="455" y="399"/>
                </a:lnTo>
                <a:lnTo>
                  <a:pt x="455" y="388"/>
                </a:lnTo>
                <a:cubicBezTo>
                  <a:pt x="455" y="386"/>
                  <a:pt x="455" y="385"/>
                  <a:pt x="455" y="384"/>
                </a:cubicBezTo>
                <a:cubicBezTo>
                  <a:pt x="454" y="384"/>
                  <a:pt x="454" y="385"/>
                  <a:pt x="453" y="385"/>
                </a:cubicBezTo>
                <a:lnTo>
                  <a:pt x="451" y="387"/>
                </a:lnTo>
                <a:lnTo>
                  <a:pt x="448" y="384"/>
                </a:lnTo>
                <a:lnTo>
                  <a:pt x="448" y="384"/>
                </a:lnTo>
                <a:close/>
                <a:moveTo>
                  <a:pt x="430" y="431"/>
                </a:moveTo>
                <a:lnTo>
                  <a:pt x="430" y="431"/>
                </a:lnTo>
                <a:lnTo>
                  <a:pt x="437" y="425"/>
                </a:lnTo>
                <a:lnTo>
                  <a:pt x="443" y="425"/>
                </a:lnTo>
                <a:lnTo>
                  <a:pt x="443" y="447"/>
                </a:lnTo>
                <a:lnTo>
                  <a:pt x="437" y="447"/>
                </a:lnTo>
                <a:lnTo>
                  <a:pt x="437" y="435"/>
                </a:lnTo>
                <a:cubicBezTo>
                  <a:pt x="437" y="434"/>
                  <a:pt x="437" y="432"/>
                  <a:pt x="437" y="431"/>
                </a:cubicBezTo>
                <a:cubicBezTo>
                  <a:pt x="436" y="432"/>
                  <a:pt x="436" y="432"/>
                  <a:pt x="435" y="433"/>
                </a:cubicBezTo>
                <a:lnTo>
                  <a:pt x="433" y="435"/>
                </a:lnTo>
                <a:lnTo>
                  <a:pt x="430" y="431"/>
                </a:lnTo>
                <a:lnTo>
                  <a:pt x="430" y="431"/>
                </a:lnTo>
                <a:close/>
                <a:moveTo>
                  <a:pt x="427" y="341"/>
                </a:moveTo>
                <a:lnTo>
                  <a:pt x="427" y="341"/>
                </a:lnTo>
                <a:cubicBezTo>
                  <a:pt x="427" y="345"/>
                  <a:pt x="427" y="348"/>
                  <a:pt x="425" y="350"/>
                </a:cubicBezTo>
                <a:cubicBezTo>
                  <a:pt x="424" y="351"/>
                  <a:pt x="422" y="352"/>
                  <a:pt x="419" y="352"/>
                </a:cubicBezTo>
                <a:cubicBezTo>
                  <a:pt x="417" y="352"/>
                  <a:pt x="415" y="351"/>
                  <a:pt x="414" y="350"/>
                </a:cubicBezTo>
                <a:cubicBezTo>
                  <a:pt x="412" y="348"/>
                  <a:pt x="412" y="345"/>
                  <a:pt x="412" y="341"/>
                </a:cubicBezTo>
                <a:cubicBezTo>
                  <a:pt x="412" y="337"/>
                  <a:pt x="412" y="334"/>
                  <a:pt x="413" y="332"/>
                </a:cubicBezTo>
                <a:cubicBezTo>
                  <a:pt x="415" y="331"/>
                  <a:pt x="417" y="330"/>
                  <a:pt x="419" y="330"/>
                </a:cubicBezTo>
                <a:cubicBezTo>
                  <a:pt x="422" y="330"/>
                  <a:pt x="424" y="331"/>
                  <a:pt x="425" y="333"/>
                </a:cubicBezTo>
                <a:cubicBezTo>
                  <a:pt x="427" y="335"/>
                  <a:pt x="427" y="337"/>
                  <a:pt x="427" y="341"/>
                </a:cubicBezTo>
                <a:close/>
                <a:moveTo>
                  <a:pt x="419" y="384"/>
                </a:moveTo>
                <a:lnTo>
                  <a:pt x="419" y="384"/>
                </a:lnTo>
                <a:cubicBezTo>
                  <a:pt x="418" y="384"/>
                  <a:pt x="418" y="385"/>
                  <a:pt x="417" y="385"/>
                </a:cubicBezTo>
                <a:lnTo>
                  <a:pt x="415" y="387"/>
                </a:lnTo>
                <a:lnTo>
                  <a:pt x="412" y="384"/>
                </a:lnTo>
                <a:lnTo>
                  <a:pt x="419" y="377"/>
                </a:lnTo>
                <a:lnTo>
                  <a:pt x="425" y="377"/>
                </a:lnTo>
                <a:lnTo>
                  <a:pt x="425" y="399"/>
                </a:lnTo>
                <a:lnTo>
                  <a:pt x="419" y="399"/>
                </a:lnTo>
                <a:lnTo>
                  <a:pt x="419" y="388"/>
                </a:lnTo>
                <a:cubicBezTo>
                  <a:pt x="419" y="386"/>
                  <a:pt x="419" y="385"/>
                  <a:pt x="419" y="384"/>
                </a:cubicBezTo>
                <a:close/>
                <a:moveTo>
                  <a:pt x="427" y="436"/>
                </a:moveTo>
                <a:lnTo>
                  <a:pt x="427" y="436"/>
                </a:lnTo>
                <a:cubicBezTo>
                  <a:pt x="427" y="440"/>
                  <a:pt x="427" y="442"/>
                  <a:pt x="425" y="444"/>
                </a:cubicBezTo>
                <a:cubicBezTo>
                  <a:pt x="424" y="446"/>
                  <a:pt x="422" y="447"/>
                  <a:pt x="419" y="447"/>
                </a:cubicBezTo>
                <a:cubicBezTo>
                  <a:pt x="417" y="447"/>
                  <a:pt x="415" y="446"/>
                  <a:pt x="414" y="444"/>
                </a:cubicBezTo>
                <a:cubicBezTo>
                  <a:pt x="412" y="442"/>
                  <a:pt x="412" y="439"/>
                  <a:pt x="412" y="436"/>
                </a:cubicBezTo>
                <a:cubicBezTo>
                  <a:pt x="412" y="432"/>
                  <a:pt x="412" y="429"/>
                  <a:pt x="413" y="427"/>
                </a:cubicBezTo>
                <a:cubicBezTo>
                  <a:pt x="415" y="425"/>
                  <a:pt x="417" y="424"/>
                  <a:pt x="419" y="424"/>
                </a:cubicBezTo>
                <a:cubicBezTo>
                  <a:pt x="422" y="424"/>
                  <a:pt x="424" y="425"/>
                  <a:pt x="425" y="427"/>
                </a:cubicBezTo>
                <a:cubicBezTo>
                  <a:pt x="427" y="429"/>
                  <a:pt x="427" y="432"/>
                  <a:pt x="427" y="436"/>
                </a:cubicBezTo>
                <a:close/>
                <a:moveTo>
                  <a:pt x="443" y="352"/>
                </a:moveTo>
                <a:lnTo>
                  <a:pt x="443" y="352"/>
                </a:lnTo>
                <a:lnTo>
                  <a:pt x="437" y="352"/>
                </a:lnTo>
                <a:lnTo>
                  <a:pt x="437" y="340"/>
                </a:lnTo>
                <a:cubicBezTo>
                  <a:pt x="437" y="339"/>
                  <a:pt x="437" y="338"/>
                  <a:pt x="437" y="337"/>
                </a:cubicBezTo>
                <a:cubicBezTo>
                  <a:pt x="436" y="337"/>
                  <a:pt x="436" y="337"/>
                  <a:pt x="435" y="338"/>
                </a:cubicBezTo>
                <a:lnTo>
                  <a:pt x="433" y="340"/>
                </a:lnTo>
                <a:lnTo>
                  <a:pt x="430" y="336"/>
                </a:lnTo>
                <a:lnTo>
                  <a:pt x="437" y="330"/>
                </a:lnTo>
                <a:lnTo>
                  <a:pt x="443" y="330"/>
                </a:lnTo>
                <a:lnTo>
                  <a:pt x="443" y="352"/>
                </a:lnTo>
                <a:lnTo>
                  <a:pt x="443" y="352"/>
                </a:lnTo>
                <a:close/>
                <a:moveTo>
                  <a:pt x="445" y="388"/>
                </a:moveTo>
                <a:lnTo>
                  <a:pt x="445" y="388"/>
                </a:lnTo>
                <a:cubicBezTo>
                  <a:pt x="445" y="392"/>
                  <a:pt x="445" y="395"/>
                  <a:pt x="444" y="397"/>
                </a:cubicBezTo>
                <a:cubicBezTo>
                  <a:pt x="442" y="399"/>
                  <a:pt x="440" y="400"/>
                  <a:pt x="438" y="400"/>
                </a:cubicBezTo>
                <a:cubicBezTo>
                  <a:pt x="435" y="400"/>
                  <a:pt x="433" y="399"/>
                  <a:pt x="432" y="397"/>
                </a:cubicBezTo>
                <a:cubicBezTo>
                  <a:pt x="430" y="395"/>
                  <a:pt x="430" y="392"/>
                  <a:pt x="430" y="388"/>
                </a:cubicBezTo>
                <a:cubicBezTo>
                  <a:pt x="430" y="384"/>
                  <a:pt x="430" y="382"/>
                  <a:pt x="432" y="380"/>
                </a:cubicBezTo>
                <a:cubicBezTo>
                  <a:pt x="433" y="378"/>
                  <a:pt x="435" y="377"/>
                  <a:pt x="438" y="377"/>
                </a:cubicBezTo>
                <a:cubicBezTo>
                  <a:pt x="440" y="377"/>
                  <a:pt x="442" y="378"/>
                  <a:pt x="443" y="380"/>
                </a:cubicBezTo>
                <a:cubicBezTo>
                  <a:pt x="445" y="382"/>
                  <a:pt x="445" y="385"/>
                  <a:pt x="445" y="388"/>
                </a:cubicBezTo>
                <a:close/>
                <a:moveTo>
                  <a:pt x="464" y="341"/>
                </a:moveTo>
                <a:lnTo>
                  <a:pt x="464" y="341"/>
                </a:lnTo>
                <a:cubicBezTo>
                  <a:pt x="464" y="345"/>
                  <a:pt x="463" y="348"/>
                  <a:pt x="462" y="350"/>
                </a:cubicBezTo>
                <a:cubicBezTo>
                  <a:pt x="460" y="351"/>
                  <a:pt x="458" y="352"/>
                  <a:pt x="456" y="352"/>
                </a:cubicBezTo>
                <a:cubicBezTo>
                  <a:pt x="453" y="352"/>
                  <a:pt x="451" y="351"/>
                  <a:pt x="450" y="350"/>
                </a:cubicBezTo>
                <a:cubicBezTo>
                  <a:pt x="448" y="348"/>
                  <a:pt x="448" y="345"/>
                  <a:pt x="448" y="341"/>
                </a:cubicBezTo>
                <a:cubicBezTo>
                  <a:pt x="448" y="337"/>
                  <a:pt x="448" y="334"/>
                  <a:pt x="450" y="332"/>
                </a:cubicBezTo>
                <a:cubicBezTo>
                  <a:pt x="451" y="331"/>
                  <a:pt x="453" y="330"/>
                  <a:pt x="456" y="330"/>
                </a:cubicBezTo>
                <a:cubicBezTo>
                  <a:pt x="458" y="330"/>
                  <a:pt x="460" y="331"/>
                  <a:pt x="462" y="333"/>
                </a:cubicBezTo>
                <a:cubicBezTo>
                  <a:pt x="463" y="335"/>
                  <a:pt x="464" y="337"/>
                  <a:pt x="464" y="341"/>
                </a:cubicBezTo>
                <a:close/>
                <a:moveTo>
                  <a:pt x="482" y="341"/>
                </a:moveTo>
                <a:lnTo>
                  <a:pt x="482" y="341"/>
                </a:lnTo>
                <a:cubicBezTo>
                  <a:pt x="482" y="345"/>
                  <a:pt x="481" y="348"/>
                  <a:pt x="480" y="350"/>
                </a:cubicBezTo>
                <a:cubicBezTo>
                  <a:pt x="478" y="351"/>
                  <a:pt x="476" y="352"/>
                  <a:pt x="474" y="352"/>
                </a:cubicBezTo>
                <a:cubicBezTo>
                  <a:pt x="471" y="352"/>
                  <a:pt x="469" y="351"/>
                  <a:pt x="468" y="350"/>
                </a:cubicBezTo>
                <a:cubicBezTo>
                  <a:pt x="466" y="348"/>
                  <a:pt x="466" y="345"/>
                  <a:pt x="466" y="341"/>
                </a:cubicBezTo>
                <a:cubicBezTo>
                  <a:pt x="466" y="337"/>
                  <a:pt x="466" y="334"/>
                  <a:pt x="468" y="332"/>
                </a:cubicBezTo>
                <a:cubicBezTo>
                  <a:pt x="469" y="331"/>
                  <a:pt x="471" y="330"/>
                  <a:pt x="474" y="330"/>
                </a:cubicBezTo>
                <a:cubicBezTo>
                  <a:pt x="476" y="330"/>
                  <a:pt x="478" y="331"/>
                  <a:pt x="480" y="333"/>
                </a:cubicBezTo>
                <a:cubicBezTo>
                  <a:pt x="481" y="335"/>
                  <a:pt x="482" y="337"/>
                  <a:pt x="482" y="341"/>
                </a:cubicBezTo>
                <a:close/>
                <a:moveTo>
                  <a:pt x="482" y="388"/>
                </a:moveTo>
                <a:lnTo>
                  <a:pt x="482" y="388"/>
                </a:lnTo>
                <a:cubicBezTo>
                  <a:pt x="482" y="392"/>
                  <a:pt x="481" y="395"/>
                  <a:pt x="480" y="397"/>
                </a:cubicBezTo>
                <a:cubicBezTo>
                  <a:pt x="478" y="399"/>
                  <a:pt x="476" y="400"/>
                  <a:pt x="474" y="400"/>
                </a:cubicBezTo>
                <a:cubicBezTo>
                  <a:pt x="471" y="400"/>
                  <a:pt x="469" y="399"/>
                  <a:pt x="468" y="397"/>
                </a:cubicBezTo>
                <a:cubicBezTo>
                  <a:pt x="466" y="395"/>
                  <a:pt x="466" y="392"/>
                  <a:pt x="466" y="388"/>
                </a:cubicBezTo>
                <a:cubicBezTo>
                  <a:pt x="466" y="384"/>
                  <a:pt x="466" y="382"/>
                  <a:pt x="468" y="380"/>
                </a:cubicBezTo>
                <a:cubicBezTo>
                  <a:pt x="469" y="378"/>
                  <a:pt x="471" y="377"/>
                  <a:pt x="474" y="377"/>
                </a:cubicBezTo>
                <a:cubicBezTo>
                  <a:pt x="476" y="377"/>
                  <a:pt x="478" y="378"/>
                  <a:pt x="480" y="380"/>
                </a:cubicBezTo>
                <a:cubicBezTo>
                  <a:pt x="481" y="382"/>
                  <a:pt x="482" y="385"/>
                  <a:pt x="482" y="388"/>
                </a:cubicBezTo>
                <a:close/>
                <a:moveTo>
                  <a:pt x="497" y="352"/>
                </a:moveTo>
                <a:lnTo>
                  <a:pt x="497" y="352"/>
                </a:lnTo>
                <a:lnTo>
                  <a:pt x="491" y="352"/>
                </a:lnTo>
                <a:lnTo>
                  <a:pt x="491" y="340"/>
                </a:lnTo>
                <a:cubicBezTo>
                  <a:pt x="491" y="339"/>
                  <a:pt x="491" y="338"/>
                  <a:pt x="491" y="337"/>
                </a:cubicBezTo>
                <a:cubicBezTo>
                  <a:pt x="491" y="337"/>
                  <a:pt x="490" y="337"/>
                  <a:pt x="490" y="338"/>
                </a:cubicBezTo>
                <a:lnTo>
                  <a:pt x="487" y="340"/>
                </a:lnTo>
                <a:lnTo>
                  <a:pt x="484" y="336"/>
                </a:lnTo>
                <a:lnTo>
                  <a:pt x="492" y="330"/>
                </a:lnTo>
                <a:lnTo>
                  <a:pt x="497" y="330"/>
                </a:lnTo>
                <a:lnTo>
                  <a:pt x="497" y="352"/>
                </a:lnTo>
                <a:lnTo>
                  <a:pt x="497" y="352"/>
                </a:lnTo>
                <a:close/>
                <a:moveTo>
                  <a:pt x="500" y="388"/>
                </a:moveTo>
                <a:lnTo>
                  <a:pt x="500" y="388"/>
                </a:lnTo>
                <a:cubicBezTo>
                  <a:pt x="500" y="392"/>
                  <a:pt x="499" y="395"/>
                  <a:pt x="498" y="397"/>
                </a:cubicBezTo>
                <a:cubicBezTo>
                  <a:pt x="496" y="399"/>
                  <a:pt x="494" y="400"/>
                  <a:pt x="492" y="400"/>
                </a:cubicBezTo>
                <a:cubicBezTo>
                  <a:pt x="489" y="400"/>
                  <a:pt x="487" y="399"/>
                  <a:pt x="486" y="397"/>
                </a:cubicBezTo>
                <a:cubicBezTo>
                  <a:pt x="484" y="395"/>
                  <a:pt x="484" y="392"/>
                  <a:pt x="484" y="388"/>
                </a:cubicBezTo>
                <a:cubicBezTo>
                  <a:pt x="484" y="384"/>
                  <a:pt x="484" y="382"/>
                  <a:pt x="486" y="380"/>
                </a:cubicBezTo>
                <a:cubicBezTo>
                  <a:pt x="487" y="378"/>
                  <a:pt x="489" y="377"/>
                  <a:pt x="492" y="377"/>
                </a:cubicBezTo>
                <a:cubicBezTo>
                  <a:pt x="494" y="377"/>
                  <a:pt x="496" y="378"/>
                  <a:pt x="498" y="380"/>
                </a:cubicBezTo>
                <a:cubicBezTo>
                  <a:pt x="499" y="382"/>
                  <a:pt x="500" y="385"/>
                  <a:pt x="500" y="388"/>
                </a:cubicBezTo>
                <a:close/>
                <a:moveTo>
                  <a:pt x="500" y="436"/>
                </a:moveTo>
                <a:lnTo>
                  <a:pt x="500" y="436"/>
                </a:lnTo>
                <a:cubicBezTo>
                  <a:pt x="500" y="440"/>
                  <a:pt x="499" y="442"/>
                  <a:pt x="498" y="444"/>
                </a:cubicBezTo>
                <a:cubicBezTo>
                  <a:pt x="496" y="446"/>
                  <a:pt x="494" y="447"/>
                  <a:pt x="492" y="447"/>
                </a:cubicBezTo>
                <a:cubicBezTo>
                  <a:pt x="489" y="447"/>
                  <a:pt x="487" y="446"/>
                  <a:pt x="486" y="444"/>
                </a:cubicBezTo>
                <a:cubicBezTo>
                  <a:pt x="484" y="442"/>
                  <a:pt x="484" y="439"/>
                  <a:pt x="484" y="436"/>
                </a:cubicBezTo>
                <a:cubicBezTo>
                  <a:pt x="484" y="432"/>
                  <a:pt x="484" y="429"/>
                  <a:pt x="486" y="427"/>
                </a:cubicBezTo>
                <a:cubicBezTo>
                  <a:pt x="487" y="425"/>
                  <a:pt x="489" y="424"/>
                  <a:pt x="492" y="424"/>
                </a:cubicBezTo>
                <a:cubicBezTo>
                  <a:pt x="494" y="424"/>
                  <a:pt x="496" y="425"/>
                  <a:pt x="498" y="427"/>
                </a:cubicBezTo>
                <a:cubicBezTo>
                  <a:pt x="499" y="429"/>
                  <a:pt x="500" y="432"/>
                  <a:pt x="500" y="436"/>
                </a:cubicBezTo>
                <a:close/>
                <a:moveTo>
                  <a:pt x="515" y="352"/>
                </a:moveTo>
                <a:lnTo>
                  <a:pt x="515" y="352"/>
                </a:lnTo>
                <a:lnTo>
                  <a:pt x="509" y="352"/>
                </a:lnTo>
                <a:lnTo>
                  <a:pt x="509" y="340"/>
                </a:lnTo>
                <a:cubicBezTo>
                  <a:pt x="509" y="339"/>
                  <a:pt x="509" y="338"/>
                  <a:pt x="509" y="337"/>
                </a:cubicBezTo>
                <a:cubicBezTo>
                  <a:pt x="509" y="337"/>
                  <a:pt x="508" y="337"/>
                  <a:pt x="508" y="338"/>
                </a:cubicBezTo>
                <a:lnTo>
                  <a:pt x="505" y="340"/>
                </a:lnTo>
                <a:lnTo>
                  <a:pt x="502" y="336"/>
                </a:lnTo>
                <a:lnTo>
                  <a:pt x="510" y="330"/>
                </a:lnTo>
                <a:lnTo>
                  <a:pt x="515" y="330"/>
                </a:lnTo>
                <a:lnTo>
                  <a:pt x="515" y="352"/>
                </a:lnTo>
                <a:lnTo>
                  <a:pt x="515" y="352"/>
                </a:lnTo>
                <a:close/>
                <a:moveTo>
                  <a:pt x="515" y="399"/>
                </a:moveTo>
                <a:lnTo>
                  <a:pt x="515" y="399"/>
                </a:lnTo>
                <a:lnTo>
                  <a:pt x="509" y="399"/>
                </a:lnTo>
                <a:lnTo>
                  <a:pt x="509" y="388"/>
                </a:lnTo>
                <a:cubicBezTo>
                  <a:pt x="509" y="386"/>
                  <a:pt x="509" y="385"/>
                  <a:pt x="509" y="384"/>
                </a:cubicBezTo>
                <a:cubicBezTo>
                  <a:pt x="509" y="384"/>
                  <a:pt x="508" y="385"/>
                  <a:pt x="508" y="385"/>
                </a:cubicBezTo>
                <a:lnTo>
                  <a:pt x="505" y="387"/>
                </a:lnTo>
                <a:lnTo>
                  <a:pt x="502" y="384"/>
                </a:lnTo>
                <a:lnTo>
                  <a:pt x="510" y="377"/>
                </a:lnTo>
                <a:lnTo>
                  <a:pt x="515" y="377"/>
                </a:lnTo>
                <a:lnTo>
                  <a:pt x="515" y="399"/>
                </a:lnTo>
                <a:lnTo>
                  <a:pt x="515" y="399"/>
                </a:lnTo>
                <a:close/>
                <a:moveTo>
                  <a:pt x="528" y="400"/>
                </a:moveTo>
                <a:lnTo>
                  <a:pt x="528" y="400"/>
                </a:lnTo>
                <a:cubicBezTo>
                  <a:pt x="525" y="400"/>
                  <a:pt x="523" y="399"/>
                  <a:pt x="522" y="397"/>
                </a:cubicBezTo>
                <a:cubicBezTo>
                  <a:pt x="521" y="395"/>
                  <a:pt x="520" y="392"/>
                  <a:pt x="520" y="388"/>
                </a:cubicBezTo>
                <a:cubicBezTo>
                  <a:pt x="520" y="384"/>
                  <a:pt x="521" y="382"/>
                  <a:pt x="522" y="380"/>
                </a:cubicBezTo>
                <a:cubicBezTo>
                  <a:pt x="523" y="378"/>
                  <a:pt x="525" y="377"/>
                  <a:pt x="528" y="377"/>
                </a:cubicBezTo>
                <a:cubicBezTo>
                  <a:pt x="530" y="377"/>
                  <a:pt x="532" y="378"/>
                  <a:pt x="534" y="380"/>
                </a:cubicBezTo>
                <a:cubicBezTo>
                  <a:pt x="535" y="382"/>
                  <a:pt x="536" y="385"/>
                  <a:pt x="536" y="388"/>
                </a:cubicBezTo>
                <a:cubicBezTo>
                  <a:pt x="536" y="392"/>
                  <a:pt x="535" y="395"/>
                  <a:pt x="534" y="397"/>
                </a:cubicBezTo>
                <a:cubicBezTo>
                  <a:pt x="533" y="399"/>
                  <a:pt x="531" y="400"/>
                  <a:pt x="528" y="400"/>
                </a:cubicBezTo>
                <a:close/>
                <a:moveTo>
                  <a:pt x="526" y="383"/>
                </a:moveTo>
                <a:lnTo>
                  <a:pt x="526" y="383"/>
                </a:lnTo>
                <a:cubicBezTo>
                  <a:pt x="526" y="384"/>
                  <a:pt x="526" y="386"/>
                  <a:pt x="526" y="388"/>
                </a:cubicBezTo>
                <a:cubicBezTo>
                  <a:pt x="526" y="391"/>
                  <a:pt x="526" y="393"/>
                  <a:pt x="526" y="394"/>
                </a:cubicBezTo>
                <a:cubicBezTo>
                  <a:pt x="527" y="394"/>
                  <a:pt x="527" y="395"/>
                  <a:pt x="528" y="395"/>
                </a:cubicBezTo>
                <a:cubicBezTo>
                  <a:pt x="529" y="395"/>
                  <a:pt x="529" y="394"/>
                  <a:pt x="529" y="393"/>
                </a:cubicBezTo>
                <a:cubicBezTo>
                  <a:pt x="530" y="393"/>
                  <a:pt x="530" y="391"/>
                  <a:pt x="530" y="388"/>
                </a:cubicBezTo>
                <a:cubicBezTo>
                  <a:pt x="530" y="386"/>
                  <a:pt x="530" y="384"/>
                  <a:pt x="529" y="383"/>
                </a:cubicBezTo>
                <a:cubicBezTo>
                  <a:pt x="529" y="382"/>
                  <a:pt x="529" y="382"/>
                  <a:pt x="528" y="382"/>
                </a:cubicBezTo>
                <a:cubicBezTo>
                  <a:pt x="527" y="382"/>
                  <a:pt x="527" y="382"/>
                  <a:pt x="526" y="383"/>
                </a:cubicBezTo>
                <a:close/>
                <a:moveTo>
                  <a:pt x="493" y="441"/>
                </a:moveTo>
                <a:lnTo>
                  <a:pt x="493" y="441"/>
                </a:lnTo>
                <a:cubicBezTo>
                  <a:pt x="494" y="440"/>
                  <a:pt x="494" y="438"/>
                  <a:pt x="494" y="436"/>
                </a:cubicBezTo>
                <a:cubicBezTo>
                  <a:pt x="494" y="433"/>
                  <a:pt x="494" y="432"/>
                  <a:pt x="493" y="431"/>
                </a:cubicBezTo>
                <a:cubicBezTo>
                  <a:pt x="493" y="430"/>
                  <a:pt x="492" y="429"/>
                  <a:pt x="492" y="429"/>
                </a:cubicBezTo>
                <a:cubicBezTo>
                  <a:pt x="491" y="429"/>
                  <a:pt x="490" y="430"/>
                  <a:pt x="490" y="431"/>
                </a:cubicBezTo>
                <a:cubicBezTo>
                  <a:pt x="490" y="431"/>
                  <a:pt x="490" y="433"/>
                  <a:pt x="490" y="436"/>
                </a:cubicBezTo>
                <a:cubicBezTo>
                  <a:pt x="490" y="438"/>
                  <a:pt x="490" y="440"/>
                  <a:pt x="490" y="441"/>
                </a:cubicBezTo>
                <a:cubicBezTo>
                  <a:pt x="490" y="442"/>
                  <a:pt x="491" y="442"/>
                  <a:pt x="492" y="442"/>
                </a:cubicBezTo>
                <a:cubicBezTo>
                  <a:pt x="492" y="442"/>
                  <a:pt x="493" y="442"/>
                  <a:pt x="493" y="441"/>
                </a:cubicBezTo>
                <a:close/>
                <a:moveTo>
                  <a:pt x="493" y="393"/>
                </a:moveTo>
                <a:lnTo>
                  <a:pt x="493" y="393"/>
                </a:lnTo>
                <a:cubicBezTo>
                  <a:pt x="494" y="393"/>
                  <a:pt x="494" y="391"/>
                  <a:pt x="494" y="388"/>
                </a:cubicBezTo>
                <a:cubicBezTo>
                  <a:pt x="494" y="386"/>
                  <a:pt x="494" y="384"/>
                  <a:pt x="493" y="383"/>
                </a:cubicBezTo>
                <a:cubicBezTo>
                  <a:pt x="493" y="382"/>
                  <a:pt x="492" y="382"/>
                  <a:pt x="492" y="382"/>
                </a:cubicBezTo>
                <a:cubicBezTo>
                  <a:pt x="491" y="382"/>
                  <a:pt x="490" y="382"/>
                  <a:pt x="490" y="383"/>
                </a:cubicBezTo>
                <a:cubicBezTo>
                  <a:pt x="490" y="384"/>
                  <a:pt x="490" y="386"/>
                  <a:pt x="490" y="388"/>
                </a:cubicBezTo>
                <a:cubicBezTo>
                  <a:pt x="490" y="391"/>
                  <a:pt x="490" y="393"/>
                  <a:pt x="490" y="394"/>
                </a:cubicBezTo>
                <a:cubicBezTo>
                  <a:pt x="490" y="394"/>
                  <a:pt x="491" y="395"/>
                  <a:pt x="492" y="395"/>
                </a:cubicBezTo>
                <a:cubicBezTo>
                  <a:pt x="492" y="395"/>
                  <a:pt x="493" y="394"/>
                  <a:pt x="493" y="393"/>
                </a:cubicBezTo>
                <a:close/>
                <a:moveTo>
                  <a:pt x="475" y="393"/>
                </a:moveTo>
                <a:lnTo>
                  <a:pt x="475" y="393"/>
                </a:lnTo>
                <a:cubicBezTo>
                  <a:pt x="476" y="393"/>
                  <a:pt x="476" y="391"/>
                  <a:pt x="476" y="388"/>
                </a:cubicBezTo>
                <a:cubicBezTo>
                  <a:pt x="476" y="386"/>
                  <a:pt x="476" y="384"/>
                  <a:pt x="475" y="383"/>
                </a:cubicBezTo>
                <a:cubicBezTo>
                  <a:pt x="475" y="382"/>
                  <a:pt x="474" y="382"/>
                  <a:pt x="474" y="382"/>
                </a:cubicBezTo>
                <a:cubicBezTo>
                  <a:pt x="473" y="382"/>
                  <a:pt x="472" y="382"/>
                  <a:pt x="472" y="383"/>
                </a:cubicBezTo>
                <a:cubicBezTo>
                  <a:pt x="472" y="384"/>
                  <a:pt x="472" y="386"/>
                  <a:pt x="472" y="388"/>
                </a:cubicBezTo>
                <a:cubicBezTo>
                  <a:pt x="472" y="391"/>
                  <a:pt x="472" y="393"/>
                  <a:pt x="472" y="394"/>
                </a:cubicBezTo>
                <a:cubicBezTo>
                  <a:pt x="472" y="394"/>
                  <a:pt x="473" y="395"/>
                  <a:pt x="474" y="395"/>
                </a:cubicBezTo>
                <a:cubicBezTo>
                  <a:pt x="474" y="395"/>
                  <a:pt x="475" y="394"/>
                  <a:pt x="475" y="393"/>
                </a:cubicBezTo>
                <a:close/>
                <a:moveTo>
                  <a:pt x="475" y="346"/>
                </a:moveTo>
                <a:lnTo>
                  <a:pt x="475" y="346"/>
                </a:lnTo>
                <a:cubicBezTo>
                  <a:pt x="476" y="345"/>
                  <a:pt x="476" y="344"/>
                  <a:pt x="476" y="341"/>
                </a:cubicBezTo>
                <a:cubicBezTo>
                  <a:pt x="476" y="339"/>
                  <a:pt x="476" y="337"/>
                  <a:pt x="475" y="336"/>
                </a:cubicBezTo>
                <a:cubicBezTo>
                  <a:pt x="475" y="335"/>
                  <a:pt x="474" y="335"/>
                  <a:pt x="474" y="335"/>
                </a:cubicBezTo>
                <a:cubicBezTo>
                  <a:pt x="473" y="335"/>
                  <a:pt x="472" y="335"/>
                  <a:pt x="472" y="336"/>
                </a:cubicBezTo>
                <a:cubicBezTo>
                  <a:pt x="472" y="337"/>
                  <a:pt x="472" y="339"/>
                  <a:pt x="472" y="341"/>
                </a:cubicBezTo>
                <a:cubicBezTo>
                  <a:pt x="472" y="344"/>
                  <a:pt x="472" y="345"/>
                  <a:pt x="472" y="346"/>
                </a:cubicBezTo>
                <a:cubicBezTo>
                  <a:pt x="472" y="347"/>
                  <a:pt x="473" y="348"/>
                  <a:pt x="474" y="348"/>
                </a:cubicBezTo>
                <a:cubicBezTo>
                  <a:pt x="474" y="348"/>
                  <a:pt x="475" y="347"/>
                  <a:pt x="475" y="346"/>
                </a:cubicBezTo>
                <a:close/>
                <a:moveTo>
                  <a:pt x="457" y="346"/>
                </a:moveTo>
                <a:lnTo>
                  <a:pt x="457" y="346"/>
                </a:lnTo>
                <a:cubicBezTo>
                  <a:pt x="457" y="345"/>
                  <a:pt x="458" y="344"/>
                  <a:pt x="458" y="341"/>
                </a:cubicBezTo>
                <a:cubicBezTo>
                  <a:pt x="458" y="339"/>
                  <a:pt x="457" y="337"/>
                  <a:pt x="457" y="336"/>
                </a:cubicBezTo>
                <a:cubicBezTo>
                  <a:pt x="457" y="335"/>
                  <a:pt x="456" y="335"/>
                  <a:pt x="456" y="335"/>
                </a:cubicBezTo>
                <a:cubicBezTo>
                  <a:pt x="455" y="335"/>
                  <a:pt x="454" y="335"/>
                  <a:pt x="454" y="336"/>
                </a:cubicBezTo>
                <a:cubicBezTo>
                  <a:pt x="454" y="337"/>
                  <a:pt x="454" y="339"/>
                  <a:pt x="454" y="341"/>
                </a:cubicBezTo>
                <a:cubicBezTo>
                  <a:pt x="454" y="344"/>
                  <a:pt x="454" y="345"/>
                  <a:pt x="454" y="346"/>
                </a:cubicBezTo>
                <a:cubicBezTo>
                  <a:pt x="454" y="347"/>
                  <a:pt x="455" y="348"/>
                  <a:pt x="456" y="348"/>
                </a:cubicBezTo>
                <a:cubicBezTo>
                  <a:pt x="456" y="348"/>
                  <a:pt x="457" y="347"/>
                  <a:pt x="457" y="346"/>
                </a:cubicBezTo>
                <a:close/>
                <a:moveTo>
                  <a:pt x="439" y="393"/>
                </a:moveTo>
                <a:lnTo>
                  <a:pt x="439" y="393"/>
                </a:lnTo>
                <a:cubicBezTo>
                  <a:pt x="439" y="393"/>
                  <a:pt x="440" y="391"/>
                  <a:pt x="440" y="388"/>
                </a:cubicBezTo>
                <a:cubicBezTo>
                  <a:pt x="440" y="386"/>
                  <a:pt x="439" y="384"/>
                  <a:pt x="439" y="383"/>
                </a:cubicBezTo>
                <a:cubicBezTo>
                  <a:pt x="439" y="382"/>
                  <a:pt x="438" y="382"/>
                  <a:pt x="438" y="382"/>
                </a:cubicBezTo>
                <a:cubicBezTo>
                  <a:pt x="437" y="382"/>
                  <a:pt x="436" y="382"/>
                  <a:pt x="436" y="383"/>
                </a:cubicBezTo>
                <a:cubicBezTo>
                  <a:pt x="436" y="384"/>
                  <a:pt x="436" y="386"/>
                  <a:pt x="436" y="388"/>
                </a:cubicBezTo>
                <a:cubicBezTo>
                  <a:pt x="436" y="391"/>
                  <a:pt x="436" y="393"/>
                  <a:pt x="436" y="394"/>
                </a:cubicBezTo>
                <a:cubicBezTo>
                  <a:pt x="436" y="394"/>
                  <a:pt x="437" y="395"/>
                  <a:pt x="438" y="395"/>
                </a:cubicBezTo>
                <a:cubicBezTo>
                  <a:pt x="438" y="395"/>
                  <a:pt x="439" y="394"/>
                  <a:pt x="439" y="393"/>
                </a:cubicBezTo>
                <a:close/>
                <a:moveTo>
                  <a:pt x="421" y="441"/>
                </a:moveTo>
                <a:lnTo>
                  <a:pt x="421" y="441"/>
                </a:lnTo>
                <a:cubicBezTo>
                  <a:pt x="421" y="440"/>
                  <a:pt x="421" y="438"/>
                  <a:pt x="422" y="436"/>
                </a:cubicBezTo>
                <a:cubicBezTo>
                  <a:pt x="422" y="433"/>
                  <a:pt x="421" y="432"/>
                  <a:pt x="421" y="431"/>
                </a:cubicBezTo>
                <a:cubicBezTo>
                  <a:pt x="421" y="430"/>
                  <a:pt x="420" y="429"/>
                  <a:pt x="419" y="429"/>
                </a:cubicBezTo>
                <a:cubicBezTo>
                  <a:pt x="419" y="429"/>
                  <a:pt x="418" y="430"/>
                  <a:pt x="418" y="431"/>
                </a:cubicBezTo>
                <a:cubicBezTo>
                  <a:pt x="418" y="431"/>
                  <a:pt x="417" y="433"/>
                  <a:pt x="417" y="436"/>
                </a:cubicBezTo>
                <a:cubicBezTo>
                  <a:pt x="417" y="438"/>
                  <a:pt x="418" y="440"/>
                  <a:pt x="418" y="441"/>
                </a:cubicBezTo>
                <a:cubicBezTo>
                  <a:pt x="418" y="442"/>
                  <a:pt x="419" y="442"/>
                  <a:pt x="419" y="442"/>
                </a:cubicBezTo>
                <a:cubicBezTo>
                  <a:pt x="420" y="442"/>
                  <a:pt x="421" y="442"/>
                  <a:pt x="421" y="441"/>
                </a:cubicBezTo>
                <a:close/>
                <a:moveTo>
                  <a:pt x="421" y="346"/>
                </a:moveTo>
                <a:lnTo>
                  <a:pt x="421" y="346"/>
                </a:lnTo>
                <a:cubicBezTo>
                  <a:pt x="421" y="345"/>
                  <a:pt x="421" y="344"/>
                  <a:pt x="422" y="341"/>
                </a:cubicBezTo>
                <a:cubicBezTo>
                  <a:pt x="422" y="339"/>
                  <a:pt x="421" y="337"/>
                  <a:pt x="421" y="336"/>
                </a:cubicBezTo>
                <a:cubicBezTo>
                  <a:pt x="421" y="335"/>
                  <a:pt x="420" y="335"/>
                  <a:pt x="419" y="335"/>
                </a:cubicBezTo>
                <a:cubicBezTo>
                  <a:pt x="419" y="335"/>
                  <a:pt x="418" y="335"/>
                  <a:pt x="418" y="336"/>
                </a:cubicBezTo>
                <a:cubicBezTo>
                  <a:pt x="418" y="337"/>
                  <a:pt x="417" y="339"/>
                  <a:pt x="417" y="341"/>
                </a:cubicBezTo>
                <a:cubicBezTo>
                  <a:pt x="417" y="344"/>
                  <a:pt x="418" y="345"/>
                  <a:pt x="418" y="346"/>
                </a:cubicBezTo>
                <a:cubicBezTo>
                  <a:pt x="418" y="347"/>
                  <a:pt x="419" y="348"/>
                  <a:pt x="419" y="348"/>
                </a:cubicBezTo>
                <a:cubicBezTo>
                  <a:pt x="420" y="348"/>
                  <a:pt x="421" y="347"/>
                  <a:pt x="421" y="346"/>
                </a:cubicBezTo>
                <a:close/>
                <a:moveTo>
                  <a:pt x="403" y="393"/>
                </a:moveTo>
                <a:lnTo>
                  <a:pt x="403" y="393"/>
                </a:lnTo>
                <a:cubicBezTo>
                  <a:pt x="403" y="393"/>
                  <a:pt x="403" y="391"/>
                  <a:pt x="403" y="388"/>
                </a:cubicBezTo>
                <a:cubicBezTo>
                  <a:pt x="403" y="386"/>
                  <a:pt x="403" y="384"/>
                  <a:pt x="403" y="383"/>
                </a:cubicBezTo>
                <a:cubicBezTo>
                  <a:pt x="403" y="382"/>
                  <a:pt x="402" y="382"/>
                  <a:pt x="401" y="382"/>
                </a:cubicBezTo>
                <a:cubicBezTo>
                  <a:pt x="401" y="382"/>
                  <a:pt x="400" y="382"/>
                  <a:pt x="400" y="383"/>
                </a:cubicBezTo>
                <a:cubicBezTo>
                  <a:pt x="400" y="384"/>
                  <a:pt x="399" y="386"/>
                  <a:pt x="399" y="388"/>
                </a:cubicBezTo>
                <a:cubicBezTo>
                  <a:pt x="399" y="391"/>
                  <a:pt x="400" y="393"/>
                  <a:pt x="400" y="394"/>
                </a:cubicBezTo>
                <a:cubicBezTo>
                  <a:pt x="400" y="394"/>
                  <a:pt x="401" y="395"/>
                  <a:pt x="401" y="395"/>
                </a:cubicBezTo>
                <a:cubicBezTo>
                  <a:pt x="402" y="395"/>
                  <a:pt x="403" y="394"/>
                  <a:pt x="403" y="393"/>
                </a:cubicBezTo>
                <a:close/>
                <a:moveTo>
                  <a:pt x="457" y="274"/>
                </a:moveTo>
                <a:lnTo>
                  <a:pt x="457" y="274"/>
                </a:lnTo>
                <a:cubicBezTo>
                  <a:pt x="463" y="274"/>
                  <a:pt x="468" y="275"/>
                  <a:pt x="473" y="276"/>
                </a:cubicBezTo>
                <a:lnTo>
                  <a:pt x="473" y="192"/>
                </a:lnTo>
                <a:lnTo>
                  <a:pt x="150" y="192"/>
                </a:lnTo>
                <a:lnTo>
                  <a:pt x="150" y="388"/>
                </a:lnTo>
                <a:lnTo>
                  <a:pt x="348" y="388"/>
                </a:lnTo>
                <a:cubicBezTo>
                  <a:pt x="348" y="387"/>
                  <a:pt x="348" y="385"/>
                  <a:pt x="348" y="384"/>
                </a:cubicBezTo>
                <a:cubicBezTo>
                  <a:pt x="348" y="323"/>
                  <a:pt x="397" y="274"/>
                  <a:pt x="457" y="274"/>
                </a:cubicBezTo>
                <a:close/>
                <a:moveTo>
                  <a:pt x="352" y="414"/>
                </a:moveTo>
                <a:lnTo>
                  <a:pt x="352" y="414"/>
                </a:lnTo>
                <a:lnTo>
                  <a:pt x="324" y="414"/>
                </a:lnTo>
                <a:lnTo>
                  <a:pt x="324" y="438"/>
                </a:lnTo>
                <a:lnTo>
                  <a:pt x="363" y="438"/>
                </a:lnTo>
                <a:cubicBezTo>
                  <a:pt x="358" y="431"/>
                  <a:pt x="355" y="423"/>
                  <a:pt x="352" y="414"/>
                </a:cubicBezTo>
                <a:close/>
                <a:moveTo>
                  <a:pt x="400" y="431"/>
                </a:moveTo>
                <a:lnTo>
                  <a:pt x="400" y="431"/>
                </a:lnTo>
                <a:cubicBezTo>
                  <a:pt x="400" y="431"/>
                  <a:pt x="399" y="433"/>
                  <a:pt x="399" y="436"/>
                </a:cubicBezTo>
                <a:cubicBezTo>
                  <a:pt x="399" y="438"/>
                  <a:pt x="400" y="440"/>
                  <a:pt x="400" y="441"/>
                </a:cubicBezTo>
                <a:cubicBezTo>
                  <a:pt x="400" y="441"/>
                  <a:pt x="400" y="441"/>
                  <a:pt x="400" y="441"/>
                </a:cubicBezTo>
                <a:cubicBezTo>
                  <a:pt x="400" y="442"/>
                  <a:pt x="401" y="442"/>
                  <a:pt x="401" y="442"/>
                </a:cubicBezTo>
                <a:cubicBezTo>
                  <a:pt x="401" y="442"/>
                  <a:pt x="401" y="442"/>
                  <a:pt x="401" y="442"/>
                </a:cubicBezTo>
                <a:cubicBezTo>
                  <a:pt x="402" y="442"/>
                  <a:pt x="403" y="442"/>
                  <a:pt x="403" y="441"/>
                </a:cubicBezTo>
                <a:cubicBezTo>
                  <a:pt x="403" y="440"/>
                  <a:pt x="403" y="438"/>
                  <a:pt x="403" y="436"/>
                </a:cubicBezTo>
                <a:cubicBezTo>
                  <a:pt x="403" y="433"/>
                  <a:pt x="403" y="432"/>
                  <a:pt x="403" y="431"/>
                </a:cubicBezTo>
                <a:cubicBezTo>
                  <a:pt x="403" y="430"/>
                  <a:pt x="402" y="429"/>
                  <a:pt x="401" y="429"/>
                </a:cubicBezTo>
                <a:cubicBezTo>
                  <a:pt x="401" y="429"/>
                  <a:pt x="400" y="430"/>
                  <a:pt x="400" y="431"/>
                </a:cubicBezTo>
                <a:close/>
              </a:path>
            </a:pathLst>
          </a:custGeom>
          <a:solidFill>
            <a:srgbClr val="0A626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36">
            <a:extLst>
              <a:ext uri="{FF2B5EF4-FFF2-40B4-BE49-F238E27FC236}">
                <a16:creationId xmlns:a16="http://schemas.microsoft.com/office/drawing/2014/main" id="{6BD3015D-21D5-4766-97E1-B32891646717}"/>
              </a:ext>
            </a:extLst>
          </p:cNvPr>
          <p:cNvSpPr>
            <a:spLocks noChangeAspect="1" noEditPoints="1"/>
          </p:cNvSpPr>
          <p:nvPr/>
        </p:nvSpPr>
        <p:spPr bwMode="auto">
          <a:xfrm>
            <a:off x="478155" y="3974920"/>
            <a:ext cx="438912" cy="438912"/>
          </a:xfrm>
          <a:custGeom>
            <a:avLst/>
            <a:gdLst>
              <a:gd name="T0" fmla="*/ 324 w 512"/>
              <a:gd name="T1" fmla="*/ 194 h 512"/>
              <a:gd name="T2" fmla="*/ 330 w 512"/>
              <a:gd name="T3" fmla="*/ 167 h 512"/>
              <a:gd name="T4" fmla="*/ 400 w 512"/>
              <a:gd name="T5" fmla="*/ 182 h 512"/>
              <a:gd name="T6" fmla="*/ 386 w 512"/>
              <a:gd name="T7" fmla="*/ 223 h 512"/>
              <a:gd name="T8" fmla="*/ 351 w 512"/>
              <a:gd name="T9" fmla="*/ 247 h 512"/>
              <a:gd name="T10" fmla="*/ 312 w 512"/>
              <a:gd name="T11" fmla="*/ 243 h 512"/>
              <a:gd name="T12" fmla="*/ 278 w 512"/>
              <a:gd name="T13" fmla="*/ 222 h 512"/>
              <a:gd name="T14" fmla="*/ 264 w 512"/>
              <a:gd name="T15" fmla="*/ 183 h 512"/>
              <a:gd name="T16" fmla="*/ 275 w 512"/>
              <a:gd name="T17" fmla="*/ 144 h 512"/>
              <a:gd name="T18" fmla="*/ 308 w 512"/>
              <a:gd name="T19" fmla="*/ 119 h 512"/>
              <a:gd name="T20" fmla="*/ 331 w 512"/>
              <a:gd name="T21" fmla="*/ 128 h 512"/>
              <a:gd name="T22" fmla="*/ 364 w 512"/>
              <a:gd name="T23" fmla="*/ 136 h 512"/>
              <a:gd name="T24" fmla="*/ 384 w 512"/>
              <a:gd name="T25" fmla="*/ 164 h 512"/>
              <a:gd name="T26" fmla="*/ 320 w 512"/>
              <a:gd name="T27" fmla="*/ 147 h 512"/>
              <a:gd name="T28" fmla="*/ 330 w 512"/>
              <a:gd name="T29" fmla="*/ 217 h 512"/>
              <a:gd name="T30" fmla="*/ 512 w 512"/>
              <a:gd name="T31" fmla="*/ 256 h 512"/>
              <a:gd name="T32" fmla="*/ 512 w 512"/>
              <a:gd name="T33" fmla="*/ 256 h 512"/>
              <a:gd name="T34" fmla="*/ 268 w 512"/>
              <a:gd name="T35" fmla="*/ 290 h 512"/>
              <a:gd name="T36" fmla="*/ 236 w 512"/>
              <a:gd name="T37" fmla="*/ 251 h 512"/>
              <a:gd name="T38" fmla="*/ 187 w 512"/>
              <a:gd name="T39" fmla="*/ 238 h 512"/>
              <a:gd name="T40" fmla="*/ 140 w 512"/>
              <a:gd name="T41" fmla="*/ 256 h 512"/>
              <a:gd name="T42" fmla="*/ 113 w 512"/>
              <a:gd name="T43" fmla="*/ 299 h 512"/>
              <a:gd name="T44" fmla="*/ 115 w 512"/>
              <a:gd name="T45" fmla="*/ 350 h 512"/>
              <a:gd name="T46" fmla="*/ 147 w 512"/>
              <a:gd name="T47" fmla="*/ 388 h 512"/>
              <a:gd name="T48" fmla="*/ 196 w 512"/>
              <a:gd name="T49" fmla="*/ 401 h 512"/>
              <a:gd name="T50" fmla="*/ 237 w 512"/>
              <a:gd name="T51" fmla="*/ 383 h 512"/>
              <a:gd name="T52" fmla="*/ 266 w 512"/>
              <a:gd name="T53" fmla="*/ 345 h 512"/>
              <a:gd name="T54" fmla="*/ 410 w 512"/>
              <a:gd name="T55" fmla="*/ 163 h 512"/>
              <a:gd name="T56" fmla="*/ 384 w 512"/>
              <a:gd name="T57" fmla="*/ 119 h 512"/>
              <a:gd name="T58" fmla="*/ 337 w 512"/>
              <a:gd name="T59" fmla="*/ 99 h 512"/>
              <a:gd name="T60" fmla="*/ 288 w 512"/>
              <a:gd name="T61" fmla="*/ 111 h 512"/>
              <a:gd name="T62" fmla="*/ 255 w 512"/>
              <a:gd name="T63" fmla="*/ 149 h 512"/>
              <a:gd name="T64" fmla="*/ 251 w 512"/>
              <a:gd name="T65" fmla="*/ 199 h 512"/>
              <a:gd name="T66" fmla="*/ 277 w 512"/>
              <a:gd name="T67" fmla="*/ 243 h 512"/>
              <a:gd name="T68" fmla="*/ 323 w 512"/>
              <a:gd name="T69" fmla="*/ 263 h 512"/>
              <a:gd name="T70" fmla="*/ 358 w 512"/>
              <a:gd name="T71" fmla="*/ 270 h 512"/>
              <a:gd name="T72" fmla="*/ 405 w 512"/>
              <a:gd name="T73" fmla="*/ 237 h 512"/>
              <a:gd name="T74" fmla="*/ 423 w 512"/>
              <a:gd name="T75" fmla="*/ 182 h 512"/>
              <a:gd name="T76" fmla="*/ 179 w 512"/>
              <a:gd name="T77" fmla="*/ 313 h 512"/>
              <a:gd name="T78" fmla="*/ 204 w 512"/>
              <a:gd name="T79" fmla="*/ 326 h 512"/>
              <a:gd name="T80" fmla="*/ 262 w 512"/>
              <a:gd name="T81" fmla="*/ 321 h 512"/>
              <a:gd name="T82" fmla="*/ 248 w 512"/>
              <a:gd name="T83" fmla="*/ 361 h 512"/>
              <a:gd name="T84" fmla="*/ 212 w 512"/>
              <a:gd name="T85" fmla="*/ 386 h 512"/>
              <a:gd name="T86" fmla="*/ 173 w 512"/>
              <a:gd name="T87" fmla="*/ 382 h 512"/>
              <a:gd name="T88" fmla="*/ 139 w 512"/>
              <a:gd name="T89" fmla="*/ 360 h 512"/>
              <a:gd name="T90" fmla="*/ 125 w 512"/>
              <a:gd name="T91" fmla="*/ 321 h 512"/>
              <a:gd name="T92" fmla="*/ 137 w 512"/>
              <a:gd name="T93" fmla="*/ 282 h 512"/>
              <a:gd name="T94" fmla="*/ 169 w 512"/>
              <a:gd name="T95" fmla="*/ 258 h 512"/>
              <a:gd name="T96" fmla="*/ 193 w 512"/>
              <a:gd name="T97" fmla="*/ 266 h 512"/>
              <a:gd name="T98" fmla="*/ 226 w 512"/>
              <a:gd name="T99" fmla="*/ 274 h 512"/>
              <a:gd name="T100" fmla="*/ 246 w 512"/>
              <a:gd name="T101" fmla="*/ 303 h 512"/>
              <a:gd name="T102" fmla="*/ 181 w 512"/>
              <a:gd name="T103" fmla="*/ 286 h 512"/>
              <a:gd name="T104" fmla="*/ 192 w 512"/>
              <a:gd name="T105" fmla="*/ 35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344" y="177"/>
                </a:moveTo>
                <a:cubicBezTo>
                  <a:pt x="345" y="180"/>
                  <a:pt x="345" y="184"/>
                  <a:pt x="343" y="188"/>
                </a:cubicBezTo>
                <a:cubicBezTo>
                  <a:pt x="341" y="191"/>
                  <a:pt x="338" y="193"/>
                  <a:pt x="335" y="195"/>
                </a:cubicBezTo>
                <a:cubicBezTo>
                  <a:pt x="331" y="196"/>
                  <a:pt x="327" y="195"/>
                  <a:pt x="324" y="194"/>
                </a:cubicBezTo>
                <a:cubicBezTo>
                  <a:pt x="320" y="192"/>
                  <a:pt x="318" y="189"/>
                  <a:pt x="317" y="185"/>
                </a:cubicBezTo>
                <a:cubicBezTo>
                  <a:pt x="316" y="182"/>
                  <a:pt x="316" y="178"/>
                  <a:pt x="318" y="174"/>
                </a:cubicBezTo>
                <a:cubicBezTo>
                  <a:pt x="320" y="171"/>
                  <a:pt x="322" y="169"/>
                  <a:pt x="326" y="167"/>
                </a:cubicBezTo>
                <a:cubicBezTo>
                  <a:pt x="328" y="167"/>
                  <a:pt x="329" y="167"/>
                  <a:pt x="330" y="167"/>
                </a:cubicBezTo>
                <a:cubicBezTo>
                  <a:pt x="333" y="167"/>
                  <a:pt x="335" y="167"/>
                  <a:pt x="337" y="168"/>
                </a:cubicBezTo>
                <a:cubicBezTo>
                  <a:pt x="340" y="170"/>
                  <a:pt x="343" y="173"/>
                  <a:pt x="344" y="177"/>
                </a:cubicBezTo>
                <a:close/>
                <a:moveTo>
                  <a:pt x="397" y="179"/>
                </a:moveTo>
                <a:cubicBezTo>
                  <a:pt x="398" y="180"/>
                  <a:pt x="399" y="181"/>
                  <a:pt x="400" y="182"/>
                </a:cubicBezTo>
                <a:cubicBezTo>
                  <a:pt x="399" y="183"/>
                  <a:pt x="398" y="184"/>
                  <a:pt x="397" y="185"/>
                </a:cubicBezTo>
                <a:cubicBezTo>
                  <a:pt x="392" y="189"/>
                  <a:pt x="386" y="193"/>
                  <a:pt x="384" y="199"/>
                </a:cubicBezTo>
                <a:cubicBezTo>
                  <a:pt x="382" y="206"/>
                  <a:pt x="384" y="212"/>
                  <a:pt x="385" y="218"/>
                </a:cubicBezTo>
                <a:cubicBezTo>
                  <a:pt x="386" y="220"/>
                  <a:pt x="386" y="221"/>
                  <a:pt x="386" y="223"/>
                </a:cubicBezTo>
                <a:cubicBezTo>
                  <a:pt x="385" y="223"/>
                  <a:pt x="383" y="223"/>
                  <a:pt x="382" y="223"/>
                </a:cubicBezTo>
                <a:cubicBezTo>
                  <a:pt x="376" y="223"/>
                  <a:pt x="369" y="223"/>
                  <a:pt x="363" y="227"/>
                </a:cubicBezTo>
                <a:cubicBezTo>
                  <a:pt x="357" y="231"/>
                  <a:pt x="355" y="237"/>
                  <a:pt x="353" y="243"/>
                </a:cubicBezTo>
                <a:cubicBezTo>
                  <a:pt x="352" y="244"/>
                  <a:pt x="352" y="246"/>
                  <a:pt x="351" y="247"/>
                </a:cubicBezTo>
                <a:cubicBezTo>
                  <a:pt x="350" y="246"/>
                  <a:pt x="348" y="244"/>
                  <a:pt x="347" y="244"/>
                </a:cubicBezTo>
                <a:cubicBezTo>
                  <a:pt x="342" y="240"/>
                  <a:pt x="336" y="234"/>
                  <a:pt x="330" y="234"/>
                </a:cubicBezTo>
                <a:cubicBezTo>
                  <a:pt x="329" y="234"/>
                  <a:pt x="329" y="234"/>
                  <a:pt x="329" y="234"/>
                </a:cubicBezTo>
                <a:cubicBezTo>
                  <a:pt x="322" y="234"/>
                  <a:pt x="317" y="240"/>
                  <a:pt x="312" y="243"/>
                </a:cubicBezTo>
                <a:cubicBezTo>
                  <a:pt x="311" y="244"/>
                  <a:pt x="309" y="246"/>
                  <a:pt x="308" y="247"/>
                </a:cubicBezTo>
                <a:cubicBezTo>
                  <a:pt x="307" y="246"/>
                  <a:pt x="307" y="244"/>
                  <a:pt x="306" y="243"/>
                </a:cubicBezTo>
                <a:cubicBezTo>
                  <a:pt x="304" y="237"/>
                  <a:pt x="302" y="230"/>
                  <a:pt x="296" y="226"/>
                </a:cubicBezTo>
                <a:cubicBezTo>
                  <a:pt x="291" y="222"/>
                  <a:pt x="284" y="222"/>
                  <a:pt x="278" y="222"/>
                </a:cubicBezTo>
                <a:cubicBezTo>
                  <a:pt x="277" y="222"/>
                  <a:pt x="275" y="222"/>
                  <a:pt x="273" y="221"/>
                </a:cubicBezTo>
                <a:cubicBezTo>
                  <a:pt x="274" y="220"/>
                  <a:pt x="274" y="218"/>
                  <a:pt x="274" y="217"/>
                </a:cubicBezTo>
                <a:cubicBezTo>
                  <a:pt x="276" y="211"/>
                  <a:pt x="278" y="204"/>
                  <a:pt x="276" y="198"/>
                </a:cubicBezTo>
                <a:cubicBezTo>
                  <a:pt x="274" y="191"/>
                  <a:pt x="269" y="187"/>
                  <a:pt x="264" y="183"/>
                </a:cubicBezTo>
                <a:cubicBezTo>
                  <a:pt x="263" y="182"/>
                  <a:pt x="261" y="181"/>
                  <a:pt x="260" y="180"/>
                </a:cubicBezTo>
                <a:cubicBezTo>
                  <a:pt x="262" y="179"/>
                  <a:pt x="263" y="178"/>
                  <a:pt x="264" y="177"/>
                </a:cubicBezTo>
                <a:cubicBezTo>
                  <a:pt x="269" y="173"/>
                  <a:pt x="275" y="169"/>
                  <a:pt x="277" y="163"/>
                </a:cubicBezTo>
                <a:cubicBezTo>
                  <a:pt x="279" y="156"/>
                  <a:pt x="277" y="150"/>
                  <a:pt x="275" y="144"/>
                </a:cubicBezTo>
                <a:cubicBezTo>
                  <a:pt x="275" y="142"/>
                  <a:pt x="275" y="141"/>
                  <a:pt x="274" y="139"/>
                </a:cubicBezTo>
                <a:cubicBezTo>
                  <a:pt x="276" y="139"/>
                  <a:pt x="278" y="139"/>
                  <a:pt x="279" y="139"/>
                </a:cubicBezTo>
                <a:cubicBezTo>
                  <a:pt x="285" y="139"/>
                  <a:pt x="292" y="139"/>
                  <a:pt x="298" y="135"/>
                </a:cubicBezTo>
                <a:cubicBezTo>
                  <a:pt x="303" y="131"/>
                  <a:pt x="306" y="125"/>
                  <a:pt x="308" y="119"/>
                </a:cubicBezTo>
                <a:cubicBezTo>
                  <a:pt x="308" y="118"/>
                  <a:pt x="309" y="116"/>
                  <a:pt x="310" y="115"/>
                </a:cubicBezTo>
                <a:cubicBezTo>
                  <a:pt x="311" y="116"/>
                  <a:pt x="313" y="118"/>
                  <a:pt x="314" y="118"/>
                </a:cubicBezTo>
                <a:cubicBezTo>
                  <a:pt x="319" y="122"/>
                  <a:pt x="324" y="128"/>
                  <a:pt x="331" y="128"/>
                </a:cubicBezTo>
                <a:cubicBezTo>
                  <a:pt x="331" y="128"/>
                  <a:pt x="331" y="128"/>
                  <a:pt x="331" y="128"/>
                </a:cubicBezTo>
                <a:cubicBezTo>
                  <a:pt x="338" y="128"/>
                  <a:pt x="344" y="122"/>
                  <a:pt x="349" y="119"/>
                </a:cubicBezTo>
                <a:cubicBezTo>
                  <a:pt x="350" y="118"/>
                  <a:pt x="352" y="116"/>
                  <a:pt x="353" y="115"/>
                </a:cubicBezTo>
                <a:cubicBezTo>
                  <a:pt x="353" y="116"/>
                  <a:pt x="354" y="118"/>
                  <a:pt x="354" y="119"/>
                </a:cubicBezTo>
                <a:cubicBezTo>
                  <a:pt x="356" y="125"/>
                  <a:pt x="359" y="132"/>
                  <a:pt x="364" y="136"/>
                </a:cubicBezTo>
                <a:cubicBezTo>
                  <a:pt x="370" y="140"/>
                  <a:pt x="377" y="140"/>
                  <a:pt x="383" y="140"/>
                </a:cubicBezTo>
                <a:cubicBezTo>
                  <a:pt x="384" y="140"/>
                  <a:pt x="386" y="140"/>
                  <a:pt x="387" y="141"/>
                </a:cubicBezTo>
                <a:cubicBezTo>
                  <a:pt x="387" y="142"/>
                  <a:pt x="387" y="144"/>
                  <a:pt x="386" y="145"/>
                </a:cubicBezTo>
                <a:cubicBezTo>
                  <a:pt x="384" y="151"/>
                  <a:pt x="382" y="158"/>
                  <a:pt x="384" y="164"/>
                </a:cubicBezTo>
                <a:cubicBezTo>
                  <a:pt x="386" y="171"/>
                  <a:pt x="392" y="175"/>
                  <a:pt x="397" y="179"/>
                </a:cubicBezTo>
                <a:close/>
                <a:moveTo>
                  <a:pt x="364" y="170"/>
                </a:moveTo>
                <a:cubicBezTo>
                  <a:pt x="361" y="161"/>
                  <a:pt x="355" y="154"/>
                  <a:pt x="347" y="150"/>
                </a:cubicBezTo>
                <a:cubicBezTo>
                  <a:pt x="338" y="145"/>
                  <a:pt x="329" y="144"/>
                  <a:pt x="320" y="147"/>
                </a:cubicBezTo>
                <a:cubicBezTo>
                  <a:pt x="311" y="150"/>
                  <a:pt x="303" y="156"/>
                  <a:pt x="299" y="164"/>
                </a:cubicBezTo>
                <a:cubicBezTo>
                  <a:pt x="294" y="173"/>
                  <a:pt x="294" y="182"/>
                  <a:pt x="296" y="192"/>
                </a:cubicBezTo>
                <a:cubicBezTo>
                  <a:pt x="299" y="201"/>
                  <a:pt x="305" y="208"/>
                  <a:pt x="314" y="212"/>
                </a:cubicBezTo>
                <a:cubicBezTo>
                  <a:pt x="319" y="215"/>
                  <a:pt x="325" y="217"/>
                  <a:pt x="330" y="217"/>
                </a:cubicBezTo>
                <a:cubicBezTo>
                  <a:pt x="334" y="217"/>
                  <a:pt x="337" y="216"/>
                  <a:pt x="341" y="215"/>
                </a:cubicBezTo>
                <a:cubicBezTo>
                  <a:pt x="350" y="212"/>
                  <a:pt x="357" y="206"/>
                  <a:pt x="362" y="198"/>
                </a:cubicBezTo>
                <a:cubicBezTo>
                  <a:pt x="366" y="189"/>
                  <a:pt x="367" y="180"/>
                  <a:pt x="364" y="17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84" y="321"/>
                </a:moveTo>
                <a:cubicBezTo>
                  <a:pt x="285" y="312"/>
                  <a:pt x="277" y="306"/>
                  <a:pt x="271" y="301"/>
                </a:cubicBezTo>
                <a:cubicBezTo>
                  <a:pt x="270" y="300"/>
                  <a:pt x="267" y="298"/>
                  <a:pt x="266" y="297"/>
                </a:cubicBezTo>
                <a:cubicBezTo>
                  <a:pt x="266" y="295"/>
                  <a:pt x="267" y="292"/>
                  <a:pt x="268" y="290"/>
                </a:cubicBezTo>
                <a:cubicBezTo>
                  <a:pt x="270" y="283"/>
                  <a:pt x="273" y="274"/>
                  <a:pt x="267" y="266"/>
                </a:cubicBezTo>
                <a:cubicBezTo>
                  <a:pt x="262" y="258"/>
                  <a:pt x="252" y="258"/>
                  <a:pt x="245" y="258"/>
                </a:cubicBezTo>
                <a:cubicBezTo>
                  <a:pt x="243" y="258"/>
                  <a:pt x="240" y="257"/>
                  <a:pt x="238" y="257"/>
                </a:cubicBezTo>
                <a:cubicBezTo>
                  <a:pt x="238" y="256"/>
                  <a:pt x="237" y="253"/>
                  <a:pt x="236" y="251"/>
                </a:cubicBezTo>
                <a:cubicBezTo>
                  <a:pt x="234" y="244"/>
                  <a:pt x="231" y="235"/>
                  <a:pt x="222" y="232"/>
                </a:cubicBezTo>
                <a:cubicBezTo>
                  <a:pt x="213" y="229"/>
                  <a:pt x="204" y="234"/>
                  <a:pt x="199" y="238"/>
                </a:cubicBezTo>
                <a:cubicBezTo>
                  <a:pt x="197" y="239"/>
                  <a:pt x="194" y="241"/>
                  <a:pt x="193" y="242"/>
                </a:cubicBezTo>
                <a:cubicBezTo>
                  <a:pt x="191" y="241"/>
                  <a:pt x="189" y="239"/>
                  <a:pt x="187" y="238"/>
                </a:cubicBezTo>
                <a:cubicBezTo>
                  <a:pt x="182" y="234"/>
                  <a:pt x="173" y="228"/>
                  <a:pt x="164" y="231"/>
                </a:cubicBezTo>
                <a:cubicBezTo>
                  <a:pt x="155" y="234"/>
                  <a:pt x="152" y="243"/>
                  <a:pt x="149" y="250"/>
                </a:cubicBezTo>
                <a:cubicBezTo>
                  <a:pt x="148" y="252"/>
                  <a:pt x="147" y="255"/>
                  <a:pt x="147" y="256"/>
                </a:cubicBezTo>
                <a:cubicBezTo>
                  <a:pt x="145" y="256"/>
                  <a:pt x="142" y="256"/>
                  <a:pt x="140" y="256"/>
                </a:cubicBezTo>
                <a:cubicBezTo>
                  <a:pt x="133" y="256"/>
                  <a:pt x="123" y="257"/>
                  <a:pt x="117" y="264"/>
                </a:cubicBezTo>
                <a:cubicBezTo>
                  <a:pt x="112" y="272"/>
                  <a:pt x="114" y="281"/>
                  <a:pt x="116" y="288"/>
                </a:cubicBezTo>
                <a:cubicBezTo>
                  <a:pt x="117" y="290"/>
                  <a:pt x="118" y="293"/>
                  <a:pt x="118" y="295"/>
                </a:cubicBezTo>
                <a:cubicBezTo>
                  <a:pt x="117" y="296"/>
                  <a:pt x="114" y="298"/>
                  <a:pt x="113" y="299"/>
                </a:cubicBezTo>
                <a:cubicBezTo>
                  <a:pt x="107" y="303"/>
                  <a:pt x="99" y="309"/>
                  <a:pt x="99" y="318"/>
                </a:cubicBezTo>
                <a:cubicBezTo>
                  <a:pt x="99" y="328"/>
                  <a:pt x="106" y="334"/>
                  <a:pt x="112" y="338"/>
                </a:cubicBezTo>
                <a:cubicBezTo>
                  <a:pt x="114" y="340"/>
                  <a:pt x="117" y="342"/>
                  <a:pt x="117" y="342"/>
                </a:cubicBezTo>
                <a:cubicBezTo>
                  <a:pt x="117" y="344"/>
                  <a:pt x="116" y="347"/>
                  <a:pt x="115" y="350"/>
                </a:cubicBezTo>
                <a:cubicBezTo>
                  <a:pt x="113" y="357"/>
                  <a:pt x="110" y="366"/>
                  <a:pt x="116" y="373"/>
                </a:cubicBezTo>
                <a:cubicBezTo>
                  <a:pt x="121" y="381"/>
                  <a:pt x="131" y="381"/>
                  <a:pt x="138" y="382"/>
                </a:cubicBezTo>
                <a:cubicBezTo>
                  <a:pt x="140" y="382"/>
                  <a:pt x="143" y="382"/>
                  <a:pt x="145" y="382"/>
                </a:cubicBezTo>
                <a:cubicBezTo>
                  <a:pt x="146" y="384"/>
                  <a:pt x="147" y="387"/>
                  <a:pt x="147" y="388"/>
                </a:cubicBezTo>
                <a:cubicBezTo>
                  <a:pt x="150" y="395"/>
                  <a:pt x="153" y="404"/>
                  <a:pt x="162" y="408"/>
                </a:cubicBezTo>
                <a:cubicBezTo>
                  <a:pt x="171" y="411"/>
                  <a:pt x="179" y="405"/>
                  <a:pt x="185" y="401"/>
                </a:cubicBezTo>
                <a:cubicBezTo>
                  <a:pt x="186" y="400"/>
                  <a:pt x="189" y="398"/>
                  <a:pt x="191" y="398"/>
                </a:cubicBezTo>
                <a:cubicBezTo>
                  <a:pt x="192" y="398"/>
                  <a:pt x="194" y="400"/>
                  <a:pt x="196" y="401"/>
                </a:cubicBezTo>
                <a:cubicBezTo>
                  <a:pt x="201" y="405"/>
                  <a:pt x="207" y="409"/>
                  <a:pt x="214" y="409"/>
                </a:cubicBezTo>
                <a:cubicBezTo>
                  <a:pt x="216" y="409"/>
                  <a:pt x="217" y="409"/>
                  <a:pt x="219" y="408"/>
                </a:cubicBezTo>
                <a:cubicBezTo>
                  <a:pt x="228" y="405"/>
                  <a:pt x="232" y="396"/>
                  <a:pt x="234" y="389"/>
                </a:cubicBezTo>
                <a:cubicBezTo>
                  <a:pt x="235" y="387"/>
                  <a:pt x="236" y="385"/>
                  <a:pt x="237" y="383"/>
                </a:cubicBezTo>
                <a:cubicBezTo>
                  <a:pt x="238" y="383"/>
                  <a:pt x="241" y="383"/>
                  <a:pt x="244" y="383"/>
                </a:cubicBezTo>
                <a:cubicBezTo>
                  <a:pt x="251" y="383"/>
                  <a:pt x="260" y="383"/>
                  <a:pt x="266" y="375"/>
                </a:cubicBezTo>
                <a:cubicBezTo>
                  <a:pt x="272" y="368"/>
                  <a:pt x="269" y="358"/>
                  <a:pt x="267" y="351"/>
                </a:cubicBezTo>
                <a:cubicBezTo>
                  <a:pt x="267" y="349"/>
                  <a:pt x="266" y="346"/>
                  <a:pt x="266" y="345"/>
                </a:cubicBezTo>
                <a:cubicBezTo>
                  <a:pt x="267" y="344"/>
                  <a:pt x="269" y="342"/>
                  <a:pt x="271" y="341"/>
                </a:cubicBezTo>
                <a:cubicBezTo>
                  <a:pt x="276" y="336"/>
                  <a:pt x="284" y="331"/>
                  <a:pt x="284" y="321"/>
                </a:cubicBezTo>
                <a:close/>
                <a:moveTo>
                  <a:pt x="423" y="182"/>
                </a:moveTo>
                <a:cubicBezTo>
                  <a:pt x="423" y="173"/>
                  <a:pt x="416" y="167"/>
                  <a:pt x="410" y="163"/>
                </a:cubicBezTo>
                <a:cubicBezTo>
                  <a:pt x="408" y="161"/>
                  <a:pt x="406" y="159"/>
                  <a:pt x="405" y="158"/>
                </a:cubicBezTo>
                <a:cubicBezTo>
                  <a:pt x="405" y="156"/>
                  <a:pt x="406" y="153"/>
                  <a:pt x="407" y="151"/>
                </a:cubicBezTo>
                <a:cubicBezTo>
                  <a:pt x="409" y="144"/>
                  <a:pt x="412" y="135"/>
                  <a:pt x="406" y="127"/>
                </a:cubicBezTo>
                <a:cubicBezTo>
                  <a:pt x="401" y="120"/>
                  <a:pt x="391" y="119"/>
                  <a:pt x="384" y="119"/>
                </a:cubicBezTo>
                <a:cubicBezTo>
                  <a:pt x="382" y="119"/>
                  <a:pt x="379" y="119"/>
                  <a:pt x="377" y="118"/>
                </a:cubicBezTo>
                <a:cubicBezTo>
                  <a:pt x="376" y="117"/>
                  <a:pt x="375" y="114"/>
                  <a:pt x="375" y="112"/>
                </a:cubicBezTo>
                <a:cubicBezTo>
                  <a:pt x="372" y="105"/>
                  <a:pt x="369" y="96"/>
                  <a:pt x="360" y="93"/>
                </a:cubicBezTo>
                <a:cubicBezTo>
                  <a:pt x="351" y="90"/>
                  <a:pt x="343" y="95"/>
                  <a:pt x="337" y="99"/>
                </a:cubicBezTo>
                <a:cubicBezTo>
                  <a:pt x="336" y="101"/>
                  <a:pt x="333" y="102"/>
                  <a:pt x="331" y="103"/>
                </a:cubicBezTo>
                <a:cubicBezTo>
                  <a:pt x="330" y="102"/>
                  <a:pt x="328" y="101"/>
                  <a:pt x="326" y="99"/>
                </a:cubicBezTo>
                <a:cubicBezTo>
                  <a:pt x="320" y="95"/>
                  <a:pt x="312" y="89"/>
                  <a:pt x="303" y="92"/>
                </a:cubicBezTo>
                <a:cubicBezTo>
                  <a:pt x="294" y="95"/>
                  <a:pt x="290" y="105"/>
                  <a:pt x="288" y="111"/>
                </a:cubicBezTo>
                <a:cubicBezTo>
                  <a:pt x="287" y="113"/>
                  <a:pt x="286" y="116"/>
                  <a:pt x="285" y="117"/>
                </a:cubicBezTo>
                <a:cubicBezTo>
                  <a:pt x="284" y="118"/>
                  <a:pt x="281" y="118"/>
                  <a:pt x="279" y="118"/>
                </a:cubicBezTo>
                <a:cubicBezTo>
                  <a:pt x="271" y="118"/>
                  <a:pt x="262" y="118"/>
                  <a:pt x="256" y="125"/>
                </a:cubicBezTo>
                <a:cubicBezTo>
                  <a:pt x="250" y="133"/>
                  <a:pt x="253" y="142"/>
                  <a:pt x="255" y="149"/>
                </a:cubicBezTo>
                <a:cubicBezTo>
                  <a:pt x="255" y="151"/>
                  <a:pt x="256" y="154"/>
                  <a:pt x="256" y="156"/>
                </a:cubicBezTo>
                <a:cubicBezTo>
                  <a:pt x="255" y="157"/>
                  <a:pt x="253" y="159"/>
                  <a:pt x="251" y="160"/>
                </a:cubicBezTo>
                <a:cubicBezTo>
                  <a:pt x="246" y="164"/>
                  <a:pt x="238" y="170"/>
                  <a:pt x="238" y="180"/>
                </a:cubicBezTo>
                <a:cubicBezTo>
                  <a:pt x="237" y="189"/>
                  <a:pt x="245" y="195"/>
                  <a:pt x="251" y="199"/>
                </a:cubicBezTo>
                <a:cubicBezTo>
                  <a:pt x="252" y="201"/>
                  <a:pt x="255" y="203"/>
                  <a:pt x="256" y="204"/>
                </a:cubicBezTo>
                <a:cubicBezTo>
                  <a:pt x="256" y="205"/>
                  <a:pt x="255" y="209"/>
                  <a:pt x="254" y="211"/>
                </a:cubicBezTo>
                <a:cubicBezTo>
                  <a:pt x="252" y="218"/>
                  <a:pt x="249" y="227"/>
                  <a:pt x="255" y="235"/>
                </a:cubicBezTo>
                <a:cubicBezTo>
                  <a:pt x="260" y="242"/>
                  <a:pt x="270" y="243"/>
                  <a:pt x="277" y="243"/>
                </a:cubicBezTo>
                <a:cubicBezTo>
                  <a:pt x="279" y="243"/>
                  <a:pt x="282" y="243"/>
                  <a:pt x="284" y="244"/>
                </a:cubicBezTo>
                <a:cubicBezTo>
                  <a:pt x="284" y="245"/>
                  <a:pt x="285" y="248"/>
                  <a:pt x="286" y="250"/>
                </a:cubicBezTo>
                <a:cubicBezTo>
                  <a:pt x="288" y="257"/>
                  <a:pt x="291" y="266"/>
                  <a:pt x="300" y="269"/>
                </a:cubicBezTo>
                <a:cubicBezTo>
                  <a:pt x="309" y="272"/>
                  <a:pt x="317" y="267"/>
                  <a:pt x="323" y="263"/>
                </a:cubicBezTo>
                <a:cubicBezTo>
                  <a:pt x="325" y="261"/>
                  <a:pt x="328" y="260"/>
                  <a:pt x="329" y="259"/>
                </a:cubicBezTo>
                <a:cubicBezTo>
                  <a:pt x="331" y="260"/>
                  <a:pt x="333" y="261"/>
                  <a:pt x="335" y="263"/>
                </a:cubicBezTo>
                <a:cubicBezTo>
                  <a:pt x="339" y="266"/>
                  <a:pt x="346" y="270"/>
                  <a:pt x="353" y="270"/>
                </a:cubicBezTo>
                <a:cubicBezTo>
                  <a:pt x="354" y="270"/>
                  <a:pt x="356" y="270"/>
                  <a:pt x="358" y="270"/>
                </a:cubicBezTo>
                <a:cubicBezTo>
                  <a:pt x="367" y="267"/>
                  <a:pt x="370" y="257"/>
                  <a:pt x="373" y="251"/>
                </a:cubicBezTo>
                <a:cubicBezTo>
                  <a:pt x="374" y="249"/>
                  <a:pt x="375" y="246"/>
                  <a:pt x="375" y="245"/>
                </a:cubicBezTo>
                <a:cubicBezTo>
                  <a:pt x="377" y="244"/>
                  <a:pt x="380" y="244"/>
                  <a:pt x="382" y="244"/>
                </a:cubicBezTo>
                <a:cubicBezTo>
                  <a:pt x="389" y="244"/>
                  <a:pt x="399" y="244"/>
                  <a:pt x="405" y="237"/>
                </a:cubicBezTo>
                <a:cubicBezTo>
                  <a:pt x="410" y="229"/>
                  <a:pt x="408" y="220"/>
                  <a:pt x="406" y="213"/>
                </a:cubicBezTo>
                <a:cubicBezTo>
                  <a:pt x="405" y="211"/>
                  <a:pt x="404" y="208"/>
                  <a:pt x="404" y="206"/>
                </a:cubicBezTo>
                <a:cubicBezTo>
                  <a:pt x="405" y="205"/>
                  <a:pt x="408" y="203"/>
                  <a:pt x="409" y="202"/>
                </a:cubicBezTo>
                <a:cubicBezTo>
                  <a:pt x="415" y="198"/>
                  <a:pt x="423" y="192"/>
                  <a:pt x="423" y="182"/>
                </a:cubicBezTo>
                <a:close/>
                <a:moveTo>
                  <a:pt x="198" y="307"/>
                </a:moveTo>
                <a:cubicBezTo>
                  <a:pt x="196" y="306"/>
                  <a:pt x="194" y="305"/>
                  <a:pt x="192" y="305"/>
                </a:cubicBezTo>
                <a:cubicBezTo>
                  <a:pt x="190" y="305"/>
                  <a:pt x="189" y="306"/>
                  <a:pt x="187" y="306"/>
                </a:cubicBezTo>
                <a:cubicBezTo>
                  <a:pt x="184" y="307"/>
                  <a:pt x="181" y="310"/>
                  <a:pt x="179" y="313"/>
                </a:cubicBezTo>
                <a:cubicBezTo>
                  <a:pt x="177" y="316"/>
                  <a:pt x="177" y="320"/>
                  <a:pt x="178" y="324"/>
                </a:cubicBezTo>
                <a:cubicBezTo>
                  <a:pt x="179" y="328"/>
                  <a:pt x="182" y="330"/>
                  <a:pt x="185" y="332"/>
                </a:cubicBezTo>
                <a:cubicBezTo>
                  <a:pt x="188" y="334"/>
                  <a:pt x="192" y="334"/>
                  <a:pt x="196" y="333"/>
                </a:cubicBezTo>
                <a:cubicBezTo>
                  <a:pt x="200" y="332"/>
                  <a:pt x="202" y="330"/>
                  <a:pt x="204" y="326"/>
                </a:cubicBezTo>
                <a:cubicBezTo>
                  <a:pt x="206" y="323"/>
                  <a:pt x="206" y="319"/>
                  <a:pt x="205" y="315"/>
                </a:cubicBezTo>
                <a:cubicBezTo>
                  <a:pt x="204" y="312"/>
                  <a:pt x="202" y="309"/>
                  <a:pt x="198" y="307"/>
                </a:cubicBezTo>
                <a:close/>
                <a:moveTo>
                  <a:pt x="258" y="318"/>
                </a:moveTo>
                <a:cubicBezTo>
                  <a:pt x="259" y="319"/>
                  <a:pt x="261" y="320"/>
                  <a:pt x="262" y="321"/>
                </a:cubicBezTo>
                <a:cubicBezTo>
                  <a:pt x="260" y="322"/>
                  <a:pt x="259" y="323"/>
                  <a:pt x="258" y="324"/>
                </a:cubicBezTo>
                <a:cubicBezTo>
                  <a:pt x="253" y="327"/>
                  <a:pt x="247" y="331"/>
                  <a:pt x="245" y="338"/>
                </a:cubicBezTo>
                <a:cubicBezTo>
                  <a:pt x="243" y="344"/>
                  <a:pt x="245" y="351"/>
                  <a:pt x="247" y="357"/>
                </a:cubicBezTo>
                <a:cubicBezTo>
                  <a:pt x="247" y="358"/>
                  <a:pt x="247" y="360"/>
                  <a:pt x="248" y="361"/>
                </a:cubicBezTo>
                <a:cubicBezTo>
                  <a:pt x="246" y="362"/>
                  <a:pt x="244" y="362"/>
                  <a:pt x="243" y="362"/>
                </a:cubicBezTo>
                <a:cubicBezTo>
                  <a:pt x="237" y="362"/>
                  <a:pt x="230" y="362"/>
                  <a:pt x="224" y="366"/>
                </a:cubicBezTo>
                <a:cubicBezTo>
                  <a:pt x="219" y="370"/>
                  <a:pt x="216" y="376"/>
                  <a:pt x="214" y="382"/>
                </a:cubicBezTo>
                <a:cubicBezTo>
                  <a:pt x="214" y="383"/>
                  <a:pt x="213" y="384"/>
                  <a:pt x="212" y="386"/>
                </a:cubicBezTo>
                <a:cubicBezTo>
                  <a:pt x="211" y="385"/>
                  <a:pt x="209" y="383"/>
                  <a:pt x="208" y="382"/>
                </a:cubicBezTo>
                <a:cubicBezTo>
                  <a:pt x="203" y="379"/>
                  <a:pt x="198" y="373"/>
                  <a:pt x="191" y="373"/>
                </a:cubicBezTo>
                <a:cubicBezTo>
                  <a:pt x="191" y="373"/>
                  <a:pt x="191" y="373"/>
                  <a:pt x="191" y="373"/>
                </a:cubicBezTo>
                <a:cubicBezTo>
                  <a:pt x="184" y="373"/>
                  <a:pt x="178" y="378"/>
                  <a:pt x="173" y="382"/>
                </a:cubicBezTo>
                <a:cubicBezTo>
                  <a:pt x="172" y="383"/>
                  <a:pt x="170" y="385"/>
                  <a:pt x="169" y="386"/>
                </a:cubicBezTo>
                <a:cubicBezTo>
                  <a:pt x="169" y="385"/>
                  <a:pt x="168" y="383"/>
                  <a:pt x="168" y="382"/>
                </a:cubicBezTo>
                <a:cubicBezTo>
                  <a:pt x="166" y="376"/>
                  <a:pt x="163" y="369"/>
                  <a:pt x="158" y="365"/>
                </a:cubicBezTo>
                <a:cubicBezTo>
                  <a:pt x="152" y="361"/>
                  <a:pt x="145" y="361"/>
                  <a:pt x="139" y="360"/>
                </a:cubicBezTo>
                <a:cubicBezTo>
                  <a:pt x="138" y="360"/>
                  <a:pt x="136" y="360"/>
                  <a:pt x="135" y="360"/>
                </a:cubicBezTo>
                <a:cubicBezTo>
                  <a:pt x="135" y="359"/>
                  <a:pt x="135" y="357"/>
                  <a:pt x="136" y="356"/>
                </a:cubicBezTo>
                <a:cubicBezTo>
                  <a:pt x="138" y="350"/>
                  <a:pt x="140" y="343"/>
                  <a:pt x="138" y="336"/>
                </a:cubicBezTo>
                <a:cubicBezTo>
                  <a:pt x="136" y="330"/>
                  <a:pt x="130" y="325"/>
                  <a:pt x="125" y="321"/>
                </a:cubicBezTo>
                <a:cubicBezTo>
                  <a:pt x="124" y="321"/>
                  <a:pt x="123" y="320"/>
                  <a:pt x="122" y="319"/>
                </a:cubicBezTo>
                <a:cubicBezTo>
                  <a:pt x="123" y="318"/>
                  <a:pt x="124" y="317"/>
                  <a:pt x="125" y="316"/>
                </a:cubicBezTo>
                <a:cubicBezTo>
                  <a:pt x="130" y="312"/>
                  <a:pt x="136" y="308"/>
                  <a:pt x="138" y="302"/>
                </a:cubicBezTo>
                <a:cubicBezTo>
                  <a:pt x="140" y="295"/>
                  <a:pt x="138" y="288"/>
                  <a:pt x="137" y="282"/>
                </a:cubicBezTo>
                <a:cubicBezTo>
                  <a:pt x="136" y="281"/>
                  <a:pt x="136" y="279"/>
                  <a:pt x="136" y="278"/>
                </a:cubicBezTo>
                <a:cubicBezTo>
                  <a:pt x="137" y="278"/>
                  <a:pt x="139" y="278"/>
                  <a:pt x="140" y="278"/>
                </a:cubicBezTo>
                <a:cubicBezTo>
                  <a:pt x="146" y="278"/>
                  <a:pt x="153" y="278"/>
                  <a:pt x="159" y="274"/>
                </a:cubicBezTo>
                <a:cubicBezTo>
                  <a:pt x="165" y="270"/>
                  <a:pt x="167" y="263"/>
                  <a:pt x="169" y="258"/>
                </a:cubicBezTo>
                <a:cubicBezTo>
                  <a:pt x="170" y="256"/>
                  <a:pt x="170" y="255"/>
                  <a:pt x="171" y="253"/>
                </a:cubicBezTo>
                <a:cubicBezTo>
                  <a:pt x="172" y="254"/>
                  <a:pt x="174" y="256"/>
                  <a:pt x="175" y="257"/>
                </a:cubicBezTo>
                <a:cubicBezTo>
                  <a:pt x="180" y="261"/>
                  <a:pt x="186" y="266"/>
                  <a:pt x="192" y="266"/>
                </a:cubicBezTo>
                <a:cubicBezTo>
                  <a:pt x="193" y="266"/>
                  <a:pt x="193" y="266"/>
                  <a:pt x="193" y="266"/>
                </a:cubicBezTo>
                <a:cubicBezTo>
                  <a:pt x="200" y="266"/>
                  <a:pt x="205" y="261"/>
                  <a:pt x="210" y="257"/>
                </a:cubicBezTo>
                <a:cubicBezTo>
                  <a:pt x="211" y="257"/>
                  <a:pt x="213" y="254"/>
                  <a:pt x="214" y="253"/>
                </a:cubicBezTo>
                <a:cubicBezTo>
                  <a:pt x="215" y="255"/>
                  <a:pt x="215" y="257"/>
                  <a:pt x="216" y="258"/>
                </a:cubicBezTo>
                <a:cubicBezTo>
                  <a:pt x="218" y="264"/>
                  <a:pt x="220" y="270"/>
                  <a:pt x="226" y="274"/>
                </a:cubicBezTo>
                <a:cubicBezTo>
                  <a:pt x="231" y="278"/>
                  <a:pt x="238" y="279"/>
                  <a:pt x="244" y="279"/>
                </a:cubicBezTo>
                <a:cubicBezTo>
                  <a:pt x="245" y="279"/>
                  <a:pt x="247" y="279"/>
                  <a:pt x="249" y="279"/>
                </a:cubicBezTo>
                <a:cubicBezTo>
                  <a:pt x="248" y="281"/>
                  <a:pt x="248" y="282"/>
                  <a:pt x="248" y="283"/>
                </a:cubicBezTo>
                <a:cubicBezTo>
                  <a:pt x="246" y="289"/>
                  <a:pt x="244" y="296"/>
                  <a:pt x="246" y="303"/>
                </a:cubicBezTo>
                <a:cubicBezTo>
                  <a:pt x="248" y="310"/>
                  <a:pt x="253" y="314"/>
                  <a:pt x="258" y="318"/>
                </a:cubicBezTo>
                <a:close/>
                <a:moveTo>
                  <a:pt x="226" y="309"/>
                </a:moveTo>
                <a:cubicBezTo>
                  <a:pt x="223" y="300"/>
                  <a:pt x="217" y="293"/>
                  <a:pt x="208" y="288"/>
                </a:cubicBezTo>
                <a:cubicBezTo>
                  <a:pt x="200" y="284"/>
                  <a:pt x="190" y="283"/>
                  <a:pt x="181" y="286"/>
                </a:cubicBezTo>
                <a:cubicBezTo>
                  <a:pt x="172" y="289"/>
                  <a:pt x="165" y="295"/>
                  <a:pt x="160" y="303"/>
                </a:cubicBezTo>
                <a:cubicBezTo>
                  <a:pt x="156" y="312"/>
                  <a:pt x="155" y="321"/>
                  <a:pt x="158" y="330"/>
                </a:cubicBezTo>
                <a:cubicBezTo>
                  <a:pt x="161" y="339"/>
                  <a:pt x="167" y="347"/>
                  <a:pt x="175" y="351"/>
                </a:cubicBezTo>
                <a:cubicBezTo>
                  <a:pt x="180" y="354"/>
                  <a:pt x="186" y="355"/>
                  <a:pt x="192" y="355"/>
                </a:cubicBezTo>
                <a:cubicBezTo>
                  <a:pt x="195" y="355"/>
                  <a:pt x="199" y="355"/>
                  <a:pt x="202" y="354"/>
                </a:cubicBezTo>
                <a:cubicBezTo>
                  <a:pt x="211" y="351"/>
                  <a:pt x="219" y="345"/>
                  <a:pt x="223" y="336"/>
                </a:cubicBezTo>
                <a:cubicBezTo>
                  <a:pt x="228" y="328"/>
                  <a:pt x="228" y="318"/>
                  <a:pt x="226" y="309"/>
                </a:cubicBezTo>
                <a:close/>
              </a:path>
            </a:pathLst>
          </a:custGeom>
          <a:solidFill>
            <a:srgbClr val="0A626C"/>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36" name="Group 681">
            <a:extLst>
              <a:ext uri="{FF2B5EF4-FFF2-40B4-BE49-F238E27FC236}">
                <a16:creationId xmlns:a16="http://schemas.microsoft.com/office/drawing/2014/main" id="{B4AC4656-0DF6-4386-94BB-2DF939986541}"/>
              </a:ext>
            </a:extLst>
          </p:cNvPr>
          <p:cNvGrpSpPr>
            <a:grpSpLocks noChangeAspect="1"/>
          </p:cNvGrpSpPr>
          <p:nvPr/>
        </p:nvGrpSpPr>
        <p:grpSpPr bwMode="auto">
          <a:xfrm>
            <a:off x="478155" y="5348209"/>
            <a:ext cx="438912" cy="438912"/>
            <a:chOff x="6210" y="2696"/>
            <a:chExt cx="340" cy="340"/>
          </a:xfrm>
          <a:solidFill>
            <a:srgbClr val="0A626C"/>
          </a:solidFill>
        </p:grpSpPr>
        <p:sp>
          <p:nvSpPr>
            <p:cNvPr id="37" name="Freeform 682">
              <a:extLst>
                <a:ext uri="{FF2B5EF4-FFF2-40B4-BE49-F238E27FC236}">
                  <a16:creationId xmlns:a16="http://schemas.microsoft.com/office/drawing/2014/main" id="{776B6644-3538-4A6D-A94E-1DAB6AE5E834}"/>
                </a:ext>
              </a:extLst>
            </p:cNvPr>
            <p:cNvSpPr>
              <a:spLocks/>
            </p:cNvSpPr>
            <p:nvPr/>
          </p:nvSpPr>
          <p:spPr bwMode="auto">
            <a:xfrm>
              <a:off x="6351" y="2911"/>
              <a:ext cx="57" cy="49"/>
            </a:xfrm>
            <a:custGeom>
              <a:avLst/>
              <a:gdLst>
                <a:gd name="T0" fmla="*/ 51 w 85"/>
                <a:gd name="T1" fmla="*/ 3 h 73"/>
                <a:gd name="T2" fmla="*/ 43 w 85"/>
                <a:gd name="T3" fmla="*/ 0 h 73"/>
                <a:gd name="T4" fmla="*/ 34 w 85"/>
                <a:gd name="T5" fmla="*/ 3 h 73"/>
                <a:gd name="T6" fmla="*/ 16 w 85"/>
                <a:gd name="T7" fmla="*/ 9 h 73"/>
                <a:gd name="T8" fmla="*/ 11 w 85"/>
                <a:gd name="T9" fmla="*/ 9 h 73"/>
                <a:gd name="T10" fmla="*/ 0 w 85"/>
                <a:gd name="T11" fmla="*/ 2 h 73"/>
                <a:gd name="T12" fmla="*/ 0 w 85"/>
                <a:gd name="T13" fmla="*/ 73 h 73"/>
                <a:gd name="T14" fmla="*/ 37 w 85"/>
                <a:gd name="T15" fmla="*/ 51 h 73"/>
                <a:gd name="T16" fmla="*/ 48 w 85"/>
                <a:gd name="T17" fmla="*/ 51 h 73"/>
                <a:gd name="T18" fmla="*/ 85 w 85"/>
                <a:gd name="T19" fmla="*/ 73 h 73"/>
                <a:gd name="T20" fmla="*/ 85 w 85"/>
                <a:gd name="T21" fmla="*/ 2 h 73"/>
                <a:gd name="T22" fmla="*/ 75 w 85"/>
                <a:gd name="T23" fmla="*/ 9 h 73"/>
                <a:gd name="T24" fmla="*/ 51 w 85"/>
                <a:gd name="T25" fmla="*/ 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3">
                  <a:moveTo>
                    <a:pt x="51" y="3"/>
                  </a:moveTo>
                  <a:cubicBezTo>
                    <a:pt x="49" y="2"/>
                    <a:pt x="44" y="0"/>
                    <a:pt x="43" y="0"/>
                  </a:cubicBezTo>
                  <a:cubicBezTo>
                    <a:pt x="41" y="0"/>
                    <a:pt x="37" y="2"/>
                    <a:pt x="34" y="3"/>
                  </a:cubicBezTo>
                  <a:cubicBezTo>
                    <a:pt x="29" y="6"/>
                    <a:pt x="23" y="9"/>
                    <a:pt x="16" y="9"/>
                  </a:cubicBezTo>
                  <a:cubicBezTo>
                    <a:pt x="14" y="9"/>
                    <a:pt x="12" y="9"/>
                    <a:pt x="11" y="9"/>
                  </a:cubicBezTo>
                  <a:cubicBezTo>
                    <a:pt x="6" y="7"/>
                    <a:pt x="3" y="5"/>
                    <a:pt x="0" y="2"/>
                  </a:cubicBezTo>
                  <a:cubicBezTo>
                    <a:pt x="0" y="73"/>
                    <a:pt x="0" y="73"/>
                    <a:pt x="0" y="73"/>
                  </a:cubicBezTo>
                  <a:cubicBezTo>
                    <a:pt x="37" y="51"/>
                    <a:pt x="37" y="51"/>
                    <a:pt x="37" y="51"/>
                  </a:cubicBezTo>
                  <a:cubicBezTo>
                    <a:pt x="41" y="49"/>
                    <a:pt x="45" y="49"/>
                    <a:pt x="48" y="51"/>
                  </a:cubicBezTo>
                  <a:cubicBezTo>
                    <a:pt x="85" y="73"/>
                    <a:pt x="85" y="73"/>
                    <a:pt x="85" y="73"/>
                  </a:cubicBezTo>
                  <a:cubicBezTo>
                    <a:pt x="85" y="2"/>
                    <a:pt x="85" y="2"/>
                    <a:pt x="85" y="2"/>
                  </a:cubicBezTo>
                  <a:cubicBezTo>
                    <a:pt x="82" y="5"/>
                    <a:pt x="79" y="7"/>
                    <a:pt x="75" y="9"/>
                  </a:cubicBezTo>
                  <a:cubicBezTo>
                    <a:pt x="66" y="11"/>
                    <a:pt x="58" y="7"/>
                    <a:pt x="5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8" name="Freeform 683">
              <a:extLst>
                <a:ext uri="{FF2B5EF4-FFF2-40B4-BE49-F238E27FC236}">
                  <a16:creationId xmlns:a16="http://schemas.microsoft.com/office/drawing/2014/main" id="{A6C34CD4-4919-44C9-BD21-2F15CAAFD6BA}"/>
                </a:ext>
              </a:extLst>
            </p:cNvPr>
            <p:cNvSpPr>
              <a:spLocks noEditPoints="1"/>
            </p:cNvSpPr>
            <p:nvPr/>
          </p:nvSpPr>
          <p:spPr bwMode="auto">
            <a:xfrm>
              <a:off x="6314" y="2772"/>
              <a:ext cx="132" cy="131"/>
            </a:xfrm>
            <a:custGeom>
              <a:avLst/>
              <a:gdLst>
                <a:gd name="T0" fmla="*/ 188 w 198"/>
                <a:gd name="T1" fmla="*/ 99 h 198"/>
                <a:gd name="T2" fmla="*/ 194 w 198"/>
                <a:gd name="T3" fmla="*/ 81 h 198"/>
                <a:gd name="T4" fmla="*/ 198 w 198"/>
                <a:gd name="T5" fmla="*/ 72 h 198"/>
                <a:gd name="T6" fmla="*/ 190 w 198"/>
                <a:gd name="T7" fmla="*/ 67 h 198"/>
                <a:gd name="T8" fmla="*/ 176 w 198"/>
                <a:gd name="T9" fmla="*/ 54 h 198"/>
                <a:gd name="T10" fmla="*/ 172 w 198"/>
                <a:gd name="T11" fmla="*/ 36 h 198"/>
                <a:gd name="T12" fmla="*/ 171 w 198"/>
                <a:gd name="T13" fmla="*/ 26 h 198"/>
                <a:gd name="T14" fmla="*/ 162 w 198"/>
                <a:gd name="T15" fmla="*/ 25 h 198"/>
                <a:gd name="T16" fmla="*/ 143 w 198"/>
                <a:gd name="T17" fmla="*/ 21 h 198"/>
                <a:gd name="T18" fmla="*/ 131 w 198"/>
                <a:gd name="T19" fmla="*/ 7 h 198"/>
                <a:gd name="T20" fmla="*/ 125 w 198"/>
                <a:gd name="T21" fmla="*/ 0 h 198"/>
                <a:gd name="T22" fmla="*/ 117 w 198"/>
                <a:gd name="T23" fmla="*/ 4 h 198"/>
                <a:gd name="T24" fmla="*/ 99 w 198"/>
                <a:gd name="T25" fmla="*/ 9 h 198"/>
                <a:gd name="T26" fmla="*/ 80 w 198"/>
                <a:gd name="T27" fmla="*/ 5 h 198"/>
                <a:gd name="T28" fmla="*/ 72 w 198"/>
                <a:gd name="T29" fmla="*/ 3 h 198"/>
                <a:gd name="T30" fmla="*/ 72 w 198"/>
                <a:gd name="T31" fmla="*/ 3 h 198"/>
                <a:gd name="T32" fmla="*/ 67 w 198"/>
                <a:gd name="T33" fmla="*/ 9 h 198"/>
                <a:gd name="T34" fmla="*/ 54 w 198"/>
                <a:gd name="T35" fmla="*/ 22 h 198"/>
                <a:gd name="T36" fmla="*/ 35 w 198"/>
                <a:gd name="T37" fmla="*/ 26 h 198"/>
                <a:gd name="T38" fmla="*/ 26 w 198"/>
                <a:gd name="T39" fmla="*/ 27 h 198"/>
                <a:gd name="T40" fmla="*/ 25 w 198"/>
                <a:gd name="T41" fmla="*/ 36 h 198"/>
                <a:gd name="T42" fmla="*/ 21 w 198"/>
                <a:gd name="T43" fmla="*/ 54 h 198"/>
                <a:gd name="T44" fmla="*/ 7 w 198"/>
                <a:gd name="T45" fmla="*/ 67 h 198"/>
                <a:gd name="T46" fmla="*/ 0 w 198"/>
                <a:gd name="T47" fmla="*/ 73 h 198"/>
                <a:gd name="T48" fmla="*/ 3 w 198"/>
                <a:gd name="T49" fmla="*/ 81 h 198"/>
                <a:gd name="T50" fmla="*/ 9 w 198"/>
                <a:gd name="T51" fmla="*/ 99 h 198"/>
                <a:gd name="T52" fmla="*/ 3 w 198"/>
                <a:gd name="T53" fmla="*/ 117 h 198"/>
                <a:gd name="T54" fmla="*/ 0 w 198"/>
                <a:gd name="T55" fmla="*/ 126 h 198"/>
                <a:gd name="T56" fmla="*/ 7 w 198"/>
                <a:gd name="T57" fmla="*/ 131 h 198"/>
                <a:gd name="T58" fmla="*/ 21 w 198"/>
                <a:gd name="T59" fmla="*/ 144 h 198"/>
                <a:gd name="T60" fmla="*/ 25 w 198"/>
                <a:gd name="T61" fmla="*/ 162 h 198"/>
                <a:gd name="T62" fmla="*/ 26 w 198"/>
                <a:gd name="T63" fmla="*/ 172 h 198"/>
                <a:gd name="T64" fmla="*/ 35 w 198"/>
                <a:gd name="T65" fmla="*/ 173 h 198"/>
                <a:gd name="T66" fmla="*/ 54 w 198"/>
                <a:gd name="T67" fmla="*/ 177 h 198"/>
                <a:gd name="T68" fmla="*/ 67 w 198"/>
                <a:gd name="T69" fmla="*/ 191 h 198"/>
                <a:gd name="T70" fmla="*/ 72 w 198"/>
                <a:gd name="T71" fmla="*/ 198 h 198"/>
                <a:gd name="T72" fmla="*/ 80 w 198"/>
                <a:gd name="T73" fmla="*/ 194 h 198"/>
                <a:gd name="T74" fmla="*/ 99 w 198"/>
                <a:gd name="T75" fmla="*/ 189 h 198"/>
                <a:gd name="T76" fmla="*/ 117 w 198"/>
                <a:gd name="T77" fmla="*/ 193 h 198"/>
                <a:gd name="T78" fmla="*/ 125 w 198"/>
                <a:gd name="T79" fmla="*/ 195 h 198"/>
                <a:gd name="T80" fmla="*/ 125 w 198"/>
                <a:gd name="T81" fmla="*/ 195 h 198"/>
                <a:gd name="T82" fmla="*/ 131 w 198"/>
                <a:gd name="T83" fmla="*/ 189 h 198"/>
                <a:gd name="T84" fmla="*/ 143 w 198"/>
                <a:gd name="T85" fmla="*/ 176 h 198"/>
                <a:gd name="T86" fmla="*/ 162 w 198"/>
                <a:gd name="T87" fmla="*/ 172 h 198"/>
                <a:gd name="T88" fmla="*/ 171 w 198"/>
                <a:gd name="T89" fmla="*/ 171 h 198"/>
                <a:gd name="T90" fmla="*/ 172 w 198"/>
                <a:gd name="T91" fmla="*/ 162 h 198"/>
                <a:gd name="T92" fmla="*/ 176 w 198"/>
                <a:gd name="T93" fmla="*/ 144 h 198"/>
                <a:gd name="T94" fmla="*/ 190 w 198"/>
                <a:gd name="T95" fmla="*/ 131 h 198"/>
                <a:gd name="T96" fmla="*/ 198 w 198"/>
                <a:gd name="T97" fmla="*/ 125 h 198"/>
                <a:gd name="T98" fmla="*/ 194 w 198"/>
                <a:gd name="T99" fmla="*/ 117 h 198"/>
                <a:gd name="T100" fmla="*/ 188 w 198"/>
                <a:gd name="T101" fmla="*/ 99 h 198"/>
                <a:gd name="T102" fmla="*/ 99 w 198"/>
                <a:gd name="T103" fmla="*/ 152 h 198"/>
                <a:gd name="T104" fmla="*/ 45 w 198"/>
                <a:gd name="T105" fmla="*/ 99 h 198"/>
                <a:gd name="T106" fmla="*/ 99 w 198"/>
                <a:gd name="T107" fmla="*/ 46 h 198"/>
                <a:gd name="T108" fmla="*/ 152 w 198"/>
                <a:gd name="T109" fmla="*/ 99 h 198"/>
                <a:gd name="T110" fmla="*/ 99 w 198"/>
                <a:gd name="T111" fmla="*/ 152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8" h="198">
                  <a:moveTo>
                    <a:pt x="188" y="99"/>
                  </a:moveTo>
                  <a:cubicBezTo>
                    <a:pt x="188" y="92"/>
                    <a:pt x="191" y="86"/>
                    <a:pt x="194" y="81"/>
                  </a:cubicBezTo>
                  <a:cubicBezTo>
                    <a:pt x="195" y="78"/>
                    <a:pt x="198" y="74"/>
                    <a:pt x="198" y="72"/>
                  </a:cubicBezTo>
                  <a:cubicBezTo>
                    <a:pt x="197" y="71"/>
                    <a:pt x="193" y="69"/>
                    <a:pt x="190" y="67"/>
                  </a:cubicBezTo>
                  <a:cubicBezTo>
                    <a:pt x="185" y="64"/>
                    <a:pt x="180" y="60"/>
                    <a:pt x="176" y="54"/>
                  </a:cubicBezTo>
                  <a:cubicBezTo>
                    <a:pt x="173" y="48"/>
                    <a:pt x="173" y="42"/>
                    <a:pt x="172" y="36"/>
                  </a:cubicBezTo>
                  <a:cubicBezTo>
                    <a:pt x="172" y="33"/>
                    <a:pt x="172" y="28"/>
                    <a:pt x="171" y="26"/>
                  </a:cubicBezTo>
                  <a:cubicBezTo>
                    <a:pt x="170" y="26"/>
                    <a:pt x="165" y="26"/>
                    <a:pt x="162" y="25"/>
                  </a:cubicBezTo>
                  <a:cubicBezTo>
                    <a:pt x="156" y="25"/>
                    <a:pt x="149" y="25"/>
                    <a:pt x="143" y="21"/>
                  </a:cubicBezTo>
                  <a:cubicBezTo>
                    <a:pt x="138" y="18"/>
                    <a:pt x="134" y="12"/>
                    <a:pt x="131" y="7"/>
                  </a:cubicBezTo>
                  <a:cubicBezTo>
                    <a:pt x="129" y="5"/>
                    <a:pt x="126" y="1"/>
                    <a:pt x="125" y="0"/>
                  </a:cubicBezTo>
                  <a:cubicBezTo>
                    <a:pt x="124" y="0"/>
                    <a:pt x="120" y="2"/>
                    <a:pt x="117" y="4"/>
                  </a:cubicBezTo>
                  <a:cubicBezTo>
                    <a:pt x="112" y="6"/>
                    <a:pt x="106" y="9"/>
                    <a:pt x="99" y="9"/>
                  </a:cubicBezTo>
                  <a:cubicBezTo>
                    <a:pt x="92" y="9"/>
                    <a:pt x="86" y="8"/>
                    <a:pt x="80" y="5"/>
                  </a:cubicBezTo>
                  <a:cubicBezTo>
                    <a:pt x="78" y="4"/>
                    <a:pt x="73" y="3"/>
                    <a:pt x="72" y="3"/>
                  </a:cubicBezTo>
                  <a:cubicBezTo>
                    <a:pt x="72" y="3"/>
                    <a:pt x="72" y="3"/>
                    <a:pt x="72" y="3"/>
                  </a:cubicBezTo>
                  <a:cubicBezTo>
                    <a:pt x="71" y="3"/>
                    <a:pt x="68" y="6"/>
                    <a:pt x="67" y="9"/>
                  </a:cubicBezTo>
                  <a:cubicBezTo>
                    <a:pt x="63" y="14"/>
                    <a:pt x="60" y="19"/>
                    <a:pt x="54" y="22"/>
                  </a:cubicBezTo>
                  <a:cubicBezTo>
                    <a:pt x="48" y="26"/>
                    <a:pt x="41" y="26"/>
                    <a:pt x="35" y="26"/>
                  </a:cubicBezTo>
                  <a:cubicBezTo>
                    <a:pt x="32" y="26"/>
                    <a:pt x="27" y="26"/>
                    <a:pt x="26" y="27"/>
                  </a:cubicBezTo>
                  <a:cubicBezTo>
                    <a:pt x="26" y="28"/>
                    <a:pt x="25" y="33"/>
                    <a:pt x="25" y="36"/>
                  </a:cubicBezTo>
                  <a:cubicBezTo>
                    <a:pt x="25" y="42"/>
                    <a:pt x="24" y="48"/>
                    <a:pt x="21" y="54"/>
                  </a:cubicBezTo>
                  <a:cubicBezTo>
                    <a:pt x="18" y="60"/>
                    <a:pt x="12" y="64"/>
                    <a:pt x="7" y="67"/>
                  </a:cubicBezTo>
                  <a:cubicBezTo>
                    <a:pt x="5" y="69"/>
                    <a:pt x="0" y="71"/>
                    <a:pt x="0" y="73"/>
                  </a:cubicBezTo>
                  <a:cubicBezTo>
                    <a:pt x="0" y="74"/>
                    <a:pt x="2" y="78"/>
                    <a:pt x="3" y="81"/>
                  </a:cubicBezTo>
                  <a:cubicBezTo>
                    <a:pt x="6" y="86"/>
                    <a:pt x="9" y="92"/>
                    <a:pt x="9" y="99"/>
                  </a:cubicBezTo>
                  <a:cubicBezTo>
                    <a:pt x="9" y="106"/>
                    <a:pt x="6" y="112"/>
                    <a:pt x="3" y="117"/>
                  </a:cubicBezTo>
                  <a:cubicBezTo>
                    <a:pt x="2" y="120"/>
                    <a:pt x="0" y="124"/>
                    <a:pt x="0" y="126"/>
                  </a:cubicBezTo>
                  <a:cubicBezTo>
                    <a:pt x="0" y="127"/>
                    <a:pt x="5" y="129"/>
                    <a:pt x="7" y="131"/>
                  </a:cubicBezTo>
                  <a:cubicBezTo>
                    <a:pt x="12" y="134"/>
                    <a:pt x="18" y="138"/>
                    <a:pt x="21" y="144"/>
                  </a:cubicBezTo>
                  <a:cubicBezTo>
                    <a:pt x="24" y="150"/>
                    <a:pt x="25" y="156"/>
                    <a:pt x="25" y="162"/>
                  </a:cubicBezTo>
                  <a:cubicBezTo>
                    <a:pt x="25" y="165"/>
                    <a:pt x="26" y="170"/>
                    <a:pt x="26" y="172"/>
                  </a:cubicBezTo>
                  <a:cubicBezTo>
                    <a:pt x="27" y="172"/>
                    <a:pt x="32" y="172"/>
                    <a:pt x="35" y="173"/>
                  </a:cubicBezTo>
                  <a:cubicBezTo>
                    <a:pt x="41" y="173"/>
                    <a:pt x="48" y="173"/>
                    <a:pt x="54" y="177"/>
                  </a:cubicBezTo>
                  <a:cubicBezTo>
                    <a:pt x="60" y="180"/>
                    <a:pt x="63" y="186"/>
                    <a:pt x="67" y="191"/>
                  </a:cubicBezTo>
                  <a:cubicBezTo>
                    <a:pt x="68" y="193"/>
                    <a:pt x="71" y="197"/>
                    <a:pt x="72" y="198"/>
                  </a:cubicBezTo>
                  <a:cubicBezTo>
                    <a:pt x="73" y="198"/>
                    <a:pt x="78" y="196"/>
                    <a:pt x="80" y="194"/>
                  </a:cubicBezTo>
                  <a:cubicBezTo>
                    <a:pt x="86" y="192"/>
                    <a:pt x="92" y="189"/>
                    <a:pt x="99" y="189"/>
                  </a:cubicBezTo>
                  <a:cubicBezTo>
                    <a:pt x="106" y="189"/>
                    <a:pt x="112" y="190"/>
                    <a:pt x="117" y="193"/>
                  </a:cubicBezTo>
                  <a:cubicBezTo>
                    <a:pt x="120" y="194"/>
                    <a:pt x="124" y="195"/>
                    <a:pt x="125" y="195"/>
                  </a:cubicBezTo>
                  <a:cubicBezTo>
                    <a:pt x="125" y="195"/>
                    <a:pt x="125" y="195"/>
                    <a:pt x="125" y="195"/>
                  </a:cubicBezTo>
                  <a:cubicBezTo>
                    <a:pt x="126" y="195"/>
                    <a:pt x="129" y="192"/>
                    <a:pt x="131" y="189"/>
                  </a:cubicBezTo>
                  <a:cubicBezTo>
                    <a:pt x="134" y="184"/>
                    <a:pt x="138" y="179"/>
                    <a:pt x="143" y="176"/>
                  </a:cubicBezTo>
                  <a:cubicBezTo>
                    <a:pt x="149" y="172"/>
                    <a:pt x="156" y="172"/>
                    <a:pt x="162" y="172"/>
                  </a:cubicBezTo>
                  <a:cubicBezTo>
                    <a:pt x="165" y="172"/>
                    <a:pt x="170" y="172"/>
                    <a:pt x="171" y="171"/>
                  </a:cubicBezTo>
                  <a:cubicBezTo>
                    <a:pt x="172" y="170"/>
                    <a:pt x="172" y="165"/>
                    <a:pt x="172" y="162"/>
                  </a:cubicBezTo>
                  <a:cubicBezTo>
                    <a:pt x="173" y="156"/>
                    <a:pt x="173" y="150"/>
                    <a:pt x="176" y="144"/>
                  </a:cubicBezTo>
                  <a:cubicBezTo>
                    <a:pt x="180" y="138"/>
                    <a:pt x="185" y="134"/>
                    <a:pt x="190" y="131"/>
                  </a:cubicBezTo>
                  <a:cubicBezTo>
                    <a:pt x="193" y="129"/>
                    <a:pt x="197" y="127"/>
                    <a:pt x="198" y="125"/>
                  </a:cubicBezTo>
                  <a:cubicBezTo>
                    <a:pt x="198" y="124"/>
                    <a:pt x="195" y="120"/>
                    <a:pt x="194" y="117"/>
                  </a:cubicBezTo>
                  <a:cubicBezTo>
                    <a:pt x="191" y="112"/>
                    <a:pt x="188" y="106"/>
                    <a:pt x="188" y="99"/>
                  </a:cubicBezTo>
                  <a:close/>
                  <a:moveTo>
                    <a:pt x="99" y="152"/>
                  </a:moveTo>
                  <a:cubicBezTo>
                    <a:pt x="69" y="152"/>
                    <a:pt x="45" y="128"/>
                    <a:pt x="45" y="99"/>
                  </a:cubicBezTo>
                  <a:cubicBezTo>
                    <a:pt x="45" y="70"/>
                    <a:pt x="69" y="46"/>
                    <a:pt x="99" y="46"/>
                  </a:cubicBezTo>
                  <a:cubicBezTo>
                    <a:pt x="128" y="46"/>
                    <a:pt x="152" y="70"/>
                    <a:pt x="152" y="99"/>
                  </a:cubicBezTo>
                  <a:cubicBezTo>
                    <a:pt x="152" y="128"/>
                    <a:pt x="128" y="152"/>
                    <a:pt x="99" y="15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9" name="Oval 684">
              <a:extLst>
                <a:ext uri="{FF2B5EF4-FFF2-40B4-BE49-F238E27FC236}">
                  <a16:creationId xmlns:a16="http://schemas.microsoft.com/office/drawing/2014/main" id="{2EF4CFDC-D995-40A9-B948-CAE9AFE624EA}"/>
                </a:ext>
              </a:extLst>
            </p:cNvPr>
            <p:cNvSpPr>
              <a:spLocks noChangeArrowheads="1"/>
            </p:cNvSpPr>
            <p:nvPr/>
          </p:nvSpPr>
          <p:spPr bwMode="auto">
            <a:xfrm>
              <a:off x="6359" y="2816"/>
              <a:ext cx="42" cy="43"/>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685">
              <a:extLst>
                <a:ext uri="{FF2B5EF4-FFF2-40B4-BE49-F238E27FC236}">
                  <a16:creationId xmlns:a16="http://schemas.microsoft.com/office/drawing/2014/main" id="{161365C8-D987-493A-A095-10CFED4979A8}"/>
                </a:ext>
              </a:extLst>
            </p:cNvPr>
            <p:cNvSpPr>
              <a:spLocks noEditPoints="1"/>
            </p:cNvSpPr>
            <p:nvPr/>
          </p:nvSpPr>
          <p:spPr bwMode="auto">
            <a:xfrm>
              <a:off x="6210" y="2696"/>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75 w 512"/>
                <a:gd name="T11" fmla="*/ 245 h 512"/>
                <a:gd name="T12" fmla="*/ 359 w 512"/>
                <a:gd name="T13" fmla="*/ 263 h 512"/>
                <a:gd name="T14" fmla="*/ 352 w 512"/>
                <a:gd name="T15" fmla="*/ 268 h 512"/>
                <a:gd name="T16" fmla="*/ 351 w 512"/>
                <a:gd name="T17" fmla="*/ 278 h 512"/>
                <a:gd name="T18" fmla="*/ 343 w 512"/>
                <a:gd name="T19" fmla="*/ 300 h 512"/>
                <a:gd name="T20" fmla="*/ 320 w 512"/>
                <a:gd name="T21" fmla="*/ 308 h 512"/>
                <a:gd name="T22" fmla="*/ 320 w 512"/>
                <a:gd name="T23" fmla="*/ 308 h 512"/>
                <a:gd name="T24" fmla="*/ 320 w 512"/>
                <a:gd name="T25" fmla="*/ 416 h 512"/>
                <a:gd name="T26" fmla="*/ 314 w 512"/>
                <a:gd name="T27" fmla="*/ 425 h 512"/>
                <a:gd name="T28" fmla="*/ 309 w 512"/>
                <a:gd name="T29" fmla="*/ 426 h 512"/>
                <a:gd name="T30" fmla="*/ 304 w 512"/>
                <a:gd name="T31" fmla="*/ 425 h 512"/>
                <a:gd name="T32" fmla="*/ 256 w 512"/>
                <a:gd name="T33" fmla="*/ 396 h 512"/>
                <a:gd name="T34" fmla="*/ 208 w 512"/>
                <a:gd name="T35" fmla="*/ 425 h 512"/>
                <a:gd name="T36" fmla="*/ 197 w 512"/>
                <a:gd name="T37" fmla="*/ 425 h 512"/>
                <a:gd name="T38" fmla="*/ 192 w 512"/>
                <a:gd name="T39" fmla="*/ 416 h 512"/>
                <a:gd name="T40" fmla="*/ 192 w 512"/>
                <a:gd name="T41" fmla="*/ 308 h 512"/>
                <a:gd name="T42" fmla="*/ 191 w 512"/>
                <a:gd name="T43" fmla="*/ 308 h 512"/>
                <a:gd name="T44" fmla="*/ 168 w 512"/>
                <a:gd name="T45" fmla="*/ 300 h 512"/>
                <a:gd name="T46" fmla="*/ 161 w 512"/>
                <a:gd name="T47" fmla="*/ 278 h 512"/>
                <a:gd name="T48" fmla="*/ 160 w 512"/>
                <a:gd name="T49" fmla="*/ 268 h 512"/>
                <a:gd name="T50" fmla="*/ 152 w 512"/>
                <a:gd name="T51" fmla="*/ 263 h 512"/>
                <a:gd name="T52" fmla="*/ 136 w 512"/>
                <a:gd name="T53" fmla="*/ 245 h 512"/>
                <a:gd name="T54" fmla="*/ 141 w 512"/>
                <a:gd name="T55" fmla="*/ 222 h 512"/>
                <a:gd name="T56" fmla="*/ 145 w 512"/>
                <a:gd name="T57" fmla="*/ 213 h 512"/>
                <a:gd name="T58" fmla="*/ 141 w 512"/>
                <a:gd name="T59" fmla="*/ 204 h 512"/>
                <a:gd name="T60" fmla="*/ 136 w 512"/>
                <a:gd name="T61" fmla="*/ 181 h 512"/>
                <a:gd name="T62" fmla="*/ 152 w 512"/>
                <a:gd name="T63" fmla="*/ 163 h 512"/>
                <a:gd name="T64" fmla="*/ 160 w 512"/>
                <a:gd name="T65" fmla="*/ 158 h 512"/>
                <a:gd name="T66" fmla="*/ 161 w 512"/>
                <a:gd name="T67" fmla="*/ 148 h 512"/>
                <a:gd name="T68" fmla="*/ 168 w 512"/>
                <a:gd name="T69" fmla="*/ 126 h 512"/>
                <a:gd name="T70" fmla="*/ 191 w 512"/>
                <a:gd name="T71" fmla="*/ 118 h 512"/>
                <a:gd name="T72" fmla="*/ 200 w 512"/>
                <a:gd name="T73" fmla="*/ 117 h 512"/>
                <a:gd name="T74" fmla="*/ 206 w 512"/>
                <a:gd name="T75" fmla="*/ 110 h 512"/>
                <a:gd name="T76" fmla="*/ 224 w 512"/>
                <a:gd name="T77" fmla="*/ 93 h 512"/>
                <a:gd name="T78" fmla="*/ 247 w 512"/>
                <a:gd name="T79" fmla="*/ 99 h 512"/>
                <a:gd name="T80" fmla="*/ 256 w 512"/>
                <a:gd name="T81" fmla="*/ 102 h 512"/>
                <a:gd name="T82" fmla="*/ 264 w 512"/>
                <a:gd name="T83" fmla="*/ 99 h 512"/>
                <a:gd name="T84" fmla="*/ 288 w 512"/>
                <a:gd name="T85" fmla="*/ 93 h 512"/>
                <a:gd name="T86" fmla="*/ 306 w 512"/>
                <a:gd name="T87" fmla="*/ 110 h 512"/>
                <a:gd name="T88" fmla="*/ 311 w 512"/>
                <a:gd name="T89" fmla="*/ 117 h 512"/>
                <a:gd name="T90" fmla="*/ 320 w 512"/>
                <a:gd name="T91" fmla="*/ 118 h 512"/>
                <a:gd name="T92" fmla="*/ 343 w 512"/>
                <a:gd name="T93" fmla="*/ 126 h 512"/>
                <a:gd name="T94" fmla="*/ 351 w 512"/>
                <a:gd name="T95" fmla="*/ 148 h 512"/>
                <a:gd name="T96" fmla="*/ 352 w 512"/>
                <a:gd name="T97" fmla="*/ 158 h 512"/>
                <a:gd name="T98" fmla="*/ 359 w 512"/>
                <a:gd name="T99" fmla="*/ 163 h 512"/>
                <a:gd name="T100" fmla="*/ 375 w 512"/>
                <a:gd name="T101" fmla="*/ 181 h 512"/>
                <a:gd name="T102" fmla="*/ 370 w 512"/>
                <a:gd name="T103" fmla="*/ 204 h 512"/>
                <a:gd name="T104" fmla="*/ 367 w 512"/>
                <a:gd name="T105" fmla="*/ 213 h 512"/>
                <a:gd name="T106" fmla="*/ 370 w 512"/>
                <a:gd name="T107" fmla="*/ 222 h 512"/>
                <a:gd name="T108" fmla="*/ 375 w 512"/>
                <a:gd name="T109" fmla="*/ 24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75" y="245"/>
                  </a:moveTo>
                  <a:cubicBezTo>
                    <a:pt x="373" y="254"/>
                    <a:pt x="365" y="259"/>
                    <a:pt x="359" y="263"/>
                  </a:cubicBezTo>
                  <a:cubicBezTo>
                    <a:pt x="356" y="265"/>
                    <a:pt x="353" y="267"/>
                    <a:pt x="352" y="268"/>
                  </a:cubicBezTo>
                  <a:cubicBezTo>
                    <a:pt x="351" y="270"/>
                    <a:pt x="351" y="274"/>
                    <a:pt x="351" y="278"/>
                  </a:cubicBezTo>
                  <a:cubicBezTo>
                    <a:pt x="350" y="285"/>
                    <a:pt x="350" y="294"/>
                    <a:pt x="343" y="300"/>
                  </a:cubicBezTo>
                  <a:cubicBezTo>
                    <a:pt x="337" y="307"/>
                    <a:pt x="328" y="307"/>
                    <a:pt x="320" y="308"/>
                  </a:cubicBezTo>
                  <a:cubicBezTo>
                    <a:pt x="320" y="308"/>
                    <a:pt x="320" y="308"/>
                    <a:pt x="320" y="308"/>
                  </a:cubicBezTo>
                  <a:cubicBezTo>
                    <a:pt x="320" y="416"/>
                    <a:pt x="320" y="416"/>
                    <a:pt x="320" y="416"/>
                  </a:cubicBezTo>
                  <a:cubicBezTo>
                    <a:pt x="320" y="420"/>
                    <a:pt x="318" y="423"/>
                    <a:pt x="314" y="425"/>
                  </a:cubicBezTo>
                  <a:cubicBezTo>
                    <a:pt x="313" y="426"/>
                    <a:pt x="311" y="426"/>
                    <a:pt x="309" y="426"/>
                  </a:cubicBezTo>
                  <a:cubicBezTo>
                    <a:pt x="307" y="426"/>
                    <a:pt x="305" y="426"/>
                    <a:pt x="304" y="425"/>
                  </a:cubicBezTo>
                  <a:cubicBezTo>
                    <a:pt x="256" y="396"/>
                    <a:pt x="256" y="396"/>
                    <a:pt x="256" y="396"/>
                  </a:cubicBezTo>
                  <a:cubicBezTo>
                    <a:pt x="208" y="425"/>
                    <a:pt x="208" y="425"/>
                    <a:pt x="208" y="425"/>
                  </a:cubicBezTo>
                  <a:cubicBezTo>
                    <a:pt x="205" y="427"/>
                    <a:pt x="200" y="427"/>
                    <a:pt x="197" y="425"/>
                  </a:cubicBezTo>
                  <a:cubicBezTo>
                    <a:pt x="194" y="423"/>
                    <a:pt x="192" y="420"/>
                    <a:pt x="192" y="416"/>
                  </a:cubicBezTo>
                  <a:cubicBezTo>
                    <a:pt x="192" y="308"/>
                    <a:pt x="192" y="308"/>
                    <a:pt x="192" y="308"/>
                  </a:cubicBezTo>
                  <a:cubicBezTo>
                    <a:pt x="191" y="308"/>
                    <a:pt x="191" y="308"/>
                    <a:pt x="191" y="308"/>
                  </a:cubicBezTo>
                  <a:cubicBezTo>
                    <a:pt x="184" y="307"/>
                    <a:pt x="175" y="307"/>
                    <a:pt x="168" y="300"/>
                  </a:cubicBezTo>
                  <a:cubicBezTo>
                    <a:pt x="162" y="294"/>
                    <a:pt x="161" y="285"/>
                    <a:pt x="161" y="278"/>
                  </a:cubicBezTo>
                  <a:cubicBezTo>
                    <a:pt x="161" y="274"/>
                    <a:pt x="160" y="270"/>
                    <a:pt x="160" y="268"/>
                  </a:cubicBezTo>
                  <a:cubicBezTo>
                    <a:pt x="159" y="267"/>
                    <a:pt x="155" y="265"/>
                    <a:pt x="152" y="263"/>
                  </a:cubicBezTo>
                  <a:cubicBezTo>
                    <a:pt x="146" y="259"/>
                    <a:pt x="139" y="254"/>
                    <a:pt x="136" y="245"/>
                  </a:cubicBezTo>
                  <a:cubicBezTo>
                    <a:pt x="134" y="236"/>
                    <a:pt x="138" y="228"/>
                    <a:pt x="141" y="222"/>
                  </a:cubicBezTo>
                  <a:cubicBezTo>
                    <a:pt x="143" y="219"/>
                    <a:pt x="145" y="215"/>
                    <a:pt x="145" y="213"/>
                  </a:cubicBezTo>
                  <a:cubicBezTo>
                    <a:pt x="145" y="211"/>
                    <a:pt x="143" y="207"/>
                    <a:pt x="141" y="204"/>
                  </a:cubicBezTo>
                  <a:cubicBezTo>
                    <a:pt x="138" y="198"/>
                    <a:pt x="134" y="190"/>
                    <a:pt x="136" y="181"/>
                  </a:cubicBezTo>
                  <a:cubicBezTo>
                    <a:pt x="139" y="172"/>
                    <a:pt x="146" y="167"/>
                    <a:pt x="152" y="163"/>
                  </a:cubicBezTo>
                  <a:cubicBezTo>
                    <a:pt x="155" y="161"/>
                    <a:pt x="159" y="159"/>
                    <a:pt x="160" y="158"/>
                  </a:cubicBezTo>
                  <a:cubicBezTo>
                    <a:pt x="160" y="156"/>
                    <a:pt x="161" y="152"/>
                    <a:pt x="161" y="148"/>
                  </a:cubicBezTo>
                  <a:cubicBezTo>
                    <a:pt x="161" y="141"/>
                    <a:pt x="162" y="132"/>
                    <a:pt x="168" y="126"/>
                  </a:cubicBezTo>
                  <a:cubicBezTo>
                    <a:pt x="175" y="119"/>
                    <a:pt x="184" y="119"/>
                    <a:pt x="191" y="118"/>
                  </a:cubicBezTo>
                  <a:cubicBezTo>
                    <a:pt x="194" y="118"/>
                    <a:pt x="199" y="118"/>
                    <a:pt x="200" y="117"/>
                  </a:cubicBezTo>
                  <a:cubicBezTo>
                    <a:pt x="202" y="116"/>
                    <a:pt x="204" y="112"/>
                    <a:pt x="206" y="110"/>
                  </a:cubicBezTo>
                  <a:cubicBezTo>
                    <a:pt x="210" y="104"/>
                    <a:pt x="215" y="96"/>
                    <a:pt x="224" y="93"/>
                  </a:cubicBezTo>
                  <a:cubicBezTo>
                    <a:pt x="232" y="91"/>
                    <a:pt x="240" y="95"/>
                    <a:pt x="247" y="99"/>
                  </a:cubicBezTo>
                  <a:cubicBezTo>
                    <a:pt x="250" y="100"/>
                    <a:pt x="254" y="102"/>
                    <a:pt x="256" y="102"/>
                  </a:cubicBezTo>
                  <a:cubicBezTo>
                    <a:pt x="257" y="102"/>
                    <a:pt x="262" y="100"/>
                    <a:pt x="264" y="99"/>
                  </a:cubicBezTo>
                  <a:cubicBezTo>
                    <a:pt x="271" y="95"/>
                    <a:pt x="279" y="91"/>
                    <a:pt x="288" y="93"/>
                  </a:cubicBezTo>
                  <a:cubicBezTo>
                    <a:pt x="297" y="96"/>
                    <a:pt x="302" y="104"/>
                    <a:pt x="306" y="110"/>
                  </a:cubicBezTo>
                  <a:cubicBezTo>
                    <a:pt x="307" y="112"/>
                    <a:pt x="310" y="116"/>
                    <a:pt x="311" y="117"/>
                  </a:cubicBezTo>
                  <a:cubicBezTo>
                    <a:pt x="313" y="118"/>
                    <a:pt x="317" y="118"/>
                    <a:pt x="320" y="118"/>
                  </a:cubicBezTo>
                  <a:cubicBezTo>
                    <a:pt x="328" y="119"/>
                    <a:pt x="337" y="119"/>
                    <a:pt x="343" y="126"/>
                  </a:cubicBezTo>
                  <a:cubicBezTo>
                    <a:pt x="350" y="132"/>
                    <a:pt x="350" y="141"/>
                    <a:pt x="351" y="148"/>
                  </a:cubicBezTo>
                  <a:cubicBezTo>
                    <a:pt x="351" y="152"/>
                    <a:pt x="351" y="156"/>
                    <a:pt x="352" y="158"/>
                  </a:cubicBezTo>
                  <a:cubicBezTo>
                    <a:pt x="353" y="159"/>
                    <a:pt x="356" y="161"/>
                    <a:pt x="359" y="163"/>
                  </a:cubicBezTo>
                  <a:cubicBezTo>
                    <a:pt x="365" y="167"/>
                    <a:pt x="373" y="172"/>
                    <a:pt x="375" y="181"/>
                  </a:cubicBezTo>
                  <a:cubicBezTo>
                    <a:pt x="378" y="190"/>
                    <a:pt x="373" y="198"/>
                    <a:pt x="370" y="204"/>
                  </a:cubicBezTo>
                  <a:cubicBezTo>
                    <a:pt x="369" y="207"/>
                    <a:pt x="367" y="211"/>
                    <a:pt x="367" y="213"/>
                  </a:cubicBezTo>
                  <a:cubicBezTo>
                    <a:pt x="367" y="215"/>
                    <a:pt x="369" y="219"/>
                    <a:pt x="370" y="222"/>
                  </a:cubicBezTo>
                  <a:cubicBezTo>
                    <a:pt x="373" y="228"/>
                    <a:pt x="378" y="236"/>
                    <a:pt x="375" y="24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414522659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F93E36E-1F3C-42D3-9037-E7AA017BBC0B}"/>
              </a:ext>
            </a:extLst>
          </p:cNvPr>
          <p:cNvPicPr>
            <a:picLocks noChangeAspect="1"/>
          </p:cNvPicPr>
          <p:nvPr/>
        </p:nvPicPr>
        <p:blipFill>
          <a:blip r:embed="rId2"/>
          <a:stretch>
            <a:fillRect/>
          </a:stretch>
        </p:blipFill>
        <p:spPr>
          <a:xfrm>
            <a:off x="0" y="0"/>
            <a:ext cx="12192000" cy="6858000"/>
          </a:xfrm>
          <a:prstGeom prst="rect">
            <a:avLst/>
          </a:prstGeom>
        </p:spPr>
      </p:pic>
      <p:sp>
        <p:nvSpPr>
          <p:cNvPr id="18" name="Rectangle 17">
            <a:extLst>
              <a:ext uri="{FF2B5EF4-FFF2-40B4-BE49-F238E27FC236}">
                <a16:creationId xmlns:a16="http://schemas.microsoft.com/office/drawing/2014/main" id="{F23F97FA-08CA-494D-8222-0C9F13B6D3B7}"/>
              </a:ext>
            </a:extLst>
          </p:cNvPr>
          <p:cNvSpPr/>
          <p:nvPr/>
        </p:nvSpPr>
        <p:spPr bwMode="gray">
          <a:xfrm>
            <a:off x="0" y="-1"/>
            <a:ext cx="12192000" cy="6858001"/>
          </a:xfrm>
          <a:prstGeom prst="rect">
            <a:avLst/>
          </a:prstGeom>
          <a:solidFill>
            <a:schemeClr val="tx1">
              <a:alpha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19" name="Group 18">
            <a:extLst>
              <a:ext uri="{FF2B5EF4-FFF2-40B4-BE49-F238E27FC236}">
                <a16:creationId xmlns:a16="http://schemas.microsoft.com/office/drawing/2014/main" id="{6DA1E5F3-23A6-4D8D-BAFB-0516AF8A12A7}"/>
              </a:ext>
            </a:extLst>
          </p:cNvPr>
          <p:cNvGrpSpPr/>
          <p:nvPr/>
        </p:nvGrpSpPr>
        <p:grpSpPr>
          <a:xfrm>
            <a:off x="0" y="4343400"/>
            <a:ext cx="12192000" cy="1676400"/>
            <a:chOff x="0" y="2999979"/>
            <a:chExt cx="10688635" cy="1676400"/>
          </a:xfrm>
        </p:grpSpPr>
        <p:sp>
          <p:nvSpPr>
            <p:cNvPr id="20" name="Hexagon 19">
              <a:extLst>
                <a:ext uri="{FF2B5EF4-FFF2-40B4-BE49-F238E27FC236}">
                  <a16:creationId xmlns:a16="http://schemas.microsoft.com/office/drawing/2014/main" id="{B8CAEA98-2431-4D17-8ED6-D38BEB662641}"/>
                </a:ext>
              </a:extLst>
            </p:cNvPr>
            <p:cNvSpPr/>
            <p:nvPr/>
          </p:nvSpPr>
          <p:spPr bwMode="gray">
            <a:xfrm>
              <a:off x="1756947" y="2999979"/>
              <a:ext cx="7174744" cy="1676400"/>
            </a:xfrm>
            <a:prstGeom prst="hexagon">
              <a:avLst>
                <a:gd name="adj" fmla="val 19545"/>
                <a:gd name="vf" fmla="val 115470"/>
              </a:avLst>
            </a:prstGeom>
            <a:gradFill>
              <a:gsLst>
                <a:gs pos="0">
                  <a:schemeClr val="accent2"/>
                </a:gs>
                <a:gs pos="100000">
                  <a:srgbClr val="00ABAB"/>
                </a:gs>
              </a:gsLst>
              <a:lin ang="0" scaled="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21" name="Group 20">
              <a:extLst>
                <a:ext uri="{FF2B5EF4-FFF2-40B4-BE49-F238E27FC236}">
                  <a16:creationId xmlns:a16="http://schemas.microsoft.com/office/drawing/2014/main" id="{CB21DC55-2ACF-4C81-877E-D0F1A303F27A}"/>
                </a:ext>
              </a:extLst>
            </p:cNvPr>
            <p:cNvGrpSpPr/>
            <p:nvPr/>
          </p:nvGrpSpPr>
          <p:grpSpPr>
            <a:xfrm>
              <a:off x="8668283" y="3198085"/>
              <a:ext cx="2020352" cy="1280188"/>
              <a:chOff x="10903266" y="5513021"/>
              <a:chExt cx="2541269" cy="1280188"/>
            </a:xfrm>
          </p:grpSpPr>
          <p:sp>
            <p:nvSpPr>
              <p:cNvPr id="33" name="Chevron 16">
                <a:extLst>
                  <a:ext uri="{FF2B5EF4-FFF2-40B4-BE49-F238E27FC236}">
                    <a16:creationId xmlns:a16="http://schemas.microsoft.com/office/drawing/2014/main" id="{074F26CA-E032-40B0-B977-6F7EEC356C9D}"/>
                  </a:ext>
                </a:extLst>
              </p:cNvPr>
              <p:cNvSpPr/>
              <p:nvPr/>
            </p:nvSpPr>
            <p:spPr bwMode="gray">
              <a:xfrm rot="10800000" flipH="1">
                <a:off x="10903266" y="5513021"/>
                <a:ext cx="457201" cy="1280188"/>
              </a:xfrm>
              <a:prstGeom prst="chevron">
                <a:avLst>
                  <a:gd name="adj" fmla="val 70202"/>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34" name="Group 33">
                <a:extLst>
                  <a:ext uri="{FF2B5EF4-FFF2-40B4-BE49-F238E27FC236}">
                    <a16:creationId xmlns:a16="http://schemas.microsoft.com/office/drawing/2014/main" id="{095A11B0-F3A5-490E-98D8-9A8104AEAE89}"/>
                  </a:ext>
                </a:extLst>
              </p:cNvPr>
              <p:cNvGrpSpPr/>
              <p:nvPr/>
            </p:nvGrpSpPr>
            <p:grpSpPr>
              <a:xfrm>
                <a:off x="11301887" y="6041668"/>
                <a:ext cx="2142648" cy="227052"/>
                <a:chOff x="11338560" y="6041668"/>
                <a:chExt cx="2047717" cy="227052"/>
              </a:xfrm>
              <a:solidFill>
                <a:schemeClr val="accent5">
                  <a:alpha val="80000"/>
                </a:schemeClr>
              </a:solidFill>
            </p:grpSpPr>
            <p:sp>
              <p:nvSpPr>
                <p:cNvPr id="35" name="Rectangle 34">
                  <a:extLst>
                    <a:ext uri="{FF2B5EF4-FFF2-40B4-BE49-F238E27FC236}">
                      <a16:creationId xmlns:a16="http://schemas.microsoft.com/office/drawing/2014/main" id="{9C6A7C66-621A-43E6-A80F-64614D729D5A}"/>
                    </a:ext>
                  </a:extLst>
                </p:cNvPr>
                <p:cNvSpPr/>
                <p:nvPr/>
              </p:nvSpPr>
              <p:spPr bwMode="gray">
                <a:xfrm>
                  <a:off x="11390019" y="6041669"/>
                  <a:ext cx="1996258" cy="227051"/>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36" name="Group 35">
                  <a:extLst>
                    <a:ext uri="{FF2B5EF4-FFF2-40B4-BE49-F238E27FC236}">
                      <a16:creationId xmlns:a16="http://schemas.microsoft.com/office/drawing/2014/main" id="{F169794C-7F04-4853-86D6-8D1130208AAA}"/>
                    </a:ext>
                  </a:extLst>
                </p:cNvPr>
                <p:cNvGrpSpPr/>
                <p:nvPr/>
              </p:nvGrpSpPr>
              <p:grpSpPr>
                <a:xfrm>
                  <a:off x="11338560" y="6041668"/>
                  <a:ext cx="51458" cy="227052"/>
                  <a:chOff x="11778615" y="5998513"/>
                  <a:chExt cx="116958" cy="357524"/>
                </a:xfrm>
                <a:grpFill/>
              </p:grpSpPr>
              <p:sp>
                <p:nvSpPr>
                  <p:cNvPr id="37" name="Right Triangle 36">
                    <a:extLst>
                      <a:ext uri="{FF2B5EF4-FFF2-40B4-BE49-F238E27FC236}">
                        <a16:creationId xmlns:a16="http://schemas.microsoft.com/office/drawing/2014/main" id="{2C88BD60-D161-4EB4-A780-076174601B40}"/>
                      </a:ext>
                    </a:extLst>
                  </p:cNvPr>
                  <p:cNvSpPr/>
                  <p:nvPr/>
                </p:nvSpPr>
                <p:spPr bwMode="gray">
                  <a:xfrm rot="10800000" flipV="1">
                    <a:off x="11778615" y="6173078"/>
                    <a:ext cx="116958" cy="182959"/>
                  </a:xfrm>
                  <a:prstGeom prst="rtTriangle">
                    <a:avLst/>
                  </a:prstGeom>
                  <a:solidFill>
                    <a:srgbClr val="0D839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8" name="Right Triangle 37">
                    <a:extLst>
                      <a:ext uri="{FF2B5EF4-FFF2-40B4-BE49-F238E27FC236}">
                        <a16:creationId xmlns:a16="http://schemas.microsoft.com/office/drawing/2014/main" id="{AA6ACADD-D170-45E7-998E-01B35D0AD651}"/>
                      </a:ext>
                    </a:extLst>
                  </p:cNvPr>
                  <p:cNvSpPr/>
                  <p:nvPr/>
                </p:nvSpPr>
                <p:spPr bwMode="gray">
                  <a:xfrm rot="10800000">
                    <a:off x="11778615" y="5998513"/>
                    <a:ext cx="116958" cy="174565"/>
                  </a:xfrm>
                  <a:prstGeom prst="rtTriangle">
                    <a:avLst/>
                  </a:prstGeom>
                  <a:solidFill>
                    <a:srgbClr val="0D839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grpSp>
        <p:grpSp>
          <p:nvGrpSpPr>
            <p:cNvPr id="22" name="Group 21">
              <a:extLst>
                <a:ext uri="{FF2B5EF4-FFF2-40B4-BE49-F238E27FC236}">
                  <a16:creationId xmlns:a16="http://schemas.microsoft.com/office/drawing/2014/main" id="{F62B29AA-1E18-45E2-B2CE-F6304A75D149}"/>
                </a:ext>
              </a:extLst>
            </p:cNvPr>
            <p:cNvGrpSpPr/>
            <p:nvPr/>
          </p:nvGrpSpPr>
          <p:grpSpPr>
            <a:xfrm flipH="1">
              <a:off x="0" y="3198085"/>
              <a:ext cx="2020352" cy="1280188"/>
              <a:chOff x="10903266" y="5513021"/>
              <a:chExt cx="2541269" cy="1280188"/>
            </a:xfrm>
            <a:solidFill>
              <a:schemeClr val="accent1">
                <a:alpha val="80000"/>
              </a:schemeClr>
            </a:solidFill>
          </p:grpSpPr>
          <p:sp>
            <p:nvSpPr>
              <p:cNvPr id="27" name="Chevron 10">
                <a:extLst>
                  <a:ext uri="{FF2B5EF4-FFF2-40B4-BE49-F238E27FC236}">
                    <a16:creationId xmlns:a16="http://schemas.microsoft.com/office/drawing/2014/main" id="{83390DF0-C03A-454C-85B6-282FEDB779E3}"/>
                  </a:ext>
                </a:extLst>
              </p:cNvPr>
              <p:cNvSpPr/>
              <p:nvPr/>
            </p:nvSpPr>
            <p:spPr bwMode="gray">
              <a:xfrm rot="10800000" flipH="1">
                <a:off x="10903266" y="5513021"/>
                <a:ext cx="457201" cy="1280188"/>
              </a:xfrm>
              <a:prstGeom prst="chevron">
                <a:avLst>
                  <a:gd name="adj" fmla="val 70202"/>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28" name="Group 27">
                <a:extLst>
                  <a:ext uri="{FF2B5EF4-FFF2-40B4-BE49-F238E27FC236}">
                    <a16:creationId xmlns:a16="http://schemas.microsoft.com/office/drawing/2014/main" id="{2EE82799-1BE5-49F8-A9D7-78FF9A5137E6}"/>
                  </a:ext>
                </a:extLst>
              </p:cNvPr>
              <p:cNvGrpSpPr/>
              <p:nvPr/>
            </p:nvGrpSpPr>
            <p:grpSpPr>
              <a:xfrm>
                <a:off x="11301887" y="6041668"/>
                <a:ext cx="2142648" cy="227052"/>
                <a:chOff x="11338560" y="6041668"/>
                <a:chExt cx="2047717" cy="227052"/>
              </a:xfrm>
              <a:grpFill/>
            </p:grpSpPr>
            <p:sp>
              <p:nvSpPr>
                <p:cNvPr id="29" name="Rectangle 28">
                  <a:extLst>
                    <a:ext uri="{FF2B5EF4-FFF2-40B4-BE49-F238E27FC236}">
                      <a16:creationId xmlns:a16="http://schemas.microsoft.com/office/drawing/2014/main" id="{84A15A22-F658-45B3-A95A-CF496721D41F}"/>
                    </a:ext>
                  </a:extLst>
                </p:cNvPr>
                <p:cNvSpPr/>
                <p:nvPr/>
              </p:nvSpPr>
              <p:spPr bwMode="gray">
                <a:xfrm>
                  <a:off x="11390019" y="6041669"/>
                  <a:ext cx="1996258" cy="227051"/>
                </a:xfrm>
                <a:prstGeom prst="rect">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30" name="Group 29">
                  <a:extLst>
                    <a:ext uri="{FF2B5EF4-FFF2-40B4-BE49-F238E27FC236}">
                      <a16:creationId xmlns:a16="http://schemas.microsoft.com/office/drawing/2014/main" id="{319C76B8-088F-4595-B8BC-294E5B6613ED}"/>
                    </a:ext>
                  </a:extLst>
                </p:cNvPr>
                <p:cNvGrpSpPr/>
                <p:nvPr/>
              </p:nvGrpSpPr>
              <p:grpSpPr>
                <a:xfrm>
                  <a:off x="11338560" y="6041668"/>
                  <a:ext cx="51458" cy="227052"/>
                  <a:chOff x="11778615" y="5998513"/>
                  <a:chExt cx="116958" cy="357524"/>
                </a:xfrm>
                <a:grpFill/>
              </p:grpSpPr>
              <p:sp>
                <p:nvSpPr>
                  <p:cNvPr id="31" name="Right Triangle 30">
                    <a:extLst>
                      <a:ext uri="{FF2B5EF4-FFF2-40B4-BE49-F238E27FC236}">
                        <a16:creationId xmlns:a16="http://schemas.microsoft.com/office/drawing/2014/main" id="{B2450384-D5F1-4105-943F-3F2436AE3345}"/>
                      </a:ext>
                    </a:extLst>
                  </p:cNvPr>
                  <p:cNvSpPr/>
                  <p:nvPr/>
                </p:nvSpPr>
                <p:spPr bwMode="gray">
                  <a:xfrm rot="10800000" flipV="1">
                    <a:off x="11778615" y="6173078"/>
                    <a:ext cx="116958" cy="182959"/>
                  </a:xfrm>
                  <a:prstGeom prst="rtTriangle">
                    <a:avLst/>
                  </a:prstGeom>
                  <a:solidFill>
                    <a:srgbClr val="32841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2" name="Right Triangle 31">
                    <a:extLst>
                      <a:ext uri="{FF2B5EF4-FFF2-40B4-BE49-F238E27FC236}">
                        <a16:creationId xmlns:a16="http://schemas.microsoft.com/office/drawing/2014/main" id="{0DA9503C-6D4F-4E73-804B-0689106DA76E}"/>
                      </a:ext>
                    </a:extLst>
                  </p:cNvPr>
                  <p:cNvSpPr/>
                  <p:nvPr/>
                </p:nvSpPr>
                <p:spPr bwMode="gray">
                  <a:xfrm rot="10800000">
                    <a:off x="11778615" y="5998513"/>
                    <a:ext cx="116958" cy="174565"/>
                  </a:xfrm>
                  <a:prstGeom prst="rtTriangle">
                    <a:avLst/>
                  </a:prstGeom>
                  <a:solidFill>
                    <a:srgbClr val="32841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grpSp>
        <p:sp>
          <p:nvSpPr>
            <p:cNvPr id="23" name="Text Placeholder 9">
              <a:extLst>
                <a:ext uri="{FF2B5EF4-FFF2-40B4-BE49-F238E27FC236}">
                  <a16:creationId xmlns:a16="http://schemas.microsoft.com/office/drawing/2014/main" id="{E03F1869-F5FA-4C70-B689-8FC30F59D7C6}"/>
                </a:ext>
              </a:extLst>
            </p:cNvPr>
            <p:cNvSpPr txBox="1">
              <a:spLocks/>
            </p:cNvSpPr>
            <p:nvPr/>
          </p:nvSpPr>
          <p:spPr>
            <a:xfrm>
              <a:off x="2164640" y="2999979"/>
              <a:ext cx="6434194" cy="1676400"/>
            </a:xfrm>
            <a:prstGeom prst="rect">
              <a:avLst/>
            </a:prstGeom>
          </p:spPr>
          <p:txBody>
            <a:bodyPr vert="horz" lIns="0" tIns="0" rIns="0" bIns="0" rtlCol="0" anchor="ctr">
              <a:norm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r>
                <a:rPr lang="en-US" sz="5000" b="1" dirty="0">
                  <a:solidFill>
                    <a:schemeClr val="bg1"/>
                  </a:solidFill>
                  <a:effectLst>
                    <a:outerShdw blurRad="38100" dist="38100" dir="2700000" algn="tl">
                      <a:srgbClr val="000000">
                        <a:alpha val="43137"/>
                      </a:srgbClr>
                    </a:outerShdw>
                  </a:effectLst>
                </a:rPr>
                <a:t>Our approach</a:t>
              </a:r>
            </a:p>
          </p:txBody>
        </p:sp>
      </p:grpSp>
    </p:spTree>
    <p:extLst>
      <p:ext uri="{BB962C8B-B14F-4D97-AF65-F5344CB8AC3E}">
        <p14:creationId xmlns:p14="http://schemas.microsoft.com/office/powerpoint/2010/main" val="132568636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Rectangle 144">
            <a:extLst>
              <a:ext uri="{FF2B5EF4-FFF2-40B4-BE49-F238E27FC236}">
                <a16:creationId xmlns:a16="http://schemas.microsoft.com/office/drawing/2014/main" id="{1631B3AD-BC73-4E99-9DA4-01DF50BB62B1}"/>
              </a:ext>
            </a:extLst>
          </p:cNvPr>
          <p:cNvSpPr/>
          <p:nvPr/>
        </p:nvSpPr>
        <p:spPr bwMode="gray">
          <a:xfrm>
            <a:off x="-1" y="5387277"/>
            <a:ext cx="12192001" cy="365760"/>
          </a:xfrm>
          <a:prstGeom prst="rect">
            <a:avLst/>
          </a:prstGeom>
          <a:solidFill>
            <a:schemeClr val="tx2">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Charter of Success</a:t>
            </a:r>
          </a:p>
        </p:txBody>
      </p:sp>
      <p:sp>
        <p:nvSpPr>
          <p:cNvPr id="4" name="Title 3">
            <a:extLst>
              <a:ext uri="{FF2B5EF4-FFF2-40B4-BE49-F238E27FC236}">
                <a16:creationId xmlns:a16="http://schemas.microsoft.com/office/drawing/2014/main" id="{12CAB2B5-1C0B-4AFB-8CE1-F16569EB6474}"/>
              </a:ext>
            </a:extLst>
          </p:cNvPr>
          <p:cNvSpPr>
            <a:spLocks noGrp="1"/>
          </p:cNvSpPr>
          <p:nvPr>
            <p:ph type="title"/>
          </p:nvPr>
        </p:nvSpPr>
        <p:spPr/>
        <p:txBody>
          <a:bodyPr/>
          <a:lstStyle/>
          <a:p>
            <a:r>
              <a:rPr lang="en-IN" dirty="0"/>
              <a:t>Approach and methodology</a:t>
            </a:r>
          </a:p>
        </p:txBody>
      </p:sp>
      <p:cxnSp>
        <p:nvCxnSpPr>
          <p:cNvPr id="7" name="Straight Connector 6">
            <a:extLst>
              <a:ext uri="{FF2B5EF4-FFF2-40B4-BE49-F238E27FC236}">
                <a16:creationId xmlns:a16="http://schemas.microsoft.com/office/drawing/2014/main" id="{916A667A-4B86-4AFA-B644-C3C7820E49E6}"/>
              </a:ext>
            </a:extLst>
          </p:cNvPr>
          <p:cNvCxnSpPr>
            <a:cxnSpLocks/>
          </p:cNvCxnSpPr>
          <p:nvPr/>
        </p:nvCxnSpPr>
        <p:spPr>
          <a:xfrm>
            <a:off x="10025699" y="3169167"/>
            <a:ext cx="1620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9E0349-0404-46ED-94EA-EE8995BCD279}"/>
              </a:ext>
            </a:extLst>
          </p:cNvPr>
          <p:cNvCxnSpPr>
            <a:cxnSpLocks/>
          </p:cNvCxnSpPr>
          <p:nvPr/>
        </p:nvCxnSpPr>
        <p:spPr>
          <a:xfrm flipH="1">
            <a:off x="478725" y="1521982"/>
            <a:ext cx="1" cy="27794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929E26-C27A-4D4C-9796-11E361C1DEA5}"/>
              </a:ext>
            </a:extLst>
          </p:cNvPr>
          <p:cNvSpPr txBox="1"/>
          <p:nvPr/>
        </p:nvSpPr>
        <p:spPr>
          <a:xfrm>
            <a:off x="3648835" y="1928378"/>
            <a:ext cx="1338925" cy="246221"/>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mj-lt"/>
                <a:ea typeface="Open Sans Light" panose="020B0306030504020204" pitchFamily="34" charset="0"/>
                <a:cs typeface="Open Sans Light" panose="020B0306030504020204" pitchFamily="34" charset="0"/>
              </a:rPr>
              <a:t>OOMF v2.0 DEFINED</a:t>
            </a:r>
          </a:p>
        </p:txBody>
      </p:sp>
      <p:grpSp>
        <p:nvGrpSpPr>
          <p:cNvPr id="146" name="Group 145">
            <a:extLst>
              <a:ext uri="{FF2B5EF4-FFF2-40B4-BE49-F238E27FC236}">
                <a16:creationId xmlns:a16="http://schemas.microsoft.com/office/drawing/2014/main" id="{8C1B93BB-2ADD-4D13-AB85-02DD8EDBBA14}"/>
              </a:ext>
            </a:extLst>
          </p:cNvPr>
          <p:cNvGrpSpPr/>
          <p:nvPr/>
        </p:nvGrpSpPr>
        <p:grpSpPr>
          <a:xfrm>
            <a:off x="477003" y="1756964"/>
            <a:ext cx="11237976" cy="0"/>
            <a:chOff x="403513" y="1756964"/>
            <a:chExt cx="11500053" cy="0"/>
          </a:xfrm>
        </p:grpSpPr>
        <p:cxnSp>
          <p:nvCxnSpPr>
            <p:cNvPr id="6" name="Straight Connector 5">
              <a:extLst>
                <a:ext uri="{FF2B5EF4-FFF2-40B4-BE49-F238E27FC236}">
                  <a16:creationId xmlns:a16="http://schemas.microsoft.com/office/drawing/2014/main" id="{484024D4-CC02-43FD-936E-010AE5718020}"/>
                </a:ext>
              </a:extLst>
            </p:cNvPr>
            <p:cNvCxnSpPr>
              <a:cxnSpLocks/>
            </p:cNvCxnSpPr>
            <p:nvPr/>
          </p:nvCxnSpPr>
          <p:spPr>
            <a:xfrm>
              <a:off x="9869022" y="1756964"/>
              <a:ext cx="2034544" cy="0"/>
            </a:xfrm>
            <a:prstGeom prst="line">
              <a:avLst/>
            </a:prstGeom>
            <a:ln w="952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A9398D-1C16-4FA5-B819-EDB5BA29820E}"/>
                </a:ext>
              </a:extLst>
            </p:cNvPr>
            <p:cNvCxnSpPr>
              <a:cxnSpLocks/>
            </p:cNvCxnSpPr>
            <p:nvPr/>
          </p:nvCxnSpPr>
          <p:spPr>
            <a:xfrm>
              <a:off x="1887128" y="1756964"/>
              <a:ext cx="7953259" cy="0"/>
            </a:xfrm>
            <a:prstGeom prst="line">
              <a:avLst/>
            </a:prstGeom>
            <a:ln w="95250">
              <a:solidFill>
                <a:srgbClr val="005587"/>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0643FDF-3115-45A8-87BB-76992F57BCB5}"/>
                </a:ext>
              </a:extLst>
            </p:cNvPr>
            <p:cNvCxnSpPr>
              <a:cxnSpLocks/>
            </p:cNvCxnSpPr>
            <p:nvPr/>
          </p:nvCxnSpPr>
          <p:spPr>
            <a:xfrm>
              <a:off x="403513" y="1756964"/>
              <a:ext cx="1440000" cy="0"/>
            </a:xfrm>
            <a:prstGeom prst="line">
              <a:avLst/>
            </a:prstGeom>
            <a:ln w="952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1" name="Diamond 40">
            <a:extLst>
              <a:ext uri="{FF2B5EF4-FFF2-40B4-BE49-F238E27FC236}">
                <a16:creationId xmlns:a16="http://schemas.microsoft.com/office/drawing/2014/main" id="{58B70F38-DDBC-4AF4-91B0-69C828A75F1E}"/>
              </a:ext>
            </a:extLst>
          </p:cNvPr>
          <p:cNvSpPr/>
          <p:nvPr/>
        </p:nvSpPr>
        <p:spPr>
          <a:xfrm>
            <a:off x="1861864" y="2437593"/>
            <a:ext cx="1446472" cy="1446471"/>
          </a:xfrm>
          <a:prstGeom prst="diamond">
            <a:avLst/>
          </a:prstGeom>
          <a:noFill/>
          <a:ln w="28575">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3632" tIns="51816" rIns="103632" bIns="5181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Open Sans" panose="020B0606030504020204" pitchFamily="34" charset="0"/>
              <a:cs typeface="Open Sans" panose="020B0606030504020204" pitchFamily="34" charset="0"/>
            </a:endParaRPr>
          </a:p>
        </p:txBody>
      </p:sp>
      <p:sp>
        <p:nvSpPr>
          <p:cNvPr id="42" name="Rectangle 3">
            <a:extLst>
              <a:ext uri="{FF2B5EF4-FFF2-40B4-BE49-F238E27FC236}">
                <a16:creationId xmlns:a16="http://schemas.microsoft.com/office/drawing/2014/main" id="{53BE12CB-B5E1-491C-9C49-CC9A7AEF6BB4}"/>
              </a:ext>
            </a:extLst>
          </p:cNvPr>
          <p:cNvSpPr>
            <a:spLocks/>
          </p:cNvSpPr>
          <p:nvPr/>
        </p:nvSpPr>
        <p:spPr bwMode="auto">
          <a:xfrm>
            <a:off x="2069431" y="3020357"/>
            <a:ext cx="1031338" cy="4632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dirty="0">
                <a:ln>
                  <a:noFill/>
                </a:ln>
                <a:solidFill>
                  <a:srgbClr val="3F3F3F"/>
                </a:solidFill>
                <a:effectLst/>
                <a:uLnTx/>
                <a:uFillTx/>
                <a:latin typeface="+mj-lt"/>
                <a:ea typeface="Open Sans Semibold" panose="020B0706030804020204" pitchFamily="34" charset="0"/>
                <a:cs typeface="Open Sans Semibold" panose="020B0706030804020204" pitchFamily="34" charset="0"/>
                <a:sym typeface="Frutiger Next Pro Medium" charset="0"/>
              </a:rPr>
              <a:t>1. Discover</a:t>
            </a:r>
          </a:p>
        </p:txBody>
      </p:sp>
      <p:grpSp>
        <p:nvGrpSpPr>
          <p:cNvPr id="43" name="Group 42">
            <a:extLst>
              <a:ext uri="{FF2B5EF4-FFF2-40B4-BE49-F238E27FC236}">
                <a16:creationId xmlns:a16="http://schemas.microsoft.com/office/drawing/2014/main" id="{857D44B0-D4EB-4B23-856E-26C6F6A3EFAF}"/>
              </a:ext>
            </a:extLst>
          </p:cNvPr>
          <p:cNvGrpSpPr/>
          <p:nvPr/>
        </p:nvGrpSpPr>
        <p:grpSpPr>
          <a:xfrm>
            <a:off x="2459100" y="2864227"/>
            <a:ext cx="252000" cy="252000"/>
            <a:chOff x="2201368" y="2729073"/>
            <a:chExt cx="400391" cy="400391"/>
          </a:xfrm>
          <a:solidFill>
            <a:srgbClr val="86F200"/>
          </a:solidFill>
        </p:grpSpPr>
        <p:sp>
          <p:nvSpPr>
            <p:cNvPr id="136" name="Shape 2571">
              <a:extLst>
                <a:ext uri="{FF2B5EF4-FFF2-40B4-BE49-F238E27FC236}">
                  <a16:creationId xmlns:a16="http://schemas.microsoft.com/office/drawing/2014/main" id="{7AD784AF-2564-4CF8-B5E7-41EB0835324E}"/>
                </a:ext>
              </a:extLst>
            </p:cNvPr>
            <p:cNvSpPr/>
            <p:nvPr/>
          </p:nvSpPr>
          <p:spPr>
            <a:xfrm>
              <a:off x="2201368" y="2729073"/>
              <a:ext cx="400391" cy="400391"/>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grpFill/>
            <a:ln w="12700">
              <a:miter lim="400000"/>
            </a:ln>
          </p:spPr>
          <p:txBody>
            <a:bodyPr lIns="14284" tIns="14284" rIns="14284" bIns="14284" anchor="ctr"/>
            <a:lstStyle/>
            <a:p>
              <a:pPr marL="0" marR="0" lvl="0" indent="0" algn="l" defTabSz="17139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0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mj-lt"/>
                <a:ea typeface="Calibri" charset="0"/>
                <a:cs typeface="Calibri" charset="0"/>
                <a:sym typeface="Gill Sans"/>
              </a:endParaRPr>
            </a:p>
          </p:txBody>
        </p:sp>
        <p:sp>
          <p:nvSpPr>
            <p:cNvPr id="137" name="Shape 2609">
              <a:extLst>
                <a:ext uri="{FF2B5EF4-FFF2-40B4-BE49-F238E27FC236}">
                  <a16:creationId xmlns:a16="http://schemas.microsoft.com/office/drawing/2014/main" id="{D708AF47-FC31-4645-902E-E5A2D1AF2311}"/>
                </a:ext>
              </a:extLst>
            </p:cNvPr>
            <p:cNvSpPr/>
            <p:nvPr/>
          </p:nvSpPr>
          <p:spPr>
            <a:xfrm>
              <a:off x="2281051" y="2818367"/>
              <a:ext cx="191408" cy="156607"/>
            </a:xfrm>
            <a:custGeom>
              <a:avLst/>
              <a:gdLst/>
              <a:ahLst/>
              <a:cxnLst>
                <a:cxn ang="0">
                  <a:pos x="wd2" y="hd2"/>
                </a:cxn>
                <a:cxn ang="5400000">
                  <a:pos x="wd2" y="hd2"/>
                </a:cxn>
                <a:cxn ang="10800000">
                  <a:pos x="wd2" y="hd2"/>
                </a:cxn>
                <a:cxn ang="16200000">
                  <a:pos x="wd2" y="hd2"/>
                </a:cxn>
              </a:cxnLst>
              <a:rect l="0" t="0" r="r" b="b"/>
              <a:pathLst>
                <a:path w="21600" h="21600" extrusionOk="0">
                  <a:moveTo>
                    <a:pt x="21109" y="13200"/>
                  </a:moveTo>
                  <a:lnTo>
                    <a:pt x="5400" y="13200"/>
                  </a:lnTo>
                  <a:cubicBezTo>
                    <a:pt x="5129" y="13200"/>
                    <a:pt x="4909" y="13469"/>
                    <a:pt x="4909" y="13800"/>
                  </a:cubicBezTo>
                  <a:cubicBezTo>
                    <a:pt x="4909" y="14132"/>
                    <a:pt x="5129" y="14400"/>
                    <a:pt x="5400" y="14400"/>
                  </a:cubicBezTo>
                  <a:lnTo>
                    <a:pt x="21109" y="14400"/>
                  </a:lnTo>
                  <a:cubicBezTo>
                    <a:pt x="21380" y="14400"/>
                    <a:pt x="21600" y="14132"/>
                    <a:pt x="21600" y="13800"/>
                  </a:cubicBezTo>
                  <a:cubicBezTo>
                    <a:pt x="21600" y="13469"/>
                    <a:pt x="21380" y="13200"/>
                    <a:pt x="21109" y="13200"/>
                  </a:cubicBezTo>
                  <a:moveTo>
                    <a:pt x="21109" y="7200"/>
                  </a:moveTo>
                  <a:lnTo>
                    <a:pt x="5400" y="7200"/>
                  </a:lnTo>
                  <a:cubicBezTo>
                    <a:pt x="5129" y="7200"/>
                    <a:pt x="4909" y="7469"/>
                    <a:pt x="4909" y="7800"/>
                  </a:cubicBezTo>
                  <a:cubicBezTo>
                    <a:pt x="4909" y="8132"/>
                    <a:pt x="5129" y="8401"/>
                    <a:pt x="5400" y="8401"/>
                  </a:cubicBezTo>
                  <a:lnTo>
                    <a:pt x="21109" y="8401"/>
                  </a:lnTo>
                  <a:cubicBezTo>
                    <a:pt x="21380" y="8401"/>
                    <a:pt x="21600" y="8132"/>
                    <a:pt x="21600" y="7800"/>
                  </a:cubicBezTo>
                  <a:cubicBezTo>
                    <a:pt x="21600" y="7469"/>
                    <a:pt x="21380" y="7200"/>
                    <a:pt x="21109" y="7200"/>
                  </a:cubicBezTo>
                  <a:moveTo>
                    <a:pt x="1473" y="0"/>
                  </a:moveTo>
                  <a:cubicBezTo>
                    <a:pt x="659" y="0"/>
                    <a:pt x="0" y="807"/>
                    <a:pt x="0" y="1800"/>
                  </a:cubicBezTo>
                  <a:cubicBezTo>
                    <a:pt x="0" y="2794"/>
                    <a:pt x="659" y="3600"/>
                    <a:pt x="1473" y="3600"/>
                  </a:cubicBezTo>
                  <a:cubicBezTo>
                    <a:pt x="2286" y="3600"/>
                    <a:pt x="2945" y="2794"/>
                    <a:pt x="2945" y="1800"/>
                  </a:cubicBezTo>
                  <a:cubicBezTo>
                    <a:pt x="2945" y="807"/>
                    <a:pt x="2286" y="0"/>
                    <a:pt x="1473" y="0"/>
                  </a:cubicBezTo>
                  <a:moveTo>
                    <a:pt x="21109" y="19200"/>
                  </a:moveTo>
                  <a:lnTo>
                    <a:pt x="5400" y="19200"/>
                  </a:lnTo>
                  <a:cubicBezTo>
                    <a:pt x="5129" y="19200"/>
                    <a:pt x="4909" y="19469"/>
                    <a:pt x="4909" y="19800"/>
                  </a:cubicBezTo>
                  <a:cubicBezTo>
                    <a:pt x="4909" y="20132"/>
                    <a:pt x="5129" y="20400"/>
                    <a:pt x="5400" y="20400"/>
                  </a:cubicBezTo>
                  <a:lnTo>
                    <a:pt x="21109" y="20400"/>
                  </a:lnTo>
                  <a:cubicBezTo>
                    <a:pt x="21380" y="20400"/>
                    <a:pt x="21600" y="20132"/>
                    <a:pt x="21600" y="19800"/>
                  </a:cubicBezTo>
                  <a:cubicBezTo>
                    <a:pt x="21600" y="19469"/>
                    <a:pt x="21380" y="19200"/>
                    <a:pt x="21109" y="19200"/>
                  </a:cubicBezTo>
                  <a:moveTo>
                    <a:pt x="5400" y="2400"/>
                  </a:moveTo>
                  <a:lnTo>
                    <a:pt x="21109" y="2400"/>
                  </a:lnTo>
                  <a:cubicBezTo>
                    <a:pt x="21380" y="2400"/>
                    <a:pt x="21600" y="2132"/>
                    <a:pt x="21600" y="1800"/>
                  </a:cubicBezTo>
                  <a:cubicBezTo>
                    <a:pt x="21600" y="1469"/>
                    <a:pt x="21380" y="1200"/>
                    <a:pt x="21109" y="1200"/>
                  </a:cubicBezTo>
                  <a:lnTo>
                    <a:pt x="5400" y="1200"/>
                  </a:lnTo>
                  <a:cubicBezTo>
                    <a:pt x="5129" y="1200"/>
                    <a:pt x="4909" y="1469"/>
                    <a:pt x="4909" y="1800"/>
                  </a:cubicBezTo>
                  <a:cubicBezTo>
                    <a:pt x="4909" y="2132"/>
                    <a:pt x="5129" y="2400"/>
                    <a:pt x="5400" y="2400"/>
                  </a:cubicBezTo>
                  <a:moveTo>
                    <a:pt x="1473" y="18000"/>
                  </a:moveTo>
                  <a:cubicBezTo>
                    <a:pt x="659" y="18000"/>
                    <a:pt x="0" y="18806"/>
                    <a:pt x="0" y="19800"/>
                  </a:cubicBezTo>
                  <a:cubicBezTo>
                    <a:pt x="0" y="20794"/>
                    <a:pt x="659" y="21600"/>
                    <a:pt x="1473" y="21600"/>
                  </a:cubicBezTo>
                  <a:cubicBezTo>
                    <a:pt x="2286" y="21600"/>
                    <a:pt x="2945" y="20794"/>
                    <a:pt x="2945" y="19800"/>
                  </a:cubicBezTo>
                  <a:cubicBezTo>
                    <a:pt x="2945" y="18806"/>
                    <a:pt x="2286" y="18000"/>
                    <a:pt x="1473" y="18000"/>
                  </a:cubicBezTo>
                  <a:moveTo>
                    <a:pt x="1473" y="6000"/>
                  </a:moveTo>
                  <a:cubicBezTo>
                    <a:pt x="659" y="6000"/>
                    <a:pt x="0" y="6807"/>
                    <a:pt x="0" y="7800"/>
                  </a:cubicBezTo>
                  <a:cubicBezTo>
                    <a:pt x="0" y="8794"/>
                    <a:pt x="659" y="9600"/>
                    <a:pt x="1473" y="9600"/>
                  </a:cubicBezTo>
                  <a:cubicBezTo>
                    <a:pt x="2286" y="9600"/>
                    <a:pt x="2945" y="8794"/>
                    <a:pt x="2945" y="7800"/>
                  </a:cubicBezTo>
                  <a:cubicBezTo>
                    <a:pt x="2945" y="6807"/>
                    <a:pt x="2286" y="6000"/>
                    <a:pt x="1473" y="6000"/>
                  </a:cubicBezTo>
                  <a:moveTo>
                    <a:pt x="1473" y="12000"/>
                  </a:moveTo>
                  <a:cubicBezTo>
                    <a:pt x="659" y="12000"/>
                    <a:pt x="0" y="12807"/>
                    <a:pt x="0" y="13800"/>
                  </a:cubicBezTo>
                  <a:cubicBezTo>
                    <a:pt x="0" y="14794"/>
                    <a:pt x="659" y="15600"/>
                    <a:pt x="1473" y="15600"/>
                  </a:cubicBezTo>
                  <a:cubicBezTo>
                    <a:pt x="2286" y="15600"/>
                    <a:pt x="2945" y="14794"/>
                    <a:pt x="2945" y="13800"/>
                  </a:cubicBezTo>
                  <a:cubicBezTo>
                    <a:pt x="2945" y="12807"/>
                    <a:pt x="2286" y="12000"/>
                    <a:pt x="1473" y="12000"/>
                  </a:cubicBezTo>
                </a:path>
              </a:pathLst>
            </a:custGeom>
            <a:grpFill/>
            <a:ln w="12700">
              <a:miter lim="400000"/>
            </a:ln>
          </p:spPr>
          <p:txBody>
            <a:bodyPr lIns="14284" tIns="14284" rIns="14284" bIns="14284" anchor="ctr"/>
            <a:lstStyle/>
            <a:p>
              <a:pPr marL="0" marR="0" lvl="0" indent="0" algn="l" defTabSz="17139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0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mj-lt"/>
                <a:ea typeface="Calibri" charset="0"/>
                <a:cs typeface="Calibri" charset="0"/>
                <a:sym typeface="Gill Sans"/>
              </a:endParaRPr>
            </a:p>
          </p:txBody>
        </p:sp>
      </p:grpSp>
      <p:grpSp>
        <p:nvGrpSpPr>
          <p:cNvPr id="44" name="Group 43">
            <a:extLst>
              <a:ext uri="{FF2B5EF4-FFF2-40B4-BE49-F238E27FC236}">
                <a16:creationId xmlns:a16="http://schemas.microsoft.com/office/drawing/2014/main" id="{0B3722BF-EBD5-4487-8BBE-98B36E49029D}"/>
              </a:ext>
            </a:extLst>
          </p:cNvPr>
          <p:cNvGrpSpPr/>
          <p:nvPr/>
        </p:nvGrpSpPr>
        <p:grpSpPr>
          <a:xfrm>
            <a:off x="1953022" y="2528751"/>
            <a:ext cx="1264156" cy="1264156"/>
            <a:chOff x="2006794" y="2574491"/>
            <a:chExt cx="1264156" cy="1264156"/>
          </a:xfrm>
        </p:grpSpPr>
        <p:sp>
          <p:nvSpPr>
            <p:cNvPr id="131" name="Freeform 228">
              <a:extLst>
                <a:ext uri="{FF2B5EF4-FFF2-40B4-BE49-F238E27FC236}">
                  <a16:creationId xmlns:a16="http://schemas.microsoft.com/office/drawing/2014/main" id="{78C09F16-8ECD-4F34-89C6-58D5DC52DA5D}"/>
                </a:ext>
              </a:extLst>
            </p:cNvPr>
            <p:cNvSpPr/>
            <p:nvPr/>
          </p:nvSpPr>
          <p:spPr>
            <a:xfrm rot="14549149">
              <a:off x="2295365" y="2902928"/>
              <a:ext cx="61315" cy="61315"/>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solidFill>
              <a:srgbClr val="86F200"/>
            </a:solidFill>
            <a:ln w="28575">
              <a:solidFill>
                <a:srgbClr val="86F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32" name="Freeform 229">
              <a:extLst>
                <a:ext uri="{FF2B5EF4-FFF2-40B4-BE49-F238E27FC236}">
                  <a16:creationId xmlns:a16="http://schemas.microsoft.com/office/drawing/2014/main" id="{63A049C7-55FB-4214-BCED-3A0983E94A70}"/>
                </a:ext>
              </a:extLst>
            </p:cNvPr>
            <p:cNvSpPr/>
            <p:nvPr/>
          </p:nvSpPr>
          <p:spPr>
            <a:xfrm rot="7050851" flipV="1">
              <a:off x="2295341" y="3442873"/>
              <a:ext cx="61402" cy="61315"/>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solidFill>
              <a:srgbClr val="86F200"/>
            </a:solidFill>
            <a:ln w="28575">
              <a:solidFill>
                <a:srgbClr val="86F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33" name="Diamond 132">
              <a:extLst>
                <a:ext uri="{FF2B5EF4-FFF2-40B4-BE49-F238E27FC236}">
                  <a16:creationId xmlns:a16="http://schemas.microsoft.com/office/drawing/2014/main" id="{EAF5C539-F5D0-4383-A5B1-7BEE35202AFD}"/>
                </a:ext>
              </a:extLst>
            </p:cNvPr>
            <p:cNvSpPr/>
            <p:nvPr/>
          </p:nvSpPr>
          <p:spPr>
            <a:xfrm>
              <a:off x="2006794" y="2574491"/>
              <a:ext cx="1264156" cy="1264156"/>
            </a:xfrm>
            <a:prstGeom prst="diamond">
              <a:avLst/>
            </a:prstGeom>
            <a:noFill/>
            <a:ln w="19050">
              <a:solidFill>
                <a:srgbClr val="86F2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3632" tIns="51816" rIns="103632" bIns="5181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Open Sans" panose="020B0606030504020204" pitchFamily="34" charset="0"/>
                <a:cs typeface="Open Sans" panose="020B0606030504020204" pitchFamily="34" charset="0"/>
              </a:endParaRPr>
            </a:p>
          </p:txBody>
        </p:sp>
        <p:sp>
          <p:nvSpPr>
            <p:cNvPr id="134" name="Freeform 231">
              <a:extLst>
                <a:ext uri="{FF2B5EF4-FFF2-40B4-BE49-F238E27FC236}">
                  <a16:creationId xmlns:a16="http://schemas.microsoft.com/office/drawing/2014/main" id="{10ACBA53-D1DE-4DEA-A0C8-D33733D079E2}"/>
                </a:ext>
              </a:extLst>
            </p:cNvPr>
            <p:cNvSpPr/>
            <p:nvPr/>
          </p:nvSpPr>
          <p:spPr>
            <a:xfrm rot="19949149">
              <a:off x="2907455" y="2902928"/>
              <a:ext cx="61315" cy="61315"/>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solidFill>
              <a:srgbClr val="86F200"/>
            </a:solidFill>
            <a:ln w="28575">
              <a:solidFill>
                <a:srgbClr val="86F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35" name="Freeform 232">
              <a:extLst>
                <a:ext uri="{FF2B5EF4-FFF2-40B4-BE49-F238E27FC236}">
                  <a16:creationId xmlns:a16="http://schemas.microsoft.com/office/drawing/2014/main" id="{148707EE-EDD0-46F4-8EAE-660E66065343}"/>
                </a:ext>
              </a:extLst>
            </p:cNvPr>
            <p:cNvSpPr/>
            <p:nvPr/>
          </p:nvSpPr>
          <p:spPr>
            <a:xfrm rot="1650851" flipV="1">
              <a:off x="2917959" y="3442873"/>
              <a:ext cx="61402" cy="61315"/>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solidFill>
              <a:srgbClr val="86F200"/>
            </a:solidFill>
            <a:ln w="28575">
              <a:solidFill>
                <a:srgbClr val="86F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sp>
        <p:nvSpPr>
          <p:cNvPr id="45" name="Oval 44">
            <a:extLst>
              <a:ext uri="{FF2B5EF4-FFF2-40B4-BE49-F238E27FC236}">
                <a16:creationId xmlns:a16="http://schemas.microsoft.com/office/drawing/2014/main" id="{0DE30E6A-D08F-4AF2-86AA-3F101870B63E}"/>
              </a:ext>
            </a:extLst>
          </p:cNvPr>
          <p:cNvSpPr/>
          <p:nvPr/>
        </p:nvSpPr>
        <p:spPr>
          <a:xfrm>
            <a:off x="2525528" y="3814699"/>
            <a:ext cx="119144" cy="119144"/>
          </a:xfrm>
          <a:prstGeom prst="ellipse">
            <a:avLst/>
          </a:prstGeom>
          <a:solidFill>
            <a:schemeClr val="bg1"/>
          </a:solidFill>
          <a:ln w="1270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nvGrpSpPr>
          <p:cNvPr id="46" name="Group 45">
            <a:extLst>
              <a:ext uri="{FF2B5EF4-FFF2-40B4-BE49-F238E27FC236}">
                <a16:creationId xmlns:a16="http://schemas.microsoft.com/office/drawing/2014/main" id="{D6BD084B-2B4D-4687-9D9D-EB5D17093BB0}"/>
              </a:ext>
            </a:extLst>
          </p:cNvPr>
          <p:cNvGrpSpPr/>
          <p:nvPr/>
        </p:nvGrpSpPr>
        <p:grpSpPr>
          <a:xfrm>
            <a:off x="4911882" y="2566531"/>
            <a:ext cx="1192400" cy="1248168"/>
            <a:chOff x="4889119" y="2609693"/>
            <a:chExt cx="1273820" cy="1333393"/>
          </a:xfrm>
        </p:grpSpPr>
        <p:grpSp>
          <p:nvGrpSpPr>
            <p:cNvPr id="118" name="Group 117">
              <a:extLst>
                <a:ext uri="{FF2B5EF4-FFF2-40B4-BE49-F238E27FC236}">
                  <a16:creationId xmlns:a16="http://schemas.microsoft.com/office/drawing/2014/main" id="{D30002B7-F0EB-48FF-B102-FE8716895575}"/>
                </a:ext>
              </a:extLst>
            </p:cNvPr>
            <p:cNvGrpSpPr/>
            <p:nvPr/>
          </p:nvGrpSpPr>
          <p:grpSpPr>
            <a:xfrm>
              <a:off x="4889119" y="2609693"/>
              <a:ext cx="1273820" cy="1333393"/>
              <a:chOff x="4889119" y="2609693"/>
              <a:chExt cx="1273820" cy="1333393"/>
            </a:xfrm>
          </p:grpSpPr>
          <p:grpSp>
            <p:nvGrpSpPr>
              <p:cNvPr id="126" name="Group 125">
                <a:extLst>
                  <a:ext uri="{FF2B5EF4-FFF2-40B4-BE49-F238E27FC236}">
                    <a16:creationId xmlns:a16="http://schemas.microsoft.com/office/drawing/2014/main" id="{1A160EAE-7AFA-4375-9A2E-B8C647864C91}"/>
                  </a:ext>
                </a:extLst>
              </p:cNvPr>
              <p:cNvGrpSpPr/>
              <p:nvPr/>
            </p:nvGrpSpPr>
            <p:grpSpPr>
              <a:xfrm>
                <a:off x="4889119" y="2609693"/>
                <a:ext cx="1273820" cy="1273820"/>
                <a:chOff x="4889119" y="2569658"/>
                <a:chExt cx="1273820" cy="1273820"/>
              </a:xfrm>
            </p:grpSpPr>
            <p:sp>
              <p:nvSpPr>
                <p:cNvPr id="128" name="Oval 127">
                  <a:extLst>
                    <a:ext uri="{FF2B5EF4-FFF2-40B4-BE49-F238E27FC236}">
                      <a16:creationId xmlns:a16="http://schemas.microsoft.com/office/drawing/2014/main" id="{FD1E86DD-BDB6-405E-95C0-BC234EDED272}"/>
                    </a:ext>
                  </a:extLst>
                </p:cNvPr>
                <p:cNvSpPr/>
                <p:nvPr/>
              </p:nvSpPr>
              <p:spPr>
                <a:xfrm>
                  <a:off x="4889119" y="2569658"/>
                  <a:ext cx="1273820" cy="1273820"/>
                </a:xfrm>
                <a:prstGeom prst="ellipse">
                  <a:avLst/>
                </a:prstGeom>
                <a:solidFill>
                  <a:schemeClr val="bg1"/>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29" name="Rectangle 3">
                  <a:extLst>
                    <a:ext uri="{FF2B5EF4-FFF2-40B4-BE49-F238E27FC236}">
                      <a16:creationId xmlns:a16="http://schemas.microsoft.com/office/drawing/2014/main" id="{7A24F854-EF57-478C-9AC9-A51FE332ECAC}"/>
                    </a:ext>
                  </a:extLst>
                </p:cNvPr>
                <p:cNvSpPr>
                  <a:spLocks/>
                </p:cNvSpPr>
                <p:nvPr/>
              </p:nvSpPr>
              <p:spPr bwMode="auto">
                <a:xfrm>
                  <a:off x="5082456" y="3078579"/>
                  <a:ext cx="887148" cy="4632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dirty="0">
                      <a:ln>
                        <a:noFill/>
                      </a:ln>
                      <a:solidFill>
                        <a:srgbClr val="3F3F3F"/>
                      </a:solidFill>
                      <a:effectLst/>
                      <a:uLnTx/>
                      <a:uFillTx/>
                      <a:latin typeface="+mj-lt"/>
                      <a:ea typeface="Open Sans Semibold" panose="020B0706030804020204" pitchFamily="34" charset="0"/>
                      <a:cs typeface="Open Sans Semibold" panose="020B0706030804020204" pitchFamily="34" charset="0"/>
                      <a:sym typeface="Frutiger Next Pro Medium" charset="0"/>
                    </a:rPr>
                    <a:t>3. Refine</a:t>
                  </a:r>
                </a:p>
              </p:txBody>
            </p:sp>
            <p:sp>
              <p:nvSpPr>
                <p:cNvPr id="130" name="Shape 2588">
                  <a:extLst>
                    <a:ext uri="{FF2B5EF4-FFF2-40B4-BE49-F238E27FC236}">
                      <a16:creationId xmlns:a16="http://schemas.microsoft.com/office/drawing/2014/main" id="{DE9EF0E9-06EC-4F8E-9A8C-18E4127B9D2E}"/>
                    </a:ext>
                  </a:extLst>
                </p:cNvPr>
                <p:cNvSpPr/>
                <p:nvPr/>
              </p:nvSpPr>
              <p:spPr>
                <a:xfrm>
                  <a:off x="5400029" y="2900696"/>
                  <a:ext cx="252000" cy="252000"/>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3AF0EC"/>
                </a:solidFill>
                <a:ln w="12700">
                  <a:miter lim="400000"/>
                </a:ln>
              </p:spPr>
              <p:txBody>
                <a:bodyPr lIns="14284" tIns="14284" rIns="14284" bIns="14284" anchor="ctr"/>
                <a:lstStyle/>
                <a:p>
                  <a:pPr marL="0" marR="0" lvl="0" indent="0" algn="l" defTabSz="17139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0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mj-lt"/>
                    <a:ea typeface="Calibri" charset="0"/>
                    <a:cs typeface="Calibri" charset="0"/>
                    <a:sym typeface="Gill Sans"/>
                  </a:endParaRPr>
                </a:p>
              </p:txBody>
            </p:sp>
          </p:grpSp>
          <p:sp>
            <p:nvSpPr>
              <p:cNvPr id="127" name="Oval 126">
                <a:extLst>
                  <a:ext uri="{FF2B5EF4-FFF2-40B4-BE49-F238E27FC236}">
                    <a16:creationId xmlns:a16="http://schemas.microsoft.com/office/drawing/2014/main" id="{6EC3088B-E558-4210-80A7-29DC480A3DC4}"/>
                  </a:ext>
                </a:extLst>
              </p:cNvPr>
              <p:cNvSpPr/>
              <p:nvPr/>
            </p:nvSpPr>
            <p:spPr>
              <a:xfrm>
                <a:off x="5466457" y="3823942"/>
                <a:ext cx="119144" cy="119144"/>
              </a:xfrm>
              <a:prstGeom prst="ellipse">
                <a:avLst/>
              </a:prstGeom>
              <a:solidFill>
                <a:schemeClr val="bg1"/>
              </a:solidFill>
              <a:ln w="1270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119" name="Group 118">
              <a:extLst>
                <a:ext uri="{FF2B5EF4-FFF2-40B4-BE49-F238E27FC236}">
                  <a16:creationId xmlns:a16="http://schemas.microsoft.com/office/drawing/2014/main" id="{18B428D2-1A86-464F-9FC0-5B696CA99383}"/>
                </a:ext>
              </a:extLst>
            </p:cNvPr>
            <p:cNvGrpSpPr/>
            <p:nvPr/>
          </p:nvGrpSpPr>
          <p:grpSpPr>
            <a:xfrm rot="3749149">
              <a:off x="4976467" y="2691973"/>
              <a:ext cx="1103672" cy="1103673"/>
              <a:chOff x="5740400" y="5120511"/>
              <a:chExt cx="1371602" cy="1371602"/>
            </a:xfrm>
            <a:solidFill>
              <a:srgbClr val="3AF0EC"/>
            </a:solidFill>
          </p:grpSpPr>
          <p:grpSp>
            <p:nvGrpSpPr>
              <p:cNvPr id="120" name="Group 119">
                <a:extLst>
                  <a:ext uri="{FF2B5EF4-FFF2-40B4-BE49-F238E27FC236}">
                    <a16:creationId xmlns:a16="http://schemas.microsoft.com/office/drawing/2014/main" id="{E1D877C2-E879-46BF-8E20-2ABA9D88F698}"/>
                  </a:ext>
                </a:extLst>
              </p:cNvPr>
              <p:cNvGrpSpPr/>
              <p:nvPr/>
            </p:nvGrpSpPr>
            <p:grpSpPr>
              <a:xfrm>
                <a:off x="5740401" y="5120511"/>
                <a:ext cx="1371601" cy="1371600"/>
                <a:chOff x="5740401" y="5120511"/>
                <a:chExt cx="1371601" cy="1371600"/>
              </a:xfrm>
              <a:grpFill/>
            </p:grpSpPr>
            <p:sp>
              <p:nvSpPr>
                <p:cNvPr id="124" name="Block Arc 123">
                  <a:extLst>
                    <a:ext uri="{FF2B5EF4-FFF2-40B4-BE49-F238E27FC236}">
                      <a16:creationId xmlns:a16="http://schemas.microsoft.com/office/drawing/2014/main" id="{C594339D-0A00-4ED0-8B35-17BEFB9512BD}"/>
                    </a:ext>
                  </a:extLst>
                </p:cNvPr>
                <p:cNvSpPr/>
                <p:nvPr/>
              </p:nvSpPr>
              <p:spPr>
                <a:xfrm>
                  <a:off x="5740401" y="5120511"/>
                  <a:ext cx="1371601" cy="1371600"/>
                </a:xfrm>
                <a:prstGeom prst="blockArc">
                  <a:avLst>
                    <a:gd name="adj1" fmla="val 10800000"/>
                    <a:gd name="adj2" fmla="val 20830735"/>
                    <a:gd name="adj3" fmla="val 0"/>
                  </a:avLst>
                </a:prstGeom>
                <a:grpFill/>
                <a:ln w="28575">
                  <a:solidFill>
                    <a:srgbClr val="3AF0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mj-lt"/>
                    <a:ea typeface="+mn-ea"/>
                    <a:cs typeface="+mn-cs"/>
                  </a:endParaRPr>
                </a:p>
              </p:txBody>
            </p:sp>
            <p:sp>
              <p:nvSpPr>
                <p:cNvPr id="125" name="Freeform 222">
                  <a:extLst>
                    <a:ext uri="{FF2B5EF4-FFF2-40B4-BE49-F238E27FC236}">
                      <a16:creationId xmlns:a16="http://schemas.microsoft.com/office/drawing/2014/main" id="{AFD521D1-93AC-4C73-962B-66A339AC854E}"/>
                    </a:ext>
                  </a:extLst>
                </p:cNvPr>
                <p:cNvSpPr/>
                <p:nvPr/>
              </p:nvSpPr>
              <p:spPr>
                <a:xfrm>
                  <a:off x="7020333" y="5586675"/>
                  <a:ext cx="76200" cy="76200"/>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grpFill/>
                <a:ln w="28575">
                  <a:solidFill>
                    <a:srgbClr val="3AF0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121" name="Group 120">
                <a:extLst>
                  <a:ext uri="{FF2B5EF4-FFF2-40B4-BE49-F238E27FC236}">
                    <a16:creationId xmlns:a16="http://schemas.microsoft.com/office/drawing/2014/main" id="{0393F8A5-DCE3-47A7-80F5-D27C012FE440}"/>
                  </a:ext>
                </a:extLst>
              </p:cNvPr>
              <p:cNvGrpSpPr/>
              <p:nvPr/>
            </p:nvGrpSpPr>
            <p:grpSpPr>
              <a:xfrm rot="10800000">
                <a:off x="5740400" y="5120513"/>
                <a:ext cx="1371600" cy="1371600"/>
                <a:chOff x="5740400" y="5120513"/>
                <a:chExt cx="1371600" cy="1371600"/>
              </a:xfrm>
              <a:grpFill/>
            </p:grpSpPr>
            <p:sp>
              <p:nvSpPr>
                <p:cNvPr id="122" name="Block Arc 121">
                  <a:extLst>
                    <a:ext uri="{FF2B5EF4-FFF2-40B4-BE49-F238E27FC236}">
                      <a16:creationId xmlns:a16="http://schemas.microsoft.com/office/drawing/2014/main" id="{61D9705F-57C7-4E29-B667-24D1CE01DA86}"/>
                    </a:ext>
                  </a:extLst>
                </p:cNvPr>
                <p:cNvSpPr/>
                <p:nvPr/>
              </p:nvSpPr>
              <p:spPr>
                <a:xfrm>
                  <a:off x="5740400" y="5120513"/>
                  <a:ext cx="1371600" cy="1371600"/>
                </a:xfrm>
                <a:prstGeom prst="blockArc">
                  <a:avLst>
                    <a:gd name="adj1" fmla="val 10800000"/>
                    <a:gd name="adj2" fmla="val 20830735"/>
                    <a:gd name="adj3" fmla="val 0"/>
                  </a:avLst>
                </a:prstGeom>
                <a:grpFill/>
                <a:ln w="28575">
                  <a:solidFill>
                    <a:srgbClr val="3AF0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mj-lt"/>
                    <a:ea typeface="+mn-ea"/>
                    <a:cs typeface="+mn-cs"/>
                  </a:endParaRPr>
                </a:p>
              </p:txBody>
            </p:sp>
            <p:sp>
              <p:nvSpPr>
                <p:cNvPr id="123" name="Freeform 220">
                  <a:extLst>
                    <a:ext uri="{FF2B5EF4-FFF2-40B4-BE49-F238E27FC236}">
                      <a16:creationId xmlns:a16="http://schemas.microsoft.com/office/drawing/2014/main" id="{431CC19E-FF2E-4AB8-A84D-2BC551384F1C}"/>
                    </a:ext>
                  </a:extLst>
                </p:cNvPr>
                <p:cNvSpPr/>
                <p:nvPr/>
              </p:nvSpPr>
              <p:spPr>
                <a:xfrm>
                  <a:off x="7018464" y="5585700"/>
                  <a:ext cx="76200" cy="76200"/>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grpFill/>
                <a:ln w="28575">
                  <a:solidFill>
                    <a:srgbClr val="3AF0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grpSp>
      </p:grpSp>
      <p:sp>
        <p:nvSpPr>
          <p:cNvPr id="47" name="Diamond 46">
            <a:extLst>
              <a:ext uri="{FF2B5EF4-FFF2-40B4-BE49-F238E27FC236}">
                <a16:creationId xmlns:a16="http://schemas.microsoft.com/office/drawing/2014/main" id="{CC781D2B-B6B2-4C4F-AA11-8AA42D52F6D6}"/>
              </a:ext>
            </a:extLst>
          </p:cNvPr>
          <p:cNvSpPr/>
          <p:nvPr/>
        </p:nvSpPr>
        <p:spPr>
          <a:xfrm>
            <a:off x="3367136" y="2438051"/>
            <a:ext cx="1445236" cy="1445554"/>
          </a:xfrm>
          <a:prstGeom prst="diamond">
            <a:avLst/>
          </a:prstGeom>
          <a:noFill/>
          <a:ln w="28575">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3632" tIns="51816" rIns="103632" bIns="5181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Open Sans" panose="020B0606030504020204" pitchFamily="34" charset="0"/>
              <a:cs typeface="Open Sans" panose="020B0606030504020204" pitchFamily="34" charset="0"/>
            </a:endParaRPr>
          </a:p>
        </p:txBody>
      </p:sp>
      <p:sp>
        <p:nvSpPr>
          <p:cNvPr id="48" name="Rectangle 3">
            <a:extLst>
              <a:ext uri="{FF2B5EF4-FFF2-40B4-BE49-F238E27FC236}">
                <a16:creationId xmlns:a16="http://schemas.microsoft.com/office/drawing/2014/main" id="{49B965BE-5F58-4D46-8AF9-83B17CEDEE7F}"/>
              </a:ext>
            </a:extLst>
          </p:cNvPr>
          <p:cNvSpPr>
            <a:spLocks/>
          </p:cNvSpPr>
          <p:nvPr/>
        </p:nvSpPr>
        <p:spPr bwMode="auto">
          <a:xfrm>
            <a:off x="3574085" y="3027468"/>
            <a:ext cx="1031338" cy="4632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dirty="0">
                <a:ln>
                  <a:noFill/>
                </a:ln>
                <a:solidFill>
                  <a:srgbClr val="3F3F3F"/>
                </a:solidFill>
                <a:effectLst/>
                <a:uLnTx/>
                <a:uFillTx/>
                <a:latin typeface="+mj-lt"/>
                <a:ea typeface="Open Sans Semibold" panose="020B0706030804020204" pitchFamily="34" charset="0"/>
                <a:cs typeface="Open Sans Semibold" panose="020B0706030804020204" pitchFamily="34" charset="0"/>
                <a:sym typeface="Frutiger Next Pro Medium" charset="0"/>
              </a:rPr>
              <a:t>2. Design</a:t>
            </a:r>
          </a:p>
        </p:txBody>
      </p:sp>
      <p:sp>
        <p:nvSpPr>
          <p:cNvPr id="49" name="Shape 2754">
            <a:extLst>
              <a:ext uri="{FF2B5EF4-FFF2-40B4-BE49-F238E27FC236}">
                <a16:creationId xmlns:a16="http://schemas.microsoft.com/office/drawing/2014/main" id="{FC6A0EB3-9AF9-40D8-907A-4095CEE4043E}"/>
              </a:ext>
            </a:extLst>
          </p:cNvPr>
          <p:cNvSpPr/>
          <p:nvPr/>
        </p:nvSpPr>
        <p:spPr>
          <a:xfrm>
            <a:off x="3965380" y="2867974"/>
            <a:ext cx="248748" cy="248748"/>
          </a:xfrm>
          <a:custGeom>
            <a:avLst/>
            <a:gdLst/>
            <a:ahLst/>
            <a:cxnLst>
              <a:cxn ang="0">
                <a:pos x="wd2" y="hd2"/>
              </a:cxn>
              <a:cxn ang="5400000">
                <a:pos x="wd2" y="hd2"/>
              </a:cxn>
              <a:cxn ang="10800000">
                <a:pos x="wd2" y="hd2"/>
              </a:cxn>
              <a:cxn ang="16200000">
                <a:pos x="wd2" y="hd2"/>
              </a:cxn>
            </a:cxnLst>
            <a:rect l="0" t="0" r="r" b="b"/>
            <a:pathLst>
              <a:path w="21600" h="21600" extrusionOk="0">
                <a:moveTo>
                  <a:pt x="10800" y="15709"/>
                </a:moveTo>
                <a:cubicBezTo>
                  <a:pt x="10203" y="15709"/>
                  <a:pt x="9720" y="16149"/>
                  <a:pt x="9720" y="16691"/>
                </a:cubicBezTo>
                <a:cubicBezTo>
                  <a:pt x="9720" y="17233"/>
                  <a:pt x="10203" y="17673"/>
                  <a:pt x="10800" y="17673"/>
                </a:cubicBezTo>
                <a:cubicBezTo>
                  <a:pt x="11396" y="17673"/>
                  <a:pt x="11880" y="17233"/>
                  <a:pt x="11880" y="16691"/>
                </a:cubicBezTo>
                <a:cubicBezTo>
                  <a:pt x="11880" y="16149"/>
                  <a:pt x="11396" y="15709"/>
                  <a:pt x="10800" y="15709"/>
                </a:cubicBezTo>
                <a:moveTo>
                  <a:pt x="12960" y="10800"/>
                </a:moveTo>
                <a:cubicBezTo>
                  <a:pt x="12363" y="10800"/>
                  <a:pt x="11880" y="11240"/>
                  <a:pt x="11880" y="11782"/>
                </a:cubicBezTo>
                <a:cubicBezTo>
                  <a:pt x="11880" y="12324"/>
                  <a:pt x="12363" y="12764"/>
                  <a:pt x="12960" y="12764"/>
                </a:cubicBezTo>
                <a:cubicBezTo>
                  <a:pt x="13556" y="12764"/>
                  <a:pt x="14040" y="12324"/>
                  <a:pt x="14040" y="11782"/>
                </a:cubicBezTo>
                <a:cubicBezTo>
                  <a:pt x="14040" y="11240"/>
                  <a:pt x="13556" y="10800"/>
                  <a:pt x="12960" y="10800"/>
                </a:cubicBezTo>
                <a:moveTo>
                  <a:pt x="15660" y="14727"/>
                </a:moveTo>
                <a:cubicBezTo>
                  <a:pt x="15362" y="14727"/>
                  <a:pt x="15120" y="14947"/>
                  <a:pt x="15120" y="15218"/>
                </a:cubicBezTo>
                <a:cubicBezTo>
                  <a:pt x="15120" y="15490"/>
                  <a:pt x="15362" y="15709"/>
                  <a:pt x="15660" y="15709"/>
                </a:cubicBezTo>
                <a:cubicBezTo>
                  <a:pt x="15958" y="15709"/>
                  <a:pt x="16200" y="15490"/>
                  <a:pt x="16200" y="15218"/>
                </a:cubicBezTo>
                <a:cubicBezTo>
                  <a:pt x="16200" y="14947"/>
                  <a:pt x="15958" y="14727"/>
                  <a:pt x="15660" y="14727"/>
                </a:cubicBezTo>
                <a:moveTo>
                  <a:pt x="16740" y="17673"/>
                </a:moveTo>
                <a:cubicBezTo>
                  <a:pt x="16442" y="17673"/>
                  <a:pt x="16200" y="17892"/>
                  <a:pt x="16200" y="18164"/>
                </a:cubicBezTo>
                <a:cubicBezTo>
                  <a:pt x="16200" y="18435"/>
                  <a:pt x="16442" y="18655"/>
                  <a:pt x="16740" y="18655"/>
                </a:cubicBezTo>
                <a:cubicBezTo>
                  <a:pt x="17038" y="18655"/>
                  <a:pt x="17280" y="18435"/>
                  <a:pt x="17280" y="18164"/>
                </a:cubicBezTo>
                <a:cubicBezTo>
                  <a:pt x="17280" y="17892"/>
                  <a:pt x="17038" y="17673"/>
                  <a:pt x="16740" y="17673"/>
                </a:cubicBezTo>
                <a:moveTo>
                  <a:pt x="7020" y="13745"/>
                </a:moveTo>
                <a:cubicBezTo>
                  <a:pt x="6722" y="13745"/>
                  <a:pt x="6480" y="13525"/>
                  <a:pt x="6480" y="13255"/>
                </a:cubicBezTo>
                <a:cubicBezTo>
                  <a:pt x="6480" y="12983"/>
                  <a:pt x="6722" y="12764"/>
                  <a:pt x="7020" y="12764"/>
                </a:cubicBezTo>
                <a:cubicBezTo>
                  <a:pt x="7318" y="12764"/>
                  <a:pt x="7560" y="12983"/>
                  <a:pt x="7560" y="13255"/>
                </a:cubicBezTo>
                <a:cubicBezTo>
                  <a:pt x="7560" y="13525"/>
                  <a:pt x="7318" y="13745"/>
                  <a:pt x="7020" y="13745"/>
                </a:cubicBezTo>
                <a:moveTo>
                  <a:pt x="7020" y="11782"/>
                </a:moveTo>
                <a:cubicBezTo>
                  <a:pt x="6126" y="11782"/>
                  <a:pt x="5400" y="12441"/>
                  <a:pt x="5400" y="13255"/>
                </a:cubicBezTo>
                <a:cubicBezTo>
                  <a:pt x="5400" y="14068"/>
                  <a:pt x="6126" y="14727"/>
                  <a:pt x="7020" y="14727"/>
                </a:cubicBezTo>
                <a:cubicBezTo>
                  <a:pt x="7914" y="14727"/>
                  <a:pt x="8640" y="14068"/>
                  <a:pt x="8640" y="13255"/>
                </a:cubicBezTo>
                <a:cubicBezTo>
                  <a:pt x="8640" y="12441"/>
                  <a:pt x="7914" y="11782"/>
                  <a:pt x="7020" y="11782"/>
                </a:cubicBezTo>
                <a:moveTo>
                  <a:pt x="16200" y="20618"/>
                </a:moveTo>
                <a:lnTo>
                  <a:pt x="5400" y="20618"/>
                </a:lnTo>
                <a:cubicBezTo>
                  <a:pt x="5224" y="20618"/>
                  <a:pt x="1080" y="20574"/>
                  <a:pt x="1080" y="16691"/>
                </a:cubicBezTo>
                <a:cubicBezTo>
                  <a:pt x="1080" y="12965"/>
                  <a:pt x="3149" y="11214"/>
                  <a:pt x="4975" y="9670"/>
                </a:cubicBezTo>
                <a:cubicBezTo>
                  <a:pt x="6031" y="8777"/>
                  <a:pt x="7028" y="7920"/>
                  <a:pt x="7400" y="6808"/>
                </a:cubicBezTo>
                <a:cubicBezTo>
                  <a:pt x="7683" y="6848"/>
                  <a:pt x="7974" y="6878"/>
                  <a:pt x="8279" y="6878"/>
                </a:cubicBezTo>
                <a:cubicBezTo>
                  <a:pt x="9182" y="6878"/>
                  <a:pt x="10166" y="6687"/>
                  <a:pt x="11184" y="6177"/>
                </a:cubicBezTo>
                <a:cubicBezTo>
                  <a:pt x="12256" y="5642"/>
                  <a:pt x="13226" y="5425"/>
                  <a:pt x="14040" y="5367"/>
                </a:cubicBezTo>
                <a:lnTo>
                  <a:pt x="14040" y="5891"/>
                </a:lnTo>
                <a:cubicBezTo>
                  <a:pt x="14040" y="7483"/>
                  <a:pt x="15296" y="8546"/>
                  <a:pt x="16625" y="9670"/>
                </a:cubicBezTo>
                <a:cubicBezTo>
                  <a:pt x="18451" y="11214"/>
                  <a:pt x="20520" y="12965"/>
                  <a:pt x="20520" y="16691"/>
                </a:cubicBezTo>
                <a:cubicBezTo>
                  <a:pt x="20520" y="20474"/>
                  <a:pt x="16637" y="20614"/>
                  <a:pt x="16200" y="20618"/>
                </a:cubicBezTo>
                <a:moveTo>
                  <a:pt x="14040" y="2945"/>
                </a:moveTo>
                <a:lnTo>
                  <a:pt x="14040" y="4432"/>
                </a:lnTo>
                <a:cubicBezTo>
                  <a:pt x="13069" y="4489"/>
                  <a:pt x="11917" y="4734"/>
                  <a:pt x="10654" y="5365"/>
                </a:cubicBezTo>
                <a:cubicBezTo>
                  <a:pt x="9547" y="5920"/>
                  <a:pt x="8485" y="6015"/>
                  <a:pt x="7560" y="5894"/>
                </a:cubicBezTo>
                <a:lnTo>
                  <a:pt x="7560" y="5891"/>
                </a:lnTo>
                <a:lnTo>
                  <a:pt x="7560" y="2945"/>
                </a:lnTo>
                <a:cubicBezTo>
                  <a:pt x="7560" y="2945"/>
                  <a:pt x="14040" y="2945"/>
                  <a:pt x="14040" y="2945"/>
                </a:cubicBezTo>
                <a:close/>
                <a:moveTo>
                  <a:pt x="5400" y="982"/>
                </a:moveTo>
                <a:lnTo>
                  <a:pt x="16200" y="982"/>
                </a:lnTo>
                <a:lnTo>
                  <a:pt x="16200" y="1964"/>
                </a:lnTo>
                <a:lnTo>
                  <a:pt x="5400" y="1964"/>
                </a:lnTo>
                <a:cubicBezTo>
                  <a:pt x="5400" y="1964"/>
                  <a:pt x="5400" y="982"/>
                  <a:pt x="5400" y="982"/>
                </a:cubicBezTo>
                <a:close/>
                <a:moveTo>
                  <a:pt x="15120" y="5891"/>
                </a:moveTo>
                <a:lnTo>
                  <a:pt x="15120" y="2945"/>
                </a:lnTo>
                <a:lnTo>
                  <a:pt x="16200" y="2945"/>
                </a:lnTo>
                <a:cubicBezTo>
                  <a:pt x="16796" y="2945"/>
                  <a:pt x="17280" y="2505"/>
                  <a:pt x="17280" y="1964"/>
                </a:cubicBezTo>
                <a:lnTo>
                  <a:pt x="17280" y="982"/>
                </a:lnTo>
                <a:cubicBezTo>
                  <a:pt x="17280" y="440"/>
                  <a:pt x="16796" y="0"/>
                  <a:pt x="16200" y="0"/>
                </a:cubicBezTo>
                <a:lnTo>
                  <a:pt x="5400" y="0"/>
                </a:lnTo>
                <a:cubicBezTo>
                  <a:pt x="4803" y="0"/>
                  <a:pt x="4320" y="440"/>
                  <a:pt x="4320" y="982"/>
                </a:cubicBezTo>
                <a:lnTo>
                  <a:pt x="4320" y="1964"/>
                </a:lnTo>
                <a:cubicBezTo>
                  <a:pt x="4320" y="2505"/>
                  <a:pt x="4803" y="2945"/>
                  <a:pt x="5400" y="2945"/>
                </a:cubicBezTo>
                <a:lnTo>
                  <a:pt x="6480" y="2945"/>
                </a:lnTo>
                <a:lnTo>
                  <a:pt x="6480" y="5891"/>
                </a:lnTo>
                <a:cubicBezTo>
                  <a:pt x="6480" y="8836"/>
                  <a:pt x="0" y="9818"/>
                  <a:pt x="0" y="16691"/>
                </a:cubicBezTo>
                <a:cubicBezTo>
                  <a:pt x="0" y="21600"/>
                  <a:pt x="5400" y="21600"/>
                  <a:pt x="5400" y="21600"/>
                </a:cubicBezTo>
                <a:lnTo>
                  <a:pt x="16200" y="21600"/>
                </a:lnTo>
                <a:cubicBezTo>
                  <a:pt x="16200" y="21600"/>
                  <a:pt x="21600" y="21600"/>
                  <a:pt x="21600" y="16691"/>
                </a:cubicBezTo>
                <a:cubicBezTo>
                  <a:pt x="21600" y="9818"/>
                  <a:pt x="15120" y="8836"/>
                  <a:pt x="15120" y="5891"/>
                </a:cubicBezTo>
                <a:moveTo>
                  <a:pt x="5940" y="16691"/>
                </a:moveTo>
                <a:cubicBezTo>
                  <a:pt x="5642" y="16691"/>
                  <a:pt x="5400" y="16910"/>
                  <a:pt x="5400" y="17182"/>
                </a:cubicBezTo>
                <a:cubicBezTo>
                  <a:pt x="5400" y="17453"/>
                  <a:pt x="5642" y="17673"/>
                  <a:pt x="5940" y="17673"/>
                </a:cubicBezTo>
                <a:cubicBezTo>
                  <a:pt x="6238" y="17673"/>
                  <a:pt x="6480" y="17453"/>
                  <a:pt x="6480" y="17182"/>
                </a:cubicBezTo>
                <a:cubicBezTo>
                  <a:pt x="6480" y="16910"/>
                  <a:pt x="6238" y="16691"/>
                  <a:pt x="5940" y="16691"/>
                </a:cubicBezTo>
              </a:path>
            </a:pathLst>
          </a:custGeom>
          <a:solidFill>
            <a:srgbClr val="5EF17E"/>
          </a:solidFill>
          <a:ln w="12700">
            <a:miter lim="400000"/>
          </a:ln>
        </p:spPr>
        <p:txBody>
          <a:bodyPr lIns="14284" tIns="14284" rIns="14284" bIns="14284" anchor="ctr"/>
          <a:lstStyle/>
          <a:p>
            <a:pPr marL="0" marR="0" lvl="0" indent="0" algn="l" defTabSz="17139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0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mj-lt"/>
              <a:ea typeface="Calibri" charset="0"/>
              <a:cs typeface="Calibri" charset="0"/>
              <a:sym typeface="Gill Sans"/>
            </a:endParaRPr>
          </a:p>
        </p:txBody>
      </p:sp>
      <p:grpSp>
        <p:nvGrpSpPr>
          <p:cNvPr id="50" name="Group 49">
            <a:extLst>
              <a:ext uri="{FF2B5EF4-FFF2-40B4-BE49-F238E27FC236}">
                <a16:creationId xmlns:a16="http://schemas.microsoft.com/office/drawing/2014/main" id="{9C69483B-B7EA-4A7C-8F91-9C9BA5D2AA9C}"/>
              </a:ext>
            </a:extLst>
          </p:cNvPr>
          <p:cNvGrpSpPr/>
          <p:nvPr/>
        </p:nvGrpSpPr>
        <p:grpSpPr>
          <a:xfrm>
            <a:off x="3457676" y="2528751"/>
            <a:ext cx="1264156" cy="1264156"/>
            <a:chOff x="2006794" y="2574491"/>
            <a:chExt cx="1264156" cy="1264156"/>
          </a:xfrm>
        </p:grpSpPr>
        <p:sp>
          <p:nvSpPr>
            <p:cNvPr id="113" name="Freeform 210">
              <a:extLst>
                <a:ext uri="{FF2B5EF4-FFF2-40B4-BE49-F238E27FC236}">
                  <a16:creationId xmlns:a16="http://schemas.microsoft.com/office/drawing/2014/main" id="{19D8D988-B321-4CB4-AF94-F1A54AB33792}"/>
                </a:ext>
              </a:extLst>
            </p:cNvPr>
            <p:cNvSpPr/>
            <p:nvPr/>
          </p:nvSpPr>
          <p:spPr>
            <a:xfrm rot="14549149">
              <a:off x="2295365" y="2902928"/>
              <a:ext cx="61315" cy="61315"/>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solidFill>
              <a:srgbClr val="86F200"/>
            </a:solidFill>
            <a:ln w="28575">
              <a:solidFill>
                <a:srgbClr val="5EF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14" name="Freeform 211">
              <a:extLst>
                <a:ext uri="{FF2B5EF4-FFF2-40B4-BE49-F238E27FC236}">
                  <a16:creationId xmlns:a16="http://schemas.microsoft.com/office/drawing/2014/main" id="{B9CBB419-DE95-4589-907C-6635D5B35A34}"/>
                </a:ext>
              </a:extLst>
            </p:cNvPr>
            <p:cNvSpPr/>
            <p:nvPr/>
          </p:nvSpPr>
          <p:spPr>
            <a:xfrm rot="7050851" flipV="1">
              <a:off x="2295341" y="3442873"/>
              <a:ext cx="61402" cy="61315"/>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solidFill>
              <a:srgbClr val="86F200"/>
            </a:solidFill>
            <a:ln w="28575">
              <a:solidFill>
                <a:srgbClr val="5EF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15" name="Diamond 114">
              <a:extLst>
                <a:ext uri="{FF2B5EF4-FFF2-40B4-BE49-F238E27FC236}">
                  <a16:creationId xmlns:a16="http://schemas.microsoft.com/office/drawing/2014/main" id="{D5E8397D-E572-4FBD-9191-47E18AA7D8A3}"/>
                </a:ext>
              </a:extLst>
            </p:cNvPr>
            <p:cNvSpPr/>
            <p:nvPr/>
          </p:nvSpPr>
          <p:spPr>
            <a:xfrm>
              <a:off x="2006794" y="2574491"/>
              <a:ext cx="1264156" cy="1264156"/>
            </a:xfrm>
            <a:prstGeom prst="diamond">
              <a:avLst/>
            </a:prstGeom>
            <a:noFill/>
            <a:ln w="19050">
              <a:solidFill>
                <a:srgbClr val="5EF17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3632" tIns="51816" rIns="103632" bIns="5181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Open Sans" panose="020B0606030504020204" pitchFamily="34" charset="0"/>
                <a:cs typeface="Open Sans" panose="020B0606030504020204" pitchFamily="34" charset="0"/>
              </a:endParaRPr>
            </a:p>
          </p:txBody>
        </p:sp>
        <p:sp>
          <p:nvSpPr>
            <p:cNvPr id="116" name="Freeform 213">
              <a:extLst>
                <a:ext uri="{FF2B5EF4-FFF2-40B4-BE49-F238E27FC236}">
                  <a16:creationId xmlns:a16="http://schemas.microsoft.com/office/drawing/2014/main" id="{38CECA78-2EE1-406A-A3D5-B2EB42275ABF}"/>
                </a:ext>
              </a:extLst>
            </p:cNvPr>
            <p:cNvSpPr/>
            <p:nvPr/>
          </p:nvSpPr>
          <p:spPr>
            <a:xfrm rot="19949149">
              <a:off x="2907455" y="2902928"/>
              <a:ext cx="61315" cy="61315"/>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solidFill>
              <a:srgbClr val="86F200"/>
            </a:solidFill>
            <a:ln w="28575">
              <a:solidFill>
                <a:srgbClr val="5EF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17" name="Freeform 214">
              <a:extLst>
                <a:ext uri="{FF2B5EF4-FFF2-40B4-BE49-F238E27FC236}">
                  <a16:creationId xmlns:a16="http://schemas.microsoft.com/office/drawing/2014/main" id="{95A8584D-B620-4560-8AE4-8EA6AFF4C10F}"/>
                </a:ext>
              </a:extLst>
            </p:cNvPr>
            <p:cNvSpPr/>
            <p:nvPr/>
          </p:nvSpPr>
          <p:spPr>
            <a:xfrm rot="1650851" flipV="1">
              <a:off x="2917959" y="3442873"/>
              <a:ext cx="61402" cy="61315"/>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solidFill>
              <a:srgbClr val="86F200"/>
            </a:solidFill>
            <a:ln w="28575">
              <a:solidFill>
                <a:srgbClr val="5EF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sp>
        <p:nvSpPr>
          <p:cNvPr id="51" name="Oval 50">
            <a:extLst>
              <a:ext uri="{FF2B5EF4-FFF2-40B4-BE49-F238E27FC236}">
                <a16:creationId xmlns:a16="http://schemas.microsoft.com/office/drawing/2014/main" id="{FC56EBB2-8C81-47CE-9A2B-4F7FBCFA696C}"/>
              </a:ext>
            </a:extLst>
          </p:cNvPr>
          <p:cNvSpPr/>
          <p:nvPr/>
        </p:nvSpPr>
        <p:spPr>
          <a:xfrm>
            <a:off x="4030182" y="3814699"/>
            <a:ext cx="119144" cy="119144"/>
          </a:xfrm>
          <a:prstGeom prst="ellipse">
            <a:avLst/>
          </a:prstGeom>
          <a:solidFill>
            <a:schemeClr val="bg1"/>
          </a:solidFill>
          <a:ln w="1270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nvGrpSpPr>
          <p:cNvPr id="52" name="Group 51">
            <a:extLst>
              <a:ext uri="{FF2B5EF4-FFF2-40B4-BE49-F238E27FC236}">
                <a16:creationId xmlns:a16="http://schemas.microsoft.com/office/drawing/2014/main" id="{C37AAE7A-5060-4000-B542-7D9C39C83B89}"/>
              </a:ext>
            </a:extLst>
          </p:cNvPr>
          <p:cNvGrpSpPr>
            <a:grpSpLocks/>
          </p:cNvGrpSpPr>
          <p:nvPr/>
        </p:nvGrpSpPr>
        <p:grpSpPr>
          <a:xfrm>
            <a:off x="8062592" y="2260828"/>
            <a:ext cx="1800000" cy="1800000"/>
            <a:chOff x="8116364" y="2126568"/>
            <a:chExt cx="2160000" cy="2160000"/>
          </a:xfrm>
        </p:grpSpPr>
        <p:grpSp>
          <p:nvGrpSpPr>
            <p:cNvPr id="102" name="Group 101">
              <a:extLst>
                <a:ext uri="{FF2B5EF4-FFF2-40B4-BE49-F238E27FC236}">
                  <a16:creationId xmlns:a16="http://schemas.microsoft.com/office/drawing/2014/main" id="{1C55FA74-C276-4869-B885-EC45B024EDBB}"/>
                </a:ext>
              </a:extLst>
            </p:cNvPr>
            <p:cNvGrpSpPr/>
            <p:nvPr/>
          </p:nvGrpSpPr>
          <p:grpSpPr>
            <a:xfrm>
              <a:off x="8116364" y="2126568"/>
              <a:ext cx="2160000" cy="2160000"/>
              <a:chOff x="8116364" y="2126568"/>
              <a:chExt cx="2160000" cy="2160000"/>
            </a:xfrm>
          </p:grpSpPr>
          <p:sp>
            <p:nvSpPr>
              <p:cNvPr id="110" name="Oval 109">
                <a:extLst>
                  <a:ext uri="{FF2B5EF4-FFF2-40B4-BE49-F238E27FC236}">
                    <a16:creationId xmlns:a16="http://schemas.microsoft.com/office/drawing/2014/main" id="{19EC65DB-8CCE-4E14-85F6-B6C88559D8FB}"/>
                  </a:ext>
                </a:extLst>
              </p:cNvPr>
              <p:cNvSpPr/>
              <p:nvPr/>
            </p:nvSpPr>
            <p:spPr>
              <a:xfrm>
                <a:off x="8116364" y="2126568"/>
                <a:ext cx="2160000" cy="2160000"/>
              </a:xfrm>
              <a:prstGeom prst="ellipse">
                <a:avLst/>
              </a:prstGeom>
              <a:solidFill>
                <a:schemeClr val="bg1"/>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11" name="Rectangle 3">
                <a:extLst>
                  <a:ext uri="{FF2B5EF4-FFF2-40B4-BE49-F238E27FC236}">
                    <a16:creationId xmlns:a16="http://schemas.microsoft.com/office/drawing/2014/main" id="{D3CABFF3-AD38-4477-AC5B-18F80455C407}"/>
                  </a:ext>
                </a:extLst>
              </p:cNvPr>
              <p:cNvSpPr>
                <a:spLocks/>
              </p:cNvSpPr>
              <p:nvPr/>
            </p:nvSpPr>
            <p:spPr bwMode="auto">
              <a:xfrm>
                <a:off x="8556422" y="2917437"/>
                <a:ext cx="1279886" cy="7855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dirty="0">
                    <a:ln>
                      <a:noFill/>
                    </a:ln>
                    <a:solidFill>
                      <a:srgbClr val="3F3F3F"/>
                    </a:solidFill>
                    <a:effectLst/>
                    <a:uLnTx/>
                    <a:uFillTx/>
                    <a:latin typeface="+mj-lt"/>
                    <a:ea typeface="Open Sans Semibold" panose="020B0706030804020204" pitchFamily="34" charset="0"/>
                    <a:cs typeface="Open Sans Semibold" panose="020B0706030804020204" pitchFamily="34" charset="0"/>
                    <a:sym typeface="Frutiger Next Pro Medium" charset="0"/>
                  </a:rPr>
                  <a:t>5. Scale</a:t>
                </a:r>
              </a:p>
            </p:txBody>
          </p:sp>
          <p:sp>
            <p:nvSpPr>
              <p:cNvPr id="112" name="Shape 2546">
                <a:extLst>
                  <a:ext uri="{FF2B5EF4-FFF2-40B4-BE49-F238E27FC236}">
                    <a16:creationId xmlns:a16="http://schemas.microsoft.com/office/drawing/2014/main" id="{1BCAD946-FD35-4174-8FD2-53B4738BF02B}"/>
                  </a:ext>
                </a:extLst>
              </p:cNvPr>
              <p:cNvSpPr/>
              <p:nvPr/>
            </p:nvSpPr>
            <p:spPr>
              <a:xfrm>
                <a:off x="8982707" y="2709142"/>
                <a:ext cx="427313" cy="427313"/>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rgbClr val="FDD300"/>
              </a:solidFill>
              <a:ln w="12700">
                <a:miter lim="400000"/>
              </a:ln>
            </p:spPr>
            <p:txBody>
              <a:bodyPr lIns="14284" tIns="14284" rIns="14284" bIns="14284" anchor="ctr"/>
              <a:lstStyle/>
              <a:p>
                <a:pPr marL="0" marR="0" lvl="0" indent="0" algn="l" defTabSz="17139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0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mj-lt"/>
                  <a:ea typeface="Calibri" charset="0"/>
                  <a:cs typeface="Calibri" charset="0"/>
                  <a:sym typeface="Gill Sans"/>
                </a:endParaRPr>
              </a:p>
            </p:txBody>
          </p:sp>
        </p:grpSp>
        <p:grpSp>
          <p:nvGrpSpPr>
            <p:cNvPr id="103" name="Group 102">
              <a:extLst>
                <a:ext uri="{FF2B5EF4-FFF2-40B4-BE49-F238E27FC236}">
                  <a16:creationId xmlns:a16="http://schemas.microsoft.com/office/drawing/2014/main" id="{C2F67EE1-4334-4762-84B3-634AC2730A47}"/>
                </a:ext>
              </a:extLst>
            </p:cNvPr>
            <p:cNvGrpSpPr/>
            <p:nvPr/>
          </p:nvGrpSpPr>
          <p:grpSpPr>
            <a:xfrm rot="3749149">
              <a:off x="8264482" y="2266093"/>
              <a:ext cx="1871481" cy="1871481"/>
              <a:chOff x="5740400" y="5120513"/>
              <a:chExt cx="1371600" cy="1371600"/>
            </a:xfrm>
            <a:solidFill>
              <a:srgbClr val="FDD300"/>
            </a:solidFill>
          </p:grpSpPr>
          <p:grpSp>
            <p:nvGrpSpPr>
              <p:cNvPr id="104" name="Group 103">
                <a:extLst>
                  <a:ext uri="{FF2B5EF4-FFF2-40B4-BE49-F238E27FC236}">
                    <a16:creationId xmlns:a16="http://schemas.microsoft.com/office/drawing/2014/main" id="{8B62A6F0-1AD2-4423-BAFE-847FFC9E6E58}"/>
                  </a:ext>
                </a:extLst>
              </p:cNvPr>
              <p:cNvGrpSpPr/>
              <p:nvPr/>
            </p:nvGrpSpPr>
            <p:grpSpPr>
              <a:xfrm>
                <a:off x="5740400" y="5120513"/>
                <a:ext cx="1371600" cy="1371600"/>
                <a:chOff x="5740400" y="5120513"/>
                <a:chExt cx="1371600" cy="1371600"/>
              </a:xfrm>
              <a:grpFill/>
            </p:grpSpPr>
            <p:sp>
              <p:nvSpPr>
                <p:cNvPr id="108" name="Block Arc 107">
                  <a:extLst>
                    <a:ext uri="{FF2B5EF4-FFF2-40B4-BE49-F238E27FC236}">
                      <a16:creationId xmlns:a16="http://schemas.microsoft.com/office/drawing/2014/main" id="{C63B339A-51B2-40F6-9535-44CC6FC95DE5}"/>
                    </a:ext>
                  </a:extLst>
                </p:cNvPr>
                <p:cNvSpPr/>
                <p:nvPr/>
              </p:nvSpPr>
              <p:spPr>
                <a:xfrm>
                  <a:off x="5740400" y="5120513"/>
                  <a:ext cx="1371600" cy="1371600"/>
                </a:xfrm>
                <a:prstGeom prst="blockArc">
                  <a:avLst>
                    <a:gd name="adj1" fmla="val 10800000"/>
                    <a:gd name="adj2" fmla="val 20830735"/>
                    <a:gd name="adj3" fmla="val 0"/>
                  </a:avLst>
                </a:prstGeom>
                <a:grpFill/>
                <a:ln w="28575">
                  <a:solidFill>
                    <a:srgbClr val="FDD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mj-lt"/>
                    <a:ea typeface="+mn-ea"/>
                    <a:cs typeface="+mn-cs"/>
                  </a:endParaRPr>
                </a:p>
              </p:txBody>
            </p:sp>
            <p:sp>
              <p:nvSpPr>
                <p:cNvPr id="109" name="Freeform 206">
                  <a:extLst>
                    <a:ext uri="{FF2B5EF4-FFF2-40B4-BE49-F238E27FC236}">
                      <a16:creationId xmlns:a16="http://schemas.microsoft.com/office/drawing/2014/main" id="{BA985F2A-7B12-48AA-AFD9-03FA94F3A879}"/>
                    </a:ext>
                  </a:extLst>
                </p:cNvPr>
                <p:cNvSpPr/>
                <p:nvPr/>
              </p:nvSpPr>
              <p:spPr>
                <a:xfrm>
                  <a:off x="7024343" y="5599402"/>
                  <a:ext cx="76200" cy="76200"/>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grpFill/>
                <a:ln w="28575">
                  <a:solidFill>
                    <a:srgbClr val="FDD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105" name="Group 104">
                <a:extLst>
                  <a:ext uri="{FF2B5EF4-FFF2-40B4-BE49-F238E27FC236}">
                    <a16:creationId xmlns:a16="http://schemas.microsoft.com/office/drawing/2014/main" id="{3C372C7B-9300-4984-B879-5AF82EC798D0}"/>
                  </a:ext>
                </a:extLst>
              </p:cNvPr>
              <p:cNvGrpSpPr/>
              <p:nvPr/>
            </p:nvGrpSpPr>
            <p:grpSpPr>
              <a:xfrm rot="10800000">
                <a:off x="5740400" y="5120513"/>
                <a:ext cx="1371600" cy="1371600"/>
                <a:chOff x="5740400" y="5120513"/>
                <a:chExt cx="1371600" cy="1371600"/>
              </a:xfrm>
              <a:grpFill/>
            </p:grpSpPr>
            <p:sp>
              <p:nvSpPr>
                <p:cNvPr id="106" name="Block Arc 105">
                  <a:extLst>
                    <a:ext uri="{FF2B5EF4-FFF2-40B4-BE49-F238E27FC236}">
                      <a16:creationId xmlns:a16="http://schemas.microsoft.com/office/drawing/2014/main" id="{416889E7-0F68-4C1C-B5BF-F4D9D6A916CA}"/>
                    </a:ext>
                  </a:extLst>
                </p:cNvPr>
                <p:cNvSpPr/>
                <p:nvPr/>
              </p:nvSpPr>
              <p:spPr>
                <a:xfrm>
                  <a:off x="5740400" y="5120513"/>
                  <a:ext cx="1371600" cy="1371600"/>
                </a:xfrm>
                <a:prstGeom prst="blockArc">
                  <a:avLst>
                    <a:gd name="adj1" fmla="val 10800000"/>
                    <a:gd name="adj2" fmla="val 20830735"/>
                    <a:gd name="adj3" fmla="val 0"/>
                  </a:avLst>
                </a:prstGeom>
                <a:grpFill/>
                <a:ln w="28575">
                  <a:solidFill>
                    <a:srgbClr val="FDD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mj-lt"/>
                    <a:ea typeface="+mn-ea"/>
                    <a:cs typeface="+mn-cs"/>
                  </a:endParaRPr>
                </a:p>
              </p:txBody>
            </p:sp>
            <p:sp>
              <p:nvSpPr>
                <p:cNvPr id="107" name="Freeform 204">
                  <a:extLst>
                    <a:ext uri="{FF2B5EF4-FFF2-40B4-BE49-F238E27FC236}">
                      <a16:creationId xmlns:a16="http://schemas.microsoft.com/office/drawing/2014/main" id="{C6A53794-F30C-420F-81B3-B4EF3FD05875}"/>
                    </a:ext>
                  </a:extLst>
                </p:cNvPr>
                <p:cNvSpPr/>
                <p:nvPr/>
              </p:nvSpPr>
              <p:spPr>
                <a:xfrm>
                  <a:off x="7024341" y="5599405"/>
                  <a:ext cx="76200" cy="76200"/>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grpFill/>
                <a:ln w="28575">
                  <a:solidFill>
                    <a:srgbClr val="FDD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grpSp>
      </p:grpSp>
      <p:grpSp>
        <p:nvGrpSpPr>
          <p:cNvPr id="53" name="Group 52">
            <a:extLst>
              <a:ext uri="{FF2B5EF4-FFF2-40B4-BE49-F238E27FC236}">
                <a16:creationId xmlns:a16="http://schemas.microsoft.com/office/drawing/2014/main" id="{D4ED1D1E-F145-4088-A96C-5D3780CE556C}"/>
              </a:ext>
            </a:extLst>
          </p:cNvPr>
          <p:cNvGrpSpPr/>
          <p:nvPr/>
        </p:nvGrpSpPr>
        <p:grpSpPr>
          <a:xfrm>
            <a:off x="6203792" y="2260828"/>
            <a:ext cx="1800000" cy="1800000"/>
            <a:chOff x="6238504" y="2346603"/>
            <a:chExt cx="1800000" cy="1800000"/>
          </a:xfrm>
        </p:grpSpPr>
        <p:grpSp>
          <p:nvGrpSpPr>
            <p:cNvPr id="91" name="Group 90">
              <a:extLst>
                <a:ext uri="{FF2B5EF4-FFF2-40B4-BE49-F238E27FC236}">
                  <a16:creationId xmlns:a16="http://schemas.microsoft.com/office/drawing/2014/main" id="{EF370C34-83A8-4415-8D3B-67A27C373E41}"/>
                </a:ext>
              </a:extLst>
            </p:cNvPr>
            <p:cNvGrpSpPr/>
            <p:nvPr/>
          </p:nvGrpSpPr>
          <p:grpSpPr>
            <a:xfrm>
              <a:off x="6238504" y="2346603"/>
              <a:ext cx="1800000" cy="1800000"/>
              <a:chOff x="6238504" y="2306568"/>
              <a:chExt cx="1800000" cy="1800000"/>
            </a:xfrm>
          </p:grpSpPr>
          <p:sp>
            <p:nvSpPr>
              <p:cNvPr id="99" name="Oval 98">
                <a:extLst>
                  <a:ext uri="{FF2B5EF4-FFF2-40B4-BE49-F238E27FC236}">
                    <a16:creationId xmlns:a16="http://schemas.microsoft.com/office/drawing/2014/main" id="{5B8A729D-F3BC-4D39-88BD-41402651B5DC}"/>
                  </a:ext>
                </a:extLst>
              </p:cNvPr>
              <p:cNvSpPr/>
              <p:nvPr/>
            </p:nvSpPr>
            <p:spPr>
              <a:xfrm>
                <a:off x="6238504" y="2306568"/>
                <a:ext cx="1800000" cy="1800000"/>
              </a:xfrm>
              <a:prstGeom prst="ellipse">
                <a:avLst/>
              </a:prstGeom>
              <a:solidFill>
                <a:schemeClr val="bg1"/>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100" name="Rectangle 3">
                <a:extLst>
                  <a:ext uri="{FF2B5EF4-FFF2-40B4-BE49-F238E27FC236}">
                    <a16:creationId xmlns:a16="http://schemas.microsoft.com/office/drawing/2014/main" id="{0F705402-3F9B-4FCF-B644-DE1BCEF08408}"/>
                  </a:ext>
                </a:extLst>
              </p:cNvPr>
              <p:cNvSpPr>
                <a:spLocks/>
              </p:cNvSpPr>
              <p:nvPr/>
            </p:nvSpPr>
            <p:spPr bwMode="auto">
              <a:xfrm>
                <a:off x="6605219" y="2982899"/>
                <a:ext cx="1066572" cy="6546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dirty="0">
                    <a:ln>
                      <a:noFill/>
                    </a:ln>
                    <a:solidFill>
                      <a:srgbClr val="3F3F3F"/>
                    </a:solidFill>
                    <a:effectLst/>
                    <a:uLnTx/>
                    <a:uFillTx/>
                    <a:latin typeface="+mj-lt"/>
                    <a:ea typeface="Open Sans Semibold" panose="020B0706030804020204" pitchFamily="34" charset="0"/>
                    <a:cs typeface="Open Sans Semibold" panose="020B0706030804020204" pitchFamily="34" charset="0"/>
                    <a:sym typeface="Frutiger Next Pro Medium" charset="0"/>
                  </a:rPr>
                  <a:t>4. Build</a:t>
                </a:r>
              </a:p>
            </p:txBody>
          </p:sp>
          <p:sp>
            <p:nvSpPr>
              <p:cNvPr id="101" name="Shape 2591">
                <a:extLst>
                  <a:ext uri="{FF2B5EF4-FFF2-40B4-BE49-F238E27FC236}">
                    <a16:creationId xmlns:a16="http://schemas.microsoft.com/office/drawing/2014/main" id="{2C3ED1DB-76E9-464D-9BCF-82EF5D5A5888}"/>
                  </a:ext>
                </a:extLst>
              </p:cNvPr>
              <p:cNvSpPr/>
              <p:nvPr/>
            </p:nvSpPr>
            <p:spPr>
              <a:xfrm>
                <a:off x="6960457" y="2782570"/>
                <a:ext cx="356094" cy="356094"/>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91E389"/>
              </a:solidFill>
              <a:ln w="12700">
                <a:miter lim="400000"/>
              </a:ln>
            </p:spPr>
            <p:txBody>
              <a:bodyPr lIns="14284" tIns="14284" rIns="14284" bIns="14284" anchor="ctr"/>
              <a:lstStyle/>
              <a:p>
                <a:pPr marL="0" marR="0" lvl="0" indent="0" algn="l" defTabSz="17139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0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mj-lt"/>
                  <a:ea typeface="Calibri" charset="0"/>
                  <a:cs typeface="Calibri" charset="0"/>
                  <a:sym typeface="Gill Sans"/>
                </a:endParaRPr>
              </a:p>
            </p:txBody>
          </p:sp>
        </p:grpSp>
        <p:grpSp>
          <p:nvGrpSpPr>
            <p:cNvPr id="92" name="Group 91">
              <a:extLst>
                <a:ext uri="{FF2B5EF4-FFF2-40B4-BE49-F238E27FC236}">
                  <a16:creationId xmlns:a16="http://schemas.microsoft.com/office/drawing/2014/main" id="{72670BD5-85EB-4D45-91C0-07179148F072}"/>
                </a:ext>
              </a:extLst>
            </p:cNvPr>
            <p:cNvGrpSpPr/>
            <p:nvPr/>
          </p:nvGrpSpPr>
          <p:grpSpPr>
            <a:xfrm rot="3749149">
              <a:off x="6361936" y="2462873"/>
              <a:ext cx="1559567" cy="1559567"/>
              <a:chOff x="5740400" y="5120513"/>
              <a:chExt cx="1371600" cy="1371600"/>
            </a:xfrm>
            <a:solidFill>
              <a:srgbClr val="91E389"/>
            </a:solidFill>
          </p:grpSpPr>
          <p:grpSp>
            <p:nvGrpSpPr>
              <p:cNvPr id="93" name="Group 92">
                <a:extLst>
                  <a:ext uri="{FF2B5EF4-FFF2-40B4-BE49-F238E27FC236}">
                    <a16:creationId xmlns:a16="http://schemas.microsoft.com/office/drawing/2014/main" id="{9CAF97E8-7273-4BBF-9DCD-0713E76749C8}"/>
                  </a:ext>
                </a:extLst>
              </p:cNvPr>
              <p:cNvGrpSpPr/>
              <p:nvPr/>
            </p:nvGrpSpPr>
            <p:grpSpPr>
              <a:xfrm>
                <a:off x="5740400" y="5120513"/>
                <a:ext cx="1371600" cy="1371600"/>
                <a:chOff x="5740400" y="5120513"/>
                <a:chExt cx="1371600" cy="1371600"/>
              </a:xfrm>
              <a:grpFill/>
            </p:grpSpPr>
            <p:sp>
              <p:nvSpPr>
                <p:cNvPr id="97" name="Block Arc 96">
                  <a:extLst>
                    <a:ext uri="{FF2B5EF4-FFF2-40B4-BE49-F238E27FC236}">
                      <a16:creationId xmlns:a16="http://schemas.microsoft.com/office/drawing/2014/main" id="{E425BD78-5819-48FA-BB20-29B59FD1705B}"/>
                    </a:ext>
                  </a:extLst>
                </p:cNvPr>
                <p:cNvSpPr/>
                <p:nvPr/>
              </p:nvSpPr>
              <p:spPr>
                <a:xfrm>
                  <a:off x="5740400" y="5120513"/>
                  <a:ext cx="1371600" cy="1371600"/>
                </a:xfrm>
                <a:prstGeom prst="blockArc">
                  <a:avLst>
                    <a:gd name="adj1" fmla="val 10800000"/>
                    <a:gd name="adj2" fmla="val 20830735"/>
                    <a:gd name="adj3" fmla="val 0"/>
                  </a:avLst>
                </a:prstGeom>
                <a:grpFill/>
                <a:ln w="28575">
                  <a:solidFill>
                    <a:srgbClr val="91E3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mj-lt"/>
                    <a:ea typeface="+mn-ea"/>
                    <a:cs typeface="+mn-cs"/>
                  </a:endParaRPr>
                </a:p>
              </p:txBody>
            </p:sp>
            <p:sp>
              <p:nvSpPr>
                <p:cNvPr id="98" name="Freeform 195">
                  <a:extLst>
                    <a:ext uri="{FF2B5EF4-FFF2-40B4-BE49-F238E27FC236}">
                      <a16:creationId xmlns:a16="http://schemas.microsoft.com/office/drawing/2014/main" id="{057F2B48-2CB9-43CC-9CAE-FFA02694EE15}"/>
                    </a:ext>
                  </a:extLst>
                </p:cNvPr>
                <p:cNvSpPr/>
                <p:nvPr/>
              </p:nvSpPr>
              <p:spPr>
                <a:xfrm>
                  <a:off x="7019125" y="5582834"/>
                  <a:ext cx="76200" cy="76200"/>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grpFill/>
                <a:ln w="28575">
                  <a:solidFill>
                    <a:srgbClr val="91E3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94" name="Group 93">
                <a:extLst>
                  <a:ext uri="{FF2B5EF4-FFF2-40B4-BE49-F238E27FC236}">
                    <a16:creationId xmlns:a16="http://schemas.microsoft.com/office/drawing/2014/main" id="{C291650F-0157-465E-BFFD-6F7387399C2B}"/>
                  </a:ext>
                </a:extLst>
              </p:cNvPr>
              <p:cNvGrpSpPr/>
              <p:nvPr/>
            </p:nvGrpSpPr>
            <p:grpSpPr>
              <a:xfrm rot="10800000">
                <a:off x="5740400" y="5120513"/>
                <a:ext cx="1371600" cy="1371600"/>
                <a:chOff x="5740400" y="5120513"/>
                <a:chExt cx="1371600" cy="1371600"/>
              </a:xfrm>
              <a:grpFill/>
            </p:grpSpPr>
            <p:sp>
              <p:nvSpPr>
                <p:cNvPr id="95" name="Block Arc 94">
                  <a:extLst>
                    <a:ext uri="{FF2B5EF4-FFF2-40B4-BE49-F238E27FC236}">
                      <a16:creationId xmlns:a16="http://schemas.microsoft.com/office/drawing/2014/main" id="{9AB6DE23-1FC1-405F-B4F3-6A1A505731F9}"/>
                    </a:ext>
                  </a:extLst>
                </p:cNvPr>
                <p:cNvSpPr/>
                <p:nvPr/>
              </p:nvSpPr>
              <p:spPr>
                <a:xfrm>
                  <a:off x="5740400" y="5120513"/>
                  <a:ext cx="1371600" cy="1371600"/>
                </a:xfrm>
                <a:prstGeom prst="blockArc">
                  <a:avLst>
                    <a:gd name="adj1" fmla="val 10800000"/>
                    <a:gd name="adj2" fmla="val 20830735"/>
                    <a:gd name="adj3" fmla="val 0"/>
                  </a:avLst>
                </a:prstGeom>
                <a:grpFill/>
                <a:ln w="28575">
                  <a:solidFill>
                    <a:srgbClr val="91E3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mj-lt"/>
                    <a:ea typeface="+mn-ea"/>
                    <a:cs typeface="+mn-cs"/>
                  </a:endParaRPr>
                </a:p>
              </p:txBody>
            </p:sp>
            <p:sp>
              <p:nvSpPr>
                <p:cNvPr id="96" name="Freeform 193">
                  <a:extLst>
                    <a:ext uri="{FF2B5EF4-FFF2-40B4-BE49-F238E27FC236}">
                      <a16:creationId xmlns:a16="http://schemas.microsoft.com/office/drawing/2014/main" id="{72550694-9FF5-4248-B41F-3A19C992A771}"/>
                    </a:ext>
                  </a:extLst>
                </p:cNvPr>
                <p:cNvSpPr/>
                <p:nvPr/>
              </p:nvSpPr>
              <p:spPr>
                <a:xfrm>
                  <a:off x="7019118" y="5582834"/>
                  <a:ext cx="76200" cy="76200"/>
                </a:xfrm>
                <a:custGeom>
                  <a:avLst/>
                  <a:gdLst>
                    <a:gd name="connsiteX0" fmla="*/ 76200 w 76200"/>
                    <a:gd name="connsiteY0" fmla="*/ 76200 h 76200"/>
                    <a:gd name="connsiteX1" fmla="*/ 0 w 76200"/>
                    <a:gd name="connsiteY1" fmla="*/ 9525 h 76200"/>
                    <a:gd name="connsiteX2" fmla="*/ 53975 w 76200"/>
                    <a:gd name="connsiteY2" fmla="*/ 0 h 76200"/>
                    <a:gd name="connsiteX3" fmla="*/ 76200 w 762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76200" h="76200">
                      <a:moveTo>
                        <a:pt x="76200" y="76200"/>
                      </a:moveTo>
                      <a:lnTo>
                        <a:pt x="0" y="9525"/>
                      </a:lnTo>
                      <a:lnTo>
                        <a:pt x="53975" y="0"/>
                      </a:lnTo>
                      <a:lnTo>
                        <a:pt x="76200" y="76200"/>
                      </a:lnTo>
                      <a:close/>
                    </a:path>
                  </a:pathLst>
                </a:custGeom>
                <a:grpFill/>
                <a:ln w="28575">
                  <a:solidFill>
                    <a:srgbClr val="91E3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grpSp>
        </p:grpSp>
      </p:grpSp>
      <p:grpSp>
        <p:nvGrpSpPr>
          <p:cNvPr id="54" name="Group 53">
            <a:extLst>
              <a:ext uri="{FF2B5EF4-FFF2-40B4-BE49-F238E27FC236}">
                <a16:creationId xmlns:a16="http://schemas.microsoft.com/office/drawing/2014/main" id="{378CEE94-2D6F-452B-BC8E-0161ACB7E2DA}"/>
              </a:ext>
            </a:extLst>
          </p:cNvPr>
          <p:cNvGrpSpPr/>
          <p:nvPr/>
        </p:nvGrpSpPr>
        <p:grpSpPr>
          <a:xfrm>
            <a:off x="6028037" y="3034828"/>
            <a:ext cx="252000" cy="252000"/>
            <a:chOff x="4246648" y="3095434"/>
            <a:chExt cx="220652" cy="221383"/>
          </a:xfrm>
          <a:solidFill>
            <a:schemeClr val="bg1"/>
          </a:solidFill>
        </p:grpSpPr>
        <p:sp>
          <p:nvSpPr>
            <p:cNvPr id="89" name="Oval 88">
              <a:extLst>
                <a:ext uri="{FF2B5EF4-FFF2-40B4-BE49-F238E27FC236}">
                  <a16:creationId xmlns:a16="http://schemas.microsoft.com/office/drawing/2014/main" id="{09B16914-ACFE-42E9-AD80-772EC4957C69}"/>
                </a:ext>
              </a:extLst>
            </p:cNvPr>
            <p:cNvSpPr/>
            <p:nvPr/>
          </p:nvSpPr>
          <p:spPr>
            <a:xfrm>
              <a:off x="4246648" y="3095434"/>
              <a:ext cx="220652" cy="221383"/>
            </a:xfrm>
            <a:prstGeom prst="ellipse">
              <a:avLst/>
            </a:prstGeom>
            <a:grpFill/>
            <a:ln w="1905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mn-ea"/>
                <a:cs typeface="+mn-cs"/>
              </a:endParaRPr>
            </a:p>
          </p:txBody>
        </p:sp>
        <p:pic>
          <p:nvPicPr>
            <p:cNvPr id="90" name="Graphic 141">
              <a:extLst>
                <a:ext uri="{FF2B5EF4-FFF2-40B4-BE49-F238E27FC236}">
                  <a16:creationId xmlns:a16="http://schemas.microsoft.com/office/drawing/2014/main" id="{4B20D982-888C-4960-BBC7-7FD6D1E1E511}"/>
                </a:ext>
              </a:extLst>
            </p:cNvPr>
            <p:cNvPicPr>
              <a:picLocks noChangeAspect="1"/>
            </p:cNvPicPr>
            <p:nvPr/>
          </p:nvPicPr>
          <p:blipFill rotWithShape="1">
            <a:blip cstate="screen">
              <a:extLst>
                <a:ext uri="{28A0092B-C50C-407E-A947-70E740481C1C}">
                  <a14:useLocalDpi xmlns:a14="http://schemas.microsoft.com/office/drawing/2010/main"/>
                </a:ext>
              </a:extLst>
            </a:blip>
            <a:srcRect b="21062"/>
            <a:stretch/>
          </p:blipFill>
          <p:spPr>
            <a:xfrm>
              <a:off x="4300179" y="3139508"/>
              <a:ext cx="118908" cy="117330"/>
            </a:xfrm>
            <a:prstGeom prst="rect">
              <a:avLst/>
            </a:prstGeom>
            <a:grpFill/>
          </p:spPr>
        </p:pic>
      </p:grpSp>
      <p:sp>
        <p:nvSpPr>
          <p:cNvPr id="55" name="TextBox 54">
            <a:extLst>
              <a:ext uri="{FF2B5EF4-FFF2-40B4-BE49-F238E27FC236}">
                <a16:creationId xmlns:a16="http://schemas.microsoft.com/office/drawing/2014/main" id="{FFD05ABE-C499-4D60-B965-36C8B8C1A3C3}"/>
              </a:ext>
            </a:extLst>
          </p:cNvPr>
          <p:cNvSpPr txBox="1"/>
          <p:nvPr/>
        </p:nvSpPr>
        <p:spPr>
          <a:xfrm>
            <a:off x="7495385" y="1928378"/>
            <a:ext cx="1075615" cy="246221"/>
          </a:xfrm>
          <a:prstGeom prst="rect">
            <a:avLst/>
          </a:prstGeom>
          <a:noFill/>
        </p:spPr>
        <p:txBody>
          <a:bodyPr wrap="non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mj-lt"/>
                <a:ea typeface="Open Sans Light" panose="020B0306030504020204" pitchFamily="34" charset="0"/>
                <a:cs typeface="Open Sans Light" panose="020B0306030504020204" pitchFamily="34" charset="0"/>
              </a:rPr>
              <a:t>LAUNCH</a:t>
            </a:r>
            <a:r>
              <a:rPr kumimoji="0" lang="en-GB" sz="1000" b="1" i="0" u="none" strike="noStrike" kern="1200" cap="none" spc="0" normalizeH="0" noProof="0" dirty="0">
                <a:ln>
                  <a:noFill/>
                </a:ln>
                <a:solidFill>
                  <a:prstClr val="black"/>
                </a:solidFill>
                <a:effectLst/>
                <a:uLnTx/>
                <a:uFillTx/>
                <a:latin typeface="+mj-lt"/>
                <a:ea typeface="Open Sans Light" panose="020B0306030504020204" pitchFamily="34" charset="0"/>
                <a:cs typeface="Open Sans Light" panose="020B0306030504020204" pitchFamily="34" charset="0"/>
              </a:rPr>
              <a:t> OOMF v2.0</a:t>
            </a:r>
            <a:endParaRPr kumimoji="0" lang="en-GB" sz="1000" b="1" i="0" u="none" strike="noStrike" kern="1200" cap="none" spc="0" normalizeH="0" baseline="0" noProof="0" dirty="0">
              <a:ln>
                <a:noFill/>
              </a:ln>
              <a:solidFill>
                <a:prstClr val="black"/>
              </a:solidFill>
              <a:effectLst/>
              <a:uLnTx/>
              <a:uFillTx/>
              <a:latin typeface="+mj-lt"/>
              <a:ea typeface="Open Sans Light" panose="020B0306030504020204" pitchFamily="34" charset="0"/>
              <a:cs typeface="Open Sans Light" panose="020B0306030504020204" pitchFamily="34" charset="0"/>
            </a:endParaRPr>
          </a:p>
        </p:txBody>
      </p:sp>
      <p:cxnSp>
        <p:nvCxnSpPr>
          <p:cNvPr id="56" name="Straight Connector 55">
            <a:extLst>
              <a:ext uri="{FF2B5EF4-FFF2-40B4-BE49-F238E27FC236}">
                <a16:creationId xmlns:a16="http://schemas.microsoft.com/office/drawing/2014/main" id="{6EF80197-F591-4563-A0DE-8D3D5F49396F}"/>
              </a:ext>
            </a:extLst>
          </p:cNvPr>
          <p:cNvCxnSpPr/>
          <p:nvPr/>
        </p:nvCxnSpPr>
        <p:spPr>
          <a:xfrm>
            <a:off x="8033192" y="2338810"/>
            <a:ext cx="0" cy="5400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A61C35A-5CD1-410B-8272-A40E4C607917}"/>
              </a:ext>
            </a:extLst>
          </p:cNvPr>
          <p:cNvSpPr txBox="1"/>
          <p:nvPr/>
        </p:nvSpPr>
        <p:spPr>
          <a:xfrm>
            <a:off x="10098660" y="2883829"/>
            <a:ext cx="1602612" cy="553998"/>
          </a:xfrm>
          <a:prstGeom prst="rect">
            <a:avLst/>
          </a:prstGeom>
          <a:solidFill>
            <a:schemeClr val="bg1"/>
          </a:solidFill>
        </p:spPr>
        <p:txBody>
          <a:bodyPr wrap="square" lIns="0" rIns="0" rtlCol="0">
            <a:spAutoFit/>
          </a:bodyPr>
          <a:lstStyle>
            <a:defPPr>
              <a:defRPr lang="en-US"/>
            </a:defPPr>
            <a:lvl1pPr algn="ctr">
              <a:defRPr sz="700">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mj-lt"/>
              </a:rPr>
              <a:t>TRANSITION &amp; INSTITUTIONALIZATION OF </a:t>
            </a:r>
            <a:r>
              <a:rPr lang="en-GB" sz="1000" b="1" dirty="0">
                <a:solidFill>
                  <a:prstClr val="black"/>
                </a:solidFill>
                <a:latin typeface="+mj-lt"/>
              </a:rPr>
              <a:t>OOMF v2.0</a:t>
            </a:r>
            <a:endParaRPr kumimoji="0" lang="en-GB" sz="1000" b="1" i="0" u="none" strike="noStrike" kern="1200" cap="none" spc="0" normalizeH="0" baseline="0" noProof="0" dirty="0">
              <a:ln>
                <a:noFill/>
              </a:ln>
              <a:solidFill>
                <a:prstClr val="black"/>
              </a:solidFill>
              <a:effectLst/>
              <a:uLnTx/>
              <a:uFillTx/>
              <a:latin typeface="+mj-lt"/>
            </a:endParaRPr>
          </a:p>
        </p:txBody>
      </p:sp>
      <p:grpSp>
        <p:nvGrpSpPr>
          <p:cNvPr id="58" name="Group 57">
            <a:extLst>
              <a:ext uri="{FF2B5EF4-FFF2-40B4-BE49-F238E27FC236}">
                <a16:creationId xmlns:a16="http://schemas.microsoft.com/office/drawing/2014/main" id="{2CD1A978-E81E-45CD-B458-F0D41BF36A92}"/>
              </a:ext>
            </a:extLst>
          </p:cNvPr>
          <p:cNvGrpSpPr/>
          <p:nvPr/>
        </p:nvGrpSpPr>
        <p:grpSpPr>
          <a:xfrm>
            <a:off x="9800029" y="3034828"/>
            <a:ext cx="249552" cy="250380"/>
            <a:chOff x="7605499" y="4220358"/>
            <a:chExt cx="178318" cy="178909"/>
          </a:xfrm>
        </p:grpSpPr>
        <p:sp>
          <p:nvSpPr>
            <p:cNvPr id="87" name="Oval 86">
              <a:extLst>
                <a:ext uri="{FF2B5EF4-FFF2-40B4-BE49-F238E27FC236}">
                  <a16:creationId xmlns:a16="http://schemas.microsoft.com/office/drawing/2014/main" id="{54A76422-5EF9-4BE9-81D5-D5DA353FA888}"/>
                </a:ext>
              </a:extLst>
            </p:cNvPr>
            <p:cNvSpPr/>
            <p:nvPr/>
          </p:nvSpPr>
          <p:spPr>
            <a:xfrm>
              <a:off x="7605499" y="4220358"/>
              <a:ext cx="178318" cy="178909"/>
            </a:xfrm>
            <a:prstGeom prst="ellipse">
              <a:avLst/>
            </a:prstGeom>
            <a:solidFill>
              <a:schemeClr val="bg1"/>
            </a:solidFill>
            <a:ln w="1905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mn-ea"/>
                <a:cs typeface="+mn-cs"/>
              </a:endParaRPr>
            </a:p>
          </p:txBody>
        </p:sp>
        <p:sp>
          <p:nvSpPr>
            <p:cNvPr id="88" name="Freeform 690">
              <a:extLst>
                <a:ext uri="{FF2B5EF4-FFF2-40B4-BE49-F238E27FC236}">
                  <a16:creationId xmlns:a16="http://schemas.microsoft.com/office/drawing/2014/main" id="{907227A0-45F5-42C4-A068-F1E28ADA71AB}"/>
                </a:ext>
              </a:extLst>
            </p:cNvPr>
            <p:cNvSpPr>
              <a:spLocks noEditPoints="1"/>
            </p:cNvSpPr>
            <p:nvPr/>
          </p:nvSpPr>
          <p:spPr bwMode="auto">
            <a:xfrm>
              <a:off x="7635172" y="4248245"/>
              <a:ext cx="118972" cy="123134"/>
            </a:xfrm>
            <a:custGeom>
              <a:avLst/>
              <a:gdLst>
                <a:gd name="T0" fmla="*/ 166 w 302"/>
                <a:gd name="T1" fmla="*/ 311 h 311"/>
                <a:gd name="T2" fmla="*/ 158 w 302"/>
                <a:gd name="T3" fmla="*/ 308 h 311"/>
                <a:gd name="T4" fmla="*/ 113 w 302"/>
                <a:gd name="T5" fmla="*/ 263 h 311"/>
                <a:gd name="T6" fmla="*/ 92 w 302"/>
                <a:gd name="T7" fmla="*/ 268 h 311"/>
                <a:gd name="T8" fmla="*/ 55 w 302"/>
                <a:gd name="T9" fmla="*/ 257 h 311"/>
                <a:gd name="T10" fmla="*/ 49 w 302"/>
                <a:gd name="T11" fmla="*/ 198 h 311"/>
                <a:gd name="T12" fmla="*/ 4 w 302"/>
                <a:gd name="T13" fmla="*/ 153 h 311"/>
                <a:gd name="T14" fmla="*/ 2 w 302"/>
                <a:gd name="T15" fmla="*/ 140 h 311"/>
                <a:gd name="T16" fmla="*/ 97 w 302"/>
                <a:gd name="T17" fmla="*/ 95 h 311"/>
                <a:gd name="T18" fmla="*/ 280 w 302"/>
                <a:gd name="T19" fmla="*/ 25 h 311"/>
                <a:gd name="T20" fmla="*/ 287 w 302"/>
                <a:gd name="T21" fmla="*/ 33 h 311"/>
                <a:gd name="T22" fmla="*/ 216 w 302"/>
                <a:gd name="T23" fmla="*/ 216 h 311"/>
                <a:gd name="T24" fmla="*/ 172 w 302"/>
                <a:gd name="T25" fmla="*/ 309 h 311"/>
                <a:gd name="T26" fmla="*/ 166 w 302"/>
                <a:gd name="T27" fmla="*/ 311 h 311"/>
                <a:gd name="T28" fmla="*/ 115 w 302"/>
                <a:gd name="T29" fmla="*/ 239 h 311"/>
                <a:gd name="T30" fmla="*/ 122 w 302"/>
                <a:gd name="T31" fmla="*/ 242 h 311"/>
                <a:gd name="T32" fmla="*/ 167 w 302"/>
                <a:gd name="T33" fmla="*/ 286 h 311"/>
                <a:gd name="T34" fmla="*/ 194 w 302"/>
                <a:gd name="T35" fmla="*/ 216 h 311"/>
                <a:gd name="T36" fmla="*/ 197 w 302"/>
                <a:gd name="T37" fmla="*/ 205 h 311"/>
                <a:gd name="T38" fmla="*/ 267 w 302"/>
                <a:gd name="T39" fmla="*/ 44 h 311"/>
                <a:gd name="T40" fmla="*/ 107 w 302"/>
                <a:gd name="T41" fmla="*/ 114 h 311"/>
                <a:gd name="T42" fmla="*/ 96 w 302"/>
                <a:gd name="T43" fmla="*/ 116 h 311"/>
                <a:gd name="T44" fmla="*/ 25 w 302"/>
                <a:gd name="T45" fmla="*/ 144 h 311"/>
                <a:gd name="T46" fmla="*/ 70 w 302"/>
                <a:gd name="T47" fmla="*/ 189 h 311"/>
                <a:gd name="T48" fmla="*/ 70 w 302"/>
                <a:gd name="T49" fmla="*/ 204 h 311"/>
                <a:gd name="T50" fmla="*/ 70 w 302"/>
                <a:gd name="T51" fmla="*/ 242 h 311"/>
                <a:gd name="T52" fmla="*/ 107 w 302"/>
                <a:gd name="T53" fmla="*/ 242 h 311"/>
                <a:gd name="T54" fmla="*/ 115 w 302"/>
                <a:gd name="T55" fmla="*/ 239 h 311"/>
                <a:gd name="T56" fmla="*/ 145 w 302"/>
                <a:gd name="T57" fmla="*/ 209 h 311"/>
                <a:gd name="T58" fmla="*/ 112 w 302"/>
                <a:gd name="T59" fmla="*/ 196 h 311"/>
                <a:gd name="T60" fmla="*/ 112 w 302"/>
                <a:gd name="T61" fmla="*/ 131 h 311"/>
                <a:gd name="T62" fmla="*/ 145 w 302"/>
                <a:gd name="T63" fmla="*/ 117 h 311"/>
                <a:gd name="T64" fmla="*/ 177 w 302"/>
                <a:gd name="T65" fmla="*/ 131 h 311"/>
                <a:gd name="T66" fmla="*/ 177 w 302"/>
                <a:gd name="T67" fmla="*/ 196 h 311"/>
                <a:gd name="T68" fmla="*/ 177 w 302"/>
                <a:gd name="T69" fmla="*/ 196 h 311"/>
                <a:gd name="T70" fmla="*/ 145 w 302"/>
                <a:gd name="T71" fmla="*/ 209 h 311"/>
                <a:gd name="T72" fmla="*/ 145 w 302"/>
                <a:gd name="T73" fmla="*/ 139 h 311"/>
                <a:gd name="T74" fmla="*/ 128 w 302"/>
                <a:gd name="T75" fmla="*/ 146 h 311"/>
                <a:gd name="T76" fmla="*/ 128 w 302"/>
                <a:gd name="T77" fmla="*/ 181 h 311"/>
                <a:gd name="T78" fmla="*/ 162 w 302"/>
                <a:gd name="T79" fmla="*/ 181 h 311"/>
                <a:gd name="T80" fmla="*/ 162 w 302"/>
                <a:gd name="T81" fmla="*/ 181 h 311"/>
                <a:gd name="T82" fmla="*/ 162 w 302"/>
                <a:gd name="T83" fmla="*/ 146 h 311"/>
                <a:gd name="T84" fmla="*/ 145 w 302"/>
                <a:gd name="T85" fmla="*/ 139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2" h="311">
                  <a:moveTo>
                    <a:pt x="166" y="311"/>
                  </a:moveTo>
                  <a:cubicBezTo>
                    <a:pt x="163" y="311"/>
                    <a:pt x="160" y="310"/>
                    <a:pt x="158" y="308"/>
                  </a:cubicBezTo>
                  <a:cubicBezTo>
                    <a:pt x="113" y="263"/>
                    <a:pt x="113" y="263"/>
                    <a:pt x="113" y="263"/>
                  </a:cubicBezTo>
                  <a:cubicBezTo>
                    <a:pt x="107" y="266"/>
                    <a:pt x="100" y="268"/>
                    <a:pt x="92" y="268"/>
                  </a:cubicBezTo>
                  <a:cubicBezTo>
                    <a:pt x="77" y="270"/>
                    <a:pt x="63" y="266"/>
                    <a:pt x="55" y="257"/>
                  </a:cubicBezTo>
                  <a:cubicBezTo>
                    <a:pt x="39" y="242"/>
                    <a:pt x="41" y="214"/>
                    <a:pt x="49" y="198"/>
                  </a:cubicBezTo>
                  <a:cubicBezTo>
                    <a:pt x="4" y="153"/>
                    <a:pt x="4" y="153"/>
                    <a:pt x="4" y="153"/>
                  </a:cubicBezTo>
                  <a:cubicBezTo>
                    <a:pt x="0" y="150"/>
                    <a:pt x="0" y="145"/>
                    <a:pt x="2" y="140"/>
                  </a:cubicBezTo>
                  <a:cubicBezTo>
                    <a:pt x="35" y="87"/>
                    <a:pt x="79" y="91"/>
                    <a:pt x="97" y="95"/>
                  </a:cubicBezTo>
                  <a:cubicBezTo>
                    <a:pt x="194" y="0"/>
                    <a:pt x="276" y="24"/>
                    <a:pt x="280" y="25"/>
                  </a:cubicBezTo>
                  <a:cubicBezTo>
                    <a:pt x="284" y="26"/>
                    <a:pt x="286" y="29"/>
                    <a:pt x="287" y="33"/>
                  </a:cubicBezTo>
                  <a:cubicBezTo>
                    <a:pt x="288" y="37"/>
                    <a:pt x="302" y="127"/>
                    <a:pt x="216" y="216"/>
                  </a:cubicBezTo>
                  <a:cubicBezTo>
                    <a:pt x="219" y="232"/>
                    <a:pt x="220" y="273"/>
                    <a:pt x="172" y="309"/>
                  </a:cubicBezTo>
                  <a:cubicBezTo>
                    <a:pt x="170" y="310"/>
                    <a:pt x="168" y="311"/>
                    <a:pt x="166" y="311"/>
                  </a:cubicBezTo>
                  <a:close/>
                  <a:moveTo>
                    <a:pt x="115" y="239"/>
                  </a:moveTo>
                  <a:cubicBezTo>
                    <a:pt x="118" y="239"/>
                    <a:pt x="120" y="240"/>
                    <a:pt x="122" y="242"/>
                  </a:cubicBezTo>
                  <a:cubicBezTo>
                    <a:pt x="167" y="286"/>
                    <a:pt x="167" y="286"/>
                    <a:pt x="167" y="286"/>
                  </a:cubicBezTo>
                  <a:cubicBezTo>
                    <a:pt x="206" y="252"/>
                    <a:pt x="195" y="216"/>
                    <a:pt x="194" y="216"/>
                  </a:cubicBezTo>
                  <a:cubicBezTo>
                    <a:pt x="193" y="212"/>
                    <a:pt x="194" y="208"/>
                    <a:pt x="197" y="205"/>
                  </a:cubicBezTo>
                  <a:cubicBezTo>
                    <a:pt x="266" y="136"/>
                    <a:pt x="268" y="66"/>
                    <a:pt x="267" y="44"/>
                  </a:cubicBezTo>
                  <a:cubicBezTo>
                    <a:pt x="246" y="41"/>
                    <a:pt x="183" y="39"/>
                    <a:pt x="107" y="114"/>
                  </a:cubicBezTo>
                  <a:cubicBezTo>
                    <a:pt x="104" y="117"/>
                    <a:pt x="100" y="118"/>
                    <a:pt x="96" y="116"/>
                  </a:cubicBezTo>
                  <a:cubicBezTo>
                    <a:pt x="94" y="116"/>
                    <a:pt x="55" y="102"/>
                    <a:pt x="25" y="144"/>
                  </a:cubicBezTo>
                  <a:cubicBezTo>
                    <a:pt x="70" y="189"/>
                    <a:pt x="70" y="189"/>
                    <a:pt x="70" y="189"/>
                  </a:cubicBezTo>
                  <a:cubicBezTo>
                    <a:pt x="74" y="193"/>
                    <a:pt x="74" y="200"/>
                    <a:pt x="70" y="204"/>
                  </a:cubicBezTo>
                  <a:cubicBezTo>
                    <a:pt x="66" y="209"/>
                    <a:pt x="60" y="232"/>
                    <a:pt x="70" y="242"/>
                  </a:cubicBezTo>
                  <a:cubicBezTo>
                    <a:pt x="79" y="252"/>
                    <a:pt x="103" y="246"/>
                    <a:pt x="107" y="242"/>
                  </a:cubicBezTo>
                  <a:cubicBezTo>
                    <a:pt x="109" y="240"/>
                    <a:pt x="112" y="239"/>
                    <a:pt x="115" y="239"/>
                  </a:cubicBezTo>
                  <a:close/>
                  <a:moveTo>
                    <a:pt x="145" y="209"/>
                  </a:moveTo>
                  <a:cubicBezTo>
                    <a:pt x="133" y="209"/>
                    <a:pt x="121" y="205"/>
                    <a:pt x="112" y="196"/>
                  </a:cubicBezTo>
                  <a:cubicBezTo>
                    <a:pt x="95" y="178"/>
                    <a:pt x="95" y="149"/>
                    <a:pt x="112" y="131"/>
                  </a:cubicBezTo>
                  <a:cubicBezTo>
                    <a:pt x="121" y="122"/>
                    <a:pt x="133" y="117"/>
                    <a:pt x="145" y="117"/>
                  </a:cubicBezTo>
                  <a:cubicBezTo>
                    <a:pt x="157" y="117"/>
                    <a:pt x="169" y="122"/>
                    <a:pt x="177" y="131"/>
                  </a:cubicBezTo>
                  <a:cubicBezTo>
                    <a:pt x="195" y="149"/>
                    <a:pt x="195" y="178"/>
                    <a:pt x="177" y="196"/>
                  </a:cubicBezTo>
                  <a:cubicBezTo>
                    <a:pt x="177" y="196"/>
                    <a:pt x="177" y="196"/>
                    <a:pt x="177" y="196"/>
                  </a:cubicBezTo>
                  <a:cubicBezTo>
                    <a:pt x="168" y="205"/>
                    <a:pt x="157" y="209"/>
                    <a:pt x="145" y="209"/>
                  </a:cubicBezTo>
                  <a:close/>
                  <a:moveTo>
                    <a:pt x="145" y="139"/>
                  </a:moveTo>
                  <a:cubicBezTo>
                    <a:pt x="138" y="139"/>
                    <a:pt x="132" y="141"/>
                    <a:pt x="128" y="146"/>
                  </a:cubicBezTo>
                  <a:cubicBezTo>
                    <a:pt x="118" y="156"/>
                    <a:pt x="118" y="171"/>
                    <a:pt x="128" y="181"/>
                  </a:cubicBezTo>
                  <a:cubicBezTo>
                    <a:pt x="137" y="190"/>
                    <a:pt x="153" y="190"/>
                    <a:pt x="162" y="181"/>
                  </a:cubicBezTo>
                  <a:cubicBezTo>
                    <a:pt x="162" y="181"/>
                    <a:pt x="162" y="181"/>
                    <a:pt x="162" y="181"/>
                  </a:cubicBezTo>
                  <a:cubicBezTo>
                    <a:pt x="172" y="171"/>
                    <a:pt x="172" y="156"/>
                    <a:pt x="162" y="146"/>
                  </a:cubicBezTo>
                  <a:cubicBezTo>
                    <a:pt x="158" y="141"/>
                    <a:pt x="151" y="139"/>
                    <a:pt x="145" y="139"/>
                  </a:cubicBezTo>
                  <a:close/>
                </a:path>
              </a:pathLst>
            </a:custGeom>
            <a:solidFill>
              <a:srgbClr val="78787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prstClr val="black"/>
                </a:solidFill>
                <a:effectLst/>
                <a:uLnTx/>
                <a:uFillTx/>
                <a:latin typeface="+mj-lt"/>
                <a:ea typeface="+mn-ea"/>
                <a:cs typeface="+mn-cs"/>
              </a:endParaRPr>
            </a:p>
          </p:txBody>
        </p:sp>
      </p:grpSp>
      <p:grpSp>
        <p:nvGrpSpPr>
          <p:cNvPr id="59" name="Group 58">
            <a:extLst>
              <a:ext uri="{FF2B5EF4-FFF2-40B4-BE49-F238E27FC236}">
                <a16:creationId xmlns:a16="http://schemas.microsoft.com/office/drawing/2014/main" id="{03CDD349-DD9C-4FEA-A0A1-75774D97A148}"/>
              </a:ext>
            </a:extLst>
          </p:cNvPr>
          <p:cNvGrpSpPr/>
          <p:nvPr/>
        </p:nvGrpSpPr>
        <p:grpSpPr>
          <a:xfrm>
            <a:off x="4736127" y="3034828"/>
            <a:ext cx="252000" cy="252000"/>
            <a:chOff x="4246648" y="3095434"/>
            <a:chExt cx="220652" cy="221383"/>
          </a:xfrm>
          <a:solidFill>
            <a:schemeClr val="bg1"/>
          </a:solidFill>
        </p:grpSpPr>
        <p:sp>
          <p:nvSpPr>
            <p:cNvPr id="85" name="Oval 84">
              <a:extLst>
                <a:ext uri="{FF2B5EF4-FFF2-40B4-BE49-F238E27FC236}">
                  <a16:creationId xmlns:a16="http://schemas.microsoft.com/office/drawing/2014/main" id="{EB88109C-7C43-4C47-B985-44763324482A}"/>
                </a:ext>
              </a:extLst>
            </p:cNvPr>
            <p:cNvSpPr/>
            <p:nvPr/>
          </p:nvSpPr>
          <p:spPr>
            <a:xfrm>
              <a:off x="4246648" y="3095434"/>
              <a:ext cx="220652" cy="221383"/>
            </a:xfrm>
            <a:prstGeom prst="ellipse">
              <a:avLst/>
            </a:prstGeom>
            <a:grpFill/>
            <a:ln w="1905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mn-ea"/>
                <a:cs typeface="+mn-cs"/>
              </a:endParaRPr>
            </a:p>
          </p:txBody>
        </p:sp>
        <p:pic>
          <p:nvPicPr>
            <p:cNvPr id="86" name="Graphic 141">
              <a:extLst>
                <a:ext uri="{FF2B5EF4-FFF2-40B4-BE49-F238E27FC236}">
                  <a16:creationId xmlns:a16="http://schemas.microsoft.com/office/drawing/2014/main" id="{5EA6B768-2236-4BE4-B52C-287926E616AC}"/>
                </a:ext>
              </a:extLst>
            </p:cNvPr>
            <p:cNvPicPr>
              <a:picLocks noChangeAspect="1"/>
            </p:cNvPicPr>
            <p:nvPr/>
          </p:nvPicPr>
          <p:blipFill rotWithShape="1">
            <a:blip cstate="screen">
              <a:extLst>
                <a:ext uri="{28A0092B-C50C-407E-A947-70E740481C1C}">
                  <a14:useLocalDpi xmlns:a14="http://schemas.microsoft.com/office/drawing/2010/main"/>
                </a:ext>
              </a:extLst>
            </a:blip>
            <a:srcRect b="21062"/>
            <a:stretch/>
          </p:blipFill>
          <p:spPr>
            <a:xfrm>
              <a:off x="4300179" y="3139508"/>
              <a:ext cx="118908" cy="117330"/>
            </a:xfrm>
            <a:prstGeom prst="rect">
              <a:avLst/>
            </a:prstGeom>
            <a:grpFill/>
          </p:spPr>
        </p:pic>
      </p:grpSp>
      <p:grpSp>
        <p:nvGrpSpPr>
          <p:cNvPr id="60" name="Group 59">
            <a:extLst>
              <a:ext uri="{FF2B5EF4-FFF2-40B4-BE49-F238E27FC236}">
                <a16:creationId xmlns:a16="http://schemas.microsoft.com/office/drawing/2014/main" id="{0D8E9891-5B8F-499B-89E8-BABA25D91AEC}"/>
              </a:ext>
            </a:extLst>
          </p:cNvPr>
          <p:cNvGrpSpPr/>
          <p:nvPr/>
        </p:nvGrpSpPr>
        <p:grpSpPr>
          <a:xfrm>
            <a:off x="3211736" y="3034828"/>
            <a:ext cx="252000" cy="252000"/>
            <a:chOff x="4246648" y="3095434"/>
            <a:chExt cx="220652" cy="221383"/>
          </a:xfrm>
          <a:solidFill>
            <a:schemeClr val="bg1"/>
          </a:solidFill>
        </p:grpSpPr>
        <p:sp>
          <p:nvSpPr>
            <p:cNvPr id="83" name="Oval 82">
              <a:extLst>
                <a:ext uri="{FF2B5EF4-FFF2-40B4-BE49-F238E27FC236}">
                  <a16:creationId xmlns:a16="http://schemas.microsoft.com/office/drawing/2014/main" id="{F3DD5C47-1974-4DF0-8772-0ABC6DB4443F}"/>
                </a:ext>
              </a:extLst>
            </p:cNvPr>
            <p:cNvSpPr/>
            <p:nvPr/>
          </p:nvSpPr>
          <p:spPr>
            <a:xfrm>
              <a:off x="4246648" y="3095434"/>
              <a:ext cx="220652" cy="221383"/>
            </a:xfrm>
            <a:prstGeom prst="ellipse">
              <a:avLst/>
            </a:prstGeom>
            <a:grpFill/>
            <a:ln w="1905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mn-ea"/>
                <a:cs typeface="+mn-cs"/>
              </a:endParaRPr>
            </a:p>
          </p:txBody>
        </p:sp>
        <p:pic>
          <p:nvPicPr>
            <p:cNvPr id="84" name="Graphic 141">
              <a:extLst>
                <a:ext uri="{FF2B5EF4-FFF2-40B4-BE49-F238E27FC236}">
                  <a16:creationId xmlns:a16="http://schemas.microsoft.com/office/drawing/2014/main" id="{4C9C337C-4308-4CCC-B3AD-1D3B966E99AB}"/>
                </a:ext>
              </a:extLst>
            </p:cNvPr>
            <p:cNvPicPr>
              <a:picLocks noChangeAspect="1"/>
            </p:cNvPicPr>
            <p:nvPr/>
          </p:nvPicPr>
          <p:blipFill rotWithShape="1">
            <a:blip cstate="screen">
              <a:extLst>
                <a:ext uri="{28A0092B-C50C-407E-A947-70E740481C1C}">
                  <a14:useLocalDpi xmlns:a14="http://schemas.microsoft.com/office/drawing/2010/main"/>
                </a:ext>
              </a:extLst>
            </a:blip>
            <a:srcRect b="21062"/>
            <a:stretch/>
          </p:blipFill>
          <p:spPr>
            <a:xfrm>
              <a:off x="4300179" y="3139508"/>
              <a:ext cx="118908" cy="117330"/>
            </a:xfrm>
            <a:prstGeom prst="rect">
              <a:avLst/>
            </a:prstGeom>
            <a:grpFill/>
          </p:spPr>
        </p:pic>
      </p:grpSp>
      <p:grpSp>
        <p:nvGrpSpPr>
          <p:cNvPr id="61" name="Group 60">
            <a:extLst>
              <a:ext uri="{FF2B5EF4-FFF2-40B4-BE49-F238E27FC236}">
                <a16:creationId xmlns:a16="http://schemas.microsoft.com/office/drawing/2014/main" id="{DCB60971-4710-44F9-8D1C-860D1DD76BEF}"/>
              </a:ext>
            </a:extLst>
          </p:cNvPr>
          <p:cNvGrpSpPr/>
          <p:nvPr/>
        </p:nvGrpSpPr>
        <p:grpSpPr>
          <a:xfrm>
            <a:off x="1755330" y="3034828"/>
            <a:ext cx="252000" cy="252000"/>
            <a:chOff x="4246648" y="3095434"/>
            <a:chExt cx="220652" cy="221383"/>
          </a:xfrm>
          <a:solidFill>
            <a:schemeClr val="bg1"/>
          </a:solidFill>
        </p:grpSpPr>
        <p:sp>
          <p:nvSpPr>
            <p:cNvPr id="81" name="Oval 80">
              <a:extLst>
                <a:ext uri="{FF2B5EF4-FFF2-40B4-BE49-F238E27FC236}">
                  <a16:creationId xmlns:a16="http://schemas.microsoft.com/office/drawing/2014/main" id="{64CF8AD7-AF6C-4C19-A9AE-7B53022A8201}"/>
                </a:ext>
              </a:extLst>
            </p:cNvPr>
            <p:cNvSpPr/>
            <p:nvPr/>
          </p:nvSpPr>
          <p:spPr>
            <a:xfrm>
              <a:off x="4246648" y="3095434"/>
              <a:ext cx="220652" cy="221383"/>
            </a:xfrm>
            <a:prstGeom prst="ellipse">
              <a:avLst/>
            </a:prstGeom>
            <a:grpFill/>
            <a:ln w="1905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mn-ea"/>
                <a:cs typeface="+mn-cs"/>
              </a:endParaRPr>
            </a:p>
          </p:txBody>
        </p:sp>
        <p:pic>
          <p:nvPicPr>
            <p:cNvPr id="82" name="Graphic 141">
              <a:extLst>
                <a:ext uri="{FF2B5EF4-FFF2-40B4-BE49-F238E27FC236}">
                  <a16:creationId xmlns:a16="http://schemas.microsoft.com/office/drawing/2014/main" id="{99883C5F-0AB0-43E5-B98D-162327C2A67D}"/>
                </a:ext>
              </a:extLst>
            </p:cNvPr>
            <p:cNvPicPr>
              <a:picLocks noChangeAspect="1"/>
            </p:cNvPicPr>
            <p:nvPr/>
          </p:nvPicPr>
          <p:blipFill rotWithShape="1">
            <a:blip cstate="screen">
              <a:extLst>
                <a:ext uri="{28A0092B-C50C-407E-A947-70E740481C1C}">
                  <a14:useLocalDpi xmlns:a14="http://schemas.microsoft.com/office/drawing/2010/main"/>
                </a:ext>
              </a:extLst>
            </a:blip>
            <a:srcRect b="21062"/>
            <a:stretch/>
          </p:blipFill>
          <p:spPr>
            <a:xfrm>
              <a:off x="4300179" y="3139508"/>
              <a:ext cx="118908" cy="117330"/>
            </a:xfrm>
            <a:prstGeom prst="rect">
              <a:avLst/>
            </a:prstGeom>
            <a:grpFill/>
          </p:spPr>
        </p:pic>
      </p:grpSp>
      <p:sp>
        <p:nvSpPr>
          <p:cNvPr id="62" name="TextBox 61">
            <a:extLst>
              <a:ext uri="{FF2B5EF4-FFF2-40B4-BE49-F238E27FC236}">
                <a16:creationId xmlns:a16="http://schemas.microsoft.com/office/drawing/2014/main" id="{F3BA0BDE-ECEB-4801-A3B4-1BCC6D444620}"/>
              </a:ext>
            </a:extLst>
          </p:cNvPr>
          <p:cNvSpPr txBox="1"/>
          <p:nvPr/>
        </p:nvSpPr>
        <p:spPr>
          <a:xfrm>
            <a:off x="534002" y="1928378"/>
            <a:ext cx="2684739" cy="400110"/>
          </a:xfrm>
          <a:prstGeom prst="rect">
            <a:avLst/>
          </a:prstGeom>
          <a:solidFill>
            <a:schemeClr val="bg1"/>
          </a:solid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1" dirty="0">
                <a:solidFill>
                  <a:prstClr val="black"/>
                </a:solidFill>
                <a:latin typeface="+mj-lt"/>
                <a:ea typeface="Open Sans Light" panose="020B0306030504020204" pitchFamily="34" charset="0"/>
                <a:cs typeface="Open Sans Light" panose="020B0306030504020204" pitchFamily="34" charset="0"/>
              </a:rPr>
              <a:t>STAKEHOLDER IDENTIFICATION, EXPECTATIONS &amp; PROJECT GOVERNANCE</a:t>
            </a:r>
            <a:endParaRPr kumimoji="0" lang="en-GB" sz="1000" b="1" i="0" u="none" strike="noStrike" kern="1200" cap="none" spc="0" normalizeH="0" baseline="0" noProof="0" dirty="0">
              <a:ln>
                <a:noFill/>
              </a:ln>
              <a:solidFill>
                <a:prstClr val="black"/>
              </a:solidFill>
              <a:effectLst/>
              <a:uLnTx/>
              <a:uFillTx/>
              <a:latin typeface="+mj-lt"/>
              <a:ea typeface="Open Sans Light" panose="020B0306030504020204" pitchFamily="34" charset="0"/>
              <a:cs typeface="Open Sans Light" panose="020B0306030504020204" pitchFamily="34" charset="0"/>
            </a:endParaRPr>
          </a:p>
        </p:txBody>
      </p:sp>
      <p:sp>
        <p:nvSpPr>
          <p:cNvPr id="63" name="Oval 62">
            <a:extLst>
              <a:ext uri="{FF2B5EF4-FFF2-40B4-BE49-F238E27FC236}">
                <a16:creationId xmlns:a16="http://schemas.microsoft.com/office/drawing/2014/main" id="{9D1995E1-5782-42FD-B1DE-0FD6519C0478}"/>
              </a:ext>
            </a:extLst>
          </p:cNvPr>
          <p:cNvSpPr/>
          <p:nvPr/>
        </p:nvSpPr>
        <p:spPr>
          <a:xfrm>
            <a:off x="7044220" y="4000733"/>
            <a:ext cx="119144" cy="119144"/>
          </a:xfrm>
          <a:prstGeom prst="ellipse">
            <a:avLst/>
          </a:prstGeom>
          <a:solidFill>
            <a:schemeClr val="bg1"/>
          </a:solidFill>
          <a:ln w="1270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sp>
        <p:nvSpPr>
          <p:cNvPr id="64" name="Oval 63">
            <a:extLst>
              <a:ext uri="{FF2B5EF4-FFF2-40B4-BE49-F238E27FC236}">
                <a16:creationId xmlns:a16="http://schemas.microsoft.com/office/drawing/2014/main" id="{EAF49910-17D7-4276-9A56-029032943AE4}"/>
              </a:ext>
            </a:extLst>
          </p:cNvPr>
          <p:cNvSpPr/>
          <p:nvPr/>
        </p:nvSpPr>
        <p:spPr>
          <a:xfrm>
            <a:off x="8903020" y="4000733"/>
            <a:ext cx="119144" cy="119144"/>
          </a:xfrm>
          <a:prstGeom prst="ellipse">
            <a:avLst/>
          </a:prstGeom>
          <a:solidFill>
            <a:schemeClr val="bg1"/>
          </a:solidFill>
          <a:ln w="1270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mj-lt"/>
              <a:ea typeface="+mn-ea"/>
              <a:cs typeface="+mn-cs"/>
            </a:endParaRPr>
          </a:p>
        </p:txBody>
      </p:sp>
      <p:cxnSp>
        <p:nvCxnSpPr>
          <p:cNvPr id="65" name="Elbow Connector 161">
            <a:extLst>
              <a:ext uri="{FF2B5EF4-FFF2-40B4-BE49-F238E27FC236}">
                <a16:creationId xmlns:a16="http://schemas.microsoft.com/office/drawing/2014/main" id="{D694947D-197E-408C-9553-52635CA4E950}"/>
              </a:ext>
            </a:extLst>
          </p:cNvPr>
          <p:cNvCxnSpPr>
            <a:stCxn id="45" idx="4"/>
            <a:endCxn id="14" idx="0"/>
          </p:cNvCxnSpPr>
          <p:nvPr/>
        </p:nvCxnSpPr>
        <p:spPr>
          <a:xfrm rot="5400000">
            <a:off x="1633101" y="3875026"/>
            <a:ext cx="893182" cy="1010817"/>
          </a:xfrm>
          <a:prstGeom prst="bentConnector3">
            <a:avLst>
              <a:gd name="adj1" fmla="val 50000"/>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Elbow Connector 162">
            <a:extLst>
              <a:ext uri="{FF2B5EF4-FFF2-40B4-BE49-F238E27FC236}">
                <a16:creationId xmlns:a16="http://schemas.microsoft.com/office/drawing/2014/main" id="{E517C868-0251-45E5-B199-EBF103E9876B}"/>
              </a:ext>
            </a:extLst>
          </p:cNvPr>
          <p:cNvCxnSpPr>
            <a:stCxn id="51" idx="4"/>
            <a:endCxn id="15" idx="0"/>
          </p:cNvCxnSpPr>
          <p:nvPr/>
        </p:nvCxnSpPr>
        <p:spPr>
          <a:xfrm rot="5400000">
            <a:off x="3515449" y="4252720"/>
            <a:ext cx="893182" cy="255429"/>
          </a:xfrm>
          <a:prstGeom prst="bentConnector3">
            <a:avLst>
              <a:gd name="adj1" fmla="val 50000"/>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Elbow Connector 163">
            <a:extLst>
              <a:ext uri="{FF2B5EF4-FFF2-40B4-BE49-F238E27FC236}">
                <a16:creationId xmlns:a16="http://schemas.microsoft.com/office/drawing/2014/main" id="{8CEF6E6A-621F-4FE6-A1DD-79103110A384}"/>
              </a:ext>
            </a:extLst>
          </p:cNvPr>
          <p:cNvCxnSpPr>
            <a:stCxn id="63" idx="4"/>
            <a:endCxn id="17" idx="0"/>
          </p:cNvCxnSpPr>
          <p:nvPr/>
        </p:nvCxnSpPr>
        <p:spPr>
          <a:xfrm rot="16200000" flipH="1">
            <a:off x="7375947" y="3847721"/>
            <a:ext cx="707148" cy="1251459"/>
          </a:xfrm>
          <a:prstGeom prst="bentConnector3">
            <a:avLst>
              <a:gd name="adj1" fmla="val 50000"/>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Elbow Connector 164">
            <a:extLst>
              <a:ext uri="{FF2B5EF4-FFF2-40B4-BE49-F238E27FC236}">
                <a16:creationId xmlns:a16="http://schemas.microsoft.com/office/drawing/2014/main" id="{0C9584AF-7213-439D-AEFF-05B33674C3BC}"/>
              </a:ext>
            </a:extLst>
          </p:cNvPr>
          <p:cNvCxnSpPr>
            <a:stCxn id="64" idx="4"/>
            <a:endCxn id="18" idx="0"/>
          </p:cNvCxnSpPr>
          <p:nvPr/>
        </p:nvCxnSpPr>
        <p:spPr>
          <a:xfrm rot="16200000" flipH="1">
            <a:off x="9435369" y="3647099"/>
            <a:ext cx="707148" cy="1652703"/>
          </a:xfrm>
          <a:prstGeom prst="bentConnector3">
            <a:avLst>
              <a:gd name="adj1" fmla="val 50000"/>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9" name="Elbow Connector 165">
            <a:extLst>
              <a:ext uri="{FF2B5EF4-FFF2-40B4-BE49-F238E27FC236}">
                <a16:creationId xmlns:a16="http://schemas.microsoft.com/office/drawing/2014/main" id="{193ABC13-61C4-4BC8-99D5-103E830E00AE}"/>
              </a:ext>
            </a:extLst>
          </p:cNvPr>
          <p:cNvCxnSpPr>
            <a:stCxn id="127" idx="4"/>
            <a:endCxn id="16" idx="0"/>
          </p:cNvCxnSpPr>
          <p:nvPr/>
        </p:nvCxnSpPr>
        <p:spPr>
          <a:xfrm rot="16200000" flipH="1">
            <a:off x="5295483" y="4027299"/>
            <a:ext cx="1012326" cy="587126"/>
          </a:xfrm>
          <a:prstGeom prst="bentConnector3">
            <a:avLst>
              <a:gd name="adj1" fmla="val 50000"/>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8B8540CF-215E-4137-9CDF-862FBD1F2D6E}"/>
              </a:ext>
            </a:extLst>
          </p:cNvPr>
          <p:cNvGrpSpPr/>
          <p:nvPr/>
        </p:nvGrpSpPr>
        <p:grpSpPr>
          <a:xfrm>
            <a:off x="7911619" y="2923552"/>
            <a:ext cx="252000" cy="474182"/>
            <a:chOff x="8139740" y="2974570"/>
            <a:chExt cx="252000" cy="474182"/>
          </a:xfrm>
        </p:grpSpPr>
        <p:grpSp>
          <p:nvGrpSpPr>
            <p:cNvPr id="75" name="Group 74">
              <a:extLst>
                <a:ext uri="{FF2B5EF4-FFF2-40B4-BE49-F238E27FC236}">
                  <a16:creationId xmlns:a16="http://schemas.microsoft.com/office/drawing/2014/main" id="{B43BD5B2-4F00-4CF4-90F6-68A423272AC4}"/>
                </a:ext>
              </a:extLst>
            </p:cNvPr>
            <p:cNvGrpSpPr/>
            <p:nvPr/>
          </p:nvGrpSpPr>
          <p:grpSpPr>
            <a:xfrm>
              <a:off x="8142188" y="2974570"/>
              <a:ext cx="249552" cy="250380"/>
              <a:chOff x="7605499" y="4220358"/>
              <a:chExt cx="178318" cy="178909"/>
            </a:xfrm>
          </p:grpSpPr>
          <p:sp>
            <p:nvSpPr>
              <p:cNvPr id="79" name="Oval 78">
                <a:extLst>
                  <a:ext uri="{FF2B5EF4-FFF2-40B4-BE49-F238E27FC236}">
                    <a16:creationId xmlns:a16="http://schemas.microsoft.com/office/drawing/2014/main" id="{4493E669-C018-4C68-9ED9-A6E785A0AD8E}"/>
                  </a:ext>
                </a:extLst>
              </p:cNvPr>
              <p:cNvSpPr/>
              <p:nvPr/>
            </p:nvSpPr>
            <p:spPr>
              <a:xfrm>
                <a:off x="7605499" y="4220358"/>
                <a:ext cx="178318" cy="178909"/>
              </a:xfrm>
              <a:prstGeom prst="ellipse">
                <a:avLst/>
              </a:prstGeom>
              <a:solidFill>
                <a:schemeClr val="bg1"/>
              </a:solidFill>
              <a:ln w="1905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mn-ea"/>
                  <a:cs typeface="+mn-cs"/>
                </a:endParaRPr>
              </a:p>
            </p:txBody>
          </p:sp>
          <p:sp>
            <p:nvSpPr>
              <p:cNvPr id="80" name="Freeform 690">
                <a:extLst>
                  <a:ext uri="{FF2B5EF4-FFF2-40B4-BE49-F238E27FC236}">
                    <a16:creationId xmlns:a16="http://schemas.microsoft.com/office/drawing/2014/main" id="{77ED193E-E9B5-4EFF-80F9-A8EF9C4CE2FC}"/>
                  </a:ext>
                </a:extLst>
              </p:cNvPr>
              <p:cNvSpPr>
                <a:spLocks noEditPoints="1"/>
              </p:cNvSpPr>
              <p:nvPr/>
            </p:nvSpPr>
            <p:spPr bwMode="auto">
              <a:xfrm>
                <a:off x="7635172" y="4248245"/>
                <a:ext cx="118972" cy="123134"/>
              </a:xfrm>
              <a:custGeom>
                <a:avLst/>
                <a:gdLst>
                  <a:gd name="T0" fmla="*/ 166 w 302"/>
                  <a:gd name="T1" fmla="*/ 311 h 311"/>
                  <a:gd name="T2" fmla="*/ 158 w 302"/>
                  <a:gd name="T3" fmla="*/ 308 h 311"/>
                  <a:gd name="T4" fmla="*/ 113 w 302"/>
                  <a:gd name="T5" fmla="*/ 263 h 311"/>
                  <a:gd name="T6" fmla="*/ 92 w 302"/>
                  <a:gd name="T7" fmla="*/ 268 h 311"/>
                  <a:gd name="T8" fmla="*/ 55 w 302"/>
                  <a:gd name="T9" fmla="*/ 257 h 311"/>
                  <a:gd name="T10" fmla="*/ 49 w 302"/>
                  <a:gd name="T11" fmla="*/ 198 h 311"/>
                  <a:gd name="T12" fmla="*/ 4 w 302"/>
                  <a:gd name="T13" fmla="*/ 153 h 311"/>
                  <a:gd name="T14" fmla="*/ 2 w 302"/>
                  <a:gd name="T15" fmla="*/ 140 h 311"/>
                  <a:gd name="T16" fmla="*/ 97 w 302"/>
                  <a:gd name="T17" fmla="*/ 95 h 311"/>
                  <a:gd name="T18" fmla="*/ 280 w 302"/>
                  <a:gd name="T19" fmla="*/ 25 h 311"/>
                  <a:gd name="T20" fmla="*/ 287 w 302"/>
                  <a:gd name="T21" fmla="*/ 33 h 311"/>
                  <a:gd name="T22" fmla="*/ 216 w 302"/>
                  <a:gd name="T23" fmla="*/ 216 h 311"/>
                  <a:gd name="T24" fmla="*/ 172 w 302"/>
                  <a:gd name="T25" fmla="*/ 309 h 311"/>
                  <a:gd name="T26" fmla="*/ 166 w 302"/>
                  <a:gd name="T27" fmla="*/ 311 h 311"/>
                  <a:gd name="T28" fmla="*/ 115 w 302"/>
                  <a:gd name="T29" fmla="*/ 239 h 311"/>
                  <a:gd name="T30" fmla="*/ 122 w 302"/>
                  <a:gd name="T31" fmla="*/ 242 h 311"/>
                  <a:gd name="T32" fmla="*/ 167 w 302"/>
                  <a:gd name="T33" fmla="*/ 286 h 311"/>
                  <a:gd name="T34" fmla="*/ 194 w 302"/>
                  <a:gd name="T35" fmla="*/ 216 h 311"/>
                  <a:gd name="T36" fmla="*/ 197 w 302"/>
                  <a:gd name="T37" fmla="*/ 205 h 311"/>
                  <a:gd name="T38" fmla="*/ 267 w 302"/>
                  <a:gd name="T39" fmla="*/ 44 h 311"/>
                  <a:gd name="T40" fmla="*/ 107 w 302"/>
                  <a:gd name="T41" fmla="*/ 114 h 311"/>
                  <a:gd name="T42" fmla="*/ 96 w 302"/>
                  <a:gd name="T43" fmla="*/ 116 h 311"/>
                  <a:gd name="T44" fmla="*/ 25 w 302"/>
                  <a:gd name="T45" fmla="*/ 144 h 311"/>
                  <a:gd name="T46" fmla="*/ 70 w 302"/>
                  <a:gd name="T47" fmla="*/ 189 h 311"/>
                  <a:gd name="T48" fmla="*/ 70 w 302"/>
                  <a:gd name="T49" fmla="*/ 204 h 311"/>
                  <a:gd name="T50" fmla="*/ 70 w 302"/>
                  <a:gd name="T51" fmla="*/ 242 h 311"/>
                  <a:gd name="T52" fmla="*/ 107 w 302"/>
                  <a:gd name="T53" fmla="*/ 242 h 311"/>
                  <a:gd name="T54" fmla="*/ 115 w 302"/>
                  <a:gd name="T55" fmla="*/ 239 h 311"/>
                  <a:gd name="T56" fmla="*/ 145 w 302"/>
                  <a:gd name="T57" fmla="*/ 209 h 311"/>
                  <a:gd name="T58" fmla="*/ 112 w 302"/>
                  <a:gd name="T59" fmla="*/ 196 h 311"/>
                  <a:gd name="T60" fmla="*/ 112 w 302"/>
                  <a:gd name="T61" fmla="*/ 131 h 311"/>
                  <a:gd name="T62" fmla="*/ 145 w 302"/>
                  <a:gd name="T63" fmla="*/ 117 h 311"/>
                  <a:gd name="T64" fmla="*/ 177 w 302"/>
                  <a:gd name="T65" fmla="*/ 131 h 311"/>
                  <a:gd name="T66" fmla="*/ 177 w 302"/>
                  <a:gd name="T67" fmla="*/ 196 h 311"/>
                  <a:gd name="T68" fmla="*/ 177 w 302"/>
                  <a:gd name="T69" fmla="*/ 196 h 311"/>
                  <a:gd name="T70" fmla="*/ 145 w 302"/>
                  <a:gd name="T71" fmla="*/ 209 h 311"/>
                  <a:gd name="T72" fmla="*/ 145 w 302"/>
                  <a:gd name="T73" fmla="*/ 139 h 311"/>
                  <a:gd name="T74" fmla="*/ 128 w 302"/>
                  <a:gd name="T75" fmla="*/ 146 h 311"/>
                  <a:gd name="T76" fmla="*/ 128 w 302"/>
                  <a:gd name="T77" fmla="*/ 181 h 311"/>
                  <a:gd name="T78" fmla="*/ 162 w 302"/>
                  <a:gd name="T79" fmla="*/ 181 h 311"/>
                  <a:gd name="T80" fmla="*/ 162 w 302"/>
                  <a:gd name="T81" fmla="*/ 181 h 311"/>
                  <a:gd name="T82" fmla="*/ 162 w 302"/>
                  <a:gd name="T83" fmla="*/ 146 h 311"/>
                  <a:gd name="T84" fmla="*/ 145 w 302"/>
                  <a:gd name="T85" fmla="*/ 139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2" h="311">
                    <a:moveTo>
                      <a:pt x="166" y="311"/>
                    </a:moveTo>
                    <a:cubicBezTo>
                      <a:pt x="163" y="311"/>
                      <a:pt x="160" y="310"/>
                      <a:pt x="158" y="308"/>
                    </a:cubicBezTo>
                    <a:cubicBezTo>
                      <a:pt x="113" y="263"/>
                      <a:pt x="113" y="263"/>
                      <a:pt x="113" y="263"/>
                    </a:cubicBezTo>
                    <a:cubicBezTo>
                      <a:pt x="107" y="266"/>
                      <a:pt x="100" y="268"/>
                      <a:pt x="92" y="268"/>
                    </a:cubicBezTo>
                    <a:cubicBezTo>
                      <a:pt x="77" y="270"/>
                      <a:pt x="63" y="266"/>
                      <a:pt x="55" y="257"/>
                    </a:cubicBezTo>
                    <a:cubicBezTo>
                      <a:pt x="39" y="242"/>
                      <a:pt x="41" y="214"/>
                      <a:pt x="49" y="198"/>
                    </a:cubicBezTo>
                    <a:cubicBezTo>
                      <a:pt x="4" y="153"/>
                      <a:pt x="4" y="153"/>
                      <a:pt x="4" y="153"/>
                    </a:cubicBezTo>
                    <a:cubicBezTo>
                      <a:pt x="0" y="150"/>
                      <a:pt x="0" y="145"/>
                      <a:pt x="2" y="140"/>
                    </a:cubicBezTo>
                    <a:cubicBezTo>
                      <a:pt x="35" y="87"/>
                      <a:pt x="79" y="91"/>
                      <a:pt x="97" y="95"/>
                    </a:cubicBezTo>
                    <a:cubicBezTo>
                      <a:pt x="194" y="0"/>
                      <a:pt x="276" y="24"/>
                      <a:pt x="280" y="25"/>
                    </a:cubicBezTo>
                    <a:cubicBezTo>
                      <a:pt x="284" y="26"/>
                      <a:pt x="286" y="29"/>
                      <a:pt x="287" y="33"/>
                    </a:cubicBezTo>
                    <a:cubicBezTo>
                      <a:pt x="288" y="37"/>
                      <a:pt x="302" y="127"/>
                      <a:pt x="216" y="216"/>
                    </a:cubicBezTo>
                    <a:cubicBezTo>
                      <a:pt x="219" y="232"/>
                      <a:pt x="220" y="273"/>
                      <a:pt x="172" y="309"/>
                    </a:cubicBezTo>
                    <a:cubicBezTo>
                      <a:pt x="170" y="310"/>
                      <a:pt x="168" y="311"/>
                      <a:pt x="166" y="311"/>
                    </a:cubicBezTo>
                    <a:close/>
                    <a:moveTo>
                      <a:pt x="115" y="239"/>
                    </a:moveTo>
                    <a:cubicBezTo>
                      <a:pt x="118" y="239"/>
                      <a:pt x="120" y="240"/>
                      <a:pt x="122" y="242"/>
                    </a:cubicBezTo>
                    <a:cubicBezTo>
                      <a:pt x="167" y="286"/>
                      <a:pt x="167" y="286"/>
                      <a:pt x="167" y="286"/>
                    </a:cubicBezTo>
                    <a:cubicBezTo>
                      <a:pt x="206" y="252"/>
                      <a:pt x="195" y="216"/>
                      <a:pt x="194" y="216"/>
                    </a:cubicBezTo>
                    <a:cubicBezTo>
                      <a:pt x="193" y="212"/>
                      <a:pt x="194" y="208"/>
                      <a:pt x="197" y="205"/>
                    </a:cubicBezTo>
                    <a:cubicBezTo>
                      <a:pt x="266" y="136"/>
                      <a:pt x="268" y="66"/>
                      <a:pt x="267" y="44"/>
                    </a:cubicBezTo>
                    <a:cubicBezTo>
                      <a:pt x="246" y="41"/>
                      <a:pt x="183" y="39"/>
                      <a:pt x="107" y="114"/>
                    </a:cubicBezTo>
                    <a:cubicBezTo>
                      <a:pt x="104" y="117"/>
                      <a:pt x="100" y="118"/>
                      <a:pt x="96" y="116"/>
                    </a:cubicBezTo>
                    <a:cubicBezTo>
                      <a:pt x="94" y="116"/>
                      <a:pt x="55" y="102"/>
                      <a:pt x="25" y="144"/>
                    </a:cubicBezTo>
                    <a:cubicBezTo>
                      <a:pt x="70" y="189"/>
                      <a:pt x="70" y="189"/>
                      <a:pt x="70" y="189"/>
                    </a:cubicBezTo>
                    <a:cubicBezTo>
                      <a:pt x="74" y="193"/>
                      <a:pt x="74" y="200"/>
                      <a:pt x="70" y="204"/>
                    </a:cubicBezTo>
                    <a:cubicBezTo>
                      <a:pt x="66" y="209"/>
                      <a:pt x="60" y="232"/>
                      <a:pt x="70" y="242"/>
                    </a:cubicBezTo>
                    <a:cubicBezTo>
                      <a:pt x="79" y="252"/>
                      <a:pt x="103" y="246"/>
                      <a:pt x="107" y="242"/>
                    </a:cubicBezTo>
                    <a:cubicBezTo>
                      <a:pt x="109" y="240"/>
                      <a:pt x="112" y="239"/>
                      <a:pt x="115" y="239"/>
                    </a:cubicBezTo>
                    <a:close/>
                    <a:moveTo>
                      <a:pt x="145" y="209"/>
                    </a:moveTo>
                    <a:cubicBezTo>
                      <a:pt x="133" y="209"/>
                      <a:pt x="121" y="205"/>
                      <a:pt x="112" y="196"/>
                    </a:cubicBezTo>
                    <a:cubicBezTo>
                      <a:pt x="95" y="178"/>
                      <a:pt x="95" y="149"/>
                      <a:pt x="112" y="131"/>
                    </a:cubicBezTo>
                    <a:cubicBezTo>
                      <a:pt x="121" y="122"/>
                      <a:pt x="133" y="117"/>
                      <a:pt x="145" y="117"/>
                    </a:cubicBezTo>
                    <a:cubicBezTo>
                      <a:pt x="157" y="117"/>
                      <a:pt x="169" y="122"/>
                      <a:pt x="177" y="131"/>
                    </a:cubicBezTo>
                    <a:cubicBezTo>
                      <a:pt x="195" y="149"/>
                      <a:pt x="195" y="178"/>
                      <a:pt x="177" y="196"/>
                    </a:cubicBezTo>
                    <a:cubicBezTo>
                      <a:pt x="177" y="196"/>
                      <a:pt x="177" y="196"/>
                      <a:pt x="177" y="196"/>
                    </a:cubicBezTo>
                    <a:cubicBezTo>
                      <a:pt x="168" y="205"/>
                      <a:pt x="157" y="209"/>
                      <a:pt x="145" y="209"/>
                    </a:cubicBezTo>
                    <a:close/>
                    <a:moveTo>
                      <a:pt x="145" y="139"/>
                    </a:moveTo>
                    <a:cubicBezTo>
                      <a:pt x="138" y="139"/>
                      <a:pt x="132" y="141"/>
                      <a:pt x="128" y="146"/>
                    </a:cubicBezTo>
                    <a:cubicBezTo>
                      <a:pt x="118" y="156"/>
                      <a:pt x="118" y="171"/>
                      <a:pt x="128" y="181"/>
                    </a:cubicBezTo>
                    <a:cubicBezTo>
                      <a:pt x="137" y="190"/>
                      <a:pt x="153" y="190"/>
                      <a:pt x="162" y="181"/>
                    </a:cubicBezTo>
                    <a:cubicBezTo>
                      <a:pt x="162" y="181"/>
                      <a:pt x="162" y="181"/>
                      <a:pt x="162" y="181"/>
                    </a:cubicBezTo>
                    <a:cubicBezTo>
                      <a:pt x="172" y="171"/>
                      <a:pt x="172" y="156"/>
                      <a:pt x="162" y="146"/>
                    </a:cubicBezTo>
                    <a:cubicBezTo>
                      <a:pt x="158" y="141"/>
                      <a:pt x="151" y="139"/>
                      <a:pt x="145" y="139"/>
                    </a:cubicBezTo>
                    <a:close/>
                  </a:path>
                </a:pathLst>
              </a:custGeom>
              <a:solidFill>
                <a:srgbClr val="78787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prstClr val="black"/>
                  </a:solidFill>
                  <a:effectLst/>
                  <a:uLnTx/>
                  <a:uFillTx/>
                  <a:latin typeface="+mj-lt"/>
                  <a:ea typeface="+mn-ea"/>
                  <a:cs typeface="+mn-cs"/>
                </a:endParaRPr>
              </a:p>
            </p:txBody>
          </p:sp>
        </p:grpSp>
        <p:grpSp>
          <p:nvGrpSpPr>
            <p:cNvPr id="76" name="Group 75">
              <a:extLst>
                <a:ext uri="{FF2B5EF4-FFF2-40B4-BE49-F238E27FC236}">
                  <a16:creationId xmlns:a16="http://schemas.microsoft.com/office/drawing/2014/main" id="{8F836ECF-6678-4BD2-A6E0-D8E4C714A705}"/>
                </a:ext>
              </a:extLst>
            </p:cNvPr>
            <p:cNvGrpSpPr/>
            <p:nvPr/>
          </p:nvGrpSpPr>
          <p:grpSpPr>
            <a:xfrm>
              <a:off x="8139740" y="3196752"/>
              <a:ext cx="252000" cy="252000"/>
              <a:chOff x="4246648" y="3095434"/>
              <a:chExt cx="220652" cy="221383"/>
            </a:xfrm>
            <a:solidFill>
              <a:schemeClr val="bg1"/>
            </a:solidFill>
          </p:grpSpPr>
          <p:sp>
            <p:nvSpPr>
              <p:cNvPr id="77" name="Oval 76">
                <a:extLst>
                  <a:ext uri="{FF2B5EF4-FFF2-40B4-BE49-F238E27FC236}">
                    <a16:creationId xmlns:a16="http://schemas.microsoft.com/office/drawing/2014/main" id="{0FF93264-F4B6-4837-A8F7-153C711C19D1}"/>
                  </a:ext>
                </a:extLst>
              </p:cNvPr>
              <p:cNvSpPr/>
              <p:nvPr/>
            </p:nvSpPr>
            <p:spPr>
              <a:xfrm>
                <a:off x="4246648" y="3095434"/>
                <a:ext cx="220652" cy="221383"/>
              </a:xfrm>
              <a:prstGeom prst="ellipse">
                <a:avLst/>
              </a:prstGeom>
              <a:grpFill/>
              <a:ln w="1905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mj-lt"/>
                  <a:ea typeface="+mn-ea"/>
                  <a:cs typeface="+mn-cs"/>
                </a:endParaRPr>
              </a:p>
            </p:txBody>
          </p:sp>
          <p:pic>
            <p:nvPicPr>
              <p:cNvPr id="78" name="Graphic 141">
                <a:extLst>
                  <a:ext uri="{FF2B5EF4-FFF2-40B4-BE49-F238E27FC236}">
                    <a16:creationId xmlns:a16="http://schemas.microsoft.com/office/drawing/2014/main" id="{9D1D45F4-71EA-4BFE-8F2B-BEFE9A107014}"/>
                  </a:ext>
                </a:extLst>
              </p:cNvPr>
              <p:cNvPicPr>
                <a:picLocks noChangeAspect="1"/>
              </p:cNvPicPr>
              <p:nvPr/>
            </p:nvPicPr>
            <p:blipFill rotWithShape="1">
              <a:blip cstate="screen">
                <a:extLst>
                  <a:ext uri="{28A0092B-C50C-407E-A947-70E740481C1C}">
                    <a14:useLocalDpi xmlns:a14="http://schemas.microsoft.com/office/drawing/2010/main"/>
                  </a:ext>
                </a:extLst>
              </a:blip>
              <a:srcRect b="21062"/>
              <a:stretch/>
            </p:blipFill>
            <p:spPr>
              <a:xfrm>
                <a:off x="4300179" y="3139508"/>
                <a:ext cx="118908" cy="117330"/>
              </a:xfrm>
              <a:prstGeom prst="rect">
                <a:avLst/>
              </a:prstGeom>
              <a:grpFill/>
            </p:spPr>
          </p:pic>
        </p:grpSp>
      </p:grpSp>
      <p:sp>
        <p:nvSpPr>
          <p:cNvPr id="71" name="TextBox 70">
            <a:extLst>
              <a:ext uri="{FF2B5EF4-FFF2-40B4-BE49-F238E27FC236}">
                <a16:creationId xmlns:a16="http://schemas.microsoft.com/office/drawing/2014/main" id="{DEC6729C-368F-422C-9F2D-5B70A1309E0F}"/>
              </a:ext>
            </a:extLst>
          </p:cNvPr>
          <p:cNvSpPr txBox="1"/>
          <p:nvPr/>
        </p:nvSpPr>
        <p:spPr>
          <a:xfrm>
            <a:off x="668639" y="2960774"/>
            <a:ext cx="855227" cy="40011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mj-lt"/>
                <a:ea typeface="Open Sans Light" panose="020B0306030504020204" pitchFamily="34" charset="0"/>
                <a:cs typeface="Open Sans Light" panose="020B0306030504020204" pitchFamily="34" charset="0"/>
              </a:rPr>
              <a:t>LITERATURE REVIEWS</a:t>
            </a:r>
          </a:p>
        </p:txBody>
      </p:sp>
      <p:sp>
        <p:nvSpPr>
          <p:cNvPr id="14" name="Shape 47">
            <a:extLst>
              <a:ext uri="{FF2B5EF4-FFF2-40B4-BE49-F238E27FC236}">
                <a16:creationId xmlns:a16="http://schemas.microsoft.com/office/drawing/2014/main" id="{8EBF0457-55C0-46EC-9E57-DDE20C4A4F85}"/>
              </a:ext>
            </a:extLst>
          </p:cNvPr>
          <p:cNvSpPr txBox="1">
            <a:spLocks/>
          </p:cNvSpPr>
          <p:nvPr/>
        </p:nvSpPr>
        <p:spPr>
          <a:xfrm>
            <a:off x="477003" y="4827025"/>
            <a:ext cx="2194560" cy="457200"/>
          </a:xfrm>
          <a:prstGeom prst="rect">
            <a:avLst/>
          </a:prstGeom>
        </p:spPr>
        <p:txBody>
          <a:bodyPr lIns="0" tIns="36000" rIns="0" bIns="36000" anchor="ctr">
            <a:noAutofit/>
          </a:bodyPr>
          <a:lstStyle>
            <a:lvl1pPr algn="l" rtl="0" eaLnBrk="0" fontAlgn="base" hangingPunct="0">
              <a:lnSpc>
                <a:spcPct val="80000"/>
              </a:lnSpc>
              <a:spcBef>
                <a:spcPct val="0"/>
              </a:spcBef>
              <a:spcAft>
                <a:spcPct val="0"/>
              </a:spcAft>
              <a:defRPr sz="9500">
                <a:solidFill>
                  <a:srgbClr val="FFFFFF"/>
                </a:solidFill>
                <a:latin typeface="+mj-lt"/>
                <a:ea typeface="+mj-ea"/>
                <a:cs typeface="+mj-cs"/>
                <a:sym typeface="Gotham Bold" charset="0"/>
              </a:defRPr>
            </a:lvl1pPr>
            <a:lvl2pPr algn="r" rtl="0"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sym typeface="Gotham Bold" charset="0"/>
              </a:defRPr>
            </a:lvl2pPr>
            <a:lvl3pPr algn="r" rtl="0"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sym typeface="Gotham Bold" charset="0"/>
              </a:defRPr>
            </a:lvl3pPr>
            <a:lvl4pPr algn="r" rtl="0"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sym typeface="Gotham Bold" charset="0"/>
              </a:defRPr>
            </a:lvl4pPr>
            <a:lvl5pPr algn="r" rtl="0"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sym typeface="Gotham Bold" charset="0"/>
              </a:defRPr>
            </a:lvl5pPr>
            <a:lvl6pPr marL="514350" algn="r" rtl="0"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sym typeface="Gotham Bold" charset="0"/>
              </a:defRPr>
            </a:lvl6pPr>
            <a:lvl7pPr marL="1028700" algn="r" rtl="0"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sym typeface="Gotham Bold" charset="0"/>
              </a:defRPr>
            </a:lvl7pPr>
            <a:lvl8pPr marL="1543050" algn="r" rtl="0"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sym typeface="Gotham Bold" charset="0"/>
              </a:defRPr>
            </a:lvl8pPr>
            <a:lvl9pPr marL="2057400" algn="r" rtl="0"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sym typeface="Gotham Bold" charset="0"/>
              </a:defRPr>
            </a:lvl9pPr>
          </a:lstStyle>
          <a:p>
            <a:pPr lvl="0" algn="ctr" eaLnBrk="1" fontAlgn="auto" hangingPunct="1">
              <a:lnSpc>
                <a:spcPct val="100000"/>
              </a:lnSpc>
              <a:spcBef>
                <a:spcPts val="0"/>
              </a:spcBef>
              <a:spcAft>
                <a:spcPts val="0"/>
              </a:spcAft>
              <a:defRPr/>
            </a:pPr>
            <a:r>
              <a:rPr kumimoji="0" lang="en-GB" sz="1000" b="1" i="0" u="none" strike="noStrike" kern="1200" cap="none" spc="0" normalizeH="0" baseline="0" noProof="0" dirty="0">
                <a:ln>
                  <a:noFill/>
                </a:ln>
                <a:solidFill>
                  <a:schemeClr val="accent2"/>
                </a:solidFill>
                <a:effectLst/>
                <a:uLnTx/>
                <a:uFillTx/>
                <a:ea typeface="Open Sans" panose="020B0606030504020204" pitchFamily="34" charset="0"/>
                <a:cs typeface="Open Sans" panose="020B0606030504020204" pitchFamily="34" charset="0"/>
                <a:sym typeface="Gotham Book" charset="0"/>
              </a:rPr>
              <a:t>UNDERSTAND </a:t>
            </a:r>
            <a:r>
              <a:rPr lang="en-GB" sz="1000" b="1" dirty="0">
                <a:solidFill>
                  <a:schemeClr val="accent2"/>
                </a:solidFill>
                <a:ea typeface="Open Sans" panose="020B0606030504020204" pitchFamily="34" charset="0"/>
                <a:cs typeface="Open Sans" panose="020B0606030504020204" pitchFamily="34" charset="0"/>
                <a:sym typeface="Gotham Book" charset="0"/>
              </a:rPr>
              <a:t>OOMF PROCESS AND METHODOLOGY </a:t>
            </a:r>
            <a:r>
              <a:rPr kumimoji="0" lang="en-GB" sz="1000" b="1" i="0" u="none" strike="noStrike" kern="1200" cap="none" spc="0" normalizeH="0" baseline="0" noProof="0" dirty="0">
                <a:ln>
                  <a:noFill/>
                </a:ln>
                <a:solidFill>
                  <a:schemeClr val="accent2"/>
                </a:solidFill>
                <a:effectLst/>
                <a:uLnTx/>
                <a:uFillTx/>
                <a:ea typeface="Open Sans" panose="020B0606030504020204" pitchFamily="34" charset="0"/>
                <a:cs typeface="Open Sans" panose="020B0606030504020204" pitchFamily="34" charset="0"/>
                <a:sym typeface="Gotham Book" charset="0"/>
              </a:rPr>
              <a:t>&amp; DEFINE THE PROBLEM</a:t>
            </a:r>
          </a:p>
        </p:txBody>
      </p:sp>
      <p:sp>
        <p:nvSpPr>
          <p:cNvPr id="15" name="Shape 47">
            <a:extLst>
              <a:ext uri="{FF2B5EF4-FFF2-40B4-BE49-F238E27FC236}">
                <a16:creationId xmlns:a16="http://schemas.microsoft.com/office/drawing/2014/main" id="{9A1CF8F3-B3DF-43DC-936D-69F8901E288B}"/>
              </a:ext>
            </a:extLst>
          </p:cNvPr>
          <p:cNvSpPr txBox="1">
            <a:spLocks/>
          </p:cNvSpPr>
          <p:nvPr/>
        </p:nvSpPr>
        <p:spPr>
          <a:xfrm>
            <a:off x="2737045" y="4827025"/>
            <a:ext cx="2194560" cy="457200"/>
          </a:xfrm>
          <a:prstGeom prst="rect">
            <a:avLst/>
          </a:prstGeom>
        </p:spPr>
        <p:txBody>
          <a:bodyPr lIns="0" tIns="36000" rIns="0" bIns="36000" anchor="ctr">
            <a:noAutofit/>
          </a:bodyPr>
          <a:lstStyle>
            <a:defPPr>
              <a:defRPr lang="en-US"/>
            </a:defPPr>
            <a:lvl1pPr lvl="0" algn="ctr" fontAlgn="auto">
              <a:lnSpc>
                <a:spcPct val="100000"/>
              </a:lnSpc>
              <a:spcBef>
                <a:spcPts val="0"/>
              </a:spcBef>
              <a:spcAft>
                <a:spcPts val="0"/>
              </a:spcAft>
              <a:defRPr sz="1100" b="1">
                <a:solidFill>
                  <a:srgbClr val="000000"/>
                </a:solidFill>
                <a:latin typeface="+mj-lt"/>
                <a:ea typeface="Open Sans" panose="020B0606030504020204" pitchFamily="34" charset="0"/>
                <a:cs typeface="Open Sans" panose="020B0606030504020204" pitchFamily="34" charset="0"/>
              </a:defRPr>
            </a:lvl1pPr>
            <a:lvl2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2pPr>
            <a:lvl3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3pPr>
            <a:lvl4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4pPr>
            <a:lvl5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5pPr>
            <a:lvl6pPr marL="51435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6pPr>
            <a:lvl7pPr marL="102870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7pPr>
            <a:lvl8pPr marL="154305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8pPr>
            <a:lvl9pPr marL="205740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chemeClr val="accent2"/>
                </a:solidFill>
                <a:effectLst/>
                <a:uLnTx/>
                <a:uFillTx/>
                <a:sym typeface="Gotham Book" charset="0"/>
              </a:rPr>
              <a:t>CONCEPTUALIZE OOMF</a:t>
            </a:r>
            <a:r>
              <a:rPr kumimoji="0" lang="en-GB" sz="1000" b="1" i="0" u="none" strike="noStrike" kern="1200" cap="none" spc="0" normalizeH="0" noProof="0" dirty="0">
                <a:ln>
                  <a:noFill/>
                </a:ln>
                <a:solidFill>
                  <a:schemeClr val="accent2"/>
                </a:solidFill>
                <a:effectLst/>
                <a:uLnTx/>
                <a:uFillTx/>
                <a:sym typeface="Gotham Book" charset="0"/>
              </a:rPr>
              <a:t> V2.0</a:t>
            </a:r>
            <a:r>
              <a:rPr kumimoji="0" lang="en-GB" sz="1000" b="1" i="0" u="none" strike="noStrike" kern="1200" cap="none" spc="0" normalizeH="0" baseline="0" noProof="0" dirty="0">
                <a:ln>
                  <a:noFill/>
                </a:ln>
                <a:solidFill>
                  <a:schemeClr val="accent2"/>
                </a:solidFill>
                <a:effectLst/>
                <a:uLnTx/>
                <a:uFillTx/>
                <a:sym typeface="Gotham Book" charset="0"/>
              </a:rPr>
              <a:t> – TOOLKIT &amp; DASHBOARD DESIGN</a:t>
            </a:r>
          </a:p>
        </p:txBody>
      </p:sp>
      <p:sp>
        <p:nvSpPr>
          <p:cNvPr id="16" name="Shape 47">
            <a:extLst>
              <a:ext uri="{FF2B5EF4-FFF2-40B4-BE49-F238E27FC236}">
                <a16:creationId xmlns:a16="http://schemas.microsoft.com/office/drawing/2014/main" id="{BB2D5D65-56C0-4391-B995-AA744404461E}"/>
              </a:ext>
            </a:extLst>
          </p:cNvPr>
          <p:cNvSpPr txBox="1">
            <a:spLocks/>
          </p:cNvSpPr>
          <p:nvPr/>
        </p:nvSpPr>
        <p:spPr>
          <a:xfrm>
            <a:off x="4997929" y="4827025"/>
            <a:ext cx="2194560" cy="457200"/>
          </a:xfrm>
          <a:prstGeom prst="rect">
            <a:avLst/>
          </a:prstGeom>
        </p:spPr>
        <p:txBody>
          <a:bodyPr lIns="0" tIns="36000" rIns="0" bIns="36000" anchor="ctr">
            <a:noAutofit/>
          </a:bodyPr>
          <a:lstStyle>
            <a:defPPr>
              <a:defRPr lang="en-US"/>
            </a:defPPr>
            <a:lvl1pPr lvl="0" algn="ctr" fontAlgn="auto">
              <a:lnSpc>
                <a:spcPct val="100000"/>
              </a:lnSpc>
              <a:spcBef>
                <a:spcPts val="0"/>
              </a:spcBef>
              <a:spcAft>
                <a:spcPts val="0"/>
              </a:spcAft>
              <a:defRPr sz="1100" b="1">
                <a:solidFill>
                  <a:srgbClr val="000000"/>
                </a:solidFill>
                <a:latin typeface="+mj-lt"/>
                <a:ea typeface="Open Sans" panose="020B0606030504020204" pitchFamily="34" charset="0"/>
                <a:cs typeface="Open Sans" panose="020B0606030504020204" pitchFamily="34" charset="0"/>
              </a:defRPr>
            </a:lvl1pPr>
            <a:lvl2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2pPr>
            <a:lvl3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3pPr>
            <a:lvl4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4pPr>
            <a:lvl5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5pPr>
            <a:lvl6pPr marL="51435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6pPr>
            <a:lvl7pPr marL="102870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7pPr>
            <a:lvl8pPr marL="154305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8pPr>
            <a:lvl9pPr marL="205740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chemeClr val="accent2"/>
                </a:solidFill>
                <a:effectLst/>
                <a:uLnTx/>
                <a:uFillTx/>
                <a:sym typeface="Gotham Book" charset="0"/>
              </a:rPr>
              <a:t>VALIDATE OOMF V2.0 – TOOLKIT &amp; DASHBOARD DESIGN</a:t>
            </a:r>
          </a:p>
        </p:txBody>
      </p:sp>
      <p:sp>
        <p:nvSpPr>
          <p:cNvPr id="17" name="Shape 47">
            <a:extLst>
              <a:ext uri="{FF2B5EF4-FFF2-40B4-BE49-F238E27FC236}">
                <a16:creationId xmlns:a16="http://schemas.microsoft.com/office/drawing/2014/main" id="{677B34E1-F478-4C49-841A-759DDAACF18E}"/>
              </a:ext>
            </a:extLst>
          </p:cNvPr>
          <p:cNvSpPr txBox="1">
            <a:spLocks/>
          </p:cNvSpPr>
          <p:nvPr/>
        </p:nvSpPr>
        <p:spPr>
          <a:xfrm>
            <a:off x="7257971" y="4827025"/>
            <a:ext cx="2194560" cy="457200"/>
          </a:xfrm>
          <a:prstGeom prst="rect">
            <a:avLst/>
          </a:prstGeom>
        </p:spPr>
        <p:txBody>
          <a:bodyPr lIns="0" tIns="36000" rIns="0" bIns="36000" anchor="ctr">
            <a:noAutofit/>
          </a:bodyPr>
          <a:lstStyle>
            <a:defPPr>
              <a:defRPr lang="en-US"/>
            </a:defPPr>
            <a:lvl1pPr lvl="0" algn="ctr" fontAlgn="auto">
              <a:lnSpc>
                <a:spcPct val="100000"/>
              </a:lnSpc>
              <a:spcBef>
                <a:spcPts val="0"/>
              </a:spcBef>
              <a:spcAft>
                <a:spcPts val="0"/>
              </a:spcAft>
              <a:defRPr sz="1100" b="1">
                <a:solidFill>
                  <a:srgbClr val="000000"/>
                </a:solidFill>
                <a:latin typeface="+mj-lt"/>
                <a:ea typeface="Open Sans" panose="020B0606030504020204" pitchFamily="34" charset="0"/>
                <a:cs typeface="Open Sans" panose="020B0606030504020204" pitchFamily="34" charset="0"/>
              </a:defRPr>
            </a:lvl1pPr>
            <a:lvl2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2pPr>
            <a:lvl3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3pPr>
            <a:lvl4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4pPr>
            <a:lvl5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5pPr>
            <a:lvl6pPr marL="51435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6pPr>
            <a:lvl7pPr marL="102870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7pPr>
            <a:lvl8pPr marL="154305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8pPr>
            <a:lvl9pPr marL="205740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9pPr>
          </a:lstStyle>
          <a:p>
            <a:pPr lvl="0">
              <a:defRPr/>
            </a:pPr>
            <a:r>
              <a:rPr kumimoji="0" lang="en-GB" sz="1000" b="1" i="0" u="none" strike="noStrike" kern="1200" cap="none" spc="0" normalizeH="0" baseline="0" noProof="0" dirty="0">
                <a:ln>
                  <a:noFill/>
                </a:ln>
                <a:solidFill>
                  <a:schemeClr val="accent2"/>
                </a:solidFill>
                <a:effectLst/>
                <a:uLnTx/>
                <a:uFillTx/>
                <a:sym typeface="Gotham Book" charset="0"/>
              </a:rPr>
              <a:t>DEVELOP &amp; TEST </a:t>
            </a:r>
            <a:r>
              <a:rPr lang="en-GB" sz="1000" dirty="0">
                <a:solidFill>
                  <a:schemeClr val="accent2"/>
                </a:solidFill>
                <a:sym typeface="Gotham Book" charset="0"/>
              </a:rPr>
              <a:t>OOMF V2.0 - DASHBOARD</a:t>
            </a:r>
            <a:endParaRPr kumimoji="0" lang="en-GB" sz="1000" b="1" i="0" u="none" strike="noStrike" kern="1200" cap="none" spc="0" normalizeH="0" baseline="0" noProof="0" dirty="0">
              <a:ln>
                <a:noFill/>
              </a:ln>
              <a:solidFill>
                <a:schemeClr val="accent2"/>
              </a:solidFill>
              <a:effectLst/>
              <a:uLnTx/>
              <a:uFillTx/>
              <a:sym typeface="Gotham Book" charset="0"/>
            </a:endParaRPr>
          </a:p>
        </p:txBody>
      </p:sp>
      <p:sp>
        <p:nvSpPr>
          <p:cNvPr id="18" name="Shape 47">
            <a:extLst>
              <a:ext uri="{FF2B5EF4-FFF2-40B4-BE49-F238E27FC236}">
                <a16:creationId xmlns:a16="http://schemas.microsoft.com/office/drawing/2014/main" id="{4CC3821A-11D0-414B-A195-7A99EC59274D}"/>
              </a:ext>
            </a:extLst>
          </p:cNvPr>
          <p:cNvSpPr txBox="1">
            <a:spLocks/>
          </p:cNvSpPr>
          <p:nvPr/>
        </p:nvSpPr>
        <p:spPr>
          <a:xfrm>
            <a:off x="9518015" y="4827025"/>
            <a:ext cx="2194560" cy="457200"/>
          </a:xfrm>
          <a:prstGeom prst="rect">
            <a:avLst/>
          </a:prstGeom>
        </p:spPr>
        <p:txBody>
          <a:bodyPr lIns="0" tIns="36000" rIns="0" bIns="36000" anchor="ctr">
            <a:noAutofit/>
          </a:bodyPr>
          <a:lstStyle>
            <a:defPPr>
              <a:defRPr lang="en-US"/>
            </a:defPPr>
            <a:lvl1pPr lvl="0" algn="ctr" fontAlgn="auto">
              <a:lnSpc>
                <a:spcPct val="100000"/>
              </a:lnSpc>
              <a:spcBef>
                <a:spcPts val="0"/>
              </a:spcBef>
              <a:spcAft>
                <a:spcPts val="0"/>
              </a:spcAft>
              <a:defRPr sz="1100" b="1">
                <a:solidFill>
                  <a:srgbClr val="000000"/>
                </a:solidFill>
                <a:latin typeface="+mj-lt"/>
                <a:ea typeface="Open Sans" panose="020B0606030504020204" pitchFamily="34" charset="0"/>
                <a:cs typeface="Open Sans" panose="020B0606030504020204" pitchFamily="34" charset="0"/>
              </a:defRPr>
            </a:lvl1pPr>
            <a:lvl2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2pPr>
            <a:lvl3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3pPr>
            <a:lvl4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4pPr>
            <a:lvl5pPr algn="r" eaLnBrk="0" fontAlgn="base" hangingPunct="0">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5pPr>
            <a:lvl6pPr marL="51435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6pPr>
            <a:lvl7pPr marL="102870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7pPr>
            <a:lvl8pPr marL="154305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8pPr>
            <a:lvl9pPr marL="2057400" algn="r" fontAlgn="base">
              <a:lnSpc>
                <a:spcPct val="80000"/>
              </a:lnSpc>
              <a:spcBef>
                <a:spcPct val="0"/>
              </a:spcBef>
              <a:spcAft>
                <a:spcPct val="0"/>
              </a:spcAft>
              <a:defRPr sz="9500">
                <a:solidFill>
                  <a:srgbClr val="FFFFFF"/>
                </a:solidFill>
                <a:latin typeface="Gotham Bold" charset="0"/>
                <a:ea typeface="ヒラギノ角ゴ ProN W6" charset="0"/>
                <a:cs typeface="ヒラギノ角ゴ ProN W6"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chemeClr val="accent2"/>
                </a:solidFill>
                <a:effectLst/>
                <a:uLnTx/>
                <a:uFillTx/>
                <a:sym typeface="Gotham Book" charset="0"/>
              </a:rPr>
              <a:t>EXPAND OOMF V2.0 TO MINISTRIES, DEPARTMENTS, STATES</a:t>
            </a:r>
            <a:r>
              <a:rPr kumimoji="0" lang="en-GB" sz="1000" b="1" i="0" u="none" strike="noStrike" kern="1200" cap="none" spc="0" normalizeH="0" noProof="0" dirty="0">
                <a:ln>
                  <a:noFill/>
                </a:ln>
                <a:solidFill>
                  <a:schemeClr val="accent2"/>
                </a:solidFill>
                <a:effectLst/>
                <a:uLnTx/>
                <a:uFillTx/>
                <a:sym typeface="Gotham Book" charset="0"/>
              </a:rPr>
              <a:t> &amp; UT</a:t>
            </a:r>
            <a:endParaRPr kumimoji="0" lang="en-GB" sz="1000" b="1" i="0" u="none" strike="noStrike" kern="1200" cap="none" spc="0" normalizeH="0" baseline="0" noProof="0" dirty="0">
              <a:ln>
                <a:noFill/>
              </a:ln>
              <a:solidFill>
                <a:schemeClr val="accent2"/>
              </a:solidFill>
              <a:effectLst/>
              <a:uLnTx/>
              <a:uFillTx/>
              <a:sym typeface="Gotham Book" charset="0"/>
            </a:endParaRPr>
          </a:p>
        </p:txBody>
      </p:sp>
      <p:cxnSp>
        <p:nvCxnSpPr>
          <p:cNvPr id="19" name="Straight Connector 18">
            <a:extLst>
              <a:ext uri="{FF2B5EF4-FFF2-40B4-BE49-F238E27FC236}">
                <a16:creationId xmlns:a16="http://schemas.microsoft.com/office/drawing/2014/main" id="{C125FA16-B870-410B-9754-05F81047E124}"/>
              </a:ext>
            </a:extLst>
          </p:cNvPr>
          <p:cNvCxnSpPr>
            <a:cxnSpLocks/>
          </p:cNvCxnSpPr>
          <p:nvPr/>
        </p:nvCxnSpPr>
        <p:spPr>
          <a:xfrm>
            <a:off x="2704304" y="4804165"/>
            <a:ext cx="0" cy="50292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7CA9ED5-A5C9-4D27-94D4-F482F8417452}"/>
              </a:ext>
            </a:extLst>
          </p:cNvPr>
          <p:cNvCxnSpPr>
            <a:cxnSpLocks/>
          </p:cNvCxnSpPr>
          <p:nvPr/>
        </p:nvCxnSpPr>
        <p:spPr>
          <a:xfrm flipH="1">
            <a:off x="4964346" y="4804165"/>
            <a:ext cx="842" cy="50292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3506835-F961-4E41-A9AD-152525872A46}"/>
              </a:ext>
            </a:extLst>
          </p:cNvPr>
          <p:cNvCxnSpPr>
            <a:cxnSpLocks/>
          </p:cNvCxnSpPr>
          <p:nvPr/>
        </p:nvCxnSpPr>
        <p:spPr>
          <a:xfrm>
            <a:off x="7225230" y="4804165"/>
            <a:ext cx="0" cy="50292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423EFC-6BD9-4E92-B183-187AD09BEDFE}"/>
              </a:ext>
            </a:extLst>
          </p:cNvPr>
          <p:cNvCxnSpPr>
            <a:cxnSpLocks/>
          </p:cNvCxnSpPr>
          <p:nvPr/>
        </p:nvCxnSpPr>
        <p:spPr>
          <a:xfrm>
            <a:off x="9485272" y="4804165"/>
            <a:ext cx="0" cy="50292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148" name="Group 147">
            <a:extLst>
              <a:ext uri="{FF2B5EF4-FFF2-40B4-BE49-F238E27FC236}">
                <a16:creationId xmlns:a16="http://schemas.microsoft.com/office/drawing/2014/main" id="{03ECFAE7-8EDB-48D1-A482-5701E1870D45}"/>
              </a:ext>
            </a:extLst>
          </p:cNvPr>
          <p:cNvGrpSpPr/>
          <p:nvPr/>
        </p:nvGrpSpPr>
        <p:grpSpPr>
          <a:xfrm>
            <a:off x="477003" y="5844301"/>
            <a:ext cx="11224269" cy="369332"/>
            <a:chOff x="477003" y="5844301"/>
            <a:chExt cx="11224269" cy="369332"/>
          </a:xfrm>
        </p:grpSpPr>
        <p:sp>
          <p:nvSpPr>
            <p:cNvPr id="24" name="TextBox 23">
              <a:extLst>
                <a:ext uri="{FF2B5EF4-FFF2-40B4-BE49-F238E27FC236}">
                  <a16:creationId xmlns:a16="http://schemas.microsoft.com/office/drawing/2014/main" id="{6277F6B7-7C4C-441A-A080-2C88F9AE0E29}"/>
                </a:ext>
              </a:extLst>
            </p:cNvPr>
            <p:cNvSpPr txBox="1">
              <a:spLocks/>
            </p:cNvSpPr>
            <p:nvPr/>
          </p:nvSpPr>
          <p:spPr>
            <a:xfrm>
              <a:off x="3785175" y="5844301"/>
              <a:ext cx="2249424" cy="369332"/>
            </a:xfrm>
            <a:prstGeom prst="rect">
              <a:avLst/>
            </a:prstGeom>
          </p:spPr>
          <p:txBody>
            <a:bodyPr vert="horz" lIns="0" tIns="0" rIns="0" bIns="0" rtlCol="0" anchor="ctr">
              <a:sp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b="1" i="0" u="none" strike="noStrike" kern="1200" cap="none" spc="0" normalizeH="0" baseline="0" noProof="0" dirty="0">
                  <a:ln>
                    <a:noFill/>
                  </a:ln>
                  <a:solidFill>
                    <a:prstClr val="black"/>
                  </a:solidFill>
                  <a:effectLst/>
                  <a:uLnTx/>
                  <a:uFillTx/>
                  <a:ea typeface="+mn-ea"/>
                  <a:cs typeface="+mn-cs"/>
                </a:rPr>
                <a:t>Institutionalization across Ministries/ States </a:t>
              </a:r>
              <a:endParaRPr kumimoji="0" lang="en-US" b="0" i="0" u="none" strike="noStrike" kern="1200" cap="none" spc="0" normalizeH="0" baseline="0" noProof="0" dirty="0">
                <a:ln>
                  <a:noFill/>
                </a:ln>
                <a:solidFill>
                  <a:prstClr val="black"/>
                </a:solidFill>
                <a:effectLst/>
                <a:uLnTx/>
                <a:uFillTx/>
                <a:ea typeface="+mn-ea"/>
                <a:cs typeface="+mn-cs"/>
              </a:endParaRPr>
            </a:p>
          </p:txBody>
        </p:sp>
        <p:sp>
          <p:nvSpPr>
            <p:cNvPr id="25" name="TextBox 23">
              <a:extLst>
                <a:ext uri="{FF2B5EF4-FFF2-40B4-BE49-F238E27FC236}">
                  <a16:creationId xmlns:a16="http://schemas.microsoft.com/office/drawing/2014/main" id="{F5812E18-6EEA-4116-B9CD-5B49A52BC352}"/>
                </a:ext>
              </a:extLst>
            </p:cNvPr>
            <p:cNvSpPr txBox="1">
              <a:spLocks/>
            </p:cNvSpPr>
            <p:nvPr/>
          </p:nvSpPr>
          <p:spPr>
            <a:xfrm>
              <a:off x="951839" y="5936634"/>
              <a:ext cx="2249424" cy="184666"/>
            </a:xfrm>
            <a:prstGeom prst="rect">
              <a:avLst/>
            </a:prstGeom>
          </p:spPr>
          <p:txBody>
            <a:bodyPr vert="horz" lIns="0" tIns="0" rIns="0" bIns="0" rtlCol="0" anchor="ctr">
              <a:sp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de-DE" b="1" i="0" u="none" strike="noStrike" kern="1200" cap="none" spc="0" normalizeH="0" baseline="0" noProof="0" dirty="0">
                  <a:ln>
                    <a:noFill/>
                  </a:ln>
                  <a:solidFill>
                    <a:prstClr val="black"/>
                  </a:solidFill>
                  <a:effectLst/>
                  <a:uLnTx/>
                  <a:uFillTx/>
                  <a:ea typeface="+mn-ea"/>
                  <a:cs typeface="+mn-cs"/>
                </a:rPr>
                <a:t>Future ready Dashboard</a:t>
              </a:r>
              <a:endParaRPr kumimoji="0" lang="de-DE" b="0" i="0" u="none" strike="noStrike" kern="1200" cap="none" spc="0" normalizeH="0" baseline="0" noProof="0" dirty="0">
                <a:ln>
                  <a:noFill/>
                </a:ln>
                <a:solidFill>
                  <a:prstClr val="black"/>
                </a:solidFill>
                <a:effectLst/>
                <a:uLnTx/>
                <a:uFillTx/>
                <a:ea typeface="+mn-ea"/>
                <a:cs typeface="+mn-cs"/>
              </a:endParaRPr>
            </a:p>
          </p:txBody>
        </p:sp>
        <p:sp>
          <p:nvSpPr>
            <p:cNvPr id="26" name="Freeform 54">
              <a:extLst>
                <a:ext uri="{FF2B5EF4-FFF2-40B4-BE49-F238E27FC236}">
                  <a16:creationId xmlns:a16="http://schemas.microsoft.com/office/drawing/2014/main" id="{DCFA0419-0167-4E3D-A06F-E732614F4340}"/>
                </a:ext>
              </a:extLst>
            </p:cNvPr>
            <p:cNvSpPr>
              <a:spLocks noEditPoints="1"/>
            </p:cNvSpPr>
            <p:nvPr/>
          </p:nvSpPr>
          <p:spPr bwMode="auto">
            <a:xfrm>
              <a:off x="477003" y="5846087"/>
              <a:ext cx="365760" cy="365760"/>
            </a:xfrm>
            <a:custGeom>
              <a:avLst/>
              <a:gdLst>
                <a:gd name="T0" fmla="*/ 117 w 512"/>
                <a:gd name="T1" fmla="*/ 330 h 512"/>
                <a:gd name="T2" fmla="*/ 160 w 512"/>
                <a:gd name="T3" fmla="*/ 330 h 512"/>
                <a:gd name="T4" fmla="*/ 170 w 512"/>
                <a:gd name="T5" fmla="*/ 341 h 512"/>
                <a:gd name="T6" fmla="*/ 170 w 512"/>
                <a:gd name="T7" fmla="*/ 376 h 512"/>
                <a:gd name="T8" fmla="*/ 205 w 512"/>
                <a:gd name="T9" fmla="*/ 334 h 512"/>
                <a:gd name="T10" fmla="*/ 213 w 512"/>
                <a:gd name="T11" fmla="*/ 330 h 512"/>
                <a:gd name="T12" fmla="*/ 394 w 512"/>
                <a:gd name="T13" fmla="*/ 330 h 512"/>
                <a:gd name="T14" fmla="*/ 394 w 512"/>
                <a:gd name="T15" fmla="*/ 160 h 512"/>
                <a:gd name="T16" fmla="*/ 117 w 512"/>
                <a:gd name="T17" fmla="*/ 160 h 512"/>
                <a:gd name="T18" fmla="*/ 117 w 512"/>
                <a:gd name="T19" fmla="*/ 330 h 512"/>
                <a:gd name="T20" fmla="*/ 298 w 512"/>
                <a:gd name="T21" fmla="*/ 234 h 512"/>
                <a:gd name="T22" fmla="*/ 309 w 512"/>
                <a:gd name="T23" fmla="*/ 245 h 512"/>
                <a:gd name="T24" fmla="*/ 298 w 512"/>
                <a:gd name="T25" fmla="*/ 256 h 512"/>
                <a:gd name="T26" fmla="*/ 288 w 512"/>
                <a:gd name="T27" fmla="*/ 245 h 512"/>
                <a:gd name="T28" fmla="*/ 298 w 512"/>
                <a:gd name="T29" fmla="*/ 234 h 512"/>
                <a:gd name="T30" fmla="*/ 256 w 512"/>
                <a:gd name="T31" fmla="*/ 234 h 512"/>
                <a:gd name="T32" fmla="*/ 266 w 512"/>
                <a:gd name="T33" fmla="*/ 245 h 512"/>
                <a:gd name="T34" fmla="*/ 256 w 512"/>
                <a:gd name="T35" fmla="*/ 256 h 512"/>
                <a:gd name="T36" fmla="*/ 245 w 512"/>
                <a:gd name="T37" fmla="*/ 245 h 512"/>
                <a:gd name="T38" fmla="*/ 256 w 512"/>
                <a:gd name="T39" fmla="*/ 234 h 512"/>
                <a:gd name="T40" fmla="*/ 213 w 512"/>
                <a:gd name="T41" fmla="*/ 234 h 512"/>
                <a:gd name="T42" fmla="*/ 224 w 512"/>
                <a:gd name="T43" fmla="*/ 245 h 512"/>
                <a:gd name="T44" fmla="*/ 213 w 512"/>
                <a:gd name="T45" fmla="*/ 256 h 512"/>
                <a:gd name="T46" fmla="*/ 202 w 512"/>
                <a:gd name="T47" fmla="*/ 245 h 512"/>
                <a:gd name="T48" fmla="*/ 213 w 512"/>
                <a:gd name="T49" fmla="*/ 234 h 512"/>
                <a:gd name="T50" fmla="*/ 256 w 512"/>
                <a:gd name="T51" fmla="*/ 0 h 512"/>
                <a:gd name="T52" fmla="*/ 0 w 512"/>
                <a:gd name="T53" fmla="*/ 256 h 512"/>
                <a:gd name="T54" fmla="*/ 256 w 512"/>
                <a:gd name="T55" fmla="*/ 512 h 512"/>
                <a:gd name="T56" fmla="*/ 512 w 512"/>
                <a:gd name="T57" fmla="*/ 256 h 512"/>
                <a:gd name="T58" fmla="*/ 256 w 512"/>
                <a:gd name="T59" fmla="*/ 0 h 512"/>
                <a:gd name="T60" fmla="*/ 416 w 512"/>
                <a:gd name="T61" fmla="*/ 341 h 512"/>
                <a:gd name="T62" fmla="*/ 405 w 512"/>
                <a:gd name="T63" fmla="*/ 352 h 512"/>
                <a:gd name="T64" fmla="*/ 218 w 512"/>
                <a:gd name="T65" fmla="*/ 352 h 512"/>
                <a:gd name="T66" fmla="*/ 168 w 512"/>
                <a:gd name="T67" fmla="*/ 412 h 512"/>
                <a:gd name="T68" fmla="*/ 160 w 512"/>
                <a:gd name="T69" fmla="*/ 416 h 512"/>
                <a:gd name="T70" fmla="*/ 156 w 512"/>
                <a:gd name="T71" fmla="*/ 415 h 512"/>
                <a:gd name="T72" fmla="*/ 149 w 512"/>
                <a:gd name="T73" fmla="*/ 405 h 512"/>
                <a:gd name="T74" fmla="*/ 149 w 512"/>
                <a:gd name="T75" fmla="*/ 352 h 512"/>
                <a:gd name="T76" fmla="*/ 106 w 512"/>
                <a:gd name="T77" fmla="*/ 352 h 512"/>
                <a:gd name="T78" fmla="*/ 96 w 512"/>
                <a:gd name="T79" fmla="*/ 341 h 512"/>
                <a:gd name="T80" fmla="*/ 96 w 512"/>
                <a:gd name="T81" fmla="*/ 149 h 512"/>
                <a:gd name="T82" fmla="*/ 106 w 512"/>
                <a:gd name="T83" fmla="*/ 138 h 512"/>
                <a:gd name="T84" fmla="*/ 405 w 512"/>
                <a:gd name="T85" fmla="*/ 138 h 512"/>
                <a:gd name="T86" fmla="*/ 416 w 512"/>
                <a:gd name="T87" fmla="*/ 149 h 512"/>
                <a:gd name="T88" fmla="*/ 416 w 512"/>
                <a:gd name="T89" fmla="*/ 34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117" y="330"/>
                  </a:moveTo>
                  <a:cubicBezTo>
                    <a:pt x="160" y="330"/>
                    <a:pt x="160" y="330"/>
                    <a:pt x="160" y="330"/>
                  </a:cubicBezTo>
                  <a:cubicBezTo>
                    <a:pt x="166" y="330"/>
                    <a:pt x="170" y="335"/>
                    <a:pt x="170" y="341"/>
                  </a:cubicBezTo>
                  <a:cubicBezTo>
                    <a:pt x="170" y="376"/>
                    <a:pt x="170" y="376"/>
                    <a:pt x="170" y="376"/>
                  </a:cubicBezTo>
                  <a:cubicBezTo>
                    <a:pt x="205" y="334"/>
                    <a:pt x="205" y="334"/>
                    <a:pt x="205" y="334"/>
                  </a:cubicBezTo>
                  <a:cubicBezTo>
                    <a:pt x="207" y="332"/>
                    <a:pt x="210" y="330"/>
                    <a:pt x="213" y="330"/>
                  </a:cubicBezTo>
                  <a:cubicBezTo>
                    <a:pt x="394" y="330"/>
                    <a:pt x="394" y="330"/>
                    <a:pt x="394" y="330"/>
                  </a:cubicBezTo>
                  <a:cubicBezTo>
                    <a:pt x="394" y="160"/>
                    <a:pt x="394" y="160"/>
                    <a:pt x="394" y="160"/>
                  </a:cubicBezTo>
                  <a:cubicBezTo>
                    <a:pt x="117" y="160"/>
                    <a:pt x="117" y="160"/>
                    <a:pt x="117" y="160"/>
                  </a:cubicBezTo>
                  <a:lnTo>
                    <a:pt x="117" y="330"/>
                  </a:lnTo>
                  <a:close/>
                  <a:moveTo>
                    <a:pt x="298" y="234"/>
                  </a:moveTo>
                  <a:cubicBezTo>
                    <a:pt x="304" y="234"/>
                    <a:pt x="309" y="239"/>
                    <a:pt x="309" y="245"/>
                  </a:cubicBezTo>
                  <a:cubicBezTo>
                    <a:pt x="309" y="251"/>
                    <a:pt x="304" y="256"/>
                    <a:pt x="298" y="256"/>
                  </a:cubicBezTo>
                  <a:cubicBezTo>
                    <a:pt x="292" y="256"/>
                    <a:pt x="288" y="251"/>
                    <a:pt x="288" y="245"/>
                  </a:cubicBezTo>
                  <a:cubicBezTo>
                    <a:pt x="288" y="239"/>
                    <a:pt x="292" y="234"/>
                    <a:pt x="298" y="234"/>
                  </a:cubicBezTo>
                  <a:close/>
                  <a:moveTo>
                    <a:pt x="256" y="234"/>
                  </a:moveTo>
                  <a:cubicBezTo>
                    <a:pt x="262" y="234"/>
                    <a:pt x="266" y="239"/>
                    <a:pt x="266" y="245"/>
                  </a:cubicBezTo>
                  <a:cubicBezTo>
                    <a:pt x="266" y="251"/>
                    <a:pt x="262" y="256"/>
                    <a:pt x="256" y="256"/>
                  </a:cubicBezTo>
                  <a:cubicBezTo>
                    <a:pt x="250" y="256"/>
                    <a:pt x="245" y="251"/>
                    <a:pt x="245" y="245"/>
                  </a:cubicBezTo>
                  <a:cubicBezTo>
                    <a:pt x="245" y="239"/>
                    <a:pt x="250" y="234"/>
                    <a:pt x="256" y="234"/>
                  </a:cubicBezTo>
                  <a:close/>
                  <a:moveTo>
                    <a:pt x="213" y="234"/>
                  </a:moveTo>
                  <a:cubicBezTo>
                    <a:pt x="219" y="234"/>
                    <a:pt x="224" y="239"/>
                    <a:pt x="224" y="245"/>
                  </a:cubicBezTo>
                  <a:cubicBezTo>
                    <a:pt x="224" y="251"/>
                    <a:pt x="219" y="256"/>
                    <a:pt x="213" y="256"/>
                  </a:cubicBezTo>
                  <a:cubicBezTo>
                    <a:pt x="207" y="256"/>
                    <a:pt x="202" y="251"/>
                    <a:pt x="202" y="245"/>
                  </a:cubicBezTo>
                  <a:cubicBezTo>
                    <a:pt x="202" y="239"/>
                    <a:pt x="207" y="234"/>
                    <a:pt x="213" y="234"/>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41"/>
                  </a:moveTo>
                  <a:cubicBezTo>
                    <a:pt x="416" y="347"/>
                    <a:pt x="411" y="352"/>
                    <a:pt x="405" y="352"/>
                  </a:cubicBezTo>
                  <a:cubicBezTo>
                    <a:pt x="218" y="352"/>
                    <a:pt x="218" y="352"/>
                    <a:pt x="218" y="352"/>
                  </a:cubicBezTo>
                  <a:cubicBezTo>
                    <a:pt x="168" y="412"/>
                    <a:pt x="168" y="412"/>
                    <a:pt x="168" y="412"/>
                  </a:cubicBezTo>
                  <a:cubicBezTo>
                    <a:pt x="166" y="414"/>
                    <a:pt x="163" y="416"/>
                    <a:pt x="160" y="416"/>
                  </a:cubicBezTo>
                  <a:cubicBezTo>
                    <a:pt x="158" y="416"/>
                    <a:pt x="157" y="415"/>
                    <a:pt x="156" y="415"/>
                  </a:cubicBezTo>
                  <a:cubicBezTo>
                    <a:pt x="152" y="414"/>
                    <a:pt x="149" y="409"/>
                    <a:pt x="149" y="405"/>
                  </a:cubicBezTo>
                  <a:cubicBezTo>
                    <a:pt x="149" y="352"/>
                    <a:pt x="149" y="352"/>
                    <a:pt x="149" y="352"/>
                  </a:cubicBezTo>
                  <a:cubicBezTo>
                    <a:pt x="106" y="352"/>
                    <a:pt x="106" y="352"/>
                    <a:pt x="106" y="352"/>
                  </a:cubicBezTo>
                  <a:cubicBezTo>
                    <a:pt x="100" y="352"/>
                    <a:pt x="96" y="347"/>
                    <a:pt x="96" y="341"/>
                  </a:cubicBezTo>
                  <a:cubicBezTo>
                    <a:pt x="96" y="149"/>
                    <a:pt x="96" y="149"/>
                    <a:pt x="96" y="149"/>
                  </a:cubicBezTo>
                  <a:cubicBezTo>
                    <a:pt x="96" y="143"/>
                    <a:pt x="100" y="138"/>
                    <a:pt x="106" y="138"/>
                  </a:cubicBezTo>
                  <a:cubicBezTo>
                    <a:pt x="405" y="138"/>
                    <a:pt x="405" y="138"/>
                    <a:pt x="405" y="138"/>
                  </a:cubicBezTo>
                  <a:cubicBezTo>
                    <a:pt x="411" y="138"/>
                    <a:pt x="416" y="143"/>
                    <a:pt x="416" y="149"/>
                  </a:cubicBezTo>
                  <a:lnTo>
                    <a:pt x="416" y="341"/>
                  </a:lnTo>
                  <a:close/>
                </a:path>
              </a:pathLst>
            </a:custGeom>
            <a:solidFill>
              <a:schemeClr val="accent1">
                <a:lumMod val="75000"/>
              </a:schemeClr>
            </a:solidFill>
            <a:ln>
              <a:noFill/>
            </a:ln>
          </p:spPr>
          <p:txBody>
            <a:bodyPr vert="horz" wrap="square" lIns="91440" tIns="45720" rIns="91440" bIns="45720" numCol="1" anchor="ctr"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endParaRPr>
            </a:p>
          </p:txBody>
        </p:sp>
        <p:sp>
          <p:nvSpPr>
            <p:cNvPr id="27" name="Freeform 469">
              <a:extLst>
                <a:ext uri="{FF2B5EF4-FFF2-40B4-BE49-F238E27FC236}">
                  <a16:creationId xmlns:a16="http://schemas.microsoft.com/office/drawing/2014/main" id="{2E35B56F-F169-4B97-9B01-A8B9BE9E636F}"/>
                </a:ext>
              </a:extLst>
            </p:cNvPr>
            <p:cNvSpPr>
              <a:spLocks noChangeAspect="1" noEditPoints="1"/>
            </p:cNvSpPr>
            <p:nvPr/>
          </p:nvSpPr>
          <p:spPr bwMode="auto">
            <a:xfrm>
              <a:off x="3310339" y="5846087"/>
              <a:ext cx="365760" cy="365760"/>
            </a:xfrm>
            <a:custGeom>
              <a:avLst/>
              <a:gdLst>
                <a:gd name="T0" fmla="*/ 309 w 512"/>
                <a:gd name="T1" fmla="*/ 320 h 512"/>
                <a:gd name="T2" fmla="*/ 288 w 512"/>
                <a:gd name="T3" fmla="*/ 341 h 512"/>
                <a:gd name="T4" fmla="*/ 266 w 512"/>
                <a:gd name="T5" fmla="*/ 320 h 512"/>
                <a:gd name="T6" fmla="*/ 288 w 512"/>
                <a:gd name="T7" fmla="*/ 298 h 512"/>
                <a:gd name="T8" fmla="*/ 309 w 512"/>
                <a:gd name="T9" fmla="*/ 320 h 512"/>
                <a:gd name="T10" fmla="*/ 213 w 512"/>
                <a:gd name="T11" fmla="*/ 160 h 512"/>
                <a:gd name="T12" fmla="*/ 192 w 512"/>
                <a:gd name="T13" fmla="*/ 181 h 512"/>
                <a:gd name="T14" fmla="*/ 213 w 512"/>
                <a:gd name="T15" fmla="*/ 202 h 512"/>
                <a:gd name="T16" fmla="*/ 234 w 512"/>
                <a:gd name="T17" fmla="*/ 181 h 512"/>
                <a:gd name="T18" fmla="*/ 213 w 512"/>
                <a:gd name="T19" fmla="*/ 160 h 512"/>
                <a:gd name="T20" fmla="*/ 138 w 512"/>
                <a:gd name="T21" fmla="*/ 298 h 512"/>
                <a:gd name="T22" fmla="*/ 117 w 512"/>
                <a:gd name="T23" fmla="*/ 320 h 512"/>
                <a:gd name="T24" fmla="*/ 138 w 512"/>
                <a:gd name="T25" fmla="*/ 341 h 512"/>
                <a:gd name="T26" fmla="*/ 160 w 512"/>
                <a:gd name="T27" fmla="*/ 320 h 512"/>
                <a:gd name="T28" fmla="*/ 138 w 512"/>
                <a:gd name="T29" fmla="*/ 298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6 w 512"/>
                <a:gd name="T41" fmla="*/ 181 h 512"/>
                <a:gd name="T42" fmla="*/ 373 w 512"/>
                <a:gd name="T43" fmla="*/ 138 h 512"/>
                <a:gd name="T44" fmla="*/ 330 w 512"/>
                <a:gd name="T45" fmla="*/ 181 h 512"/>
                <a:gd name="T46" fmla="*/ 342 w 512"/>
                <a:gd name="T47" fmla="*/ 211 h 512"/>
                <a:gd name="T48" fmla="*/ 300 w 512"/>
                <a:gd name="T49" fmla="*/ 279 h 512"/>
                <a:gd name="T50" fmla="*/ 288 w 512"/>
                <a:gd name="T51" fmla="*/ 277 h 512"/>
                <a:gd name="T52" fmla="*/ 278 w 512"/>
                <a:gd name="T53" fmla="*/ 278 h 512"/>
                <a:gd name="T54" fmla="*/ 242 w 512"/>
                <a:gd name="T55" fmla="*/ 212 h 512"/>
                <a:gd name="T56" fmla="*/ 256 w 512"/>
                <a:gd name="T57" fmla="*/ 181 h 512"/>
                <a:gd name="T58" fmla="*/ 213 w 512"/>
                <a:gd name="T59" fmla="*/ 138 h 512"/>
                <a:gd name="T60" fmla="*/ 170 w 512"/>
                <a:gd name="T61" fmla="*/ 181 h 512"/>
                <a:gd name="T62" fmla="*/ 184 w 512"/>
                <a:gd name="T63" fmla="*/ 212 h 512"/>
                <a:gd name="T64" fmla="*/ 148 w 512"/>
                <a:gd name="T65" fmla="*/ 278 h 512"/>
                <a:gd name="T66" fmla="*/ 138 w 512"/>
                <a:gd name="T67" fmla="*/ 277 h 512"/>
                <a:gd name="T68" fmla="*/ 96 w 512"/>
                <a:gd name="T69" fmla="*/ 320 h 512"/>
                <a:gd name="T70" fmla="*/ 138 w 512"/>
                <a:gd name="T71" fmla="*/ 362 h 512"/>
                <a:gd name="T72" fmla="*/ 181 w 512"/>
                <a:gd name="T73" fmla="*/ 320 h 512"/>
                <a:gd name="T74" fmla="*/ 167 w 512"/>
                <a:gd name="T75" fmla="*/ 288 h 512"/>
                <a:gd name="T76" fmla="*/ 203 w 512"/>
                <a:gd name="T77" fmla="*/ 222 h 512"/>
                <a:gd name="T78" fmla="*/ 213 w 512"/>
                <a:gd name="T79" fmla="*/ 224 h 512"/>
                <a:gd name="T80" fmla="*/ 223 w 512"/>
                <a:gd name="T81" fmla="*/ 222 h 512"/>
                <a:gd name="T82" fmla="*/ 259 w 512"/>
                <a:gd name="T83" fmla="*/ 288 h 512"/>
                <a:gd name="T84" fmla="*/ 245 w 512"/>
                <a:gd name="T85" fmla="*/ 320 h 512"/>
                <a:gd name="T86" fmla="*/ 288 w 512"/>
                <a:gd name="T87" fmla="*/ 362 h 512"/>
                <a:gd name="T88" fmla="*/ 330 w 512"/>
                <a:gd name="T89" fmla="*/ 320 h 512"/>
                <a:gd name="T90" fmla="*/ 318 w 512"/>
                <a:gd name="T91" fmla="*/ 290 h 512"/>
                <a:gd name="T92" fmla="*/ 361 w 512"/>
                <a:gd name="T93" fmla="*/ 222 h 512"/>
                <a:gd name="T94" fmla="*/ 373 w 512"/>
                <a:gd name="T95" fmla="*/ 224 h 512"/>
                <a:gd name="T96" fmla="*/ 416 w 512"/>
                <a:gd name="T97" fmla="*/ 181 h 512"/>
                <a:gd name="T98" fmla="*/ 373 w 512"/>
                <a:gd name="T99" fmla="*/ 160 h 512"/>
                <a:gd name="T100" fmla="*/ 352 w 512"/>
                <a:gd name="T101" fmla="*/ 181 h 512"/>
                <a:gd name="T102" fmla="*/ 373 w 512"/>
                <a:gd name="T103" fmla="*/ 202 h 512"/>
                <a:gd name="T104" fmla="*/ 394 w 512"/>
                <a:gd name="T105" fmla="*/ 181 h 512"/>
                <a:gd name="T106" fmla="*/ 373 w 512"/>
                <a:gd name="T107"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309" y="320"/>
                  </a:moveTo>
                  <a:cubicBezTo>
                    <a:pt x="309" y="331"/>
                    <a:pt x="299" y="341"/>
                    <a:pt x="288" y="341"/>
                  </a:cubicBezTo>
                  <a:cubicBezTo>
                    <a:pt x="276" y="341"/>
                    <a:pt x="266" y="331"/>
                    <a:pt x="266" y="320"/>
                  </a:cubicBezTo>
                  <a:cubicBezTo>
                    <a:pt x="266" y="308"/>
                    <a:pt x="276" y="298"/>
                    <a:pt x="288" y="298"/>
                  </a:cubicBezTo>
                  <a:cubicBezTo>
                    <a:pt x="299" y="298"/>
                    <a:pt x="309" y="308"/>
                    <a:pt x="309" y="320"/>
                  </a:cubicBezTo>
                  <a:close/>
                  <a:moveTo>
                    <a:pt x="213" y="160"/>
                  </a:moveTo>
                  <a:cubicBezTo>
                    <a:pt x="201" y="160"/>
                    <a:pt x="192" y="169"/>
                    <a:pt x="192" y="181"/>
                  </a:cubicBezTo>
                  <a:cubicBezTo>
                    <a:pt x="192" y="193"/>
                    <a:pt x="201" y="202"/>
                    <a:pt x="213" y="202"/>
                  </a:cubicBezTo>
                  <a:cubicBezTo>
                    <a:pt x="225" y="202"/>
                    <a:pt x="234" y="193"/>
                    <a:pt x="234" y="181"/>
                  </a:cubicBezTo>
                  <a:cubicBezTo>
                    <a:pt x="234" y="169"/>
                    <a:pt x="225" y="160"/>
                    <a:pt x="213" y="160"/>
                  </a:cubicBezTo>
                  <a:close/>
                  <a:moveTo>
                    <a:pt x="138" y="298"/>
                  </a:moveTo>
                  <a:cubicBezTo>
                    <a:pt x="127" y="298"/>
                    <a:pt x="117" y="308"/>
                    <a:pt x="117" y="320"/>
                  </a:cubicBezTo>
                  <a:cubicBezTo>
                    <a:pt x="117" y="331"/>
                    <a:pt x="127" y="341"/>
                    <a:pt x="138" y="341"/>
                  </a:cubicBezTo>
                  <a:cubicBezTo>
                    <a:pt x="150" y="341"/>
                    <a:pt x="160" y="331"/>
                    <a:pt x="160" y="320"/>
                  </a:cubicBezTo>
                  <a:cubicBezTo>
                    <a:pt x="160" y="308"/>
                    <a:pt x="150" y="298"/>
                    <a:pt x="138" y="29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81"/>
                  </a:moveTo>
                  <a:cubicBezTo>
                    <a:pt x="416" y="157"/>
                    <a:pt x="397" y="138"/>
                    <a:pt x="373" y="138"/>
                  </a:cubicBezTo>
                  <a:cubicBezTo>
                    <a:pt x="349" y="138"/>
                    <a:pt x="330" y="157"/>
                    <a:pt x="330" y="181"/>
                  </a:cubicBezTo>
                  <a:cubicBezTo>
                    <a:pt x="330" y="192"/>
                    <a:pt x="335" y="203"/>
                    <a:pt x="342" y="211"/>
                  </a:cubicBezTo>
                  <a:cubicBezTo>
                    <a:pt x="300" y="279"/>
                    <a:pt x="300" y="279"/>
                    <a:pt x="300" y="279"/>
                  </a:cubicBezTo>
                  <a:cubicBezTo>
                    <a:pt x="296" y="278"/>
                    <a:pt x="292" y="277"/>
                    <a:pt x="288" y="277"/>
                  </a:cubicBezTo>
                  <a:cubicBezTo>
                    <a:pt x="284" y="277"/>
                    <a:pt x="281" y="278"/>
                    <a:pt x="278" y="278"/>
                  </a:cubicBezTo>
                  <a:cubicBezTo>
                    <a:pt x="242" y="212"/>
                    <a:pt x="242" y="212"/>
                    <a:pt x="242" y="212"/>
                  </a:cubicBezTo>
                  <a:cubicBezTo>
                    <a:pt x="250" y="204"/>
                    <a:pt x="256" y="193"/>
                    <a:pt x="256" y="181"/>
                  </a:cubicBezTo>
                  <a:cubicBezTo>
                    <a:pt x="256" y="157"/>
                    <a:pt x="237" y="138"/>
                    <a:pt x="213" y="138"/>
                  </a:cubicBezTo>
                  <a:cubicBezTo>
                    <a:pt x="189" y="138"/>
                    <a:pt x="170" y="157"/>
                    <a:pt x="170" y="181"/>
                  </a:cubicBezTo>
                  <a:cubicBezTo>
                    <a:pt x="170" y="193"/>
                    <a:pt x="176" y="204"/>
                    <a:pt x="184" y="212"/>
                  </a:cubicBezTo>
                  <a:cubicBezTo>
                    <a:pt x="148" y="278"/>
                    <a:pt x="148" y="278"/>
                    <a:pt x="148" y="278"/>
                  </a:cubicBezTo>
                  <a:cubicBezTo>
                    <a:pt x="145" y="278"/>
                    <a:pt x="142" y="277"/>
                    <a:pt x="138" y="277"/>
                  </a:cubicBezTo>
                  <a:cubicBezTo>
                    <a:pt x="115" y="277"/>
                    <a:pt x="96" y="296"/>
                    <a:pt x="96" y="320"/>
                  </a:cubicBezTo>
                  <a:cubicBezTo>
                    <a:pt x="96" y="343"/>
                    <a:pt x="115" y="362"/>
                    <a:pt x="138" y="362"/>
                  </a:cubicBezTo>
                  <a:cubicBezTo>
                    <a:pt x="162" y="362"/>
                    <a:pt x="181" y="343"/>
                    <a:pt x="181" y="320"/>
                  </a:cubicBezTo>
                  <a:cubicBezTo>
                    <a:pt x="181" y="307"/>
                    <a:pt x="176" y="296"/>
                    <a:pt x="167" y="288"/>
                  </a:cubicBezTo>
                  <a:cubicBezTo>
                    <a:pt x="203" y="222"/>
                    <a:pt x="203" y="222"/>
                    <a:pt x="203" y="222"/>
                  </a:cubicBezTo>
                  <a:cubicBezTo>
                    <a:pt x="206" y="223"/>
                    <a:pt x="209" y="224"/>
                    <a:pt x="213" y="224"/>
                  </a:cubicBezTo>
                  <a:cubicBezTo>
                    <a:pt x="217" y="224"/>
                    <a:pt x="220" y="223"/>
                    <a:pt x="223" y="222"/>
                  </a:cubicBezTo>
                  <a:cubicBezTo>
                    <a:pt x="259" y="288"/>
                    <a:pt x="259" y="288"/>
                    <a:pt x="259" y="288"/>
                  </a:cubicBezTo>
                  <a:cubicBezTo>
                    <a:pt x="250" y="296"/>
                    <a:pt x="245" y="307"/>
                    <a:pt x="245" y="320"/>
                  </a:cubicBezTo>
                  <a:cubicBezTo>
                    <a:pt x="245" y="343"/>
                    <a:pt x="264" y="362"/>
                    <a:pt x="288" y="362"/>
                  </a:cubicBezTo>
                  <a:cubicBezTo>
                    <a:pt x="311" y="362"/>
                    <a:pt x="330" y="343"/>
                    <a:pt x="330" y="320"/>
                  </a:cubicBezTo>
                  <a:cubicBezTo>
                    <a:pt x="330" y="308"/>
                    <a:pt x="326" y="298"/>
                    <a:pt x="318" y="290"/>
                  </a:cubicBezTo>
                  <a:cubicBezTo>
                    <a:pt x="361" y="222"/>
                    <a:pt x="361" y="222"/>
                    <a:pt x="361" y="222"/>
                  </a:cubicBezTo>
                  <a:cubicBezTo>
                    <a:pt x="365" y="223"/>
                    <a:pt x="369" y="224"/>
                    <a:pt x="373" y="224"/>
                  </a:cubicBezTo>
                  <a:cubicBezTo>
                    <a:pt x="397" y="224"/>
                    <a:pt x="416" y="205"/>
                    <a:pt x="416" y="181"/>
                  </a:cubicBezTo>
                  <a:close/>
                  <a:moveTo>
                    <a:pt x="373" y="160"/>
                  </a:moveTo>
                  <a:cubicBezTo>
                    <a:pt x="361" y="160"/>
                    <a:pt x="352" y="169"/>
                    <a:pt x="352" y="181"/>
                  </a:cubicBezTo>
                  <a:cubicBezTo>
                    <a:pt x="352" y="193"/>
                    <a:pt x="361" y="202"/>
                    <a:pt x="373" y="202"/>
                  </a:cubicBezTo>
                  <a:cubicBezTo>
                    <a:pt x="385" y="202"/>
                    <a:pt x="394" y="193"/>
                    <a:pt x="394" y="181"/>
                  </a:cubicBezTo>
                  <a:cubicBezTo>
                    <a:pt x="394" y="169"/>
                    <a:pt x="385" y="160"/>
                    <a:pt x="373" y="160"/>
                  </a:cubicBezTo>
                  <a:close/>
                </a:path>
              </a:pathLst>
            </a:custGeom>
            <a:solidFill>
              <a:schemeClr val="accent1">
                <a:lumMod val="75000"/>
              </a:schemeClr>
            </a:solidFill>
            <a:ln>
              <a:noFill/>
            </a:ln>
          </p:spPr>
          <p:txBody>
            <a:bodyPr vert="horz" wrap="square" lIns="91440" tIns="45720" rIns="91440" bIns="45720" numCol="1" anchor="ctr"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prstClr val="black"/>
                </a:solidFill>
                <a:effectLst/>
                <a:uLnTx/>
                <a:uFillTx/>
              </a:endParaRPr>
            </a:p>
          </p:txBody>
        </p:sp>
        <p:sp>
          <p:nvSpPr>
            <p:cNvPr id="28" name="Freeform 375">
              <a:extLst>
                <a:ext uri="{FF2B5EF4-FFF2-40B4-BE49-F238E27FC236}">
                  <a16:creationId xmlns:a16="http://schemas.microsoft.com/office/drawing/2014/main" id="{455BDD34-691F-452F-A749-1FB483C7EDDD}"/>
                </a:ext>
              </a:extLst>
            </p:cNvPr>
            <p:cNvSpPr>
              <a:spLocks noChangeAspect="1" noEditPoints="1"/>
            </p:cNvSpPr>
            <p:nvPr/>
          </p:nvSpPr>
          <p:spPr bwMode="auto">
            <a:xfrm>
              <a:off x="6143675" y="5846087"/>
              <a:ext cx="365760" cy="365760"/>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chemeClr val="accent1">
                <a:lumMod val="75000"/>
              </a:schemeClr>
            </a:solidFill>
            <a:ln>
              <a:noFill/>
            </a:ln>
          </p:spPr>
          <p:txBody>
            <a:bodyPr vert="horz" wrap="square" lIns="91440" tIns="45720" rIns="91440" bIns="45720" numCol="1" anchor="ctr"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prstClr val="black"/>
                </a:solidFill>
                <a:effectLst/>
                <a:uLnTx/>
                <a:uFillTx/>
              </a:endParaRPr>
            </a:p>
          </p:txBody>
        </p:sp>
        <p:sp>
          <p:nvSpPr>
            <p:cNvPr id="29" name="TextBox 28">
              <a:extLst>
                <a:ext uri="{FF2B5EF4-FFF2-40B4-BE49-F238E27FC236}">
                  <a16:creationId xmlns:a16="http://schemas.microsoft.com/office/drawing/2014/main" id="{47C97911-7844-4CA8-8175-2CE661C9B507}"/>
                </a:ext>
              </a:extLst>
            </p:cNvPr>
            <p:cNvSpPr txBox="1">
              <a:spLocks/>
            </p:cNvSpPr>
            <p:nvPr/>
          </p:nvSpPr>
          <p:spPr>
            <a:xfrm>
              <a:off x="6618511" y="5844301"/>
              <a:ext cx="2249424" cy="369332"/>
            </a:xfrm>
            <a:prstGeom prst="rect">
              <a:avLst/>
            </a:prstGeom>
          </p:spPr>
          <p:txBody>
            <a:bodyPr vert="horz" wrap="square" lIns="0" tIns="0" rIns="0" bIns="0" rtlCol="0" anchor="ctr">
              <a:sp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defRPr/>
              </a:pPr>
              <a:r>
                <a:rPr lang="en-US" b="1" dirty="0">
                  <a:solidFill>
                    <a:prstClr val="black"/>
                  </a:solidFill>
                </a:rPr>
                <a:t>Continuous Advocacy, Sensitization Workshops &amp; Trainings</a:t>
              </a:r>
            </a:p>
          </p:txBody>
        </p:sp>
        <p:sp>
          <p:nvSpPr>
            <p:cNvPr id="30" name="TextBox 23">
              <a:extLst>
                <a:ext uri="{FF2B5EF4-FFF2-40B4-BE49-F238E27FC236}">
                  <a16:creationId xmlns:a16="http://schemas.microsoft.com/office/drawing/2014/main" id="{9B84A3E2-C9EF-4349-835B-89CF262BE502}"/>
                </a:ext>
              </a:extLst>
            </p:cNvPr>
            <p:cNvSpPr txBox="1">
              <a:spLocks/>
            </p:cNvSpPr>
            <p:nvPr/>
          </p:nvSpPr>
          <p:spPr>
            <a:xfrm>
              <a:off x="9451848" y="5844301"/>
              <a:ext cx="2249424" cy="369332"/>
            </a:xfrm>
            <a:prstGeom prst="rect">
              <a:avLst/>
            </a:prstGeom>
          </p:spPr>
          <p:txBody>
            <a:bodyPr vert="horz" lIns="0" tIns="0" rIns="0" bIns="0" rtlCol="0" anchor="ctr">
              <a:sp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defRPr/>
              </a:pPr>
              <a:r>
                <a:rPr lang="de-DE" b="1" dirty="0">
                  <a:solidFill>
                    <a:prstClr val="black"/>
                  </a:solidFill>
                </a:rPr>
                <a:t>Program &amp; Risk Management</a:t>
              </a:r>
            </a:p>
          </p:txBody>
        </p:sp>
        <p:sp>
          <p:nvSpPr>
            <p:cNvPr id="31" name="Freeform 54">
              <a:extLst>
                <a:ext uri="{FF2B5EF4-FFF2-40B4-BE49-F238E27FC236}">
                  <a16:creationId xmlns:a16="http://schemas.microsoft.com/office/drawing/2014/main" id="{104DC81A-4480-4FCA-BCFA-04FCCDB6EFE6}"/>
                </a:ext>
              </a:extLst>
            </p:cNvPr>
            <p:cNvSpPr>
              <a:spLocks noEditPoints="1"/>
            </p:cNvSpPr>
            <p:nvPr/>
          </p:nvSpPr>
          <p:spPr bwMode="auto">
            <a:xfrm>
              <a:off x="8977011" y="5846087"/>
              <a:ext cx="365760" cy="365760"/>
            </a:xfrm>
            <a:custGeom>
              <a:avLst/>
              <a:gdLst>
                <a:gd name="T0" fmla="*/ 117 w 512"/>
                <a:gd name="T1" fmla="*/ 330 h 512"/>
                <a:gd name="T2" fmla="*/ 160 w 512"/>
                <a:gd name="T3" fmla="*/ 330 h 512"/>
                <a:gd name="T4" fmla="*/ 170 w 512"/>
                <a:gd name="T5" fmla="*/ 341 h 512"/>
                <a:gd name="T6" fmla="*/ 170 w 512"/>
                <a:gd name="T7" fmla="*/ 376 h 512"/>
                <a:gd name="T8" fmla="*/ 205 w 512"/>
                <a:gd name="T9" fmla="*/ 334 h 512"/>
                <a:gd name="T10" fmla="*/ 213 w 512"/>
                <a:gd name="T11" fmla="*/ 330 h 512"/>
                <a:gd name="T12" fmla="*/ 394 w 512"/>
                <a:gd name="T13" fmla="*/ 330 h 512"/>
                <a:gd name="T14" fmla="*/ 394 w 512"/>
                <a:gd name="T15" fmla="*/ 160 h 512"/>
                <a:gd name="T16" fmla="*/ 117 w 512"/>
                <a:gd name="T17" fmla="*/ 160 h 512"/>
                <a:gd name="T18" fmla="*/ 117 w 512"/>
                <a:gd name="T19" fmla="*/ 330 h 512"/>
                <a:gd name="T20" fmla="*/ 298 w 512"/>
                <a:gd name="T21" fmla="*/ 234 h 512"/>
                <a:gd name="T22" fmla="*/ 309 w 512"/>
                <a:gd name="T23" fmla="*/ 245 h 512"/>
                <a:gd name="T24" fmla="*/ 298 w 512"/>
                <a:gd name="T25" fmla="*/ 256 h 512"/>
                <a:gd name="T26" fmla="*/ 288 w 512"/>
                <a:gd name="T27" fmla="*/ 245 h 512"/>
                <a:gd name="T28" fmla="*/ 298 w 512"/>
                <a:gd name="T29" fmla="*/ 234 h 512"/>
                <a:gd name="T30" fmla="*/ 256 w 512"/>
                <a:gd name="T31" fmla="*/ 234 h 512"/>
                <a:gd name="T32" fmla="*/ 266 w 512"/>
                <a:gd name="T33" fmla="*/ 245 h 512"/>
                <a:gd name="T34" fmla="*/ 256 w 512"/>
                <a:gd name="T35" fmla="*/ 256 h 512"/>
                <a:gd name="T36" fmla="*/ 245 w 512"/>
                <a:gd name="T37" fmla="*/ 245 h 512"/>
                <a:gd name="T38" fmla="*/ 256 w 512"/>
                <a:gd name="T39" fmla="*/ 234 h 512"/>
                <a:gd name="T40" fmla="*/ 213 w 512"/>
                <a:gd name="T41" fmla="*/ 234 h 512"/>
                <a:gd name="T42" fmla="*/ 224 w 512"/>
                <a:gd name="T43" fmla="*/ 245 h 512"/>
                <a:gd name="T44" fmla="*/ 213 w 512"/>
                <a:gd name="T45" fmla="*/ 256 h 512"/>
                <a:gd name="T46" fmla="*/ 202 w 512"/>
                <a:gd name="T47" fmla="*/ 245 h 512"/>
                <a:gd name="T48" fmla="*/ 213 w 512"/>
                <a:gd name="T49" fmla="*/ 234 h 512"/>
                <a:gd name="T50" fmla="*/ 256 w 512"/>
                <a:gd name="T51" fmla="*/ 0 h 512"/>
                <a:gd name="T52" fmla="*/ 0 w 512"/>
                <a:gd name="T53" fmla="*/ 256 h 512"/>
                <a:gd name="T54" fmla="*/ 256 w 512"/>
                <a:gd name="T55" fmla="*/ 512 h 512"/>
                <a:gd name="T56" fmla="*/ 512 w 512"/>
                <a:gd name="T57" fmla="*/ 256 h 512"/>
                <a:gd name="T58" fmla="*/ 256 w 512"/>
                <a:gd name="T59" fmla="*/ 0 h 512"/>
                <a:gd name="T60" fmla="*/ 416 w 512"/>
                <a:gd name="T61" fmla="*/ 341 h 512"/>
                <a:gd name="T62" fmla="*/ 405 w 512"/>
                <a:gd name="T63" fmla="*/ 352 h 512"/>
                <a:gd name="T64" fmla="*/ 218 w 512"/>
                <a:gd name="T65" fmla="*/ 352 h 512"/>
                <a:gd name="T66" fmla="*/ 168 w 512"/>
                <a:gd name="T67" fmla="*/ 412 h 512"/>
                <a:gd name="T68" fmla="*/ 160 w 512"/>
                <a:gd name="T69" fmla="*/ 416 h 512"/>
                <a:gd name="T70" fmla="*/ 156 w 512"/>
                <a:gd name="T71" fmla="*/ 415 h 512"/>
                <a:gd name="T72" fmla="*/ 149 w 512"/>
                <a:gd name="T73" fmla="*/ 405 h 512"/>
                <a:gd name="T74" fmla="*/ 149 w 512"/>
                <a:gd name="T75" fmla="*/ 352 h 512"/>
                <a:gd name="T76" fmla="*/ 106 w 512"/>
                <a:gd name="T77" fmla="*/ 352 h 512"/>
                <a:gd name="T78" fmla="*/ 96 w 512"/>
                <a:gd name="T79" fmla="*/ 341 h 512"/>
                <a:gd name="T80" fmla="*/ 96 w 512"/>
                <a:gd name="T81" fmla="*/ 149 h 512"/>
                <a:gd name="T82" fmla="*/ 106 w 512"/>
                <a:gd name="T83" fmla="*/ 138 h 512"/>
                <a:gd name="T84" fmla="*/ 405 w 512"/>
                <a:gd name="T85" fmla="*/ 138 h 512"/>
                <a:gd name="T86" fmla="*/ 416 w 512"/>
                <a:gd name="T87" fmla="*/ 149 h 512"/>
                <a:gd name="T88" fmla="*/ 416 w 512"/>
                <a:gd name="T89" fmla="*/ 34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117" y="330"/>
                  </a:moveTo>
                  <a:cubicBezTo>
                    <a:pt x="160" y="330"/>
                    <a:pt x="160" y="330"/>
                    <a:pt x="160" y="330"/>
                  </a:cubicBezTo>
                  <a:cubicBezTo>
                    <a:pt x="166" y="330"/>
                    <a:pt x="170" y="335"/>
                    <a:pt x="170" y="341"/>
                  </a:cubicBezTo>
                  <a:cubicBezTo>
                    <a:pt x="170" y="376"/>
                    <a:pt x="170" y="376"/>
                    <a:pt x="170" y="376"/>
                  </a:cubicBezTo>
                  <a:cubicBezTo>
                    <a:pt x="205" y="334"/>
                    <a:pt x="205" y="334"/>
                    <a:pt x="205" y="334"/>
                  </a:cubicBezTo>
                  <a:cubicBezTo>
                    <a:pt x="207" y="332"/>
                    <a:pt x="210" y="330"/>
                    <a:pt x="213" y="330"/>
                  </a:cubicBezTo>
                  <a:cubicBezTo>
                    <a:pt x="394" y="330"/>
                    <a:pt x="394" y="330"/>
                    <a:pt x="394" y="330"/>
                  </a:cubicBezTo>
                  <a:cubicBezTo>
                    <a:pt x="394" y="160"/>
                    <a:pt x="394" y="160"/>
                    <a:pt x="394" y="160"/>
                  </a:cubicBezTo>
                  <a:cubicBezTo>
                    <a:pt x="117" y="160"/>
                    <a:pt x="117" y="160"/>
                    <a:pt x="117" y="160"/>
                  </a:cubicBezTo>
                  <a:lnTo>
                    <a:pt x="117" y="330"/>
                  </a:lnTo>
                  <a:close/>
                  <a:moveTo>
                    <a:pt x="298" y="234"/>
                  </a:moveTo>
                  <a:cubicBezTo>
                    <a:pt x="304" y="234"/>
                    <a:pt x="309" y="239"/>
                    <a:pt x="309" y="245"/>
                  </a:cubicBezTo>
                  <a:cubicBezTo>
                    <a:pt x="309" y="251"/>
                    <a:pt x="304" y="256"/>
                    <a:pt x="298" y="256"/>
                  </a:cubicBezTo>
                  <a:cubicBezTo>
                    <a:pt x="292" y="256"/>
                    <a:pt x="288" y="251"/>
                    <a:pt x="288" y="245"/>
                  </a:cubicBezTo>
                  <a:cubicBezTo>
                    <a:pt x="288" y="239"/>
                    <a:pt x="292" y="234"/>
                    <a:pt x="298" y="234"/>
                  </a:cubicBezTo>
                  <a:close/>
                  <a:moveTo>
                    <a:pt x="256" y="234"/>
                  </a:moveTo>
                  <a:cubicBezTo>
                    <a:pt x="262" y="234"/>
                    <a:pt x="266" y="239"/>
                    <a:pt x="266" y="245"/>
                  </a:cubicBezTo>
                  <a:cubicBezTo>
                    <a:pt x="266" y="251"/>
                    <a:pt x="262" y="256"/>
                    <a:pt x="256" y="256"/>
                  </a:cubicBezTo>
                  <a:cubicBezTo>
                    <a:pt x="250" y="256"/>
                    <a:pt x="245" y="251"/>
                    <a:pt x="245" y="245"/>
                  </a:cubicBezTo>
                  <a:cubicBezTo>
                    <a:pt x="245" y="239"/>
                    <a:pt x="250" y="234"/>
                    <a:pt x="256" y="234"/>
                  </a:cubicBezTo>
                  <a:close/>
                  <a:moveTo>
                    <a:pt x="213" y="234"/>
                  </a:moveTo>
                  <a:cubicBezTo>
                    <a:pt x="219" y="234"/>
                    <a:pt x="224" y="239"/>
                    <a:pt x="224" y="245"/>
                  </a:cubicBezTo>
                  <a:cubicBezTo>
                    <a:pt x="224" y="251"/>
                    <a:pt x="219" y="256"/>
                    <a:pt x="213" y="256"/>
                  </a:cubicBezTo>
                  <a:cubicBezTo>
                    <a:pt x="207" y="256"/>
                    <a:pt x="202" y="251"/>
                    <a:pt x="202" y="245"/>
                  </a:cubicBezTo>
                  <a:cubicBezTo>
                    <a:pt x="202" y="239"/>
                    <a:pt x="207" y="234"/>
                    <a:pt x="213" y="234"/>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41"/>
                  </a:moveTo>
                  <a:cubicBezTo>
                    <a:pt x="416" y="347"/>
                    <a:pt x="411" y="352"/>
                    <a:pt x="405" y="352"/>
                  </a:cubicBezTo>
                  <a:cubicBezTo>
                    <a:pt x="218" y="352"/>
                    <a:pt x="218" y="352"/>
                    <a:pt x="218" y="352"/>
                  </a:cubicBezTo>
                  <a:cubicBezTo>
                    <a:pt x="168" y="412"/>
                    <a:pt x="168" y="412"/>
                    <a:pt x="168" y="412"/>
                  </a:cubicBezTo>
                  <a:cubicBezTo>
                    <a:pt x="166" y="414"/>
                    <a:pt x="163" y="416"/>
                    <a:pt x="160" y="416"/>
                  </a:cubicBezTo>
                  <a:cubicBezTo>
                    <a:pt x="158" y="416"/>
                    <a:pt x="157" y="415"/>
                    <a:pt x="156" y="415"/>
                  </a:cubicBezTo>
                  <a:cubicBezTo>
                    <a:pt x="152" y="414"/>
                    <a:pt x="149" y="409"/>
                    <a:pt x="149" y="405"/>
                  </a:cubicBezTo>
                  <a:cubicBezTo>
                    <a:pt x="149" y="352"/>
                    <a:pt x="149" y="352"/>
                    <a:pt x="149" y="352"/>
                  </a:cubicBezTo>
                  <a:cubicBezTo>
                    <a:pt x="106" y="352"/>
                    <a:pt x="106" y="352"/>
                    <a:pt x="106" y="352"/>
                  </a:cubicBezTo>
                  <a:cubicBezTo>
                    <a:pt x="100" y="352"/>
                    <a:pt x="96" y="347"/>
                    <a:pt x="96" y="341"/>
                  </a:cubicBezTo>
                  <a:cubicBezTo>
                    <a:pt x="96" y="149"/>
                    <a:pt x="96" y="149"/>
                    <a:pt x="96" y="149"/>
                  </a:cubicBezTo>
                  <a:cubicBezTo>
                    <a:pt x="96" y="143"/>
                    <a:pt x="100" y="138"/>
                    <a:pt x="106" y="138"/>
                  </a:cubicBezTo>
                  <a:cubicBezTo>
                    <a:pt x="405" y="138"/>
                    <a:pt x="405" y="138"/>
                    <a:pt x="405" y="138"/>
                  </a:cubicBezTo>
                  <a:cubicBezTo>
                    <a:pt x="411" y="138"/>
                    <a:pt x="416" y="143"/>
                    <a:pt x="416" y="149"/>
                  </a:cubicBezTo>
                  <a:lnTo>
                    <a:pt x="416" y="341"/>
                  </a:lnTo>
                  <a:close/>
                </a:path>
              </a:pathLst>
            </a:custGeom>
            <a:solidFill>
              <a:schemeClr val="accent1">
                <a:lumMod val="75000"/>
              </a:schemeClr>
            </a:solidFill>
            <a:ln>
              <a:noFill/>
            </a:ln>
          </p:spPr>
          <p:txBody>
            <a:bodyPr vert="horz" wrap="square" lIns="91440" tIns="45720" rIns="91440" bIns="45720" numCol="1" anchor="ctr"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endParaRPr>
            </a:p>
          </p:txBody>
        </p:sp>
      </p:grpSp>
      <p:cxnSp>
        <p:nvCxnSpPr>
          <p:cNvPr id="32" name="Straight Connector 31">
            <a:extLst>
              <a:ext uri="{FF2B5EF4-FFF2-40B4-BE49-F238E27FC236}">
                <a16:creationId xmlns:a16="http://schemas.microsoft.com/office/drawing/2014/main" id="{22A61AFA-F5E2-4B48-AB7F-09EC6483C0FC}"/>
              </a:ext>
            </a:extLst>
          </p:cNvPr>
          <p:cNvCxnSpPr>
            <a:cxnSpLocks/>
          </p:cNvCxnSpPr>
          <p:nvPr/>
        </p:nvCxnSpPr>
        <p:spPr>
          <a:xfrm>
            <a:off x="477003" y="1222266"/>
            <a:ext cx="11235572" cy="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BA68B57-D33B-42D5-90F2-4CE61C3AA77A}"/>
              </a:ext>
            </a:extLst>
          </p:cNvPr>
          <p:cNvCxnSpPr>
            <a:cxnSpLocks/>
          </p:cNvCxnSpPr>
          <p:nvPr/>
        </p:nvCxnSpPr>
        <p:spPr>
          <a:xfrm>
            <a:off x="11897260" y="1410852"/>
            <a:ext cx="0" cy="337239"/>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66AB146-5251-4458-97A0-0A53A5084D02}"/>
              </a:ext>
            </a:extLst>
          </p:cNvPr>
          <p:cNvSpPr txBox="1"/>
          <p:nvPr/>
        </p:nvSpPr>
        <p:spPr>
          <a:xfrm>
            <a:off x="1753319" y="1445038"/>
            <a:ext cx="1782706" cy="153888"/>
          </a:xfrm>
          <a:prstGeom prst="rect">
            <a:avLst/>
          </a:prstGeom>
          <a:noFill/>
        </p:spPr>
        <p:txBody>
          <a:bodyPr wrap="square" lIns="0" tIns="0" rIns="0" bIns="0" rtlCol="0">
            <a:spAutoFit/>
          </a:bodyPr>
          <a:lstStyle/>
          <a:p>
            <a:pPr algn="ctr">
              <a:spcBef>
                <a:spcPts val="600"/>
              </a:spcBef>
              <a:buSzPct val="100000"/>
            </a:pPr>
            <a:r>
              <a:rPr lang="en-US" sz="1000" dirty="0">
                <a:solidFill>
                  <a:srgbClr val="313131"/>
                </a:solidFill>
              </a:rPr>
              <a:t>3 Months</a:t>
            </a:r>
            <a:endParaRPr lang="en-IN" sz="1000" dirty="0">
              <a:solidFill>
                <a:srgbClr val="313131"/>
              </a:solidFill>
            </a:endParaRPr>
          </a:p>
        </p:txBody>
      </p:sp>
      <p:sp>
        <p:nvSpPr>
          <p:cNvPr id="39" name="TextBox 38">
            <a:extLst>
              <a:ext uri="{FF2B5EF4-FFF2-40B4-BE49-F238E27FC236}">
                <a16:creationId xmlns:a16="http://schemas.microsoft.com/office/drawing/2014/main" id="{E4C8FF92-F48A-45CA-8E0F-334AF45E866F}"/>
              </a:ext>
            </a:extLst>
          </p:cNvPr>
          <p:cNvSpPr txBox="1"/>
          <p:nvPr/>
        </p:nvSpPr>
        <p:spPr>
          <a:xfrm>
            <a:off x="8108221" y="1445038"/>
            <a:ext cx="1254443" cy="153888"/>
          </a:xfrm>
          <a:prstGeom prst="rect">
            <a:avLst/>
          </a:prstGeom>
          <a:noFill/>
        </p:spPr>
        <p:txBody>
          <a:bodyPr wrap="square" lIns="0" tIns="0" rIns="0" bIns="0" rtlCol="0">
            <a:spAutoFit/>
          </a:bodyPr>
          <a:lstStyle/>
          <a:p>
            <a:pPr algn="ctr">
              <a:spcBef>
                <a:spcPts val="600"/>
              </a:spcBef>
              <a:buSzPct val="100000"/>
            </a:pPr>
            <a:r>
              <a:rPr lang="en-US" sz="1000" dirty="0">
                <a:solidFill>
                  <a:srgbClr val="313131"/>
                </a:solidFill>
              </a:rPr>
              <a:t>21 Months</a:t>
            </a:r>
            <a:endParaRPr lang="en-IN" sz="1000" dirty="0">
              <a:solidFill>
                <a:srgbClr val="313131"/>
              </a:solidFill>
            </a:endParaRPr>
          </a:p>
        </p:txBody>
      </p:sp>
      <p:grpSp>
        <p:nvGrpSpPr>
          <p:cNvPr id="152" name="Group 151">
            <a:extLst>
              <a:ext uri="{FF2B5EF4-FFF2-40B4-BE49-F238E27FC236}">
                <a16:creationId xmlns:a16="http://schemas.microsoft.com/office/drawing/2014/main" id="{0FE1EED0-AA3D-4C61-8BD3-ACCB7F8D92E7}"/>
              </a:ext>
            </a:extLst>
          </p:cNvPr>
          <p:cNvGrpSpPr/>
          <p:nvPr/>
        </p:nvGrpSpPr>
        <p:grpSpPr>
          <a:xfrm>
            <a:off x="477003" y="1583055"/>
            <a:ext cx="11237976" cy="107322"/>
            <a:chOff x="477003" y="1583055"/>
            <a:chExt cx="11237976" cy="107322"/>
          </a:xfrm>
        </p:grpSpPr>
        <p:cxnSp>
          <p:nvCxnSpPr>
            <p:cNvPr id="10" name="Straight Connector 9">
              <a:extLst>
                <a:ext uri="{FF2B5EF4-FFF2-40B4-BE49-F238E27FC236}">
                  <a16:creationId xmlns:a16="http://schemas.microsoft.com/office/drawing/2014/main" id="{D4D8A3FC-9F98-4B99-A004-53F66D354143}"/>
                </a:ext>
              </a:extLst>
            </p:cNvPr>
            <p:cNvCxnSpPr>
              <a:cxnSpLocks/>
            </p:cNvCxnSpPr>
            <p:nvPr/>
          </p:nvCxnSpPr>
          <p:spPr>
            <a:xfrm>
              <a:off x="4841201" y="1583055"/>
              <a:ext cx="0" cy="107322"/>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Connector: Elbow 197">
              <a:extLst>
                <a:ext uri="{FF2B5EF4-FFF2-40B4-BE49-F238E27FC236}">
                  <a16:creationId xmlns:a16="http://schemas.microsoft.com/office/drawing/2014/main" id="{B7BCAF6B-27E5-4A11-A009-4C3EC4942C82}"/>
                </a:ext>
              </a:extLst>
            </p:cNvPr>
            <p:cNvCxnSpPr>
              <a:cxnSpLocks/>
            </p:cNvCxnSpPr>
            <p:nvPr/>
          </p:nvCxnSpPr>
          <p:spPr>
            <a:xfrm flipV="1">
              <a:off x="477003" y="1636716"/>
              <a:ext cx="4366552"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197">
              <a:extLst>
                <a:ext uri="{FF2B5EF4-FFF2-40B4-BE49-F238E27FC236}">
                  <a16:creationId xmlns:a16="http://schemas.microsoft.com/office/drawing/2014/main" id="{715F8CDF-514A-46B3-8622-ABABF1354910}"/>
                </a:ext>
              </a:extLst>
            </p:cNvPr>
            <p:cNvCxnSpPr>
              <a:cxnSpLocks/>
            </p:cNvCxnSpPr>
            <p:nvPr/>
          </p:nvCxnSpPr>
          <p:spPr>
            <a:xfrm>
              <a:off x="4843555" y="1636716"/>
              <a:ext cx="6871424"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38" name="Rectangle 137">
            <a:hlinkClick r:id="rId2" action="ppaction://hlinksldjump"/>
            <a:extLst>
              <a:ext uri="{FF2B5EF4-FFF2-40B4-BE49-F238E27FC236}">
                <a16:creationId xmlns:a16="http://schemas.microsoft.com/office/drawing/2014/main" id="{9C6AEC0C-F934-4B7B-A68F-0255EB8D40F2}"/>
              </a:ext>
            </a:extLst>
          </p:cNvPr>
          <p:cNvSpPr/>
          <p:nvPr/>
        </p:nvSpPr>
        <p:spPr bwMode="gray">
          <a:xfrm>
            <a:off x="1213451" y="1039386"/>
            <a:ext cx="1777999"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Imagine</a:t>
            </a:r>
          </a:p>
        </p:txBody>
      </p:sp>
      <p:sp>
        <p:nvSpPr>
          <p:cNvPr id="139" name="Rectangle 138">
            <a:hlinkClick r:id="rId3" action="ppaction://hlinksldjump"/>
            <a:extLst>
              <a:ext uri="{FF2B5EF4-FFF2-40B4-BE49-F238E27FC236}">
                <a16:creationId xmlns:a16="http://schemas.microsoft.com/office/drawing/2014/main" id="{B473E027-ED3A-4984-AEBB-BEE5D4BE1E6C}"/>
              </a:ext>
            </a:extLst>
          </p:cNvPr>
          <p:cNvSpPr/>
          <p:nvPr/>
        </p:nvSpPr>
        <p:spPr bwMode="gray">
          <a:xfrm>
            <a:off x="5034304" y="1039386"/>
            <a:ext cx="1777999"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Deliver</a:t>
            </a:r>
          </a:p>
        </p:txBody>
      </p:sp>
      <p:sp>
        <p:nvSpPr>
          <p:cNvPr id="141" name="Rectangle 140">
            <a:hlinkClick r:id="rId4" action="ppaction://hlinksldjump"/>
            <a:extLst>
              <a:ext uri="{FF2B5EF4-FFF2-40B4-BE49-F238E27FC236}">
                <a16:creationId xmlns:a16="http://schemas.microsoft.com/office/drawing/2014/main" id="{802F30C0-8926-4254-96DE-7AB6F70AFBFA}"/>
              </a:ext>
            </a:extLst>
          </p:cNvPr>
          <p:cNvSpPr/>
          <p:nvPr/>
        </p:nvSpPr>
        <p:spPr bwMode="gray">
          <a:xfrm>
            <a:off x="8980022" y="1039386"/>
            <a:ext cx="1777999"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Run</a:t>
            </a:r>
          </a:p>
        </p:txBody>
      </p:sp>
      <p:sp>
        <p:nvSpPr>
          <p:cNvPr id="140" name="Freeform 36">
            <a:extLst>
              <a:ext uri="{FF2B5EF4-FFF2-40B4-BE49-F238E27FC236}">
                <a16:creationId xmlns:a16="http://schemas.microsoft.com/office/drawing/2014/main" id="{A5675CD9-CF27-4329-9465-41CF3E63DD00}"/>
              </a:ext>
            </a:extLst>
          </p:cNvPr>
          <p:cNvSpPr>
            <a:spLocks noChangeAspect="1" noEditPoints="1"/>
          </p:cNvSpPr>
          <p:nvPr/>
        </p:nvSpPr>
        <p:spPr bwMode="auto">
          <a:xfrm>
            <a:off x="11118215" y="227660"/>
            <a:ext cx="594360" cy="594360"/>
          </a:xfrm>
          <a:custGeom>
            <a:avLst/>
            <a:gdLst>
              <a:gd name="T0" fmla="*/ 324 w 512"/>
              <a:gd name="T1" fmla="*/ 194 h 512"/>
              <a:gd name="T2" fmla="*/ 330 w 512"/>
              <a:gd name="T3" fmla="*/ 167 h 512"/>
              <a:gd name="T4" fmla="*/ 400 w 512"/>
              <a:gd name="T5" fmla="*/ 182 h 512"/>
              <a:gd name="T6" fmla="*/ 386 w 512"/>
              <a:gd name="T7" fmla="*/ 223 h 512"/>
              <a:gd name="T8" fmla="*/ 351 w 512"/>
              <a:gd name="T9" fmla="*/ 247 h 512"/>
              <a:gd name="T10" fmla="*/ 312 w 512"/>
              <a:gd name="T11" fmla="*/ 243 h 512"/>
              <a:gd name="T12" fmla="*/ 278 w 512"/>
              <a:gd name="T13" fmla="*/ 222 h 512"/>
              <a:gd name="T14" fmla="*/ 264 w 512"/>
              <a:gd name="T15" fmla="*/ 183 h 512"/>
              <a:gd name="T16" fmla="*/ 275 w 512"/>
              <a:gd name="T17" fmla="*/ 144 h 512"/>
              <a:gd name="T18" fmla="*/ 308 w 512"/>
              <a:gd name="T19" fmla="*/ 119 h 512"/>
              <a:gd name="T20" fmla="*/ 331 w 512"/>
              <a:gd name="T21" fmla="*/ 128 h 512"/>
              <a:gd name="T22" fmla="*/ 364 w 512"/>
              <a:gd name="T23" fmla="*/ 136 h 512"/>
              <a:gd name="T24" fmla="*/ 384 w 512"/>
              <a:gd name="T25" fmla="*/ 164 h 512"/>
              <a:gd name="T26" fmla="*/ 320 w 512"/>
              <a:gd name="T27" fmla="*/ 147 h 512"/>
              <a:gd name="T28" fmla="*/ 330 w 512"/>
              <a:gd name="T29" fmla="*/ 217 h 512"/>
              <a:gd name="T30" fmla="*/ 512 w 512"/>
              <a:gd name="T31" fmla="*/ 256 h 512"/>
              <a:gd name="T32" fmla="*/ 512 w 512"/>
              <a:gd name="T33" fmla="*/ 256 h 512"/>
              <a:gd name="T34" fmla="*/ 268 w 512"/>
              <a:gd name="T35" fmla="*/ 290 h 512"/>
              <a:gd name="T36" fmla="*/ 236 w 512"/>
              <a:gd name="T37" fmla="*/ 251 h 512"/>
              <a:gd name="T38" fmla="*/ 187 w 512"/>
              <a:gd name="T39" fmla="*/ 238 h 512"/>
              <a:gd name="T40" fmla="*/ 140 w 512"/>
              <a:gd name="T41" fmla="*/ 256 h 512"/>
              <a:gd name="T42" fmla="*/ 113 w 512"/>
              <a:gd name="T43" fmla="*/ 299 h 512"/>
              <a:gd name="T44" fmla="*/ 115 w 512"/>
              <a:gd name="T45" fmla="*/ 350 h 512"/>
              <a:gd name="T46" fmla="*/ 147 w 512"/>
              <a:gd name="T47" fmla="*/ 388 h 512"/>
              <a:gd name="T48" fmla="*/ 196 w 512"/>
              <a:gd name="T49" fmla="*/ 401 h 512"/>
              <a:gd name="T50" fmla="*/ 237 w 512"/>
              <a:gd name="T51" fmla="*/ 383 h 512"/>
              <a:gd name="T52" fmla="*/ 266 w 512"/>
              <a:gd name="T53" fmla="*/ 345 h 512"/>
              <a:gd name="T54" fmla="*/ 410 w 512"/>
              <a:gd name="T55" fmla="*/ 163 h 512"/>
              <a:gd name="T56" fmla="*/ 384 w 512"/>
              <a:gd name="T57" fmla="*/ 119 h 512"/>
              <a:gd name="T58" fmla="*/ 337 w 512"/>
              <a:gd name="T59" fmla="*/ 99 h 512"/>
              <a:gd name="T60" fmla="*/ 288 w 512"/>
              <a:gd name="T61" fmla="*/ 111 h 512"/>
              <a:gd name="T62" fmla="*/ 255 w 512"/>
              <a:gd name="T63" fmla="*/ 149 h 512"/>
              <a:gd name="T64" fmla="*/ 251 w 512"/>
              <a:gd name="T65" fmla="*/ 199 h 512"/>
              <a:gd name="T66" fmla="*/ 277 w 512"/>
              <a:gd name="T67" fmla="*/ 243 h 512"/>
              <a:gd name="T68" fmla="*/ 323 w 512"/>
              <a:gd name="T69" fmla="*/ 263 h 512"/>
              <a:gd name="T70" fmla="*/ 358 w 512"/>
              <a:gd name="T71" fmla="*/ 270 h 512"/>
              <a:gd name="T72" fmla="*/ 405 w 512"/>
              <a:gd name="T73" fmla="*/ 237 h 512"/>
              <a:gd name="T74" fmla="*/ 423 w 512"/>
              <a:gd name="T75" fmla="*/ 182 h 512"/>
              <a:gd name="T76" fmla="*/ 179 w 512"/>
              <a:gd name="T77" fmla="*/ 313 h 512"/>
              <a:gd name="T78" fmla="*/ 204 w 512"/>
              <a:gd name="T79" fmla="*/ 326 h 512"/>
              <a:gd name="T80" fmla="*/ 262 w 512"/>
              <a:gd name="T81" fmla="*/ 321 h 512"/>
              <a:gd name="T82" fmla="*/ 248 w 512"/>
              <a:gd name="T83" fmla="*/ 361 h 512"/>
              <a:gd name="T84" fmla="*/ 212 w 512"/>
              <a:gd name="T85" fmla="*/ 386 h 512"/>
              <a:gd name="T86" fmla="*/ 173 w 512"/>
              <a:gd name="T87" fmla="*/ 382 h 512"/>
              <a:gd name="T88" fmla="*/ 139 w 512"/>
              <a:gd name="T89" fmla="*/ 360 h 512"/>
              <a:gd name="T90" fmla="*/ 125 w 512"/>
              <a:gd name="T91" fmla="*/ 321 h 512"/>
              <a:gd name="T92" fmla="*/ 137 w 512"/>
              <a:gd name="T93" fmla="*/ 282 h 512"/>
              <a:gd name="T94" fmla="*/ 169 w 512"/>
              <a:gd name="T95" fmla="*/ 258 h 512"/>
              <a:gd name="T96" fmla="*/ 193 w 512"/>
              <a:gd name="T97" fmla="*/ 266 h 512"/>
              <a:gd name="T98" fmla="*/ 226 w 512"/>
              <a:gd name="T99" fmla="*/ 274 h 512"/>
              <a:gd name="T100" fmla="*/ 246 w 512"/>
              <a:gd name="T101" fmla="*/ 303 h 512"/>
              <a:gd name="T102" fmla="*/ 181 w 512"/>
              <a:gd name="T103" fmla="*/ 286 h 512"/>
              <a:gd name="T104" fmla="*/ 192 w 512"/>
              <a:gd name="T105" fmla="*/ 35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344" y="177"/>
                </a:moveTo>
                <a:cubicBezTo>
                  <a:pt x="345" y="180"/>
                  <a:pt x="345" y="184"/>
                  <a:pt x="343" y="188"/>
                </a:cubicBezTo>
                <a:cubicBezTo>
                  <a:pt x="341" y="191"/>
                  <a:pt x="338" y="193"/>
                  <a:pt x="335" y="195"/>
                </a:cubicBezTo>
                <a:cubicBezTo>
                  <a:pt x="331" y="196"/>
                  <a:pt x="327" y="195"/>
                  <a:pt x="324" y="194"/>
                </a:cubicBezTo>
                <a:cubicBezTo>
                  <a:pt x="320" y="192"/>
                  <a:pt x="318" y="189"/>
                  <a:pt x="317" y="185"/>
                </a:cubicBezTo>
                <a:cubicBezTo>
                  <a:pt x="316" y="182"/>
                  <a:pt x="316" y="178"/>
                  <a:pt x="318" y="174"/>
                </a:cubicBezTo>
                <a:cubicBezTo>
                  <a:pt x="320" y="171"/>
                  <a:pt x="322" y="169"/>
                  <a:pt x="326" y="167"/>
                </a:cubicBezTo>
                <a:cubicBezTo>
                  <a:pt x="328" y="167"/>
                  <a:pt x="329" y="167"/>
                  <a:pt x="330" y="167"/>
                </a:cubicBezTo>
                <a:cubicBezTo>
                  <a:pt x="333" y="167"/>
                  <a:pt x="335" y="167"/>
                  <a:pt x="337" y="168"/>
                </a:cubicBezTo>
                <a:cubicBezTo>
                  <a:pt x="340" y="170"/>
                  <a:pt x="343" y="173"/>
                  <a:pt x="344" y="177"/>
                </a:cubicBezTo>
                <a:close/>
                <a:moveTo>
                  <a:pt x="397" y="179"/>
                </a:moveTo>
                <a:cubicBezTo>
                  <a:pt x="398" y="180"/>
                  <a:pt x="399" y="181"/>
                  <a:pt x="400" y="182"/>
                </a:cubicBezTo>
                <a:cubicBezTo>
                  <a:pt x="399" y="183"/>
                  <a:pt x="398" y="184"/>
                  <a:pt x="397" y="185"/>
                </a:cubicBezTo>
                <a:cubicBezTo>
                  <a:pt x="392" y="189"/>
                  <a:pt x="386" y="193"/>
                  <a:pt x="384" y="199"/>
                </a:cubicBezTo>
                <a:cubicBezTo>
                  <a:pt x="382" y="206"/>
                  <a:pt x="384" y="212"/>
                  <a:pt x="385" y="218"/>
                </a:cubicBezTo>
                <a:cubicBezTo>
                  <a:pt x="386" y="220"/>
                  <a:pt x="386" y="221"/>
                  <a:pt x="386" y="223"/>
                </a:cubicBezTo>
                <a:cubicBezTo>
                  <a:pt x="385" y="223"/>
                  <a:pt x="383" y="223"/>
                  <a:pt x="382" y="223"/>
                </a:cubicBezTo>
                <a:cubicBezTo>
                  <a:pt x="376" y="223"/>
                  <a:pt x="369" y="223"/>
                  <a:pt x="363" y="227"/>
                </a:cubicBezTo>
                <a:cubicBezTo>
                  <a:pt x="357" y="231"/>
                  <a:pt x="355" y="237"/>
                  <a:pt x="353" y="243"/>
                </a:cubicBezTo>
                <a:cubicBezTo>
                  <a:pt x="352" y="244"/>
                  <a:pt x="352" y="246"/>
                  <a:pt x="351" y="247"/>
                </a:cubicBezTo>
                <a:cubicBezTo>
                  <a:pt x="350" y="246"/>
                  <a:pt x="348" y="244"/>
                  <a:pt x="347" y="244"/>
                </a:cubicBezTo>
                <a:cubicBezTo>
                  <a:pt x="342" y="240"/>
                  <a:pt x="336" y="234"/>
                  <a:pt x="330" y="234"/>
                </a:cubicBezTo>
                <a:cubicBezTo>
                  <a:pt x="329" y="234"/>
                  <a:pt x="329" y="234"/>
                  <a:pt x="329" y="234"/>
                </a:cubicBezTo>
                <a:cubicBezTo>
                  <a:pt x="322" y="234"/>
                  <a:pt x="317" y="240"/>
                  <a:pt x="312" y="243"/>
                </a:cubicBezTo>
                <a:cubicBezTo>
                  <a:pt x="311" y="244"/>
                  <a:pt x="309" y="246"/>
                  <a:pt x="308" y="247"/>
                </a:cubicBezTo>
                <a:cubicBezTo>
                  <a:pt x="307" y="246"/>
                  <a:pt x="307" y="244"/>
                  <a:pt x="306" y="243"/>
                </a:cubicBezTo>
                <a:cubicBezTo>
                  <a:pt x="304" y="237"/>
                  <a:pt x="302" y="230"/>
                  <a:pt x="296" y="226"/>
                </a:cubicBezTo>
                <a:cubicBezTo>
                  <a:pt x="291" y="222"/>
                  <a:pt x="284" y="222"/>
                  <a:pt x="278" y="222"/>
                </a:cubicBezTo>
                <a:cubicBezTo>
                  <a:pt x="277" y="222"/>
                  <a:pt x="275" y="222"/>
                  <a:pt x="273" y="221"/>
                </a:cubicBezTo>
                <a:cubicBezTo>
                  <a:pt x="274" y="220"/>
                  <a:pt x="274" y="218"/>
                  <a:pt x="274" y="217"/>
                </a:cubicBezTo>
                <a:cubicBezTo>
                  <a:pt x="276" y="211"/>
                  <a:pt x="278" y="204"/>
                  <a:pt x="276" y="198"/>
                </a:cubicBezTo>
                <a:cubicBezTo>
                  <a:pt x="274" y="191"/>
                  <a:pt x="269" y="187"/>
                  <a:pt x="264" y="183"/>
                </a:cubicBezTo>
                <a:cubicBezTo>
                  <a:pt x="263" y="182"/>
                  <a:pt x="261" y="181"/>
                  <a:pt x="260" y="180"/>
                </a:cubicBezTo>
                <a:cubicBezTo>
                  <a:pt x="262" y="179"/>
                  <a:pt x="263" y="178"/>
                  <a:pt x="264" y="177"/>
                </a:cubicBezTo>
                <a:cubicBezTo>
                  <a:pt x="269" y="173"/>
                  <a:pt x="275" y="169"/>
                  <a:pt x="277" y="163"/>
                </a:cubicBezTo>
                <a:cubicBezTo>
                  <a:pt x="279" y="156"/>
                  <a:pt x="277" y="150"/>
                  <a:pt x="275" y="144"/>
                </a:cubicBezTo>
                <a:cubicBezTo>
                  <a:pt x="275" y="142"/>
                  <a:pt x="275" y="141"/>
                  <a:pt x="274" y="139"/>
                </a:cubicBezTo>
                <a:cubicBezTo>
                  <a:pt x="276" y="139"/>
                  <a:pt x="278" y="139"/>
                  <a:pt x="279" y="139"/>
                </a:cubicBezTo>
                <a:cubicBezTo>
                  <a:pt x="285" y="139"/>
                  <a:pt x="292" y="139"/>
                  <a:pt x="298" y="135"/>
                </a:cubicBezTo>
                <a:cubicBezTo>
                  <a:pt x="303" y="131"/>
                  <a:pt x="306" y="125"/>
                  <a:pt x="308" y="119"/>
                </a:cubicBezTo>
                <a:cubicBezTo>
                  <a:pt x="308" y="118"/>
                  <a:pt x="309" y="116"/>
                  <a:pt x="310" y="115"/>
                </a:cubicBezTo>
                <a:cubicBezTo>
                  <a:pt x="311" y="116"/>
                  <a:pt x="313" y="118"/>
                  <a:pt x="314" y="118"/>
                </a:cubicBezTo>
                <a:cubicBezTo>
                  <a:pt x="319" y="122"/>
                  <a:pt x="324" y="128"/>
                  <a:pt x="331" y="128"/>
                </a:cubicBezTo>
                <a:cubicBezTo>
                  <a:pt x="331" y="128"/>
                  <a:pt x="331" y="128"/>
                  <a:pt x="331" y="128"/>
                </a:cubicBezTo>
                <a:cubicBezTo>
                  <a:pt x="338" y="128"/>
                  <a:pt x="344" y="122"/>
                  <a:pt x="349" y="119"/>
                </a:cubicBezTo>
                <a:cubicBezTo>
                  <a:pt x="350" y="118"/>
                  <a:pt x="352" y="116"/>
                  <a:pt x="353" y="115"/>
                </a:cubicBezTo>
                <a:cubicBezTo>
                  <a:pt x="353" y="116"/>
                  <a:pt x="354" y="118"/>
                  <a:pt x="354" y="119"/>
                </a:cubicBezTo>
                <a:cubicBezTo>
                  <a:pt x="356" y="125"/>
                  <a:pt x="359" y="132"/>
                  <a:pt x="364" y="136"/>
                </a:cubicBezTo>
                <a:cubicBezTo>
                  <a:pt x="370" y="140"/>
                  <a:pt x="377" y="140"/>
                  <a:pt x="383" y="140"/>
                </a:cubicBezTo>
                <a:cubicBezTo>
                  <a:pt x="384" y="140"/>
                  <a:pt x="386" y="140"/>
                  <a:pt x="387" y="141"/>
                </a:cubicBezTo>
                <a:cubicBezTo>
                  <a:pt x="387" y="142"/>
                  <a:pt x="387" y="144"/>
                  <a:pt x="386" y="145"/>
                </a:cubicBezTo>
                <a:cubicBezTo>
                  <a:pt x="384" y="151"/>
                  <a:pt x="382" y="158"/>
                  <a:pt x="384" y="164"/>
                </a:cubicBezTo>
                <a:cubicBezTo>
                  <a:pt x="386" y="171"/>
                  <a:pt x="392" y="175"/>
                  <a:pt x="397" y="179"/>
                </a:cubicBezTo>
                <a:close/>
                <a:moveTo>
                  <a:pt x="364" y="170"/>
                </a:moveTo>
                <a:cubicBezTo>
                  <a:pt x="361" y="161"/>
                  <a:pt x="355" y="154"/>
                  <a:pt x="347" y="150"/>
                </a:cubicBezTo>
                <a:cubicBezTo>
                  <a:pt x="338" y="145"/>
                  <a:pt x="329" y="144"/>
                  <a:pt x="320" y="147"/>
                </a:cubicBezTo>
                <a:cubicBezTo>
                  <a:pt x="311" y="150"/>
                  <a:pt x="303" y="156"/>
                  <a:pt x="299" y="164"/>
                </a:cubicBezTo>
                <a:cubicBezTo>
                  <a:pt x="294" y="173"/>
                  <a:pt x="294" y="182"/>
                  <a:pt x="296" y="192"/>
                </a:cubicBezTo>
                <a:cubicBezTo>
                  <a:pt x="299" y="201"/>
                  <a:pt x="305" y="208"/>
                  <a:pt x="314" y="212"/>
                </a:cubicBezTo>
                <a:cubicBezTo>
                  <a:pt x="319" y="215"/>
                  <a:pt x="325" y="217"/>
                  <a:pt x="330" y="217"/>
                </a:cubicBezTo>
                <a:cubicBezTo>
                  <a:pt x="334" y="217"/>
                  <a:pt x="337" y="216"/>
                  <a:pt x="341" y="215"/>
                </a:cubicBezTo>
                <a:cubicBezTo>
                  <a:pt x="350" y="212"/>
                  <a:pt x="357" y="206"/>
                  <a:pt x="362" y="198"/>
                </a:cubicBezTo>
                <a:cubicBezTo>
                  <a:pt x="366" y="189"/>
                  <a:pt x="367" y="180"/>
                  <a:pt x="364" y="17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84" y="321"/>
                </a:moveTo>
                <a:cubicBezTo>
                  <a:pt x="285" y="312"/>
                  <a:pt x="277" y="306"/>
                  <a:pt x="271" y="301"/>
                </a:cubicBezTo>
                <a:cubicBezTo>
                  <a:pt x="270" y="300"/>
                  <a:pt x="267" y="298"/>
                  <a:pt x="266" y="297"/>
                </a:cubicBezTo>
                <a:cubicBezTo>
                  <a:pt x="266" y="295"/>
                  <a:pt x="267" y="292"/>
                  <a:pt x="268" y="290"/>
                </a:cubicBezTo>
                <a:cubicBezTo>
                  <a:pt x="270" y="283"/>
                  <a:pt x="273" y="274"/>
                  <a:pt x="267" y="266"/>
                </a:cubicBezTo>
                <a:cubicBezTo>
                  <a:pt x="262" y="258"/>
                  <a:pt x="252" y="258"/>
                  <a:pt x="245" y="258"/>
                </a:cubicBezTo>
                <a:cubicBezTo>
                  <a:pt x="243" y="258"/>
                  <a:pt x="240" y="257"/>
                  <a:pt x="238" y="257"/>
                </a:cubicBezTo>
                <a:cubicBezTo>
                  <a:pt x="238" y="256"/>
                  <a:pt x="237" y="253"/>
                  <a:pt x="236" y="251"/>
                </a:cubicBezTo>
                <a:cubicBezTo>
                  <a:pt x="234" y="244"/>
                  <a:pt x="231" y="235"/>
                  <a:pt x="222" y="232"/>
                </a:cubicBezTo>
                <a:cubicBezTo>
                  <a:pt x="213" y="229"/>
                  <a:pt x="204" y="234"/>
                  <a:pt x="199" y="238"/>
                </a:cubicBezTo>
                <a:cubicBezTo>
                  <a:pt x="197" y="239"/>
                  <a:pt x="194" y="241"/>
                  <a:pt x="193" y="242"/>
                </a:cubicBezTo>
                <a:cubicBezTo>
                  <a:pt x="191" y="241"/>
                  <a:pt x="189" y="239"/>
                  <a:pt x="187" y="238"/>
                </a:cubicBezTo>
                <a:cubicBezTo>
                  <a:pt x="182" y="234"/>
                  <a:pt x="173" y="228"/>
                  <a:pt x="164" y="231"/>
                </a:cubicBezTo>
                <a:cubicBezTo>
                  <a:pt x="155" y="234"/>
                  <a:pt x="152" y="243"/>
                  <a:pt x="149" y="250"/>
                </a:cubicBezTo>
                <a:cubicBezTo>
                  <a:pt x="148" y="252"/>
                  <a:pt x="147" y="255"/>
                  <a:pt x="147" y="256"/>
                </a:cubicBezTo>
                <a:cubicBezTo>
                  <a:pt x="145" y="256"/>
                  <a:pt x="142" y="256"/>
                  <a:pt x="140" y="256"/>
                </a:cubicBezTo>
                <a:cubicBezTo>
                  <a:pt x="133" y="256"/>
                  <a:pt x="123" y="257"/>
                  <a:pt x="117" y="264"/>
                </a:cubicBezTo>
                <a:cubicBezTo>
                  <a:pt x="112" y="272"/>
                  <a:pt x="114" y="281"/>
                  <a:pt x="116" y="288"/>
                </a:cubicBezTo>
                <a:cubicBezTo>
                  <a:pt x="117" y="290"/>
                  <a:pt x="118" y="293"/>
                  <a:pt x="118" y="295"/>
                </a:cubicBezTo>
                <a:cubicBezTo>
                  <a:pt x="117" y="296"/>
                  <a:pt x="114" y="298"/>
                  <a:pt x="113" y="299"/>
                </a:cubicBezTo>
                <a:cubicBezTo>
                  <a:pt x="107" y="303"/>
                  <a:pt x="99" y="309"/>
                  <a:pt x="99" y="318"/>
                </a:cubicBezTo>
                <a:cubicBezTo>
                  <a:pt x="99" y="328"/>
                  <a:pt x="106" y="334"/>
                  <a:pt x="112" y="338"/>
                </a:cubicBezTo>
                <a:cubicBezTo>
                  <a:pt x="114" y="340"/>
                  <a:pt x="117" y="342"/>
                  <a:pt x="117" y="342"/>
                </a:cubicBezTo>
                <a:cubicBezTo>
                  <a:pt x="117" y="344"/>
                  <a:pt x="116" y="347"/>
                  <a:pt x="115" y="350"/>
                </a:cubicBezTo>
                <a:cubicBezTo>
                  <a:pt x="113" y="357"/>
                  <a:pt x="110" y="366"/>
                  <a:pt x="116" y="373"/>
                </a:cubicBezTo>
                <a:cubicBezTo>
                  <a:pt x="121" y="381"/>
                  <a:pt x="131" y="381"/>
                  <a:pt x="138" y="382"/>
                </a:cubicBezTo>
                <a:cubicBezTo>
                  <a:pt x="140" y="382"/>
                  <a:pt x="143" y="382"/>
                  <a:pt x="145" y="382"/>
                </a:cubicBezTo>
                <a:cubicBezTo>
                  <a:pt x="146" y="384"/>
                  <a:pt x="147" y="387"/>
                  <a:pt x="147" y="388"/>
                </a:cubicBezTo>
                <a:cubicBezTo>
                  <a:pt x="150" y="395"/>
                  <a:pt x="153" y="404"/>
                  <a:pt x="162" y="408"/>
                </a:cubicBezTo>
                <a:cubicBezTo>
                  <a:pt x="171" y="411"/>
                  <a:pt x="179" y="405"/>
                  <a:pt x="185" y="401"/>
                </a:cubicBezTo>
                <a:cubicBezTo>
                  <a:pt x="186" y="400"/>
                  <a:pt x="189" y="398"/>
                  <a:pt x="191" y="398"/>
                </a:cubicBezTo>
                <a:cubicBezTo>
                  <a:pt x="192" y="398"/>
                  <a:pt x="194" y="400"/>
                  <a:pt x="196" y="401"/>
                </a:cubicBezTo>
                <a:cubicBezTo>
                  <a:pt x="201" y="405"/>
                  <a:pt x="207" y="409"/>
                  <a:pt x="214" y="409"/>
                </a:cubicBezTo>
                <a:cubicBezTo>
                  <a:pt x="216" y="409"/>
                  <a:pt x="217" y="409"/>
                  <a:pt x="219" y="408"/>
                </a:cubicBezTo>
                <a:cubicBezTo>
                  <a:pt x="228" y="405"/>
                  <a:pt x="232" y="396"/>
                  <a:pt x="234" y="389"/>
                </a:cubicBezTo>
                <a:cubicBezTo>
                  <a:pt x="235" y="387"/>
                  <a:pt x="236" y="385"/>
                  <a:pt x="237" y="383"/>
                </a:cubicBezTo>
                <a:cubicBezTo>
                  <a:pt x="238" y="383"/>
                  <a:pt x="241" y="383"/>
                  <a:pt x="244" y="383"/>
                </a:cubicBezTo>
                <a:cubicBezTo>
                  <a:pt x="251" y="383"/>
                  <a:pt x="260" y="383"/>
                  <a:pt x="266" y="375"/>
                </a:cubicBezTo>
                <a:cubicBezTo>
                  <a:pt x="272" y="368"/>
                  <a:pt x="269" y="358"/>
                  <a:pt x="267" y="351"/>
                </a:cubicBezTo>
                <a:cubicBezTo>
                  <a:pt x="267" y="349"/>
                  <a:pt x="266" y="346"/>
                  <a:pt x="266" y="345"/>
                </a:cubicBezTo>
                <a:cubicBezTo>
                  <a:pt x="267" y="344"/>
                  <a:pt x="269" y="342"/>
                  <a:pt x="271" y="341"/>
                </a:cubicBezTo>
                <a:cubicBezTo>
                  <a:pt x="276" y="336"/>
                  <a:pt x="284" y="331"/>
                  <a:pt x="284" y="321"/>
                </a:cubicBezTo>
                <a:close/>
                <a:moveTo>
                  <a:pt x="423" y="182"/>
                </a:moveTo>
                <a:cubicBezTo>
                  <a:pt x="423" y="173"/>
                  <a:pt x="416" y="167"/>
                  <a:pt x="410" y="163"/>
                </a:cubicBezTo>
                <a:cubicBezTo>
                  <a:pt x="408" y="161"/>
                  <a:pt x="406" y="159"/>
                  <a:pt x="405" y="158"/>
                </a:cubicBezTo>
                <a:cubicBezTo>
                  <a:pt x="405" y="156"/>
                  <a:pt x="406" y="153"/>
                  <a:pt x="407" y="151"/>
                </a:cubicBezTo>
                <a:cubicBezTo>
                  <a:pt x="409" y="144"/>
                  <a:pt x="412" y="135"/>
                  <a:pt x="406" y="127"/>
                </a:cubicBezTo>
                <a:cubicBezTo>
                  <a:pt x="401" y="120"/>
                  <a:pt x="391" y="119"/>
                  <a:pt x="384" y="119"/>
                </a:cubicBezTo>
                <a:cubicBezTo>
                  <a:pt x="382" y="119"/>
                  <a:pt x="379" y="119"/>
                  <a:pt x="377" y="118"/>
                </a:cubicBezTo>
                <a:cubicBezTo>
                  <a:pt x="376" y="117"/>
                  <a:pt x="375" y="114"/>
                  <a:pt x="375" y="112"/>
                </a:cubicBezTo>
                <a:cubicBezTo>
                  <a:pt x="372" y="105"/>
                  <a:pt x="369" y="96"/>
                  <a:pt x="360" y="93"/>
                </a:cubicBezTo>
                <a:cubicBezTo>
                  <a:pt x="351" y="90"/>
                  <a:pt x="343" y="95"/>
                  <a:pt x="337" y="99"/>
                </a:cubicBezTo>
                <a:cubicBezTo>
                  <a:pt x="336" y="101"/>
                  <a:pt x="333" y="102"/>
                  <a:pt x="331" y="103"/>
                </a:cubicBezTo>
                <a:cubicBezTo>
                  <a:pt x="330" y="102"/>
                  <a:pt x="328" y="101"/>
                  <a:pt x="326" y="99"/>
                </a:cubicBezTo>
                <a:cubicBezTo>
                  <a:pt x="320" y="95"/>
                  <a:pt x="312" y="89"/>
                  <a:pt x="303" y="92"/>
                </a:cubicBezTo>
                <a:cubicBezTo>
                  <a:pt x="294" y="95"/>
                  <a:pt x="290" y="105"/>
                  <a:pt x="288" y="111"/>
                </a:cubicBezTo>
                <a:cubicBezTo>
                  <a:pt x="287" y="113"/>
                  <a:pt x="286" y="116"/>
                  <a:pt x="285" y="117"/>
                </a:cubicBezTo>
                <a:cubicBezTo>
                  <a:pt x="284" y="118"/>
                  <a:pt x="281" y="118"/>
                  <a:pt x="279" y="118"/>
                </a:cubicBezTo>
                <a:cubicBezTo>
                  <a:pt x="271" y="118"/>
                  <a:pt x="262" y="118"/>
                  <a:pt x="256" y="125"/>
                </a:cubicBezTo>
                <a:cubicBezTo>
                  <a:pt x="250" y="133"/>
                  <a:pt x="253" y="142"/>
                  <a:pt x="255" y="149"/>
                </a:cubicBezTo>
                <a:cubicBezTo>
                  <a:pt x="255" y="151"/>
                  <a:pt x="256" y="154"/>
                  <a:pt x="256" y="156"/>
                </a:cubicBezTo>
                <a:cubicBezTo>
                  <a:pt x="255" y="157"/>
                  <a:pt x="253" y="159"/>
                  <a:pt x="251" y="160"/>
                </a:cubicBezTo>
                <a:cubicBezTo>
                  <a:pt x="246" y="164"/>
                  <a:pt x="238" y="170"/>
                  <a:pt x="238" y="180"/>
                </a:cubicBezTo>
                <a:cubicBezTo>
                  <a:pt x="237" y="189"/>
                  <a:pt x="245" y="195"/>
                  <a:pt x="251" y="199"/>
                </a:cubicBezTo>
                <a:cubicBezTo>
                  <a:pt x="252" y="201"/>
                  <a:pt x="255" y="203"/>
                  <a:pt x="256" y="204"/>
                </a:cubicBezTo>
                <a:cubicBezTo>
                  <a:pt x="256" y="205"/>
                  <a:pt x="255" y="209"/>
                  <a:pt x="254" y="211"/>
                </a:cubicBezTo>
                <a:cubicBezTo>
                  <a:pt x="252" y="218"/>
                  <a:pt x="249" y="227"/>
                  <a:pt x="255" y="235"/>
                </a:cubicBezTo>
                <a:cubicBezTo>
                  <a:pt x="260" y="242"/>
                  <a:pt x="270" y="243"/>
                  <a:pt x="277" y="243"/>
                </a:cubicBezTo>
                <a:cubicBezTo>
                  <a:pt x="279" y="243"/>
                  <a:pt x="282" y="243"/>
                  <a:pt x="284" y="244"/>
                </a:cubicBezTo>
                <a:cubicBezTo>
                  <a:pt x="284" y="245"/>
                  <a:pt x="285" y="248"/>
                  <a:pt x="286" y="250"/>
                </a:cubicBezTo>
                <a:cubicBezTo>
                  <a:pt x="288" y="257"/>
                  <a:pt x="291" y="266"/>
                  <a:pt x="300" y="269"/>
                </a:cubicBezTo>
                <a:cubicBezTo>
                  <a:pt x="309" y="272"/>
                  <a:pt x="317" y="267"/>
                  <a:pt x="323" y="263"/>
                </a:cubicBezTo>
                <a:cubicBezTo>
                  <a:pt x="325" y="261"/>
                  <a:pt x="328" y="260"/>
                  <a:pt x="329" y="259"/>
                </a:cubicBezTo>
                <a:cubicBezTo>
                  <a:pt x="331" y="260"/>
                  <a:pt x="333" y="261"/>
                  <a:pt x="335" y="263"/>
                </a:cubicBezTo>
                <a:cubicBezTo>
                  <a:pt x="339" y="266"/>
                  <a:pt x="346" y="270"/>
                  <a:pt x="353" y="270"/>
                </a:cubicBezTo>
                <a:cubicBezTo>
                  <a:pt x="354" y="270"/>
                  <a:pt x="356" y="270"/>
                  <a:pt x="358" y="270"/>
                </a:cubicBezTo>
                <a:cubicBezTo>
                  <a:pt x="367" y="267"/>
                  <a:pt x="370" y="257"/>
                  <a:pt x="373" y="251"/>
                </a:cubicBezTo>
                <a:cubicBezTo>
                  <a:pt x="374" y="249"/>
                  <a:pt x="375" y="246"/>
                  <a:pt x="375" y="245"/>
                </a:cubicBezTo>
                <a:cubicBezTo>
                  <a:pt x="377" y="244"/>
                  <a:pt x="380" y="244"/>
                  <a:pt x="382" y="244"/>
                </a:cubicBezTo>
                <a:cubicBezTo>
                  <a:pt x="389" y="244"/>
                  <a:pt x="399" y="244"/>
                  <a:pt x="405" y="237"/>
                </a:cubicBezTo>
                <a:cubicBezTo>
                  <a:pt x="410" y="229"/>
                  <a:pt x="408" y="220"/>
                  <a:pt x="406" y="213"/>
                </a:cubicBezTo>
                <a:cubicBezTo>
                  <a:pt x="405" y="211"/>
                  <a:pt x="404" y="208"/>
                  <a:pt x="404" y="206"/>
                </a:cubicBezTo>
                <a:cubicBezTo>
                  <a:pt x="405" y="205"/>
                  <a:pt x="408" y="203"/>
                  <a:pt x="409" y="202"/>
                </a:cubicBezTo>
                <a:cubicBezTo>
                  <a:pt x="415" y="198"/>
                  <a:pt x="423" y="192"/>
                  <a:pt x="423" y="182"/>
                </a:cubicBezTo>
                <a:close/>
                <a:moveTo>
                  <a:pt x="198" y="307"/>
                </a:moveTo>
                <a:cubicBezTo>
                  <a:pt x="196" y="306"/>
                  <a:pt x="194" y="305"/>
                  <a:pt x="192" y="305"/>
                </a:cubicBezTo>
                <a:cubicBezTo>
                  <a:pt x="190" y="305"/>
                  <a:pt x="189" y="306"/>
                  <a:pt x="187" y="306"/>
                </a:cubicBezTo>
                <a:cubicBezTo>
                  <a:pt x="184" y="307"/>
                  <a:pt x="181" y="310"/>
                  <a:pt x="179" y="313"/>
                </a:cubicBezTo>
                <a:cubicBezTo>
                  <a:pt x="177" y="316"/>
                  <a:pt x="177" y="320"/>
                  <a:pt x="178" y="324"/>
                </a:cubicBezTo>
                <a:cubicBezTo>
                  <a:pt x="179" y="328"/>
                  <a:pt x="182" y="330"/>
                  <a:pt x="185" y="332"/>
                </a:cubicBezTo>
                <a:cubicBezTo>
                  <a:pt x="188" y="334"/>
                  <a:pt x="192" y="334"/>
                  <a:pt x="196" y="333"/>
                </a:cubicBezTo>
                <a:cubicBezTo>
                  <a:pt x="200" y="332"/>
                  <a:pt x="202" y="330"/>
                  <a:pt x="204" y="326"/>
                </a:cubicBezTo>
                <a:cubicBezTo>
                  <a:pt x="206" y="323"/>
                  <a:pt x="206" y="319"/>
                  <a:pt x="205" y="315"/>
                </a:cubicBezTo>
                <a:cubicBezTo>
                  <a:pt x="204" y="312"/>
                  <a:pt x="202" y="309"/>
                  <a:pt x="198" y="307"/>
                </a:cubicBezTo>
                <a:close/>
                <a:moveTo>
                  <a:pt x="258" y="318"/>
                </a:moveTo>
                <a:cubicBezTo>
                  <a:pt x="259" y="319"/>
                  <a:pt x="261" y="320"/>
                  <a:pt x="262" y="321"/>
                </a:cubicBezTo>
                <a:cubicBezTo>
                  <a:pt x="260" y="322"/>
                  <a:pt x="259" y="323"/>
                  <a:pt x="258" y="324"/>
                </a:cubicBezTo>
                <a:cubicBezTo>
                  <a:pt x="253" y="327"/>
                  <a:pt x="247" y="331"/>
                  <a:pt x="245" y="338"/>
                </a:cubicBezTo>
                <a:cubicBezTo>
                  <a:pt x="243" y="344"/>
                  <a:pt x="245" y="351"/>
                  <a:pt x="247" y="357"/>
                </a:cubicBezTo>
                <a:cubicBezTo>
                  <a:pt x="247" y="358"/>
                  <a:pt x="247" y="360"/>
                  <a:pt x="248" y="361"/>
                </a:cubicBezTo>
                <a:cubicBezTo>
                  <a:pt x="246" y="362"/>
                  <a:pt x="244" y="362"/>
                  <a:pt x="243" y="362"/>
                </a:cubicBezTo>
                <a:cubicBezTo>
                  <a:pt x="237" y="362"/>
                  <a:pt x="230" y="362"/>
                  <a:pt x="224" y="366"/>
                </a:cubicBezTo>
                <a:cubicBezTo>
                  <a:pt x="219" y="370"/>
                  <a:pt x="216" y="376"/>
                  <a:pt x="214" y="382"/>
                </a:cubicBezTo>
                <a:cubicBezTo>
                  <a:pt x="214" y="383"/>
                  <a:pt x="213" y="384"/>
                  <a:pt x="212" y="386"/>
                </a:cubicBezTo>
                <a:cubicBezTo>
                  <a:pt x="211" y="385"/>
                  <a:pt x="209" y="383"/>
                  <a:pt x="208" y="382"/>
                </a:cubicBezTo>
                <a:cubicBezTo>
                  <a:pt x="203" y="379"/>
                  <a:pt x="198" y="373"/>
                  <a:pt x="191" y="373"/>
                </a:cubicBezTo>
                <a:cubicBezTo>
                  <a:pt x="191" y="373"/>
                  <a:pt x="191" y="373"/>
                  <a:pt x="191" y="373"/>
                </a:cubicBezTo>
                <a:cubicBezTo>
                  <a:pt x="184" y="373"/>
                  <a:pt x="178" y="378"/>
                  <a:pt x="173" y="382"/>
                </a:cubicBezTo>
                <a:cubicBezTo>
                  <a:pt x="172" y="383"/>
                  <a:pt x="170" y="385"/>
                  <a:pt x="169" y="386"/>
                </a:cubicBezTo>
                <a:cubicBezTo>
                  <a:pt x="169" y="385"/>
                  <a:pt x="168" y="383"/>
                  <a:pt x="168" y="382"/>
                </a:cubicBezTo>
                <a:cubicBezTo>
                  <a:pt x="166" y="376"/>
                  <a:pt x="163" y="369"/>
                  <a:pt x="158" y="365"/>
                </a:cubicBezTo>
                <a:cubicBezTo>
                  <a:pt x="152" y="361"/>
                  <a:pt x="145" y="361"/>
                  <a:pt x="139" y="360"/>
                </a:cubicBezTo>
                <a:cubicBezTo>
                  <a:pt x="138" y="360"/>
                  <a:pt x="136" y="360"/>
                  <a:pt x="135" y="360"/>
                </a:cubicBezTo>
                <a:cubicBezTo>
                  <a:pt x="135" y="359"/>
                  <a:pt x="135" y="357"/>
                  <a:pt x="136" y="356"/>
                </a:cubicBezTo>
                <a:cubicBezTo>
                  <a:pt x="138" y="350"/>
                  <a:pt x="140" y="343"/>
                  <a:pt x="138" y="336"/>
                </a:cubicBezTo>
                <a:cubicBezTo>
                  <a:pt x="136" y="330"/>
                  <a:pt x="130" y="325"/>
                  <a:pt x="125" y="321"/>
                </a:cubicBezTo>
                <a:cubicBezTo>
                  <a:pt x="124" y="321"/>
                  <a:pt x="123" y="320"/>
                  <a:pt x="122" y="319"/>
                </a:cubicBezTo>
                <a:cubicBezTo>
                  <a:pt x="123" y="318"/>
                  <a:pt x="124" y="317"/>
                  <a:pt x="125" y="316"/>
                </a:cubicBezTo>
                <a:cubicBezTo>
                  <a:pt x="130" y="312"/>
                  <a:pt x="136" y="308"/>
                  <a:pt x="138" y="302"/>
                </a:cubicBezTo>
                <a:cubicBezTo>
                  <a:pt x="140" y="295"/>
                  <a:pt x="138" y="288"/>
                  <a:pt x="137" y="282"/>
                </a:cubicBezTo>
                <a:cubicBezTo>
                  <a:pt x="136" y="281"/>
                  <a:pt x="136" y="279"/>
                  <a:pt x="136" y="278"/>
                </a:cubicBezTo>
                <a:cubicBezTo>
                  <a:pt x="137" y="278"/>
                  <a:pt x="139" y="278"/>
                  <a:pt x="140" y="278"/>
                </a:cubicBezTo>
                <a:cubicBezTo>
                  <a:pt x="146" y="278"/>
                  <a:pt x="153" y="278"/>
                  <a:pt x="159" y="274"/>
                </a:cubicBezTo>
                <a:cubicBezTo>
                  <a:pt x="165" y="270"/>
                  <a:pt x="167" y="263"/>
                  <a:pt x="169" y="258"/>
                </a:cubicBezTo>
                <a:cubicBezTo>
                  <a:pt x="170" y="256"/>
                  <a:pt x="170" y="255"/>
                  <a:pt x="171" y="253"/>
                </a:cubicBezTo>
                <a:cubicBezTo>
                  <a:pt x="172" y="254"/>
                  <a:pt x="174" y="256"/>
                  <a:pt x="175" y="257"/>
                </a:cubicBezTo>
                <a:cubicBezTo>
                  <a:pt x="180" y="261"/>
                  <a:pt x="186" y="266"/>
                  <a:pt x="192" y="266"/>
                </a:cubicBezTo>
                <a:cubicBezTo>
                  <a:pt x="193" y="266"/>
                  <a:pt x="193" y="266"/>
                  <a:pt x="193" y="266"/>
                </a:cubicBezTo>
                <a:cubicBezTo>
                  <a:pt x="200" y="266"/>
                  <a:pt x="205" y="261"/>
                  <a:pt x="210" y="257"/>
                </a:cubicBezTo>
                <a:cubicBezTo>
                  <a:pt x="211" y="257"/>
                  <a:pt x="213" y="254"/>
                  <a:pt x="214" y="253"/>
                </a:cubicBezTo>
                <a:cubicBezTo>
                  <a:pt x="215" y="255"/>
                  <a:pt x="215" y="257"/>
                  <a:pt x="216" y="258"/>
                </a:cubicBezTo>
                <a:cubicBezTo>
                  <a:pt x="218" y="264"/>
                  <a:pt x="220" y="270"/>
                  <a:pt x="226" y="274"/>
                </a:cubicBezTo>
                <a:cubicBezTo>
                  <a:pt x="231" y="278"/>
                  <a:pt x="238" y="279"/>
                  <a:pt x="244" y="279"/>
                </a:cubicBezTo>
                <a:cubicBezTo>
                  <a:pt x="245" y="279"/>
                  <a:pt x="247" y="279"/>
                  <a:pt x="249" y="279"/>
                </a:cubicBezTo>
                <a:cubicBezTo>
                  <a:pt x="248" y="281"/>
                  <a:pt x="248" y="282"/>
                  <a:pt x="248" y="283"/>
                </a:cubicBezTo>
                <a:cubicBezTo>
                  <a:pt x="246" y="289"/>
                  <a:pt x="244" y="296"/>
                  <a:pt x="246" y="303"/>
                </a:cubicBezTo>
                <a:cubicBezTo>
                  <a:pt x="248" y="310"/>
                  <a:pt x="253" y="314"/>
                  <a:pt x="258" y="318"/>
                </a:cubicBezTo>
                <a:close/>
                <a:moveTo>
                  <a:pt x="226" y="309"/>
                </a:moveTo>
                <a:cubicBezTo>
                  <a:pt x="223" y="300"/>
                  <a:pt x="217" y="293"/>
                  <a:pt x="208" y="288"/>
                </a:cubicBezTo>
                <a:cubicBezTo>
                  <a:pt x="200" y="284"/>
                  <a:pt x="190" y="283"/>
                  <a:pt x="181" y="286"/>
                </a:cubicBezTo>
                <a:cubicBezTo>
                  <a:pt x="172" y="289"/>
                  <a:pt x="165" y="295"/>
                  <a:pt x="160" y="303"/>
                </a:cubicBezTo>
                <a:cubicBezTo>
                  <a:pt x="156" y="312"/>
                  <a:pt x="155" y="321"/>
                  <a:pt x="158" y="330"/>
                </a:cubicBezTo>
                <a:cubicBezTo>
                  <a:pt x="161" y="339"/>
                  <a:pt x="167" y="347"/>
                  <a:pt x="175" y="351"/>
                </a:cubicBezTo>
                <a:cubicBezTo>
                  <a:pt x="180" y="354"/>
                  <a:pt x="186" y="355"/>
                  <a:pt x="192" y="355"/>
                </a:cubicBezTo>
                <a:cubicBezTo>
                  <a:pt x="195" y="355"/>
                  <a:pt x="199" y="355"/>
                  <a:pt x="202" y="354"/>
                </a:cubicBezTo>
                <a:cubicBezTo>
                  <a:pt x="211" y="351"/>
                  <a:pt x="219" y="345"/>
                  <a:pt x="223" y="336"/>
                </a:cubicBezTo>
                <a:cubicBezTo>
                  <a:pt x="228" y="328"/>
                  <a:pt x="228" y="318"/>
                  <a:pt x="226" y="30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93090460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US" dirty="0"/>
              <a:t>Maturity Assessment for Ministries/ Departments and States</a:t>
            </a:r>
            <a:endParaRPr lang="en-IN" dirty="0"/>
          </a:p>
        </p:txBody>
      </p:sp>
      <p:sp>
        <p:nvSpPr>
          <p:cNvPr id="101" name="Freeform 364">
            <a:extLst>
              <a:ext uri="{FF2B5EF4-FFF2-40B4-BE49-F238E27FC236}">
                <a16:creationId xmlns:a16="http://schemas.microsoft.com/office/drawing/2014/main" id="{102D20B2-FBBB-4B3B-9109-486006D939E0}"/>
              </a:ext>
            </a:extLst>
          </p:cNvPr>
          <p:cNvSpPr>
            <a:spLocks noChangeAspect="1" noEditPoints="1"/>
          </p:cNvSpPr>
          <p:nvPr/>
        </p:nvSpPr>
        <p:spPr bwMode="auto">
          <a:xfrm>
            <a:off x="11116467" y="227660"/>
            <a:ext cx="596108" cy="594360"/>
          </a:xfrm>
          <a:custGeom>
            <a:avLst/>
            <a:gdLst>
              <a:gd name="T0" fmla="*/ 0 w 512"/>
              <a:gd name="T1" fmla="*/ 256 h 512"/>
              <a:gd name="T2" fmla="*/ 512 w 512"/>
              <a:gd name="T3" fmla="*/ 256 h 512"/>
              <a:gd name="T4" fmla="*/ 117 w 512"/>
              <a:gd name="T5" fmla="*/ 362 h 512"/>
              <a:gd name="T6" fmla="*/ 96 w 512"/>
              <a:gd name="T7" fmla="*/ 362 h 512"/>
              <a:gd name="T8" fmla="*/ 106 w 512"/>
              <a:gd name="T9" fmla="*/ 330 h 512"/>
              <a:gd name="T10" fmla="*/ 117 w 512"/>
              <a:gd name="T11" fmla="*/ 362 h 512"/>
              <a:gd name="T12" fmla="*/ 149 w 512"/>
              <a:gd name="T13" fmla="*/ 373 h 512"/>
              <a:gd name="T14" fmla="*/ 138 w 512"/>
              <a:gd name="T15" fmla="*/ 320 h 512"/>
              <a:gd name="T16" fmla="*/ 160 w 512"/>
              <a:gd name="T17" fmla="*/ 320 h 512"/>
              <a:gd name="T18" fmla="*/ 202 w 512"/>
              <a:gd name="T19" fmla="*/ 362 h 512"/>
              <a:gd name="T20" fmla="*/ 181 w 512"/>
              <a:gd name="T21" fmla="*/ 362 h 512"/>
              <a:gd name="T22" fmla="*/ 192 w 512"/>
              <a:gd name="T23" fmla="*/ 277 h 512"/>
              <a:gd name="T24" fmla="*/ 202 w 512"/>
              <a:gd name="T25" fmla="*/ 362 h 512"/>
              <a:gd name="T26" fmla="*/ 234 w 512"/>
              <a:gd name="T27" fmla="*/ 373 h 512"/>
              <a:gd name="T28" fmla="*/ 224 w 512"/>
              <a:gd name="T29" fmla="*/ 277 h 512"/>
              <a:gd name="T30" fmla="*/ 245 w 512"/>
              <a:gd name="T31" fmla="*/ 277 h 512"/>
              <a:gd name="T32" fmla="*/ 288 w 512"/>
              <a:gd name="T33" fmla="*/ 362 h 512"/>
              <a:gd name="T34" fmla="*/ 266 w 512"/>
              <a:gd name="T35" fmla="*/ 362 h 512"/>
              <a:gd name="T36" fmla="*/ 277 w 512"/>
              <a:gd name="T37" fmla="*/ 266 h 512"/>
              <a:gd name="T38" fmla="*/ 288 w 512"/>
              <a:gd name="T39" fmla="*/ 362 h 512"/>
              <a:gd name="T40" fmla="*/ 320 w 512"/>
              <a:gd name="T41" fmla="*/ 373 h 512"/>
              <a:gd name="T42" fmla="*/ 309 w 512"/>
              <a:gd name="T43" fmla="*/ 245 h 512"/>
              <a:gd name="T44" fmla="*/ 330 w 512"/>
              <a:gd name="T45" fmla="*/ 245 h 512"/>
              <a:gd name="T46" fmla="*/ 373 w 512"/>
              <a:gd name="T47" fmla="*/ 362 h 512"/>
              <a:gd name="T48" fmla="*/ 352 w 512"/>
              <a:gd name="T49" fmla="*/ 362 h 512"/>
              <a:gd name="T50" fmla="*/ 362 w 512"/>
              <a:gd name="T51" fmla="*/ 202 h 512"/>
              <a:gd name="T52" fmla="*/ 373 w 512"/>
              <a:gd name="T53" fmla="*/ 362 h 512"/>
              <a:gd name="T54" fmla="*/ 384 w 512"/>
              <a:gd name="T55" fmla="*/ 181 h 512"/>
              <a:gd name="T56" fmla="*/ 373 w 512"/>
              <a:gd name="T57" fmla="*/ 153 h 512"/>
              <a:gd name="T58" fmla="*/ 277 w 512"/>
              <a:gd name="T59" fmla="*/ 245 h 512"/>
              <a:gd name="T60" fmla="*/ 113 w 512"/>
              <a:gd name="T61" fmla="*/ 307 h 512"/>
              <a:gd name="T62" fmla="*/ 98 w 512"/>
              <a:gd name="T63" fmla="*/ 305 h 512"/>
              <a:gd name="T64" fmla="*/ 185 w 512"/>
              <a:gd name="T65" fmla="*/ 226 h 512"/>
              <a:gd name="T66" fmla="*/ 273 w 512"/>
              <a:gd name="T67" fmla="*/ 224 h 512"/>
              <a:gd name="T68" fmla="*/ 341 w 512"/>
              <a:gd name="T69" fmla="*/ 138 h 512"/>
              <a:gd name="T70" fmla="*/ 341 w 512"/>
              <a:gd name="T71" fmla="*/ 117 h 512"/>
              <a:gd name="T72" fmla="*/ 388 w 512"/>
              <a:gd name="T73" fmla="*/ 118 h 512"/>
              <a:gd name="T74" fmla="*/ 394 w 512"/>
              <a:gd name="T75"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17" y="362"/>
                </a:moveTo>
                <a:cubicBezTo>
                  <a:pt x="117" y="368"/>
                  <a:pt x="112" y="373"/>
                  <a:pt x="106" y="373"/>
                </a:cubicBezTo>
                <a:cubicBezTo>
                  <a:pt x="100" y="373"/>
                  <a:pt x="96" y="368"/>
                  <a:pt x="96" y="362"/>
                </a:cubicBezTo>
                <a:cubicBezTo>
                  <a:pt x="96" y="341"/>
                  <a:pt x="96" y="341"/>
                  <a:pt x="96" y="341"/>
                </a:cubicBezTo>
                <a:cubicBezTo>
                  <a:pt x="96" y="335"/>
                  <a:pt x="100" y="330"/>
                  <a:pt x="106" y="330"/>
                </a:cubicBezTo>
                <a:cubicBezTo>
                  <a:pt x="112" y="330"/>
                  <a:pt x="117" y="335"/>
                  <a:pt x="117" y="341"/>
                </a:cubicBezTo>
                <a:lnTo>
                  <a:pt x="117" y="362"/>
                </a:lnTo>
                <a:close/>
                <a:moveTo>
                  <a:pt x="160" y="362"/>
                </a:moveTo>
                <a:cubicBezTo>
                  <a:pt x="160" y="368"/>
                  <a:pt x="155" y="373"/>
                  <a:pt x="149" y="373"/>
                </a:cubicBezTo>
                <a:cubicBezTo>
                  <a:pt x="143" y="373"/>
                  <a:pt x="138" y="368"/>
                  <a:pt x="138" y="362"/>
                </a:cubicBezTo>
                <a:cubicBezTo>
                  <a:pt x="138" y="320"/>
                  <a:pt x="138" y="320"/>
                  <a:pt x="138" y="320"/>
                </a:cubicBezTo>
                <a:cubicBezTo>
                  <a:pt x="138" y="314"/>
                  <a:pt x="143" y="309"/>
                  <a:pt x="149" y="309"/>
                </a:cubicBezTo>
                <a:cubicBezTo>
                  <a:pt x="155" y="309"/>
                  <a:pt x="160" y="314"/>
                  <a:pt x="160" y="320"/>
                </a:cubicBezTo>
                <a:lnTo>
                  <a:pt x="160" y="362"/>
                </a:lnTo>
                <a:close/>
                <a:moveTo>
                  <a:pt x="202" y="362"/>
                </a:moveTo>
                <a:cubicBezTo>
                  <a:pt x="202" y="368"/>
                  <a:pt x="198" y="373"/>
                  <a:pt x="192" y="373"/>
                </a:cubicBezTo>
                <a:cubicBezTo>
                  <a:pt x="186" y="373"/>
                  <a:pt x="181" y="368"/>
                  <a:pt x="181" y="362"/>
                </a:cubicBezTo>
                <a:cubicBezTo>
                  <a:pt x="181" y="288"/>
                  <a:pt x="181" y="288"/>
                  <a:pt x="181" y="288"/>
                </a:cubicBezTo>
                <a:cubicBezTo>
                  <a:pt x="181" y="282"/>
                  <a:pt x="186" y="277"/>
                  <a:pt x="192" y="277"/>
                </a:cubicBezTo>
                <a:cubicBezTo>
                  <a:pt x="198" y="277"/>
                  <a:pt x="202" y="282"/>
                  <a:pt x="202" y="288"/>
                </a:cubicBezTo>
                <a:lnTo>
                  <a:pt x="202" y="362"/>
                </a:lnTo>
                <a:close/>
                <a:moveTo>
                  <a:pt x="245" y="362"/>
                </a:moveTo>
                <a:cubicBezTo>
                  <a:pt x="245" y="368"/>
                  <a:pt x="240" y="373"/>
                  <a:pt x="234" y="373"/>
                </a:cubicBezTo>
                <a:cubicBezTo>
                  <a:pt x="228" y="373"/>
                  <a:pt x="224" y="368"/>
                  <a:pt x="224" y="362"/>
                </a:cubicBezTo>
                <a:cubicBezTo>
                  <a:pt x="224" y="277"/>
                  <a:pt x="224" y="277"/>
                  <a:pt x="224" y="277"/>
                </a:cubicBezTo>
                <a:cubicBezTo>
                  <a:pt x="224" y="271"/>
                  <a:pt x="228" y="266"/>
                  <a:pt x="234" y="266"/>
                </a:cubicBezTo>
                <a:cubicBezTo>
                  <a:pt x="240" y="266"/>
                  <a:pt x="245" y="271"/>
                  <a:pt x="245" y="277"/>
                </a:cubicBezTo>
                <a:lnTo>
                  <a:pt x="245" y="362"/>
                </a:lnTo>
                <a:close/>
                <a:moveTo>
                  <a:pt x="288" y="362"/>
                </a:moveTo>
                <a:cubicBezTo>
                  <a:pt x="288" y="368"/>
                  <a:pt x="283" y="373"/>
                  <a:pt x="277" y="373"/>
                </a:cubicBezTo>
                <a:cubicBezTo>
                  <a:pt x="271" y="373"/>
                  <a:pt x="266" y="368"/>
                  <a:pt x="266" y="362"/>
                </a:cubicBezTo>
                <a:cubicBezTo>
                  <a:pt x="266" y="277"/>
                  <a:pt x="266" y="277"/>
                  <a:pt x="266" y="277"/>
                </a:cubicBezTo>
                <a:cubicBezTo>
                  <a:pt x="266" y="271"/>
                  <a:pt x="271" y="266"/>
                  <a:pt x="277" y="266"/>
                </a:cubicBezTo>
                <a:cubicBezTo>
                  <a:pt x="283" y="266"/>
                  <a:pt x="288" y="271"/>
                  <a:pt x="288" y="277"/>
                </a:cubicBezTo>
                <a:lnTo>
                  <a:pt x="288" y="362"/>
                </a:lnTo>
                <a:close/>
                <a:moveTo>
                  <a:pt x="330" y="362"/>
                </a:moveTo>
                <a:cubicBezTo>
                  <a:pt x="330" y="368"/>
                  <a:pt x="326" y="373"/>
                  <a:pt x="320" y="373"/>
                </a:cubicBezTo>
                <a:cubicBezTo>
                  <a:pt x="314" y="373"/>
                  <a:pt x="309" y="368"/>
                  <a:pt x="309" y="362"/>
                </a:cubicBezTo>
                <a:cubicBezTo>
                  <a:pt x="309" y="245"/>
                  <a:pt x="309" y="245"/>
                  <a:pt x="309" y="245"/>
                </a:cubicBezTo>
                <a:cubicBezTo>
                  <a:pt x="309" y="239"/>
                  <a:pt x="314" y="234"/>
                  <a:pt x="320" y="234"/>
                </a:cubicBezTo>
                <a:cubicBezTo>
                  <a:pt x="326" y="234"/>
                  <a:pt x="330" y="239"/>
                  <a:pt x="330" y="245"/>
                </a:cubicBezTo>
                <a:lnTo>
                  <a:pt x="330" y="362"/>
                </a:lnTo>
                <a:close/>
                <a:moveTo>
                  <a:pt x="373" y="362"/>
                </a:moveTo>
                <a:cubicBezTo>
                  <a:pt x="373" y="368"/>
                  <a:pt x="368" y="373"/>
                  <a:pt x="362" y="373"/>
                </a:cubicBezTo>
                <a:cubicBezTo>
                  <a:pt x="356" y="373"/>
                  <a:pt x="352" y="368"/>
                  <a:pt x="352" y="362"/>
                </a:cubicBezTo>
                <a:cubicBezTo>
                  <a:pt x="352" y="213"/>
                  <a:pt x="352" y="213"/>
                  <a:pt x="352" y="213"/>
                </a:cubicBezTo>
                <a:cubicBezTo>
                  <a:pt x="352" y="207"/>
                  <a:pt x="356" y="202"/>
                  <a:pt x="362" y="202"/>
                </a:cubicBezTo>
                <a:cubicBezTo>
                  <a:pt x="368" y="202"/>
                  <a:pt x="373" y="207"/>
                  <a:pt x="373" y="213"/>
                </a:cubicBezTo>
                <a:lnTo>
                  <a:pt x="373" y="362"/>
                </a:lnTo>
                <a:close/>
                <a:moveTo>
                  <a:pt x="394" y="170"/>
                </a:moveTo>
                <a:cubicBezTo>
                  <a:pt x="394" y="176"/>
                  <a:pt x="390" y="181"/>
                  <a:pt x="384" y="181"/>
                </a:cubicBezTo>
                <a:cubicBezTo>
                  <a:pt x="378" y="181"/>
                  <a:pt x="373" y="176"/>
                  <a:pt x="373" y="170"/>
                </a:cubicBezTo>
                <a:cubicBezTo>
                  <a:pt x="373" y="153"/>
                  <a:pt x="373" y="153"/>
                  <a:pt x="373" y="153"/>
                </a:cubicBezTo>
                <a:cubicBezTo>
                  <a:pt x="285" y="242"/>
                  <a:pt x="285" y="242"/>
                  <a:pt x="285" y="242"/>
                </a:cubicBezTo>
                <a:cubicBezTo>
                  <a:pt x="283" y="244"/>
                  <a:pt x="280" y="245"/>
                  <a:pt x="277" y="245"/>
                </a:cubicBezTo>
                <a:cubicBezTo>
                  <a:pt x="195" y="245"/>
                  <a:pt x="195" y="245"/>
                  <a:pt x="195" y="245"/>
                </a:cubicBezTo>
                <a:cubicBezTo>
                  <a:pt x="113" y="307"/>
                  <a:pt x="113" y="307"/>
                  <a:pt x="113" y="307"/>
                </a:cubicBezTo>
                <a:cubicBezTo>
                  <a:pt x="111" y="308"/>
                  <a:pt x="109" y="309"/>
                  <a:pt x="106" y="309"/>
                </a:cubicBezTo>
                <a:cubicBezTo>
                  <a:pt x="103" y="309"/>
                  <a:pt x="100" y="308"/>
                  <a:pt x="98" y="305"/>
                </a:cubicBezTo>
                <a:cubicBezTo>
                  <a:pt x="94" y="300"/>
                  <a:pt x="95" y="293"/>
                  <a:pt x="100" y="290"/>
                </a:cubicBezTo>
                <a:cubicBezTo>
                  <a:pt x="185" y="226"/>
                  <a:pt x="185" y="226"/>
                  <a:pt x="185" y="226"/>
                </a:cubicBezTo>
                <a:cubicBezTo>
                  <a:pt x="187" y="224"/>
                  <a:pt x="189" y="224"/>
                  <a:pt x="192" y="224"/>
                </a:cubicBezTo>
                <a:cubicBezTo>
                  <a:pt x="273" y="224"/>
                  <a:pt x="273" y="224"/>
                  <a:pt x="273" y="224"/>
                </a:cubicBezTo>
                <a:cubicBezTo>
                  <a:pt x="358" y="138"/>
                  <a:pt x="358" y="138"/>
                  <a:pt x="358" y="138"/>
                </a:cubicBezTo>
                <a:cubicBezTo>
                  <a:pt x="341" y="138"/>
                  <a:pt x="341" y="138"/>
                  <a:pt x="341" y="138"/>
                </a:cubicBezTo>
                <a:cubicBezTo>
                  <a:pt x="335" y="138"/>
                  <a:pt x="330" y="134"/>
                  <a:pt x="330" y="128"/>
                </a:cubicBezTo>
                <a:cubicBezTo>
                  <a:pt x="330" y="122"/>
                  <a:pt x="335" y="117"/>
                  <a:pt x="341" y="117"/>
                </a:cubicBezTo>
                <a:cubicBezTo>
                  <a:pt x="384" y="117"/>
                  <a:pt x="384" y="117"/>
                  <a:pt x="384" y="117"/>
                </a:cubicBezTo>
                <a:cubicBezTo>
                  <a:pt x="385" y="117"/>
                  <a:pt x="386" y="117"/>
                  <a:pt x="388" y="118"/>
                </a:cubicBezTo>
                <a:cubicBezTo>
                  <a:pt x="390" y="119"/>
                  <a:pt x="392" y="121"/>
                  <a:pt x="394" y="124"/>
                </a:cubicBezTo>
                <a:cubicBezTo>
                  <a:pt x="394" y="125"/>
                  <a:pt x="394" y="126"/>
                  <a:pt x="394" y="128"/>
                </a:cubicBezTo>
                <a:lnTo>
                  <a:pt x="394" y="17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3" name="Group 2">
            <a:extLst>
              <a:ext uri="{FF2B5EF4-FFF2-40B4-BE49-F238E27FC236}">
                <a16:creationId xmlns:a16="http://schemas.microsoft.com/office/drawing/2014/main" id="{494B6E7A-B207-498D-94FC-34288611A450}"/>
              </a:ext>
            </a:extLst>
          </p:cNvPr>
          <p:cNvGrpSpPr/>
          <p:nvPr/>
        </p:nvGrpSpPr>
        <p:grpSpPr>
          <a:xfrm>
            <a:off x="365760" y="1027610"/>
            <a:ext cx="11573691" cy="5179015"/>
            <a:chOff x="1" y="619125"/>
            <a:chExt cx="12191999" cy="6219794"/>
          </a:xfrm>
        </p:grpSpPr>
        <p:sp>
          <p:nvSpPr>
            <p:cNvPr id="25" name="Cube 24">
              <a:extLst>
                <a:ext uri="{FF2B5EF4-FFF2-40B4-BE49-F238E27FC236}">
                  <a16:creationId xmlns:a16="http://schemas.microsoft.com/office/drawing/2014/main" id="{D61FB2D8-4BC7-4FCE-834C-0A2FEFA590CF}"/>
                </a:ext>
              </a:extLst>
            </p:cNvPr>
            <p:cNvSpPr/>
            <p:nvPr/>
          </p:nvSpPr>
          <p:spPr>
            <a:xfrm>
              <a:off x="1" y="4157710"/>
              <a:ext cx="1963722" cy="1726910"/>
            </a:xfrm>
            <a:prstGeom prst="cube">
              <a:avLst>
                <a:gd name="adj" fmla="val 119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26" name="Cube 25">
              <a:extLst>
                <a:ext uri="{FF2B5EF4-FFF2-40B4-BE49-F238E27FC236}">
                  <a16:creationId xmlns:a16="http://schemas.microsoft.com/office/drawing/2014/main" id="{BED574F0-DEBB-41C5-A736-DCBA3EF91A3C}"/>
                </a:ext>
              </a:extLst>
            </p:cNvPr>
            <p:cNvSpPr/>
            <p:nvPr/>
          </p:nvSpPr>
          <p:spPr>
            <a:xfrm>
              <a:off x="1757660" y="3521602"/>
              <a:ext cx="2286945" cy="1992971"/>
            </a:xfrm>
            <a:prstGeom prst="cube">
              <a:avLst>
                <a:gd name="adj" fmla="val 876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27" name="Cube 26">
              <a:extLst>
                <a:ext uri="{FF2B5EF4-FFF2-40B4-BE49-F238E27FC236}">
                  <a16:creationId xmlns:a16="http://schemas.microsoft.com/office/drawing/2014/main" id="{DB01B32D-60D1-4C6E-BAA9-6D40A4E144FA}"/>
                </a:ext>
              </a:extLst>
            </p:cNvPr>
            <p:cNvSpPr/>
            <p:nvPr/>
          </p:nvSpPr>
          <p:spPr>
            <a:xfrm>
              <a:off x="3862141" y="3016837"/>
              <a:ext cx="2092193" cy="1992970"/>
            </a:xfrm>
            <a:prstGeom prst="cube">
              <a:avLst>
                <a:gd name="adj" fmla="val 440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28" name="Cube 27">
              <a:extLst>
                <a:ext uri="{FF2B5EF4-FFF2-40B4-BE49-F238E27FC236}">
                  <a16:creationId xmlns:a16="http://schemas.microsoft.com/office/drawing/2014/main" id="{BAC6E783-FE08-4A4C-B834-BF370ED68AC1}"/>
                </a:ext>
              </a:extLst>
            </p:cNvPr>
            <p:cNvSpPr/>
            <p:nvPr/>
          </p:nvSpPr>
          <p:spPr>
            <a:xfrm>
              <a:off x="5883971" y="2366468"/>
              <a:ext cx="2054851" cy="2194868"/>
            </a:xfrm>
            <a:prstGeom prst="cube">
              <a:avLst>
                <a:gd name="adj" fmla="val 440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29" name="Cube 28">
              <a:extLst>
                <a:ext uri="{FF2B5EF4-FFF2-40B4-BE49-F238E27FC236}">
                  <a16:creationId xmlns:a16="http://schemas.microsoft.com/office/drawing/2014/main" id="{E4B0AE82-48FA-4FF3-B7D1-98CDA06E0845}"/>
                </a:ext>
              </a:extLst>
            </p:cNvPr>
            <p:cNvSpPr/>
            <p:nvPr/>
          </p:nvSpPr>
          <p:spPr>
            <a:xfrm>
              <a:off x="7861933" y="1906392"/>
              <a:ext cx="2178045" cy="2194868"/>
            </a:xfrm>
            <a:prstGeom prst="cube">
              <a:avLst>
                <a:gd name="adj" fmla="val 440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30" name="TextBox 29">
              <a:extLst>
                <a:ext uri="{FF2B5EF4-FFF2-40B4-BE49-F238E27FC236}">
                  <a16:creationId xmlns:a16="http://schemas.microsoft.com/office/drawing/2014/main" id="{3242B72F-1A2A-4263-8471-B3F687A5C917}"/>
                </a:ext>
              </a:extLst>
            </p:cNvPr>
            <p:cNvSpPr txBox="1"/>
            <p:nvPr/>
          </p:nvSpPr>
          <p:spPr>
            <a:xfrm>
              <a:off x="240243" y="4383841"/>
              <a:ext cx="1504033" cy="307777"/>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Non-Existent</a:t>
              </a:r>
              <a:endParaRPr kumimoji="0" lang="id-ID" sz="1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endParaRPr>
            </a:p>
          </p:txBody>
        </p:sp>
        <p:cxnSp>
          <p:nvCxnSpPr>
            <p:cNvPr id="31" name="Straight Connector 30">
              <a:extLst>
                <a:ext uri="{FF2B5EF4-FFF2-40B4-BE49-F238E27FC236}">
                  <a16:creationId xmlns:a16="http://schemas.microsoft.com/office/drawing/2014/main" id="{4AB43EB2-B204-4028-B19B-ADFC492932FF}"/>
                </a:ext>
              </a:extLst>
            </p:cNvPr>
            <p:cNvCxnSpPr/>
            <p:nvPr/>
          </p:nvCxnSpPr>
          <p:spPr>
            <a:xfrm>
              <a:off x="277304" y="4691618"/>
              <a:ext cx="133240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09133DB8-FB07-4C29-BDA4-138D5DAC7F40}"/>
                </a:ext>
              </a:extLst>
            </p:cNvPr>
            <p:cNvSpPr/>
            <p:nvPr/>
          </p:nvSpPr>
          <p:spPr>
            <a:xfrm>
              <a:off x="27781" y="4714653"/>
              <a:ext cx="1716495" cy="1200329"/>
            </a:xfrm>
            <a:prstGeom prst="rect">
              <a:avLst/>
            </a:prstGeom>
          </p:spPr>
          <p:txBody>
            <a:bodyPr wrap="square">
              <a:spAutoFit/>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OOMF not used</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Stakeholders not aware</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KPIs not selected for Outputs/ Outcomes</a:t>
              </a:r>
            </a:p>
          </p:txBody>
        </p:sp>
        <p:sp>
          <p:nvSpPr>
            <p:cNvPr id="33" name="TextBox 32">
              <a:extLst>
                <a:ext uri="{FF2B5EF4-FFF2-40B4-BE49-F238E27FC236}">
                  <a16:creationId xmlns:a16="http://schemas.microsoft.com/office/drawing/2014/main" id="{20DAD02E-772F-4915-9FAB-D14BB58F3746}"/>
                </a:ext>
              </a:extLst>
            </p:cNvPr>
            <p:cNvSpPr txBox="1"/>
            <p:nvPr/>
          </p:nvSpPr>
          <p:spPr>
            <a:xfrm>
              <a:off x="1850818" y="3904614"/>
              <a:ext cx="1963722" cy="307777"/>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id-ID" sz="1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Early Stages</a:t>
              </a:r>
            </a:p>
          </p:txBody>
        </p:sp>
        <p:cxnSp>
          <p:nvCxnSpPr>
            <p:cNvPr id="34" name="Straight Connector 33">
              <a:extLst>
                <a:ext uri="{FF2B5EF4-FFF2-40B4-BE49-F238E27FC236}">
                  <a16:creationId xmlns:a16="http://schemas.microsoft.com/office/drawing/2014/main" id="{D11F8856-2C66-47F6-8277-8C81C1248736}"/>
                </a:ext>
              </a:extLst>
            </p:cNvPr>
            <p:cNvCxnSpPr/>
            <p:nvPr/>
          </p:nvCxnSpPr>
          <p:spPr>
            <a:xfrm>
              <a:off x="2187305" y="4212391"/>
              <a:ext cx="133240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FDB998D-3393-4CCE-8DE0-81FA8ABDF9F6}"/>
                </a:ext>
              </a:extLst>
            </p:cNvPr>
            <p:cNvSpPr/>
            <p:nvPr/>
          </p:nvSpPr>
          <p:spPr>
            <a:xfrm>
              <a:off x="1820174" y="4235426"/>
              <a:ext cx="1994366" cy="1200329"/>
            </a:xfrm>
            <a:prstGeom prst="rect">
              <a:avLst/>
            </a:prstGeom>
          </p:spPr>
          <p:txBody>
            <a:bodyPr wrap="square">
              <a:spAutoFit/>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OOMF developed</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KPIs for Outcomes/ Outputs not aligned to standard MIS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Data not collected/ shared in time</a:t>
              </a:r>
            </a:p>
          </p:txBody>
        </p:sp>
        <p:sp>
          <p:nvSpPr>
            <p:cNvPr id="36" name="TextBox 35">
              <a:extLst>
                <a:ext uri="{FF2B5EF4-FFF2-40B4-BE49-F238E27FC236}">
                  <a16:creationId xmlns:a16="http://schemas.microsoft.com/office/drawing/2014/main" id="{ED54CB6F-EEA0-49A1-AA99-10DA7605ACB9}"/>
                </a:ext>
              </a:extLst>
            </p:cNvPr>
            <p:cNvSpPr txBox="1"/>
            <p:nvPr/>
          </p:nvSpPr>
          <p:spPr>
            <a:xfrm>
              <a:off x="3898193" y="3139112"/>
              <a:ext cx="1947842" cy="307777"/>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id-ID" sz="1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Informal</a:t>
              </a:r>
            </a:p>
          </p:txBody>
        </p:sp>
        <p:cxnSp>
          <p:nvCxnSpPr>
            <p:cNvPr id="37" name="Straight Connector 36">
              <a:extLst>
                <a:ext uri="{FF2B5EF4-FFF2-40B4-BE49-F238E27FC236}">
                  <a16:creationId xmlns:a16="http://schemas.microsoft.com/office/drawing/2014/main" id="{B625DA73-88A1-4850-8C16-1DF74AF5FF73}"/>
                </a:ext>
              </a:extLst>
            </p:cNvPr>
            <p:cNvCxnSpPr/>
            <p:nvPr/>
          </p:nvCxnSpPr>
          <p:spPr>
            <a:xfrm>
              <a:off x="4198187" y="3401696"/>
              <a:ext cx="133240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0D0F371F-C555-4CC3-930F-A48E7D8D67BD}"/>
                </a:ext>
              </a:extLst>
            </p:cNvPr>
            <p:cNvSpPr/>
            <p:nvPr/>
          </p:nvSpPr>
          <p:spPr>
            <a:xfrm>
              <a:off x="3932999" y="3470898"/>
              <a:ext cx="1986021" cy="1569660"/>
            </a:xfrm>
            <a:prstGeom prst="rect">
              <a:avLst/>
            </a:prstGeom>
          </p:spPr>
          <p:txBody>
            <a:bodyPr wrap="square">
              <a:spAutoFit/>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KPIs aligned to OOMF</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Data collected and shared in dashboard</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Limited utility of OOMF for performance feedback</a:t>
              </a:r>
            </a:p>
          </p:txBody>
        </p:sp>
        <p:sp>
          <p:nvSpPr>
            <p:cNvPr id="39" name="TextBox 38">
              <a:extLst>
                <a:ext uri="{FF2B5EF4-FFF2-40B4-BE49-F238E27FC236}">
                  <a16:creationId xmlns:a16="http://schemas.microsoft.com/office/drawing/2014/main" id="{6594512F-F34D-40E9-B998-7E003CE32480}"/>
                </a:ext>
              </a:extLst>
            </p:cNvPr>
            <p:cNvSpPr txBox="1"/>
            <p:nvPr/>
          </p:nvSpPr>
          <p:spPr>
            <a:xfrm>
              <a:off x="6246787" y="2626428"/>
              <a:ext cx="1177170" cy="307777"/>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id-ID" sz="1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Formalized</a:t>
              </a:r>
            </a:p>
          </p:txBody>
        </p:sp>
        <p:cxnSp>
          <p:nvCxnSpPr>
            <p:cNvPr id="40" name="Straight Connector 39">
              <a:extLst>
                <a:ext uri="{FF2B5EF4-FFF2-40B4-BE49-F238E27FC236}">
                  <a16:creationId xmlns:a16="http://schemas.microsoft.com/office/drawing/2014/main" id="{C0821DA1-3BC1-43E3-A088-3BB0CB4A9A01}"/>
                </a:ext>
              </a:extLst>
            </p:cNvPr>
            <p:cNvCxnSpPr/>
            <p:nvPr/>
          </p:nvCxnSpPr>
          <p:spPr>
            <a:xfrm>
              <a:off x="6287536" y="2934205"/>
              <a:ext cx="133240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4250F76-6EAE-4B38-87ED-C3A7F00468F3}"/>
                </a:ext>
              </a:extLst>
            </p:cNvPr>
            <p:cNvSpPr/>
            <p:nvPr/>
          </p:nvSpPr>
          <p:spPr>
            <a:xfrm>
              <a:off x="6048459" y="2957240"/>
              <a:ext cx="1600907" cy="1569660"/>
            </a:xfrm>
            <a:prstGeom prst="rect">
              <a:avLst/>
            </a:prstGeom>
          </p:spPr>
          <p:txBody>
            <a:bodyPr wrap="square">
              <a:spAutoFit/>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Stakeholders aware of OOMF and its benefits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Acceptance of OOMF procedure throughout the institutions</a:t>
              </a:r>
            </a:p>
          </p:txBody>
        </p:sp>
        <p:sp>
          <p:nvSpPr>
            <p:cNvPr id="42" name="TextBox 41">
              <a:extLst>
                <a:ext uri="{FF2B5EF4-FFF2-40B4-BE49-F238E27FC236}">
                  <a16:creationId xmlns:a16="http://schemas.microsoft.com/office/drawing/2014/main" id="{8656CA8F-8D2C-4438-B875-8D5417BE3688}"/>
                </a:ext>
              </a:extLst>
            </p:cNvPr>
            <p:cNvSpPr txBox="1"/>
            <p:nvPr/>
          </p:nvSpPr>
          <p:spPr>
            <a:xfrm>
              <a:off x="8147230" y="2113018"/>
              <a:ext cx="1653493" cy="307777"/>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id-ID" sz="1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Standardized</a:t>
              </a:r>
            </a:p>
          </p:txBody>
        </p:sp>
        <p:cxnSp>
          <p:nvCxnSpPr>
            <p:cNvPr id="43" name="Straight Connector 42">
              <a:extLst>
                <a:ext uri="{FF2B5EF4-FFF2-40B4-BE49-F238E27FC236}">
                  <a16:creationId xmlns:a16="http://schemas.microsoft.com/office/drawing/2014/main" id="{F7E28FA3-842F-4B1A-9122-6FB5BA84E61F}"/>
                </a:ext>
              </a:extLst>
            </p:cNvPr>
            <p:cNvCxnSpPr/>
            <p:nvPr/>
          </p:nvCxnSpPr>
          <p:spPr>
            <a:xfrm>
              <a:off x="8413661" y="2420795"/>
              <a:ext cx="133240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C4A8332-D9D3-4F85-B1EC-562E84C0CF4C}"/>
                </a:ext>
              </a:extLst>
            </p:cNvPr>
            <p:cNvSpPr/>
            <p:nvPr/>
          </p:nvSpPr>
          <p:spPr>
            <a:xfrm>
              <a:off x="7976164" y="2443830"/>
              <a:ext cx="1870257" cy="1569660"/>
            </a:xfrm>
            <a:prstGeom prst="rect">
              <a:avLst/>
            </a:prstGeom>
          </p:spPr>
          <p:txBody>
            <a:bodyPr wrap="square">
              <a:spAutoFit/>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Standard operating procedures exist for OOMF</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white"/>
                </a:solidFill>
                <a:effectLst/>
                <a:uLnTx/>
                <a:uFillTx/>
                <a:latin typeface="Verdana"/>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OOMF being utilized for performance assessment</a:t>
              </a:r>
            </a:p>
          </p:txBody>
        </p:sp>
        <p:grpSp>
          <p:nvGrpSpPr>
            <p:cNvPr id="45" name="Group 44">
              <a:extLst>
                <a:ext uri="{FF2B5EF4-FFF2-40B4-BE49-F238E27FC236}">
                  <a16:creationId xmlns:a16="http://schemas.microsoft.com/office/drawing/2014/main" id="{AE238378-8711-4501-B819-BF75CB74B856}"/>
                </a:ext>
              </a:extLst>
            </p:cNvPr>
            <p:cNvGrpSpPr/>
            <p:nvPr/>
          </p:nvGrpSpPr>
          <p:grpSpPr>
            <a:xfrm>
              <a:off x="8658295" y="1156216"/>
              <a:ext cx="777438" cy="784511"/>
              <a:chOff x="1495425" y="1035050"/>
              <a:chExt cx="2609851" cy="3578225"/>
            </a:xfrm>
            <a:solidFill>
              <a:schemeClr val="tx2"/>
            </a:solidFill>
          </p:grpSpPr>
          <p:sp>
            <p:nvSpPr>
              <p:cNvPr id="46" name="Freeform 18">
                <a:extLst>
                  <a:ext uri="{FF2B5EF4-FFF2-40B4-BE49-F238E27FC236}">
                    <a16:creationId xmlns:a16="http://schemas.microsoft.com/office/drawing/2014/main" id="{5F323A91-DC68-4982-A1C7-E8E413B7C1BE}"/>
                  </a:ext>
                </a:extLst>
              </p:cNvPr>
              <p:cNvSpPr>
                <a:spLocks noEditPoints="1"/>
              </p:cNvSpPr>
              <p:nvPr/>
            </p:nvSpPr>
            <p:spPr bwMode="auto">
              <a:xfrm>
                <a:off x="1679575" y="1768475"/>
                <a:ext cx="1193800" cy="1477963"/>
              </a:xfrm>
              <a:custGeom>
                <a:avLst/>
                <a:gdLst>
                  <a:gd name="T0" fmla="*/ 290 w 317"/>
                  <a:gd name="T1" fmla="*/ 271 h 393"/>
                  <a:gd name="T2" fmla="*/ 301 w 317"/>
                  <a:gd name="T3" fmla="*/ 242 h 393"/>
                  <a:gd name="T4" fmla="*/ 317 w 317"/>
                  <a:gd name="T5" fmla="*/ 232 h 393"/>
                  <a:gd name="T6" fmla="*/ 229 w 317"/>
                  <a:gd name="T7" fmla="*/ 207 h 393"/>
                  <a:gd name="T8" fmla="*/ 202 w 317"/>
                  <a:gd name="T9" fmla="*/ 182 h 393"/>
                  <a:gd name="T10" fmla="*/ 182 w 317"/>
                  <a:gd name="T11" fmla="*/ 52 h 393"/>
                  <a:gd name="T12" fmla="*/ 147 w 317"/>
                  <a:gd name="T13" fmla="*/ 10 h 393"/>
                  <a:gd name="T14" fmla="*/ 40 w 317"/>
                  <a:gd name="T15" fmla="*/ 73 h 393"/>
                  <a:gd name="T16" fmla="*/ 5 w 317"/>
                  <a:gd name="T17" fmla="*/ 294 h 393"/>
                  <a:gd name="T18" fmla="*/ 34 w 317"/>
                  <a:gd name="T19" fmla="*/ 352 h 393"/>
                  <a:gd name="T20" fmla="*/ 41 w 317"/>
                  <a:gd name="T21" fmla="*/ 352 h 393"/>
                  <a:gd name="T22" fmla="*/ 41 w 317"/>
                  <a:gd name="T23" fmla="*/ 348 h 393"/>
                  <a:gd name="T24" fmla="*/ 39 w 317"/>
                  <a:gd name="T25" fmla="*/ 297 h 393"/>
                  <a:gd name="T26" fmla="*/ 87 w 317"/>
                  <a:gd name="T27" fmla="*/ 50 h 393"/>
                  <a:gd name="T28" fmla="*/ 121 w 317"/>
                  <a:gd name="T29" fmla="*/ 30 h 393"/>
                  <a:gd name="T30" fmla="*/ 142 w 317"/>
                  <a:gd name="T31" fmla="*/ 36 h 393"/>
                  <a:gd name="T32" fmla="*/ 160 w 317"/>
                  <a:gd name="T33" fmla="*/ 60 h 393"/>
                  <a:gd name="T34" fmla="*/ 156 w 317"/>
                  <a:gd name="T35" fmla="*/ 90 h 393"/>
                  <a:gd name="T36" fmla="*/ 156 w 317"/>
                  <a:gd name="T37" fmla="*/ 90 h 393"/>
                  <a:gd name="T38" fmla="*/ 119 w 317"/>
                  <a:gd name="T39" fmla="*/ 297 h 393"/>
                  <a:gd name="T40" fmla="*/ 120 w 317"/>
                  <a:gd name="T41" fmla="*/ 344 h 393"/>
                  <a:gd name="T42" fmla="*/ 120 w 317"/>
                  <a:gd name="T43" fmla="*/ 352 h 393"/>
                  <a:gd name="T44" fmla="*/ 139 w 317"/>
                  <a:gd name="T45" fmla="*/ 352 h 393"/>
                  <a:gd name="T46" fmla="*/ 147 w 317"/>
                  <a:gd name="T47" fmla="*/ 352 h 393"/>
                  <a:gd name="T48" fmla="*/ 147 w 317"/>
                  <a:gd name="T49" fmla="*/ 360 h 393"/>
                  <a:gd name="T50" fmla="*/ 147 w 317"/>
                  <a:gd name="T51" fmla="*/ 393 h 393"/>
                  <a:gd name="T52" fmla="*/ 150 w 317"/>
                  <a:gd name="T53" fmla="*/ 393 h 393"/>
                  <a:gd name="T54" fmla="*/ 150 w 317"/>
                  <a:gd name="T55" fmla="*/ 277 h 393"/>
                  <a:gd name="T56" fmla="*/ 157 w 317"/>
                  <a:gd name="T57" fmla="*/ 228 h 393"/>
                  <a:gd name="T58" fmla="*/ 165 w 317"/>
                  <a:gd name="T59" fmla="*/ 237 h 393"/>
                  <a:gd name="T60" fmla="*/ 175 w 317"/>
                  <a:gd name="T61" fmla="*/ 295 h 393"/>
                  <a:gd name="T62" fmla="*/ 192 w 317"/>
                  <a:gd name="T63" fmla="*/ 259 h 393"/>
                  <a:gd name="T64" fmla="*/ 193 w 317"/>
                  <a:gd name="T65" fmla="*/ 260 h 393"/>
                  <a:gd name="T66" fmla="*/ 299 w 317"/>
                  <a:gd name="T67" fmla="*/ 295 h 393"/>
                  <a:gd name="T68" fmla="*/ 290 w 317"/>
                  <a:gd name="T69" fmla="*/ 271 h 393"/>
                  <a:gd name="T70" fmla="*/ 175 w 317"/>
                  <a:gd name="T71" fmla="*/ 126 h 393"/>
                  <a:gd name="T72" fmla="*/ 175 w 317"/>
                  <a:gd name="T73" fmla="*/ 137 h 393"/>
                  <a:gd name="T74" fmla="*/ 174 w 317"/>
                  <a:gd name="T75" fmla="*/ 133 h 393"/>
                  <a:gd name="T76" fmla="*/ 175 w 317"/>
                  <a:gd name="T77" fmla="*/ 126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393">
                    <a:moveTo>
                      <a:pt x="290" y="271"/>
                    </a:moveTo>
                    <a:cubicBezTo>
                      <a:pt x="290" y="260"/>
                      <a:pt x="294" y="250"/>
                      <a:pt x="301" y="242"/>
                    </a:cubicBezTo>
                    <a:cubicBezTo>
                      <a:pt x="306" y="237"/>
                      <a:pt x="311" y="234"/>
                      <a:pt x="317" y="232"/>
                    </a:cubicBezTo>
                    <a:cubicBezTo>
                      <a:pt x="278" y="232"/>
                      <a:pt x="250" y="221"/>
                      <a:pt x="229" y="207"/>
                    </a:cubicBezTo>
                    <a:cubicBezTo>
                      <a:pt x="219" y="200"/>
                      <a:pt x="210" y="191"/>
                      <a:pt x="202" y="182"/>
                    </a:cubicBezTo>
                    <a:cubicBezTo>
                      <a:pt x="200" y="132"/>
                      <a:pt x="192" y="74"/>
                      <a:pt x="182" y="52"/>
                    </a:cubicBezTo>
                    <a:cubicBezTo>
                      <a:pt x="177" y="32"/>
                      <a:pt x="165" y="16"/>
                      <a:pt x="147" y="10"/>
                    </a:cubicBezTo>
                    <a:cubicBezTo>
                      <a:pt x="114" y="0"/>
                      <a:pt x="63" y="16"/>
                      <a:pt x="40" y="73"/>
                    </a:cubicBezTo>
                    <a:cubicBezTo>
                      <a:pt x="8" y="152"/>
                      <a:pt x="0" y="204"/>
                      <a:pt x="5" y="294"/>
                    </a:cubicBezTo>
                    <a:cubicBezTo>
                      <a:pt x="9" y="323"/>
                      <a:pt x="20" y="341"/>
                      <a:pt x="34" y="352"/>
                    </a:cubicBezTo>
                    <a:cubicBezTo>
                      <a:pt x="41" y="352"/>
                      <a:pt x="41" y="352"/>
                      <a:pt x="41" y="352"/>
                    </a:cubicBezTo>
                    <a:cubicBezTo>
                      <a:pt x="41" y="350"/>
                      <a:pt x="41" y="349"/>
                      <a:pt x="41" y="348"/>
                    </a:cubicBezTo>
                    <a:cubicBezTo>
                      <a:pt x="40" y="331"/>
                      <a:pt x="39" y="314"/>
                      <a:pt x="39" y="297"/>
                    </a:cubicBezTo>
                    <a:cubicBezTo>
                      <a:pt x="39" y="130"/>
                      <a:pt x="85" y="53"/>
                      <a:pt x="87" y="50"/>
                    </a:cubicBezTo>
                    <a:cubicBezTo>
                      <a:pt x="94" y="38"/>
                      <a:pt x="107" y="30"/>
                      <a:pt x="121" y="30"/>
                    </a:cubicBezTo>
                    <a:cubicBezTo>
                      <a:pt x="128" y="30"/>
                      <a:pt x="135" y="32"/>
                      <a:pt x="142" y="36"/>
                    </a:cubicBezTo>
                    <a:cubicBezTo>
                      <a:pt x="151" y="41"/>
                      <a:pt x="157" y="50"/>
                      <a:pt x="160" y="60"/>
                    </a:cubicBezTo>
                    <a:cubicBezTo>
                      <a:pt x="163" y="70"/>
                      <a:pt x="161" y="81"/>
                      <a:pt x="156" y="90"/>
                    </a:cubicBezTo>
                    <a:cubicBezTo>
                      <a:pt x="156" y="90"/>
                      <a:pt x="156" y="90"/>
                      <a:pt x="156" y="90"/>
                    </a:cubicBezTo>
                    <a:cubicBezTo>
                      <a:pt x="152" y="97"/>
                      <a:pt x="119" y="163"/>
                      <a:pt x="119" y="297"/>
                    </a:cubicBezTo>
                    <a:cubicBezTo>
                      <a:pt x="119" y="312"/>
                      <a:pt x="120" y="328"/>
                      <a:pt x="120" y="344"/>
                    </a:cubicBezTo>
                    <a:cubicBezTo>
                      <a:pt x="121" y="347"/>
                      <a:pt x="120" y="349"/>
                      <a:pt x="120" y="352"/>
                    </a:cubicBezTo>
                    <a:cubicBezTo>
                      <a:pt x="139" y="352"/>
                      <a:pt x="139" y="352"/>
                      <a:pt x="139" y="352"/>
                    </a:cubicBezTo>
                    <a:cubicBezTo>
                      <a:pt x="147" y="352"/>
                      <a:pt x="147" y="352"/>
                      <a:pt x="147" y="352"/>
                    </a:cubicBezTo>
                    <a:cubicBezTo>
                      <a:pt x="147" y="360"/>
                      <a:pt x="147" y="360"/>
                      <a:pt x="147" y="360"/>
                    </a:cubicBezTo>
                    <a:cubicBezTo>
                      <a:pt x="147" y="393"/>
                      <a:pt x="147" y="393"/>
                      <a:pt x="147" y="393"/>
                    </a:cubicBezTo>
                    <a:cubicBezTo>
                      <a:pt x="150" y="393"/>
                      <a:pt x="150" y="393"/>
                      <a:pt x="150" y="393"/>
                    </a:cubicBezTo>
                    <a:cubicBezTo>
                      <a:pt x="150" y="277"/>
                      <a:pt x="150" y="277"/>
                      <a:pt x="150" y="277"/>
                    </a:cubicBezTo>
                    <a:cubicBezTo>
                      <a:pt x="151" y="262"/>
                      <a:pt x="154" y="245"/>
                      <a:pt x="157" y="228"/>
                    </a:cubicBezTo>
                    <a:cubicBezTo>
                      <a:pt x="159" y="231"/>
                      <a:pt x="162" y="234"/>
                      <a:pt x="165" y="237"/>
                    </a:cubicBezTo>
                    <a:cubicBezTo>
                      <a:pt x="169" y="252"/>
                      <a:pt x="172" y="281"/>
                      <a:pt x="175" y="295"/>
                    </a:cubicBezTo>
                    <a:cubicBezTo>
                      <a:pt x="181" y="287"/>
                      <a:pt x="187" y="272"/>
                      <a:pt x="192" y="259"/>
                    </a:cubicBezTo>
                    <a:cubicBezTo>
                      <a:pt x="192" y="259"/>
                      <a:pt x="193" y="260"/>
                      <a:pt x="193" y="260"/>
                    </a:cubicBezTo>
                    <a:cubicBezTo>
                      <a:pt x="221" y="279"/>
                      <a:pt x="256" y="292"/>
                      <a:pt x="299" y="295"/>
                    </a:cubicBezTo>
                    <a:cubicBezTo>
                      <a:pt x="293" y="289"/>
                      <a:pt x="290" y="280"/>
                      <a:pt x="290" y="271"/>
                    </a:cubicBezTo>
                    <a:close/>
                    <a:moveTo>
                      <a:pt x="175" y="126"/>
                    </a:moveTo>
                    <a:cubicBezTo>
                      <a:pt x="176" y="130"/>
                      <a:pt x="175" y="133"/>
                      <a:pt x="175" y="137"/>
                    </a:cubicBezTo>
                    <a:cubicBezTo>
                      <a:pt x="175" y="136"/>
                      <a:pt x="174" y="135"/>
                      <a:pt x="174" y="133"/>
                    </a:cubicBezTo>
                    <a:cubicBezTo>
                      <a:pt x="174" y="131"/>
                      <a:pt x="175" y="129"/>
                      <a:pt x="175"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47" name="Freeform 19">
                <a:extLst>
                  <a:ext uri="{FF2B5EF4-FFF2-40B4-BE49-F238E27FC236}">
                    <a16:creationId xmlns:a16="http://schemas.microsoft.com/office/drawing/2014/main" id="{FCAD4A93-0CC3-4107-8097-5C2E167EF50C}"/>
                  </a:ext>
                </a:extLst>
              </p:cNvPr>
              <p:cNvSpPr>
                <a:spLocks/>
              </p:cNvSpPr>
              <p:nvPr/>
            </p:nvSpPr>
            <p:spPr bwMode="auto">
              <a:xfrm>
                <a:off x="3016250" y="1035050"/>
                <a:ext cx="757238" cy="755650"/>
              </a:xfrm>
              <a:custGeom>
                <a:avLst/>
                <a:gdLst>
                  <a:gd name="T0" fmla="*/ 126 w 201"/>
                  <a:gd name="T1" fmla="*/ 187 h 201"/>
                  <a:gd name="T2" fmla="*/ 187 w 201"/>
                  <a:gd name="T3" fmla="*/ 76 h 201"/>
                  <a:gd name="T4" fmla="*/ 76 w 201"/>
                  <a:gd name="T5" fmla="*/ 14 h 201"/>
                  <a:gd name="T6" fmla="*/ 14 w 201"/>
                  <a:gd name="T7" fmla="*/ 126 h 201"/>
                  <a:gd name="T8" fmla="*/ 126 w 201"/>
                  <a:gd name="T9" fmla="*/ 187 h 201"/>
                </a:gdLst>
                <a:ahLst/>
                <a:cxnLst>
                  <a:cxn ang="0">
                    <a:pos x="T0" y="T1"/>
                  </a:cxn>
                  <a:cxn ang="0">
                    <a:pos x="T2" y="T3"/>
                  </a:cxn>
                  <a:cxn ang="0">
                    <a:pos x="T4" y="T5"/>
                  </a:cxn>
                  <a:cxn ang="0">
                    <a:pos x="T6" y="T7"/>
                  </a:cxn>
                  <a:cxn ang="0">
                    <a:pos x="T8" y="T9"/>
                  </a:cxn>
                </a:cxnLst>
                <a:rect l="0" t="0" r="r" b="b"/>
                <a:pathLst>
                  <a:path w="201" h="201">
                    <a:moveTo>
                      <a:pt x="126" y="187"/>
                    </a:moveTo>
                    <a:cubicBezTo>
                      <a:pt x="174" y="173"/>
                      <a:pt x="201" y="123"/>
                      <a:pt x="187" y="76"/>
                    </a:cubicBezTo>
                    <a:cubicBezTo>
                      <a:pt x="173" y="28"/>
                      <a:pt x="123" y="0"/>
                      <a:pt x="76" y="14"/>
                    </a:cubicBezTo>
                    <a:cubicBezTo>
                      <a:pt x="28" y="28"/>
                      <a:pt x="0" y="78"/>
                      <a:pt x="14" y="126"/>
                    </a:cubicBezTo>
                    <a:cubicBezTo>
                      <a:pt x="28" y="174"/>
                      <a:pt x="78" y="201"/>
                      <a:pt x="126"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48" name="Freeform 20">
                <a:extLst>
                  <a:ext uri="{FF2B5EF4-FFF2-40B4-BE49-F238E27FC236}">
                    <a16:creationId xmlns:a16="http://schemas.microsoft.com/office/drawing/2014/main" id="{8D0FC8AA-D6D3-4B98-9A72-6EBFD6A346FD}"/>
                  </a:ext>
                </a:extLst>
              </p:cNvPr>
              <p:cNvSpPr>
                <a:spLocks/>
              </p:cNvSpPr>
              <p:nvPr/>
            </p:nvSpPr>
            <p:spPr bwMode="auto">
              <a:xfrm>
                <a:off x="3344863" y="1768475"/>
                <a:ext cx="760413" cy="2844800"/>
              </a:xfrm>
              <a:custGeom>
                <a:avLst/>
                <a:gdLst>
                  <a:gd name="T0" fmla="*/ 196 w 202"/>
                  <a:gd name="T1" fmla="*/ 294 h 756"/>
                  <a:gd name="T2" fmla="*/ 162 w 202"/>
                  <a:gd name="T3" fmla="*/ 73 h 756"/>
                  <a:gd name="T4" fmla="*/ 54 w 202"/>
                  <a:gd name="T5" fmla="*/ 10 h 756"/>
                  <a:gd name="T6" fmla="*/ 19 w 202"/>
                  <a:gd name="T7" fmla="*/ 52 h 756"/>
                  <a:gd name="T8" fmla="*/ 0 w 202"/>
                  <a:gd name="T9" fmla="*/ 185 h 756"/>
                  <a:gd name="T10" fmla="*/ 26 w 202"/>
                  <a:gd name="T11" fmla="*/ 141 h 756"/>
                  <a:gd name="T12" fmla="*/ 26 w 202"/>
                  <a:gd name="T13" fmla="*/ 126 h 756"/>
                  <a:gd name="T14" fmla="*/ 28 w 202"/>
                  <a:gd name="T15" fmla="*/ 136 h 756"/>
                  <a:gd name="T16" fmla="*/ 32 w 202"/>
                  <a:gd name="T17" fmla="*/ 124 h 756"/>
                  <a:gd name="T18" fmla="*/ 41 w 202"/>
                  <a:gd name="T19" fmla="*/ 87 h 756"/>
                  <a:gd name="T20" fmla="*/ 42 w 202"/>
                  <a:gd name="T21" fmla="*/ 76 h 756"/>
                  <a:gd name="T22" fmla="*/ 42 w 202"/>
                  <a:gd name="T23" fmla="*/ 74 h 756"/>
                  <a:gd name="T24" fmla="*/ 42 w 202"/>
                  <a:gd name="T25" fmla="*/ 73 h 756"/>
                  <a:gd name="T26" fmla="*/ 82 w 202"/>
                  <a:gd name="T27" fmla="*/ 34 h 756"/>
                  <a:gd name="T28" fmla="*/ 84 w 202"/>
                  <a:gd name="T29" fmla="*/ 34 h 756"/>
                  <a:gd name="T30" fmla="*/ 111 w 202"/>
                  <a:gd name="T31" fmla="*/ 47 h 756"/>
                  <a:gd name="T32" fmla="*/ 122 w 202"/>
                  <a:gd name="T33" fmla="*/ 76 h 756"/>
                  <a:gd name="T34" fmla="*/ 122 w 202"/>
                  <a:gd name="T35" fmla="*/ 76 h 756"/>
                  <a:gd name="T36" fmla="*/ 122 w 202"/>
                  <a:gd name="T37" fmla="*/ 76 h 756"/>
                  <a:gd name="T38" fmla="*/ 122 w 202"/>
                  <a:gd name="T39" fmla="*/ 77 h 756"/>
                  <a:gd name="T40" fmla="*/ 92 w 202"/>
                  <a:gd name="T41" fmla="*/ 190 h 756"/>
                  <a:gd name="T42" fmla="*/ 48 w 202"/>
                  <a:gd name="T43" fmla="*/ 250 h 756"/>
                  <a:gd name="T44" fmla="*/ 52 w 202"/>
                  <a:gd name="T45" fmla="*/ 277 h 756"/>
                  <a:gd name="T46" fmla="*/ 52 w 202"/>
                  <a:gd name="T47" fmla="*/ 706 h 756"/>
                  <a:gd name="T48" fmla="*/ 102 w 202"/>
                  <a:gd name="T49" fmla="*/ 756 h 756"/>
                  <a:gd name="T50" fmla="*/ 152 w 202"/>
                  <a:gd name="T51" fmla="*/ 706 h 756"/>
                  <a:gd name="T52" fmla="*/ 152 w 202"/>
                  <a:gd name="T53" fmla="*/ 361 h 756"/>
                  <a:gd name="T54" fmla="*/ 196 w 202"/>
                  <a:gd name="T55" fmla="*/ 294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2" h="756">
                    <a:moveTo>
                      <a:pt x="196" y="294"/>
                    </a:moveTo>
                    <a:cubicBezTo>
                      <a:pt x="202" y="204"/>
                      <a:pt x="193" y="152"/>
                      <a:pt x="162" y="73"/>
                    </a:cubicBezTo>
                    <a:cubicBezTo>
                      <a:pt x="138" y="16"/>
                      <a:pt x="88" y="0"/>
                      <a:pt x="54" y="10"/>
                    </a:cubicBezTo>
                    <a:cubicBezTo>
                      <a:pt x="36" y="16"/>
                      <a:pt x="25" y="32"/>
                      <a:pt x="19" y="52"/>
                    </a:cubicBezTo>
                    <a:cubicBezTo>
                      <a:pt x="9" y="74"/>
                      <a:pt x="2" y="134"/>
                      <a:pt x="0" y="185"/>
                    </a:cubicBezTo>
                    <a:cubicBezTo>
                      <a:pt x="12" y="171"/>
                      <a:pt x="20" y="155"/>
                      <a:pt x="26" y="141"/>
                    </a:cubicBezTo>
                    <a:cubicBezTo>
                      <a:pt x="26" y="136"/>
                      <a:pt x="26" y="131"/>
                      <a:pt x="26" y="126"/>
                    </a:cubicBezTo>
                    <a:cubicBezTo>
                      <a:pt x="27" y="129"/>
                      <a:pt x="28" y="133"/>
                      <a:pt x="28" y="136"/>
                    </a:cubicBezTo>
                    <a:cubicBezTo>
                      <a:pt x="30" y="132"/>
                      <a:pt x="31" y="128"/>
                      <a:pt x="32" y="124"/>
                    </a:cubicBezTo>
                    <a:cubicBezTo>
                      <a:pt x="37" y="109"/>
                      <a:pt x="40" y="95"/>
                      <a:pt x="41" y="87"/>
                    </a:cubicBezTo>
                    <a:cubicBezTo>
                      <a:pt x="42" y="82"/>
                      <a:pt x="42" y="78"/>
                      <a:pt x="42" y="76"/>
                    </a:cubicBezTo>
                    <a:cubicBezTo>
                      <a:pt x="42" y="75"/>
                      <a:pt x="42" y="74"/>
                      <a:pt x="42" y="74"/>
                    </a:cubicBezTo>
                    <a:cubicBezTo>
                      <a:pt x="42" y="73"/>
                      <a:pt x="42" y="73"/>
                      <a:pt x="42" y="73"/>
                    </a:cubicBezTo>
                    <a:cubicBezTo>
                      <a:pt x="43" y="51"/>
                      <a:pt x="61" y="34"/>
                      <a:pt x="82" y="34"/>
                    </a:cubicBezTo>
                    <a:cubicBezTo>
                      <a:pt x="83" y="34"/>
                      <a:pt x="83" y="34"/>
                      <a:pt x="84" y="34"/>
                    </a:cubicBezTo>
                    <a:cubicBezTo>
                      <a:pt x="94" y="35"/>
                      <a:pt x="104" y="39"/>
                      <a:pt x="111" y="47"/>
                    </a:cubicBezTo>
                    <a:cubicBezTo>
                      <a:pt x="119" y="55"/>
                      <a:pt x="123" y="65"/>
                      <a:pt x="122" y="76"/>
                    </a:cubicBezTo>
                    <a:cubicBezTo>
                      <a:pt x="122" y="76"/>
                      <a:pt x="122" y="76"/>
                      <a:pt x="122" y="76"/>
                    </a:cubicBezTo>
                    <a:cubicBezTo>
                      <a:pt x="122" y="76"/>
                      <a:pt x="122" y="76"/>
                      <a:pt x="122" y="76"/>
                    </a:cubicBezTo>
                    <a:cubicBezTo>
                      <a:pt x="122" y="77"/>
                      <a:pt x="122" y="77"/>
                      <a:pt x="122" y="77"/>
                    </a:cubicBezTo>
                    <a:cubicBezTo>
                      <a:pt x="121" y="94"/>
                      <a:pt x="116" y="141"/>
                      <a:pt x="92" y="190"/>
                    </a:cubicBezTo>
                    <a:cubicBezTo>
                      <a:pt x="80" y="213"/>
                      <a:pt x="65" y="233"/>
                      <a:pt x="48" y="250"/>
                    </a:cubicBezTo>
                    <a:cubicBezTo>
                      <a:pt x="50" y="259"/>
                      <a:pt x="51" y="269"/>
                      <a:pt x="52" y="277"/>
                    </a:cubicBezTo>
                    <a:cubicBezTo>
                      <a:pt x="52" y="706"/>
                      <a:pt x="52" y="706"/>
                      <a:pt x="52" y="706"/>
                    </a:cubicBezTo>
                    <a:cubicBezTo>
                      <a:pt x="52" y="733"/>
                      <a:pt x="74" y="756"/>
                      <a:pt x="102" y="756"/>
                    </a:cubicBezTo>
                    <a:cubicBezTo>
                      <a:pt x="129" y="756"/>
                      <a:pt x="152" y="733"/>
                      <a:pt x="152" y="706"/>
                    </a:cubicBezTo>
                    <a:cubicBezTo>
                      <a:pt x="152" y="361"/>
                      <a:pt x="152" y="361"/>
                      <a:pt x="152" y="361"/>
                    </a:cubicBezTo>
                    <a:cubicBezTo>
                      <a:pt x="173" y="352"/>
                      <a:pt x="191" y="333"/>
                      <a:pt x="196" y="2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49" name="Freeform 21">
                <a:extLst>
                  <a:ext uri="{FF2B5EF4-FFF2-40B4-BE49-F238E27FC236}">
                    <a16:creationId xmlns:a16="http://schemas.microsoft.com/office/drawing/2014/main" id="{F6AFF0C2-0A33-4A69-84BF-5150ECAEB04D}"/>
                  </a:ext>
                </a:extLst>
              </p:cNvPr>
              <p:cNvSpPr>
                <a:spLocks/>
              </p:cNvSpPr>
              <p:nvPr/>
            </p:nvSpPr>
            <p:spPr bwMode="auto">
              <a:xfrm>
                <a:off x="3405188" y="2765425"/>
                <a:ext cx="55563" cy="112713"/>
              </a:xfrm>
              <a:custGeom>
                <a:avLst/>
                <a:gdLst>
                  <a:gd name="T0" fmla="*/ 15 w 15"/>
                  <a:gd name="T1" fmla="*/ 0 h 30"/>
                  <a:gd name="T2" fmla="*/ 5 w 15"/>
                  <a:gd name="T3" fmla="*/ 8 h 30"/>
                  <a:gd name="T4" fmla="*/ 0 w 15"/>
                  <a:gd name="T5" fmla="*/ 11 h 30"/>
                  <a:gd name="T6" fmla="*/ 10 w 15"/>
                  <a:gd name="T7" fmla="*/ 30 h 30"/>
                  <a:gd name="T8" fmla="*/ 15 w 15"/>
                  <a:gd name="T9" fmla="*/ 0 h 30"/>
                </a:gdLst>
                <a:ahLst/>
                <a:cxnLst>
                  <a:cxn ang="0">
                    <a:pos x="T0" y="T1"/>
                  </a:cxn>
                  <a:cxn ang="0">
                    <a:pos x="T2" y="T3"/>
                  </a:cxn>
                  <a:cxn ang="0">
                    <a:pos x="T4" y="T5"/>
                  </a:cxn>
                  <a:cxn ang="0">
                    <a:pos x="T6" y="T7"/>
                  </a:cxn>
                  <a:cxn ang="0">
                    <a:pos x="T8" y="T9"/>
                  </a:cxn>
                </a:cxnLst>
                <a:rect l="0" t="0" r="r" b="b"/>
                <a:pathLst>
                  <a:path w="15" h="30">
                    <a:moveTo>
                      <a:pt x="15" y="0"/>
                    </a:moveTo>
                    <a:cubicBezTo>
                      <a:pt x="12" y="3"/>
                      <a:pt x="8" y="5"/>
                      <a:pt x="5" y="8"/>
                    </a:cubicBezTo>
                    <a:cubicBezTo>
                      <a:pt x="3" y="9"/>
                      <a:pt x="2" y="10"/>
                      <a:pt x="0" y="11"/>
                    </a:cubicBezTo>
                    <a:cubicBezTo>
                      <a:pt x="4" y="18"/>
                      <a:pt x="7" y="25"/>
                      <a:pt x="10" y="30"/>
                    </a:cubicBezTo>
                    <a:cubicBezTo>
                      <a:pt x="12" y="22"/>
                      <a:pt x="14" y="1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50" name="Freeform 22">
                <a:extLst>
                  <a:ext uri="{FF2B5EF4-FFF2-40B4-BE49-F238E27FC236}">
                    <a16:creationId xmlns:a16="http://schemas.microsoft.com/office/drawing/2014/main" id="{6780A1AD-277E-44B2-B0DC-685EFCEF84AF}"/>
                  </a:ext>
                </a:extLst>
              </p:cNvPr>
              <p:cNvSpPr>
                <a:spLocks/>
              </p:cNvSpPr>
              <p:nvPr/>
            </p:nvSpPr>
            <p:spPr bwMode="auto">
              <a:xfrm>
                <a:off x="2798763" y="1927225"/>
                <a:ext cx="979488" cy="977900"/>
              </a:xfrm>
              <a:custGeom>
                <a:avLst/>
                <a:gdLst>
                  <a:gd name="T0" fmla="*/ 161 w 260"/>
                  <a:gd name="T1" fmla="*/ 224 h 260"/>
                  <a:gd name="T2" fmla="*/ 229 w 260"/>
                  <a:gd name="T3" fmla="*/ 145 h 260"/>
                  <a:gd name="T4" fmla="*/ 259 w 260"/>
                  <a:gd name="T5" fmla="*/ 33 h 260"/>
                  <a:gd name="T6" fmla="*/ 228 w 260"/>
                  <a:gd name="T7" fmla="*/ 0 h 260"/>
                  <a:gd name="T8" fmla="*/ 195 w 260"/>
                  <a:gd name="T9" fmla="*/ 31 h 260"/>
                  <a:gd name="T10" fmla="*/ 195 w 260"/>
                  <a:gd name="T11" fmla="*/ 32 h 260"/>
                  <a:gd name="T12" fmla="*/ 195 w 260"/>
                  <a:gd name="T13" fmla="*/ 35 h 260"/>
                  <a:gd name="T14" fmla="*/ 194 w 260"/>
                  <a:gd name="T15" fmla="*/ 46 h 260"/>
                  <a:gd name="T16" fmla="*/ 185 w 260"/>
                  <a:gd name="T17" fmla="*/ 85 h 260"/>
                  <a:gd name="T18" fmla="*/ 125 w 260"/>
                  <a:gd name="T19" fmla="*/ 171 h 260"/>
                  <a:gd name="T20" fmla="*/ 34 w 260"/>
                  <a:gd name="T21" fmla="*/ 196 h 260"/>
                  <a:gd name="T22" fmla="*/ 32 w 260"/>
                  <a:gd name="T23" fmla="*/ 196 h 260"/>
                  <a:gd name="T24" fmla="*/ 1 w 260"/>
                  <a:gd name="T25" fmla="*/ 229 h 260"/>
                  <a:gd name="T26" fmla="*/ 33 w 260"/>
                  <a:gd name="T27" fmla="*/ 260 h 260"/>
                  <a:gd name="T28" fmla="*/ 33 w 260"/>
                  <a:gd name="T29" fmla="*/ 260 h 260"/>
                  <a:gd name="T30" fmla="*/ 34 w 260"/>
                  <a:gd name="T31" fmla="*/ 260 h 260"/>
                  <a:gd name="T32" fmla="*/ 161 w 260"/>
                  <a:gd name="T33" fmla="*/ 224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0" h="260">
                    <a:moveTo>
                      <a:pt x="161" y="224"/>
                    </a:moveTo>
                    <a:cubicBezTo>
                      <a:pt x="194" y="202"/>
                      <a:pt x="215" y="173"/>
                      <a:pt x="229" y="145"/>
                    </a:cubicBezTo>
                    <a:cubicBezTo>
                      <a:pt x="258" y="88"/>
                      <a:pt x="259" y="36"/>
                      <a:pt x="259" y="33"/>
                    </a:cubicBezTo>
                    <a:cubicBezTo>
                      <a:pt x="260" y="16"/>
                      <a:pt x="246" y="1"/>
                      <a:pt x="228" y="0"/>
                    </a:cubicBezTo>
                    <a:cubicBezTo>
                      <a:pt x="211" y="0"/>
                      <a:pt x="196" y="14"/>
                      <a:pt x="195" y="31"/>
                    </a:cubicBezTo>
                    <a:cubicBezTo>
                      <a:pt x="195" y="31"/>
                      <a:pt x="195" y="31"/>
                      <a:pt x="195" y="32"/>
                    </a:cubicBezTo>
                    <a:cubicBezTo>
                      <a:pt x="195" y="32"/>
                      <a:pt x="195" y="33"/>
                      <a:pt x="195" y="35"/>
                    </a:cubicBezTo>
                    <a:cubicBezTo>
                      <a:pt x="195" y="37"/>
                      <a:pt x="195" y="41"/>
                      <a:pt x="194" y="46"/>
                    </a:cubicBezTo>
                    <a:cubicBezTo>
                      <a:pt x="192" y="56"/>
                      <a:pt x="190" y="69"/>
                      <a:pt x="185" y="85"/>
                    </a:cubicBezTo>
                    <a:cubicBezTo>
                      <a:pt x="175" y="115"/>
                      <a:pt x="157" y="149"/>
                      <a:pt x="125" y="171"/>
                    </a:cubicBezTo>
                    <a:cubicBezTo>
                      <a:pt x="104" y="186"/>
                      <a:pt x="76" y="196"/>
                      <a:pt x="34" y="196"/>
                    </a:cubicBezTo>
                    <a:cubicBezTo>
                      <a:pt x="34" y="196"/>
                      <a:pt x="33" y="196"/>
                      <a:pt x="32" y="196"/>
                    </a:cubicBezTo>
                    <a:cubicBezTo>
                      <a:pt x="15" y="196"/>
                      <a:pt x="0" y="211"/>
                      <a:pt x="1" y="229"/>
                    </a:cubicBezTo>
                    <a:cubicBezTo>
                      <a:pt x="1" y="246"/>
                      <a:pt x="15" y="260"/>
                      <a:pt x="33" y="260"/>
                    </a:cubicBezTo>
                    <a:cubicBezTo>
                      <a:pt x="33" y="260"/>
                      <a:pt x="33" y="260"/>
                      <a:pt x="33" y="260"/>
                    </a:cubicBezTo>
                    <a:cubicBezTo>
                      <a:pt x="33" y="260"/>
                      <a:pt x="34" y="260"/>
                      <a:pt x="34" y="260"/>
                    </a:cubicBezTo>
                    <a:cubicBezTo>
                      <a:pt x="87" y="260"/>
                      <a:pt x="129" y="246"/>
                      <a:pt x="161" y="2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51" name="Freeform 23">
                <a:extLst>
                  <a:ext uri="{FF2B5EF4-FFF2-40B4-BE49-F238E27FC236}">
                    <a16:creationId xmlns:a16="http://schemas.microsoft.com/office/drawing/2014/main" id="{BAF139D2-04DF-415A-A563-003AA1EC17F2}"/>
                  </a:ext>
                </a:extLst>
              </p:cNvPr>
              <p:cNvSpPr>
                <a:spLocks/>
              </p:cNvSpPr>
              <p:nvPr/>
            </p:nvSpPr>
            <p:spPr bwMode="auto">
              <a:xfrm>
                <a:off x="2011363" y="1035050"/>
                <a:ext cx="752475" cy="755650"/>
              </a:xfrm>
              <a:custGeom>
                <a:avLst/>
                <a:gdLst>
                  <a:gd name="T0" fmla="*/ 13 w 200"/>
                  <a:gd name="T1" fmla="*/ 76 h 201"/>
                  <a:gd name="T2" fmla="*/ 75 w 200"/>
                  <a:gd name="T3" fmla="*/ 187 h 201"/>
                  <a:gd name="T4" fmla="*/ 186 w 200"/>
                  <a:gd name="T5" fmla="*/ 126 h 201"/>
                  <a:gd name="T6" fmla="*/ 125 w 200"/>
                  <a:gd name="T7" fmla="*/ 14 h 201"/>
                  <a:gd name="T8" fmla="*/ 13 w 200"/>
                  <a:gd name="T9" fmla="*/ 76 h 201"/>
                </a:gdLst>
                <a:ahLst/>
                <a:cxnLst>
                  <a:cxn ang="0">
                    <a:pos x="T0" y="T1"/>
                  </a:cxn>
                  <a:cxn ang="0">
                    <a:pos x="T2" y="T3"/>
                  </a:cxn>
                  <a:cxn ang="0">
                    <a:pos x="T4" y="T5"/>
                  </a:cxn>
                  <a:cxn ang="0">
                    <a:pos x="T6" y="T7"/>
                  </a:cxn>
                  <a:cxn ang="0">
                    <a:pos x="T8" y="T9"/>
                  </a:cxn>
                </a:cxnLst>
                <a:rect l="0" t="0" r="r" b="b"/>
                <a:pathLst>
                  <a:path w="200" h="201">
                    <a:moveTo>
                      <a:pt x="13" y="76"/>
                    </a:moveTo>
                    <a:cubicBezTo>
                      <a:pt x="0" y="123"/>
                      <a:pt x="27" y="173"/>
                      <a:pt x="75" y="187"/>
                    </a:cubicBezTo>
                    <a:cubicBezTo>
                      <a:pt x="122" y="201"/>
                      <a:pt x="172" y="174"/>
                      <a:pt x="186" y="126"/>
                    </a:cubicBezTo>
                    <a:cubicBezTo>
                      <a:pt x="200" y="78"/>
                      <a:pt x="173" y="28"/>
                      <a:pt x="125" y="14"/>
                    </a:cubicBezTo>
                    <a:cubicBezTo>
                      <a:pt x="77" y="0"/>
                      <a:pt x="27" y="28"/>
                      <a:pt x="13"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52" name="Freeform 24">
                <a:extLst>
                  <a:ext uri="{FF2B5EF4-FFF2-40B4-BE49-F238E27FC236}">
                    <a16:creationId xmlns:a16="http://schemas.microsoft.com/office/drawing/2014/main" id="{89A4895C-C07A-4F0C-86FC-9449A589F6B0}"/>
                  </a:ext>
                </a:extLst>
              </p:cNvPr>
              <p:cNvSpPr>
                <a:spLocks/>
              </p:cNvSpPr>
              <p:nvPr/>
            </p:nvSpPr>
            <p:spPr bwMode="auto">
              <a:xfrm>
                <a:off x="1868488" y="3213100"/>
                <a:ext cx="244475" cy="33338"/>
              </a:xfrm>
              <a:custGeom>
                <a:avLst/>
                <a:gdLst>
                  <a:gd name="T0" fmla="*/ 0 w 65"/>
                  <a:gd name="T1" fmla="*/ 9 h 9"/>
                  <a:gd name="T2" fmla="*/ 65 w 65"/>
                  <a:gd name="T3" fmla="*/ 9 h 9"/>
                  <a:gd name="T4" fmla="*/ 65 w 65"/>
                  <a:gd name="T5" fmla="*/ 0 h 9"/>
                  <a:gd name="T6" fmla="*/ 44 w 65"/>
                  <a:gd name="T7" fmla="*/ 0 h 9"/>
                  <a:gd name="T8" fmla="*/ 33 w 65"/>
                  <a:gd name="T9" fmla="*/ 2 h 9"/>
                  <a:gd name="T10" fmla="*/ 31 w 65"/>
                  <a:gd name="T11" fmla="*/ 2 h 9"/>
                  <a:gd name="T12" fmla="*/ 17 w 65"/>
                  <a:gd name="T13" fmla="*/ 0 h 9"/>
                  <a:gd name="T14" fmla="*/ 0 w 65"/>
                  <a:gd name="T15" fmla="*/ 0 h 9"/>
                  <a:gd name="T16" fmla="*/ 0 w 65"/>
                  <a:gd name="T1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9">
                    <a:moveTo>
                      <a:pt x="0" y="9"/>
                    </a:moveTo>
                    <a:cubicBezTo>
                      <a:pt x="65" y="9"/>
                      <a:pt x="65" y="9"/>
                      <a:pt x="65" y="9"/>
                    </a:cubicBezTo>
                    <a:cubicBezTo>
                      <a:pt x="65" y="0"/>
                      <a:pt x="65" y="0"/>
                      <a:pt x="65" y="0"/>
                    </a:cubicBezTo>
                    <a:cubicBezTo>
                      <a:pt x="44" y="0"/>
                      <a:pt x="44" y="0"/>
                      <a:pt x="44" y="0"/>
                    </a:cubicBezTo>
                    <a:cubicBezTo>
                      <a:pt x="40" y="1"/>
                      <a:pt x="37" y="2"/>
                      <a:pt x="33" y="2"/>
                    </a:cubicBezTo>
                    <a:cubicBezTo>
                      <a:pt x="32" y="2"/>
                      <a:pt x="31" y="2"/>
                      <a:pt x="31" y="2"/>
                    </a:cubicBezTo>
                    <a:cubicBezTo>
                      <a:pt x="26" y="2"/>
                      <a:pt x="21" y="1"/>
                      <a:pt x="17" y="0"/>
                    </a:cubicBezTo>
                    <a:cubicBezTo>
                      <a:pt x="0" y="0"/>
                      <a:pt x="0" y="0"/>
                      <a:pt x="0" y="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53" name="Freeform 25">
                <a:extLst>
                  <a:ext uri="{FF2B5EF4-FFF2-40B4-BE49-F238E27FC236}">
                    <a16:creationId xmlns:a16="http://schemas.microsoft.com/office/drawing/2014/main" id="{C772AF98-2BC7-491C-BDAB-0E3D750D849D}"/>
                  </a:ext>
                </a:extLst>
              </p:cNvPr>
              <p:cNvSpPr>
                <a:spLocks/>
              </p:cNvSpPr>
              <p:nvPr/>
            </p:nvSpPr>
            <p:spPr bwMode="auto">
              <a:xfrm>
                <a:off x="1868488" y="4025900"/>
                <a:ext cx="376238" cy="587375"/>
              </a:xfrm>
              <a:custGeom>
                <a:avLst/>
                <a:gdLst>
                  <a:gd name="T0" fmla="*/ 0 w 100"/>
                  <a:gd name="T1" fmla="*/ 0 h 156"/>
                  <a:gd name="T2" fmla="*/ 0 w 100"/>
                  <a:gd name="T3" fmla="*/ 106 h 156"/>
                  <a:gd name="T4" fmla="*/ 50 w 100"/>
                  <a:gd name="T5" fmla="*/ 156 h 156"/>
                  <a:gd name="T6" fmla="*/ 100 w 100"/>
                  <a:gd name="T7" fmla="*/ 106 h 156"/>
                  <a:gd name="T8" fmla="*/ 100 w 100"/>
                  <a:gd name="T9" fmla="*/ 0 h 156"/>
                  <a:gd name="T10" fmla="*/ 0 w 100"/>
                  <a:gd name="T11" fmla="*/ 0 h 156"/>
                </a:gdLst>
                <a:ahLst/>
                <a:cxnLst>
                  <a:cxn ang="0">
                    <a:pos x="T0" y="T1"/>
                  </a:cxn>
                  <a:cxn ang="0">
                    <a:pos x="T2" y="T3"/>
                  </a:cxn>
                  <a:cxn ang="0">
                    <a:pos x="T4" y="T5"/>
                  </a:cxn>
                  <a:cxn ang="0">
                    <a:pos x="T6" y="T7"/>
                  </a:cxn>
                  <a:cxn ang="0">
                    <a:pos x="T8" y="T9"/>
                  </a:cxn>
                  <a:cxn ang="0">
                    <a:pos x="T10" y="T11"/>
                  </a:cxn>
                </a:cxnLst>
                <a:rect l="0" t="0" r="r" b="b"/>
                <a:pathLst>
                  <a:path w="100" h="156">
                    <a:moveTo>
                      <a:pt x="0" y="0"/>
                    </a:moveTo>
                    <a:cubicBezTo>
                      <a:pt x="0" y="106"/>
                      <a:pt x="0" y="106"/>
                      <a:pt x="0" y="106"/>
                    </a:cubicBezTo>
                    <a:cubicBezTo>
                      <a:pt x="0" y="133"/>
                      <a:pt x="22" y="156"/>
                      <a:pt x="50" y="156"/>
                    </a:cubicBezTo>
                    <a:cubicBezTo>
                      <a:pt x="78" y="156"/>
                      <a:pt x="100" y="133"/>
                      <a:pt x="100" y="106"/>
                    </a:cubicBezTo>
                    <a:cubicBezTo>
                      <a:pt x="100" y="0"/>
                      <a:pt x="100" y="0"/>
                      <a:pt x="100"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54" name="Freeform 26">
                <a:extLst>
                  <a:ext uri="{FF2B5EF4-FFF2-40B4-BE49-F238E27FC236}">
                    <a16:creationId xmlns:a16="http://schemas.microsoft.com/office/drawing/2014/main" id="{B6E0B301-4D97-4F27-83C2-29F41D26809D}"/>
                  </a:ext>
                </a:extLst>
              </p:cNvPr>
              <p:cNvSpPr>
                <a:spLocks/>
              </p:cNvSpPr>
              <p:nvPr/>
            </p:nvSpPr>
            <p:spPr bwMode="auto">
              <a:xfrm>
                <a:off x="1495425" y="3122613"/>
                <a:ext cx="960438" cy="873125"/>
              </a:xfrm>
              <a:custGeom>
                <a:avLst/>
                <a:gdLst>
                  <a:gd name="T0" fmla="*/ 236 w 255"/>
                  <a:gd name="T1" fmla="*/ 41 h 232"/>
                  <a:gd name="T2" fmla="*/ 188 w 255"/>
                  <a:gd name="T3" fmla="*/ 41 h 232"/>
                  <a:gd name="T4" fmla="*/ 188 w 255"/>
                  <a:gd name="T5" fmla="*/ 0 h 232"/>
                  <a:gd name="T6" fmla="*/ 167 w 255"/>
                  <a:gd name="T7" fmla="*/ 0 h 232"/>
                  <a:gd name="T8" fmla="*/ 156 w 255"/>
                  <a:gd name="T9" fmla="*/ 16 h 232"/>
                  <a:gd name="T10" fmla="*/ 172 w 255"/>
                  <a:gd name="T11" fmla="*/ 16 h 232"/>
                  <a:gd name="T12" fmla="*/ 172 w 255"/>
                  <a:gd name="T13" fmla="*/ 41 h 232"/>
                  <a:gd name="T14" fmla="*/ 84 w 255"/>
                  <a:gd name="T15" fmla="*/ 41 h 232"/>
                  <a:gd name="T16" fmla="*/ 84 w 255"/>
                  <a:gd name="T17" fmla="*/ 16 h 232"/>
                  <a:gd name="T18" fmla="*/ 103 w 255"/>
                  <a:gd name="T19" fmla="*/ 16 h 232"/>
                  <a:gd name="T20" fmla="*/ 92 w 255"/>
                  <a:gd name="T21" fmla="*/ 0 h 232"/>
                  <a:gd name="T22" fmla="*/ 68 w 255"/>
                  <a:gd name="T23" fmla="*/ 0 h 232"/>
                  <a:gd name="T24" fmla="*/ 68 w 255"/>
                  <a:gd name="T25" fmla="*/ 41 h 232"/>
                  <a:gd name="T26" fmla="*/ 20 w 255"/>
                  <a:gd name="T27" fmla="*/ 41 h 232"/>
                  <a:gd name="T28" fmla="*/ 1 w 255"/>
                  <a:gd name="T29" fmla="*/ 60 h 232"/>
                  <a:gd name="T30" fmla="*/ 0 w 255"/>
                  <a:gd name="T31" fmla="*/ 212 h 232"/>
                  <a:gd name="T32" fmla="*/ 19 w 255"/>
                  <a:gd name="T33" fmla="*/ 231 h 232"/>
                  <a:gd name="T34" fmla="*/ 235 w 255"/>
                  <a:gd name="T35" fmla="*/ 232 h 232"/>
                  <a:gd name="T36" fmla="*/ 254 w 255"/>
                  <a:gd name="T37" fmla="*/ 213 h 232"/>
                  <a:gd name="T38" fmla="*/ 255 w 255"/>
                  <a:gd name="T39" fmla="*/ 61 h 232"/>
                  <a:gd name="T40" fmla="*/ 236 w 255"/>
                  <a:gd name="T41" fmla="*/ 41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5" h="232">
                    <a:moveTo>
                      <a:pt x="236" y="41"/>
                    </a:moveTo>
                    <a:cubicBezTo>
                      <a:pt x="188" y="41"/>
                      <a:pt x="188" y="41"/>
                      <a:pt x="188" y="41"/>
                    </a:cubicBezTo>
                    <a:cubicBezTo>
                      <a:pt x="188" y="0"/>
                      <a:pt x="188" y="0"/>
                      <a:pt x="188" y="0"/>
                    </a:cubicBezTo>
                    <a:cubicBezTo>
                      <a:pt x="167" y="0"/>
                      <a:pt x="167" y="0"/>
                      <a:pt x="167" y="0"/>
                    </a:cubicBezTo>
                    <a:cubicBezTo>
                      <a:pt x="165" y="6"/>
                      <a:pt x="161" y="11"/>
                      <a:pt x="156" y="16"/>
                    </a:cubicBezTo>
                    <a:cubicBezTo>
                      <a:pt x="172" y="16"/>
                      <a:pt x="172" y="16"/>
                      <a:pt x="172" y="16"/>
                    </a:cubicBezTo>
                    <a:cubicBezTo>
                      <a:pt x="172" y="41"/>
                      <a:pt x="172" y="41"/>
                      <a:pt x="172" y="41"/>
                    </a:cubicBezTo>
                    <a:cubicBezTo>
                      <a:pt x="84" y="41"/>
                      <a:pt x="84" y="41"/>
                      <a:pt x="84" y="41"/>
                    </a:cubicBezTo>
                    <a:cubicBezTo>
                      <a:pt x="84" y="16"/>
                      <a:pt x="84" y="16"/>
                      <a:pt x="84" y="16"/>
                    </a:cubicBezTo>
                    <a:cubicBezTo>
                      <a:pt x="103" y="16"/>
                      <a:pt x="103" y="16"/>
                      <a:pt x="103" y="16"/>
                    </a:cubicBezTo>
                    <a:cubicBezTo>
                      <a:pt x="98" y="11"/>
                      <a:pt x="94" y="6"/>
                      <a:pt x="92" y="0"/>
                    </a:cubicBezTo>
                    <a:cubicBezTo>
                      <a:pt x="68" y="0"/>
                      <a:pt x="68" y="0"/>
                      <a:pt x="68" y="0"/>
                    </a:cubicBezTo>
                    <a:cubicBezTo>
                      <a:pt x="68" y="41"/>
                      <a:pt x="68" y="41"/>
                      <a:pt x="68" y="41"/>
                    </a:cubicBezTo>
                    <a:cubicBezTo>
                      <a:pt x="20" y="41"/>
                      <a:pt x="20" y="41"/>
                      <a:pt x="20" y="41"/>
                    </a:cubicBezTo>
                    <a:cubicBezTo>
                      <a:pt x="9" y="41"/>
                      <a:pt x="1" y="49"/>
                      <a:pt x="1" y="60"/>
                    </a:cubicBezTo>
                    <a:cubicBezTo>
                      <a:pt x="0" y="212"/>
                      <a:pt x="0" y="212"/>
                      <a:pt x="0" y="212"/>
                    </a:cubicBezTo>
                    <a:cubicBezTo>
                      <a:pt x="0" y="223"/>
                      <a:pt x="9" y="231"/>
                      <a:pt x="19" y="231"/>
                    </a:cubicBezTo>
                    <a:cubicBezTo>
                      <a:pt x="235" y="232"/>
                      <a:pt x="235" y="232"/>
                      <a:pt x="235" y="232"/>
                    </a:cubicBezTo>
                    <a:cubicBezTo>
                      <a:pt x="246" y="232"/>
                      <a:pt x="254" y="224"/>
                      <a:pt x="254" y="213"/>
                    </a:cubicBezTo>
                    <a:cubicBezTo>
                      <a:pt x="255" y="61"/>
                      <a:pt x="255" y="61"/>
                      <a:pt x="255" y="61"/>
                    </a:cubicBezTo>
                    <a:cubicBezTo>
                      <a:pt x="255" y="50"/>
                      <a:pt x="246" y="41"/>
                      <a:pt x="23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55" name="Freeform 27">
                <a:extLst>
                  <a:ext uri="{FF2B5EF4-FFF2-40B4-BE49-F238E27FC236}">
                    <a16:creationId xmlns:a16="http://schemas.microsoft.com/office/drawing/2014/main" id="{49615D99-1823-4AC4-824B-FCBB3D0E945B}"/>
                  </a:ext>
                </a:extLst>
              </p:cNvPr>
              <p:cNvSpPr>
                <a:spLocks/>
              </p:cNvSpPr>
              <p:nvPr/>
            </p:nvSpPr>
            <p:spPr bwMode="auto">
              <a:xfrm>
                <a:off x="1857375" y="1897063"/>
                <a:ext cx="417513" cy="1293813"/>
              </a:xfrm>
              <a:custGeom>
                <a:avLst/>
                <a:gdLst>
                  <a:gd name="T0" fmla="*/ 34 w 111"/>
                  <a:gd name="T1" fmla="*/ 344 h 344"/>
                  <a:gd name="T2" fmla="*/ 35 w 111"/>
                  <a:gd name="T3" fmla="*/ 344 h 344"/>
                  <a:gd name="T4" fmla="*/ 65 w 111"/>
                  <a:gd name="T5" fmla="*/ 310 h 344"/>
                  <a:gd name="T6" fmla="*/ 64 w 111"/>
                  <a:gd name="T7" fmla="*/ 263 h 344"/>
                  <a:gd name="T8" fmla="*/ 102 w 111"/>
                  <a:gd name="T9" fmla="*/ 52 h 344"/>
                  <a:gd name="T10" fmla="*/ 102 w 111"/>
                  <a:gd name="T11" fmla="*/ 52 h 344"/>
                  <a:gd name="T12" fmla="*/ 102 w 111"/>
                  <a:gd name="T13" fmla="*/ 52 h 344"/>
                  <a:gd name="T14" fmla="*/ 102 w 111"/>
                  <a:gd name="T15" fmla="*/ 52 h 344"/>
                  <a:gd name="T16" fmla="*/ 90 w 111"/>
                  <a:gd name="T17" fmla="*/ 9 h 344"/>
                  <a:gd name="T18" fmla="*/ 47 w 111"/>
                  <a:gd name="T19" fmla="*/ 20 h 344"/>
                  <a:gd name="T20" fmla="*/ 0 w 111"/>
                  <a:gd name="T21" fmla="*/ 263 h 344"/>
                  <a:gd name="T22" fmla="*/ 2 w 111"/>
                  <a:gd name="T23" fmla="*/ 314 h 344"/>
                  <a:gd name="T24" fmla="*/ 34 w 111"/>
                  <a:gd name="T25"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344">
                    <a:moveTo>
                      <a:pt x="34" y="344"/>
                    </a:moveTo>
                    <a:cubicBezTo>
                      <a:pt x="34" y="344"/>
                      <a:pt x="35" y="344"/>
                      <a:pt x="35" y="344"/>
                    </a:cubicBezTo>
                    <a:cubicBezTo>
                      <a:pt x="53" y="343"/>
                      <a:pt x="66" y="328"/>
                      <a:pt x="65" y="310"/>
                    </a:cubicBezTo>
                    <a:cubicBezTo>
                      <a:pt x="65" y="294"/>
                      <a:pt x="64" y="278"/>
                      <a:pt x="64" y="263"/>
                    </a:cubicBezTo>
                    <a:cubicBezTo>
                      <a:pt x="64" y="123"/>
                      <a:pt x="100" y="57"/>
                      <a:pt x="102" y="52"/>
                    </a:cubicBezTo>
                    <a:cubicBezTo>
                      <a:pt x="102" y="52"/>
                      <a:pt x="102" y="52"/>
                      <a:pt x="102" y="52"/>
                    </a:cubicBezTo>
                    <a:cubicBezTo>
                      <a:pt x="102" y="52"/>
                      <a:pt x="102" y="52"/>
                      <a:pt x="102" y="52"/>
                    </a:cubicBezTo>
                    <a:cubicBezTo>
                      <a:pt x="102" y="52"/>
                      <a:pt x="102" y="52"/>
                      <a:pt x="102" y="52"/>
                    </a:cubicBezTo>
                    <a:cubicBezTo>
                      <a:pt x="111" y="37"/>
                      <a:pt x="106" y="17"/>
                      <a:pt x="90" y="9"/>
                    </a:cubicBezTo>
                    <a:cubicBezTo>
                      <a:pt x="75" y="0"/>
                      <a:pt x="56" y="5"/>
                      <a:pt x="47" y="20"/>
                    </a:cubicBezTo>
                    <a:cubicBezTo>
                      <a:pt x="44" y="24"/>
                      <a:pt x="0" y="102"/>
                      <a:pt x="0" y="263"/>
                    </a:cubicBezTo>
                    <a:cubicBezTo>
                      <a:pt x="0" y="279"/>
                      <a:pt x="1" y="296"/>
                      <a:pt x="2" y="314"/>
                    </a:cubicBezTo>
                    <a:cubicBezTo>
                      <a:pt x="2" y="331"/>
                      <a:pt x="17" y="344"/>
                      <a:pt x="34" y="3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56" name="Group 55">
              <a:extLst>
                <a:ext uri="{FF2B5EF4-FFF2-40B4-BE49-F238E27FC236}">
                  <a16:creationId xmlns:a16="http://schemas.microsoft.com/office/drawing/2014/main" id="{0E8BC991-CE3D-4DA8-83FE-F93127D6C8A9}"/>
                </a:ext>
              </a:extLst>
            </p:cNvPr>
            <p:cNvGrpSpPr/>
            <p:nvPr/>
          </p:nvGrpSpPr>
          <p:grpSpPr>
            <a:xfrm>
              <a:off x="4766748" y="2220690"/>
              <a:ext cx="750156" cy="834866"/>
              <a:chOff x="2965450" y="3675063"/>
              <a:chExt cx="871538" cy="1092200"/>
            </a:xfrm>
            <a:solidFill>
              <a:schemeClr val="tx2"/>
            </a:solidFill>
          </p:grpSpPr>
          <p:sp>
            <p:nvSpPr>
              <p:cNvPr id="57" name="Freeform 31">
                <a:extLst>
                  <a:ext uri="{FF2B5EF4-FFF2-40B4-BE49-F238E27FC236}">
                    <a16:creationId xmlns:a16="http://schemas.microsoft.com/office/drawing/2014/main" id="{E7F2FE15-5957-41F9-8F3C-C7140282EBEA}"/>
                  </a:ext>
                </a:extLst>
              </p:cNvPr>
              <p:cNvSpPr>
                <a:spLocks/>
              </p:cNvSpPr>
              <p:nvPr/>
            </p:nvSpPr>
            <p:spPr bwMode="auto">
              <a:xfrm>
                <a:off x="3116263" y="4451350"/>
                <a:ext cx="334962" cy="315913"/>
              </a:xfrm>
              <a:custGeom>
                <a:avLst/>
                <a:gdLst>
                  <a:gd name="T0" fmla="*/ 246 w 246"/>
                  <a:gd name="T1" fmla="*/ 216 h 232"/>
                  <a:gd name="T2" fmla="*/ 246 w 246"/>
                  <a:gd name="T3" fmla="*/ 7 h 232"/>
                  <a:gd name="T4" fmla="*/ 26 w 246"/>
                  <a:gd name="T5" fmla="*/ 7 h 232"/>
                  <a:gd name="T6" fmla="*/ 0 w 246"/>
                  <a:gd name="T7" fmla="*/ 0 h 232"/>
                  <a:gd name="T8" fmla="*/ 0 w 246"/>
                  <a:gd name="T9" fmla="*/ 216 h 232"/>
                  <a:gd name="T10" fmla="*/ 16 w 246"/>
                  <a:gd name="T11" fmla="*/ 232 h 232"/>
                  <a:gd name="T12" fmla="*/ 230 w 246"/>
                  <a:gd name="T13" fmla="*/ 232 h 232"/>
                  <a:gd name="T14" fmla="*/ 246 w 246"/>
                  <a:gd name="T15" fmla="*/ 216 h 2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32">
                    <a:moveTo>
                      <a:pt x="246" y="216"/>
                    </a:moveTo>
                    <a:cubicBezTo>
                      <a:pt x="246" y="7"/>
                      <a:pt x="246" y="7"/>
                      <a:pt x="246" y="7"/>
                    </a:cubicBezTo>
                    <a:cubicBezTo>
                      <a:pt x="26" y="7"/>
                      <a:pt x="26" y="7"/>
                      <a:pt x="26" y="7"/>
                    </a:cubicBezTo>
                    <a:cubicBezTo>
                      <a:pt x="16" y="7"/>
                      <a:pt x="7" y="4"/>
                      <a:pt x="0" y="0"/>
                    </a:cubicBezTo>
                    <a:cubicBezTo>
                      <a:pt x="0" y="216"/>
                      <a:pt x="0" y="216"/>
                      <a:pt x="0" y="216"/>
                    </a:cubicBezTo>
                    <a:cubicBezTo>
                      <a:pt x="0" y="225"/>
                      <a:pt x="7" y="232"/>
                      <a:pt x="16" y="232"/>
                    </a:cubicBezTo>
                    <a:cubicBezTo>
                      <a:pt x="230" y="232"/>
                      <a:pt x="230" y="232"/>
                      <a:pt x="230" y="232"/>
                    </a:cubicBezTo>
                    <a:cubicBezTo>
                      <a:pt x="239" y="232"/>
                      <a:pt x="246" y="225"/>
                      <a:pt x="246"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58" name="Freeform 32">
                <a:extLst>
                  <a:ext uri="{FF2B5EF4-FFF2-40B4-BE49-F238E27FC236}">
                    <a16:creationId xmlns:a16="http://schemas.microsoft.com/office/drawing/2014/main" id="{691E55CF-0B44-4260-83B8-CA8256080C13}"/>
                  </a:ext>
                </a:extLst>
              </p:cNvPr>
              <p:cNvSpPr>
                <a:spLocks/>
              </p:cNvSpPr>
              <p:nvPr/>
            </p:nvSpPr>
            <p:spPr bwMode="auto">
              <a:xfrm>
                <a:off x="3475038" y="3997325"/>
                <a:ext cx="334962" cy="239713"/>
              </a:xfrm>
              <a:custGeom>
                <a:avLst/>
                <a:gdLst>
                  <a:gd name="T0" fmla="*/ 16 w 246"/>
                  <a:gd name="T1" fmla="*/ 99 h 175"/>
                  <a:gd name="T2" fmla="*/ 16 w 246"/>
                  <a:gd name="T3" fmla="*/ 16 h 175"/>
                  <a:gd name="T4" fmla="*/ 218 w 246"/>
                  <a:gd name="T5" fmla="*/ 16 h 175"/>
                  <a:gd name="T6" fmla="*/ 218 w 246"/>
                  <a:gd name="T7" fmla="*/ 144 h 175"/>
                  <a:gd name="T8" fmla="*/ 73 w 246"/>
                  <a:gd name="T9" fmla="*/ 144 h 175"/>
                  <a:gd name="T10" fmla="*/ 64 w 246"/>
                  <a:gd name="T11" fmla="*/ 163 h 175"/>
                  <a:gd name="T12" fmla="*/ 50 w 246"/>
                  <a:gd name="T13" fmla="*/ 175 h 175"/>
                  <a:gd name="T14" fmla="*/ 246 w 246"/>
                  <a:gd name="T15" fmla="*/ 175 h 175"/>
                  <a:gd name="T16" fmla="*/ 246 w 246"/>
                  <a:gd name="T17" fmla="*/ 156 h 175"/>
                  <a:gd name="T18" fmla="*/ 234 w 246"/>
                  <a:gd name="T19" fmla="*/ 156 h 175"/>
                  <a:gd name="T20" fmla="*/ 234 w 246"/>
                  <a:gd name="T21" fmla="*/ 0 h 175"/>
                  <a:gd name="T22" fmla="*/ 0 w 246"/>
                  <a:gd name="T23" fmla="*/ 0 h 175"/>
                  <a:gd name="T24" fmla="*/ 0 w 246"/>
                  <a:gd name="T25" fmla="*/ 98 h 175"/>
                  <a:gd name="T26" fmla="*/ 15 w 246"/>
                  <a:gd name="T27" fmla="*/ 99 h 175"/>
                  <a:gd name="T28" fmla="*/ 16 w 246"/>
                  <a:gd name="T29" fmla="*/ 99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175">
                    <a:moveTo>
                      <a:pt x="16" y="99"/>
                    </a:moveTo>
                    <a:cubicBezTo>
                      <a:pt x="16" y="16"/>
                      <a:pt x="16" y="16"/>
                      <a:pt x="16" y="16"/>
                    </a:cubicBezTo>
                    <a:cubicBezTo>
                      <a:pt x="218" y="16"/>
                      <a:pt x="218" y="16"/>
                      <a:pt x="218" y="16"/>
                    </a:cubicBezTo>
                    <a:cubicBezTo>
                      <a:pt x="218" y="144"/>
                      <a:pt x="218" y="144"/>
                      <a:pt x="218" y="144"/>
                    </a:cubicBezTo>
                    <a:cubicBezTo>
                      <a:pt x="73" y="144"/>
                      <a:pt x="73" y="144"/>
                      <a:pt x="73" y="144"/>
                    </a:cubicBezTo>
                    <a:cubicBezTo>
                      <a:pt x="72" y="151"/>
                      <a:pt x="69" y="158"/>
                      <a:pt x="64" y="163"/>
                    </a:cubicBezTo>
                    <a:cubicBezTo>
                      <a:pt x="60" y="168"/>
                      <a:pt x="55" y="172"/>
                      <a:pt x="50" y="175"/>
                    </a:cubicBezTo>
                    <a:cubicBezTo>
                      <a:pt x="246" y="175"/>
                      <a:pt x="246" y="175"/>
                      <a:pt x="246" y="175"/>
                    </a:cubicBezTo>
                    <a:cubicBezTo>
                      <a:pt x="246" y="156"/>
                      <a:pt x="246" y="156"/>
                      <a:pt x="246" y="156"/>
                    </a:cubicBezTo>
                    <a:cubicBezTo>
                      <a:pt x="234" y="156"/>
                      <a:pt x="234" y="156"/>
                      <a:pt x="234" y="156"/>
                    </a:cubicBezTo>
                    <a:cubicBezTo>
                      <a:pt x="234" y="0"/>
                      <a:pt x="234" y="0"/>
                      <a:pt x="234" y="0"/>
                    </a:cubicBezTo>
                    <a:cubicBezTo>
                      <a:pt x="0" y="0"/>
                      <a:pt x="0" y="0"/>
                      <a:pt x="0" y="0"/>
                    </a:cubicBezTo>
                    <a:cubicBezTo>
                      <a:pt x="0" y="98"/>
                      <a:pt x="0" y="98"/>
                      <a:pt x="0" y="98"/>
                    </a:cubicBezTo>
                    <a:cubicBezTo>
                      <a:pt x="5" y="99"/>
                      <a:pt x="10" y="99"/>
                      <a:pt x="15" y="99"/>
                    </a:cubicBezTo>
                    <a:cubicBezTo>
                      <a:pt x="16" y="99"/>
                      <a:pt x="16" y="99"/>
                      <a:pt x="16"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59" name="Freeform 33">
                <a:extLst>
                  <a:ext uri="{FF2B5EF4-FFF2-40B4-BE49-F238E27FC236}">
                    <a16:creationId xmlns:a16="http://schemas.microsoft.com/office/drawing/2014/main" id="{1B6F03A7-FDA0-4B0C-918D-C15CE7FBF60B}"/>
                  </a:ext>
                </a:extLst>
              </p:cNvPr>
              <p:cNvSpPr>
                <a:spLocks/>
              </p:cNvSpPr>
              <p:nvPr/>
            </p:nvSpPr>
            <p:spPr bwMode="auto">
              <a:xfrm>
                <a:off x="3389313" y="4264025"/>
                <a:ext cx="447675" cy="61913"/>
              </a:xfrm>
              <a:custGeom>
                <a:avLst/>
                <a:gdLst>
                  <a:gd name="T0" fmla="*/ 122 w 329"/>
                  <a:gd name="T1" fmla="*/ 29 h 46"/>
                  <a:gd name="T2" fmla="*/ 163 w 329"/>
                  <a:gd name="T3" fmla="*/ 46 h 46"/>
                  <a:gd name="T4" fmla="*/ 163 w 329"/>
                  <a:gd name="T5" fmla="*/ 46 h 46"/>
                  <a:gd name="T6" fmla="*/ 329 w 329"/>
                  <a:gd name="T7" fmla="*/ 46 h 46"/>
                  <a:gd name="T8" fmla="*/ 329 w 329"/>
                  <a:gd name="T9" fmla="*/ 0 h 46"/>
                  <a:gd name="T10" fmla="*/ 0 w 329"/>
                  <a:gd name="T11" fmla="*/ 0 h 46"/>
                  <a:gd name="T12" fmla="*/ 0 w 329"/>
                  <a:gd name="T13" fmla="*/ 29 h 46"/>
                  <a:gd name="T14" fmla="*/ 122 w 329"/>
                  <a:gd name="T15" fmla="*/ 29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9" h="46">
                    <a:moveTo>
                      <a:pt x="122" y="29"/>
                    </a:moveTo>
                    <a:cubicBezTo>
                      <a:pt x="137" y="29"/>
                      <a:pt x="152" y="35"/>
                      <a:pt x="163" y="46"/>
                    </a:cubicBezTo>
                    <a:cubicBezTo>
                      <a:pt x="163" y="46"/>
                      <a:pt x="163" y="46"/>
                      <a:pt x="163" y="46"/>
                    </a:cubicBezTo>
                    <a:cubicBezTo>
                      <a:pt x="329" y="46"/>
                      <a:pt x="329" y="46"/>
                      <a:pt x="329" y="46"/>
                    </a:cubicBezTo>
                    <a:cubicBezTo>
                      <a:pt x="329" y="0"/>
                      <a:pt x="329" y="0"/>
                      <a:pt x="329" y="0"/>
                    </a:cubicBezTo>
                    <a:cubicBezTo>
                      <a:pt x="0" y="0"/>
                      <a:pt x="0" y="0"/>
                      <a:pt x="0" y="0"/>
                    </a:cubicBezTo>
                    <a:cubicBezTo>
                      <a:pt x="0" y="29"/>
                      <a:pt x="0" y="29"/>
                      <a:pt x="0" y="29"/>
                    </a:cubicBezTo>
                    <a:lnTo>
                      <a:pt x="122"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60" name="Freeform 34">
                <a:extLst>
                  <a:ext uri="{FF2B5EF4-FFF2-40B4-BE49-F238E27FC236}">
                    <a16:creationId xmlns:a16="http://schemas.microsoft.com/office/drawing/2014/main" id="{C853F9F0-A293-41C3-9728-C26B2B47674E}"/>
                  </a:ext>
                </a:extLst>
              </p:cNvPr>
              <p:cNvSpPr>
                <a:spLocks/>
              </p:cNvSpPr>
              <p:nvPr/>
            </p:nvSpPr>
            <p:spPr bwMode="auto">
              <a:xfrm>
                <a:off x="3127375" y="3675063"/>
                <a:ext cx="244475" cy="215900"/>
              </a:xfrm>
              <a:custGeom>
                <a:avLst/>
                <a:gdLst>
                  <a:gd name="T0" fmla="*/ 180 w 180"/>
                  <a:gd name="T1" fmla="*/ 90 h 159"/>
                  <a:gd name="T2" fmla="*/ 90 w 180"/>
                  <a:gd name="T3" fmla="*/ 0 h 159"/>
                  <a:gd name="T4" fmla="*/ 0 w 180"/>
                  <a:gd name="T5" fmla="*/ 90 h 159"/>
                  <a:gd name="T6" fmla="*/ 32 w 180"/>
                  <a:gd name="T7" fmla="*/ 159 h 159"/>
                  <a:gd name="T8" fmla="*/ 148 w 180"/>
                  <a:gd name="T9" fmla="*/ 159 h 159"/>
                  <a:gd name="T10" fmla="*/ 180 w 180"/>
                  <a:gd name="T11" fmla="*/ 90 h 159"/>
                </a:gdLst>
                <a:ahLst/>
                <a:cxnLst>
                  <a:cxn ang="0">
                    <a:pos x="T0" y="T1"/>
                  </a:cxn>
                  <a:cxn ang="0">
                    <a:pos x="T2" y="T3"/>
                  </a:cxn>
                  <a:cxn ang="0">
                    <a:pos x="T4" y="T5"/>
                  </a:cxn>
                  <a:cxn ang="0">
                    <a:pos x="T6" y="T7"/>
                  </a:cxn>
                  <a:cxn ang="0">
                    <a:pos x="T8" y="T9"/>
                  </a:cxn>
                  <a:cxn ang="0">
                    <a:pos x="T10" y="T11"/>
                  </a:cxn>
                </a:cxnLst>
                <a:rect l="0" t="0" r="r" b="b"/>
                <a:pathLst>
                  <a:path w="180" h="159">
                    <a:moveTo>
                      <a:pt x="180" y="90"/>
                    </a:moveTo>
                    <a:cubicBezTo>
                      <a:pt x="180" y="41"/>
                      <a:pt x="140" y="0"/>
                      <a:pt x="90" y="0"/>
                    </a:cubicBezTo>
                    <a:cubicBezTo>
                      <a:pt x="40" y="0"/>
                      <a:pt x="0" y="41"/>
                      <a:pt x="0" y="90"/>
                    </a:cubicBezTo>
                    <a:cubicBezTo>
                      <a:pt x="0" y="118"/>
                      <a:pt x="12" y="143"/>
                      <a:pt x="32" y="159"/>
                    </a:cubicBezTo>
                    <a:cubicBezTo>
                      <a:pt x="148" y="159"/>
                      <a:pt x="148" y="159"/>
                      <a:pt x="148" y="159"/>
                    </a:cubicBezTo>
                    <a:cubicBezTo>
                      <a:pt x="167" y="143"/>
                      <a:pt x="180" y="118"/>
                      <a:pt x="180"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67" name="Freeform 35">
                <a:extLst>
                  <a:ext uri="{FF2B5EF4-FFF2-40B4-BE49-F238E27FC236}">
                    <a16:creationId xmlns:a16="http://schemas.microsoft.com/office/drawing/2014/main" id="{FD32440C-43A6-42AE-936C-F1FD8F75F0C1}"/>
                  </a:ext>
                </a:extLst>
              </p:cNvPr>
              <p:cNvSpPr>
                <a:spLocks/>
              </p:cNvSpPr>
              <p:nvPr/>
            </p:nvSpPr>
            <p:spPr bwMode="auto">
              <a:xfrm>
                <a:off x="2965450" y="3902075"/>
                <a:ext cx="657225" cy="854075"/>
              </a:xfrm>
              <a:custGeom>
                <a:avLst/>
                <a:gdLst>
                  <a:gd name="T0" fmla="*/ 79 w 483"/>
                  <a:gd name="T1" fmla="*/ 154 h 626"/>
                  <a:gd name="T2" fmla="*/ 66 w 483"/>
                  <a:gd name="T3" fmla="*/ 139 h 626"/>
                  <a:gd name="T4" fmla="*/ 66 w 483"/>
                  <a:gd name="T5" fmla="*/ 139 h 626"/>
                  <a:gd name="T6" fmla="*/ 64 w 483"/>
                  <a:gd name="T7" fmla="*/ 132 h 626"/>
                  <a:gd name="T8" fmla="*/ 64 w 483"/>
                  <a:gd name="T9" fmla="*/ 130 h 626"/>
                  <a:gd name="T10" fmla="*/ 70 w 483"/>
                  <a:gd name="T11" fmla="*/ 109 h 626"/>
                  <a:gd name="T12" fmla="*/ 87 w 483"/>
                  <a:gd name="T13" fmla="*/ 87 h 626"/>
                  <a:gd name="T14" fmla="*/ 87 w 483"/>
                  <a:gd name="T15" fmla="*/ 352 h 626"/>
                  <a:gd name="T16" fmla="*/ 87 w 483"/>
                  <a:gd name="T17" fmla="*/ 352 h 626"/>
                  <a:gd name="T18" fmla="*/ 137 w 483"/>
                  <a:gd name="T19" fmla="*/ 402 h 626"/>
                  <a:gd name="T20" fmla="*/ 383 w 483"/>
                  <a:gd name="T21" fmla="*/ 402 h 626"/>
                  <a:gd name="T22" fmla="*/ 383 w 483"/>
                  <a:gd name="T23" fmla="*/ 576 h 626"/>
                  <a:gd name="T24" fmla="*/ 433 w 483"/>
                  <a:gd name="T25" fmla="*/ 626 h 626"/>
                  <a:gd name="T26" fmla="*/ 483 w 483"/>
                  <a:gd name="T27" fmla="*/ 576 h 626"/>
                  <a:gd name="T28" fmla="*/ 483 w 483"/>
                  <a:gd name="T29" fmla="*/ 352 h 626"/>
                  <a:gd name="T30" fmla="*/ 468 w 483"/>
                  <a:gd name="T31" fmla="*/ 316 h 626"/>
                  <a:gd name="T32" fmla="*/ 433 w 483"/>
                  <a:gd name="T33" fmla="*/ 302 h 626"/>
                  <a:gd name="T34" fmla="*/ 303 w 483"/>
                  <a:gd name="T35" fmla="*/ 302 h 626"/>
                  <a:gd name="T36" fmla="*/ 303 w 483"/>
                  <a:gd name="T37" fmla="*/ 214 h 626"/>
                  <a:gd name="T38" fmla="*/ 347 w 483"/>
                  <a:gd name="T39" fmla="*/ 236 h 626"/>
                  <a:gd name="T40" fmla="*/ 390 w 483"/>
                  <a:gd name="T41" fmla="*/ 241 h 626"/>
                  <a:gd name="T42" fmla="*/ 411 w 483"/>
                  <a:gd name="T43" fmla="*/ 240 h 626"/>
                  <a:gd name="T44" fmla="*/ 439 w 483"/>
                  <a:gd name="T45" fmla="*/ 205 h 626"/>
                  <a:gd name="T46" fmla="*/ 404 w 483"/>
                  <a:gd name="T47" fmla="*/ 176 h 626"/>
                  <a:gd name="T48" fmla="*/ 390 w 483"/>
                  <a:gd name="T49" fmla="*/ 177 h 626"/>
                  <a:gd name="T50" fmla="*/ 362 w 483"/>
                  <a:gd name="T51" fmla="*/ 174 h 626"/>
                  <a:gd name="T52" fmla="*/ 348 w 483"/>
                  <a:gd name="T53" fmla="*/ 168 h 626"/>
                  <a:gd name="T54" fmla="*/ 336 w 483"/>
                  <a:gd name="T55" fmla="*/ 137 h 626"/>
                  <a:gd name="T56" fmla="*/ 332 w 483"/>
                  <a:gd name="T57" fmla="*/ 67 h 626"/>
                  <a:gd name="T58" fmla="*/ 325 w 483"/>
                  <a:gd name="T59" fmla="*/ 30 h 626"/>
                  <a:gd name="T60" fmla="*/ 310 w 483"/>
                  <a:gd name="T61" fmla="*/ 10 h 626"/>
                  <a:gd name="T62" fmla="*/ 282 w 483"/>
                  <a:gd name="T63" fmla="*/ 0 h 626"/>
                  <a:gd name="T64" fmla="*/ 278 w 483"/>
                  <a:gd name="T65" fmla="*/ 1 h 626"/>
                  <a:gd name="T66" fmla="*/ 272 w 483"/>
                  <a:gd name="T67" fmla="*/ 0 h 626"/>
                  <a:gd name="T68" fmla="*/ 118 w 483"/>
                  <a:gd name="T69" fmla="*/ 0 h 626"/>
                  <a:gd name="T70" fmla="*/ 111 w 483"/>
                  <a:gd name="T71" fmla="*/ 1 h 626"/>
                  <a:gd name="T72" fmla="*/ 78 w 483"/>
                  <a:gd name="T73" fmla="*/ 13 h 626"/>
                  <a:gd name="T74" fmla="*/ 27 w 483"/>
                  <a:gd name="T75" fmla="*/ 59 h 626"/>
                  <a:gd name="T76" fmla="*/ 0 w 483"/>
                  <a:gd name="T77" fmla="*/ 130 h 626"/>
                  <a:gd name="T78" fmla="*/ 0 w 483"/>
                  <a:gd name="T79" fmla="*/ 135 h 626"/>
                  <a:gd name="T80" fmla="*/ 6 w 483"/>
                  <a:gd name="T81" fmla="*/ 161 h 626"/>
                  <a:gd name="T82" fmla="*/ 6 w 483"/>
                  <a:gd name="T83" fmla="*/ 162 h 626"/>
                  <a:gd name="T84" fmla="*/ 6 w 483"/>
                  <a:gd name="T85" fmla="*/ 162 h 626"/>
                  <a:gd name="T86" fmla="*/ 53 w 483"/>
                  <a:gd name="T87" fmla="*/ 214 h 626"/>
                  <a:gd name="T88" fmla="*/ 79 w 483"/>
                  <a:gd name="T89" fmla="*/ 227 h 626"/>
                  <a:gd name="T90" fmla="*/ 79 w 483"/>
                  <a:gd name="T91" fmla="*/ 15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3" h="626">
                    <a:moveTo>
                      <a:pt x="79" y="154"/>
                    </a:moveTo>
                    <a:cubicBezTo>
                      <a:pt x="71" y="148"/>
                      <a:pt x="68" y="143"/>
                      <a:pt x="66" y="139"/>
                    </a:cubicBezTo>
                    <a:cubicBezTo>
                      <a:pt x="66" y="139"/>
                      <a:pt x="66" y="139"/>
                      <a:pt x="66" y="139"/>
                    </a:cubicBezTo>
                    <a:cubicBezTo>
                      <a:pt x="65" y="137"/>
                      <a:pt x="65" y="134"/>
                      <a:pt x="64" y="132"/>
                    </a:cubicBezTo>
                    <a:cubicBezTo>
                      <a:pt x="64" y="131"/>
                      <a:pt x="64" y="131"/>
                      <a:pt x="64" y="130"/>
                    </a:cubicBezTo>
                    <a:cubicBezTo>
                      <a:pt x="64" y="125"/>
                      <a:pt x="66" y="117"/>
                      <a:pt x="70" y="109"/>
                    </a:cubicBezTo>
                    <a:cubicBezTo>
                      <a:pt x="74" y="102"/>
                      <a:pt x="80" y="94"/>
                      <a:pt x="87" y="87"/>
                    </a:cubicBezTo>
                    <a:cubicBezTo>
                      <a:pt x="87" y="352"/>
                      <a:pt x="87" y="352"/>
                      <a:pt x="87" y="352"/>
                    </a:cubicBezTo>
                    <a:cubicBezTo>
                      <a:pt x="87" y="352"/>
                      <a:pt x="87" y="352"/>
                      <a:pt x="87" y="352"/>
                    </a:cubicBezTo>
                    <a:cubicBezTo>
                      <a:pt x="87" y="379"/>
                      <a:pt x="109" y="402"/>
                      <a:pt x="137" y="402"/>
                    </a:cubicBezTo>
                    <a:cubicBezTo>
                      <a:pt x="383" y="402"/>
                      <a:pt x="383" y="402"/>
                      <a:pt x="383" y="402"/>
                    </a:cubicBezTo>
                    <a:cubicBezTo>
                      <a:pt x="383" y="576"/>
                      <a:pt x="383" y="576"/>
                      <a:pt x="383" y="576"/>
                    </a:cubicBezTo>
                    <a:cubicBezTo>
                      <a:pt x="383" y="603"/>
                      <a:pt x="405" y="626"/>
                      <a:pt x="433" y="626"/>
                    </a:cubicBezTo>
                    <a:cubicBezTo>
                      <a:pt x="460" y="626"/>
                      <a:pt x="483" y="603"/>
                      <a:pt x="483" y="576"/>
                    </a:cubicBezTo>
                    <a:cubicBezTo>
                      <a:pt x="483" y="352"/>
                      <a:pt x="483" y="352"/>
                      <a:pt x="483" y="352"/>
                    </a:cubicBezTo>
                    <a:cubicBezTo>
                      <a:pt x="483" y="339"/>
                      <a:pt x="477" y="326"/>
                      <a:pt x="468" y="316"/>
                    </a:cubicBezTo>
                    <a:cubicBezTo>
                      <a:pt x="459" y="307"/>
                      <a:pt x="446" y="302"/>
                      <a:pt x="433" y="302"/>
                    </a:cubicBezTo>
                    <a:cubicBezTo>
                      <a:pt x="303" y="302"/>
                      <a:pt x="303" y="302"/>
                      <a:pt x="303" y="302"/>
                    </a:cubicBezTo>
                    <a:cubicBezTo>
                      <a:pt x="303" y="214"/>
                      <a:pt x="303" y="214"/>
                      <a:pt x="303" y="214"/>
                    </a:cubicBezTo>
                    <a:cubicBezTo>
                      <a:pt x="317" y="227"/>
                      <a:pt x="333" y="233"/>
                      <a:pt x="347" y="236"/>
                    </a:cubicBezTo>
                    <a:cubicBezTo>
                      <a:pt x="363" y="240"/>
                      <a:pt x="378" y="241"/>
                      <a:pt x="390" y="241"/>
                    </a:cubicBezTo>
                    <a:cubicBezTo>
                      <a:pt x="402" y="241"/>
                      <a:pt x="410" y="240"/>
                      <a:pt x="411" y="240"/>
                    </a:cubicBezTo>
                    <a:cubicBezTo>
                      <a:pt x="428" y="238"/>
                      <a:pt x="441" y="222"/>
                      <a:pt x="439" y="205"/>
                    </a:cubicBezTo>
                    <a:cubicBezTo>
                      <a:pt x="437" y="187"/>
                      <a:pt x="421" y="175"/>
                      <a:pt x="404" y="176"/>
                    </a:cubicBezTo>
                    <a:cubicBezTo>
                      <a:pt x="403" y="177"/>
                      <a:pt x="397" y="177"/>
                      <a:pt x="390" y="177"/>
                    </a:cubicBezTo>
                    <a:cubicBezTo>
                      <a:pt x="381" y="177"/>
                      <a:pt x="370" y="176"/>
                      <a:pt x="362" y="174"/>
                    </a:cubicBezTo>
                    <a:cubicBezTo>
                      <a:pt x="353" y="172"/>
                      <a:pt x="348" y="169"/>
                      <a:pt x="348" y="168"/>
                    </a:cubicBezTo>
                    <a:cubicBezTo>
                      <a:pt x="342" y="161"/>
                      <a:pt x="338" y="151"/>
                      <a:pt x="336" y="137"/>
                    </a:cubicBezTo>
                    <a:cubicBezTo>
                      <a:pt x="332" y="116"/>
                      <a:pt x="333" y="90"/>
                      <a:pt x="332" y="67"/>
                    </a:cubicBezTo>
                    <a:cubicBezTo>
                      <a:pt x="331" y="55"/>
                      <a:pt x="331" y="43"/>
                      <a:pt x="325" y="30"/>
                    </a:cubicBezTo>
                    <a:cubicBezTo>
                      <a:pt x="322" y="23"/>
                      <a:pt x="318" y="16"/>
                      <a:pt x="310" y="10"/>
                    </a:cubicBezTo>
                    <a:cubicBezTo>
                      <a:pt x="302" y="3"/>
                      <a:pt x="291" y="0"/>
                      <a:pt x="282" y="0"/>
                    </a:cubicBezTo>
                    <a:cubicBezTo>
                      <a:pt x="281" y="0"/>
                      <a:pt x="279" y="0"/>
                      <a:pt x="278" y="1"/>
                    </a:cubicBezTo>
                    <a:cubicBezTo>
                      <a:pt x="276" y="0"/>
                      <a:pt x="274" y="0"/>
                      <a:pt x="272" y="0"/>
                    </a:cubicBezTo>
                    <a:cubicBezTo>
                      <a:pt x="118" y="0"/>
                      <a:pt x="118" y="0"/>
                      <a:pt x="118" y="0"/>
                    </a:cubicBezTo>
                    <a:cubicBezTo>
                      <a:pt x="115" y="0"/>
                      <a:pt x="113" y="1"/>
                      <a:pt x="111" y="1"/>
                    </a:cubicBezTo>
                    <a:cubicBezTo>
                      <a:pt x="98" y="3"/>
                      <a:pt x="88" y="7"/>
                      <a:pt x="78" y="13"/>
                    </a:cubicBezTo>
                    <a:cubicBezTo>
                      <a:pt x="60" y="24"/>
                      <a:pt x="42" y="39"/>
                      <a:pt x="27" y="59"/>
                    </a:cubicBezTo>
                    <a:cubicBezTo>
                      <a:pt x="13" y="78"/>
                      <a:pt x="1" y="102"/>
                      <a:pt x="0" y="130"/>
                    </a:cubicBezTo>
                    <a:cubicBezTo>
                      <a:pt x="0" y="132"/>
                      <a:pt x="0" y="133"/>
                      <a:pt x="0" y="135"/>
                    </a:cubicBezTo>
                    <a:cubicBezTo>
                      <a:pt x="1" y="143"/>
                      <a:pt x="3" y="152"/>
                      <a:pt x="6" y="161"/>
                    </a:cubicBezTo>
                    <a:cubicBezTo>
                      <a:pt x="6" y="161"/>
                      <a:pt x="6" y="161"/>
                      <a:pt x="6" y="162"/>
                    </a:cubicBezTo>
                    <a:cubicBezTo>
                      <a:pt x="6" y="162"/>
                      <a:pt x="6" y="162"/>
                      <a:pt x="6" y="162"/>
                    </a:cubicBezTo>
                    <a:cubicBezTo>
                      <a:pt x="14" y="183"/>
                      <a:pt x="31" y="201"/>
                      <a:pt x="53" y="214"/>
                    </a:cubicBezTo>
                    <a:cubicBezTo>
                      <a:pt x="61" y="219"/>
                      <a:pt x="69" y="223"/>
                      <a:pt x="79" y="227"/>
                    </a:cubicBezTo>
                    <a:lnTo>
                      <a:pt x="79"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68" name="Group 67">
              <a:extLst>
                <a:ext uri="{FF2B5EF4-FFF2-40B4-BE49-F238E27FC236}">
                  <a16:creationId xmlns:a16="http://schemas.microsoft.com/office/drawing/2014/main" id="{4EB717D4-4443-440B-A235-7ACD3EE9FF6C}"/>
                </a:ext>
              </a:extLst>
            </p:cNvPr>
            <p:cNvGrpSpPr/>
            <p:nvPr/>
          </p:nvGrpSpPr>
          <p:grpSpPr>
            <a:xfrm>
              <a:off x="2699385" y="2418968"/>
              <a:ext cx="637279" cy="1187876"/>
              <a:chOff x="831851" y="3744104"/>
              <a:chExt cx="740396" cy="1481947"/>
            </a:xfrm>
          </p:grpSpPr>
          <p:grpSp>
            <p:nvGrpSpPr>
              <p:cNvPr id="69" name="Group 68">
                <a:extLst>
                  <a:ext uri="{FF2B5EF4-FFF2-40B4-BE49-F238E27FC236}">
                    <a16:creationId xmlns:a16="http://schemas.microsoft.com/office/drawing/2014/main" id="{22946CAE-E9AB-4DED-8D75-7C51CDEA9BA2}"/>
                  </a:ext>
                </a:extLst>
              </p:cNvPr>
              <p:cNvGrpSpPr/>
              <p:nvPr/>
            </p:nvGrpSpPr>
            <p:grpSpPr>
              <a:xfrm>
                <a:off x="831851" y="4159251"/>
                <a:ext cx="577850" cy="1066800"/>
                <a:chOff x="831851" y="4159251"/>
                <a:chExt cx="577850" cy="1066800"/>
              </a:xfrm>
              <a:solidFill>
                <a:schemeClr val="tx2"/>
              </a:solidFill>
            </p:grpSpPr>
            <p:sp>
              <p:nvSpPr>
                <p:cNvPr id="78" name="Oval 39">
                  <a:extLst>
                    <a:ext uri="{FF2B5EF4-FFF2-40B4-BE49-F238E27FC236}">
                      <a16:creationId xmlns:a16="http://schemas.microsoft.com/office/drawing/2014/main" id="{2EC4D66F-32C2-4F73-8944-07CDC5D3E306}"/>
                    </a:ext>
                  </a:extLst>
                </p:cNvPr>
                <p:cNvSpPr>
                  <a:spLocks noChangeArrowheads="1"/>
                </p:cNvSpPr>
                <p:nvPr/>
              </p:nvSpPr>
              <p:spPr bwMode="auto">
                <a:xfrm>
                  <a:off x="969963" y="4159251"/>
                  <a:ext cx="217488" cy="2143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79" name="Freeform 40">
                  <a:extLst>
                    <a:ext uri="{FF2B5EF4-FFF2-40B4-BE49-F238E27FC236}">
                      <a16:creationId xmlns:a16="http://schemas.microsoft.com/office/drawing/2014/main" id="{036588CA-9F33-4C77-B1D6-1941F3F2E630}"/>
                    </a:ext>
                  </a:extLst>
                </p:cNvPr>
                <p:cNvSpPr>
                  <a:spLocks noEditPoints="1"/>
                </p:cNvSpPr>
                <p:nvPr/>
              </p:nvSpPr>
              <p:spPr bwMode="auto">
                <a:xfrm>
                  <a:off x="831851" y="4227513"/>
                  <a:ext cx="577850" cy="998538"/>
                </a:xfrm>
                <a:custGeom>
                  <a:avLst/>
                  <a:gdLst>
                    <a:gd name="T0" fmla="*/ 113 w 117"/>
                    <a:gd name="T1" fmla="*/ 2 h 205"/>
                    <a:gd name="T2" fmla="*/ 112 w 117"/>
                    <a:gd name="T3" fmla="*/ 1 h 205"/>
                    <a:gd name="T4" fmla="*/ 107 w 117"/>
                    <a:gd name="T5" fmla="*/ 0 h 205"/>
                    <a:gd name="T6" fmla="*/ 97 w 117"/>
                    <a:gd name="T7" fmla="*/ 10 h 205"/>
                    <a:gd name="T8" fmla="*/ 97 w 117"/>
                    <a:gd name="T9" fmla="*/ 12 h 205"/>
                    <a:gd name="T10" fmla="*/ 79 w 117"/>
                    <a:gd name="T11" fmla="*/ 32 h 205"/>
                    <a:gd name="T12" fmla="*/ 79 w 117"/>
                    <a:gd name="T13" fmla="*/ 32 h 205"/>
                    <a:gd name="T14" fmla="*/ 77 w 117"/>
                    <a:gd name="T15" fmla="*/ 32 h 205"/>
                    <a:gd name="T16" fmla="*/ 24 w 117"/>
                    <a:gd name="T17" fmla="*/ 32 h 205"/>
                    <a:gd name="T18" fmla="*/ 21 w 117"/>
                    <a:gd name="T19" fmla="*/ 32 h 205"/>
                    <a:gd name="T20" fmla="*/ 21 w 117"/>
                    <a:gd name="T21" fmla="*/ 32 h 205"/>
                    <a:gd name="T22" fmla="*/ 0 w 117"/>
                    <a:gd name="T23" fmla="*/ 56 h 205"/>
                    <a:gd name="T24" fmla="*/ 0 w 117"/>
                    <a:gd name="T25" fmla="*/ 112 h 205"/>
                    <a:gd name="T26" fmla="*/ 0 w 117"/>
                    <a:gd name="T27" fmla="*/ 114 h 205"/>
                    <a:gd name="T28" fmla="*/ 21 w 117"/>
                    <a:gd name="T29" fmla="*/ 113 h 205"/>
                    <a:gd name="T30" fmla="*/ 21 w 117"/>
                    <a:gd name="T31" fmla="*/ 112 h 205"/>
                    <a:gd name="T32" fmla="*/ 21 w 117"/>
                    <a:gd name="T33" fmla="*/ 101 h 205"/>
                    <a:gd name="T34" fmla="*/ 24 w 117"/>
                    <a:gd name="T35" fmla="*/ 53 h 205"/>
                    <a:gd name="T36" fmla="*/ 24 w 117"/>
                    <a:gd name="T37" fmla="*/ 96 h 205"/>
                    <a:gd name="T38" fmla="*/ 36 w 117"/>
                    <a:gd name="T39" fmla="*/ 205 h 205"/>
                    <a:gd name="T40" fmla="*/ 48 w 117"/>
                    <a:gd name="T41" fmla="*/ 123 h 205"/>
                    <a:gd name="T42" fmla="*/ 50 w 117"/>
                    <a:gd name="T43" fmla="*/ 123 h 205"/>
                    <a:gd name="T44" fmla="*/ 53 w 117"/>
                    <a:gd name="T45" fmla="*/ 123 h 205"/>
                    <a:gd name="T46" fmla="*/ 65 w 117"/>
                    <a:gd name="T47" fmla="*/ 205 h 205"/>
                    <a:gd name="T48" fmla="*/ 77 w 117"/>
                    <a:gd name="T49" fmla="*/ 96 h 205"/>
                    <a:gd name="T50" fmla="*/ 77 w 117"/>
                    <a:gd name="T51" fmla="*/ 53 h 205"/>
                    <a:gd name="T52" fmla="*/ 82 w 117"/>
                    <a:gd name="T53" fmla="*/ 53 h 205"/>
                    <a:gd name="T54" fmla="*/ 106 w 117"/>
                    <a:gd name="T55" fmla="*/ 53 h 205"/>
                    <a:gd name="T56" fmla="*/ 117 w 117"/>
                    <a:gd name="T57" fmla="*/ 43 h 205"/>
                    <a:gd name="T58" fmla="*/ 117 w 117"/>
                    <a:gd name="T59" fmla="*/ 12 h 205"/>
                    <a:gd name="T60" fmla="*/ 47 w 117"/>
                    <a:gd name="T61" fmla="*/ 42 h 205"/>
                    <a:gd name="T62" fmla="*/ 54 w 117"/>
                    <a:gd name="T63" fmla="*/ 42 h 205"/>
                    <a:gd name="T64" fmla="*/ 53 w 117"/>
                    <a:gd name="T65" fmla="*/ 52 h 205"/>
                    <a:gd name="T66" fmla="*/ 48 w 117"/>
                    <a:gd name="T67" fmla="*/ 52 h 205"/>
                    <a:gd name="T68" fmla="*/ 47 w 117"/>
                    <a:gd name="T69" fmla="*/ 42 h 205"/>
                    <a:gd name="T70" fmla="*/ 44 w 117"/>
                    <a:gd name="T71" fmla="*/ 83 h 205"/>
                    <a:gd name="T72" fmla="*/ 50 w 117"/>
                    <a:gd name="T73" fmla="*/ 53 h 205"/>
                    <a:gd name="T74" fmla="*/ 53 w 117"/>
                    <a:gd name="T75" fmla="*/ 53 h 205"/>
                    <a:gd name="T76" fmla="*/ 50 w 117"/>
                    <a:gd name="T77" fmla="*/ 96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7" h="205">
                      <a:moveTo>
                        <a:pt x="117" y="10"/>
                      </a:moveTo>
                      <a:cubicBezTo>
                        <a:pt x="117" y="7"/>
                        <a:pt x="115" y="4"/>
                        <a:pt x="113" y="2"/>
                      </a:cubicBezTo>
                      <a:cubicBezTo>
                        <a:pt x="113" y="2"/>
                        <a:pt x="113" y="2"/>
                        <a:pt x="113" y="2"/>
                      </a:cubicBezTo>
                      <a:cubicBezTo>
                        <a:pt x="112" y="2"/>
                        <a:pt x="112" y="1"/>
                        <a:pt x="112" y="1"/>
                      </a:cubicBezTo>
                      <a:cubicBezTo>
                        <a:pt x="111" y="0"/>
                        <a:pt x="109" y="0"/>
                        <a:pt x="107" y="0"/>
                      </a:cubicBezTo>
                      <a:cubicBezTo>
                        <a:pt x="107" y="0"/>
                        <a:pt x="107" y="0"/>
                        <a:pt x="107" y="0"/>
                      </a:cubicBezTo>
                      <a:cubicBezTo>
                        <a:pt x="107" y="0"/>
                        <a:pt x="107" y="0"/>
                        <a:pt x="107" y="0"/>
                      </a:cubicBezTo>
                      <a:cubicBezTo>
                        <a:pt x="101" y="0"/>
                        <a:pt x="97" y="5"/>
                        <a:pt x="97" y="10"/>
                      </a:cubicBezTo>
                      <a:cubicBezTo>
                        <a:pt x="97" y="12"/>
                        <a:pt x="97" y="12"/>
                        <a:pt x="97" y="12"/>
                      </a:cubicBezTo>
                      <a:cubicBezTo>
                        <a:pt x="97" y="12"/>
                        <a:pt x="97" y="12"/>
                        <a:pt x="97" y="12"/>
                      </a:cubicBezTo>
                      <a:cubicBezTo>
                        <a:pt x="97" y="32"/>
                        <a:pt x="97" y="32"/>
                        <a:pt x="97" y="32"/>
                      </a:cubicBezTo>
                      <a:cubicBezTo>
                        <a:pt x="79" y="32"/>
                        <a:pt x="79" y="32"/>
                        <a:pt x="79" y="32"/>
                      </a:cubicBezTo>
                      <a:cubicBezTo>
                        <a:pt x="79" y="32"/>
                        <a:pt x="79" y="32"/>
                        <a:pt x="79" y="32"/>
                      </a:cubicBezTo>
                      <a:cubicBezTo>
                        <a:pt x="79" y="32"/>
                        <a:pt x="79" y="32"/>
                        <a:pt x="79" y="32"/>
                      </a:cubicBezTo>
                      <a:cubicBezTo>
                        <a:pt x="77" y="32"/>
                        <a:pt x="77" y="32"/>
                        <a:pt x="77" y="32"/>
                      </a:cubicBezTo>
                      <a:cubicBezTo>
                        <a:pt x="77" y="32"/>
                        <a:pt x="77" y="32"/>
                        <a:pt x="77" y="32"/>
                      </a:cubicBezTo>
                      <a:cubicBezTo>
                        <a:pt x="24" y="32"/>
                        <a:pt x="24" y="32"/>
                        <a:pt x="24" y="32"/>
                      </a:cubicBezTo>
                      <a:cubicBezTo>
                        <a:pt x="24" y="32"/>
                        <a:pt x="24" y="32"/>
                        <a:pt x="24" y="32"/>
                      </a:cubicBezTo>
                      <a:cubicBezTo>
                        <a:pt x="21" y="32"/>
                        <a:pt x="21" y="32"/>
                        <a:pt x="21" y="32"/>
                      </a:cubicBezTo>
                      <a:cubicBezTo>
                        <a:pt x="21" y="32"/>
                        <a:pt x="21" y="32"/>
                        <a:pt x="21" y="32"/>
                      </a:cubicBezTo>
                      <a:cubicBezTo>
                        <a:pt x="21" y="32"/>
                        <a:pt x="21" y="32"/>
                        <a:pt x="21" y="32"/>
                      </a:cubicBezTo>
                      <a:cubicBezTo>
                        <a:pt x="21" y="32"/>
                        <a:pt x="21" y="32"/>
                        <a:pt x="21" y="32"/>
                      </a:cubicBezTo>
                      <a:cubicBezTo>
                        <a:pt x="21" y="32"/>
                        <a:pt x="20" y="32"/>
                        <a:pt x="20" y="32"/>
                      </a:cubicBezTo>
                      <a:cubicBezTo>
                        <a:pt x="0" y="32"/>
                        <a:pt x="0" y="56"/>
                        <a:pt x="0" y="56"/>
                      </a:cubicBezTo>
                      <a:cubicBezTo>
                        <a:pt x="0" y="110"/>
                        <a:pt x="0" y="110"/>
                        <a:pt x="0" y="110"/>
                      </a:cubicBezTo>
                      <a:cubicBezTo>
                        <a:pt x="0" y="112"/>
                        <a:pt x="0" y="112"/>
                        <a:pt x="0" y="112"/>
                      </a:cubicBezTo>
                      <a:cubicBezTo>
                        <a:pt x="0" y="112"/>
                        <a:pt x="0" y="112"/>
                        <a:pt x="0" y="112"/>
                      </a:cubicBezTo>
                      <a:cubicBezTo>
                        <a:pt x="0" y="113"/>
                        <a:pt x="0" y="113"/>
                        <a:pt x="0" y="114"/>
                      </a:cubicBezTo>
                      <a:cubicBezTo>
                        <a:pt x="1" y="119"/>
                        <a:pt x="5" y="123"/>
                        <a:pt x="10" y="123"/>
                      </a:cubicBezTo>
                      <a:cubicBezTo>
                        <a:pt x="16" y="123"/>
                        <a:pt x="20" y="119"/>
                        <a:pt x="21" y="113"/>
                      </a:cubicBezTo>
                      <a:cubicBezTo>
                        <a:pt x="21" y="113"/>
                        <a:pt x="21" y="113"/>
                        <a:pt x="21" y="112"/>
                      </a:cubicBezTo>
                      <a:cubicBezTo>
                        <a:pt x="21" y="112"/>
                        <a:pt x="21" y="112"/>
                        <a:pt x="21" y="112"/>
                      </a:cubicBezTo>
                      <a:cubicBezTo>
                        <a:pt x="21" y="110"/>
                        <a:pt x="21" y="110"/>
                        <a:pt x="21" y="110"/>
                      </a:cubicBezTo>
                      <a:cubicBezTo>
                        <a:pt x="21" y="101"/>
                        <a:pt x="21" y="101"/>
                        <a:pt x="21" y="101"/>
                      </a:cubicBezTo>
                      <a:cubicBezTo>
                        <a:pt x="21" y="101"/>
                        <a:pt x="21" y="74"/>
                        <a:pt x="21" y="53"/>
                      </a:cubicBezTo>
                      <a:cubicBezTo>
                        <a:pt x="24" y="53"/>
                        <a:pt x="24" y="53"/>
                        <a:pt x="24" y="53"/>
                      </a:cubicBezTo>
                      <a:cubicBezTo>
                        <a:pt x="24" y="96"/>
                        <a:pt x="24" y="96"/>
                        <a:pt x="24" y="96"/>
                      </a:cubicBezTo>
                      <a:cubicBezTo>
                        <a:pt x="24" y="96"/>
                        <a:pt x="24" y="96"/>
                        <a:pt x="24" y="96"/>
                      </a:cubicBezTo>
                      <a:cubicBezTo>
                        <a:pt x="24" y="193"/>
                        <a:pt x="24" y="193"/>
                        <a:pt x="24" y="193"/>
                      </a:cubicBezTo>
                      <a:cubicBezTo>
                        <a:pt x="24" y="200"/>
                        <a:pt x="30" y="205"/>
                        <a:pt x="36" y="205"/>
                      </a:cubicBezTo>
                      <a:cubicBezTo>
                        <a:pt x="43" y="205"/>
                        <a:pt x="48" y="200"/>
                        <a:pt x="48" y="193"/>
                      </a:cubicBezTo>
                      <a:cubicBezTo>
                        <a:pt x="48" y="123"/>
                        <a:pt x="48" y="123"/>
                        <a:pt x="48" y="123"/>
                      </a:cubicBezTo>
                      <a:cubicBezTo>
                        <a:pt x="48" y="123"/>
                        <a:pt x="48" y="123"/>
                        <a:pt x="48" y="123"/>
                      </a:cubicBezTo>
                      <a:cubicBezTo>
                        <a:pt x="49" y="123"/>
                        <a:pt x="50" y="123"/>
                        <a:pt x="50" y="123"/>
                      </a:cubicBezTo>
                      <a:cubicBezTo>
                        <a:pt x="51" y="123"/>
                        <a:pt x="52" y="123"/>
                        <a:pt x="53" y="123"/>
                      </a:cubicBezTo>
                      <a:cubicBezTo>
                        <a:pt x="53" y="123"/>
                        <a:pt x="53" y="123"/>
                        <a:pt x="53" y="123"/>
                      </a:cubicBezTo>
                      <a:cubicBezTo>
                        <a:pt x="53" y="193"/>
                        <a:pt x="53" y="193"/>
                        <a:pt x="53" y="193"/>
                      </a:cubicBezTo>
                      <a:cubicBezTo>
                        <a:pt x="53" y="200"/>
                        <a:pt x="58" y="205"/>
                        <a:pt x="65" y="205"/>
                      </a:cubicBezTo>
                      <a:cubicBezTo>
                        <a:pt x="71" y="205"/>
                        <a:pt x="77" y="200"/>
                        <a:pt x="77" y="193"/>
                      </a:cubicBezTo>
                      <a:cubicBezTo>
                        <a:pt x="77" y="96"/>
                        <a:pt x="77" y="96"/>
                        <a:pt x="77" y="96"/>
                      </a:cubicBezTo>
                      <a:cubicBezTo>
                        <a:pt x="77" y="96"/>
                        <a:pt x="77" y="96"/>
                        <a:pt x="77" y="96"/>
                      </a:cubicBezTo>
                      <a:cubicBezTo>
                        <a:pt x="77" y="53"/>
                        <a:pt x="77" y="53"/>
                        <a:pt x="77" y="53"/>
                      </a:cubicBezTo>
                      <a:cubicBezTo>
                        <a:pt x="82" y="53"/>
                        <a:pt x="82" y="53"/>
                        <a:pt x="82" y="53"/>
                      </a:cubicBezTo>
                      <a:cubicBezTo>
                        <a:pt x="82" y="53"/>
                        <a:pt x="82" y="53"/>
                        <a:pt x="82" y="53"/>
                      </a:cubicBezTo>
                      <a:cubicBezTo>
                        <a:pt x="106" y="53"/>
                        <a:pt x="106" y="53"/>
                        <a:pt x="106" y="53"/>
                      </a:cubicBezTo>
                      <a:cubicBezTo>
                        <a:pt x="106" y="53"/>
                        <a:pt x="106" y="53"/>
                        <a:pt x="106" y="53"/>
                      </a:cubicBezTo>
                      <a:cubicBezTo>
                        <a:pt x="107" y="53"/>
                        <a:pt x="107" y="53"/>
                        <a:pt x="107" y="53"/>
                      </a:cubicBezTo>
                      <a:cubicBezTo>
                        <a:pt x="113" y="53"/>
                        <a:pt x="117" y="49"/>
                        <a:pt x="117" y="43"/>
                      </a:cubicBezTo>
                      <a:cubicBezTo>
                        <a:pt x="117" y="43"/>
                        <a:pt x="117" y="19"/>
                        <a:pt x="117" y="12"/>
                      </a:cubicBezTo>
                      <a:cubicBezTo>
                        <a:pt x="117" y="12"/>
                        <a:pt x="117" y="12"/>
                        <a:pt x="117" y="12"/>
                      </a:cubicBezTo>
                      <a:lnTo>
                        <a:pt x="117" y="10"/>
                      </a:lnTo>
                      <a:close/>
                      <a:moveTo>
                        <a:pt x="47" y="42"/>
                      </a:moveTo>
                      <a:cubicBezTo>
                        <a:pt x="50" y="42"/>
                        <a:pt x="50" y="42"/>
                        <a:pt x="50" y="42"/>
                      </a:cubicBezTo>
                      <a:cubicBezTo>
                        <a:pt x="54" y="42"/>
                        <a:pt x="54" y="42"/>
                        <a:pt x="54" y="42"/>
                      </a:cubicBezTo>
                      <a:cubicBezTo>
                        <a:pt x="56" y="49"/>
                        <a:pt x="56" y="49"/>
                        <a:pt x="56" y="49"/>
                      </a:cubicBezTo>
                      <a:cubicBezTo>
                        <a:pt x="53" y="52"/>
                        <a:pt x="53" y="52"/>
                        <a:pt x="53" y="52"/>
                      </a:cubicBezTo>
                      <a:cubicBezTo>
                        <a:pt x="50" y="52"/>
                        <a:pt x="50" y="52"/>
                        <a:pt x="50" y="52"/>
                      </a:cubicBezTo>
                      <a:cubicBezTo>
                        <a:pt x="48" y="52"/>
                        <a:pt x="48" y="52"/>
                        <a:pt x="48" y="52"/>
                      </a:cubicBezTo>
                      <a:cubicBezTo>
                        <a:pt x="45" y="49"/>
                        <a:pt x="45" y="49"/>
                        <a:pt x="45" y="49"/>
                      </a:cubicBezTo>
                      <a:lnTo>
                        <a:pt x="47" y="42"/>
                      </a:lnTo>
                      <a:close/>
                      <a:moveTo>
                        <a:pt x="50" y="96"/>
                      </a:moveTo>
                      <a:cubicBezTo>
                        <a:pt x="44" y="83"/>
                        <a:pt x="44" y="83"/>
                        <a:pt x="44" y="83"/>
                      </a:cubicBezTo>
                      <a:cubicBezTo>
                        <a:pt x="48" y="53"/>
                        <a:pt x="48" y="53"/>
                        <a:pt x="48" y="53"/>
                      </a:cubicBezTo>
                      <a:cubicBezTo>
                        <a:pt x="50" y="53"/>
                        <a:pt x="50" y="53"/>
                        <a:pt x="50" y="53"/>
                      </a:cubicBezTo>
                      <a:cubicBezTo>
                        <a:pt x="50" y="53"/>
                        <a:pt x="50" y="53"/>
                        <a:pt x="50" y="53"/>
                      </a:cubicBezTo>
                      <a:cubicBezTo>
                        <a:pt x="53" y="53"/>
                        <a:pt x="53" y="53"/>
                        <a:pt x="53" y="53"/>
                      </a:cubicBezTo>
                      <a:cubicBezTo>
                        <a:pt x="57" y="83"/>
                        <a:pt x="57" y="83"/>
                        <a:pt x="57" y="83"/>
                      </a:cubicBezTo>
                      <a:lnTo>
                        <a:pt x="50"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70" name="Group 69">
                <a:extLst>
                  <a:ext uri="{FF2B5EF4-FFF2-40B4-BE49-F238E27FC236}">
                    <a16:creationId xmlns:a16="http://schemas.microsoft.com/office/drawing/2014/main" id="{3991C0DB-5CBD-447E-9350-6249FA020C7A}"/>
                  </a:ext>
                </a:extLst>
              </p:cNvPr>
              <p:cNvGrpSpPr/>
              <p:nvPr/>
            </p:nvGrpSpPr>
            <p:grpSpPr>
              <a:xfrm>
                <a:off x="1149059" y="3744104"/>
                <a:ext cx="423188" cy="423188"/>
                <a:chOff x="5978526" y="4030663"/>
                <a:chExt cx="239713" cy="239713"/>
              </a:xfrm>
              <a:solidFill>
                <a:schemeClr val="tx2"/>
              </a:solidFill>
            </p:grpSpPr>
            <p:sp>
              <p:nvSpPr>
                <p:cNvPr id="71" name="Freeform 424">
                  <a:extLst>
                    <a:ext uri="{FF2B5EF4-FFF2-40B4-BE49-F238E27FC236}">
                      <a16:creationId xmlns:a16="http://schemas.microsoft.com/office/drawing/2014/main" id="{FBB746F1-4C0B-4CB5-9245-A319D137F83B}"/>
                    </a:ext>
                  </a:extLst>
                </p:cNvPr>
                <p:cNvSpPr>
                  <a:spLocks/>
                </p:cNvSpPr>
                <p:nvPr/>
              </p:nvSpPr>
              <p:spPr bwMode="auto">
                <a:xfrm>
                  <a:off x="6015038" y="4056063"/>
                  <a:ext cx="26988" cy="26988"/>
                </a:xfrm>
                <a:custGeom>
                  <a:avLst/>
                  <a:gdLst>
                    <a:gd name="T0" fmla="*/ 6 w 7"/>
                    <a:gd name="T1" fmla="*/ 4 h 7"/>
                    <a:gd name="T2" fmla="*/ 4 w 7"/>
                    <a:gd name="T3" fmla="*/ 1 h 7"/>
                    <a:gd name="T4" fmla="*/ 1 w 7"/>
                    <a:gd name="T5" fmla="*/ 1 h 7"/>
                    <a:gd name="T6" fmla="*/ 1 w 7"/>
                    <a:gd name="T7" fmla="*/ 4 h 7"/>
                    <a:gd name="T8" fmla="*/ 4 w 7"/>
                    <a:gd name="T9" fmla="*/ 7 h 7"/>
                    <a:gd name="T10" fmla="*/ 6 w 7"/>
                    <a:gd name="T11" fmla="*/ 7 h 7"/>
                    <a:gd name="T12" fmla="*/ 6 w 7"/>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6" y="4"/>
                      </a:moveTo>
                      <a:cubicBezTo>
                        <a:pt x="4" y="1"/>
                        <a:pt x="4" y="1"/>
                        <a:pt x="4" y="1"/>
                      </a:cubicBezTo>
                      <a:cubicBezTo>
                        <a:pt x="3" y="0"/>
                        <a:pt x="2" y="0"/>
                        <a:pt x="1" y="1"/>
                      </a:cubicBezTo>
                      <a:cubicBezTo>
                        <a:pt x="0" y="2"/>
                        <a:pt x="0" y="3"/>
                        <a:pt x="1" y="4"/>
                      </a:cubicBezTo>
                      <a:cubicBezTo>
                        <a:pt x="4" y="7"/>
                        <a:pt x="4" y="7"/>
                        <a:pt x="4" y="7"/>
                      </a:cubicBezTo>
                      <a:cubicBezTo>
                        <a:pt x="4" y="7"/>
                        <a:pt x="6" y="7"/>
                        <a:pt x="6" y="7"/>
                      </a:cubicBezTo>
                      <a:cubicBezTo>
                        <a:pt x="7" y="6"/>
                        <a:pt x="7"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72" name="Freeform 425">
                  <a:extLst>
                    <a:ext uri="{FF2B5EF4-FFF2-40B4-BE49-F238E27FC236}">
                      <a16:creationId xmlns:a16="http://schemas.microsoft.com/office/drawing/2014/main" id="{D4A98713-5B88-42F9-B567-77EED28D405E}"/>
                    </a:ext>
                  </a:extLst>
                </p:cNvPr>
                <p:cNvSpPr>
                  <a:spLocks/>
                </p:cNvSpPr>
                <p:nvPr/>
              </p:nvSpPr>
              <p:spPr bwMode="auto">
                <a:xfrm>
                  <a:off x="5978526" y="4135438"/>
                  <a:ext cx="28575" cy="14288"/>
                </a:xfrm>
                <a:custGeom>
                  <a:avLst/>
                  <a:gdLst>
                    <a:gd name="T0" fmla="*/ 6 w 8"/>
                    <a:gd name="T1" fmla="*/ 0 h 4"/>
                    <a:gd name="T2" fmla="*/ 2 w 8"/>
                    <a:gd name="T3" fmla="*/ 0 h 4"/>
                    <a:gd name="T4" fmla="*/ 0 w 8"/>
                    <a:gd name="T5" fmla="*/ 2 h 4"/>
                    <a:gd name="T6" fmla="*/ 2 w 8"/>
                    <a:gd name="T7" fmla="*/ 4 h 4"/>
                    <a:gd name="T8" fmla="*/ 6 w 8"/>
                    <a:gd name="T9" fmla="*/ 4 h 4"/>
                    <a:gd name="T10" fmla="*/ 8 w 8"/>
                    <a:gd name="T11" fmla="*/ 2 h 4"/>
                    <a:gd name="T12" fmla="*/ 6 w 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 h="4">
                      <a:moveTo>
                        <a:pt x="6" y="0"/>
                      </a:moveTo>
                      <a:cubicBezTo>
                        <a:pt x="2" y="0"/>
                        <a:pt x="2" y="0"/>
                        <a:pt x="2" y="0"/>
                      </a:cubicBezTo>
                      <a:cubicBezTo>
                        <a:pt x="1" y="0"/>
                        <a:pt x="0" y="1"/>
                        <a:pt x="0" y="2"/>
                      </a:cubicBezTo>
                      <a:cubicBezTo>
                        <a:pt x="0" y="3"/>
                        <a:pt x="1" y="4"/>
                        <a:pt x="2" y="4"/>
                      </a:cubicBezTo>
                      <a:cubicBezTo>
                        <a:pt x="6" y="4"/>
                        <a:pt x="6" y="4"/>
                        <a:pt x="6" y="4"/>
                      </a:cubicBezTo>
                      <a:cubicBezTo>
                        <a:pt x="7" y="4"/>
                        <a:pt x="8" y="3"/>
                        <a:pt x="8" y="2"/>
                      </a:cubicBezTo>
                      <a:cubicBezTo>
                        <a:pt x="8" y="1"/>
                        <a:pt x="7"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73" name="Freeform 426">
                  <a:extLst>
                    <a:ext uri="{FF2B5EF4-FFF2-40B4-BE49-F238E27FC236}">
                      <a16:creationId xmlns:a16="http://schemas.microsoft.com/office/drawing/2014/main" id="{10F6A7A7-0059-46FE-AF96-969085C476D5}"/>
                    </a:ext>
                  </a:extLst>
                </p:cNvPr>
                <p:cNvSpPr>
                  <a:spLocks/>
                </p:cNvSpPr>
                <p:nvPr/>
              </p:nvSpPr>
              <p:spPr bwMode="auto">
                <a:xfrm>
                  <a:off x="6188076" y="4149725"/>
                  <a:ext cx="30163" cy="15875"/>
                </a:xfrm>
                <a:custGeom>
                  <a:avLst/>
                  <a:gdLst>
                    <a:gd name="T0" fmla="*/ 6 w 8"/>
                    <a:gd name="T1" fmla="*/ 0 h 4"/>
                    <a:gd name="T2" fmla="*/ 2 w 8"/>
                    <a:gd name="T3" fmla="*/ 0 h 4"/>
                    <a:gd name="T4" fmla="*/ 0 w 8"/>
                    <a:gd name="T5" fmla="*/ 2 h 4"/>
                    <a:gd name="T6" fmla="*/ 2 w 8"/>
                    <a:gd name="T7" fmla="*/ 4 h 4"/>
                    <a:gd name="T8" fmla="*/ 6 w 8"/>
                    <a:gd name="T9" fmla="*/ 4 h 4"/>
                    <a:gd name="T10" fmla="*/ 8 w 8"/>
                    <a:gd name="T11" fmla="*/ 2 h 4"/>
                    <a:gd name="T12" fmla="*/ 6 w 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 h="4">
                      <a:moveTo>
                        <a:pt x="6" y="0"/>
                      </a:moveTo>
                      <a:cubicBezTo>
                        <a:pt x="2" y="0"/>
                        <a:pt x="2" y="0"/>
                        <a:pt x="2" y="0"/>
                      </a:cubicBezTo>
                      <a:cubicBezTo>
                        <a:pt x="1" y="0"/>
                        <a:pt x="0" y="1"/>
                        <a:pt x="0" y="2"/>
                      </a:cubicBezTo>
                      <a:cubicBezTo>
                        <a:pt x="0" y="3"/>
                        <a:pt x="1" y="4"/>
                        <a:pt x="2" y="4"/>
                      </a:cubicBezTo>
                      <a:cubicBezTo>
                        <a:pt x="6" y="4"/>
                        <a:pt x="6" y="4"/>
                        <a:pt x="6" y="4"/>
                      </a:cubicBezTo>
                      <a:cubicBezTo>
                        <a:pt x="7" y="4"/>
                        <a:pt x="8" y="3"/>
                        <a:pt x="8" y="2"/>
                      </a:cubicBezTo>
                      <a:cubicBezTo>
                        <a:pt x="8" y="1"/>
                        <a:pt x="7"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74" name="Freeform 427">
                  <a:extLst>
                    <a:ext uri="{FF2B5EF4-FFF2-40B4-BE49-F238E27FC236}">
                      <a16:creationId xmlns:a16="http://schemas.microsoft.com/office/drawing/2014/main" id="{6F9E8B4C-D6B0-4CF8-8780-19E856A59AC6}"/>
                    </a:ext>
                  </a:extLst>
                </p:cNvPr>
                <p:cNvSpPr>
                  <a:spLocks/>
                </p:cNvSpPr>
                <p:nvPr/>
              </p:nvSpPr>
              <p:spPr bwMode="auto">
                <a:xfrm>
                  <a:off x="6165851" y="4067175"/>
                  <a:ext cx="25400" cy="26988"/>
                </a:xfrm>
                <a:custGeom>
                  <a:avLst/>
                  <a:gdLst>
                    <a:gd name="T0" fmla="*/ 6 w 7"/>
                    <a:gd name="T1" fmla="*/ 1 h 7"/>
                    <a:gd name="T2" fmla="*/ 3 w 7"/>
                    <a:gd name="T3" fmla="*/ 1 h 7"/>
                    <a:gd name="T4" fmla="*/ 0 w 7"/>
                    <a:gd name="T5" fmla="*/ 4 h 7"/>
                    <a:gd name="T6" fmla="*/ 0 w 7"/>
                    <a:gd name="T7" fmla="*/ 6 h 7"/>
                    <a:gd name="T8" fmla="*/ 3 w 7"/>
                    <a:gd name="T9" fmla="*/ 6 h 7"/>
                    <a:gd name="T10" fmla="*/ 6 w 7"/>
                    <a:gd name="T11" fmla="*/ 4 h 7"/>
                    <a:gd name="T12" fmla="*/ 6 w 7"/>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6" y="1"/>
                      </a:moveTo>
                      <a:cubicBezTo>
                        <a:pt x="5" y="0"/>
                        <a:pt x="4" y="0"/>
                        <a:pt x="3" y="1"/>
                      </a:cubicBezTo>
                      <a:cubicBezTo>
                        <a:pt x="0" y="4"/>
                        <a:pt x="0" y="4"/>
                        <a:pt x="0" y="4"/>
                      </a:cubicBezTo>
                      <a:cubicBezTo>
                        <a:pt x="0" y="4"/>
                        <a:pt x="0" y="6"/>
                        <a:pt x="0" y="6"/>
                      </a:cubicBezTo>
                      <a:cubicBezTo>
                        <a:pt x="1" y="7"/>
                        <a:pt x="2" y="7"/>
                        <a:pt x="3" y="6"/>
                      </a:cubicBezTo>
                      <a:cubicBezTo>
                        <a:pt x="6" y="4"/>
                        <a:pt x="6" y="4"/>
                        <a:pt x="6" y="4"/>
                      </a:cubicBezTo>
                      <a:cubicBezTo>
                        <a:pt x="7" y="3"/>
                        <a:pt x="7"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75" name="Freeform 428">
                  <a:extLst>
                    <a:ext uri="{FF2B5EF4-FFF2-40B4-BE49-F238E27FC236}">
                      <a16:creationId xmlns:a16="http://schemas.microsoft.com/office/drawing/2014/main" id="{252A114E-B537-4B03-A71B-AB39EA7BA1CC}"/>
                    </a:ext>
                  </a:extLst>
                </p:cNvPr>
                <p:cNvSpPr>
                  <a:spLocks/>
                </p:cNvSpPr>
                <p:nvPr/>
              </p:nvSpPr>
              <p:spPr bwMode="auto">
                <a:xfrm>
                  <a:off x="6097588" y="4030663"/>
                  <a:ext cx="15875" cy="28575"/>
                </a:xfrm>
                <a:custGeom>
                  <a:avLst/>
                  <a:gdLst>
                    <a:gd name="T0" fmla="*/ 2 w 4"/>
                    <a:gd name="T1" fmla="*/ 8 h 8"/>
                    <a:gd name="T2" fmla="*/ 3 w 4"/>
                    <a:gd name="T3" fmla="*/ 7 h 8"/>
                    <a:gd name="T4" fmla="*/ 4 w 4"/>
                    <a:gd name="T5" fmla="*/ 6 h 8"/>
                    <a:gd name="T6" fmla="*/ 4 w 4"/>
                    <a:gd name="T7" fmla="*/ 2 h 8"/>
                    <a:gd name="T8" fmla="*/ 2 w 4"/>
                    <a:gd name="T9" fmla="*/ 0 h 8"/>
                    <a:gd name="T10" fmla="*/ 0 w 4"/>
                    <a:gd name="T11" fmla="*/ 1 h 8"/>
                    <a:gd name="T12" fmla="*/ 0 w 4"/>
                    <a:gd name="T13" fmla="*/ 2 h 8"/>
                    <a:gd name="T14" fmla="*/ 0 w 4"/>
                    <a:gd name="T15" fmla="*/ 6 h 8"/>
                    <a:gd name="T16" fmla="*/ 2 w 4"/>
                    <a:gd name="T17"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8">
                      <a:moveTo>
                        <a:pt x="2" y="8"/>
                      </a:moveTo>
                      <a:cubicBezTo>
                        <a:pt x="3" y="8"/>
                        <a:pt x="3" y="8"/>
                        <a:pt x="3" y="7"/>
                      </a:cubicBezTo>
                      <a:cubicBezTo>
                        <a:pt x="4" y="7"/>
                        <a:pt x="4" y="7"/>
                        <a:pt x="4" y="6"/>
                      </a:cubicBezTo>
                      <a:cubicBezTo>
                        <a:pt x="4" y="2"/>
                        <a:pt x="4" y="2"/>
                        <a:pt x="4" y="2"/>
                      </a:cubicBezTo>
                      <a:cubicBezTo>
                        <a:pt x="4" y="1"/>
                        <a:pt x="3" y="0"/>
                        <a:pt x="2" y="0"/>
                      </a:cubicBezTo>
                      <a:cubicBezTo>
                        <a:pt x="1" y="0"/>
                        <a:pt x="0" y="1"/>
                        <a:pt x="0" y="1"/>
                      </a:cubicBezTo>
                      <a:cubicBezTo>
                        <a:pt x="0" y="2"/>
                        <a:pt x="0" y="2"/>
                        <a:pt x="0" y="2"/>
                      </a:cubicBezTo>
                      <a:cubicBezTo>
                        <a:pt x="0" y="6"/>
                        <a:pt x="0" y="6"/>
                        <a:pt x="0" y="6"/>
                      </a:cubicBezTo>
                      <a:cubicBezTo>
                        <a:pt x="0" y="7"/>
                        <a:pt x="1" y="8"/>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76" name="Freeform 429">
                  <a:extLst>
                    <a:ext uri="{FF2B5EF4-FFF2-40B4-BE49-F238E27FC236}">
                      <a16:creationId xmlns:a16="http://schemas.microsoft.com/office/drawing/2014/main" id="{F88BE4E9-0842-4BBB-BEBB-94F173C7F674}"/>
                    </a:ext>
                  </a:extLst>
                </p:cNvPr>
                <p:cNvSpPr>
                  <a:spLocks noEditPoints="1"/>
                </p:cNvSpPr>
                <p:nvPr/>
              </p:nvSpPr>
              <p:spPr bwMode="auto">
                <a:xfrm>
                  <a:off x="6037263" y="4089400"/>
                  <a:ext cx="120650" cy="136525"/>
                </a:xfrm>
                <a:custGeom>
                  <a:avLst/>
                  <a:gdLst>
                    <a:gd name="T0" fmla="*/ 16 w 32"/>
                    <a:gd name="T1" fmla="*/ 0 h 36"/>
                    <a:gd name="T2" fmla="*/ 0 w 32"/>
                    <a:gd name="T3" fmla="*/ 16 h 36"/>
                    <a:gd name="T4" fmla="*/ 8 w 32"/>
                    <a:gd name="T5" fmla="*/ 30 h 36"/>
                    <a:gd name="T6" fmla="*/ 8 w 32"/>
                    <a:gd name="T7" fmla="*/ 36 h 36"/>
                    <a:gd name="T8" fmla="*/ 24 w 32"/>
                    <a:gd name="T9" fmla="*/ 36 h 36"/>
                    <a:gd name="T10" fmla="*/ 24 w 32"/>
                    <a:gd name="T11" fmla="*/ 30 h 36"/>
                    <a:gd name="T12" fmla="*/ 32 w 32"/>
                    <a:gd name="T13" fmla="*/ 16 h 36"/>
                    <a:gd name="T14" fmla="*/ 16 w 32"/>
                    <a:gd name="T15" fmla="*/ 0 h 36"/>
                    <a:gd name="T16" fmla="*/ 22 w 32"/>
                    <a:gd name="T17" fmla="*/ 26 h 36"/>
                    <a:gd name="T18" fmla="*/ 20 w 32"/>
                    <a:gd name="T19" fmla="*/ 27 h 36"/>
                    <a:gd name="T20" fmla="*/ 20 w 32"/>
                    <a:gd name="T21" fmla="*/ 30 h 36"/>
                    <a:gd name="T22" fmla="*/ 20 w 32"/>
                    <a:gd name="T23" fmla="*/ 32 h 36"/>
                    <a:gd name="T24" fmla="*/ 12 w 32"/>
                    <a:gd name="T25" fmla="*/ 32 h 36"/>
                    <a:gd name="T26" fmla="*/ 12 w 32"/>
                    <a:gd name="T27" fmla="*/ 30 h 36"/>
                    <a:gd name="T28" fmla="*/ 12 w 32"/>
                    <a:gd name="T29" fmla="*/ 27 h 36"/>
                    <a:gd name="T30" fmla="*/ 10 w 32"/>
                    <a:gd name="T31" fmla="*/ 26 h 36"/>
                    <a:gd name="T32" fmla="*/ 4 w 32"/>
                    <a:gd name="T33" fmla="*/ 16 h 36"/>
                    <a:gd name="T34" fmla="*/ 16 w 32"/>
                    <a:gd name="T35" fmla="*/ 4 h 36"/>
                    <a:gd name="T36" fmla="*/ 28 w 32"/>
                    <a:gd name="T37" fmla="*/ 16 h 36"/>
                    <a:gd name="T38" fmla="*/ 22 w 32"/>
                    <a:gd name="T39"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6">
                      <a:moveTo>
                        <a:pt x="16" y="0"/>
                      </a:moveTo>
                      <a:cubicBezTo>
                        <a:pt x="7" y="0"/>
                        <a:pt x="0" y="7"/>
                        <a:pt x="0" y="16"/>
                      </a:cubicBezTo>
                      <a:cubicBezTo>
                        <a:pt x="0" y="22"/>
                        <a:pt x="3" y="27"/>
                        <a:pt x="8" y="30"/>
                      </a:cubicBezTo>
                      <a:cubicBezTo>
                        <a:pt x="8" y="36"/>
                        <a:pt x="8" y="36"/>
                        <a:pt x="8" y="36"/>
                      </a:cubicBezTo>
                      <a:cubicBezTo>
                        <a:pt x="24" y="36"/>
                        <a:pt x="24" y="36"/>
                        <a:pt x="24" y="36"/>
                      </a:cubicBezTo>
                      <a:cubicBezTo>
                        <a:pt x="24" y="30"/>
                        <a:pt x="24" y="30"/>
                        <a:pt x="24" y="30"/>
                      </a:cubicBezTo>
                      <a:cubicBezTo>
                        <a:pt x="29" y="27"/>
                        <a:pt x="32" y="22"/>
                        <a:pt x="32" y="16"/>
                      </a:cubicBezTo>
                      <a:cubicBezTo>
                        <a:pt x="32" y="7"/>
                        <a:pt x="25" y="0"/>
                        <a:pt x="16" y="0"/>
                      </a:cubicBezTo>
                      <a:close/>
                      <a:moveTo>
                        <a:pt x="22" y="26"/>
                      </a:moveTo>
                      <a:cubicBezTo>
                        <a:pt x="20" y="27"/>
                        <a:pt x="20" y="27"/>
                        <a:pt x="20" y="27"/>
                      </a:cubicBezTo>
                      <a:cubicBezTo>
                        <a:pt x="20" y="30"/>
                        <a:pt x="20" y="30"/>
                        <a:pt x="20" y="30"/>
                      </a:cubicBezTo>
                      <a:cubicBezTo>
                        <a:pt x="20" y="32"/>
                        <a:pt x="20" y="32"/>
                        <a:pt x="20" y="32"/>
                      </a:cubicBezTo>
                      <a:cubicBezTo>
                        <a:pt x="12" y="32"/>
                        <a:pt x="12" y="32"/>
                        <a:pt x="12" y="32"/>
                      </a:cubicBezTo>
                      <a:cubicBezTo>
                        <a:pt x="12" y="30"/>
                        <a:pt x="12" y="30"/>
                        <a:pt x="12" y="30"/>
                      </a:cubicBezTo>
                      <a:cubicBezTo>
                        <a:pt x="12" y="27"/>
                        <a:pt x="12" y="27"/>
                        <a:pt x="12" y="27"/>
                      </a:cubicBezTo>
                      <a:cubicBezTo>
                        <a:pt x="10" y="26"/>
                        <a:pt x="10" y="26"/>
                        <a:pt x="10" y="26"/>
                      </a:cubicBezTo>
                      <a:cubicBezTo>
                        <a:pt x="6" y="24"/>
                        <a:pt x="4" y="20"/>
                        <a:pt x="4" y="16"/>
                      </a:cubicBezTo>
                      <a:cubicBezTo>
                        <a:pt x="4" y="9"/>
                        <a:pt x="9" y="4"/>
                        <a:pt x="16" y="4"/>
                      </a:cubicBezTo>
                      <a:cubicBezTo>
                        <a:pt x="23" y="4"/>
                        <a:pt x="28" y="9"/>
                        <a:pt x="28" y="16"/>
                      </a:cubicBezTo>
                      <a:cubicBezTo>
                        <a:pt x="28" y="20"/>
                        <a:pt x="26" y="24"/>
                        <a:pt x="22"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77" name="Freeform 430">
                  <a:extLst>
                    <a:ext uri="{FF2B5EF4-FFF2-40B4-BE49-F238E27FC236}">
                      <a16:creationId xmlns:a16="http://schemas.microsoft.com/office/drawing/2014/main" id="{DD2EF902-26CF-4B79-8649-02CF1EF4F188}"/>
                    </a:ext>
                  </a:extLst>
                </p:cNvPr>
                <p:cNvSpPr>
                  <a:spLocks/>
                </p:cNvSpPr>
                <p:nvPr/>
              </p:nvSpPr>
              <p:spPr bwMode="auto">
                <a:xfrm>
                  <a:off x="6067426" y="4240213"/>
                  <a:ext cx="60325" cy="30163"/>
                </a:xfrm>
                <a:custGeom>
                  <a:avLst/>
                  <a:gdLst>
                    <a:gd name="T0" fmla="*/ 0 w 16"/>
                    <a:gd name="T1" fmla="*/ 4 h 8"/>
                    <a:gd name="T2" fmla="*/ 4 w 16"/>
                    <a:gd name="T3" fmla="*/ 4 h 8"/>
                    <a:gd name="T4" fmla="*/ 4 w 16"/>
                    <a:gd name="T5" fmla="*/ 4 h 8"/>
                    <a:gd name="T6" fmla="*/ 8 w 16"/>
                    <a:gd name="T7" fmla="*/ 8 h 8"/>
                    <a:gd name="T8" fmla="*/ 12 w 16"/>
                    <a:gd name="T9" fmla="*/ 4 h 8"/>
                    <a:gd name="T10" fmla="*/ 12 w 16"/>
                    <a:gd name="T11" fmla="*/ 4 h 8"/>
                    <a:gd name="T12" fmla="*/ 16 w 16"/>
                    <a:gd name="T13" fmla="*/ 4 h 8"/>
                    <a:gd name="T14" fmla="*/ 16 w 16"/>
                    <a:gd name="T15" fmla="*/ 0 h 8"/>
                    <a:gd name="T16" fmla="*/ 0 w 16"/>
                    <a:gd name="T17" fmla="*/ 0 h 8"/>
                    <a:gd name="T18" fmla="*/ 0 w 16"/>
                    <a:gd name="T1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8">
                      <a:moveTo>
                        <a:pt x="0" y="4"/>
                      </a:moveTo>
                      <a:cubicBezTo>
                        <a:pt x="4" y="4"/>
                        <a:pt x="4" y="4"/>
                        <a:pt x="4" y="4"/>
                      </a:cubicBezTo>
                      <a:cubicBezTo>
                        <a:pt x="4" y="4"/>
                        <a:pt x="4" y="4"/>
                        <a:pt x="4" y="4"/>
                      </a:cubicBezTo>
                      <a:cubicBezTo>
                        <a:pt x="4" y="6"/>
                        <a:pt x="6" y="8"/>
                        <a:pt x="8" y="8"/>
                      </a:cubicBezTo>
                      <a:cubicBezTo>
                        <a:pt x="10" y="8"/>
                        <a:pt x="12" y="6"/>
                        <a:pt x="12" y="4"/>
                      </a:cubicBezTo>
                      <a:cubicBezTo>
                        <a:pt x="12" y="4"/>
                        <a:pt x="12" y="4"/>
                        <a:pt x="12" y="4"/>
                      </a:cubicBezTo>
                      <a:cubicBezTo>
                        <a:pt x="16" y="4"/>
                        <a:pt x="16" y="4"/>
                        <a:pt x="16" y="4"/>
                      </a:cubicBezTo>
                      <a:cubicBezTo>
                        <a:pt x="16" y="0"/>
                        <a:pt x="16" y="0"/>
                        <a:pt x="16" y="0"/>
                      </a:cubicBezTo>
                      <a:cubicBezTo>
                        <a:pt x="0" y="0"/>
                        <a:pt x="0" y="0"/>
                        <a:pt x="0" y="0"/>
                      </a:cubicBez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grpSp>
        </p:grpSp>
        <p:sp>
          <p:nvSpPr>
            <p:cNvPr id="80" name="Cube 79">
              <a:extLst>
                <a:ext uri="{FF2B5EF4-FFF2-40B4-BE49-F238E27FC236}">
                  <a16:creationId xmlns:a16="http://schemas.microsoft.com/office/drawing/2014/main" id="{FB4C57C7-6776-46DC-A47D-91C92810B098}"/>
                </a:ext>
              </a:extLst>
            </p:cNvPr>
            <p:cNvSpPr/>
            <p:nvPr/>
          </p:nvSpPr>
          <p:spPr>
            <a:xfrm>
              <a:off x="9933597" y="1520074"/>
              <a:ext cx="2258403" cy="2200192"/>
            </a:xfrm>
            <a:prstGeom prst="cube">
              <a:avLst>
                <a:gd name="adj" fmla="val 4408"/>
              </a:avLst>
            </a:prstGeom>
            <a:solidFill>
              <a:srgbClr val="004F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81" name="TextBox 80">
              <a:extLst>
                <a:ext uri="{FF2B5EF4-FFF2-40B4-BE49-F238E27FC236}">
                  <a16:creationId xmlns:a16="http://schemas.microsoft.com/office/drawing/2014/main" id="{72FAD06B-6D88-4F44-9959-86DEE9C1B09F}"/>
                </a:ext>
              </a:extLst>
            </p:cNvPr>
            <p:cNvSpPr txBox="1"/>
            <p:nvPr/>
          </p:nvSpPr>
          <p:spPr>
            <a:xfrm>
              <a:off x="10477955" y="1667211"/>
              <a:ext cx="1394432" cy="307777"/>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Matured</a:t>
              </a:r>
              <a:endParaRPr kumimoji="0" lang="id-ID" sz="1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endParaRPr>
            </a:p>
          </p:txBody>
        </p:sp>
        <p:cxnSp>
          <p:nvCxnSpPr>
            <p:cNvPr id="82" name="Straight Connector 81">
              <a:extLst>
                <a:ext uri="{FF2B5EF4-FFF2-40B4-BE49-F238E27FC236}">
                  <a16:creationId xmlns:a16="http://schemas.microsoft.com/office/drawing/2014/main" id="{A8B65CA8-96EE-4E1B-AEC7-908F432EEC5F}"/>
                </a:ext>
              </a:extLst>
            </p:cNvPr>
            <p:cNvCxnSpPr/>
            <p:nvPr/>
          </p:nvCxnSpPr>
          <p:spPr>
            <a:xfrm>
              <a:off x="10526486" y="1974988"/>
              <a:ext cx="133240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71D57D54-ABF1-4791-8199-C9FB36DB4FB7}"/>
                </a:ext>
              </a:extLst>
            </p:cNvPr>
            <p:cNvSpPr/>
            <p:nvPr/>
          </p:nvSpPr>
          <p:spPr>
            <a:xfrm>
              <a:off x="10067155" y="1998023"/>
              <a:ext cx="1926304" cy="1569660"/>
            </a:xfrm>
            <a:prstGeom prst="rect">
              <a:avLst/>
            </a:prstGeom>
          </p:spPr>
          <p:txBody>
            <a:bodyPr wrap="square">
              <a:spAutoFit/>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Feedback loop establishing for performance assessment of schemes on basis of OOMF</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OOMF is informing budget allocation</a:t>
              </a:r>
            </a:p>
          </p:txBody>
        </p:sp>
        <p:grpSp>
          <p:nvGrpSpPr>
            <p:cNvPr id="86" name="Group 85">
              <a:extLst>
                <a:ext uri="{FF2B5EF4-FFF2-40B4-BE49-F238E27FC236}">
                  <a16:creationId xmlns:a16="http://schemas.microsoft.com/office/drawing/2014/main" id="{CE55017E-514A-4D0F-ADE5-1CA8078D24E3}"/>
                </a:ext>
              </a:extLst>
            </p:cNvPr>
            <p:cNvGrpSpPr/>
            <p:nvPr/>
          </p:nvGrpSpPr>
          <p:grpSpPr>
            <a:xfrm>
              <a:off x="10834928" y="619125"/>
              <a:ext cx="917094" cy="927278"/>
              <a:chOff x="10514852" y="1893641"/>
              <a:chExt cx="1065487" cy="1213096"/>
            </a:xfrm>
          </p:grpSpPr>
          <p:grpSp>
            <p:nvGrpSpPr>
              <p:cNvPr id="88" name="Group 87">
                <a:extLst>
                  <a:ext uri="{FF2B5EF4-FFF2-40B4-BE49-F238E27FC236}">
                    <a16:creationId xmlns:a16="http://schemas.microsoft.com/office/drawing/2014/main" id="{E4CCCAAA-4912-4D90-9140-FC01C4057634}"/>
                  </a:ext>
                </a:extLst>
              </p:cNvPr>
              <p:cNvGrpSpPr/>
              <p:nvPr/>
            </p:nvGrpSpPr>
            <p:grpSpPr>
              <a:xfrm>
                <a:off x="10514852" y="1938338"/>
                <a:ext cx="904874" cy="1168399"/>
                <a:chOff x="10525126" y="1938338"/>
                <a:chExt cx="904874" cy="1168399"/>
              </a:xfrm>
              <a:solidFill>
                <a:schemeClr val="tx2"/>
              </a:solidFill>
            </p:grpSpPr>
            <p:sp>
              <p:nvSpPr>
                <p:cNvPr id="92" name="Oval 44">
                  <a:extLst>
                    <a:ext uri="{FF2B5EF4-FFF2-40B4-BE49-F238E27FC236}">
                      <a16:creationId xmlns:a16="http://schemas.microsoft.com/office/drawing/2014/main" id="{7218F3D9-44F6-4CFE-A3DB-E878115DFCBB}"/>
                    </a:ext>
                  </a:extLst>
                </p:cNvPr>
                <p:cNvSpPr>
                  <a:spLocks noChangeArrowheads="1"/>
                </p:cNvSpPr>
                <p:nvPr/>
              </p:nvSpPr>
              <p:spPr bwMode="auto">
                <a:xfrm>
                  <a:off x="10864850" y="1966913"/>
                  <a:ext cx="225425" cy="2254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sp>
              <p:nvSpPr>
                <p:cNvPr id="94" name="Freeform 45">
                  <a:extLst>
                    <a:ext uri="{FF2B5EF4-FFF2-40B4-BE49-F238E27FC236}">
                      <a16:creationId xmlns:a16="http://schemas.microsoft.com/office/drawing/2014/main" id="{F3523363-99C0-4C41-8D1B-B25F10696DD8}"/>
                    </a:ext>
                  </a:extLst>
                </p:cNvPr>
                <p:cNvSpPr>
                  <a:spLocks noEditPoints="1"/>
                </p:cNvSpPr>
                <p:nvPr/>
              </p:nvSpPr>
              <p:spPr bwMode="auto">
                <a:xfrm>
                  <a:off x="10525126" y="1938338"/>
                  <a:ext cx="904874" cy="1168399"/>
                </a:xfrm>
                <a:custGeom>
                  <a:avLst/>
                  <a:gdLst>
                    <a:gd name="T0" fmla="*/ 125 w 128"/>
                    <a:gd name="T1" fmla="*/ 4 h 166"/>
                    <a:gd name="T2" fmla="*/ 114 w 128"/>
                    <a:gd name="T3" fmla="*/ 4 h 166"/>
                    <a:gd name="T4" fmla="*/ 103 w 128"/>
                    <a:gd name="T5" fmla="*/ 15 h 166"/>
                    <a:gd name="T6" fmla="*/ 103 w 128"/>
                    <a:gd name="T7" fmla="*/ 15 h 166"/>
                    <a:gd name="T8" fmla="*/ 79 w 128"/>
                    <a:gd name="T9" fmla="*/ 38 h 166"/>
                    <a:gd name="T10" fmla="*/ 49 w 128"/>
                    <a:gd name="T11" fmla="*/ 38 h 166"/>
                    <a:gd name="T12" fmla="*/ 21 w 128"/>
                    <a:gd name="T13" fmla="*/ 11 h 166"/>
                    <a:gd name="T14" fmla="*/ 20 w 128"/>
                    <a:gd name="T15" fmla="*/ 9 h 166"/>
                    <a:gd name="T16" fmla="*/ 14 w 128"/>
                    <a:gd name="T17" fmla="*/ 4 h 166"/>
                    <a:gd name="T18" fmla="*/ 3 w 128"/>
                    <a:gd name="T19" fmla="*/ 4 h 166"/>
                    <a:gd name="T20" fmla="*/ 3 w 128"/>
                    <a:gd name="T21" fmla="*/ 14 h 166"/>
                    <a:gd name="T22" fmla="*/ 5 w 128"/>
                    <a:gd name="T23" fmla="*/ 16 h 166"/>
                    <a:gd name="T24" fmla="*/ 10 w 128"/>
                    <a:gd name="T25" fmla="*/ 22 h 166"/>
                    <a:gd name="T26" fmla="*/ 10 w 128"/>
                    <a:gd name="T27" fmla="*/ 22 h 166"/>
                    <a:gd name="T28" fmla="*/ 44 w 128"/>
                    <a:gd name="T29" fmla="*/ 57 h 166"/>
                    <a:gd name="T30" fmla="*/ 44 w 128"/>
                    <a:gd name="T31" fmla="*/ 86 h 166"/>
                    <a:gd name="T32" fmla="*/ 44 w 128"/>
                    <a:gd name="T33" fmla="*/ 86 h 166"/>
                    <a:gd name="T34" fmla="*/ 45 w 128"/>
                    <a:gd name="T35" fmla="*/ 157 h 166"/>
                    <a:gd name="T36" fmla="*/ 53 w 128"/>
                    <a:gd name="T37" fmla="*/ 166 h 166"/>
                    <a:gd name="T38" fmla="*/ 62 w 128"/>
                    <a:gd name="T39" fmla="*/ 157 h 166"/>
                    <a:gd name="T40" fmla="*/ 62 w 128"/>
                    <a:gd name="T41" fmla="*/ 105 h 166"/>
                    <a:gd name="T42" fmla="*/ 62 w 128"/>
                    <a:gd name="T43" fmla="*/ 105 h 166"/>
                    <a:gd name="T44" fmla="*/ 64 w 128"/>
                    <a:gd name="T45" fmla="*/ 105 h 166"/>
                    <a:gd name="T46" fmla="*/ 66 w 128"/>
                    <a:gd name="T47" fmla="*/ 105 h 166"/>
                    <a:gd name="T48" fmla="*/ 66 w 128"/>
                    <a:gd name="T49" fmla="*/ 105 h 166"/>
                    <a:gd name="T50" fmla="*/ 66 w 128"/>
                    <a:gd name="T51" fmla="*/ 157 h 166"/>
                    <a:gd name="T52" fmla="*/ 74 w 128"/>
                    <a:gd name="T53" fmla="*/ 166 h 166"/>
                    <a:gd name="T54" fmla="*/ 83 w 128"/>
                    <a:gd name="T55" fmla="*/ 157 h 166"/>
                    <a:gd name="T56" fmla="*/ 83 w 128"/>
                    <a:gd name="T57" fmla="*/ 86 h 166"/>
                    <a:gd name="T58" fmla="*/ 83 w 128"/>
                    <a:gd name="T59" fmla="*/ 86 h 166"/>
                    <a:gd name="T60" fmla="*/ 83 w 128"/>
                    <a:gd name="T61" fmla="*/ 57 h 166"/>
                    <a:gd name="T62" fmla="*/ 121 w 128"/>
                    <a:gd name="T63" fmla="*/ 18 h 166"/>
                    <a:gd name="T64" fmla="*/ 122 w 128"/>
                    <a:gd name="T65" fmla="*/ 18 h 166"/>
                    <a:gd name="T66" fmla="*/ 125 w 128"/>
                    <a:gd name="T67" fmla="*/ 14 h 166"/>
                    <a:gd name="T68" fmla="*/ 125 w 128"/>
                    <a:gd name="T69" fmla="*/ 4 h 166"/>
                    <a:gd name="T70" fmla="*/ 62 w 128"/>
                    <a:gd name="T71" fmla="*/ 46 h 166"/>
                    <a:gd name="T72" fmla="*/ 64 w 128"/>
                    <a:gd name="T73" fmla="*/ 46 h 166"/>
                    <a:gd name="T74" fmla="*/ 66 w 128"/>
                    <a:gd name="T75" fmla="*/ 46 h 166"/>
                    <a:gd name="T76" fmla="*/ 68 w 128"/>
                    <a:gd name="T77" fmla="*/ 51 h 166"/>
                    <a:gd name="T78" fmla="*/ 66 w 128"/>
                    <a:gd name="T79" fmla="*/ 53 h 166"/>
                    <a:gd name="T80" fmla="*/ 64 w 128"/>
                    <a:gd name="T81" fmla="*/ 53 h 166"/>
                    <a:gd name="T82" fmla="*/ 62 w 128"/>
                    <a:gd name="T83" fmla="*/ 53 h 166"/>
                    <a:gd name="T84" fmla="*/ 60 w 128"/>
                    <a:gd name="T85" fmla="*/ 51 h 166"/>
                    <a:gd name="T86" fmla="*/ 62 w 128"/>
                    <a:gd name="T87" fmla="*/ 46 h 166"/>
                    <a:gd name="T88" fmla="*/ 59 w 128"/>
                    <a:gd name="T89" fmla="*/ 76 h 166"/>
                    <a:gd name="T90" fmla="*/ 62 w 128"/>
                    <a:gd name="T91" fmla="*/ 54 h 166"/>
                    <a:gd name="T92" fmla="*/ 64 w 128"/>
                    <a:gd name="T93" fmla="*/ 54 h 166"/>
                    <a:gd name="T94" fmla="*/ 64 w 128"/>
                    <a:gd name="T95" fmla="*/ 54 h 166"/>
                    <a:gd name="T96" fmla="*/ 66 w 128"/>
                    <a:gd name="T97" fmla="*/ 54 h 166"/>
                    <a:gd name="T98" fmla="*/ 69 w 128"/>
                    <a:gd name="T99" fmla="*/ 76 h 166"/>
                    <a:gd name="T100" fmla="*/ 64 w 128"/>
                    <a:gd name="T101" fmla="*/ 86 h 166"/>
                    <a:gd name="T102" fmla="*/ 59 w 128"/>
                    <a:gd name="T103" fmla="*/ 7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8" h="166">
                      <a:moveTo>
                        <a:pt x="125" y="4"/>
                      </a:moveTo>
                      <a:cubicBezTo>
                        <a:pt x="122" y="0"/>
                        <a:pt x="117" y="0"/>
                        <a:pt x="114" y="4"/>
                      </a:cubicBezTo>
                      <a:cubicBezTo>
                        <a:pt x="103" y="15"/>
                        <a:pt x="103" y="15"/>
                        <a:pt x="103" y="15"/>
                      </a:cubicBezTo>
                      <a:cubicBezTo>
                        <a:pt x="103" y="15"/>
                        <a:pt x="103" y="15"/>
                        <a:pt x="103" y="15"/>
                      </a:cubicBezTo>
                      <a:cubicBezTo>
                        <a:pt x="79" y="38"/>
                        <a:pt x="79" y="38"/>
                        <a:pt x="79" y="38"/>
                      </a:cubicBezTo>
                      <a:cubicBezTo>
                        <a:pt x="49" y="38"/>
                        <a:pt x="49" y="38"/>
                        <a:pt x="49" y="38"/>
                      </a:cubicBezTo>
                      <a:cubicBezTo>
                        <a:pt x="21" y="11"/>
                        <a:pt x="21" y="11"/>
                        <a:pt x="21" y="11"/>
                      </a:cubicBezTo>
                      <a:cubicBezTo>
                        <a:pt x="20" y="9"/>
                        <a:pt x="20" y="9"/>
                        <a:pt x="20" y="9"/>
                      </a:cubicBezTo>
                      <a:cubicBezTo>
                        <a:pt x="14" y="4"/>
                        <a:pt x="14" y="4"/>
                        <a:pt x="14" y="4"/>
                      </a:cubicBezTo>
                      <a:cubicBezTo>
                        <a:pt x="11" y="0"/>
                        <a:pt x="6" y="0"/>
                        <a:pt x="3" y="4"/>
                      </a:cubicBezTo>
                      <a:cubicBezTo>
                        <a:pt x="0" y="7"/>
                        <a:pt x="0" y="11"/>
                        <a:pt x="3" y="14"/>
                      </a:cubicBezTo>
                      <a:cubicBezTo>
                        <a:pt x="5" y="16"/>
                        <a:pt x="5" y="16"/>
                        <a:pt x="5" y="16"/>
                      </a:cubicBezTo>
                      <a:cubicBezTo>
                        <a:pt x="10" y="22"/>
                        <a:pt x="10" y="22"/>
                        <a:pt x="10" y="22"/>
                      </a:cubicBezTo>
                      <a:cubicBezTo>
                        <a:pt x="10" y="22"/>
                        <a:pt x="10" y="22"/>
                        <a:pt x="10" y="22"/>
                      </a:cubicBezTo>
                      <a:cubicBezTo>
                        <a:pt x="44" y="57"/>
                        <a:pt x="44" y="57"/>
                        <a:pt x="44" y="57"/>
                      </a:cubicBezTo>
                      <a:cubicBezTo>
                        <a:pt x="44" y="86"/>
                        <a:pt x="44" y="86"/>
                        <a:pt x="44" y="86"/>
                      </a:cubicBezTo>
                      <a:cubicBezTo>
                        <a:pt x="44" y="86"/>
                        <a:pt x="44" y="86"/>
                        <a:pt x="44" y="86"/>
                      </a:cubicBezTo>
                      <a:cubicBezTo>
                        <a:pt x="45" y="157"/>
                        <a:pt x="45" y="157"/>
                        <a:pt x="45" y="157"/>
                      </a:cubicBezTo>
                      <a:cubicBezTo>
                        <a:pt x="45" y="162"/>
                        <a:pt x="48" y="166"/>
                        <a:pt x="53" y="166"/>
                      </a:cubicBezTo>
                      <a:cubicBezTo>
                        <a:pt x="58" y="166"/>
                        <a:pt x="62" y="162"/>
                        <a:pt x="62" y="157"/>
                      </a:cubicBezTo>
                      <a:cubicBezTo>
                        <a:pt x="62" y="105"/>
                        <a:pt x="62" y="105"/>
                        <a:pt x="62" y="105"/>
                      </a:cubicBezTo>
                      <a:cubicBezTo>
                        <a:pt x="62" y="105"/>
                        <a:pt x="62" y="105"/>
                        <a:pt x="62" y="105"/>
                      </a:cubicBezTo>
                      <a:cubicBezTo>
                        <a:pt x="63" y="105"/>
                        <a:pt x="63" y="105"/>
                        <a:pt x="64" y="105"/>
                      </a:cubicBezTo>
                      <a:cubicBezTo>
                        <a:pt x="65" y="105"/>
                        <a:pt x="65" y="105"/>
                        <a:pt x="66" y="105"/>
                      </a:cubicBezTo>
                      <a:cubicBezTo>
                        <a:pt x="66" y="105"/>
                        <a:pt x="66" y="105"/>
                        <a:pt x="66" y="105"/>
                      </a:cubicBezTo>
                      <a:cubicBezTo>
                        <a:pt x="66" y="157"/>
                        <a:pt x="66" y="157"/>
                        <a:pt x="66" y="157"/>
                      </a:cubicBezTo>
                      <a:cubicBezTo>
                        <a:pt x="66" y="162"/>
                        <a:pt x="70" y="166"/>
                        <a:pt x="74" y="166"/>
                      </a:cubicBezTo>
                      <a:cubicBezTo>
                        <a:pt x="79" y="166"/>
                        <a:pt x="83" y="162"/>
                        <a:pt x="83" y="157"/>
                      </a:cubicBezTo>
                      <a:cubicBezTo>
                        <a:pt x="83" y="86"/>
                        <a:pt x="83" y="86"/>
                        <a:pt x="83" y="86"/>
                      </a:cubicBezTo>
                      <a:cubicBezTo>
                        <a:pt x="83" y="86"/>
                        <a:pt x="83" y="86"/>
                        <a:pt x="83" y="86"/>
                      </a:cubicBezTo>
                      <a:cubicBezTo>
                        <a:pt x="83" y="57"/>
                        <a:pt x="83" y="57"/>
                        <a:pt x="83" y="57"/>
                      </a:cubicBezTo>
                      <a:cubicBezTo>
                        <a:pt x="121" y="18"/>
                        <a:pt x="121" y="18"/>
                        <a:pt x="121" y="18"/>
                      </a:cubicBezTo>
                      <a:cubicBezTo>
                        <a:pt x="122" y="18"/>
                        <a:pt x="122" y="18"/>
                        <a:pt x="122" y="18"/>
                      </a:cubicBezTo>
                      <a:cubicBezTo>
                        <a:pt x="125" y="14"/>
                        <a:pt x="125" y="14"/>
                        <a:pt x="125" y="14"/>
                      </a:cubicBezTo>
                      <a:cubicBezTo>
                        <a:pt x="128" y="11"/>
                        <a:pt x="128" y="7"/>
                        <a:pt x="125" y="4"/>
                      </a:cubicBezTo>
                      <a:close/>
                      <a:moveTo>
                        <a:pt x="62" y="46"/>
                      </a:moveTo>
                      <a:cubicBezTo>
                        <a:pt x="64" y="46"/>
                        <a:pt x="64" y="46"/>
                        <a:pt x="64" y="46"/>
                      </a:cubicBezTo>
                      <a:cubicBezTo>
                        <a:pt x="66" y="46"/>
                        <a:pt x="66" y="46"/>
                        <a:pt x="66" y="46"/>
                      </a:cubicBezTo>
                      <a:cubicBezTo>
                        <a:pt x="68" y="51"/>
                        <a:pt x="68" y="51"/>
                        <a:pt x="68" y="51"/>
                      </a:cubicBezTo>
                      <a:cubicBezTo>
                        <a:pt x="66" y="53"/>
                        <a:pt x="66" y="53"/>
                        <a:pt x="66" y="53"/>
                      </a:cubicBezTo>
                      <a:cubicBezTo>
                        <a:pt x="64" y="53"/>
                        <a:pt x="64" y="53"/>
                        <a:pt x="64" y="53"/>
                      </a:cubicBezTo>
                      <a:cubicBezTo>
                        <a:pt x="62" y="53"/>
                        <a:pt x="62" y="53"/>
                        <a:pt x="62" y="53"/>
                      </a:cubicBezTo>
                      <a:cubicBezTo>
                        <a:pt x="60" y="51"/>
                        <a:pt x="60" y="51"/>
                        <a:pt x="60" y="51"/>
                      </a:cubicBezTo>
                      <a:lnTo>
                        <a:pt x="62" y="46"/>
                      </a:lnTo>
                      <a:close/>
                      <a:moveTo>
                        <a:pt x="59" y="76"/>
                      </a:moveTo>
                      <a:cubicBezTo>
                        <a:pt x="62" y="54"/>
                        <a:pt x="62" y="54"/>
                        <a:pt x="62" y="54"/>
                      </a:cubicBezTo>
                      <a:cubicBezTo>
                        <a:pt x="64" y="54"/>
                        <a:pt x="64" y="54"/>
                        <a:pt x="64" y="54"/>
                      </a:cubicBezTo>
                      <a:cubicBezTo>
                        <a:pt x="64" y="54"/>
                        <a:pt x="64" y="54"/>
                        <a:pt x="64" y="54"/>
                      </a:cubicBezTo>
                      <a:cubicBezTo>
                        <a:pt x="66" y="54"/>
                        <a:pt x="66" y="54"/>
                        <a:pt x="66" y="54"/>
                      </a:cubicBezTo>
                      <a:cubicBezTo>
                        <a:pt x="69" y="76"/>
                        <a:pt x="69" y="76"/>
                        <a:pt x="69" y="76"/>
                      </a:cubicBezTo>
                      <a:cubicBezTo>
                        <a:pt x="64" y="86"/>
                        <a:pt x="64" y="86"/>
                        <a:pt x="64" y="86"/>
                      </a:cubicBezTo>
                      <a:lnTo>
                        <a:pt x="59"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grpSp>
          <p:sp>
            <p:nvSpPr>
              <p:cNvPr id="90" name="Freeform 5">
                <a:extLst>
                  <a:ext uri="{FF2B5EF4-FFF2-40B4-BE49-F238E27FC236}">
                    <a16:creationId xmlns:a16="http://schemas.microsoft.com/office/drawing/2014/main" id="{146B5563-4A18-4D5A-BC6A-A48661C1535A}"/>
                  </a:ext>
                </a:extLst>
              </p:cNvPr>
              <p:cNvSpPr>
                <a:spLocks noEditPoints="1"/>
              </p:cNvSpPr>
              <p:nvPr/>
            </p:nvSpPr>
            <p:spPr bwMode="auto">
              <a:xfrm rot="19766667">
                <a:off x="11165805" y="1893641"/>
                <a:ext cx="414534" cy="450793"/>
              </a:xfrm>
              <a:custGeom>
                <a:avLst/>
                <a:gdLst>
                  <a:gd name="T0" fmla="*/ 97 w 176"/>
                  <a:gd name="T1" fmla="*/ 151 h 192"/>
                  <a:gd name="T2" fmla="*/ 92 w 176"/>
                  <a:gd name="T3" fmla="*/ 160 h 192"/>
                  <a:gd name="T4" fmla="*/ 84 w 176"/>
                  <a:gd name="T5" fmla="*/ 152 h 192"/>
                  <a:gd name="T6" fmla="*/ 71 w 176"/>
                  <a:gd name="T7" fmla="*/ 147 h 192"/>
                  <a:gd name="T8" fmla="*/ 64 w 176"/>
                  <a:gd name="T9" fmla="*/ 130 h 192"/>
                  <a:gd name="T10" fmla="*/ 73 w 176"/>
                  <a:gd name="T11" fmla="*/ 137 h 192"/>
                  <a:gd name="T12" fmla="*/ 82 w 176"/>
                  <a:gd name="T13" fmla="*/ 144 h 192"/>
                  <a:gd name="T14" fmla="*/ 94 w 176"/>
                  <a:gd name="T15" fmla="*/ 145 h 192"/>
                  <a:gd name="T16" fmla="*/ 103 w 176"/>
                  <a:gd name="T17" fmla="*/ 140 h 192"/>
                  <a:gd name="T18" fmla="*/ 102 w 176"/>
                  <a:gd name="T19" fmla="*/ 129 h 192"/>
                  <a:gd name="T20" fmla="*/ 92 w 176"/>
                  <a:gd name="T21" fmla="*/ 124 h 192"/>
                  <a:gd name="T22" fmla="*/ 78 w 176"/>
                  <a:gd name="T23" fmla="*/ 120 h 192"/>
                  <a:gd name="T24" fmla="*/ 67 w 176"/>
                  <a:gd name="T25" fmla="*/ 113 h 192"/>
                  <a:gd name="T26" fmla="*/ 68 w 176"/>
                  <a:gd name="T27" fmla="*/ 98 h 192"/>
                  <a:gd name="T28" fmla="*/ 80 w 176"/>
                  <a:gd name="T29" fmla="*/ 89 h 192"/>
                  <a:gd name="T30" fmla="*/ 84 w 176"/>
                  <a:gd name="T31" fmla="*/ 80 h 192"/>
                  <a:gd name="T32" fmla="*/ 92 w 176"/>
                  <a:gd name="T33" fmla="*/ 88 h 192"/>
                  <a:gd name="T34" fmla="*/ 103 w 176"/>
                  <a:gd name="T35" fmla="*/ 93 h 192"/>
                  <a:gd name="T36" fmla="*/ 109 w 176"/>
                  <a:gd name="T37" fmla="*/ 107 h 192"/>
                  <a:gd name="T38" fmla="*/ 97 w 176"/>
                  <a:gd name="T39" fmla="*/ 98 h 192"/>
                  <a:gd name="T40" fmla="*/ 82 w 176"/>
                  <a:gd name="T41" fmla="*/ 95 h 192"/>
                  <a:gd name="T42" fmla="*/ 75 w 176"/>
                  <a:gd name="T43" fmla="*/ 100 h 192"/>
                  <a:gd name="T44" fmla="*/ 75 w 176"/>
                  <a:gd name="T45" fmla="*/ 110 h 192"/>
                  <a:gd name="T46" fmla="*/ 86 w 176"/>
                  <a:gd name="T47" fmla="*/ 115 h 192"/>
                  <a:gd name="T48" fmla="*/ 100 w 176"/>
                  <a:gd name="T49" fmla="*/ 118 h 192"/>
                  <a:gd name="T50" fmla="*/ 110 w 176"/>
                  <a:gd name="T51" fmla="*/ 126 h 192"/>
                  <a:gd name="T52" fmla="*/ 110 w 176"/>
                  <a:gd name="T53" fmla="*/ 142 h 192"/>
                  <a:gd name="T54" fmla="*/ 107 w 176"/>
                  <a:gd name="T55" fmla="*/ 56 h 192"/>
                  <a:gd name="T56" fmla="*/ 69 w 176"/>
                  <a:gd name="T57" fmla="*/ 56 h 192"/>
                  <a:gd name="T58" fmla="*/ 43 w 176"/>
                  <a:gd name="T59" fmla="*/ 184 h 192"/>
                  <a:gd name="T60" fmla="*/ 133 w 176"/>
                  <a:gd name="T61" fmla="*/ 184 h 192"/>
                  <a:gd name="T62" fmla="*/ 107 w 176"/>
                  <a:gd name="T63" fmla="*/ 56 h 192"/>
                  <a:gd name="T64" fmla="*/ 107 w 176"/>
                  <a:gd name="T65" fmla="*/ 8 h 192"/>
                  <a:gd name="T66" fmla="*/ 97 w 176"/>
                  <a:gd name="T67" fmla="*/ 12 h 192"/>
                  <a:gd name="T68" fmla="*/ 79 w 176"/>
                  <a:gd name="T69" fmla="*/ 12 h 192"/>
                  <a:gd name="T70" fmla="*/ 69 w 176"/>
                  <a:gd name="T71" fmla="*/ 8 h 192"/>
                  <a:gd name="T72" fmla="*/ 63 w 176"/>
                  <a:gd name="T73" fmla="*/ 41 h 192"/>
                  <a:gd name="T74" fmla="*/ 88 w 176"/>
                  <a:gd name="T75" fmla="*/ 48 h 192"/>
                  <a:gd name="T76" fmla="*/ 113 w 176"/>
                  <a:gd name="T77" fmla="*/ 41 h 192"/>
                  <a:gd name="T78" fmla="*/ 169 w 176"/>
                  <a:gd name="T79" fmla="*/ 126 h 192"/>
                  <a:gd name="T80" fmla="*/ 133 w 176"/>
                  <a:gd name="T81" fmla="*/ 192 h 192"/>
                  <a:gd name="T82" fmla="*/ 43 w 176"/>
                  <a:gd name="T83" fmla="*/ 192 h 192"/>
                  <a:gd name="T84" fmla="*/ 7 w 176"/>
                  <a:gd name="T85" fmla="*/ 126 h 192"/>
                  <a:gd name="T86" fmla="*/ 60 w 176"/>
                  <a:gd name="T87" fmla="*/ 52 h 192"/>
                  <a:gd name="T88" fmla="*/ 52 w 176"/>
                  <a:gd name="T89" fmla="*/ 39 h 192"/>
                  <a:gd name="T90" fmla="*/ 54 w 176"/>
                  <a:gd name="T91" fmla="*/ 2 h 192"/>
                  <a:gd name="T92" fmla="*/ 72 w 176"/>
                  <a:gd name="T93" fmla="*/ 0 h 192"/>
                  <a:gd name="T94" fmla="*/ 82 w 176"/>
                  <a:gd name="T95" fmla="*/ 4 h 192"/>
                  <a:gd name="T96" fmla="*/ 94 w 176"/>
                  <a:gd name="T97" fmla="*/ 4 h 192"/>
                  <a:gd name="T98" fmla="*/ 104 w 176"/>
                  <a:gd name="T99" fmla="*/ 0 h 192"/>
                  <a:gd name="T100" fmla="*/ 122 w 176"/>
                  <a:gd name="T101" fmla="*/ 2 h 192"/>
                  <a:gd name="T102" fmla="*/ 124 w 176"/>
                  <a:gd name="T103" fmla="*/ 39 h 192"/>
                  <a:gd name="T104" fmla="*/ 116 w 176"/>
                  <a:gd name="T105" fmla="*/ 52 h 192"/>
                  <a:gd name="T106" fmla="*/ 169 w 176"/>
                  <a:gd name="T107" fmla="*/ 12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6" h="192">
                    <a:moveTo>
                      <a:pt x="104" y="148"/>
                    </a:moveTo>
                    <a:cubicBezTo>
                      <a:pt x="102" y="149"/>
                      <a:pt x="100" y="150"/>
                      <a:pt x="97" y="151"/>
                    </a:cubicBezTo>
                    <a:cubicBezTo>
                      <a:pt x="95" y="151"/>
                      <a:pt x="94" y="152"/>
                      <a:pt x="92" y="152"/>
                    </a:cubicBezTo>
                    <a:cubicBezTo>
                      <a:pt x="92" y="160"/>
                      <a:pt x="92" y="160"/>
                      <a:pt x="92" y="160"/>
                    </a:cubicBezTo>
                    <a:cubicBezTo>
                      <a:pt x="84" y="160"/>
                      <a:pt x="84" y="160"/>
                      <a:pt x="84" y="160"/>
                    </a:cubicBezTo>
                    <a:cubicBezTo>
                      <a:pt x="84" y="152"/>
                      <a:pt x="84" y="152"/>
                      <a:pt x="84" y="152"/>
                    </a:cubicBezTo>
                    <a:cubicBezTo>
                      <a:pt x="82" y="151"/>
                      <a:pt x="81" y="151"/>
                      <a:pt x="79" y="151"/>
                    </a:cubicBezTo>
                    <a:cubicBezTo>
                      <a:pt x="76" y="150"/>
                      <a:pt x="74" y="149"/>
                      <a:pt x="71" y="147"/>
                    </a:cubicBezTo>
                    <a:cubicBezTo>
                      <a:pt x="69" y="145"/>
                      <a:pt x="67" y="143"/>
                      <a:pt x="66" y="140"/>
                    </a:cubicBezTo>
                    <a:cubicBezTo>
                      <a:pt x="65" y="137"/>
                      <a:pt x="64" y="134"/>
                      <a:pt x="64" y="130"/>
                    </a:cubicBezTo>
                    <a:cubicBezTo>
                      <a:pt x="72" y="130"/>
                      <a:pt x="72" y="130"/>
                      <a:pt x="72" y="130"/>
                    </a:cubicBezTo>
                    <a:cubicBezTo>
                      <a:pt x="72" y="133"/>
                      <a:pt x="72" y="135"/>
                      <a:pt x="73" y="137"/>
                    </a:cubicBezTo>
                    <a:cubicBezTo>
                      <a:pt x="74" y="139"/>
                      <a:pt x="75" y="140"/>
                      <a:pt x="77" y="142"/>
                    </a:cubicBezTo>
                    <a:cubicBezTo>
                      <a:pt x="78" y="143"/>
                      <a:pt x="80" y="144"/>
                      <a:pt x="82" y="144"/>
                    </a:cubicBezTo>
                    <a:cubicBezTo>
                      <a:pt x="85" y="145"/>
                      <a:pt x="87" y="145"/>
                      <a:pt x="89" y="145"/>
                    </a:cubicBezTo>
                    <a:cubicBezTo>
                      <a:pt x="91" y="145"/>
                      <a:pt x="92" y="145"/>
                      <a:pt x="94" y="145"/>
                    </a:cubicBezTo>
                    <a:cubicBezTo>
                      <a:pt x="96" y="144"/>
                      <a:pt x="98" y="144"/>
                      <a:pt x="99" y="143"/>
                    </a:cubicBezTo>
                    <a:cubicBezTo>
                      <a:pt x="101" y="142"/>
                      <a:pt x="102" y="141"/>
                      <a:pt x="103" y="140"/>
                    </a:cubicBezTo>
                    <a:cubicBezTo>
                      <a:pt x="104" y="138"/>
                      <a:pt x="104" y="136"/>
                      <a:pt x="104" y="134"/>
                    </a:cubicBezTo>
                    <a:cubicBezTo>
                      <a:pt x="104" y="132"/>
                      <a:pt x="103" y="130"/>
                      <a:pt x="102" y="129"/>
                    </a:cubicBezTo>
                    <a:cubicBezTo>
                      <a:pt x="101" y="128"/>
                      <a:pt x="100" y="127"/>
                      <a:pt x="98" y="126"/>
                    </a:cubicBezTo>
                    <a:cubicBezTo>
                      <a:pt x="96" y="125"/>
                      <a:pt x="94" y="124"/>
                      <a:pt x="92" y="124"/>
                    </a:cubicBezTo>
                    <a:cubicBezTo>
                      <a:pt x="85" y="122"/>
                      <a:pt x="85" y="122"/>
                      <a:pt x="85" y="122"/>
                    </a:cubicBezTo>
                    <a:cubicBezTo>
                      <a:pt x="83" y="122"/>
                      <a:pt x="80" y="121"/>
                      <a:pt x="78" y="120"/>
                    </a:cubicBezTo>
                    <a:cubicBezTo>
                      <a:pt x="76" y="120"/>
                      <a:pt x="74" y="119"/>
                      <a:pt x="72" y="117"/>
                    </a:cubicBezTo>
                    <a:cubicBezTo>
                      <a:pt x="70" y="116"/>
                      <a:pt x="69" y="115"/>
                      <a:pt x="67" y="113"/>
                    </a:cubicBezTo>
                    <a:cubicBezTo>
                      <a:pt x="66" y="111"/>
                      <a:pt x="66" y="109"/>
                      <a:pt x="66" y="106"/>
                    </a:cubicBezTo>
                    <a:cubicBezTo>
                      <a:pt x="66" y="103"/>
                      <a:pt x="66" y="100"/>
                      <a:pt x="68" y="98"/>
                    </a:cubicBezTo>
                    <a:cubicBezTo>
                      <a:pt x="69" y="96"/>
                      <a:pt x="71" y="94"/>
                      <a:pt x="73" y="92"/>
                    </a:cubicBezTo>
                    <a:cubicBezTo>
                      <a:pt x="75" y="91"/>
                      <a:pt x="77" y="90"/>
                      <a:pt x="80" y="89"/>
                    </a:cubicBezTo>
                    <a:cubicBezTo>
                      <a:pt x="81" y="89"/>
                      <a:pt x="82" y="88"/>
                      <a:pt x="84" y="88"/>
                    </a:cubicBezTo>
                    <a:cubicBezTo>
                      <a:pt x="84" y="80"/>
                      <a:pt x="84" y="80"/>
                      <a:pt x="84" y="80"/>
                    </a:cubicBezTo>
                    <a:cubicBezTo>
                      <a:pt x="92" y="80"/>
                      <a:pt x="92" y="80"/>
                      <a:pt x="92" y="80"/>
                    </a:cubicBezTo>
                    <a:cubicBezTo>
                      <a:pt x="92" y="88"/>
                      <a:pt x="92" y="88"/>
                      <a:pt x="92" y="88"/>
                    </a:cubicBezTo>
                    <a:cubicBezTo>
                      <a:pt x="93" y="89"/>
                      <a:pt x="95" y="89"/>
                      <a:pt x="96" y="89"/>
                    </a:cubicBezTo>
                    <a:cubicBezTo>
                      <a:pt x="99" y="90"/>
                      <a:pt x="101" y="91"/>
                      <a:pt x="103" y="93"/>
                    </a:cubicBezTo>
                    <a:cubicBezTo>
                      <a:pt x="105" y="94"/>
                      <a:pt x="106" y="96"/>
                      <a:pt x="108" y="99"/>
                    </a:cubicBezTo>
                    <a:cubicBezTo>
                      <a:pt x="109" y="101"/>
                      <a:pt x="109" y="104"/>
                      <a:pt x="109" y="107"/>
                    </a:cubicBezTo>
                    <a:cubicBezTo>
                      <a:pt x="102" y="107"/>
                      <a:pt x="102" y="107"/>
                      <a:pt x="102" y="107"/>
                    </a:cubicBezTo>
                    <a:cubicBezTo>
                      <a:pt x="101" y="103"/>
                      <a:pt x="100" y="100"/>
                      <a:pt x="97" y="98"/>
                    </a:cubicBezTo>
                    <a:cubicBezTo>
                      <a:pt x="95" y="96"/>
                      <a:pt x="91" y="95"/>
                      <a:pt x="87" y="95"/>
                    </a:cubicBezTo>
                    <a:cubicBezTo>
                      <a:pt x="85" y="95"/>
                      <a:pt x="84" y="95"/>
                      <a:pt x="82" y="95"/>
                    </a:cubicBezTo>
                    <a:cubicBezTo>
                      <a:pt x="81" y="96"/>
                      <a:pt x="79" y="96"/>
                      <a:pt x="78" y="97"/>
                    </a:cubicBezTo>
                    <a:cubicBezTo>
                      <a:pt x="77" y="98"/>
                      <a:pt x="76" y="99"/>
                      <a:pt x="75" y="100"/>
                    </a:cubicBezTo>
                    <a:cubicBezTo>
                      <a:pt x="74" y="102"/>
                      <a:pt x="74" y="103"/>
                      <a:pt x="74" y="105"/>
                    </a:cubicBezTo>
                    <a:cubicBezTo>
                      <a:pt x="74" y="107"/>
                      <a:pt x="74" y="109"/>
                      <a:pt x="75" y="110"/>
                    </a:cubicBezTo>
                    <a:cubicBezTo>
                      <a:pt x="77" y="111"/>
                      <a:pt x="78" y="112"/>
                      <a:pt x="80" y="113"/>
                    </a:cubicBezTo>
                    <a:cubicBezTo>
                      <a:pt x="82" y="114"/>
                      <a:pt x="84" y="114"/>
                      <a:pt x="86" y="115"/>
                    </a:cubicBezTo>
                    <a:cubicBezTo>
                      <a:pt x="88" y="115"/>
                      <a:pt x="91" y="116"/>
                      <a:pt x="93" y="116"/>
                    </a:cubicBezTo>
                    <a:cubicBezTo>
                      <a:pt x="95" y="117"/>
                      <a:pt x="98" y="117"/>
                      <a:pt x="100" y="118"/>
                    </a:cubicBezTo>
                    <a:cubicBezTo>
                      <a:pt x="102" y="119"/>
                      <a:pt x="104" y="120"/>
                      <a:pt x="106" y="121"/>
                    </a:cubicBezTo>
                    <a:cubicBezTo>
                      <a:pt x="108" y="123"/>
                      <a:pt x="109" y="124"/>
                      <a:pt x="110" y="126"/>
                    </a:cubicBezTo>
                    <a:cubicBezTo>
                      <a:pt x="111" y="128"/>
                      <a:pt x="112" y="131"/>
                      <a:pt x="112" y="134"/>
                    </a:cubicBezTo>
                    <a:cubicBezTo>
                      <a:pt x="112" y="137"/>
                      <a:pt x="111" y="140"/>
                      <a:pt x="110" y="142"/>
                    </a:cubicBezTo>
                    <a:cubicBezTo>
                      <a:pt x="108" y="144"/>
                      <a:pt x="107" y="146"/>
                      <a:pt x="104" y="148"/>
                    </a:cubicBezTo>
                    <a:close/>
                    <a:moveTo>
                      <a:pt x="107" y="56"/>
                    </a:moveTo>
                    <a:cubicBezTo>
                      <a:pt x="88" y="56"/>
                      <a:pt x="88" y="56"/>
                      <a:pt x="88" y="56"/>
                    </a:cubicBezTo>
                    <a:cubicBezTo>
                      <a:pt x="69" y="56"/>
                      <a:pt x="69" y="56"/>
                      <a:pt x="69" y="56"/>
                    </a:cubicBezTo>
                    <a:cubicBezTo>
                      <a:pt x="47" y="71"/>
                      <a:pt x="26" y="101"/>
                      <a:pt x="14" y="129"/>
                    </a:cubicBezTo>
                    <a:cubicBezTo>
                      <a:pt x="3" y="157"/>
                      <a:pt x="17" y="184"/>
                      <a:pt x="43" y="184"/>
                    </a:cubicBezTo>
                    <a:cubicBezTo>
                      <a:pt x="88" y="184"/>
                      <a:pt x="88" y="184"/>
                      <a:pt x="88" y="184"/>
                    </a:cubicBezTo>
                    <a:cubicBezTo>
                      <a:pt x="133" y="184"/>
                      <a:pt x="133" y="184"/>
                      <a:pt x="133" y="184"/>
                    </a:cubicBezTo>
                    <a:cubicBezTo>
                      <a:pt x="159" y="184"/>
                      <a:pt x="173" y="157"/>
                      <a:pt x="162" y="129"/>
                    </a:cubicBezTo>
                    <a:cubicBezTo>
                      <a:pt x="150" y="101"/>
                      <a:pt x="129" y="71"/>
                      <a:pt x="107" y="56"/>
                    </a:cubicBezTo>
                    <a:close/>
                    <a:moveTo>
                      <a:pt x="120" y="10"/>
                    </a:moveTo>
                    <a:cubicBezTo>
                      <a:pt x="118" y="9"/>
                      <a:pt x="111" y="8"/>
                      <a:pt x="107" y="8"/>
                    </a:cubicBezTo>
                    <a:cubicBezTo>
                      <a:pt x="107" y="8"/>
                      <a:pt x="106" y="8"/>
                      <a:pt x="106" y="8"/>
                    </a:cubicBezTo>
                    <a:cubicBezTo>
                      <a:pt x="103" y="9"/>
                      <a:pt x="100" y="11"/>
                      <a:pt x="97" y="12"/>
                    </a:cubicBezTo>
                    <a:cubicBezTo>
                      <a:pt x="94" y="13"/>
                      <a:pt x="91" y="13"/>
                      <a:pt x="88" y="14"/>
                    </a:cubicBezTo>
                    <a:cubicBezTo>
                      <a:pt x="85" y="13"/>
                      <a:pt x="82" y="13"/>
                      <a:pt x="79" y="12"/>
                    </a:cubicBezTo>
                    <a:cubicBezTo>
                      <a:pt x="76" y="11"/>
                      <a:pt x="73" y="9"/>
                      <a:pt x="70" y="8"/>
                    </a:cubicBezTo>
                    <a:cubicBezTo>
                      <a:pt x="70" y="8"/>
                      <a:pt x="69" y="8"/>
                      <a:pt x="69" y="8"/>
                    </a:cubicBezTo>
                    <a:cubicBezTo>
                      <a:pt x="65" y="8"/>
                      <a:pt x="58" y="9"/>
                      <a:pt x="56" y="10"/>
                    </a:cubicBezTo>
                    <a:cubicBezTo>
                      <a:pt x="42" y="12"/>
                      <a:pt x="52" y="24"/>
                      <a:pt x="63" y="41"/>
                    </a:cubicBezTo>
                    <a:cubicBezTo>
                      <a:pt x="67" y="48"/>
                      <a:pt x="67" y="48"/>
                      <a:pt x="67" y="48"/>
                    </a:cubicBezTo>
                    <a:cubicBezTo>
                      <a:pt x="88" y="48"/>
                      <a:pt x="88" y="48"/>
                      <a:pt x="88" y="48"/>
                    </a:cubicBezTo>
                    <a:cubicBezTo>
                      <a:pt x="109" y="48"/>
                      <a:pt x="109" y="48"/>
                      <a:pt x="109" y="48"/>
                    </a:cubicBezTo>
                    <a:cubicBezTo>
                      <a:pt x="113" y="41"/>
                      <a:pt x="113" y="41"/>
                      <a:pt x="113" y="41"/>
                    </a:cubicBezTo>
                    <a:cubicBezTo>
                      <a:pt x="124" y="24"/>
                      <a:pt x="134" y="12"/>
                      <a:pt x="120" y="10"/>
                    </a:cubicBezTo>
                    <a:close/>
                    <a:moveTo>
                      <a:pt x="169" y="126"/>
                    </a:moveTo>
                    <a:cubicBezTo>
                      <a:pt x="176" y="143"/>
                      <a:pt x="175" y="161"/>
                      <a:pt x="166" y="174"/>
                    </a:cubicBezTo>
                    <a:cubicBezTo>
                      <a:pt x="159" y="186"/>
                      <a:pt x="147" y="192"/>
                      <a:pt x="133" y="192"/>
                    </a:cubicBezTo>
                    <a:cubicBezTo>
                      <a:pt x="88" y="192"/>
                      <a:pt x="88" y="192"/>
                      <a:pt x="88" y="192"/>
                    </a:cubicBezTo>
                    <a:cubicBezTo>
                      <a:pt x="43" y="192"/>
                      <a:pt x="43" y="192"/>
                      <a:pt x="43" y="192"/>
                    </a:cubicBezTo>
                    <a:cubicBezTo>
                      <a:pt x="29" y="192"/>
                      <a:pt x="17" y="186"/>
                      <a:pt x="10" y="174"/>
                    </a:cubicBezTo>
                    <a:cubicBezTo>
                      <a:pt x="1" y="161"/>
                      <a:pt x="0" y="143"/>
                      <a:pt x="7" y="126"/>
                    </a:cubicBezTo>
                    <a:cubicBezTo>
                      <a:pt x="20" y="96"/>
                      <a:pt x="40" y="68"/>
                      <a:pt x="60" y="52"/>
                    </a:cubicBezTo>
                    <a:cubicBezTo>
                      <a:pt x="60" y="52"/>
                      <a:pt x="60" y="52"/>
                      <a:pt x="60" y="52"/>
                    </a:cubicBezTo>
                    <a:cubicBezTo>
                      <a:pt x="56" y="46"/>
                      <a:pt x="56" y="46"/>
                      <a:pt x="56" y="46"/>
                    </a:cubicBezTo>
                    <a:cubicBezTo>
                      <a:pt x="55" y="43"/>
                      <a:pt x="53" y="41"/>
                      <a:pt x="52" y="39"/>
                    </a:cubicBezTo>
                    <a:cubicBezTo>
                      <a:pt x="44" y="27"/>
                      <a:pt x="39" y="18"/>
                      <a:pt x="42" y="10"/>
                    </a:cubicBezTo>
                    <a:cubicBezTo>
                      <a:pt x="44" y="6"/>
                      <a:pt x="48" y="3"/>
                      <a:pt x="54" y="2"/>
                    </a:cubicBezTo>
                    <a:cubicBezTo>
                      <a:pt x="56" y="2"/>
                      <a:pt x="64" y="0"/>
                      <a:pt x="69" y="0"/>
                    </a:cubicBezTo>
                    <a:cubicBezTo>
                      <a:pt x="70" y="0"/>
                      <a:pt x="71" y="0"/>
                      <a:pt x="72" y="0"/>
                    </a:cubicBezTo>
                    <a:cubicBezTo>
                      <a:pt x="75" y="1"/>
                      <a:pt x="77" y="2"/>
                      <a:pt x="80" y="3"/>
                    </a:cubicBezTo>
                    <a:cubicBezTo>
                      <a:pt x="81" y="4"/>
                      <a:pt x="81" y="4"/>
                      <a:pt x="82" y="4"/>
                    </a:cubicBezTo>
                    <a:cubicBezTo>
                      <a:pt x="84" y="5"/>
                      <a:pt x="86" y="5"/>
                      <a:pt x="88" y="6"/>
                    </a:cubicBezTo>
                    <a:cubicBezTo>
                      <a:pt x="90" y="5"/>
                      <a:pt x="92" y="5"/>
                      <a:pt x="94" y="4"/>
                    </a:cubicBezTo>
                    <a:cubicBezTo>
                      <a:pt x="95" y="4"/>
                      <a:pt x="95" y="4"/>
                      <a:pt x="96" y="3"/>
                    </a:cubicBezTo>
                    <a:cubicBezTo>
                      <a:pt x="99" y="2"/>
                      <a:pt x="101" y="1"/>
                      <a:pt x="104" y="0"/>
                    </a:cubicBezTo>
                    <a:cubicBezTo>
                      <a:pt x="105" y="0"/>
                      <a:pt x="106" y="0"/>
                      <a:pt x="107" y="0"/>
                    </a:cubicBezTo>
                    <a:cubicBezTo>
                      <a:pt x="112" y="0"/>
                      <a:pt x="120" y="2"/>
                      <a:pt x="122" y="2"/>
                    </a:cubicBezTo>
                    <a:cubicBezTo>
                      <a:pt x="128" y="3"/>
                      <a:pt x="132" y="6"/>
                      <a:pt x="134" y="10"/>
                    </a:cubicBezTo>
                    <a:cubicBezTo>
                      <a:pt x="137" y="18"/>
                      <a:pt x="132" y="27"/>
                      <a:pt x="124" y="39"/>
                    </a:cubicBezTo>
                    <a:cubicBezTo>
                      <a:pt x="123" y="41"/>
                      <a:pt x="121" y="43"/>
                      <a:pt x="120" y="46"/>
                    </a:cubicBezTo>
                    <a:cubicBezTo>
                      <a:pt x="116" y="52"/>
                      <a:pt x="116" y="52"/>
                      <a:pt x="116" y="52"/>
                    </a:cubicBezTo>
                    <a:cubicBezTo>
                      <a:pt x="116" y="52"/>
                      <a:pt x="116" y="52"/>
                      <a:pt x="116" y="52"/>
                    </a:cubicBezTo>
                    <a:cubicBezTo>
                      <a:pt x="136" y="68"/>
                      <a:pt x="156" y="96"/>
                      <a:pt x="169" y="12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95" name="Group 94">
              <a:extLst>
                <a:ext uri="{FF2B5EF4-FFF2-40B4-BE49-F238E27FC236}">
                  <a16:creationId xmlns:a16="http://schemas.microsoft.com/office/drawing/2014/main" id="{69AEDB67-DBAD-42FA-AFE2-C74B86C0B151}"/>
                </a:ext>
              </a:extLst>
            </p:cNvPr>
            <p:cNvGrpSpPr/>
            <p:nvPr/>
          </p:nvGrpSpPr>
          <p:grpSpPr>
            <a:xfrm>
              <a:off x="555557" y="3494445"/>
              <a:ext cx="655410" cy="735508"/>
              <a:chOff x="16103601" y="11226254"/>
              <a:chExt cx="1493837" cy="1676401"/>
            </a:xfrm>
            <a:solidFill>
              <a:schemeClr val="tx1">
                <a:lumMod val="65000"/>
                <a:lumOff val="35000"/>
              </a:schemeClr>
            </a:solidFill>
            <a:effectLst>
              <a:outerShdw blurRad="50800" dist="38100" dir="2700000" algn="tl" rotWithShape="0">
                <a:prstClr val="black">
                  <a:alpha val="40000"/>
                </a:prstClr>
              </a:outerShdw>
            </a:effectLst>
          </p:grpSpPr>
          <p:sp>
            <p:nvSpPr>
              <p:cNvPr id="96" name="Freeform 96">
                <a:extLst>
                  <a:ext uri="{FF2B5EF4-FFF2-40B4-BE49-F238E27FC236}">
                    <a16:creationId xmlns:a16="http://schemas.microsoft.com/office/drawing/2014/main" id="{47634ACF-76B5-4573-B269-59F78AC51093}"/>
                  </a:ext>
                </a:extLst>
              </p:cNvPr>
              <p:cNvSpPr>
                <a:spLocks/>
              </p:cNvSpPr>
              <p:nvPr/>
            </p:nvSpPr>
            <p:spPr bwMode="auto">
              <a:xfrm>
                <a:off x="16686213" y="11226254"/>
                <a:ext cx="236538" cy="231775"/>
              </a:xfrm>
              <a:custGeom>
                <a:avLst/>
                <a:gdLst>
                  <a:gd name="T0" fmla="*/ 61 w 149"/>
                  <a:gd name="T1" fmla="*/ 146 h 146"/>
                  <a:gd name="T2" fmla="*/ 61 w 149"/>
                  <a:gd name="T3" fmla="*/ 146 h 146"/>
                  <a:gd name="T4" fmla="*/ 74 w 149"/>
                  <a:gd name="T5" fmla="*/ 146 h 146"/>
                  <a:gd name="T6" fmla="*/ 88 w 149"/>
                  <a:gd name="T7" fmla="*/ 146 h 146"/>
                  <a:gd name="T8" fmla="*/ 102 w 149"/>
                  <a:gd name="T9" fmla="*/ 140 h 146"/>
                  <a:gd name="T10" fmla="*/ 116 w 149"/>
                  <a:gd name="T11" fmla="*/ 135 h 146"/>
                  <a:gd name="T12" fmla="*/ 127 w 149"/>
                  <a:gd name="T13" fmla="*/ 124 h 146"/>
                  <a:gd name="T14" fmla="*/ 135 w 149"/>
                  <a:gd name="T15" fmla="*/ 113 h 146"/>
                  <a:gd name="T16" fmla="*/ 143 w 149"/>
                  <a:gd name="T17" fmla="*/ 102 h 146"/>
                  <a:gd name="T18" fmla="*/ 146 w 149"/>
                  <a:gd name="T19" fmla="*/ 88 h 146"/>
                  <a:gd name="T20" fmla="*/ 146 w 149"/>
                  <a:gd name="T21" fmla="*/ 88 h 146"/>
                  <a:gd name="T22" fmla="*/ 149 w 149"/>
                  <a:gd name="T23" fmla="*/ 71 h 146"/>
                  <a:gd name="T24" fmla="*/ 146 w 149"/>
                  <a:gd name="T25" fmla="*/ 58 h 146"/>
                  <a:gd name="T26" fmla="*/ 143 w 149"/>
                  <a:gd name="T27" fmla="*/ 44 h 146"/>
                  <a:gd name="T28" fmla="*/ 135 w 149"/>
                  <a:gd name="T29" fmla="*/ 30 h 146"/>
                  <a:gd name="T30" fmla="*/ 127 w 149"/>
                  <a:gd name="T31" fmla="*/ 19 h 146"/>
                  <a:gd name="T32" fmla="*/ 116 w 149"/>
                  <a:gd name="T33" fmla="*/ 11 h 146"/>
                  <a:gd name="T34" fmla="*/ 102 w 149"/>
                  <a:gd name="T35" fmla="*/ 5 h 146"/>
                  <a:gd name="T36" fmla="*/ 88 w 149"/>
                  <a:gd name="T37" fmla="*/ 0 h 146"/>
                  <a:gd name="T38" fmla="*/ 88 w 149"/>
                  <a:gd name="T39" fmla="*/ 0 h 146"/>
                  <a:gd name="T40" fmla="*/ 74 w 149"/>
                  <a:gd name="T41" fmla="*/ 0 h 146"/>
                  <a:gd name="T42" fmla="*/ 58 w 149"/>
                  <a:gd name="T43" fmla="*/ 0 h 146"/>
                  <a:gd name="T44" fmla="*/ 47 w 149"/>
                  <a:gd name="T45" fmla="*/ 5 h 146"/>
                  <a:gd name="T46" fmla="*/ 33 w 149"/>
                  <a:gd name="T47" fmla="*/ 11 h 146"/>
                  <a:gd name="T48" fmla="*/ 22 w 149"/>
                  <a:gd name="T49" fmla="*/ 19 h 146"/>
                  <a:gd name="T50" fmla="*/ 14 w 149"/>
                  <a:gd name="T51" fmla="*/ 30 h 146"/>
                  <a:gd name="T52" fmla="*/ 5 w 149"/>
                  <a:gd name="T53" fmla="*/ 44 h 146"/>
                  <a:gd name="T54" fmla="*/ 3 w 149"/>
                  <a:gd name="T55" fmla="*/ 58 h 146"/>
                  <a:gd name="T56" fmla="*/ 3 w 149"/>
                  <a:gd name="T57" fmla="*/ 58 h 146"/>
                  <a:gd name="T58" fmla="*/ 0 w 149"/>
                  <a:gd name="T59" fmla="*/ 71 h 146"/>
                  <a:gd name="T60" fmla="*/ 3 w 149"/>
                  <a:gd name="T61" fmla="*/ 88 h 146"/>
                  <a:gd name="T62" fmla="*/ 5 w 149"/>
                  <a:gd name="T63" fmla="*/ 102 h 146"/>
                  <a:gd name="T64" fmla="*/ 14 w 149"/>
                  <a:gd name="T65" fmla="*/ 113 h 146"/>
                  <a:gd name="T66" fmla="*/ 22 w 149"/>
                  <a:gd name="T67" fmla="*/ 124 h 146"/>
                  <a:gd name="T68" fmla="*/ 33 w 149"/>
                  <a:gd name="T69" fmla="*/ 132 h 146"/>
                  <a:gd name="T70" fmla="*/ 44 w 149"/>
                  <a:gd name="T71" fmla="*/ 140 h 146"/>
                  <a:gd name="T72" fmla="*/ 61 w 149"/>
                  <a:gd name="T73" fmla="*/ 146 h 146"/>
                  <a:gd name="T74" fmla="*/ 61 w 149"/>
                  <a:gd name="T75" fmla="*/ 14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9" h="146">
                    <a:moveTo>
                      <a:pt x="61" y="146"/>
                    </a:moveTo>
                    <a:lnTo>
                      <a:pt x="61" y="146"/>
                    </a:lnTo>
                    <a:lnTo>
                      <a:pt x="74" y="146"/>
                    </a:lnTo>
                    <a:lnTo>
                      <a:pt x="88" y="146"/>
                    </a:lnTo>
                    <a:lnTo>
                      <a:pt x="102" y="140"/>
                    </a:lnTo>
                    <a:lnTo>
                      <a:pt x="116" y="135"/>
                    </a:lnTo>
                    <a:lnTo>
                      <a:pt x="127" y="124"/>
                    </a:lnTo>
                    <a:lnTo>
                      <a:pt x="135" y="113"/>
                    </a:lnTo>
                    <a:lnTo>
                      <a:pt x="143" y="102"/>
                    </a:lnTo>
                    <a:lnTo>
                      <a:pt x="146" y="88"/>
                    </a:lnTo>
                    <a:lnTo>
                      <a:pt x="146" y="88"/>
                    </a:lnTo>
                    <a:lnTo>
                      <a:pt x="149" y="71"/>
                    </a:lnTo>
                    <a:lnTo>
                      <a:pt x="146" y="58"/>
                    </a:lnTo>
                    <a:lnTo>
                      <a:pt x="143" y="44"/>
                    </a:lnTo>
                    <a:lnTo>
                      <a:pt x="135" y="30"/>
                    </a:lnTo>
                    <a:lnTo>
                      <a:pt x="127" y="19"/>
                    </a:lnTo>
                    <a:lnTo>
                      <a:pt x="116" y="11"/>
                    </a:lnTo>
                    <a:lnTo>
                      <a:pt x="102" y="5"/>
                    </a:lnTo>
                    <a:lnTo>
                      <a:pt x="88" y="0"/>
                    </a:lnTo>
                    <a:lnTo>
                      <a:pt x="88" y="0"/>
                    </a:lnTo>
                    <a:lnTo>
                      <a:pt x="74" y="0"/>
                    </a:lnTo>
                    <a:lnTo>
                      <a:pt x="58" y="0"/>
                    </a:lnTo>
                    <a:lnTo>
                      <a:pt x="47" y="5"/>
                    </a:lnTo>
                    <a:lnTo>
                      <a:pt x="33" y="11"/>
                    </a:lnTo>
                    <a:lnTo>
                      <a:pt x="22" y="19"/>
                    </a:lnTo>
                    <a:lnTo>
                      <a:pt x="14" y="30"/>
                    </a:lnTo>
                    <a:lnTo>
                      <a:pt x="5" y="44"/>
                    </a:lnTo>
                    <a:lnTo>
                      <a:pt x="3" y="58"/>
                    </a:lnTo>
                    <a:lnTo>
                      <a:pt x="3" y="58"/>
                    </a:lnTo>
                    <a:lnTo>
                      <a:pt x="0" y="71"/>
                    </a:lnTo>
                    <a:lnTo>
                      <a:pt x="3" y="88"/>
                    </a:lnTo>
                    <a:lnTo>
                      <a:pt x="5" y="102"/>
                    </a:lnTo>
                    <a:lnTo>
                      <a:pt x="14" y="113"/>
                    </a:lnTo>
                    <a:lnTo>
                      <a:pt x="22" y="124"/>
                    </a:lnTo>
                    <a:lnTo>
                      <a:pt x="33" y="132"/>
                    </a:lnTo>
                    <a:lnTo>
                      <a:pt x="44" y="140"/>
                    </a:lnTo>
                    <a:lnTo>
                      <a:pt x="61" y="146"/>
                    </a:lnTo>
                    <a:lnTo>
                      <a:pt x="61" y="1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97" name="Freeform 97">
                <a:extLst>
                  <a:ext uri="{FF2B5EF4-FFF2-40B4-BE49-F238E27FC236}">
                    <a16:creationId xmlns:a16="http://schemas.microsoft.com/office/drawing/2014/main" id="{05425BB9-8578-4CC5-A869-4AB11E03E23D}"/>
                  </a:ext>
                </a:extLst>
              </p:cNvPr>
              <p:cNvSpPr>
                <a:spLocks/>
              </p:cNvSpPr>
              <p:nvPr/>
            </p:nvSpPr>
            <p:spPr bwMode="auto">
              <a:xfrm>
                <a:off x="16203613" y="11453267"/>
                <a:ext cx="692150" cy="1060450"/>
              </a:xfrm>
              <a:custGeom>
                <a:avLst/>
                <a:gdLst>
                  <a:gd name="T0" fmla="*/ 298 w 436"/>
                  <a:gd name="T1" fmla="*/ 295 h 668"/>
                  <a:gd name="T2" fmla="*/ 392 w 436"/>
                  <a:gd name="T3" fmla="*/ 94 h 668"/>
                  <a:gd name="T4" fmla="*/ 395 w 436"/>
                  <a:gd name="T5" fmla="*/ 77 h 668"/>
                  <a:gd name="T6" fmla="*/ 392 w 436"/>
                  <a:gd name="T7" fmla="*/ 61 h 668"/>
                  <a:gd name="T8" fmla="*/ 381 w 436"/>
                  <a:gd name="T9" fmla="*/ 47 h 668"/>
                  <a:gd name="T10" fmla="*/ 367 w 436"/>
                  <a:gd name="T11" fmla="*/ 36 h 668"/>
                  <a:gd name="T12" fmla="*/ 315 w 436"/>
                  <a:gd name="T13" fmla="*/ 11 h 668"/>
                  <a:gd name="T14" fmla="*/ 296 w 436"/>
                  <a:gd name="T15" fmla="*/ 0 h 668"/>
                  <a:gd name="T16" fmla="*/ 274 w 436"/>
                  <a:gd name="T17" fmla="*/ 6 h 668"/>
                  <a:gd name="T18" fmla="*/ 20 w 436"/>
                  <a:gd name="T19" fmla="*/ 135 h 668"/>
                  <a:gd name="T20" fmla="*/ 0 w 436"/>
                  <a:gd name="T21" fmla="*/ 157 h 668"/>
                  <a:gd name="T22" fmla="*/ 3 w 436"/>
                  <a:gd name="T23" fmla="*/ 185 h 668"/>
                  <a:gd name="T24" fmla="*/ 9 w 436"/>
                  <a:gd name="T25" fmla="*/ 193 h 668"/>
                  <a:gd name="T26" fmla="*/ 22 w 436"/>
                  <a:gd name="T27" fmla="*/ 204 h 668"/>
                  <a:gd name="T28" fmla="*/ 31 w 436"/>
                  <a:gd name="T29" fmla="*/ 207 h 668"/>
                  <a:gd name="T30" fmla="*/ 56 w 436"/>
                  <a:gd name="T31" fmla="*/ 202 h 668"/>
                  <a:gd name="T32" fmla="*/ 138 w 436"/>
                  <a:gd name="T33" fmla="*/ 276 h 668"/>
                  <a:gd name="T34" fmla="*/ 136 w 436"/>
                  <a:gd name="T35" fmla="*/ 284 h 668"/>
                  <a:gd name="T36" fmla="*/ 133 w 436"/>
                  <a:gd name="T37" fmla="*/ 304 h 668"/>
                  <a:gd name="T38" fmla="*/ 141 w 436"/>
                  <a:gd name="T39" fmla="*/ 320 h 668"/>
                  <a:gd name="T40" fmla="*/ 152 w 436"/>
                  <a:gd name="T41" fmla="*/ 331 h 668"/>
                  <a:gd name="T42" fmla="*/ 216 w 436"/>
                  <a:gd name="T43" fmla="*/ 362 h 668"/>
                  <a:gd name="T44" fmla="*/ 227 w 436"/>
                  <a:gd name="T45" fmla="*/ 367 h 668"/>
                  <a:gd name="T46" fmla="*/ 334 w 436"/>
                  <a:gd name="T47" fmla="*/ 436 h 668"/>
                  <a:gd name="T48" fmla="*/ 282 w 436"/>
                  <a:gd name="T49" fmla="*/ 610 h 668"/>
                  <a:gd name="T50" fmla="*/ 279 w 436"/>
                  <a:gd name="T51" fmla="*/ 627 h 668"/>
                  <a:gd name="T52" fmla="*/ 285 w 436"/>
                  <a:gd name="T53" fmla="*/ 643 h 668"/>
                  <a:gd name="T54" fmla="*/ 296 w 436"/>
                  <a:gd name="T55" fmla="*/ 657 h 668"/>
                  <a:gd name="T56" fmla="*/ 312 w 436"/>
                  <a:gd name="T57" fmla="*/ 668 h 668"/>
                  <a:gd name="T58" fmla="*/ 318 w 436"/>
                  <a:gd name="T59" fmla="*/ 668 h 668"/>
                  <a:gd name="T60" fmla="*/ 334 w 436"/>
                  <a:gd name="T61" fmla="*/ 668 h 668"/>
                  <a:gd name="T62" fmla="*/ 365 w 436"/>
                  <a:gd name="T63" fmla="*/ 651 h 668"/>
                  <a:gd name="T64" fmla="*/ 370 w 436"/>
                  <a:gd name="T65" fmla="*/ 635 h 668"/>
                  <a:gd name="T66" fmla="*/ 434 w 436"/>
                  <a:gd name="T67" fmla="*/ 431 h 668"/>
                  <a:gd name="T68" fmla="*/ 434 w 436"/>
                  <a:gd name="T69" fmla="*/ 403 h 668"/>
                  <a:gd name="T70" fmla="*/ 417 w 436"/>
                  <a:gd name="T71" fmla="*/ 378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6" h="668">
                    <a:moveTo>
                      <a:pt x="417" y="378"/>
                    </a:moveTo>
                    <a:lnTo>
                      <a:pt x="298" y="295"/>
                    </a:lnTo>
                    <a:lnTo>
                      <a:pt x="392" y="94"/>
                    </a:lnTo>
                    <a:lnTo>
                      <a:pt x="392" y="94"/>
                    </a:lnTo>
                    <a:lnTo>
                      <a:pt x="395" y="86"/>
                    </a:lnTo>
                    <a:lnTo>
                      <a:pt x="395" y="77"/>
                    </a:lnTo>
                    <a:lnTo>
                      <a:pt x="395" y="69"/>
                    </a:lnTo>
                    <a:lnTo>
                      <a:pt x="392" y="61"/>
                    </a:lnTo>
                    <a:lnTo>
                      <a:pt x="387" y="53"/>
                    </a:lnTo>
                    <a:lnTo>
                      <a:pt x="381" y="47"/>
                    </a:lnTo>
                    <a:lnTo>
                      <a:pt x="376" y="39"/>
                    </a:lnTo>
                    <a:lnTo>
                      <a:pt x="367" y="36"/>
                    </a:lnTo>
                    <a:lnTo>
                      <a:pt x="315" y="11"/>
                    </a:lnTo>
                    <a:lnTo>
                      <a:pt x="315" y="11"/>
                    </a:lnTo>
                    <a:lnTo>
                      <a:pt x="307" y="3"/>
                    </a:lnTo>
                    <a:lnTo>
                      <a:pt x="296" y="0"/>
                    </a:lnTo>
                    <a:lnTo>
                      <a:pt x="285" y="0"/>
                    </a:lnTo>
                    <a:lnTo>
                      <a:pt x="274" y="6"/>
                    </a:lnTo>
                    <a:lnTo>
                      <a:pt x="20" y="135"/>
                    </a:lnTo>
                    <a:lnTo>
                      <a:pt x="20" y="135"/>
                    </a:lnTo>
                    <a:lnTo>
                      <a:pt x="9" y="144"/>
                    </a:lnTo>
                    <a:lnTo>
                      <a:pt x="0" y="157"/>
                    </a:lnTo>
                    <a:lnTo>
                      <a:pt x="0" y="171"/>
                    </a:lnTo>
                    <a:lnTo>
                      <a:pt x="3" y="185"/>
                    </a:lnTo>
                    <a:lnTo>
                      <a:pt x="3" y="185"/>
                    </a:lnTo>
                    <a:lnTo>
                      <a:pt x="9" y="193"/>
                    </a:lnTo>
                    <a:lnTo>
                      <a:pt x="14" y="199"/>
                    </a:lnTo>
                    <a:lnTo>
                      <a:pt x="22" y="204"/>
                    </a:lnTo>
                    <a:lnTo>
                      <a:pt x="31" y="207"/>
                    </a:lnTo>
                    <a:lnTo>
                      <a:pt x="31" y="207"/>
                    </a:lnTo>
                    <a:lnTo>
                      <a:pt x="42" y="207"/>
                    </a:lnTo>
                    <a:lnTo>
                      <a:pt x="56" y="202"/>
                    </a:lnTo>
                    <a:lnTo>
                      <a:pt x="210" y="122"/>
                    </a:lnTo>
                    <a:lnTo>
                      <a:pt x="138" y="276"/>
                    </a:lnTo>
                    <a:lnTo>
                      <a:pt x="138" y="276"/>
                    </a:lnTo>
                    <a:lnTo>
                      <a:pt x="136" y="284"/>
                    </a:lnTo>
                    <a:lnTo>
                      <a:pt x="133" y="295"/>
                    </a:lnTo>
                    <a:lnTo>
                      <a:pt x="133" y="304"/>
                    </a:lnTo>
                    <a:lnTo>
                      <a:pt x="136" y="312"/>
                    </a:lnTo>
                    <a:lnTo>
                      <a:pt x="141" y="320"/>
                    </a:lnTo>
                    <a:lnTo>
                      <a:pt x="147" y="326"/>
                    </a:lnTo>
                    <a:lnTo>
                      <a:pt x="152" y="331"/>
                    </a:lnTo>
                    <a:lnTo>
                      <a:pt x="160" y="337"/>
                    </a:lnTo>
                    <a:lnTo>
                      <a:pt x="216" y="362"/>
                    </a:lnTo>
                    <a:lnTo>
                      <a:pt x="216" y="362"/>
                    </a:lnTo>
                    <a:lnTo>
                      <a:pt x="227" y="367"/>
                    </a:lnTo>
                    <a:lnTo>
                      <a:pt x="238" y="367"/>
                    </a:lnTo>
                    <a:lnTo>
                      <a:pt x="334" y="436"/>
                    </a:lnTo>
                    <a:lnTo>
                      <a:pt x="282" y="610"/>
                    </a:lnTo>
                    <a:lnTo>
                      <a:pt x="282" y="610"/>
                    </a:lnTo>
                    <a:lnTo>
                      <a:pt x="279" y="618"/>
                    </a:lnTo>
                    <a:lnTo>
                      <a:pt x="279" y="627"/>
                    </a:lnTo>
                    <a:lnTo>
                      <a:pt x="282" y="635"/>
                    </a:lnTo>
                    <a:lnTo>
                      <a:pt x="285" y="643"/>
                    </a:lnTo>
                    <a:lnTo>
                      <a:pt x="290" y="651"/>
                    </a:lnTo>
                    <a:lnTo>
                      <a:pt x="296" y="657"/>
                    </a:lnTo>
                    <a:lnTo>
                      <a:pt x="304" y="662"/>
                    </a:lnTo>
                    <a:lnTo>
                      <a:pt x="312" y="668"/>
                    </a:lnTo>
                    <a:lnTo>
                      <a:pt x="312" y="668"/>
                    </a:lnTo>
                    <a:lnTo>
                      <a:pt x="318" y="668"/>
                    </a:lnTo>
                    <a:lnTo>
                      <a:pt x="318" y="668"/>
                    </a:lnTo>
                    <a:lnTo>
                      <a:pt x="334" y="668"/>
                    </a:lnTo>
                    <a:lnTo>
                      <a:pt x="351" y="662"/>
                    </a:lnTo>
                    <a:lnTo>
                      <a:pt x="365" y="651"/>
                    </a:lnTo>
                    <a:lnTo>
                      <a:pt x="367" y="643"/>
                    </a:lnTo>
                    <a:lnTo>
                      <a:pt x="370" y="635"/>
                    </a:lnTo>
                    <a:lnTo>
                      <a:pt x="434" y="431"/>
                    </a:lnTo>
                    <a:lnTo>
                      <a:pt x="434" y="431"/>
                    </a:lnTo>
                    <a:lnTo>
                      <a:pt x="436" y="417"/>
                    </a:lnTo>
                    <a:lnTo>
                      <a:pt x="434" y="403"/>
                    </a:lnTo>
                    <a:lnTo>
                      <a:pt x="425" y="389"/>
                    </a:lnTo>
                    <a:lnTo>
                      <a:pt x="417" y="378"/>
                    </a:lnTo>
                    <a:lnTo>
                      <a:pt x="417" y="3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98" name="Freeform 98">
                <a:extLst>
                  <a:ext uri="{FF2B5EF4-FFF2-40B4-BE49-F238E27FC236}">
                    <a16:creationId xmlns:a16="http://schemas.microsoft.com/office/drawing/2014/main" id="{94702FEE-C5F8-4C80-BE79-7D93CED7AE8B}"/>
                  </a:ext>
                </a:extLst>
              </p:cNvPr>
              <p:cNvSpPr>
                <a:spLocks/>
              </p:cNvSpPr>
              <p:nvPr/>
            </p:nvSpPr>
            <p:spPr bwMode="auto">
              <a:xfrm>
                <a:off x="16103601" y="12023179"/>
                <a:ext cx="428625" cy="315913"/>
              </a:xfrm>
              <a:custGeom>
                <a:avLst/>
                <a:gdLst>
                  <a:gd name="T0" fmla="*/ 207 w 270"/>
                  <a:gd name="T1" fmla="*/ 14 h 199"/>
                  <a:gd name="T2" fmla="*/ 207 w 270"/>
                  <a:gd name="T3" fmla="*/ 14 h 199"/>
                  <a:gd name="T4" fmla="*/ 199 w 270"/>
                  <a:gd name="T5" fmla="*/ 5 h 199"/>
                  <a:gd name="T6" fmla="*/ 188 w 270"/>
                  <a:gd name="T7" fmla="*/ 0 h 199"/>
                  <a:gd name="T8" fmla="*/ 160 w 270"/>
                  <a:gd name="T9" fmla="*/ 52 h 199"/>
                  <a:gd name="T10" fmla="*/ 27 w 270"/>
                  <a:gd name="T11" fmla="*/ 107 h 199"/>
                  <a:gd name="T12" fmla="*/ 27 w 270"/>
                  <a:gd name="T13" fmla="*/ 107 h 199"/>
                  <a:gd name="T14" fmla="*/ 19 w 270"/>
                  <a:gd name="T15" fmla="*/ 113 h 199"/>
                  <a:gd name="T16" fmla="*/ 14 w 270"/>
                  <a:gd name="T17" fmla="*/ 119 h 199"/>
                  <a:gd name="T18" fmla="*/ 8 w 270"/>
                  <a:gd name="T19" fmla="*/ 127 h 199"/>
                  <a:gd name="T20" fmla="*/ 3 w 270"/>
                  <a:gd name="T21" fmla="*/ 135 h 199"/>
                  <a:gd name="T22" fmla="*/ 0 w 270"/>
                  <a:gd name="T23" fmla="*/ 143 h 199"/>
                  <a:gd name="T24" fmla="*/ 0 w 270"/>
                  <a:gd name="T25" fmla="*/ 152 h 199"/>
                  <a:gd name="T26" fmla="*/ 0 w 270"/>
                  <a:gd name="T27" fmla="*/ 160 h 199"/>
                  <a:gd name="T28" fmla="*/ 3 w 270"/>
                  <a:gd name="T29" fmla="*/ 171 h 199"/>
                  <a:gd name="T30" fmla="*/ 3 w 270"/>
                  <a:gd name="T31" fmla="*/ 171 h 199"/>
                  <a:gd name="T32" fmla="*/ 8 w 270"/>
                  <a:gd name="T33" fmla="*/ 179 h 199"/>
                  <a:gd name="T34" fmla="*/ 16 w 270"/>
                  <a:gd name="T35" fmla="*/ 187 h 199"/>
                  <a:gd name="T36" fmla="*/ 25 w 270"/>
                  <a:gd name="T37" fmla="*/ 193 h 199"/>
                  <a:gd name="T38" fmla="*/ 33 w 270"/>
                  <a:gd name="T39" fmla="*/ 196 h 199"/>
                  <a:gd name="T40" fmla="*/ 33 w 270"/>
                  <a:gd name="T41" fmla="*/ 196 h 199"/>
                  <a:gd name="T42" fmla="*/ 50 w 270"/>
                  <a:gd name="T43" fmla="*/ 199 h 199"/>
                  <a:gd name="T44" fmla="*/ 66 w 270"/>
                  <a:gd name="T45" fmla="*/ 193 h 199"/>
                  <a:gd name="T46" fmla="*/ 212 w 270"/>
                  <a:gd name="T47" fmla="*/ 132 h 199"/>
                  <a:gd name="T48" fmla="*/ 212 w 270"/>
                  <a:gd name="T49" fmla="*/ 132 h 199"/>
                  <a:gd name="T50" fmla="*/ 226 w 270"/>
                  <a:gd name="T51" fmla="*/ 121 h 199"/>
                  <a:gd name="T52" fmla="*/ 234 w 270"/>
                  <a:gd name="T53" fmla="*/ 110 h 199"/>
                  <a:gd name="T54" fmla="*/ 270 w 270"/>
                  <a:gd name="T55" fmla="*/ 41 h 199"/>
                  <a:gd name="T56" fmla="*/ 270 w 270"/>
                  <a:gd name="T57" fmla="*/ 41 h 199"/>
                  <a:gd name="T58" fmla="*/ 262 w 270"/>
                  <a:gd name="T59" fmla="*/ 38 h 199"/>
                  <a:gd name="T60" fmla="*/ 207 w 270"/>
                  <a:gd name="T61" fmla="*/ 14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0" h="199">
                    <a:moveTo>
                      <a:pt x="207" y="14"/>
                    </a:moveTo>
                    <a:lnTo>
                      <a:pt x="207" y="14"/>
                    </a:lnTo>
                    <a:lnTo>
                      <a:pt x="199" y="5"/>
                    </a:lnTo>
                    <a:lnTo>
                      <a:pt x="188" y="0"/>
                    </a:lnTo>
                    <a:lnTo>
                      <a:pt x="160" y="52"/>
                    </a:lnTo>
                    <a:lnTo>
                      <a:pt x="27" y="107"/>
                    </a:lnTo>
                    <a:lnTo>
                      <a:pt x="27" y="107"/>
                    </a:lnTo>
                    <a:lnTo>
                      <a:pt x="19" y="113"/>
                    </a:lnTo>
                    <a:lnTo>
                      <a:pt x="14" y="119"/>
                    </a:lnTo>
                    <a:lnTo>
                      <a:pt x="8" y="127"/>
                    </a:lnTo>
                    <a:lnTo>
                      <a:pt x="3" y="135"/>
                    </a:lnTo>
                    <a:lnTo>
                      <a:pt x="0" y="143"/>
                    </a:lnTo>
                    <a:lnTo>
                      <a:pt x="0" y="152"/>
                    </a:lnTo>
                    <a:lnTo>
                      <a:pt x="0" y="160"/>
                    </a:lnTo>
                    <a:lnTo>
                      <a:pt x="3" y="171"/>
                    </a:lnTo>
                    <a:lnTo>
                      <a:pt x="3" y="171"/>
                    </a:lnTo>
                    <a:lnTo>
                      <a:pt x="8" y="179"/>
                    </a:lnTo>
                    <a:lnTo>
                      <a:pt x="16" y="187"/>
                    </a:lnTo>
                    <a:lnTo>
                      <a:pt x="25" y="193"/>
                    </a:lnTo>
                    <a:lnTo>
                      <a:pt x="33" y="196"/>
                    </a:lnTo>
                    <a:lnTo>
                      <a:pt x="33" y="196"/>
                    </a:lnTo>
                    <a:lnTo>
                      <a:pt x="50" y="199"/>
                    </a:lnTo>
                    <a:lnTo>
                      <a:pt x="66" y="193"/>
                    </a:lnTo>
                    <a:lnTo>
                      <a:pt x="212" y="132"/>
                    </a:lnTo>
                    <a:lnTo>
                      <a:pt x="212" y="132"/>
                    </a:lnTo>
                    <a:lnTo>
                      <a:pt x="226" y="121"/>
                    </a:lnTo>
                    <a:lnTo>
                      <a:pt x="234" y="110"/>
                    </a:lnTo>
                    <a:lnTo>
                      <a:pt x="270" y="41"/>
                    </a:lnTo>
                    <a:lnTo>
                      <a:pt x="270" y="41"/>
                    </a:lnTo>
                    <a:lnTo>
                      <a:pt x="262" y="38"/>
                    </a:lnTo>
                    <a:lnTo>
                      <a:pt x="207"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99" name="Freeform 99">
                <a:extLst>
                  <a:ext uri="{FF2B5EF4-FFF2-40B4-BE49-F238E27FC236}">
                    <a16:creationId xmlns:a16="http://schemas.microsoft.com/office/drawing/2014/main" id="{59925DCC-C710-4B81-B964-D93462DCFDBB}"/>
                  </a:ext>
                </a:extLst>
              </p:cNvPr>
              <p:cNvSpPr>
                <a:spLocks/>
              </p:cNvSpPr>
              <p:nvPr/>
            </p:nvSpPr>
            <p:spPr bwMode="auto">
              <a:xfrm>
                <a:off x="16856076" y="11448504"/>
                <a:ext cx="377825" cy="188913"/>
              </a:xfrm>
              <a:custGeom>
                <a:avLst/>
                <a:gdLst>
                  <a:gd name="T0" fmla="*/ 238 w 238"/>
                  <a:gd name="T1" fmla="*/ 28 h 119"/>
                  <a:gd name="T2" fmla="*/ 238 w 238"/>
                  <a:gd name="T3" fmla="*/ 28 h 119"/>
                  <a:gd name="T4" fmla="*/ 232 w 238"/>
                  <a:gd name="T5" fmla="*/ 14 h 119"/>
                  <a:gd name="T6" fmla="*/ 221 w 238"/>
                  <a:gd name="T7" fmla="*/ 6 h 119"/>
                  <a:gd name="T8" fmla="*/ 207 w 238"/>
                  <a:gd name="T9" fmla="*/ 0 h 119"/>
                  <a:gd name="T10" fmla="*/ 194 w 238"/>
                  <a:gd name="T11" fmla="*/ 0 h 119"/>
                  <a:gd name="T12" fmla="*/ 0 w 238"/>
                  <a:gd name="T13" fmla="*/ 42 h 119"/>
                  <a:gd name="T14" fmla="*/ 0 w 238"/>
                  <a:gd name="T15" fmla="*/ 42 h 119"/>
                  <a:gd name="T16" fmla="*/ 9 w 238"/>
                  <a:gd name="T17" fmla="*/ 56 h 119"/>
                  <a:gd name="T18" fmla="*/ 14 w 238"/>
                  <a:gd name="T19" fmla="*/ 69 h 119"/>
                  <a:gd name="T20" fmla="*/ 17 w 238"/>
                  <a:gd name="T21" fmla="*/ 86 h 119"/>
                  <a:gd name="T22" fmla="*/ 14 w 238"/>
                  <a:gd name="T23" fmla="*/ 102 h 119"/>
                  <a:gd name="T24" fmla="*/ 14 w 238"/>
                  <a:gd name="T25" fmla="*/ 102 h 119"/>
                  <a:gd name="T26" fmla="*/ 9 w 238"/>
                  <a:gd name="T27" fmla="*/ 119 h 119"/>
                  <a:gd name="T28" fmla="*/ 210 w 238"/>
                  <a:gd name="T29" fmla="*/ 72 h 119"/>
                  <a:gd name="T30" fmla="*/ 210 w 238"/>
                  <a:gd name="T31" fmla="*/ 72 h 119"/>
                  <a:gd name="T32" fmla="*/ 224 w 238"/>
                  <a:gd name="T33" fmla="*/ 67 h 119"/>
                  <a:gd name="T34" fmla="*/ 232 w 238"/>
                  <a:gd name="T35" fmla="*/ 56 h 119"/>
                  <a:gd name="T36" fmla="*/ 238 w 238"/>
                  <a:gd name="T37" fmla="*/ 45 h 119"/>
                  <a:gd name="T38" fmla="*/ 238 w 238"/>
                  <a:gd name="T39" fmla="*/ 28 h 119"/>
                  <a:gd name="T40" fmla="*/ 238 w 238"/>
                  <a:gd name="T41" fmla="*/ 2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8" h="119">
                    <a:moveTo>
                      <a:pt x="238" y="28"/>
                    </a:moveTo>
                    <a:lnTo>
                      <a:pt x="238" y="28"/>
                    </a:lnTo>
                    <a:lnTo>
                      <a:pt x="232" y="14"/>
                    </a:lnTo>
                    <a:lnTo>
                      <a:pt x="221" y="6"/>
                    </a:lnTo>
                    <a:lnTo>
                      <a:pt x="207" y="0"/>
                    </a:lnTo>
                    <a:lnTo>
                      <a:pt x="194" y="0"/>
                    </a:lnTo>
                    <a:lnTo>
                      <a:pt x="0" y="42"/>
                    </a:lnTo>
                    <a:lnTo>
                      <a:pt x="0" y="42"/>
                    </a:lnTo>
                    <a:lnTo>
                      <a:pt x="9" y="56"/>
                    </a:lnTo>
                    <a:lnTo>
                      <a:pt x="14" y="69"/>
                    </a:lnTo>
                    <a:lnTo>
                      <a:pt x="17" y="86"/>
                    </a:lnTo>
                    <a:lnTo>
                      <a:pt x="14" y="102"/>
                    </a:lnTo>
                    <a:lnTo>
                      <a:pt x="14" y="102"/>
                    </a:lnTo>
                    <a:lnTo>
                      <a:pt x="9" y="119"/>
                    </a:lnTo>
                    <a:lnTo>
                      <a:pt x="210" y="72"/>
                    </a:lnTo>
                    <a:lnTo>
                      <a:pt x="210" y="72"/>
                    </a:lnTo>
                    <a:lnTo>
                      <a:pt x="224" y="67"/>
                    </a:lnTo>
                    <a:lnTo>
                      <a:pt x="232" y="56"/>
                    </a:lnTo>
                    <a:lnTo>
                      <a:pt x="238" y="45"/>
                    </a:lnTo>
                    <a:lnTo>
                      <a:pt x="238" y="28"/>
                    </a:lnTo>
                    <a:lnTo>
                      <a:pt x="238"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100" name="Freeform 100">
                <a:extLst>
                  <a:ext uri="{FF2B5EF4-FFF2-40B4-BE49-F238E27FC236}">
                    <a16:creationId xmlns:a16="http://schemas.microsoft.com/office/drawing/2014/main" id="{30B9E8E2-0D2E-430B-8CE4-3378A3E20C17}"/>
                  </a:ext>
                </a:extLst>
              </p:cNvPr>
              <p:cNvSpPr>
                <a:spLocks/>
              </p:cNvSpPr>
              <p:nvPr/>
            </p:nvSpPr>
            <p:spPr bwMode="auto">
              <a:xfrm>
                <a:off x="16559213" y="12110492"/>
                <a:ext cx="1038225" cy="792163"/>
              </a:xfrm>
              <a:custGeom>
                <a:avLst/>
                <a:gdLst>
                  <a:gd name="T0" fmla="*/ 654 w 654"/>
                  <a:gd name="T1" fmla="*/ 0 h 499"/>
                  <a:gd name="T2" fmla="*/ 414 w 654"/>
                  <a:gd name="T3" fmla="*/ 0 h 499"/>
                  <a:gd name="T4" fmla="*/ 414 w 654"/>
                  <a:gd name="T5" fmla="*/ 138 h 499"/>
                  <a:gd name="T6" fmla="*/ 207 w 654"/>
                  <a:gd name="T7" fmla="*/ 138 h 499"/>
                  <a:gd name="T8" fmla="*/ 207 w 654"/>
                  <a:gd name="T9" fmla="*/ 281 h 499"/>
                  <a:gd name="T10" fmla="*/ 0 w 654"/>
                  <a:gd name="T11" fmla="*/ 281 h 499"/>
                  <a:gd name="T12" fmla="*/ 0 w 654"/>
                  <a:gd name="T13" fmla="*/ 499 h 499"/>
                  <a:gd name="T14" fmla="*/ 654 w 654"/>
                  <a:gd name="T15" fmla="*/ 499 h 499"/>
                  <a:gd name="T16" fmla="*/ 654 w 654"/>
                  <a:gd name="T17" fmla="*/ 359 h 499"/>
                  <a:gd name="T18" fmla="*/ 654 w 654"/>
                  <a:gd name="T19" fmla="*/ 359 h 499"/>
                  <a:gd name="T20" fmla="*/ 654 w 654"/>
                  <a:gd name="T21"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4" h="499">
                    <a:moveTo>
                      <a:pt x="654" y="0"/>
                    </a:moveTo>
                    <a:lnTo>
                      <a:pt x="414" y="0"/>
                    </a:lnTo>
                    <a:lnTo>
                      <a:pt x="414" y="138"/>
                    </a:lnTo>
                    <a:lnTo>
                      <a:pt x="207" y="138"/>
                    </a:lnTo>
                    <a:lnTo>
                      <a:pt x="207" y="281"/>
                    </a:lnTo>
                    <a:lnTo>
                      <a:pt x="0" y="281"/>
                    </a:lnTo>
                    <a:lnTo>
                      <a:pt x="0" y="499"/>
                    </a:lnTo>
                    <a:lnTo>
                      <a:pt x="654" y="499"/>
                    </a:lnTo>
                    <a:lnTo>
                      <a:pt x="654" y="359"/>
                    </a:lnTo>
                    <a:lnTo>
                      <a:pt x="654" y="359"/>
                    </a:lnTo>
                    <a:lnTo>
                      <a:pt x="65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2" name="Group 101">
              <a:extLst>
                <a:ext uri="{FF2B5EF4-FFF2-40B4-BE49-F238E27FC236}">
                  <a16:creationId xmlns:a16="http://schemas.microsoft.com/office/drawing/2014/main" id="{249E0E49-9DF7-4AE5-AAFC-917B90C6EA10}"/>
                </a:ext>
              </a:extLst>
            </p:cNvPr>
            <p:cNvGrpSpPr/>
            <p:nvPr/>
          </p:nvGrpSpPr>
          <p:grpSpPr>
            <a:xfrm>
              <a:off x="6462319" y="1773193"/>
              <a:ext cx="982840" cy="635750"/>
              <a:chOff x="14074775" y="3662363"/>
              <a:chExt cx="1789113" cy="1157287"/>
            </a:xfrm>
            <a:solidFill>
              <a:schemeClr val="tx1">
                <a:lumMod val="65000"/>
                <a:lumOff val="35000"/>
              </a:schemeClr>
            </a:solidFill>
            <a:effectLst>
              <a:outerShdw blurRad="50800" dist="38100" dir="2700000" algn="tl" rotWithShape="0">
                <a:prstClr val="black">
                  <a:alpha val="40000"/>
                </a:prstClr>
              </a:outerShdw>
            </a:effectLst>
          </p:grpSpPr>
          <p:sp>
            <p:nvSpPr>
              <p:cNvPr id="103" name="Freeform 31">
                <a:extLst>
                  <a:ext uri="{FF2B5EF4-FFF2-40B4-BE49-F238E27FC236}">
                    <a16:creationId xmlns:a16="http://schemas.microsoft.com/office/drawing/2014/main" id="{CF452C55-E5F3-41BD-8356-9F06DD895D46}"/>
                  </a:ext>
                </a:extLst>
              </p:cNvPr>
              <p:cNvSpPr>
                <a:spLocks noEditPoints="1"/>
              </p:cNvSpPr>
              <p:nvPr/>
            </p:nvSpPr>
            <p:spPr bwMode="auto">
              <a:xfrm>
                <a:off x="14139863" y="3687763"/>
                <a:ext cx="566738" cy="774700"/>
              </a:xfrm>
              <a:custGeom>
                <a:avLst/>
                <a:gdLst>
                  <a:gd name="T0" fmla="*/ 320 w 357"/>
                  <a:gd name="T1" fmla="*/ 268 h 488"/>
                  <a:gd name="T2" fmla="*/ 357 w 357"/>
                  <a:gd name="T3" fmla="*/ 325 h 488"/>
                  <a:gd name="T4" fmla="*/ 252 w 357"/>
                  <a:gd name="T5" fmla="*/ 399 h 488"/>
                  <a:gd name="T6" fmla="*/ 231 w 357"/>
                  <a:gd name="T7" fmla="*/ 435 h 488"/>
                  <a:gd name="T8" fmla="*/ 100 w 357"/>
                  <a:gd name="T9" fmla="*/ 462 h 488"/>
                  <a:gd name="T10" fmla="*/ 0 w 357"/>
                  <a:gd name="T11" fmla="*/ 325 h 488"/>
                  <a:gd name="T12" fmla="*/ 21 w 357"/>
                  <a:gd name="T13" fmla="*/ 278 h 488"/>
                  <a:gd name="T14" fmla="*/ 132 w 357"/>
                  <a:gd name="T15" fmla="*/ 262 h 488"/>
                  <a:gd name="T16" fmla="*/ 121 w 357"/>
                  <a:gd name="T17" fmla="*/ 247 h 488"/>
                  <a:gd name="T18" fmla="*/ 63 w 357"/>
                  <a:gd name="T19" fmla="*/ 205 h 488"/>
                  <a:gd name="T20" fmla="*/ 48 w 357"/>
                  <a:gd name="T21" fmla="*/ 163 h 488"/>
                  <a:gd name="T22" fmla="*/ 79 w 357"/>
                  <a:gd name="T23" fmla="*/ 53 h 488"/>
                  <a:gd name="T24" fmla="*/ 111 w 357"/>
                  <a:gd name="T25" fmla="*/ 16 h 488"/>
                  <a:gd name="T26" fmla="*/ 158 w 357"/>
                  <a:gd name="T27" fmla="*/ 0 h 488"/>
                  <a:gd name="T28" fmla="*/ 189 w 357"/>
                  <a:gd name="T29" fmla="*/ 5 h 488"/>
                  <a:gd name="T30" fmla="*/ 242 w 357"/>
                  <a:gd name="T31" fmla="*/ 16 h 488"/>
                  <a:gd name="T32" fmla="*/ 305 w 357"/>
                  <a:gd name="T33" fmla="*/ 100 h 488"/>
                  <a:gd name="T34" fmla="*/ 305 w 357"/>
                  <a:gd name="T35" fmla="*/ 184 h 488"/>
                  <a:gd name="T36" fmla="*/ 273 w 357"/>
                  <a:gd name="T37" fmla="*/ 226 h 488"/>
                  <a:gd name="T38" fmla="*/ 237 w 357"/>
                  <a:gd name="T39" fmla="*/ 247 h 488"/>
                  <a:gd name="T40" fmla="*/ 294 w 357"/>
                  <a:gd name="T41" fmla="*/ 262 h 488"/>
                  <a:gd name="T42" fmla="*/ 137 w 357"/>
                  <a:gd name="T43" fmla="*/ 262 h 488"/>
                  <a:gd name="T44" fmla="*/ 142 w 357"/>
                  <a:gd name="T45" fmla="*/ 289 h 488"/>
                  <a:gd name="T46" fmla="*/ 179 w 357"/>
                  <a:gd name="T47" fmla="*/ 331 h 488"/>
                  <a:gd name="T48" fmla="*/ 179 w 357"/>
                  <a:gd name="T49" fmla="*/ 351 h 488"/>
                  <a:gd name="T50" fmla="*/ 168 w 357"/>
                  <a:gd name="T51" fmla="*/ 362 h 488"/>
                  <a:gd name="T52" fmla="*/ 179 w 357"/>
                  <a:gd name="T53" fmla="*/ 378 h 488"/>
                  <a:gd name="T54" fmla="*/ 195 w 357"/>
                  <a:gd name="T55" fmla="*/ 372 h 488"/>
                  <a:gd name="T56" fmla="*/ 189 w 357"/>
                  <a:gd name="T57" fmla="*/ 357 h 488"/>
                  <a:gd name="T58" fmla="*/ 184 w 357"/>
                  <a:gd name="T59" fmla="*/ 341 h 488"/>
                  <a:gd name="T60" fmla="*/ 184 w 357"/>
                  <a:gd name="T61" fmla="*/ 325 h 488"/>
                  <a:gd name="T62" fmla="*/ 221 w 357"/>
                  <a:gd name="T63" fmla="*/ 289 h 488"/>
                  <a:gd name="T64" fmla="*/ 226 w 357"/>
                  <a:gd name="T65" fmla="*/ 262 h 488"/>
                  <a:gd name="T66" fmla="*/ 226 w 357"/>
                  <a:gd name="T67" fmla="*/ 231 h 488"/>
                  <a:gd name="T68" fmla="*/ 179 w 357"/>
                  <a:gd name="T69" fmla="*/ 252 h 488"/>
                  <a:gd name="T70" fmla="*/ 137 w 357"/>
                  <a:gd name="T71" fmla="*/ 236 h 488"/>
                  <a:gd name="T72" fmla="*/ 137 w 357"/>
                  <a:gd name="T73" fmla="*/ 262 h 488"/>
                  <a:gd name="T74" fmla="*/ 237 w 357"/>
                  <a:gd name="T75" fmla="*/ 147 h 488"/>
                  <a:gd name="T76" fmla="*/ 184 w 357"/>
                  <a:gd name="T77" fmla="*/ 94 h 488"/>
                  <a:gd name="T78" fmla="*/ 174 w 357"/>
                  <a:gd name="T79" fmla="*/ 53 h 488"/>
                  <a:gd name="T80" fmla="*/ 132 w 357"/>
                  <a:gd name="T81" fmla="*/ 63 h 488"/>
                  <a:gd name="T82" fmla="*/ 111 w 357"/>
                  <a:gd name="T83" fmla="*/ 126 h 488"/>
                  <a:gd name="T84" fmla="*/ 111 w 357"/>
                  <a:gd name="T85" fmla="*/ 131 h 488"/>
                  <a:gd name="T86" fmla="*/ 100 w 357"/>
                  <a:gd name="T87" fmla="*/ 131 h 488"/>
                  <a:gd name="T88" fmla="*/ 105 w 357"/>
                  <a:gd name="T89" fmla="*/ 173 h 488"/>
                  <a:gd name="T90" fmla="*/ 121 w 357"/>
                  <a:gd name="T91" fmla="*/ 205 h 488"/>
                  <a:gd name="T92" fmla="*/ 137 w 357"/>
                  <a:gd name="T93" fmla="*/ 231 h 488"/>
                  <a:gd name="T94" fmla="*/ 179 w 357"/>
                  <a:gd name="T95" fmla="*/ 247 h 488"/>
                  <a:gd name="T96" fmla="*/ 205 w 357"/>
                  <a:gd name="T97" fmla="*/ 241 h 488"/>
                  <a:gd name="T98" fmla="*/ 237 w 357"/>
                  <a:gd name="T99" fmla="*/ 205 h 488"/>
                  <a:gd name="T100" fmla="*/ 252 w 357"/>
                  <a:gd name="T101" fmla="*/ 173 h 488"/>
                  <a:gd name="T102" fmla="*/ 258 w 357"/>
                  <a:gd name="T103" fmla="*/ 163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7" h="488">
                    <a:moveTo>
                      <a:pt x="294" y="262"/>
                    </a:moveTo>
                    <a:lnTo>
                      <a:pt x="294" y="262"/>
                    </a:lnTo>
                    <a:lnTo>
                      <a:pt x="320" y="268"/>
                    </a:lnTo>
                    <a:lnTo>
                      <a:pt x="341" y="278"/>
                    </a:lnTo>
                    <a:lnTo>
                      <a:pt x="352" y="299"/>
                    </a:lnTo>
                    <a:lnTo>
                      <a:pt x="357" y="325"/>
                    </a:lnTo>
                    <a:lnTo>
                      <a:pt x="357" y="346"/>
                    </a:lnTo>
                    <a:lnTo>
                      <a:pt x="252" y="399"/>
                    </a:lnTo>
                    <a:lnTo>
                      <a:pt x="252" y="399"/>
                    </a:lnTo>
                    <a:lnTo>
                      <a:pt x="237" y="414"/>
                    </a:lnTo>
                    <a:lnTo>
                      <a:pt x="231" y="425"/>
                    </a:lnTo>
                    <a:lnTo>
                      <a:pt x="231" y="435"/>
                    </a:lnTo>
                    <a:lnTo>
                      <a:pt x="231" y="441"/>
                    </a:lnTo>
                    <a:lnTo>
                      <a:pt x="231" y="441"/>
                    </a:lnTo>
                    <a:lnTo>
                      <a:pt x="100" y="462"/>
                    </a:lnTo>
                    <a:lnTo>
                      <a:pt x="48" y="472"/>
                    </a:lnTo>
                    <a:lnTo>
                      <a:pt x="0" y="488"/>
                    </a:lnTo>
                    <a:lnTo>
                      <a:pt x="0" y="325"/>
                    </a:lnTo>
                    <a:lnTo>
                      <a:pt x="0" y="325"/>
                    </a:lnTo>
                    <a:lnTo>
                      <a:pt x="6" y="299"/>
                    </a:lnTo>
                    <a:lnTo>
                      <a:pt x="21" y="278"/>
                    </a:lnTo>
                    <a:lnTo>
                      <a:pt x="42" y="268"/>
                    </a:lnTo>
                    <a:lnTo>
                      <a:pt x="69" y="262"/>
                    </a:lnTo>
                    <a:lnTo>
                      <a:pt x="132" y="262"/>
                    </a:lnTo>
                    <a:lnTo>
                      <a:pt x="132" y="262"/>
                    </a:lnTo>
                    <a:lnTo>
                      <a:pt x="126" y="252"/>
                    </a:lnTo>
                    <a:lnTo>
                      <a:pt x="121" y="247"/>
                    </a:lnTo>
                    <a:lnTo>
                      <a:pt x="121" y="247"/>
                    </a:lnTo>
                    <a:lnTo>
                      <a:pt x="90" y="226"/>
                    </a:lnTo>
                    <a:lnTo>
                      <a:pt x="63" y="205"/>
                    </a:lnTo>
                    <a:lnTo>
                      <a:pt x="48" y="178"/>
                    </a:lnTo>
                    <a:lnTo>
                      <a:pt x="48" y="178"/>
                    </a:lnTo>
                    <a:lnTo>
                      <a:pt x="48" y="163"/>
                    </a:lnTo>
                    <a:lnTo>
                      <a:pt x="53" y="126"/>
                    </a:lnTo>
                    <a:lnTo>
                      <a:pt x="69" y="74"/>
                    </a:lnTo>
                    <a:lnTo>
                      <a:pt x="79" y="53"/>
                    </a:lnTo>
                    <a:lnTo>
                      <a:pt x="95" y="32"/>
                    </a:lnTo>
                    <a:lnTo>
                      <a:pt x="95" y="32"/>
                    </a:lnTo>
                    <a:lnTo>
                      <a:pt x="111" y="16"/>
                    </a:lnTo>
                    <a:lnTo>
                      <a:pt x="126" y="11"/>
                    </a:lnTo>
                    <a:lnTo>
                      <a:pt x="142" y="5"/>
                    </a:lnTo>
                    <a:lnTo>
                      <a:pt x="158" y="0"/>
                    </a:lnTo>
                    <a:lnTo>
                      <a:pt x="184" y="0"/>
                    </a:lnTo>
                    <a:lnTo>
                      <a:pt x="189" y="5"/>
                    </a:lnTo>
                    <a:lnTo>
                      <a:pt x="189" y="5"/>
                    </a:lnTo>
                    <a:lnTo>
                      <a:pt x="205" y="0"/>
                    </a:lnTo>
                    <a:lnTo>
                      <a:pt x="216" y="5"/>
                    </a:lnTo>
                    <a:lnTo>
                      <a:pt x="242" y="16"/>
                    </a:lnTo>
                    <a:lnTo>
                      <a:pt x="268" y="37"/>
                    </a:lnTo>
                    <a:lnTo>
                      <a:pt x="289" y="68"/>
                    </a:lnTo>
                    <a:lnTo>
                      <a:pt x="305" y="100"/>
                    </a:lnTo>
                    <a:lnTo>
                      <a:pt x="310" y="136"/>
                    </a:lnTo>
                    <a:lnTo>
                      <a:pt x="310" y="168"/>
                    </a:lnTo>
                    <a:lnTo>
                      <a:pt x="305" y="184"/>
                    </a:lnTo>
                    <a:lnTo>
                      <a:pt x="294" y="199"/>
                    </a:lnTo>
                    <a:lnTo>
                      <a:pt x="294" y="199"/>
                    </a:lnTo>
                    <a:lnTo>
                      <a:pt x="273" y="226"/>
                    </a:lnTo>
                    <a:lnTo>
                      <a:pt x="258" y="236"/>
                    </a:lnTo>
                    <a:lnTo>
                      <a:pt x="237" y="247"/>
                    </a:lnTo>
                    <a:lnTo>
                      <a:pt x="237" y="247"/>
                    </a:lnTo>
                    <a:lnTo>
                      <a:pt x="231" y="252"/>
                    </a:lnTo>
                    <a:lnTo>
                      <a:pt x="231" y="262"/>
                    </a:lnTo>
                    <a:lnTo>
                      <a:pt x="294" y="262"/>
                    </a:lnTo>
                    <a:lnTo>
                      <a:pt x="294" y="262"/>
                    </a:lnTo>
                    <a:close/>
                    <a:moveTo>
                      <a:pt x="137" y="262"/>
                    </a:moveTo>
                    <a:lnTo>
                      <a:pt x="137" y="262"/>
                    </a:lnTo>
                    <a:lnTo>
                      <a:pt x="137" y="262"/>
                    </a:lnTo>
                    <a:lnTo>
                      <a:pt x="137" y="278"/>
                    </a:lnTo>
                    <a:lnTo>
                      <a:pt x="142" y="289"/>
                    </a:lnTo>
                    <a:lnTo>
                      <a:pt x="158" y="310"/>
                    </a:lnTo>
                    <a:lnTo>
                      <a:pt x="174" y="320"/>
                    </a:lnTo>
                    <a:lnTo>
                      <a:pt x="179" y="331"/>
                    </a:lnTo>
                    <a:lnTo>
                      <a:pt x="179" y="341"/>
                    </a:lnTo>
                    <a:lnTo>
                      <a:pt x="179" y="341"/>
                    </a:lnTo>
                    <a:lnTo>
                      <a:pt x="179" y="351"/>
                    </a:lnTo>
                    <a:lnTo>
                      <a:pt x="174" y="357"/>
                    </a:lnTo>
                    <a:lnTo>
                      <a:pt x="174" y="357"/>
                    </a:lnTo>
                    <a:lnTo>
                      <a:pt x="168" y="362"/>
                    </a:lnTo>
                    <a:lnTo>
                      <a:pt x="168" y="372"/>
                    </a:lnTo>
                    <a:lnTo>
                      <a:pt x="174" y="378"/>
                    </a:lnTo>
                    <a:lnTo>
                      <a:pt x="179" y="378"/>
                    </a:lnTo>
                    <a:lnTo>
                      <a:pt x="179" y="378"/>
                    </a:lnTo>
                    <a:lnTo>
                      <a:pt x="189" y="378"/>
                    </a:lnTo>
                    <a:lnTo>
                      <a:pt x="195" y="372"/>
                    </a:lnTo>
                    <a:lnTo>
                      <a:pt x="195" y="362"/>
                    </a:lnTo>
                    <a:lnTo>
                      <a:pt x="189" y="357"/>
                    </a:lnTo>
                    <a:lnTo>
                      <a:pt x="189" y="357"/>
                    </a:lnTo>
                    <a:lnTo>
                      <a:pt x="184" y="351"/>
                    </a:lnTo>
                    <a:lnTo>
                      <a:pt x="184" y="341"/>
                    </a:lnTo>
                    <a:lnTo>
                      <a:pt x="184" y="341"/>
                    </a:lnTo>
                    <a:lnTo>
                      <a:pt x="184" y="325"/>
                    </a:lnTo>
                    <a:lnTo>
                      <a:pt x="184" y="325"/>
                    </a:lnTo>
                    <a:lnTo>
                      <a:pt x="184" y="325"/>
                    </a:lnTo>
                    <a:lnTo>
                      <a:pt x="200" y="315"/>
                    </a:lnTo>
                    <a:lnTo>
                      <a:pt x="210" y="304"/>
                    </a:lnTo>
                    <a:lnTo>
                      <a:pt x="221" y="289"/>
                    </a:lnTo>
                    <a:lnTo>
                      <a:pt x="226" y="278"/>
                    </a:lnTo>
                    <a:lnTo>
                      <a:pt x="226" y="262"/>
                    </a:lnTo>
                    <a:lnTo>
                      <a:pt x="226" y="262"/>
                    </a:lnTo>
                    <a:lnTo>
                      <a:pt x="226" y="262"/>
                    </a:lnTo>
                    <a:lnTo>
                      <a:pt x="226" y="231"/>
                    </a:lnTo>
                    <a:lnTo>
                      <a:pt x="226" y="231"/>
                    </a:lnTo>
                    <a:lnTo>
                      <a:pt x="205" y="247"/>
                    </a:lnTo>
                    <a:lnTo>
                      <a:pt x="189" y="252"/>
                    </a:lnTo>
                    <a:lnTo>
                      <a:pt x="179" y="252"/>
                    </a:lnTo>
                    <a:lnTo>
                      <a:pt x="179" y="252"/>
                    </a:lnTo>
                    <a:lnTo>
                      <a:pt x="158" y="247"/>
                    </a:lnTo>
                    <a:lnTo>
                      <a:pt x="137" y="236"/>
                    </a:lnTo>
                    <a:lnTo>
                      <a:pt x="137" y="262"/>
                    </a:lnTo>
                    <a:lnTo>
                      <a:pt x="137" y="262"/>
                    </a:lnTo>
                    <a:lnTo>
                      <a:pt x="137" y="262"/>
                    </a:lnTo>
                    <a:close/>
                    <a:moveTo>
                      <a:pt x="258" y="163"/>
                    </a:moveTo>
                    <a:lnTo>
                      <a:pt x="258" y="163"/>
                    </a:lnTo>
                    <a:lnTo>
                      <a:pt x="237" y="147"/>
                    </a:lnTo>
                    <a:lnTo>
                      <a:pt x="205" y="131"/>
                    </a:lnTo>
                    <a:lnTo>
                      <a:pt x="195" y="115"/>
                    </a:lnTo>
                    <a:lnTo>
                      <a:pt x="184" y="94"/>
                    </a:lnTo>
                    <a:lnTo>
                      <a:pt x="174" y="74"/>
                    </a:lnTo>
                    <a:lnTo>
                      <a:pt x="174" y="53"/>
                    </a:lnTo>
                    <a:lnTo>
                      <a:pt x="174" y="53"/>
                    </a:lnTo>
                    <a:lnTo>
                      <a:pt x="163" y="53"/>
                    </a:lnTo>
                    <a:lnTo>
                      <a:pt x="142" y="58"/>
                    </a:lnTo>
                    <a:lnTo>
                      <a:pt x="132" y="63"/>
                    </a:lnTo>
                    <a:lnTo>
                      <a:pt x="121" y="79"/>
                    </a:lnTo>
                    <a:lnTo>
                      <a:pt x="111" y="100"/>
                    </a:lnTo>
                    <a:lnTo>
                      <a:pt x="111" y="126"/>
                    </a:lnTo>
                    <a:lnTo>
                      <a:pt x="111" y="126"/>
                    </a:lnTo>
                    <a:lnTo>
                      <a:pt x="111" y="131"/>
                    </a:lnTo>
                    <a:lnTo>
                      <a:pt x="111" y="131"/>
                    </a:lnTo>
                    <a:lnTo>
                      <a:pt x="105" y="131"/>
                    </a:lnTo>
                    <a:lnTo>
                      <a:pt x="100" y="131"/>
                    </a:lnTo>
                    <a:lnTo>
                      <a:pt x="100" y="131"/>
                    </a:lnTo>
                    <a:lnTo>
                      <a:pt x="100" y="152"/>
                    </a:lnTo>
                    <a:lnTo>
                      <a:pt x="105" y="173"/>
                    </a:lnTo>
                    <a:lnTo>
                      <a:pt x="105" y="173"/>
                    </a:lnTo>
                    <a:lnTo>
                      <a:pt x="111" y="173"/>
                    </a:lnTo>
                    <a:lnTo>
                      <a:pt x="111" y="173"/>
                    </a:lnTo>
                    <a:lnTo>
                      <a:pt x="121" y="205"/>
                    </a:lnTo>
                    <a:lnTo>
                      <a:pt x="126" y="215"/>
                    </a:lnTo>
                    <a:lnTo>
                      <a:pt x="137" y="231"/>
                    </a:lnTo>
                    <a:lnTo>
                      <a:pt x="137" y="231"/>
                    </a:lnTo>
                    <a:lnTo>
                      <a:pt x="158" y="241"/>
                    </a:lnTo>
                    <a:lnTo>
                      <a:pt x="179" y="247"/>
                    </a:lnTo>
                    <a:lnTo>
                      <a:pt x="179" y="247"/>
                    </a:lnTo>
                    <a:lnTo>
                      <a:pt x="179" y="247"/>
                    </a:lnTo>
                    <a:lnTo>
                      <a:pt x="189" y="247"/>
                    </a:lnTo>
                    <a:lnTo>
                      <a:pt x="205" y="241"/>
                    </a:lnTo>
                    <a:lnTo>
                      <a:pt x="226" y="220"/>
                    </a:lnTo>
                    <a:lnTo>
                      <a:pt x="226" y="220"/>
                    </a:lnTo>
                    <a:lnTo>
                      <a:pt x="237" y="205"/>
                    </a:lnTo>
                    <a:lnTo>
                      <a:pt x="242" y="178"/>
                    </a:lnTo>
                    <a:lnTo>
                      <a:pt x="242" y="178"/>
                    </a:lnTo>
                    <a:lnTo>
                      <a:pt x="252" y="173"/>
                    </a:lnTo>
                    <a:lnTo>
                      <a:pt x="258" y="168"/>
                    </a:lnTo>
                    <a:lnTo>
                      <a:pt x="258" y="163"/>
                    </a:lnTo>
                    <a:lnTo>
                      <a:pt x="258" y="1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104" name="Freeform 32">
                <a:extLst>
                  <a:ext uri="{FF2B5EF4-FFF2-40B4-BE49-F238E27FC236}">
                    <a16:creationId xmlns:a16="http://schemas.microsoft.com/office/drawing/2014/main" id="{91D9DF07-088F-49EE-A7A4-C5788E5FC274}"/>
                  </a:ext>
                </a:extLst>
              </p:cNvPr>
              <p:cNvSpPr>
                <a:spLocks/>
              </p:cNvSpPr>
              <p:nvPr/>
            </p:nvSpPr>
            <p:spPr bwMode="auto">
              <a:xfrm>
                <a:off x="15232063" y="4054475"/>
                <a:ext cx="565150" cy="407988"/>
              </a:xfrm>
              <a:custGeom>
                <a:avLst/>
                <a:gdLst>
                  <a:gd name="T0" fmla="*/ 183 w 356"/>
                  <a:gd name="T1" fmla="*/ 58 h 257"/>
                  <a:gd name="T2" fmla="*/ 199 w 356"/>
                  <a:gd name="T3" fmla="*/ 68 h 257"/>
                  <a:gd name="T4" fmla="*/ 188 w 356"/>
                  <a:gd name="T5" fmla="*/ 89 h 257"/>
                  <a:gd name="T6" fmla="*/ 199 w 356"/>
                  <a:gd name="T7" fmla="*/ 168 h 257"/>
                  <a:gd name="T8" fmla="*/ 209 w 356"/>
                  <a:gd name="T9" fmla="*/ 162 h 257"/>
                  <a:gd name="T10" fmla="*/ 241 w 356"/>
                  <a:gd name="T11" fmla="*/ 58 h 257"/>
                  <a:gd name="T12" fmla="*/ 241 w 356"/>
                  <a:gd name="T13" fmla="*/ 58 h 257"/>
                  <a:gd name="T14" fmla="*/ 241 w 356"/>
                  <a:gd name="T15" fmla="*/ 42 h 257"/>
                  <a:gd name="T16" fmla="*/ 236 w 356"/>
                  <a:gd name="T17" fmla="*/ 37 h 257"/>
                  <a:gd name="T18" fmla="*/ 225 w 356"/>
                  <a:gd name="T19" fmla="*/ 31 h 257"/>
                  <a:gd name="T20" fmla="*/ 225 w 356"/>
                  <a:gd name="T21" fmla="*/ 5 h 257"/>
                  <a:gd name="T22" fmla="*/ 230 w 356"/>
                  <a:gd name="T23" fmla="*/ 0 h 257"/>
                  <a:gd name="T24" fmla="*/ 230 w 356"/>
                  <a:gd name="T25" fmla="*/ 0 h 257"/>
                  <a:gd name="T26" fmla="*/ 230 w 356"/>
                  <a:gd name="T27" fmla="*/ 21 h 257"/>
                  <a:gd name="T28" fmla="*/ 241 w 356"/>
                  <a:gd name="T29" fmla="*/ 26 h 257"/>
                  <a:gd name="T30" fmla="*/ 246 w 356"/>
                  <a:gd name="T31" fmla="*/ 31 h 257"/>
                  <a:gd name="T32" fmla="*/ 293 w 356"/>
                  <a:gd name="T33" fmla="*/ 31 h 257"/>
                  <a:gd name="T34" fmla="*/ 293 w 356"/>
                  <a:gd name="T35" fmla="*/ 31 h 257"/>
                  <a:gd name="T36" fmla="*/ 320 w 356"/>
                  <a:gd name="T37" fmla="*/ 37 h 257"/>
                  <a:gd name="T38" fmla="*/ 341 w 356"/>
                  <a:gd name="T39" fmla="*/ 47 h 257"/>
                  <a:gd name="T40" fmla="*/ 351 w 356"/>
                  <a:gd name="T41" fmla="*/ 68 h 257"/>
                  <a:gd name="T42" fmla="*/ 356 w 356"/>
                  <a:gd name="T43" fmla="*/ 94 h 257"/>
                  <a:gd name="T44" fmla="*/ 356 w 356"/>
                  <a:gd name="T45" fmla="*/ 257 h 257"/>
                  <a:gd name="T46" fmla="*/ 356 w 356"/>
                  <a:gd name="T47" fmla="*/ 257 h 257"/>
                  <a:gd name="T48" fmla="*/ 309 w 356"/>
                  <a:gd name="T49" fmla="*/ 241 h 257"/>
                  <a:gd name="T50" fmla="*/ 257 w 356"/>
                  <a:gd name="T51" fmla="*/ 231 h 257"/>
                  <a:gd name="T52" fmla="*/ 125 w 356"/>
                  <a:gd name="T53" fmla="*/ 210 h 257"/>
                  <a:gd name="T54" fmla="*/ 125 w 356"/>
                  <a:gd name="T55" fmla="*/ 204 h 257"/>
                  <a:gd name="T56" fmla="*/ 125 w 356"/>
                  <a:gd name="T57" fmla="*/ 204 h 257"/>
                  <a:gd name="T58" fmla="*/ 125 w 356"/>
                  <a:gd name="T59" fmla="*/ 194 h 257"/>
                  <a:gd name="T60" fmla="*/ 120 w 356"/>
                  <a:gd name="T61" fmla="*/ 183 h 257"/>
                  <a:gd name="T62" fmla="*/ 104 w 356"/>
                  <a:gd name="T63" fmla="*/ 168 h 257"/>
                  <a:gd name="T64" fmla="*/ 0 w 356"/>
                  <a:gd name="T65" fmla="*/ 115 h 257"/>
                  <a:gd name="T66" fmla="*/ 0 w 356"/>
                  <a:gd name="T67" fmla="*/ 94 h 257"/>
                  <a:gd name="T68" fmla="*/ 0 w 356"/>
                  <a:gd name="T69" fmla="*/ 94 h 257"/>
                  <a:gd name="T70" fmla="*/ 5 w 356"/>
                  <a:gd name="T71" fmla="*/ 68 h 257"/>
                  <a:gd name="T72" fmla="*/ 21 w 356"/>
                  <a:gd name="T73" fmla="*/ 47 h 257"/>
                  <a:gd name="T74" fmla="*/ 42 w 356"/>
                  <a:gd name="T75" fmla="*/ 37 h 257"/>
                  <a:gd name="T76" fmla="*/ 63 w 356"/>
                  <a:gd name="T77" fmla="*/ 31 h 257"/>
                  <a:gd name="T78" fmla="*/ 110 w 356"/>
                  <a:gd name="T79" fmla="*/ 31 h 257"/>
                  <a:gd name="T80" fmla="*/ 110 w 356"/>
                  <a:gd name="T81" fmla="*/ 31 h 257"/>
                  <a:gd name="T82" fmla="*/ 120 w 356"/>
                  <a:gd name="T83" fmla="*/ 26 h 257"/>
                  <a:gd name="T84" fmla="*/ 125 w 356"/>
                  <a:gd name="T85" fmla="*/ 21 h 257"/>
                  <a:gd name="T86" fmla="*/ 131 w 356"/>
                  <a:gd name="T87" fmla="*/ 0 h 257"/>
                  <a:gd name="T88" fmla="*/ 136 w 356"/>
                  <a:gd name="T89" fmla="*/ 5 h 257"/>
                  <a:gd name="T90" fmla="*/ 136 w 356"/>
                  <a:gd name="T91" fmla="*/ 31 h 257"/>
                  <a:gd name="T92" fmla="*/ 125 w 356"/>
                  <a:gd name="T93" fmla="*/ 37 h 257"/>
                  <a:gd name="T94" fmla="*/ 125 w 356"/>
                  <a:gd name="T95" fmla="*/ 37 h 257"/>
                  <a:gd name="T96" fmla="*/ 115 w 356"/>
                  <a:gd name="T97" fmla="*/ 42 h 257"/>
                  <a:gd name="T98" fmla="*/ 120 w 356"/>
                  <a:gd name="T99" fmla="*/ 58 h 257"/>
                  <a:gd name="T100" fmla="*/ 152 w 356"/>
                  <a:gd name="T101" fmla="*/ 162 h 257"/>
                  <a:gd name="T102" fmla="*/ 157 w 356"/>
                  <a:gd name="T103" fmla="*/ 168 h 257"/>
                  <a:gd name="T104" fmla="*/ 167 w 356"/>
                  <a:gd name="T105" fmla="*/ 89 h 257"/>
                  <a:gd name="T106" fmla="*/ 157 w 356"/>
                  <a:gd name="T107" fmla="*/ 68 h 257"/>
                  <a:gd name="T108" fmla="*/ 173 w 356"/>
                  <a:gd name="T109" fmla="*/ 58 h 257"/>
                  <a:gd name="T110" fmla="*/ 183 w 356"/>
                  <a:gd name="T111" fmla="*/ 58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56" h="257">
                    <a:moveTo>
                      <a:pt x="183" y="58"/>
                    </a:moveTo>
                    <a:lnTo>
                      <a:pt x="199" y="68"/>
                    </a:lnTo>
                    <a:lnTo>
                      <a:pt x="188" y="89"/>
                    </a:lnTo>
                    <a:lnTo>
                      <a:pt x="199" y="168"/>
                    </a:lnTo>
                    <a:lnTo>
                      <a:pt x="209" y="162"/>
                    </a:lnTo>
                    <a:lnTo>
                      <a:pt x="241" y="58"/>
                    </a:lnTo>
                    <a:lnTo>
                      <a:pt x="241" y="58"/>
                    </a:lnTo>
                    <a:lnTo>
                      <a:pt x="241" y="42"/>
                    </a:lnTo>
                    <a:lnTo>
                      <a:pt x="236" y="37"/>
                    </a:lnTo>
                    <a:lnTo>
                      <a:pt x="225" y="31"/>
                    </a:lnTo>
                    <a:lnTo>
                      <a:pt x="225" y="5"/>
                    </a:lnTo>
                    <a:lnTo>
                      <a:pt x="230" y="0"/>
                    </a:lnTo>
                    <a:lnTo>
                      <a:pt x="230" y="0"/>
                    </a:lnTo>
                    <a:lnTo>
                      <a:pt x="230" y="21"/>
                    </a:lnTo>
                    <a:lnTo>
                      <a:pt x="241" y="26"/>
                    </a:lnTo>
                    <a:lnTo>
                      <a:pt x="246" y="31"/>
                    </a:lnTo>
                    <a:lnTo>
                      <a:pt x="293" y="31"/>
                    </a:lnTo>
                    <a:lnTo>
                      <a:pt x="293" y="31"/>
                    </a:lnTo>
                    <a:lnTo>
                      <a:pt x="320" y="37"/>
                    </a:lnTo>
                    <a:lnTo>
                      <a:pt x="341" y="47"/>
                    </a:lnTo>
                    <a:lnTo>
                      <a:pt x="351" y="68"/>
                    </a:lnTo>
                    <a:lnTo>
                      <a:pt x="356" y="94"/>
                    </a:lnTo>
                    <a:lnTo>
                      <a:pt x="356" y="257"/>
                    </a:lnTo>
                    <a:lnTo>
                      <a:pt x="356" y="257"/>
                    </a:lnTo>
                    <a:lnTo>
                      <a:pt x="309" y="241"/>
                    </a:lnTo>
                    <a:lnTo>
                      <a:pt x="257" y="231"/>
                    </a:lnTo>
                    <a:lnTo>
                      <a:pt x="125" y="210"/>
                    </a:lnTo>
                    <a:lnTo>
                      <a:pt x="125" y="204"/>
                    </a:lnTo>
                    <a:lnTo>
                      <a:pt x="125" y="204"/>
                    </a:lnTo>
                    <a:lnTo>
                      <a:pt x="125" y="194"/>
                    </a:lnTo>
                    <a:lnTo>
                      <a:pt x="120" y="183"/>
                    </a:lnTo>
                    <a:lnTo>
                      <a:pt x="104" y="168"/>
                    </a:lnTo>
                    <a:lnTo>
                      <a:pt x="0" y="115"/>
                    </a:lnTo>
                    <a:lnTo>
                      <a:pt x="0" y="94"/>
                    </a:lnTo>
                    <a:lnTo>
                      <a:pt x="0" y="94"/>
                    </a:lnTo>
                    <a:lnTo>
                      <a:pt x="5" y="68"/>
                    </a:lnTo>
                    <a:lnTo>
                      <a:pt x="21" y="47"/>
                    </a:lnTo>
                    <a:lnTo>
                      <a:pt x="42" y="37"/>
                    </a:lnTo>
                    <a:lnTo>
                      <a:pt x="63" y="31"/>
                    </a:lnTo>
                    <a:lnTo>
                      <a:pt x="110" y="31"/>
                    </a:lnTo>
                    <a:lnTo>
                      <a:pt x="110" y="31"/>
                    </a:lnTo>
                    <a:lnTo>
                      <a:pt x="120" y="26"/>
                    </a:lnTo>
                    <a:lnTo>
                      <a:pt x="125" y="21"/>
                    </a:lnTo>
                    <a:lnTo>
                      <a:pt x="131" y="0"/>
                    </a:lnTo>
                    <a:lnTo>
                      <a:pt x="136" y="5"/>
                    </a:lnTo>
                    <a:lnTo>
                      <a:pt x="136" y="31"/>
                    </a:lnTo>
                    <a:lnTo>
                      <a:pt x="125" y="37"/>
                    </a:lnTo>
                    <a:lnTo>
                      <a:pt x="125" y="37"/>
                    </a:lnTo>
                    <a:lnTo>
                      <a:pt x="115" y="42"/>
                    </a:lnTo>
                    <a:lnTo>
                      <a:pt x="120" y="58"/>
                    </a:lnTo>
                    <a:lnTo>
                      <a:pt x="152" y="162"/>
                    </a:lnTo>
                    <a:lnTo>
                      <a:pt x="157" y="168"/>
                    </a:lnTo>
                    <a:lnTo>
                      <a:pt x="167" y="89"/>
                    </a:lnTo>
                    <a:lnTo>
                      <a:pt x="157" y="68"/>
                    </a:lnTo>
                    <a:lnTo>
                      <a:pt x="173" y="58"/>
                    </a:lnTo>
                    <a:lnTo>
                      <a:pt x="183"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105" name="Freeform 33">
                <a:extLst>
                  <a:ext uri="{FF2B5EF4-FFF2-40B4-BE49-F238E27FC236}">
                    <a16:creationId xmlns:a16="http://schemas.microsoft.com/office/drawing/2014/main" id="{1C0DAB48-4A8B-4FBE-A25C-2D788939643D}"/>
                  </a:ext>
                </a:extLst>
              </p:cNvPr>
              <p:cNvSpPr>
                <a:spLocks/>
              </p:cNvSpPr>
              <p:nvPr/>
            </p:nvSpPr>
            <p:spPr bwMode="auto">
              <a:xfrm>
                <a:off x="15355888" y="3687763"/>
                <a:ext cx="317500" cy="300038"/>
              </a:xfrm>
              <a:custGeom>
                <a:avLst/>
                <a:gdLst>
                  <a:gd name="T0" fmla="*/ 21 w 200"/>
                  <a:gd name="T1" fmla="*/ 189 h 189"/>
                  <a:gd name="T2" fmla="*/ 21 w 200"/>
                  <a:gd name="T3" fmla="*/ 189 h 189"/>
                  <a:gd name="T4" fmla="*/ 11 w 200"/>
                  <a:gd name="T5" fmla="*/ 157 h 189"/>
                  <a:gd name="T6" fmla="*/ 6 w 200"/>
                  <a:gd name="T7" fmla="*/ 126 h 189"/>
                  <a:gd name="T8" fmla="*/ 0 w 200"/>
                  <a:gd name="T9" fmla="*/ 94 h 189"/>
                  <a:gd name="T10" fmla="*/ 0 w 200"/>
                  <a:gd name="T11" fmla="*/ 94 h 189"/>
                  <a:gd name="T12" fmla="*/ 6 w 200"/>
                  <a:gd name="T13" fmla="*/ 74 h 189"/>
                  <a:gd name="T14" fmla="*/ 11 w 200"/>
                  <a:gd name="T15" fmla="*/ 53 h 189"/>
                  <a:gd name="T16" fmla="*/ 26 w 200"/>
                  <a:gd name="T17" fmla="*/ 37 h 189"/>
                  <a:gd name="T18" fmla="*/ 47 w 200"/>
                  <a:gd name="T19" fmla="*/ 26 h 189"/>
                  <a:gd name="T20" fmla="*/ 47 w 200"/>
                  <a:gd name="T21" fmla="*/ 26 h 189"/>
                  <a:gd name="T22" fmla="*/ 63 w 200"/>
                  <a:gd name="T23" fmla="*/ 11 h 189"/>
                  <a:gd name="T24" fmla="*/ 84 w 200"/>
                  <a:gd name="T25" fmla="*/ 5 h 189"/>
                  <a:gd name="T26" fmla="*/ 110 w 200"/>
                  <a:gd name="T27" fmla="*/ 0 h 189"/>
                  <a:gd name="T28" fmla="*/ 110 w 200"/>
                  <a:gd name="T29" fmla="*/ 0 h 189"/>
                  <a:gd name="T30" fmla="*/ 121 w 200"/>
                  <a:gd name="T31" fmla="*/ 0 h 189"/>
                  <a:gd name="T32" fmla="*/ 147 w 200"/>
                  <a:gd name="T33" fmla="*/ 5 h 189"/>
                  <a:gd name="T34" fmla="*/ 158 w 200"/>
                  <a:gd name="T35" fmla="*/ 11 h 189"/>
                  <a:gd name="T36" fmla="*/ 168 w 200"/>
                  <a:gd name="T37" fmla="*/ 21 h 189"/>
                  <a:gd name="T38" fmla="*/ 179 w 200"/>
                  <a:gd name="T39" fmla="*/ 37 h 189"/>
                  <a:gd name="T40" fmla="*/ 179 w 200"/>
                  <a:gd name="T41" fmla="*/ 53 h 189"/>
                  <a:gd name="T42" fmla="*/ 179 w 200"/>
                  <a:gd name="T43" fmla="*/ 53 h 189"/>
                  <a:gd name="T44" fmla="*/ 184 w 200"/>
                  <a:gd name="T45" fmla="*/ 58 h 189"/>
                  <a:gd name="T46" fmla="*/ 194 w 200"/>
                  <a:gd name="T47" fmla="*/ 79 h 189"/>
                  <a:gd name="T48" fmla="*/ 200 w 200"/>
                  <a:gd name="T49" fmla="*/ 110 h 189"/>
                  <a:gd name="T50" fmla="*/ 200 w 200"/>
                  <a:gd name="T51" fmla="*/ 126 h 189"/>
                  <a:gd name="T52" fmla="*/ 194 w 200"/>
                  <a:gd name="T53" fmla="*/ 147 h 189"/>
                  <a:gd name="T54" fmla="*/ 194 w 200"/>
                  <a:gd name="T55" fmla="*/ 147 h 189"/>
                  <a:gd name="T56" fmla="*/ 179 w 200"/>
                  <a:gd name="T57" fmla="*/ 189 h 189"/>
                  <a:gd name="T58" fmla="*/ 179 w 200"/>
                  <a:gd name="T59" fmla="*/ 189 h 189"/>
                  <a:gd name="T60" fmla="*/ 179 w 200"/>
                  <a:gd name="T61" fmla="*/ 168 h 189"/>
                  <a:gd name="T62" fmla="*/ 179 w 200"/>
                  <a:gd name="T63" fmla="*/ 168 h 189"/>
                  <a:gd name="T64" fmla="*/ 179 w 200"/>
                  <a:gd name="T65" fmla="*/ 147 h 189"/>
                  <a:gd name="T66" fmla="*/ 179 w 200"/>
                  <a:gd name="T67" fmla="*/ 126 h 189"/>
                  <a:gd name="T68" fmla="*/ 179 w 200"/>
                  <a:gd name="T69" fmla="*/ 126 h 189"/>
                  <a:gd name="T70" fmla="*/ 168 w 200"/>
                  <a:gd name="T71" fmla="*/ 94 h 189"/>
                  <a:gd name="T72" fmla="*/ 168 w 200"/>
                  <a:gd name="T73" fmla="*/ 74 h 189"/>
                  <a:gd name="T74" fmla="*/ 168 w 200"/>
                  <a:gd name="T75" fmla="*/ 74 h 189"/>
                  <a:gd name="T76" fmla="*/ 163 w 200"/>
                  <a:gd name="T77" fmla="*/ 79 h 189"/>
                  <a:gd name="T78" fmla="*/ 152 w 200"/>
                  <a:gd name="T79" fmla="*/ 89 h 189"/>
                  <a:gd name="T80" fmla="*/ 163 w 200"/>
                  <a:gd name="T81" fmla="*/ 74 h 189"/>
                  <a:gd name="T82" fmla="*/ 152 w 200"/>
                  <a:gd name="T83" fmla="*/ 79 h 189"/>
                  <a:gd name="T84" fmla="*/ 152 w 200"/>
                  <a:gd name="T85" fmla="*/ 79 h 189"/>
                  <a:gd name="T86" fmla="*/ 152 w 200"/>
                  <a:gd name="T87" fmla="*/ 74 h 189"/>
                  <a:gd name="T88" fmla="*/ 152 w 200"/>
                  <a:gd name="T89" fmla="*/ 68 h 189"/>
                  <a:gd name="T90" fmla="*/ 147 w 200"/>
                  <a:gd name="T91" fmla="*/ 68 h 189"/>
                  <a:gd name="T92" fmla="*/ 147 w 200"/>
                  <a:gd name="T93" fmla="*/ 68 h 189"/>
                  <a:gd name="T94" fmla="*/ 126 w 200"/>
                  <a:gd name="T95" fmla="*/ 79 h 189"/>
                  <a:gd name="T96" fmla="*/ 116 w 200"/>
                  <a:gd name="T97" fmla="*/ 79 h 189"/>
                  <a:gd name="T98" fmla="*/ 105 w 200"/>
                  <a:gd name="T99" fmla="*/ 79 h 189"/>
                  <a:gd name="T100" fmla="*/ 105 w 200"/>
                  <a:gd name="T101" fmla="*/ 79 h 189"/>
                  <a:gd name="T102" fmla="*/ 68 w 200"/>
                  <a:gd name="T103" fmla="*/ 74 h 189"/>
                  <a:gd name="T104" fmla="*/ 53 w 200"/>
                  <a:gd name="T105" fmla="*/ 79 h 189"/>
                  <a:gd name="T106" fmla="*/ 37 w 200"/>
                  <a:gd name="T107" fmla="*/ 94 h 189"/>
                  <a:gd name="T108" fmla="*/ 37 w 200"/>
                  <a:gd name="T109" fmla="*/ 94 h 189"/>
                  <a:gd name="T110" fmla="*/ 26 w 200"/>
                  <a:gd name="T111" fmla="*/ 115 h 189"/>
                  <a:gd name="T112" fmla="*/ 26 w 200"/>
                  <a:gd name="T113" fmla="*/ 115 h 189"/>
                  <a:gd name="T114" fmla="*/ 21 w 200"/>
                  <a:gd name="T115" fmla="*/ 136 h 189"/>
                  <a:gd name="T116" fmla="*/ 21 w 200"/>
                  <a:gd name="T117" fmla="*/ 173 h 189"/>
                  <a:gd name="T118" fmla="*/ 21 w 200"/>
                  <a:gd name="T119" fmla="*/ 173 h 189"/>
                  <a:gd name="T120" fmla="*/ 21 w 200"/>
                  <a:gd name="T121" fmla="*/ 189 h 189"/>
                  <a:gd name="T122" fmla="*/ 21 w 200"/>
                  <a:gd name="T123"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0" h="189">
                    <a:moveTo>
                      <a:pt x="21" y="189"/>
                    </a:moveTo>
                    <a:lnTo>
                      <a:pt x="21" y="189"/>
                    </a:lnTo>
                    <a:lnTo>
                      <a:pt x="11" y="157"/>
                    </a:lnTo>
                    <a:lnTo>
                      <a:pt x="6" y="126"/>
                    </a:lnTo>
                    <a:lnTo>
                      <a:pt x="0" y="94"/>
                    </a:lnTo>
                    <a:lnTo>
                      <a:pt x="0" y="94"/>
                    </a:lnTo>
                    <a:lnTo>
                      <a:pt x="6" y="74"/>
                    </a:lnTo>
                    <a:lnTo>
                      <a:pt x="11" y="53"/>
                    </a:lnTo>
                    <a:lnTo>
                      <a:pt x="26" y="37"/>
                    </a:lnTo>
                    <a:lnTo>
                      <a:pt x="47" y="26"/>
                    </a:lnTo>
                    <a:lnTo>
                      <a:pt x="47" y="26"/>
                    </a:lnTo>
                    <a:lnTo>
                      <a:pt x="63" y="11"/>
                    </a:lnTo>
                    <a:lnTo>
                      <a:pt x="84" y="5"/>
                    </a:lnTo>
                    <a:lnTo>
                      <a:pt x="110" y="0"/>
                    </a:lnTo>
                    <a:lnTo>
                      <a:pt x="110" y="0"/>
                    </a:lnTo>
                    <a:lnTo>
                      <a:pt x="121" y="0"/>
                    </a:lnTo>
                    <a:lnTo>
                      <a:pt x="147" y="5"/>
                    </a:lnTo>
                    <a:lnTo>
                      <a:pt x="158" y="11"/>
                    </a:lnTo>
                    <a:lnTo>
                      <a:pt x="168" y="21"/>
                    </a:lnTo>
                    <a:lnTo>
                      <a:pt x="179" y="37"/>
                    </a:lnTo>
                    <a:lnTo>
                      <a:pt x="179" y="53"/>
                    </a:lnTo>
                    <a:lnTo>
                      <a:pt x="179" y="53"/>
                    </a:lnTo>
                    <a:lnTo>
                      <a:pt x="184" y="58"/>
                    </a:lnTo>
                    <a:lnTo>
                      <a:pt x="194" y="79"/>
                    </a:lnTo>
                    <a:lnTo>
                      <a:pt x="200" y="110"/>
                    </a:lnTo>
                    <a:lnTo>
                      <a:pt x="200" y="126"/>
                    </a:lnTo>
                    <a:lnTo>
                      <a:pt x="194" y="147"/>
                    </a:lnTo>
                    <a:lnTo>
                      <a:pt x="194" y="147"/>
                    </a:lnTo>
                    <a:lnTo>
                      <a:pt x="179" y="189"/>
                    </a:lnTo>
                    <a:lnTo>
                      <a:pt x="179" y="189"/>
                    </a:lnTo>
                    <a:lnTo>
                      <a:pt x="179" y="168"/>
                    </a:lnTo>
                    <a:lnTo>
                      <a:pt x="179" y="168"/>
                    </a:lnTo>
                    <a:lnTo>
                      <a:pt x="179" y="147"/>
                    </a:lnTo>
                    <a:lnTo>
                      <a:pt x="179" y="126"/>
                    </a:lnTo>
                    <a:lnTo>
                      <a:pt x="179" y="126"/>
                    </a:lnTo>
                    <a:lnTo>
                      <a:pt x="168" y="94"/>
                    </a:lnTo>
                    <a:lnTo>
                      <a:pt x="168" y="74"/>
                    </a:lnTo>
                    <a:lnTo>
                      <a:pt x="168" y="74"/>
                    </a:lnTo>
                    <a:lnTo>
                      <a:pt x="163" y="79"/>
                    </a:lnTo>
                    <a:lnTo>
                      <a:pt x="152" y="89"/>
                    </a:lnTo>
                    <a:lnTo>
                      <a:pt x="163" y="74"/>
                    </a:lnTo>
                    <a:lnTo>
                      <a:pt x="152" y="79"/>
                    </a:lnTo>
                    <a:lnTo>
                      <a:pt x="152" y="79"/>
                    </a:lnTo>
                    <a:lnTo>
                      <a:pt x="152" y="74"/>
                    </a:lnTo>
                    <a:lnTo>
                      <a:pt x="152" y="68"/>
                    </a:lnTo>
                    <a:lnTo>
                      <a:pt x="147" y="68"/>
                    </a:lnTo>
                    <a:lnTo>
                      <a:pt x="147" y="68"/>
                    </a:lnTo>
                    <a:lnTo>
                      <a:pt x="126" y="79"/>
                    </a:lnTo>
                    <a:lnTo>
                      <a:pt x="116" y="79"/>
                    </a:lnTo>
                    <a:lnTo>
                      <a:pt x="105" y="79"/>
                    </a:lnTo>
                    <a:lnTo>
                      <a:pt x="105" y="79"/>
                    </a:lnTo>
                    <a:lnTo>
                      <a:pt x="68" y="74"/>
                    </a:lnTo>
                    <a:lnTo>
                      <a:pt x="53" y="79"/>
                    </a:lnTo>
                    <a:lnTo>
                      <a:pt x="37" y="94"/>
                    </a:lnTo>
                    <a:lnTo>
                      <a:pt x="37" y="94"/>
                    </a:lnTo>
                    <a:lnTo>
                      <a:pt x="26" y="115"/>
                    </a:lnTo>
                    <a:lnTo>
                      <a:pt x="26" y="115"/>
                    </a:lnTo>
                    <a:lnTo>
                      <a:pt x="21" y="136"/>
                    </a:lnTo>
                    <a:lnTo>
                      <a:pt x="21" y="173"/>
                    </a:lnTo>
                    <a:lnTo>
                      <a:pt x="21" y="173"/>
                    </a:lnTo>
                    <a:lnTo>
                      <a:pt x="21" y="189"/>
                    </a:lnTo>
                    <a:lnTo>
                      <a:pt x="21"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106" name="Freeform 34">
                <a:extLst>
                  <a:ext uri="{FF2B5EF4-FFF2-40B4-BE49-F238E27FC236}">
                    <a16:creationId xmlns:a16="http://schemas.microsoft.com/office/drawing/2014/main" id="{D92A72A6-2191-4F86-ABBC-0BE7C7203778}"/>
                  </a:ext>
                </a:extLst>
              </p:cNvPr>
              <p:cNvSpPr>
                <a:spLocks/>
              </p:cNvSpPr>
              <p:nvPr/>
            </p:nvSpPr>
            <p:spPr bwMode="auto">
              <a:xfrm>
                <a:off x="15381288" y="3913188"/>
                <a:ext cx="266700" cy="190500"/>
              </a:xfrm>
              <a:custGeom>
                <a:avLst/>
                <a:gdLst>
                  <a:gd name="T0" fmla="*/ 5 w 168"/>
                  <a:gd name="T1" fmla="*/ 0 h 120"/>
                  <a:gd name="T2" fmla="*/ 5 w 168"/>
                  <a:gd name="T3" fmla="*/ 0 h 120"/>
                  <a:gd name="T4" fmla="*/ 0 w 168"/>
                  <a:gd name="T5" fmla="*/ 31 h 120"/>
                  <a:gd name="T6" fmla="*/ 0 w 168"/>
                  <a:gd name="T7" fmla="*/ 31 h 120"/>
                  <a:gd name="T8" fmla="*/ 0 w 168"/>
                  <a:gd name="T9" fmla="*/ 26 h 120"/>
                  <a:gd name="T10" fmla="*/ 0 w 168"/>
                  <a:gd name="T11" fmla="*/ 26 h 120"/>
                  <a:gd name="T12" fmla="*/ 10 w 168"/>
                  <a:gd name="T13" fmla="*/ 63 h 120"/>
                  <a:gd name="T14" fmla="*/ 31 w 168"/>
                  <a:gd name="T15" fmla="*/ 94 h 120"/>
                  <a:gd name="T16" fmla="*/ 58 w 168"/>
                  <a:gd name="T17" fmla="*/ 115 h 120"/>
                  <a:gd name="T18" fmla="*/ 73 w 168"/>
                  <a:gd name="T19" fmla="*/ 120 h 120"/>
                  <a:gd name="T20" fmla="*/ 84 w 168"/>
                  <a:gd name="T21" fmla="*/ 120 h 120"/>
                  <a:gd name="T22" fmla="*/ 84 w 168"/>
                  <a:gd name="T23" fmla="*/ 120 h 120"/>
                  <a:gd name="T24" fmla="*/ 100 w 168"/>
                  <a:gd name="T25" fmla="*/ 115 h 120"/>
                  <a:gd name="T26" fmla="*/ 110 w 168"/>
                  <a:gd name="T27" fmla="*/ 110 h 120"/>
                  <a:gd name="T28" fmla="*/ 142 w 168"/>
                  <a:gd name="T29" fmla="*/ 89 h 120"/>
                  <a:gd name="T30" fmla="*/ 152 w 168"/>
                  <a:gd name="T31" fmla="*/ 73 h 120"/>
                  <a:gd name="T32" fmla="*/ 163 w 168"/>
                  <a:gd name="T33" fmla="*/ 52 h 120"/>
                  <a:gd name="T34" fmla="*/ 168 w 168"/>
                  <a:gd name="T35" fmla="*/ 31 h 120"/>
                  <a:gd name="T36" fmla="*/ 168 w 168"/>
                  <a:gd name="T37" fmla="*/ 10 h 120"/>
                  <a:gd name="T38" fmla="*/ 168 w 168"/>
                  <a:gd name="T39" fmla="*/ 10 h 120"/>
                  <a:gd name="T40" fmla="*/ 163 w 168"/>
                  <a:gd name="T41" fmla="*/ 26 h 120"/>
                  <a:gd name="T42" fmla="*/ 163 w 168"/>
                  <a:gd name="T43" fmla="*/ 26 h 120"/>
                  <a:gd name="T44" fmla="*/ 152 w 168"/>
                  <a:gd name="T45" fmla="*/ 63 h 120"/>
                  <a:gd name="T46" fmla="*/ 131 w 168"/>
                  <a:gd name="T47" fmla="*/ 89 h 120"/>
                  <a:gd name="T48" fmla="*/ 105 w 168"/>
                  <a:gd name="T49" fmla="*/ 110 h 120"/>
                  <a:gd name="T50" fmla="*/ 94 w 168"/>
                  <a:gd name="T51" fmla="*/ 115 h 120"/>
                  <a:gd name="T52" fmla="*/ 84 w 168"/>
                  <a:gd name="T53" fmla="*/ 115 h 120"/>
                  <a:gd name="T54" fmla="*/ 84 w 168"/>
                  <a:gd name="T55" fmla="*/ 115 h 120"/>
                  <a:gd name="T56" fmla="*/ 68 w 168"/>
                  <a:gd name="T57" fmla="*/ 115 h 120"/>
                  <a:gd name="T58" fmla="*/ 58 w 168"/>
                  <a:gd name="T59" fmla="*/ 105 h 120"/>
                  <a:gd name="T60" fmla="*/ 42 w 168"/>
                  <a:gd name="T61" fmla="*/ 94 h 120"/>
                  <a:gd name="T62" fmla="*/ 31 w 168"/>
                  <a:gd name="T63" fmla="*/ 84 h 120"/>
                  <a:gd name="T64" fmla="*/ 21 w 168"/>
                  <a:gd name="T65" fmla="*/ 68 h 120"/>
                  <a:gd name="T66" fmla="*/ 10 w 168"/>
                  <a:gd name="T67" fmla="*/ 47 h 120"/>
                  <a:gd name="T68" fmla="*/ 5 w 168"/>
                  <a:gd name="T69" fmla="*/ 26 h 120"/>
                  <a:gd name="T70" fmla="*/ 5 w 168"/>
                  <a:gd name="T71" fmla="*/ 0 h 120"/>
                  <a:gd name="T72" fmla="*/ 5 w 168"/>
                  <a:gd name="T73" fmla="*/ 0 h 120"/>
                  <a:gd name="T74" fmla="*/ 5 w 168"/>
                  <a:gd name="T75" fmla="*/ 0 h 120"/>
                  <a:gd name="T76" fmla="*/ 5 w 168"/>
                  <a:gd name="T7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8" h="120">
                    <a:moveTo>
                      <a:pt x="5" y="0"/>
                    </a:moveTo>
                    <a:lnTo>
                      <a:pt x="5" y="0"/>
                    </a:lnTo>
                    <a:lnTo>
                      <a:pt x="0" y="31"/>
                    </a:lnTo>
                    <a:lnTo>
                      <a:pt x="0" y="31"/>
                    </a:lnTo>
                    <a:lnTo>
                      <a:pt x="0" y="26"/>
                    </a:lnTo>
                    <a:lnTo>
                      <a:pt x="0" y="26"/>
                    </a:lnTo>
                    <a:lnTo>
                      <a:pt x="10" y="63"/>
                    </a:lnTo>
                    <a:lnTo>
                      <a:pt x="31" y="94"/>
                    </a:lnTo>
                    <a:lnTo>
                      <a:pt x="58" y="115"/>
                    </a:lnTo>
                    <a:lnTo>
                      <a:pt x="73" y="120"/>
                    </a:lnTo>
                    <a:lnTo>
                      <a:pt x="84" y="120"/>
                    </a:lnTo>
                    <a:lnTo>
                      <a:pt x="84" y="120"/>
                    </a:lnTo>
                    <a:lnTo>
                      <a:pt x="100" y="115"/>
                    </a:lnTo>
                    <a:lnTo>
                      <a:pt x="110" y="110"/>
                    </a:lnTo>
                    <a:lnTo>
                      <a:pt x="142" y="89"/>
                    </a:lnTo>
                    <a:lnTo>
                      <a:pt x="152" y="73"/>
                    </a:lnTo>
                    <a:lnTo>
                      <a:pt x="163" y="52"/>
                    </a:lnTo>
                    <a:lnTo>
                      <a:pt x="168" y="31"/>
                    </a:lnTo>
                    <a:lnTo>
                      <a:pt x="168" y="10"/>
                    </a:lnTo>
                    <a:lnTo>
                      <a:pt x="168" y="10"/>
                    </a:lnTo>
                    <a:lnTo>
                      <a:pt x="163" y="26"/>
                    </a:lnTo>
                    <a:lnTo>
                      <a:pt x="163" y="26"/>
                    </a:lnTo>
                    <a:lnTo>
                      <a:pt x="152" y="63"/>
                    </a:lnTo>
                    <a:lnTo>
                      <a:pt x="131" y="89"/>
                    </a:lnTo>
                    <a:lnTo>
                      <a:pt x="105" y="110"/>
                    </a:lnTo>
                    <a:lnTo>
                      <a:pt x="94" y="115"/>
                    </a:lnTo>
                    <a:lnTo>
                      <a:pt x="84" y="115"/>
                    </a:lnTo>
                    <a:lnTo>
                      <a:pt x="84" y="115"/>
                    </a:lnTo>
                    <a:lnTo>
                      <a:pt x="68" y="115"/>
                    </a:lnTo>
                    <a:lnTo>
                      <a:pt x="58" y="105"/>
                    </a:lnTo>
                    <a:lnTo>
                      <a:pt x="42" y="94"/>
                    </a:lnTo>
                    <a:lnTo>
                      <a:pt x="31" y="84"/>
                    </a:lnTo>
                    <a:lnTo>
                      <a:pt x="21" y="68"/>
                    </a:lnTo>
                    <a:lnTo>
                      <a:pt x="10" y="47"/>
                    </a:lnTo>
                    <a:lnTo>
                      <a:pt x="5" y="26"/>
                    </a:lnTo>
                    <a:lnTo>
                      <a:pt x="5" y="0"/>
                    </a:lnTo>
                    <a:lnTo>
                      <a:pt x="5" y="0"/>
                    </a:lnTo>
                    <a:lnTo>
                      <a:pt x="5"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107" name="Freeform 35">
                <a:extLst>
                  <a:ext uri="{FF2B5EF4-FFF2-40B4-BE49-F238E27FC236}">
                    <a16:creationId xmlns:a16="http://schemas.microsoft.com/office/drawing/2014/main" id="{9ABEA6FC-2DFE-49AE-A570-91370909F5CF}"/>
                  </a:ext>
                </a:extLst>
              </p:cNvPr>
              <p:cNvSpPr>
                <a:spLocks/>
              </p:cNvSpPr>
              <p:nvPr/>
            </p:nvSpPr>
            <p:spPr bwMode="auto">
              <a:xfrm>
                <a:off x="14757400" y="3662363"/>
                <a:ext cx="423863" cy="484188"/>
              </a:xfrm>
              <a:custGeom>
                <a:avLst/>
                <a:gdLst>
                  <a:gd name="T0" fmla="*/ 136 w 267"/>
                  <a:gd name="T1" fmla="*/ 0 h 305"/>
                  <a:gd name="T2" fmla="*/ 136 w 267"/>
                  <a:gd name="T3" fmla="*/ 0 h 305"/>
                  <a:gd name="T4" fmla="*/ 173 w 267"/>
                  <a:gd name="T5" fmla="*/ 6 h 305"/>
                  <a:gd name="T6" fmla="*/ 204 w 267"/>
                  <a:gd name="T7" fmla="*/ 16 h 305"/>
                  <a:gd name="T8" fmla="*/ 225 w 267"/>
                  <a:gd name="T9" fmla="*/ 32 h 305"/>
                  <a:gd name="T10" fmla="*/ 241 w 267"/>
                  <a:gd name="T11" fmla="*/ 53 h 305"/>
                  <a:gd name="T12" fmla="*/ 251 w 267"/>
                  <a:gd name="T13" fmla="*/ 74 h 305"/>
                  <a:gd name="T14" fmla="*/ 257 w 267"/>
                  <a:gd name="T15" fmla="*/ 100 h 305"/>
                  <a:gd name="T16" fmla="*/ 257 w 267"/>
                  <a:gd name="T17" fmla="*/ 158 h 305"/>
                  <a:gd name="T18" fmla="*/ 257 w 267"/>
                  <a:gd name="T19" fmla="*/ 158 h 305"/>
                  <a:gd name="T20" fmla="*/ 257 w 267"/>
                  <a:gd name="T21" fmla="*/ 163 h 305"/>
                  <a:gd name="T22" fmla="*/ 257 w 267"/>
                  <a:gd name="T23" fmla="*/ 163 h 305"/>
                  <a:gd name="T24" fmla="*/ 257 w 267"/>
                  <a:gd name="T25" fmla="*/ 173 h 305"/>
                  <a:gd name="T26" fmla="*/ 257 w 267"/>
                  <a:gd name="T27" fmla="*/ 173 h 305"/>
                  <a:gd name="T28" fmla="*/ 262 w 267"/>
                  <a:gd name="T29" fmla="*/ 173 h 305"/>
                  <a:gd name="T30" fmla="*/ 262 w 267"/>
                  <a:gd name="T31" fmla="*/ 179 h 305"/>
                  <a:gd name="T32" fmla="*/ 262 w 267"/>
                  <a:gd name="T33" fmla="*/ 179 h 305"/>
                  <a:gd name="T34" fmla="*/ 267 w 267"/>
                  <a:gd name="T35" fmla="*/ 194 h 305"/>
                  <a:gd name="T36" fmla="*/ 262 w 267"/>
                  <a:gd name="T37" fmla="*/ 205 h 305"/>
                  <a:gd name="T38" fmla="*/ 257 w 267"/>
                  <a:gd name="T39" fmla="*/ 221 h 305"/>
                  <a:gd name="T40" fmla="*/ 251 w 267"/>
                  <a:gd name="T41" fmla="*/ 231 h 305"/>
                  <a:gd name="T42" fmla="*/ 251 w 267"/>
                  <a:gd name="T43" fmla="*/ 231 h 305"/>
                  <a:gd name="T44" fmla="*/ 246 w 267"/>
                  <a:gd name="T45" fmla="*/ 231 h 305"/>
                  <a:gd name="T46" fmla="*/ 241 w 267"/>
                  <a:gd name="T47" fmla="*/ 236 h 305"/>
                  <a:gd name="T48" fmla="*/ 241 w 267"/>
                  <a:gd name="T49" fmla="*/ 236 h 305"/>
                  <a:gd name="T50" fmla="*/ 230 w 267"/>
                  <a:gd name="T51" fmla="*/ 268 h 305"/>
                  <a:gd name="T52" fmla="*/ 220 w 267"/>
                  <a:gd name="T53" fmla="*/ 289 h 305"/>
                  <a:gd name="T54" fmla="*/ 199 w 267"/>
                  <a:gd name="T55" fmla="*/ 305 h 305"/>
                  <a:gd name="T56" fmla="*/ 199 w 267"/>
                  <a:gd name="T57" fmla="*/ 305 h 305"/>
                  <a:gd name="T58" fmla="*/ 136 w 267"/>
                  <a:gd name="T59" fmla="*/ 299 h 305"/>
                  <a:gd name="T60" fmla="*/ 68 w 267"/>
                  <a:gd name="T61" fmla="*/ 305 h 305"/>
                  <a:gd name="T62" fmla="*/ 68 w 267"/>
                  <a:gd name="T63" fmla="*/ 305 h 305"/>
                  <a:gd name="T64" fmla="*/ 47 w 267"/>
                  <a:gd name="T65" fmla="*/ 289 h 305"/>
                  <a:gd name="T66" fmla="*/ 36 w 267"/>
                  <a:gd name="T67" fmla="*/ 268 h 305"/>
                  <a:gd name="T68" fmla="*/ 26 w 267"/>
                  <a:gd name="T69" fmla="*/ 236 h 305"/>
                  <a:gd name="T70" fmla="*/ 26 w 267"/>
                  <a:gd name="T71" fmla="*/ 236 h 305"/>
                  <a:gd name="T72" fmla="*/ 21 w 267"/>
                  <a:gd name="T73" fmla="*/ 231 h 305"/>
                  <a:gd name="T74" fmla="*/ 15 w 267"/>
                  <a:gd name="T75" fmla="*/ 231 h 305"/>
                  <a:gd name="T76" fmla="*/ 15 w 267"/>
                  <a:gd name="T77" fmla="*/ 231 h 305"/>
                  <a:gd name="T78" fmla="*/ 10 w 267"/>
                  <a:gd name="T79" fmla="*/ 221 h 305"/>
                  <a:gd name="T80" fmla="*/ 5 w 267"/>
                  <a:gd name="T81" fmla="*/ 205 h 305"/>
                  <a:gd name="T82" fmla="*/ 0 w 267"/>
                  <a:gd name="T83" fmla="*/ 194 h 305"/>
                  <a:gd name="T84" fmla="*/ 5 w 267"/>
                  <a:gd name="T85" fmla="*/ 179 h 305"/>
                  <a:gd name="T86" fmla="*/ 5 w 267"/>
                  <a:gd name="T87" fmla="*/ 179 h 305"/>
                  <a:gd name="T88" fmla="*/ 5 w 267"/>
                  <a:gd name="T89" fmla="*/ 173 h 305"/>
                  <a:gd name="T90" fmla="*/ 10 w 267"/>
                  <a:gd name="T91" fmla="*/ 173 h 305"/>
                  <a:gd name="T92" fmla="*/ 10 w 267"/>
                  <a:gd name="T93" fmla="*/ 173 h 305"/>
                  <a:gd name="T94" fmla="*/ 10 w 267"/>
                  <a:gd name="T95" fmla="*/ 163 h 305"/>
                  <a:gd name="T96" fmla="*/ 10 w 267"/>
                  <a:gd name="T97" fmla="*/ 163 h 305"/>
                  <a:gd name="T98" fmla="*/ 10 w 267"/>
                  <a:gd name="T99" fmla="*/ 158 h 305"/>
                  <a:gd name="T100" fmla="*/ 10 w 267"/>
                  <a:gd name="T101" fmla="*/ 158 h 305"/>
                  <a:gd name="T102" fmla="*/ 15 w 267"/>
                  <a:gd name="T103" fmla="*/ 100 h 305"/>
                  <a:gd name="T104" fmla="*/ 21 w 267"/>
                  <a:gd name="T105" fmla="*/ 74 h 305"/>
                  <a:gd name="T106" fmla="*/ 26 w 267"/>
                  <a:gd name="T107" fmla="*/ 53 h 305"/>
                  <a:gd name="T108" fmla="*/ 42 w 267"/>
                  <a:gd name="T109" fmla="*/ 32 h 305"/>
                  <a:gd name="T110" fmla="*/ 63 w 267"/>
                  <a:gd name="T111" fmla="*/ 16 h 305"/>
                  <a:gd name="T112" fmla="*/ 94 w 267"/>
                  <a:gd name="T113" fmla="*/ 6 h 305"/>
                  <a:gd name="T114" fmla="*/ 136 w 267"/>
                  <a:gd name="T115" fmla="*/ 0 h 305"/>
                  <a:gd name="T116" fmla="*/ 136 w 267"/>
                  <a:gd name="T117"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7" h="305">
                    <a:moveTo>
                      <a:pt x="136" y="0"/>
                    </a:moveTo>
                    <a:lnTo>
                      <a:pt x="136" y="0"/>
                    </a:lnTo>
                    <a:lnTo>
                      <a:pt x="173" y="6"/>
                    </a:lnTo>
                    <a:lnTo>
                      <a:pt x="204" y="16"/>
                    </a:lnTo>
                    <a:lnTo>
                      <a:pt x="225" y="32"/>
                    </a:lnTo>
                    <a:lnTo>
                      <a:pt x="241" y="53"/>
                    </a:lnTo>
                    <a:lnTo>
                      <a:pt x="251" y="74"/>
                    </a:lnTo>
                    <a:lnTo>
                      <a:pt x="257" y="100"/>
                    </a:lnTo>
                    <a:lnTo>
                      <a:pt x="257" y="158"/>
                    </a:lnTo>
                    <a:lnTo>
                      <a:pt x="257" y="158"/>
                    </a:lnTo>
                    <a:lnTo>
                      <a:pt x="257" y="163"/>
                    </a:lnTo>
                    <a:lnTo>
                      <a:pt x="257" y="163"/>
                    </a:lnTo>
                    <a:lnTo>
                      <a:pt x="257" y="173"/>
                    </a:lnTo>
                    <a:lnTo>
                      <a:pt x="257" y="173"/>
                    </a:lnTo>
                    <a:lnTo>
                      <a:pt x="262" y="173"/>
                    </a:lnTo>
                    <a:lnTo>
                      <a:pt x="262" y="179"/>
                    </a:lnTo>
                    <a:lnTo>
                      <a:pt x="262" y="179"/>
                    </a:lnTo>
                    <a:lnTo>
                      <a:pt x="267" y="194"/>
                    </a:lnTo>
                    <a:lnTo>
                      <a:pt x="262" y="205"/>
                    </a:lnTo>
                    <a:lnTo>
                      <a:pt x="257" y="221"/>
                    </a:lnTo>
                    <a:lnTo>
                      <a:pt x="251" y="231"/>
                    </a:lnTo>
                    <a:lnTo>
                      <a:pt x="251" y="231"/>
                    </a:lnTo>
                    <a:lnTo>
                      <a:pt x="246" y="231"/>
                    </a:lnTo>
                    <a:lnTo>
                      <a:pt x="241" y="236"/>
                    </a:lnTo>
                    <a:lnTo>
                      <a:pt x="241" y="236"/>
                    </a:lnTo>
                    <a:lnTo>
                      <a:pt x="230" y="268"/>
                    </a:lnTo>
                    <a:lnTo>
                      <a:pt x="220" y="289"/>
                    </a:lnTo>
                    <a:lnTo>
                      <a:pt x="199" y="305"/>
                    </a:lnTo>
                    <a:lnTo>
                      <a:pt x="199" y="305"/>
                    </a:lnTo>
                    <a:lnTo>
                      <a:pt x="136" y="299"/>
                    </a:lnTo>
                    <a:lnTo>
                      <a:pt x="68" y="305"/>
                    </a:lnTo>
                    <a:lnTo>
                      <a:pt x="68" y="305"/>
                    </a:lnTo>
                    <a:lnTo>
                      <a:pt x="47" y="289"/>
                    </a:lnTo>
                    <a:lnTo>
                      <a:pt x="36" y="268"/>
                    </a:lnTo>
                    <a:lnTo>
                      <a:pt x="26" y="236"/>
                    </a:lnTo>
                    <a:lnTo>
                      <a:pt x="26" y="236"/>
                    </a:lnTo>
                    <a:lnTo>
                      <a:pt x="21" y="231"/>
                    </a:lnTo>
                    <a:lnTo>
                      <a:pt x="15" y="231"/>
                    </a:lnTo>
                    <a:lnTo>
                      <a:pt x="15" y="231"/>
                    </a:lnTo>
                    <a:lnTo>
                      <a:pt x="10" y="221"/>
                    </a:lnTo>
                    <a:lnTo>
                      <a:pt x="5" y="205"/>
                    </a:lnTo>
                    <a:lnTo>
                      <a:pt x="0" y="194"/>
                    </a:lnTo>
                    <a:lnTo>
                      <a:pt x="5" y="179"/>
                    </a:lnTo>
                    <a:lnTo>
                      <a:pt x="5" y="179"/>
                    </a:lnTo>
                    <a:lnTo>
                      <a:pt x="5" y="173"/>
                    </a:lnTo>
                    <a:lnTo>
                      <a:pt x="10" y="173"/>
                    </a:lnTo>
                    <a:lnTo>
                      <a:pt x="10" y="173"/>
                    </a:lnTo>
                    <a:lnTo>
                      <a:pt x="10" y="163"/>
                    </a:lnTo>
                    <a:lnTo>
                      <a:pt x="10" y="163"/>
                    </a:lnTo>
                    <a:lnTo>
                      <a:pt x="10" y="158"/>
                    </a:lnTo>
                    <a:lnTo>
                      <a:pt x="10" y="158"/>
                    </a:lnTo>
                    <a:lnTo>
                      <a:pt x="15" y="100"/>
                    </a:lnTo>
                    <a:lnTo>
                      <a:pt x="21" y="74"/>
                    </a:lnTo>
                    <a:lnTo>
                      <a:pt x="26" y="53"/>
                    </a:lnTo>
                    <a:lnTo>
                      <a:pt x="42" y="32"/>
                    </a:lnTo>
                    <a:lnTo>
                      <a:pt x="63" y="16"/>
                    </a:lnTo>
                    <a:lnTo>
                      <a:pt x="94" y="6"/>
                    </a:lnTo>
                    <a:lnTo>
                      <a:pt x="136" y="0"/>
                    </a:lnTo>
                    <a:lnTo>
                      <a:pt x="1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108" name="Freeform 36">
                <a:extLst>
                  <a:ext uri="{FF2B5EF4-FFF2-40B4-BE49-F238E27FC236}">
                    <a16:creationId xmlns:a16="http://schemas.microsoft.com/office/drawing/2014/main" id="{E5D99191-D601-45C8-B3AC-F5A50E63FC2D}"/>
                  </a:ext>
                </a:extLst>
              </p:cNvPr>
              <p:cNvSpPr>
                <a:spLocks/>
              </p:cNvSpPr>
              <p:nvPr/>
            </p:nvSpPr>
            <p:spPr bwMode="auto">
              <a:xfrm>
                <a:off x="14549438" y="4203700"/>
                <a:ext cx="839788" cy="615950"/>
              </a:xfrm>
              <a:custGeom>
                <a:avLst/>
                <a:gdLst>
                  <a:gd name="T0" fmla="*/ 361 w 529"/>
                  <a:gd name="T1" fmla="*/ 11 h 388"/>
                  <a:gd name="T2" fmla="*/ 361 w 529"/>
                  <a:gd name="T3" fmla="*/ 11 h 388"/>
                  <a:gd name="T4" fmla="*/ 377 w 529"/>
                  <a:gd name="T5" fmla="*/ 26 h 388"/>
                  <a:gd name="T6" fmla="*/ 398 w 529"/>
                  <a:gd name="T7" fmla="*/ 42 h 388"/>
                  <a:gd name="T8" fmla="*/ 508 w 529"/>
                  <a:gd name="T9" fmla="*/ 95 h 388"/>
                  <a:gd name="T10" fmla="*/ 508 w 529"/>
                  <a:gd name="T11" fmla="*/ 95 h 388"/>
                  <a:gd name="T12" fmla="*/ 524 w 529"/>
                  <a:gd name="T13" fmla="*/ 110 h 388"/>
                  <a:gd name="T14" fmla="*/ 524 w 529"/>
                  <a:gd name="T15" fmla="*/ 116 h 388"/>
                  <a:gd name="T16" fmla="*/ 529 w 529"/>
                  <a:gd name="T17" fmla="*/ 131 h 388"/>
                  <a:gd name="T18" fmla="*/ 529 w 529"/>
                  <a:gd name="T19" fmla="*/ 315 h 388"/>
                  <a:gd name="T20" fmla="*/ 529 w 529"/>
                  <a:gd name="T21" fmla="*/ 331 h 388"/>
                  <a:gd name="T22" fmla="*/ 529 w 529"/>
                  <a:gd name="T23" fmla="*/ 331 h 388"/>
                  <a:gd name="T24" fmla="*/ 524 w 529"/>
                  <a:gd name="T25" fmla="*/ 352 h 388"/>
                  <a:gd name="T26" fmla="*/ 508 w 529"/>
                  <a:gd name="T27" fmla="*/ 373 h 388"/>
                  <a:gd name="T28" fmla="*/ 493 w 529"/>
                  <a:gd name="T29" fmla="*/ 383 h 388"/>
                  <a:gd name="T30" fmla="*/ 466 w 529"/>
                  <a:gd name="T31" fmla="*/ 388 h 388"/>
                  <a:gd name="T32" fmla="*/ 62 w 529"/>
                  <a:gd name="T33" fmla="*/ 388 h 388"/>
                  <a:gd name="T34" fmla="*/ 62 w 529"/>
                  <a:gd name="T35" fmla="*/ 388 h 388"/>
                  <a:gd name="T36" fmla="*/ 41 w 529"/>
                  <a:gd name="T37" fmla="*/ 383 h 388"/>
                  <a:gd name="T38" fmla="*/ 20 w 529"/>
                  <a:gd name="T39" fmla="*/ 373 h 388"/>
                  <a:gd name="T40" fmla="*/ 5 w 529"/>
                  <a:gd name="T41" fmla="*/ 352 h 388"/>
                  <a:gd name="T42" fmla="*/ 0 w 529"/>
                  <a:gd name="T43" fmla="*/ 331 h 388"/>
                  <a:gd name="T44" fmla="*/ 0 w 529"/>
                  <a:gd name="T45" fmla="*/ 315 h 388"/>
                  <a:gd name="T46" fmla="*/ 0 w 529"/>
                  <a:gd name="T47" fmla="*/ 131 h 388"/>
                  <a:gd name="T48" fmla="*/ 0 w 529"/>
                  <a:gd name="T49" fmla="*/ 131 h 388"/>
                  <a:gd name="T50" fmla="*/ 5 w 529"/>
                  <a:gd name="T51" fmla="*/ 116 h 388"/>
                  <a:gd name="T52" fmla="*/ 5 w 529"/>
                  <a:gd name="T53" fmla="*/ 110 h 388"/>
                  <a:gd name="T54" fmla="*/ 20 w 529"/>
                  <a:gd name="T55" fmla="*/ 95 h 388"/>
                  <a:gd name="T56" fmla="*/ 131 w 529"/>
                  <a:gd name="T57" fmla="*/ 42 h 388"/>
                  <a:gd name="T58" fmla="*/ 131 w 529"/>
                  <a:gd name="T59" fmla="*/ 42 h 388"/>
                  <a:gd name="T60" fmla="*/ 152 w 529"/>
                  <a:gd name="T61" fmla="*/ 26 h 388"/>
                  <a:gd name="T62" fmla="*/ 167 w 529"/>
                  <a:gd name="T63" fmla="*/ 11 h 388"/>
                  <a:gd name="T64" fmla="*/ 167 w 529"/>
                  <a:gd name="T65" fmla="*/ 11 h 388"/>
                  <a:gd name="T66" fmla="*/ 209 w 529"/>
                  <a:gd name="T67" fmla="*/ 0 h 388"/>
                  <a:gd name="T68" fmla="*/ 267 w 529"/>
                  <a:gd name="T69" fmla="*/ 0 h 388"/>
                  <a:gd name="T70" fmla="*/ 319 w 529"/>
                  <a:gd name="T71" fmla="*/ 0 h 388"/>
                  <a:gd name="T72" fmla="*/ 361 w 529"/>
                  <a:gd name="T73" fmla="*/ 11 h 388"/>
                  <a:gd name="T74" fmla="*/ 361 w 529"/>
                  <a:gd name="T75" fmla="*/ 11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9" h="388">
                    <a:moveTo>
                      <a:pt x="361" y="11"/>
                    </a:moveTo>
                    <a:lnTo>
                      <a:pt x="361" y="11"/>
                    </a:lnTo>
                    <a:lnTo>
                      <a:pt x="377" y="26"/>
                    </a:lnTo>
                    <a:lnTo>
                      <a:pt x="398" y="42"/>
                    </a:lnTo>
                    <a:lnTo>
                      <a:pt x="508" y="95"/>
                    </a:lnTo>
                    <a:lnTo>
                      <a:pt x="508" y="95"/>
                    </a:lnTo>
                    <a:lnTo>
                      <a:pt x="524" y="110"/>
                    </a:lnTo>
                    <a:lnTo>
                      <a:pt x="524" y="116"/>
                    </a:lnTo>
                    <a:lnTo>
                      <a:pt x="529" y="131"/>
                    </a:lnTo>
                    <a:lnTo>
                      <a:pt x="529" y="315"/>
                    </a:lnTo>
                    <a:lnTo>
                      <a:pt x="529" y="331"/>
                    </a:lnTo>
                    <a:lnTo>
                      <a:pt x="529" y="331"/>
                    </a:lnTo>
                    <a:lnTo>
                      <a:pt x="524" y="352"/>
                    </a:lnTo>
                    <a:lnTo>
                      <a:pt x="508" y="373"/>
                    </a:lnTo>
                    <a:lnTo>
                      <a:pt x="493" y="383"/>
                    </a:lnTo>
                    <a:lnTo>
                      <a:pt x="466" y="388"/>
                    </a:lnTo>
                    <a:lnTo>
                      <a:pt x="62" y="388"/>
                    </a:lnTo>
                    <a:lnTo>
                      <a:pt x="62" y="388"/>
                    </a:lnTo>
                    <a:lnTo>
                      <a:pt x="41" y="383"/>
                    </a:lnTo>
                    <a:lnTo>
                      <a:pt x="20" y="373"/>
                    </a:lnTo>
                    <a:lnTo>
                      <a:pt x="5" y="352"/>
                    </a:lnTo>
                    <a:lnTo>
                      <a:pt x="0" y="331"/>
                    </a:lnTo>
                    <a:lnTo>
                      <a:pt x="0" y="315"/>
                    </a:lnTo>
                    <a:lnTo>
                      <a:pt x="0" y="131"/>
                    </a:lnTo>
                    <a:lnTo>
                      <a:pt x="0" y="131"/>
                    </a:lnTo>
                    <a:lnTo>
                      <a:pt x="5" y="116"/>
                    </a:lnTo>
                    <a:lnTo>
                      <a:pt x="5" y="110"/>
                    </a:lnTo>
                    <a:lnTo>
                      <a:pt x="20" y="95"/>
                    </a:lnTo>
                    <a:lnTo>
                      <a:pt x="131" y="42"/>
                    </a:lnTo>
                    <a:lnTo>
                      <a:pt x="131" y="42"/>
                    </a:lnTo>
                    <a:lnTo>
                      <a:pt x="152" y="26"/>
                    </a:lnTo>
                    <a:lnTo>
                      <a:pt x="167" y="11"/>
                    </a:lnTo>
                    <a:lnTo>
                      <a:pt x="167" y="11"/>
                    </a:lnTo>
                    <a:lnTo>
                      <a:pt x="209" y="0"/>
                    </a:lnTo>
                    <a:lnTo>
                      <a:pt x="267" y="0"/>
                    </a:lnTo>
                    <a:lnTo>
                      <a:pt x="319" y="0"/>
                    </a:lnTo>
                    <a:lnTo>
                      <a:pt x="361" y="11"/>
                    </a:lnTo>
                    <a:lnTo>
                      <a:pt x="361"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109" name="Freeform 37">
                <a:extLst>
                  <a:ext uri="{FF2B5EF4-FFF2-40B4-BE49-F238E27FC236}">
                    <a16:creationId xmlns:a16="http://schemas.microsoft.com/office/drawing/2014/main" id="{D8CBFA26-E995-464A-A27F-14E0604C2084}"/>
                  </a:ext>
                </a:extLst>
              </p:cNvPr>
              <p:cNvSpPr>
                <a:spLocks noEditPoints="1"/>
              </p:cNvSpPr>
              <p:nvPr/>
            </p:nvSpPr>
            <p:spPr bwMode="auto">
              <a:xfrm>
                <a:off x="14074775" y="4462463"/>
                <a:ext cx="1789113" cy="207963"/>
              </a:xfrm>
              <a:custGeom>
                <a:avLst/>
                <a:gdLst>
                  <a:gd name="T0" fmla="*/ 854 w 1127"/>
                  <a:gd name="T1" fmla="*/ 0 h 131"/>
                  <a:gd name="T2" fmla="*/ 854 w 1127"/>
                  <a:gd name="T3" fmla="*/ 0 h 131"/>
                  <a:gd name="T4" fmla="*/ 965 w 1127"/>
                  <a:gd name="T5" fmla="*/ 10 h 131"/>
                  <a:gd name="T6" fmla="*/ 1054 w 1127"/>
                  <a:gd name="T7" fmla="*/ 26 h 131"/>
                  <a:gd name="T8" fmla="*/ 1080 w 1127"/>
                  <a:gd name="T9" fmla="*/ 37 h 131"/>
                  <a:gd name="T10" fmla="*/ 1106 w 1127"/>
                  <a:gd name="T11" fmla="*/ 42 h 131"/>
                  <a:gd name="T12" fmla="*/ 1122 w 1127"/>
                  <a:gd name="T13" fmla="*/ 52 h 131"/>
                  <a:gd name="T14" fmla="*/ 1127 w 1127"/>
                  <a:gd name="T15" fmla="*/ 63 h 131"/>
                  <a:gd name="T16" fmla="*/ 1127 w 1127"/>
                  <a:gd name="T17" fmla="*/ 63 h 131"/>
                  <a:gd name="T18" fmla="*/ 1122 w 1127"/>
                  <a:gd name="T19" fmla="*/ 73 h 131"/>
                  <a:gd name="T20" fmla="*/ 1106 w 1127"/>
                  <a:gd name="T21" fmla="*/ 84 h 131"/>
                  <a:gd name="T22" fmla="*/ 1080 w 1127"/>
                  <a:gd name="T23" fmla="*/ 94 h 131"/>
                  <a:gd name="T24" fmla="*/ 1054 w 1127"/>
                  <a:gd name="T25" fmla="*/ 105 h 131"/>
                  <a:gd name="T26" fmla="*/ 965 w 1127"/>
                  <a:gd name="T27" fmla="*/ 120 h 131"/>
                  <a:gd name="T28" fmla="*/ 854 w 1127"/>
                  <a:gd name="T29" fmla="*/ 131 h 131"/>
                  <a:gd name="T30" fmla="*/ 854 w 1127"/>
                  <a:gd name="T31" fmla="*/ 0 h 131"/>
                  <a:gd name="T32" fmla="*/ 854 w 1127"/>
                  <a:gd name="T33" fmla="*/ 0 h 131"/>
                  <a:gd name="T34" fmla="*/ 272 w 1127"/>
                  <a:gd name="T35" fmla="*/ 131 h 131"/>
                  <a:gd name="T36" fmla="*/ 272 w 1127"/>
                  <a:gd name="T37" fmla="*/ 131 h 131"/>
                  <a:gd name="T38" fmla="*/ 162 w 1127"/>
                  <a:gd name="T39" fmla="*/ 120 h 131"/>
                  <a:gd name="T40" fmla="*/ 78 w 1127"/>
                  <a:gd name="T41" fmla="*/ 105 h 131"/>
                  <a:gd name="T42" fmla="*/ 47 w 1127"/>
                  <a:gd name="T43" fmla="*/ 94 h 131"/>
                  <a:gd name="T44" fmla="*/ 21 w 1127"/>
                  <a:gd name="T45" fmla="*/ 84 h 131"/>
                  <a:gd name="T46" fmla="*/ 5 w 1127"/>
                  <a:gd name="T47" fmla="*/ 73 h 131"/>
                  <a:gd name="T48" fmla="*/ 0 w 1127"/>
                  <a:gd name="T49" fmla="*/ 63 h 131"/>
                  <a:gd name="T50" fmla="*/ 0 w 1127"/>
                  <a:gd name="T51" fmla="*/ 63 h 131"/>
                  <a:gd name="T52" fmla="*/ 5 w 1127"/>
                  <a:gd name="T53" fmla="*/ 52 h 131"/>
                  <a:gd name="T54" fmla="*/ 21 w 1127"/>
                  <a:gd name="T55" fmla="*/ 42 h 131"/>
                  <a:gd name="T56" fmla="*/ 47 w 1127"/>
                  <a:gd name="T57" fmla="*/ 37 h 131"/>
                  <a:gd name="T58" fmla="*/ 78 w 1127"/>
                  <a:gd name="T59" fmla="*/ 26 h 131"/>
                  <a:gd name="T60" fmla="*/ 162 w 1127"/>
                  <a:gd name="T61" fmla="*/ 10 h 131"/>
                  <a:gd name="T62" fmla="*/ 272 w 1127"/>
                  <a:gd name="T63" fmla="*/ 0 h 131"/>
                  <a:gd name="T64" fmla="*/ 272 w 1127"/>
                  <a:gd name="T65"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7" h="131">
                    <a:moveTo>
                      <a:pt x="854" y="0"/>
                    </a:moveTo>
                    <a:lnTo>
                      <a:pt x="854" y="0"/>
                    </a:lnTo>
                    <a:lnTo>
                      <a:pt x="965" y="10"/>
                    </a:lnTo>
                    <a:lnTo>
                      <a:pt x="1054" y="26"/>
                    </a:lnTo>
                    <a:lnTo>
                      <a:pt x="1080" y="37"/>
                    </a:lnTo>
                    <a:lnTo>
                      <a:pt x="1106" y="42"/>
                    </a:lnTo>
                    <a:lnTo>
                      <a:pt x="1122" y="52"/>
                    </a:lnTo>
                    <a:lnTo>
                      <a:pt x="1127" y="63"/>
                    </a:lnTo>
                    <a:lnTo>
                      <a:pt x="1127" y="63"/>
                    </a:lnTo>
                    <a:lnTo>
                      <a:pt x="1122" y="73"/>
                    </a:lnTo>
                    <a:lnTo>
                      <a:pt x="1106" y="84"/>
                    </a:lnTo>
                    <a:lnTo>
                      <a:pt x="1080" y="94"/>
                    </a:lnTo>
                    <a:lnTo>
                      <a:pt x="1054" y="105"/>
                    </a:lnTo>
                    <a:lnTo>
                      <a:pt x="965" y="120"/>
                    </a:lnTo>
                    <a:lnTo>
                      <a:pt x="854" y="131"/>
                    </a:lnTo>
                    <a:lnTo>
                      <a:pt x="854" y="0"/>
                    </a:lnTo>
                    <a:lnTo>
                      <a:pt x="854" y="0"/>
                    </a:lnTo>
                    <a:close/>
                    <a:moveTo>
                      <a:pt x="272" y="131"/>
                    </a:moveTo>
                    <a:lnTo>
                      <a:pt x="272" y="131"/>
                    </a:lnTo>
                    <a:lnTo>
                      <a:pt x="162" y="120"/>
                    </a:lnTo>
                    <a:lnTo>
                      <a:pt x="78" y="105"/>
                    </a:lnTo>
                    <a:lnTo>
                      <a:pt x="47" y="94"/>
                    </a:lnTo>
                    <a:lnTo>
                      <a:pt x="21" y="84"/>
                    </a:lnTo>
                    <a:lnTo>
                      <a:pt x="5" y="73"/>
                    </a:lnTo>
                    <a:lnTo>
                      <a:pt x="0" y="63"/>
                    </a:lnTo>
                    <a:lnTo>
                      <a:pt x="0" y="63"/>
                    </a:lnTo>
                    <a:lnTo>
                      <a:pt x="5" y="52"/>
                    </a:lnTo>
                    <a:lnTo>
                      <a:pt x="21" y="42"/>
                    </a:lnTo>
                    <a:lnTo>
                      <a:pt x="47" y="37"/>
                    </a:lnTo>
                    <a:lnTo>
                      <a:pt x="78" y="26"/>
                    </a:lnTo>
                    <a:lnTo>
                      <a:pt x="162" y="10"/>
                    </a:lnTo>
                    <a:lnTo>
                      <a:pt x="272" y="0"/>
                    </a:lnTo>
                    <a:lnTo>
                      <a:pt x="272" y="1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grpSp>
        <p:sp>
          <p:nvSpPr>
            <p:cNvPr id="110" name="TextBox 109">
              <a:extLst>
                <a:ext uri="{FF2B5EF4-FFF2-40B4-BE49-F238E27FC236}">
                  <a16:creationId xmlns:a16="http://schemas.microsoft.com/office/drawing/2014/main" id="{7378FD50-A2D4-478B-A931-ABF71541EBCE}"/>
                </a:ext>
              </a:extLst>
            </p:cNvPr>
            <p:cNvSpPr txBox="1"/>
            <p:nvPr/>
          </p:nvSpPr>
          <p:spPr>
            <a:xfrm>
              <a:off x="8214750" y="4335766"/>
              <a:ext cx="3682804" cy="338554"/>
            </a:xfrm>
            <a:prstGeom prst="rect">
              <a:avLst/>
            </a:prstGeom>
            <a:noFill/>
          </p:spPr>
          <p:txBody>
            <a:bodyPr wrap="non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Verdana"/>
                  <a:ea typeface="+mn-ea"/>
                  <a:cs typeface="+mn-cs"/>
                </a:rPr>
                <a:t>Drivers for Maturity Enhancement</a:t>
              </a:r>
              <a:endParaRPr kumimoji="0" lang="id-ID" sz="1600" b="0" i="0" u="none" strike="noStrike" kern="1200" cap="none" spc="0" normalizeH="0" baseline="0" noProof="0" dirty="0">
                <a:ln>
                  <a:noFill/>
                </a:ln>
                <a:solidFill>
                  <a:prstClr val="black"/>
                </a:solidFill>
                <a:effectLst/>
                <a:uLnTx/>
                <a:uFillTx/>
                <a:latin typeface="Verdana"/>
                <a:ea typeface="+mn-ea"/>
                <a:cs typeface="+mn-cs"/>
              </a:endParaRPr>
            </a:p>
          </p:txBody>
        </p:sp>
        <p:pic>
          <p:nvPicPr>
            <p:cNvPr id="111" name="Picture 6">
              <a:extLst>
                <a:ext uri="{FF2B5EF4-FFF2-40B4-BE49-F238E27FC236}">
                  <a16:creationId xmlns:a16="http://schemas.microsoft.com/office/drawing/2014/main" id="{9ACFE268-213B-4436-9EDF-5652DC9E5F4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854"/>
            <a:stretch/>
          </p:blipFill>
          <p:spPr bwMode="auto">
            <a:xfrm>
              <a:off x="6301092" y="4714978"/>
              <a:ext cx="1704455" cy="2123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 name="Freeform 7">
              <a:extLst>
                <a:ext uri="{FF2B5EF4-FFF2-40B4-BE49-F238E27FC236}">
                  <a16:creationId xmlns:a16="http://schemas.microsoft.com/office/drawing/2014/main" id="{45C37F6E-7460-4FD6-AC33-2B9701F49E81}"/>
                </a:ext>
              </a:extLst>
            </p:cNvPr>
            <p:cNvSpPr>
              <a:spLocks/>
            </p:cNvSpPr>
            <p:nvPr/>
          </p:nvSpPr>
          <p:spPr bwMode="auto">
            <a:xfrm>
              <a:off x="6296764" y="4817736"/>
              <a:ext cx="1446626" cy="1931558"/>
            </a:xfrm>
            <a:custGeom>
              <a:avLst/>
              <a:gdLst>
                <a:gd name="T0" fmla="*/ 2003 w 3909"/>
                <a:gd name="T1" fmla="*/ 4928 h 5000"/>
                <a:gd name="T2" fmla="*/ 2187 w 3909"/>
                <a:gd name="T3" fmla="*/ 4877 h 5000"/>
                <a:gd name="T4" fmla="*/ 2364 w 3909"/>
                <a:gd name="T5" fmla="*/ 4811 h 5000"/>
                <a:gd name="T6" fmla="*/ 2533 w 3909"/>
                <a:gd name="T7" fmla="*/ 4734 h 5000"/>
                <a:gd name="T8" fmla="*/ 2695 w 3909"/>
                <a:gd name="T9" fmla="*/ 4645 h 5000"/>
                <a:gd name="T10" fmla="*/ 2849 w 3909"/>
                <a:gd name="T11" fmla="*/ 4545 h 5000"/>
                <a:gd name="T12" fmla="*/ 2993 w 3909"/>
                <a:gd name="T13" fmla="*/ 4434 h 5000"/>
                <a:gd name="T14" fmla="*/ 3130 w 3909"/>
                <a:gd name="T15" fmla="*/ 4314 h 5000"/>
                <a:gd name="T16" fmla="*/ 3256 w 3909"/>
                <a:gd name="T17" fmla="*/ 4185 h 5000"/>
                <a:gd name="T18" fmla="*/ 3372 w 3909"/>
                <a:gd name="T19" fmla="*/ 4049 h 5000"/>
                <a:gd name="T20" fmla="*/ 3478 w 3909"/>
                <a:gd name="T21" fmla="*/ 3903 h 5000"/>
                <a:gd name="T22" fmla="*/ 3574 w 3909"/>
                <a:gd name="T23" fmla="*/ 3750 h 5000"/>
                <a:gd name="T24" fmla="*/ 3658 w 3909"/>
                <a:gd name="T25" fmla="*/ 3591 h 5000"/>
                <a:gd name="T26" fmla="*/ 3731 w 3909"/>
                <a:gd name="T27" fmla="*/ 3427 h 5000"/>
                <a:gd name="T28" fmla="*/ 3792 w 3909"/>
                <a:gd name="T29" fmla="*/ 3256 h 5000"/>
                <a:gd name="T30" fmla="*/ 3841 w 3909"/>
                <a:gd name="T31" fmla="*/ 3082 h 5000"/>
                <a:gd name="T32" fmla="*/ 3876 w 3909"/>
                <a:gd name="T33" fmla="*/ 2902 h 5000"/>
                <a:gd name="T34" fmla="*/ 3900 w 3909"/>
                <a:gd name="T35" fmla="*/ 2720 h 5000"/>
                <a:gd name="T36" fmla="*/ 3909 w 3909"/>
                <a:gd name="T37" fmla="*/ 2536 h 5000"/>
                <a:gd name="T38" fmla="*/ 3904 w 3909"/>
                <a:gd name="T39" fmla="*/ 2349 h 5000"/>
                <a:gd name="T40" fmla="*/ 3885 w 3909"/>
                <a:gd name="T41" fmla="*/ 2159 h 5000"/>
                <a:gd name="T42" fmla="*/ 3852 w 3909"/>
                <a:gd name="T43" fmla="*/ 1970 h 5000"/>
                <a:gd name="T44" fmla="*/ 3821 w 3909"/>
                <a:gd name="T45" fmla="*/ 1846 h 5000"/>
                <a:gd name="T46" fmla="*/ 3765 w 3909"/>
                <a:gd name="T47" fmla="*/ 1664 h 5000"/>
                <a:gd name="T48" fmla="*/ 3696 w 3909"/>
                <a:gd name="T49" fmla="*/ 1488 h 5000"/>
                <a:gd name="T50" fmla="*/ 3614 w 3909"/>
                <a:gd name="T51" fmla="*/ 1321 h 5000"/>
                <a:gd name="T52" fmla="*/ 3521 w 3909"/>
                <a:gd name="T53" fmla="*/ 1162 h 5000"/>
                <a:gd name="T54" fmla="*/ 3418 w 3909"/>
                <a:gd name="T55" fmla="*/ 1012 h 5000"/>
                <a:gd name="T56" fmla="*/ 3304 w 3909"/>
                <a:gd name="T57" fmla="*/ 870 h 5000"/>
                <a:gd name="T58" fmla="*/ 3181 w 3909"/>
                <a:gd name="T59" fmla="*/ 737 h 5000"/>
                <a:gd name="T60" fmla="*/ 3050 w 3909"/>
                <a:gd name="T61" fmla="*/ 613 h 5000"/>
                <a:gd name="T62" fmla="*/ 2910 w 3909"/>
                <a:gd name="T63" fmla="*/ 501 h 5000"/>
                <a:gd name="T64" fmla="*/ 2762 w 3909"/>
                <a:gd name="T65" fmla="*/ 399 h 5000"/>
                <a:gd name="T66" fmla="*/ 2607 w 3909"/>
                <a:gd name="T67" fmla="*/ 306 h 5000"/>
                <a:gd name="T68" fmla="*/ 2446 w 3909"/>
                <a:gd name="T69" fmla="*/ 225 h 5000"/>
                <a:gd name="T70" fmla="*/ 2279 w 3909"/>
                <a:gd name="T71" fmla="*/ 157 h 5000"/>
                <a:gd name="T72" fmla="*/ 2107 w 3909"/>
                <a:gd name="T73" fmla="*/ 100 h 5000"/>
                <a:gd name="T74" fmla="*/ 1932 w 3909"/>
                <a:gd name="T75" fmla="*/ 55 h 5000"/>
                <a:gd name="T76" fmla="*/ 1751 w 3909"/>
                <a:gd name="T77" fmla="*/ 23 h 5000"/>
                <a:gd name="T78" fmla="*/ 1568 w 3909"/>
                <a:gd name="T79" fmla="*/ 5 h 5000"/>
                <a:gd name="T80" fmla="*/ 1382 w 3909"/>
                <a:gd name="T81" fmla="*/ 0 h 5000"/>
                <a:gd name="T82" fmla="*/ 1195 w 3909"/>
                <a:gd name="T83" fmla="*/ 11 h 5000"/>
                <a:gd name="T84" fmla="*/ 1006 w 3909"/>
                <a:gd name="T85" fmla="*/ 33 h 5000"/>
                <a:gd name="T86" fmla="*/ 879 w 3909"/>
                <a:gd name="T87" fmla="*/ 57 h 5000"/>
                <a:gd name="T88" fmla="*/ 700 w 3909"/>
                <a:gd name="T89" fmla="*/ 104 h 5000"/>
                <a:gd name="T90" fmla="*/ 527 w 3909"/>
                <a:gd name="T91" fmla="*/ 162 h 5000"/>
                <a:gd name="T92" fmla="*/ 360 w 3909"/>
                <a:gd name="T93" fmla="*/ 232 h 5000"/>
                <a:gd name="T94" fmla="*/ 201 w 3909"/>
                <a:gd name="T95" fmla="*/ 313 h 5000"/>
                <a:gd name="T96" fmla="*/ 49 w 3909"/>
                <a:gd name="T97" fmla="*/ 404 h 5000"/>
                <a:gd name="T98" fmla="*/ 0 w 3909"/>
                <a:gd name="T99" fmla="*/ 4564 h 5000"/>
                <a:gd name="T100" fmla="*/ 158 w 3909"/>
                <a:gd name="T101" fmla="*/ 4664 h 5000"/>
                <a:gd name="T102" fmla="*/ 322 w 3909"/>
                <a:gd name="T103" fmla="*/ 4751 h 5000"/>
                <a:gd name="T104" fmla="*/ 494 w 3909"/>
                <a:gd name="T105" fmla="*/ 4826 h 5000"/>
                <a:gd name="T106" fmla="*/ 670 w 3909"/>
                <a:gd name="T107" fmla="*/ 4889 h 5000"/>
                <a:gd name="T108" fmla="*/ 852 w 3909"/>
                <a:gd name="T109" fmla="*/ 4937 h 5000"/>
                <a:gd name="T110" fmla="*/ 1037 w 3909"/>
                <a:gd name="T111" fmla="*/ 4973 h 5000"/>
                <a:gd name="T112" fmla="*/ 1227 w 3909"/>
                <a:gd name="T113" fmla="*/ 4994 h 5000"/>
                <a:gd name="T114" fmla="*/ 1419 w 3909"/>
                <a:gd name="T115" fmla="*/ 5000 h 5000"/>
                <a:gd name="T116" fmla="*/ 1613 w 3909"/>
                <a:gd name="T117" fmla="*/ 4993 h 5000"/>
                <a:gd name="T118" fmla="*/ 1809 w 3909"/>
                <a:gd name="T119" fmla="*/ 4969 h 5000"/>
                <a:gd name="T120" fmla="*/ 1941 w 3909"/>
                <a:gd name="T121" fmla="*/ 4944 h 5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253 w 10000"/>
                <a:gd name="connsiteY145" fmla="*/ 744 h 10000"/>
                <a:gd name="connsiteX146" fmla="*/ 125 w 10000"/>
                <a:gd name="connsiteY146" fmla="*/ 808 h 10000"/>
                <a:gd name="connsiteX147" fmla="*/ 0 w 10000"/>
                <a:gd name="connsiteY147" fmla="*/ 9128 h 10000"/>
                <a:gd name="connsiteX148" fmla="*/ 0 w 10000"/>
                <a:gd name="connsiteY148" fmla="*/ 9128 h 10000"/>
                <a:gd name="connsiteX149" fmla="*/ 133 w 10000"/>
                <a:gd name="connsiteY149" fmla="*/ 9198 h 10000"/>
                <a:gd name="connsiteX150" fmla="*/ 269 w 10000"/>
                <a:gd name="connsiteY150" fmla="*/ 9262 h 10000"/>
                <a:gd name="connsiteX151" fmla="*/ 404 w 10000"/>
                <a:gd name="connsiteY151" fmla="*/ 9328 h 10000"/>
                <a:gd name="connsiteX152" fmla="*/ 542 w 10000"/>
                <a:gd name="connsiteY152" fmla="*/ 9390 h 10000"/>
                <a:gd name="connsiteX153" fmla="*/ 683 w 10000"/>
                <a:gd name="connsiteY153" fmla="*/ 9448 h 10000"/>
                <a:gd name="connsiteX154" fmla="*/ 824 w 10000"/>
                <a:gd name="connsiteY154" fmla="*/ 9502 h 10000"/>
                <a:gd name="connsiteX155" fmla="*/ 970 w 10000"/>
                <a:gd name="connsiteY155" fmla="*/ 9556 h 10000"/>
                <a:gd name="connsiteX156" fmla="*/ 1115 w 10000"/>
                <a:gd name="connsiteY156" fmla="*/ 9606 h 10000"/>
                <a:gd name="connsiteX157" fmla="*/ 1264 w 10000"/>
                <a:gd name="connsiteY157" fmla="*/ 9652 h 10000"/>
                <a:gd name="connsiteX158" fmla="*/ 1412 w 10000"/>
                <a:gd name="connsiteY158" fmla="*/ 9698 h 10000"/>
                <a:gd name="connsiteX159" fmla="*/ 1561 w 10000"/>
                <a:gd name="connsiteY159" fmla="*/ 9738 h 10000"/>
                <a:gd name="connsiteX160" fmla="*/ 1714 w 10000"/>
                <a:gd name="connsiteY160" fmla="*/ 9778 h 10000"/>
                <a:gd name="connsiteX161" fmla="*/ 1867 w 10000"/>
                <a:gd name="connsiteY161" fmla="*/ 9814 h 10000"/>
                <a:gd name="connsiteX162" fmla="*/ 2024 w 10000"/>
                <a:gd name="connsiteY162" fmla="*/ 9846 h 10000"/>
                <a:gd name="connsiteX163" fmla="*/ 2180 w 10000"/>
                <a:gd name="connsiteY163" fmla="*/ 9874 h 10000"/>
                <a:gd name="connsiteX164" fmla="*/ 2336 w 10000"/>
                <a:gd name="connsiteY164" fmla="*/ 9902 h 10000"/>
                <a:gd name="connsiteX165" fmla="*/ 2494 w 10000"/>
                <a:gd name="connsiteY165" fmla="*/ 9926 h 10000"/>
                <a:gd name="connsiteX166" fmla="*/ 2653 w 10000"/>
                <a:gd name="connsiteY166" fmla="*/ 9946 h 10000"/>
                <a:gd name="connsiteX167" fmla="*/ 2814 w 10000"/>
                <a:gd name="connsiteY167" fmla="*/ 9962 h 10000"/>
                <a:gd name="connsiteX168" fmla="*/ 2978 w 10000"/>
                <a:gd name="connsiteY168" fmla="*/ 9978 h 10000"/>
                <a:gd name="connsiteX169" fmla="*/ 3139 w 10000"/>
                <a:gd name="connsiteY169" fmla="*/ 9988 h 10000"/>
                <a:gd name="connsiteX170" fmla="*/ 3303 w 10000"/>
                <a:gd name="connsiteY170" fmla="*/ 9996 h 10000"/>
                <a:gd name="connsiteX171" fmla="*/ 3464 w 10000"/>
                <a:gd name="connsiteY171" fmla="*/ 10000 h 10000"/>
                <a:gd name="connsiteX172" fmla="*/ 3630 w 10000"/>
                <a:gd name="connsiteY172" fmla="*/ 10000 h 10000"/>
                <a:gd name="connsiteX173" fmla="*/ 3794 w 10000"/>
                <a:gd name="connsiteY173" fmla="*/ 9998 h 10000"/>
                <a:gd name="connsiteX174" fmla="*/ 3963 w 10000"/>
                <a:gd name="connsiteY174" fmla="*/ 9994 h 10000"/>
                <a:gd name="connsiteX175" fmla="*/ 4126 w 10000"/>
                <a:gd name="connsiteY175" fmla="*/ 9986 h 10000"/>
                <a:gd name="connsiteX176" fmla="*/ 4295 w 10000"/>
                <a:gd name="connsiteY176" fmla="*/ 9974 h 10000"/>
                <a:gd name="connsiteX177" fmla="*/ 4461 w 10000"/>
                <a:gd name="connsiteY177" fmla="*/ 9956 h 10000"/>
                <a:gd name="connsiteX178" fmla="*/ 4628 w 10000"/>
                <a:gd name="connsiteY178" fmla="*/ 9938 h 10000"/>
                <a:gd name="connsiteX179" fmla="*/ 4797 w 10000"/>
                <a:gd name="connsiteY179" fmla="*/ 9912 h 10000"/>
                <a:gd name="connsiteX180" fmla="*/ 4965 w 10000"/>
                <a:gd name="connsiteY180" fmla="*/ 9888 h 10000"/>
                <a:gd name="connsiteX181" fmla="*/ 4965 w 10000"/>
                <a:gd name="connsiteY181"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253 w 10000"/>
                <a:gd name="connsiteY145" fmla="*/ 744 h 10000"/>
                <a:gd name="connsiteX146" fmla="*/ 0 w 10000"/>
                <a:gd name="connsiteY146" fmla="*/ 9128 h 10000"/>
                <a:gd name="connsiteX147" fmla="*/ 0 w 10000"/>
                <a:gd name="connsiteY147" fmla="*/ 9128 h 10000"/>
                <a:gd name="connsiteX148" fmla="*/ 133 w 10000"/>
                <a:gd name="connsiteY148" fmla="*/ 9198 h 10000"/>
                <a:gd name="connsiteX149" fmla="*/ 269 w 10000"/>
                <a:gd name="connsiteY149" fmla="*/ 9262 h 10000"/>
                <a:gd name="connsiteX150" fmla="*/ 404 w 10000"/>
                <a:gd name="connsiteY150" fmla="*/ 9328 h 10000"/>
                <a:gd name="connsiteX151" fmla="*/ 542 w 10000"/>
                <a:gd name="connsiteY151" fmla="*/ 9390 h 10000"/>
                <a:gd name="connsiteX152" fmla="*/ 683 w 10000"/>
                <a:gd name="connsiteY152" fmla="*/ 9448 h 10000"/>
                <a:gd name="connsiteX153" fmla="*/ 824 w 10000"/>
                <a:gd name="connsiteY153" fmla="*/ 9502 h 10000"/>
                <a:gd name="connsiteX154" fmla="*/ 970 w 10000"/>
                <a:gd name="connsiteY154" fmla="*/ 9556 h 10000"/>
                <a:gd name="connsiteX155" fmla="*/ 1115 w 10000"/>
                <a:gd name="connsiteY155" fmla="*/ 9606 h 10000"/>
                <a:gd name="connsiteX156" fmla="*/ 1264 w 10000"/>
                <a:gd name="connsiteY156" fmla="*/ 9652 h 10000"/>
                <a:gd name="connsiteX157" fmla="*/ 1412 w 10000"/>
                <a:gd name="connsiteY157" fmla="*/ 9698 h 10000"/>
                <a:gd name="connsiteX158" fmla="*/ 1561 w 10000"/>
                <a:gd name="connsiteY158" fmla="*/ 9738 h 10000"/>
                <a:gd name="connsiteX159" fmla="*/ 1714 w 10000"/>
                <a:gd name="connsiteY159" fmla="*/ 9778 h 10000"/>
                <a:gd name="connsiteX160" fmla="*/ 1867 w 10000"/>
                <a:gd name="connsiteY160" fmla="*/ 9814 h 10000"/>
                <a:gd name="connsiteX161" fmla="*/ 2024 w 10000"/>
                <a:gd name="connsiteY161" fmla="*/ 9846 h 10000"/>
                <a:gd name="connsiteX162" fmla="*/ 2180 w 10000"/>
                <a:gd name="connsiteY162" fmla="*/ 9874 h 10000"/>
                <a:gd name="connsiteX163" fmla="*/ 2336 w 10000"/>
                <a:gd name="connsiteY163" fmla="*/ 9902 h 10000"/>
                <a:gd name="connsiteX164" fmla="*/ 2494 w 10000"/>
                <a:gd name="connsiteY164" fmla="*/ 9926 h 10000"/>
                <a:gd name="connsiteX165" fmla="*/ 2653 w 10000"/>
                <a:gd name="connsiteY165" fmla="*/ 9946 h 10000"/>
                <a:gd name="connsiteX166" fmla="*/ 2814 w 10000"/>
                <a:gd name="connsiteY166" fmla="*/ 9962 h 10000"/>
                <a:gd name="connsiteX167" fmla="*/ 2978 w 10000"/>
                <a:gd name="connsiteY167" fmla="*/ 9978 h 10000"/>
                <a:gd name="connsiteX168" fmla="*/ 3139 w 10000"/>
                <a:gd name="connsiteY168" fmla="*/ 9988 h 10000"/>
                <a:gd name="connsiteX169" fmla="*/ 3303 w 10000"/>
                <a:gd name="connsiteY169" fmla="*/ 9996 h 10000"/>
                <a:gd name="connsiteX170" fmla="*/ 3464 w 10000"/>
                <a:gd name="connsiteY170" fmla="*/ 10000 h 10000"/>
                <a:gd name="connsiteX171" fmla="*/ 3630 w 10000"/>
                <a:gd name="connsiteY171" fmla="*/ 10000 h 10000"/>
                <a:gd name="connsiteX172" fmla="*/ 3794 w 10000"/>
                <a:gd name="connsiteY172" fmla="*/ 9998 h 10000"/>
                <a:gd name="connsiteX173" fmla="*/ 3963 w 10000"/>
                <a:gd name="connsiteY173" fmla="*/ 9994 h 10000"/>
                <a:gd name="connsiteX174" fmla="*/ 4126 w 10000"/>
                <a:gd name="connsiteY174" fmla="*/ 9986 h 10000"/>
                <a:gd name="connsiteX175" fmla="*/ 4295 w 10000"/>
                <a:gd name="connsiteY175" fmla="*/ 9974 h 10000"/>
                <a:gd name="connsiteX176" fmla="*/ 4461 w 10000"/>
                <a:gd name="connsiteY176" fmla="*/ 9956 h 10000"/>
                <a:gd name="connsiteX177" fmla="*/ 4628 w 10000"/>
                <a:gd name="connsiteY177" fmla="*/ 9938 h 10000"/>
                <a:gd name="connsiteX178" fmla="*/ 4797 w 10000"/>
                <a:gd name="connsiteY178" fmla="*/ 9912 h 10000"/>
                <a:gd name="connsiteX179" fmla="*/ 4965 w 10000"/>
                <a:gd name="connsiteY179" fmla="*/ 9888 h 10000"/>
                <a:gd name="connsiteX180" fmla="*/ 4965 w 10000"/>
                <a:gd name="connsiteY180"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824 w 10000"/>
                <a:gd name="connsiteY152" fmla="*/ 9502 h 10000"/>
                <a:gd name="connsiteX153" fmla="*/ 970 w 10000"/>
                <a:gd name="connsiteY153" fmla="*/ 9556 h 10000"/>
                <a:gd name="connsiteX154" fmla="*/ 1115 w 10000"/>
                <a:gd name="connsiteY154" fmla="*/ 9606 h 10000"/>
                <a:gd name="connsiteX155" fmla="*/ 1264 w 10000"/>
                <a:gd name="connsiteY155" fmla="*/ 9652 h 10000"/>
                <a:gd name="connsiteX156" fmla="*/ 1412 w 10000"/>
                <a:gd name="connsiteY156" fmla="*/ 9698 h 10000"/>
                <a:gd name="connsiteX157" fmla="*/ 1561 w 10000"/>
                <a:gd name="connsiteY157" fmla="*/ 9738 h 10000"/>
                <a:gd name="connsiteX158" fmla="*/ 1714 w 10000"/>
                <a:gd name="connsiteY158" fmla="*/ 9778 h 10000"/>
                <a:gd name="connsiteX159" fmla="*/ 1867 w 10000"/>
                <a:gd name="connsiteY159" fmla="*/ 9814 h 10000"/>
                <a:gd name="connsiteX160" fmla="*/ 2024 w 10000"/>
                <a:gd name="connsiteY160" fmla="*/ 9846 h 10000"/>
                <a:gd name="connsiteX161" fmla="*/ 2180 w 10000"/>
                <a:gd name="connsiteY161" fmla="*/ 9874 h 10000"/>
                <a:gd name="connsiteX162" fmla="*/ 2336 w 10000"/>
                <a:gd name="connsiteY162" fmla="*/ 9902 h 10000"/>
                <a:gd name="connsiteX163" fmla="*/ 2494 w 10000"/>
                <a:gd name="connsiteY163" fmla="*/ 9926 h 10000"/>
                <a:gd name="connsiteX164" fmla="*/ 2653 w 10000"/>
                <a:gd name="connsiteY164" fmla="*/ 9946 h 10000"/>
                <a:gd name="connsiteX165" fmla="*/ 2814 w 10000"/>
                <a:gd name="connsiteY165" fmla="*/ 9962 h 10000"/>
                <a:gd name="connsiteX166" fmla="*/ 2978 w 10000"/>
                <a:gd name="connsiteY166" fmla="*/ 9978 h 10000"/>
                <a:gd name="connsiteX167" fmla="*/ 3139 w 10000"/>
                <a:gd name="connsiteY167" fmla="*/ 9988 h 10000"/>
                <a:gd name="connsiteX168" fmla="*/ 3303 w 10000"/>
                <a:gd name="connsiteY168" fmla="*/ 9996 h 10000"/>
                <a:gd name="connsiteX169" fmla="*/ 3464 w 10000"/>
                <a:gd name="connsiteY169" fmla="*/ 10000 h 10000"/>
                <a:gd name="connsiteX170" fmla="*/ 3630 w 10000"/>
                <a:gd name="connsiteY170" fmla="*/ 10000 h 10000"/>
                <a:gd name="connsiteX171" fmla="*/ 3794 w 10000"/>
                <a:gd name="connsiteY171" fmla="*/ 9998 h 10000"/>
                <a:gd name="connsiteX172" fmla="*/ 3963 w 10000"/>
                <a:gd name="connsiteY172" fmla="*/ 9994 h 10000"/>
                <a:gd name="connsiteX173" fmla="*/ 4126 w 10000"/>
                <a:gd name="connsiteY173" fmla="*/ 9986 h 10000"/>
                <a:gd name="connsiteX174" fmla="*/ 4295 w 10000"/>
                <a:gd name="connsiteY174" fmla="*/ 9974 h 10000"/>
                <a:gd name="connsiteX175" fmla="*/ 4461 w 10000"/>
                <a:gd name="connsiteY175" fmla="*/ 9956 h 10000"/>
                <a:gd name="connsiteX176" fmla="*/ 4628 w 10000"/>
                <a:gd name="connsiteY176" fmla="*/ 9938 h 10000"/>
                <a:gd name="connsiteX177" fmla="*/ 4797 w 10000"/>
                <a:gd name="connsiteY177" fmla="*/ 9912 h 10000"/>
                <a:gd name="connsiteX178" fmla="*/ 4965 w 10000"/>
                <a:gd name="connsiteY178" fmla="*/ 9888 h 10000"/>
                <a:gd name="connsiteX179" fmla="*/ 4965 w 10000"/>
                <a:gd name="connsiteY179"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824 w 10000"/>
                <a:gd name="connsiteY152" fmla="*/ 9502 h 10000"/>
                <a:gd name="connsiteX153" fmla="*/ 970 w 10000"/>
                <a:gd name="connsiteY153" fmla="*/ 9556 h 10000"/>
                <a:gd name="connsiteX154" fmla="*/ 1115 w 10000"/>
                <a:gd name="connsiteY154" fmla="*/ 9606 h 10000"/>
                <a:gd name="connsiteX155" fmla="*/ 1412 w 10000"/>
                <a:gd name="connsiteY155" fmla="*/ 9698 h 10000"/>
                <a:gd name="connsiteX156" fmla="*/ 1561 w 10000"/>
                <a:gd name="connsiteY156" fmla="*/ 9738 h 10000"/>
                <a:gd name="connsiteX157" fmla="*/ 1714 w 10000"/>
                <a:gd name="connsiteY157" fmla="*/ 9778 h 10000"/>
                <a:gd name="connsiteX158" fmla="*/ 1867 w 10000"/>
                <a:gd name="connsiteY158" fmla="*/ 9814 h 10000"/>
                <a:gd name="connsiteX159" fmla="*/ 2024 w 10000"/>
                <a:gd name="connsiteY159" fmla="*/ 9846 h 10000"/>
                <a:gd name="connsiteX160" fmla="*/ 2180 w 10000"/>
                <a:gd name="connsiteY160" fmla="*/ 9874 h 10000"/>
                <a:gd name="connsiteX161" fmla="*/ 2336 w 10000"/>
                <a:gd name="connsiteY161" fmla="*/ 9902 h 10000"/>
                <a:gd name="connsiteX162" fmla="*/ 2494 w 10000"/>
                <a:gd name="connsiteY162" fmla="*/ 9926 h 10000"/>
                <a:gd name="connsiteX163" fmla="*/ 2653 w 10000"/>
                <a:gd name="connsiteY163" fmla="*/ 9946 h 10000"/>
                <a:gd name="connsiteX164" fmla="*/ 2814 w 10000"/>
                <a:gd name="connsiteY164" fmla="*/ 9962 h 10000"/>
                <a:gd name="connsiteX165" fmla="*/ 2978 w 10000"/>
                <a:gd name="connsiteY165" fmla="*/ 9978 h 10000"/>
                <a:gd name="connsiteX166" fmla="*/ 3139 w 10000"/>
                <a:gd name="connsiteY166" fmla="*/ 9988 h 10000"/>
                <a:gd name="connsiteX167" fmla="*/ 3303 w 10000"/>
                <a:gd name="connsiteY167" fmla="*/ 9996 h 10000"/>
                <a:gd name="connsiteX168" fmla="*/ 3464 w 10000"/>
                <a:gd name="connsiteY168" fmla="*/ 10000 h 10000"/>
                <a:gd name="connsiteX169" fmla="*/ 3630 w 10000"/>
                <a:gd name="connsiteY169" fmla="*/ 10000 h 10000"/>
                <a:gd name="connsiteX170" fmla="*/ 3794 w 10000"/>
                <a:gd name="connsiteY170" fmla="*/ 9998 h 10000"/>
                <a:gd name="connsiteX171" fmla="*/ 3963 w 10000"/>
                <a:gd name="connsiteY171" fmla="*/ 9994 h 10000"/>
                <a:gd name="connsiteX172" fmla="*/ 4126 w 10000"/>
                <a:gd name="connsiteY172" fmla="*/ 9986 h 10000"/>
                <a:gd name="connsiteX173" fmla="*/ 4295 w 10000"/>
                <a:gd name="connsiteY173" fmla="*/ 9974 h 10000"/>
                <a:gd name="connsiteX174" fmla="*/ 4461 w 10000"/>
                <a:gd name="connsiteY174" fmla="*/ 9956 h 10000"/>
                <a:gd name="connsiteX175" fmla="*/ 4628 w 10000"/>
                <a:gd name="connsiteY175" fmla="*/ 9938 h 10000"/>
                <a:gd name="connsiteX176" fmla="*/ 4797 w 10000"/>
                <a:gd name="connsiteY176" fmla="*/ 9912 h 10000"/>
                <a:gd name="connsiteX177" fmla="*/ 4965 w 10000"/>
                <a:gd name="connsiteY177" fmla="*/ 9888 h 10000"/>
                <a:gd name="connsiteX178" fmla="*/ 4965 w 10000"/>
                <a:gd name="connsiteY178"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824 w 10000"/>
                <a:gd name="connsiteY152" fmla="*/ 9502 h 10000"/>
                <a:gd name="connsiteX153" fmla="*/ 970 w 10000"/>
                <a:gd name="connsiteY153" fmla="*/ 9556 h 10000"/>
                <a:gd name="connsiteX154" fmla="*/ 1412 w 10000"/>
                <a:gd name="connsiteY154" fmla="*/ 9698 h 10000"/>
                <a:gd name="connsiteX155" fmla="*/ 1561 w 10000"/>
                <a:gd name="connsiteY155" fmla="*/ 9738 h 10000"/>
                <a:gd name="connsiteX156" fmla="*/ 1714 w 10000"/>
                <a:gd name="connsiteY156" fmla="*/ 9778 h 10000"/>
                <a:gd name="connsiteX157" fmla="*/ 1867 w 10000"/>
                <a:gd name="connsiteY157" fmla="*/ 9814 h 10000"/>
                <a:gd name="connsiteX158" fmla="*/ 2024 w 10000"/>
                <a:gd name="connsiteY158" fmla="*/ 9846 h 10000"/>
                <a:gd name="connsiteX159" fmla="*/ 2180 w 10000"/>
                <a:gd name="connsiteY159" fmla="*/ 9874 h 10000"/>
                <a:gd name="connsiteX160" fmla="*/ 2336 w 10000"/>
                <a:gd name="connsiteY160" fmla="*/ 9902 h 10000"/>
                <a:gd name="connsiteX161" fmla="*/ 2494 w 10000"/>
                <a:gd name="connsiteY161" fmla="*/ 9926 h 10000"/>
                <a:gd name="connsiteX162" fmla="*/ 2653 w 10000"/>
                <a:gd name="connsiteY162" fmla="*/ 9946 h 10000"/>
                <a:gd name="connsiteX163" fmla="*/ 2814 w 10000"/>
                <a:gd name="connsiteY163" fmla="*/ 9962 h 10000"/>
                <a:gd name="connsiteX164" fmla="*/ 2978 w 10000"/>
                <a:gd name="connsiteY164" fmla="*/ 9978 h 10000"/>
                <a:gd name="connsiteX165" fmla="*/ 3139 w 10000"/>
                <a:gd name="connsiteY165" fmla="*/ 9988 h 10000"/>
                <a:gd name="connsiteX166" fmla="*/ 3303 w 10000"/>
                <a:gd name="connsiteY166" fmla="*/ 9996 h 10000"/>
                <a:gd name="connsiteX167" fmla="*/ 3464 w 10000"/>
                <a:gd name="connsiteY167" fmla="*/ 10000 h 10000"/>
                <a:gd name="connsiteX168" fmla="*/ 3630 w 10000"/>
                <a:gd name="connsiteY168" fmla="*/ 10000 h 10000"/>
                <a:gd name="connsiteX169" fmla="*/ 3794 w 10000"/>
                <a:gd name="connsiteY169" fmla="*/ 9998 h 10000"/>
                <a:gd name="connsiteX170" fmla="*/ 3963 w 10000"/>
                <a:gd name="connsiteY170" fmla="*/ 9994 h 10000"/>
                <a:gd name="connsiteX171" fmla="*/ 4126 w 10000"/>
                <a:gd name="connsiteY171" fmla="*/ 9986 h 10000"/>
                <a:gd name="connsiteX172" fmla="*/ 4295 w 10000"/>
                <a:gd name="connsiteY172" fmla="*/ 9974 h 10000"/>
                <a:gd name="connsiteX173" fmla="*/ 4461 w 10000"/>
                <a:gd name="connsiteY173" fmla="*/ 9956 h 10000"/>
                <a:gd name="connsiteX174" fmla="*/ 4628 w 10000"/>
                <a:gd name="connsiteY174" fmla="*/ 9938 h 10000"/>
                <a:gd name="connsiteX175" fmla="*/ 4797 w 10000"/>
                <a:gd name="connsiteY175" fmla="*/ 9912 h 10000"/>
                <a:gd name="connsiteX176" fmla="*/ 4965 w 10000"/>
                <a:gd name="connsiteY176" fmla="*/ 9888 h 10000"/>
                <a:gd name="connsiteX177" fmla="*/ 4965 w 10000"/>
                <a:gd name="connsiteY177"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824 w 10000"/>
                <a:gd name="connsiteY152" fmla="*/ 9502 h 10000"/>
                <a:gd name="connsiteX153" fmla="*/ 1412 w 10000"/>
                <a:gd name="connsiteY153" fmla="*/ 9698 h 10000"/>
                <a:gd name="connsiteX154" fmla="*/ 1561 w 10000"/>
                <a:gd name="connsiteY154" fmla="*/ 9738 h 10000"/>
                <a:gd name="connsiteX155" fmla="*/ 1714 w 10000"/>
                <a:gd name="connsiteY155" fmla="*/ 9778 h 10000"/>
                <a:gd name="connsiteX156" fmla="*/ 1867 w 10000"/>
                <a:gd name="connsiteY156" fmla="*/ 9814 h 10000"/>
                <a:gd name="connsiteX157" fmla="*/ 2024 w 10000"/>
                <a:gd name="connsiteY157" fmla="*/ 9846 h 10000"/>
                <a:gd name="connsiteX158" fmla="*/ 2180 w 10000"/>
                <a:gd name="connsiteY158" fmla="*/ 9874 h 10000"/>
                <a:gd name="connsiteX159" fmla="*/ 2336 w 10000"/>
                <a:gd name="connsiteY159" fmla="*/ 9902 h 10000"/>
                <a:gd name="connsiteX160" fmla="*/ 2494 w 10000"/>
                <a:gd name="connsiteY160" fmla="*/ 9926 h 10000"/>
                <a:gd name="connsiteX161" fmla="*/ 2653 w 10000"/>
                <a:gd name="connsiteY161" fmla="*/ 9946 h 10000"/>
                <a:gd name="connsiteX162" fmla="*/ 2814 w 10000"/>
                <a:gd name="connsiteY162" fmla="*/ 9962 h 10000"/>
                <a:gd name="connsiteX163" fmla="*/ 2978 w 10000"/>
                <a:gd name="connsiteY163" fmla="*/ 9978 h 10000"/>
                <a:gd name="connsiteX164" fmla="*/ 3139 w 10000"/>
                <a:gd name="connsiteY164" fmla="*/ 9988 h 10000"/>
                <a:gd name="connsiteX165" fmla="*/ 3303 w 10000"/>
                <a:gd name="connsiteY165" fmla="*/ 9996 h 10000"/>
                <a:gd name="connsiteX166" fmla="*/ 3464 w 10000"/>
                <a:gd name="connsiteY166" fmla="*/ 10000 h 10000"/>
                <a:gd name="connsiteX167" fmla="*/ 3630 w 10000"/>
                <a:gd name="connsiteY167" fmla="*/ 10000 h 10000"/>
                <a:gd name="connsiteX168" fmla="*/ 3794 w 10000"/>
                <a:gd name="connsiteY168" fmla="*/ 9998 h 10000"/>
                <a:gd name="connsiteX169" fmla="*/ 3963 w 10000"/>
                <a:gd name="connsiteY169" fmla="*/ 9994 h 10000"/>
                <a:gd name="connsiteX170" fmla="*/ 4126 w 10000"/>
                <a:gd name="connsiteY170" fmla="*/ 9986 h 10000"/>
                <a:gd name="connsiteX171" fmla="*/ 4295 w 10000"/>
                <a:gd name="connsiteY171" fmla="*/ 9974 h 10000"/>
                <a:gd name="connsiteX172" fmla="*/ 4461 w 10000"/>
                <a:gd name="connsiteY172" fmla="*/ 9956 h 10000"/>
                <a:gd name="connsiteX173" fmla="*/ 4628 w 10000"/>
                <a:gd name="connsiteY173" fmla="*/ 9938 h 10000"/>
                <a:gd name="connsiteX174" fmla="*/ 4797 w 10000"/>
                <a:gd name="connsiteY174" fmla="*/ 9912 h 10000"/>
                <a:gd name="connsiteX175" fmla="*/ 4965 w 10000"/>
                <a:gd name="connsiteY175" fmla="*/ 9888 h 10000"/>
                <a:gd name="connsiteX176" fmla="*/ 4965 w 10000"/>
                <a:gd name="connsiteY176"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1412 w 10000"/>
                <a:gd name="connsiteY152" fmla="*/ 9698 h 10000"/>
                <a:gd name="connsiteX153" fmla="*/ 1561 w 10000"/>
                <a:gd name="connsiteY153" fmla="*/ 9738 h 10000"/>
                <a:gd name="connsiteX154" fmla="*/ 1714 w 10000"/>
                <a:gd name="connsiteY154" fmla="*/ 9778 h 10000"/>
                <a:gd name="connsiteX155" fmla="*/ 1867 w 10000"/>
                <a:gd name="connsiteY155" fmla="*/ 9814 h 10000"/>
                <a:gd name="connsiteX156" fmla="*/ 2024 w 10000"/>
                <a:gd name="connsiteY156" fmla="*/ 9846 h 10000"/>
                <a:gd name="connsiteX157" fmla="*/ 2180 w 10000"/>
                <a:gd name="connsiteY157" fmla="*/ 9874 h 10000"/>
                <a:gd name="connsiteX158" fmla="*/ 2336 w 10000"/>
                <a:gd name="connsiteY158" fmla="*/ 9902 h 10000"/>
                <a:gd name="connsiteX159" fmla="*/ 2494 w 10000"/>
                <a:gd name="connsiteY159" fmla="*/ 9926 h 10000"/>
                <a:gd name="connsiteX160" fmla="*/ 2653 w 10000"/>
                <a:gd name="connsiteY160" fmla="*/ 9946 h 10000"/>
                <a:gd name="connsiteX161" fmla="*/ 2814 w 10000"/>
                <a:gd name="connsiteY161" fmla="*/ 9962 h 10000"/>
                <a:gd name="connsiteX162" fmla="*/ 2978 w 10000"/>
                <a:gd name="connsiteY162" fmla="*/ 9978 h 10000"/>
                <a:gd name="connsiteX163" fmla="*/ 3139 w 10000"/>
                <a:gd name="connsiteY163" fmla="*/ 9988 h 10000"/>
                <a:gd name="connsiteX164" fmla="*/ 3303 w 10000"/>
                <a:gd name="connsiteY164" fmla="*/ 9996 h 10000"/>
                <a:gd name="connsiteX165" fmla="*/ 3464 w 10000"/>
                <a:gd name="connsiteY165" fmla="*/ 10000 h 10000"/>
                <a:gd name="connsiteX166" fmla="*/ 3630 w 10000"/>
                <a:gd name="connsiteY166" fmla="*/ 10000 h 10000"/>
                <a:gd name="connsiteX167" fmla="*/ 3794 w 10000"/>
                <a:gd name="connsiteY167" fmla="*/ 9998 h 10000"/>
                <a:gd name="connsiteX168" fmla="*/ 3963 w 10000"/>
                <a:gd name="connsiteY168" fmla="*/ 9994 h 10000"/>
                <a:gd name="connsiteX169" fmla="*/ 4126 w 10000"/>
                <a:gd name="connsiteY169" fmla="*/ 9986 h 10000"/>
                <a:gd name="connsiteX170" fmla="*/ 4295 w 10000"/>
                <a:gd name="connsiteY170" fmla="*/ 9974 h 10000"/>
                <a:gd name="connsiteX171" fmla="*/ 4461 w 10000"/>
                <a:gd name="connsiteY171" fmla="*/ 9956 h 10000"/>
                <a:gd name="connsiteX172" fmla="*/ 4628 w 10000"/>
                <a:gd name="connsiteY172" fmla="*/ 9938 h 10000"/>
                <a:gd name="connsiteX173" fmla="*/ 4797 w 10000"/>
                <a:gd name="connsiteY173" fmla="*/ 9912 h 10000"/>
                <a:gd name="connsiteX174" fmla="*/ 4965 w 10000"/>
                <a:gd name="connsiteY174" fmla="*/ 9888 h 10000"/>
                <a:gd name="connsiteX175" fmla="*/ 4965 w 10000"/>
                <a:gd name="connsiteY175"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1412 w 10000"/>
                <a:gd name="connsiteY151" fmla="*/ 9698 h 10000"/>
                <a:gd name="connsiteX152" fmla="*/ 1561 w 10000"/>
                <a:gd name="connsiteY152" fmla="*/ 9738 h 10000"/>
                <a:gd name="connsiteX153" fmla="*/ 1714 w 10000"/>
                <a:gd name="connsiteY153" fmla="*/ 9778 h 10000"/>
                <a:gd name="connsiteX154" fmla="*/ 1867 w 10000"/>
                <a:gd name="connsiteY154" fmla="*/ 9814 h 10000"/>
                <a:gd name="connsiteX155" fmla="*/ 2024 w 10000"/>
                <a:gd name="connsiteY155" fmla="*/ 9846 h 10000"/>
                <a:gd name="connsiteX156" fmla="*/ 2180 w 10000"/>
                <a:gd name="connsiteY156" fmla="*/ 9874 h 10000"/>
                <a:gd name="connsiteX157" fmla="*/ 2336 w 10000"/>
                <a:gd name="connsiteY157" fmla="*/ 9902 h 10000"/>
                <a:gd name="connsiteX158" fmla="*/ 2494 w 10000"/>
                <a:gd name="connsiteY158" fmla="*/ 9926 h 10000"/>
                <a:gd name="connsiteX159" fmla="*/ 2653 w 10000"/>
                <a:gd name="connsiteY159" fmla="*/ 9946 h 10000"/>
                <a:gd name="connsiteX160" fmla="*/ 2814 w 10000"/>
                <a:gd name="connsiteY160" fmla="*/ 9962 h 10000"/>
                <a:gd name="connsiteX161" fmla="*/ 2978 w 10000"/>
                <a:gd name="connsiteY161" fmla="*/ 9978 h 10000"/>
                <a:gd name="connsiteX162" fmla="*/ 3139 w 10000"/>
                <a:gd name="connsiteY162" fmla="*/ 9988 h 10000"/>
                <a:gd name="connsiteX163" fmla="*/ 3303 w 10000"/>
                <a:gd name="connsiteY163" fmla="*/ 9996 h 10000"/>
                <a:gd name="connsiteX164" fmla="*/ 3464 w 10000"/>
                <a:gd name="connsiteY164" fmla="*/ 10000 h 10000"/>
                <a:gd name="connsiteX165" fmla="*/ 3630 w 10000"/>
                <a:gd name="connsiteY165" fmla="*/ 10000 h 10000"/>
                <a:gd name="connsiteX166" fmla="*/ 3794 w 10000"/>
                <a:gd name="connsiteY166" fmla="*/ 9998 h 10000"/>
                <a:gd name="connsiteX167" fmla="*/ 3963 w 10000"/>
                <a:gd name="connsiteY167" fmla="*/ 9994 h 10000"/>
                <a:gd name="connsiteX168" fmla="*/ 4126 w 10000"/>
                <a:gd name="connsiteY168" fmla="*/ 9986 h 10000"/>
                <a:gd name="connsiteX169" fmla="*/ 4295 w 10000"/>
                <a:gd name="connsiteY169" fmla="*/ 9974 h 10000"/>
                <a:gd name="connsiteX170" fmla="*/ 4461 w 10000"/>
                <a:gd name="connsiteY170" fmla="*/ 9956 h 10000"/>
                <a:gd name="connsiteX171" fmla="*/ 4628 w 10000"/>
                <a:gd name="connsiteY171" fmla="*/ 9938 h 10000"/>
                <a:gd name="connsiteX172" fmla="*/ 4797 w 10000"/>
                <a:gd name="connsiteY172" fmla="*/ 9912 h 10000"/>
                <a:gd name="connsiteX173" fmla="*/ 4965 w 10000"/>
                <a:gd name="connsiteY173" fmla="*/ 9888 h 10000"/>
                <a:gd name="connsiteX174" fmla="*/ 4965 w 10000"/>
                <a:gd name="connsiteY174"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1412 w 10000"/>
                <a:gd name="connsiteY150" fmla="*/ 9698 h 10000"/>
                <a:gd name="connsiteX151" fmla="*/ 1561 w 10000"/>
                <a:gd name="connsiteY151" fmla="*/ 9738 h 10000"/>
                <a:gd name="connsiteX152" fmla="*/ 1714 w 10000"/>
                <a:gd name="connsiteY152" fmla="*/ 9778 h 10000"/>
                <a:gd name="connsiteX153" fmla="*/ 1867 w 10000"/>
                <a:gd name="connsiteY153" fmla="*/ 9814 h 10000"/>
                <a:gd name="connsiteX154" fmla="*/ 2024 w 10000"/>
                <a:gd name="connsiteY154" fmla="*/ 9846 h 10000"/>
                <a:gd name="connsiteX155" fmla="*/ 2180 w 10000"/>
                <a:gd name="connsiteY155" fmla="*/ 9874 h 10000"/>
                <a:gd name="connsiteX156" fmla="*/ 2336 w 10000"/>
                <a:gd name="connsiteY156" fmla="*/ 9902 h 10000"/>
                <a:gd name="connsiteX157" fmla="*/ 2494 w 10000"/>
                <a:gd name="connsiteY157" fmla="*/ 9926 h 10000"/>
                <a:gd name="connsiteX158" fmla="*/ 2653 w 10000"/>
                <a:gd name="connsiteY158" fmla="*/ 9946 h 10000"/>
                <a:gd name="connsiteX159" fmla="*/ 2814 w 10000"/>
                <a:gd name="connsiteY159" fmla="*/ 9962 h 10000"/>
                <a:gd name="connsiteX160" fmla="*/ 2978 w 10000"/>
                <a:gd name="connsiteY160" fmla="*/ 9978 h 10000"/>
                <a:gd name="connsiteX161" fmla="*/ 3139 w 10000"/>
                <a:gd name="connsiteY161" fmla="*/ 9988 h 10000"/>
                <a:gd name="connsiteX162" fmla="*/ 3303 w 10000"/>
                <a:gd name="connsiteY162" fmla="*/ 9996 h 10000"/>
                <a:gd name="connsiteX163" fmla="*/ 3464 w 10000"/>
                <a:gd name="connsiteY163" fmla="*/ 10000 h 10000"/>
                <a:gd name="connsiteX164" fmla="*/ 3630 w 10000"/>
                <a:gd name="connsiteY164" fmla="*/ 10000 h 10000"/>
                <a:gd name="connsiteX165" fmla="*/ 3794 w 10000"/>
                <a:gd name="connsiteY165" fmla="*/ 9998 h 10000"/>
                <a:gd name="connsiteX166" fmla="*/ 3963 w 10000"/>
                <a:gd name="connsiteY166" fmla="*/ 9994 h 10000"/>
                <a:gd name="connsiteX167" fmla="*/ 4126 w 10000"/>
                <a:gd name="connsiteY167" fmla="*/ 9986 h 10000"/>
                <a:gd name="connsiteX168" fmla="*/ 4295 w 10000"/>
                <a:gd name="connsiteY168" fmla="*/ 9974 h 10000"/>
                <a:gd name="connsiteX169" fmla="*/ 4461 w 10000"/>
                <a:gd name="connsiteY169" fmla="*/ 9956 h 10000"/>
                <a:gd name="connsiteX170" fmla="*/ 4628 w 10000"/>
                <a:gd name="connsiteY170" fmla="*/ 9938 h 10000"/>
                <a:gd name="connsiteX171" fmla="*/ 4797 w 10000"/>
                <a:gd name="connsiteY171" fmla="*/ 9912 h 10000"/>
                <a:gd name="connsiteX172" fmla="*/ 4965 w 10000"/>
                <a:gd name="connsiteY172" fmla="*/ 9888 h 10000"/>
                <a:gd name="connsiteX173" fmla="*/ 4965 w 10000"/>
                <a:gd name="connsiteY173"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1412 w 10000"/>
                <a:gd name="connsiteY149" fmla="*/ 9698 h 10000"/>
                <a:gd name="connsiteX150" fmla="*/ 1561 w 10000"/>
                <a:gd name="connsiteY150" fmla="*/ 9738 h 10000"/>
                <a:gd name="connsiteX151" fmla="*/ 1714 w 10000"/>
                <a:gd name="connsiteY151" fmla="*/ 9778 h 10000"/>
                <a:gd name="connsiteX152" fmla="*/ 1867 w 10000"/>
                <a:gd name="connsiteY152" fmla="*/ 9814 h 10000"/>
                <a:gd name="connsiteX153" fmla="*/ 2024 w 10000"/>
                <a:gd name="connsiteY153" fmla="*/ 9846 h 10000"/>
                <a:gd name="connsiteX154" fmla="*/ 2180 w 10000"/>
                <a:gd name="connsiteY154" fmla="*/ 9874 h 10000"/>
                <a:gd name="connsiteX155" fmla="*/ 2336 w 10000"/>
                <a:gd name="connsiteY155" fmla="*/ 9902 h 10000"/>
                <a:gd name="connsiteX156" fmla="*/ 2494 w 10000"/>
                <a:gd name="connsiteY156" fmla="*/ 9926 h 10000"/>
                <a:gd name="connsiteX157" fmla="*/ 2653 w 10000"/>
                <a:gd name="connsiteY157" fmla="*/ 9946 h 10000"/>
                <a:gd name="connsiteX158" fmla="*/ 2814 w 10000"/>
                <a:gd name="connsiteY158" fmla="*/ 9962 h 10000"/>
                <a:gd name="connsiteX159" fmla="*/ 2978 w 10000"/>
                <a:gd name="connsiteY159" fmla="*/ 9978 h 10000"/>
                <a:gd name="connsiteX160" fmla="*/ 3139 w 10000"/>
                <a:gd name="connsiteY160" fmla="*/ 9988 h 10000"/>
                <a:gd name="connsiteX161" fmla="*/ 3303 w 10000"/>
                <a:gd name="connsiteY161" fmla="*/ 9996 h 10000"/>
                <a:gd name="connsiteX162" fmla="*/ 3464 w 10000"/>
                <a:gd name="connsiteY162" fmla="*/ 10000 h 10000"/>
                <a:gd name="connsiteX163" fmla="*/ 3630 w 10000"/>
                <a:gd name="connsiteY163" fmla="*/ 10000 h 10000"/>
                <a:gd name="connsiteX164" fmla="*/ 3794 w 10000"/>
                <a:gd name="connsiteY164" fmla="*/ 9998 h 10000"/>
                <a:gd name="connsiteX165" fmla="*/ 3963 w 10000"/>
                <a:gd name="connsiteY165" fmla="*/ 9994 h 10000"/>
                <a:gd name="connsiteX166" fmla="*/ 4126 w 10000"/>
                <a:gd name="connsiteY166" fmla="*/ 9986 h 10000"/>
                <a:gd name="connsiteX167" fmla="*/ 4295 w 10000"/>
                <a:gd name="connsiteY167" fmla="*/ 9974 h 10000"/>
                <a:gd name="connsiteX168" fmla="*/ 4461 w 10000"/>
                <a:gd name="connsiteY168" fmla="*/ 9956 h 10000"/>
                <a:gd name="connsiteX169" fmla="*/ 4628 w 10000"/>
                <a:gd name="connsiteY169" fmla="*/ 9938 h 10000"/>
                <a:gd name="connsiteX170" fmla="*/ 4797 w 10000"/>
                <a:gd name="connsiteY170" fmla="*/ 9912 h 10000"/>
                <a:gd name="connsiteX171" fmla="*/ 4965 w 10000"/>
                <a:gd name="connsiteY171" fmla="*/ 9888 h 10000"/>
                <a:gd name="connsiteX172" fmla="*/ 4965 w 10000"/>
                <a:gd name="connsiteY172"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1412 w 10000"/>
                <a:gd name="connsiteY148" fmla="*/ 9698 h 10000"/>
                <a:gd name="connsiteX149" fmla="*/ 1561 w 10000"/>
                <a:gd name="connsiteY149" fmla="*/ 9738 h 10000"/>
                <a:gd name="connsiteX150" fmla="*/ 1714 w 10000"/>
                <a:gd name="connsiteY150" fmla="*/ 9778 h 10000"/>
                <a:gd name="connsiteX151" fmla="*/ 1867 w 10000"/>
                <a:gd name="connsiteY151" fmla="*/ 9814 h 10000"/>
                <a:gd name="connsiteX152" fmla="*/ 2024 w 10000"/>
                <a:gd name="connsiteY152" fmla="*/ 9846 h 10000"/>
                <a:gd name="connsiteX153" fmla="*/ 2180 w 10000"/>
                <a:gd name="connsiteY153" fmla="*/ 9874 h 10000"/>
                <a:gd name="connsiteX154" fmla="*/ 2336 w 10000"/>
                <a:gd name="connsiteY154" fmla="*/ 9902 h 10000"/>
                <a:gd name="connsiteX155" fmla="*/ 2494 w 10000"/>
                <a:gd name="connsiteY155" fmla="*/ 9926 h 10000"/>
                <a:gd name="connsiteX156" fmla="*/ 2653 w 10000"/>
                <a:gd name="connsiteY156" fmla="*/ 9946 h 10000"/>
                <a:gd name="connsiteX157" fmla="*/ 2814 w 10000"/>
                <a:gd name="connsiteY157" fmla="*/ 9962 h 10000"/>
                <a:gd name="connsiteX158" fmla="*/ 2978 w 10000"/>
                <a:gd name="connsiteY158" fmla="*/ 9978 h 10000"/>
                <a:gd name="connsiteX159" fmla="*/ 3139 w 10000"/>
                <a:gd name="connsiteY159" fmla="*/ 9988 h 10000"/>
                <a:gd name="connsiteX160" fmla="*/ 3303 w 10000"/>
                <a:gd name="connsiteY160" fmla="*/ 9996 h 10000"/>
                <a:gd name="connsiteX161" fmla="*/ 3464 w 10000"/>
                <a:gd name="connsiteY161" fmla="*/ 10000 h 10000"/>
                <a:gd name="connsiteX162" fmla="*/ 3630 w 10000"/>
                <a:gd name="connsiteY162" fmla="*/ 10000 h 10000"/>
                <a:gd name="connsiteX163" fmla="*/ 3794 w 10000"/>
                <a:gd name="connsiteY163" fmla="*/ 9998 h 10000"/>
                <a:gd name="connsiteX164" fmla="*/ 3963 w 10000"/>
                <a:gd name="connsiteY164" fmla="*/ 9994 h 10000"/>
                <a:gd name="connsiteX165" fmla="*/ 4126 w 10000"/>
                <a:gd name="connsiteY165" fmla="*/ 9986 h 10000"/>
                <a:gd name="connsiteX166" fmla="*/ 4295 w 10000"/>
                <a:gd name="connsiteY166" fmla="*/ 9974 h 10000"/>
                <a:gd name="connsiteX167" fmla="*/ 4461 w 10000"/>
                <a:gd name="connsiteY167" fmla="*/ 9956 h 10000"/>
                <a:gd name="connsiteX168" fmla="*/ 4628 w 10000"/>
                <a:gd name="connsiteY168" fmla="*/ 9938 h 10000"/>
                <a:gd name="connsiteX169" fmla="*/ 4797 w 10000"/>
                <a:gd name="connsiteY169" fmla="*/ 9912 h 10000"/>
                <a:gd name="connsiteX170" fmla="*/ 4965 w 10000"/>
                <a:gd name="connsiteY170" fmla="*/ 9888 h 10000"/>
                <a:gd name="connsiteX171" fmla="*/ 4965 w 10000"/>
                <a:gd name="connsiteY171"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412 w 10000"/>
                <a:gd name="connsiteY147" fmla="*/ 9698 h 10000"/>
                <a:gd name="connsiteX148" fmla="*/ 1561 w 10000"/>
                <a:gd name="connsiteY148" fmla="*/ 9738 h 10000"/>
                <a:gd name="connsiteX149" fmla="*/ 1714 w 10000"/>
                <a:gd name="connsiteY149" fmla="*/ 9778 h 10000"/>
                <a:gd name="connsiteX150" fmla="*/ 1867 w 10000"/>
                <a:gd name="connsiteY150" fmla="*/ 9814 h 10000"/>
                <a:gd name="connsiteX151" fmla="*/ 2024 w 10000"/>
                <a:gd name="connsiteY151" fmla="*/ 9846 h 10000"/>
                <a:gd name="connsiteX152" fmla="*/ 2180 w 10000"/>
                <a:gd name="connsiteY152" fmla="*/ 9874 h 10000"/>
                <a:gd name="connsiteX153" fmla="*/ 2336 w 10000"/>
                <a:gd name="connsiteY153" fmla="*/ 9902 h 10000"/>
                <a:gd name="connsiteX154" fmla="*/ 2494 w 10000"/>
                <a:gd name="connsiteY154" fmla="*/ 9926 h 10000"/>
                <a:gd name="connsiteX155" fmla="*/ 2653 w 10000"/>
                <a:gd name="connsiteY155" fmla="*/ 9946 h 10000"/>
                <a:gd name="connsiteX156" fmla="*/ 2814 w 10000"/>
                <a:gd name="connsiteY156" fmla="*/ 9962 h 10000"/>
                <a:gd name="connsiteX157" fmla="*/ 2978 w 10000"/>
                <a:gd name="connsiteY157" fmla="*/ 9978 h 10000"/>
                <a:gd name="connsiteX158" fmla="*/ 3139 w 10000"/>
                <a:gd name="connsiteY158" fmla="*/ 9988 h 10000"/>
                <a:gd name="connsiteX159" fmla="*/ 3303 w 10000"/>
                <a:gd name="connsiteY159" fmla="*/ 9996 h 10000"/>
                <a:gd name="connsiteX160" fmla="*/ 3464 w 10000"/>
                <a:gd name="connsiteY160" fmla="*/ 10000 h 10000"/>
                <a:gd name="connsiteX161" fmla="*/ 3630 w 10000"/>
                <a:gd name="connsiteY161" fmla="*/ 10000 h 10000"/>
                <a:gd name="connsiteX162" fmla="*/ 3794 w 10000"/>
                <a:gd name="connsiteY162" fmla="*/ 9998 h 10000"/>
                <a:gd name="connsiteX163" fmla="*/ 3963 w 10000"/>
                <a:gd name="connsiteY163" fmla="*/ 9994 h 10000"/>
                <a:gd name="connsiteX164" fmla="*/ 4126 w 10000"/>
                <a:gd name="connsiteY164" fmla="*/ 9986 h 10000"/>
                <a:gd name="connsiteX165" fmla="*/ 4295 w 10000"/>
                <a:gd name="connsiteY165" fmla="*/ 9974 h 10000"/>
                <a:gd name="connsiteX166" fmla="*/ 4461 w 10000"/>
                <a:gd name="connsiteY166" fmla="*/ 9956 h 10000"/>
                <a:gd name="connsiteX167" fmla="*/ 4628 w 10000"/>
                <a:gd name="connsiteY167" fmla="*/ 9938 h 10000"/>
                <a:gd name="connsiteX168" fmla="*/ 4797 w 10000"/>
                <a:gd name="connsiteY168" fmla="*/ 9912 h 10000"/>
                <a:gd name="connsiteX169" fmla="*/ 4965 w 10000"/>
                <a:gd name="connsiteY169" fmla="*/ 9888 h 10000"/>
                <a:gd name="connsiteX170" fmla="*/ 4965 w 10000"/>
                <a:gd name="connsiteY170"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1412 w 10000"/>
                <a:gd name="connsiteY146" fmla="*/ 9698 h 10000"/>
                <a:gd name="connsiteX147" fmla="*/ 1561 w 10000"/>
                <a:gd name="connsiteY147" fmla="*/ 9738 h 10000"/>
                <a:gd name="connsiteX148" fmla="*/ 1714 w 10000"/>
                <a:gd name="connsiteY148" fmla="*/ 9778 h 10000"/>
                <a:gd name="connsiteX149" fmla="*/ 1867 w 10000"/>
                <a:gd name="connsiteY149" fmla="*/ 9814 h 10000"/>
                <a:gd name="connsiteX150" fmla="*/ 2024 w 10000"/>
                <a:gd name="connsiteY150" fmla="*/ 9846 h 10000"/>
                <a:gd name="connsiteX151" fmla="*/ 2180 w 10000"/>
                <a:gd name="connsiteY151" fmla="*/ 9874 h 10000"/>
                <a:gd name="connsiteX152" fmla="*/ 2336 w 10000"/>
                <a:gd name="connsiteY152" fmla="*/ 9902 h 10000"/>
                <a:gd name="connsiteX153" fmla="*/ 2494 w 10000"/>
                <a:gd name="connsiteY153" fmla="*/ 9926 h 10000"/>
                <a:gd name="connsiteX154" fmla="*/ 2653 w 10000"/>
                <a:gd name="connsiteY154" fmla="*/ 9946 h 10000"/>
                <a:gd name="connsiteX155" fmla="*/ 2814 w 10000"/>
                <a:gd name="connsiteY155" fmla="*/ 9962 h 10000"/>
                <a:gd name="connsiteX156" fmla="*/ 2978 w 10000"/>
                <a:gd name="connsiteY156" fmla="*/ 9978 h 10000"/>
                <a:gd name="connsiteX157" fmla="*/ 3139 w 10000"/>
                <a:gd name="connsiteY157" fmla="*/ 9988 h 10000"/>
                <a:gd name="connsiteX158" fmla="*/ 3303 w 10000"/>
                <a:gd name="connsiteY158" fmla="*/ 9996 h 10000"/>
                <a:gd name="connsiteX159" fmla="*/ 3464 w 10000"/>
                <a:gd name="connsiteY159" fmla="*/ 10000 h 10000"/>
                <a:gd name="connsiteX160" fmla="*/ 3630 w 10000"/>
                <a:gd name="connsiteY160" fmla="*/ 10000 h 10000"/>
                <a:gd name="connsiteX161" fmla="*/ 3794 w 10000"/>
                <a:gd name="connsiteY161" fmla="*/ 9998 h 10000"/>
                <a:gd name="connsiteX162" fmla="*/ 3963 w 10000"/>
                <a:gd name="connsiteY162" fmla="*/ 9994 h 10000"/>
                <a:gd name="connsiteX163" fmla="*/ 4126 w 10000"/>
                <a:gd name="connsiteY163" fmla="*/ 9986 h 10000"/>
                <a:gd name="connsiteX164" fmla="*/ 4295 w 10000"/>
                <a:gd name="connsiteY164" fmla="*/ 9974 h 10000"/>
                <a:gd name="connsiteX165" fmla="*/ 4461 w 10000"/>
                <a:gd name="connsiteY165" fmla="*/ 9956 h 10000"/>
                <a:gd name="connsiteX166" fmla="*/ 4628 w 10000"/>
                <a:gd name="connsiteY166" fmla="*/ 9938 h 10000"/>
                <a:gd name="connsiteX167" fmla="*/ 4797 w 10000"/>
                <a:gd name="connsiteY167" fmla="*/ 9912 h 10000"/>
                <a:gd name="connsiteX168" fmla="*/ 4965 w 10000"/>
                <a:gd name="connsiteY168" fmla="*/ 9888 h 10000"/>
                <a:gd name="connsiteX169" fmla="*/ 4965 w 10000"/>
                <a:gd name="connsiteY169" fmla="*/ 9888 h 10000"/>
                <a:gd name="connsiteX0" fmla="*/ 4584 w 9619"/>
                <a:gd name="connsiteY0" fmla="*/ 9888 h 10000"/>
                <a:gd name="connsiteX1" fmla="*/ 4584 w 9619"/>
                <a:gd name="connsiteY1" fmla="*/ 9888 h 10000"/>
                <a:gd name="connsiteX2" fmla="*/ 4743 w 9619"/>
                <a:gd name="connsiteY2" fmla="*/ 9856 h 10000"/>
                <a:gd name="connsiteX3" fmla="*/ 4902 w 9619"/>
                <a:gd name="connsiteY3" fmla="*/ 9826 h 10000"/>
                <a:gd name="connsiteX4" fmla="*/ 5058 w 9619"/>
                <a:gd name="connsiteY4" fmla="*/ 9792 h 10000"/>
                <a:gd name="connsiteX5" fmla="*/ 5214 w 9619"/>
                <a:gd name="connsiteY5" fmla="*/ 9754 h 10000"/>
                <a:gd name="connsiteX6" fmla="*/ 5365 w 9619"/>
                <a:gd name="connsiteY6" fmla="*/ 9712 h 10000"/>
                <a:gd name="connsiteX7" fmla="*/ 5518 w 9619"/>
                <a:gd name="connsiteY7" fmla="*/ 9670 h 10000"/>
                <a:gd name="connsiteX8" fmla="*/ 5667 w 9619"/>
                <a:gd name="connsiteY8" fmla="*/ 9622 h 10000"/>
                <a:gd name="connsiteX9" fmla="*/ 5815 w 9619"/>
                <a:gd name="connsiteY9" fmla="*/ 9574 h 10000"/>
                <a:gd name="connsiteX10" fmla="*/ 5958 w 9619"/>
                <a:gd name="connsiteY10" fmla="*/ 9524 h 10000"/>
                <a:gd name="connsiteX11" fmla="*/ 6099 w 9619"/>
                <a:gd name="connsiteY11" fmla="*/ 9468 h 10000"/>
                <a:gd name="connsiteX12" fmla="*/ 6242 w 9619"/>
                <a:gd name="connsiteY12" fmla="*/ 9412 h 10000"/>
                <a:gd name="connsiteX13" fmla="*/ 6378 w 9619"/>
                <a:gd name="connsiteY13" fmla="*/ 9352 h 10000"/>
                <a:gd name="connsiteX14" fmla="*/ 6513 w 9619"/>
                <a:gd name="connsiteY14" fmla="*/ 9290 h 10000"/>
                <a:gd name="connsiteX15" fmla="*/ 6649 w 9619"/>
                <a:gd name="connsiteY15" fmla="*/ 9224 h 10000"/>
                <a:gd name="connsiteX16" fmla="*/ 6779 w 9619"/>
                <a:gd name="connsiteY16" fmla="*/ 9160 h 10000"/>
                <a:gd name="connsiteX17" fmla="*/ 6907 w 9619"/>
                <a:gd name="connsiteY17" fmla="*/ 9090 h 10000"/>
                <a:gd name="connsiteX18" fmla="*/ 7033 w 9619"/>
                <a:gd name="connsiteY18" fmla="*/ 9018 h 10000"/>
                <a:gd name="connsiteX19" fmla="*/ 7155 w 9619"/>
                <a:gd name="connsiteY19" fmla="*/ 8944 h 10000"/>
                <a:gd name="connsiteX20" fmla="*/ 7276 w 9619"/>
                <a:gd name="connsiteY20" fmla="*/ 8868 h 10000"/>
                <a:gd name="connsiteX21" fmla="*/ 7396 w 9619"/>
                <a:gd name="connsiteY21" fmla="*/ 8792 h 10000"/>
                <a:gd name="connsiteX22" fmla="*/ 7511 w 9619"/>
                <a:gd name="connsiteY22" fmla="*/ 8712 h 10000"/>
                <a:gd name="connsiteX23" fmla="*/ 7626 w 9619"/>
                <a:gd name="connsiteY23" fmla="*/ 8628 h 10000"/>
                <a:gd name="connsiteX24" fmla="*/ 7736 w 9619"/>
                <a:gd name="connsiteY24" fmla="*/ 8544 h 10000"/>
                <a:gd name="connsiteX25" fmla="*/ 7841 w 9619"/>
                <a:gd name="connsiteY25" fmla="*/ 8458 h 10000"/>
                <a:gd name="connsiteX26" fmla="*/ 7948 w 9619"/>
                <a:gd name="connsiteY26" fmla="*/ 8370 h 10000"/>
                <a:gd name="connsiteX27" fmla="*/ 8051 w 9619"/>
                <a:gd name="connsiteY27" fmla="*/ 8282 h 10000"/>
                <a:gd name="connsiteX28" fmla="*/ 8148 w 9619"/>
                <a:gd name="connsiteY28" fmla="*/ 8190 h 10000"/>
                <a:gd name="connsiteX29" fmla="*/ 8245 w 9619"/>
                <a:gd name="connsiteY29" fmla="*/ 8098 h 10000"/>
                <a:gd name="connsiteX30" fmla="*/ 8340 w 9619"/>
                <a:gd name="connsiteY30" fmla="*/ 8002 h 10000"/>
                <a:gd name="connsiteX31" fmla="*/ 8429 w 9619"/>
                <a:gd name="connsiteY31" fmla="*/ 7906 h 10000"/>
                <a:gd name="connsiteX32" fmla="*/ 8516 w 9619"/>
                <a:gd name="connsiteY32" fmla="*/ 7806 h 10000"/>
                <a:gd name="connsiteX33" fmla="*/ 8601 w 9619"/>
                <a:gd name="connsiteY33" fmla="*/ 7706 h 10000"/>
                <a:gd name="connsiteX34" fmla="*/ 8683 w 9619"/>
                <a:gd name="connsiteY34" fmla="*/ 7604 h 10000"/>
                <a:gd name="connsiteX35" fmla="*/ 8762 w 9619"/>
                <a:gd name="connsiteY35" fmla="*/ 7500 h 10000"/>
                <a:gd name="connsiteX36" fmla="*/ 8836 w 9619"/>
                <a:gd name="connsiteY36" fmla="*/ 7398 h 10000"/>
                <a:gd name="connsiteX37" fmla="*/ 8908 w 9619"/>
                <a:gd name="connsiteY37" fmla="*/ 7292 h 10000"/>
                <a:gd name="connsiteX38" fmla="*/ 8977 w 9619"/>
                <a:gd name="connsiteY38" fmla="*/ 7182 h 10000"/>
                <a:gd name="connsiteX39" fmla="*/ 9043 w 9619"/>
                <a:gd name="connsiteY39" fmla="*/ 7074 h 10000"/>
                <a:gd name="connsiteX40" fmla="*/ 9105 w 9619"/>
                <a:gd name="connsiteY40" fmla="*/ 6964 h 10000"/>
                <a:gd name="connsiteX41" fmla="*/ 9164 w 9619"/>
                <a:gd name="connsiteY41" fmla="*/ 6854 h 10000"/>
                <a:gd name="connsiteX42" fmla="*/ 9220 w 9619"/>
                <a:gd name="connsiteY42" fmla="*/ 6740 h 10000"/>
                <a:gd name="connsiteX43" fmla="*/ 9271 w 9619"/>
                <a:gd name="connsiteY43" fmla="*/ 6626 h 10000"/>
                <a:gd name="connsiteX44" fmla="*/ 9320 w 9619"/>
                <a:gd name="connsiteY44" fmla="*/ 6512 h 10000"/>
                <a:gd name="connsiteX45" fmla="*/ 9363 w 9619"/>
                <a:gd name="connsiteY45" fmla="*/ 6396 h 10000"/>
                <a:gd name="connsiteX46" fmla="*/ 9407 w 9619"/>
                <a:gd name="connsiteY46" fmla="*/ 6280 h 10000"/>
                <a:gd name="connsiteX47" fmla="*/ 9445 w 9619"/>
                <a:gd name="connsiteY47" fmla="*/ 6164 h 10000"/>
                <a:gd name="connsiteX48" fmla="*/ 9481 w 9619"/>
                <a:gd name="connsiteY48" fmla="*/ 6044 h 10000"/>
                <a:gd name="connsiteX49" fmla="*/ 9509 w 9619"/>
                <a:gd name="connsiteY49" fmla="*/ 5926 h 10000"/>
                <a:gd name="connsiteX50" fmla="*/ 9535 w 9619"/>
                <a:gd name="connsiteY50" fmla="*/ 5804 h 10000"/>
                <a:gd name="connsiteX51" fmla="*/ 9560 w 9619"/>
                <a:gd name="connsiteY51" fmla="*/ 5684 h 10000"/>
                <a:gd name="connsiteX52" fmla="*/ 9581 w 9619"/>
                <a:gd name="connsiteY52" fmla="*/ 5562 h 10000"/>
                <a:gd name="connsiteX53" fmla="*/ 9596 w 9619"/>
                <a:gd name="connsiteY53" fmla="*/ 5440 h 10000"/>
                <a:gd name="connsiteX54" fmla="*/ 9606 w 9619"/>
                <a:gd name="connsiteY54" fmla="*/ 5316 h 10000"/>
                <a:gd name="connsiteX55" fmla="*/ 9616 w 9619"/>
                <a:gd name="connsiteY55" fmla="*/ 5196 h 10000"/>
                <a:gd name="connsiteX56" fmla="*/ 9619 w 9619"/>
                <a:gd name="connsiteY56" fmla="*/ 5072 h 10000"/>
                <a:gd name="connsiteX57" fmla="*/ 9619 w 9619"/>
                <a:gd name="connsiteY57" fmla="*/ 4948 h 10000"/>
                <a:gd name="connsiteX58" fmla="*/ 9616 w 9619"/>
                <a:gd name="connsiteY58" fmla="*/ 4822 h 10000"/>
                <a:gd name="connsiteX59" fmla="*/ 9606 w 9619"/>
                <a:gd name="connsiteY59" fmla="*/ 4698 h 10000"/>
                <a:gd name="connsiteX60" fmla="*/ 9596 w 9619"/>
                <a:gd name="connsiteY60" fmla="*/ 4572 h 10000"/>
                <a:gd name="connsiteX61" fmla="*/ 9581 w 9619"/>
                <a:gd name="connsiteY61" fmla="*/ 4444 h 10000"/>
                <a:gd name="connsiteX62" fmla="*/ 9558 w 9619"/>
                <a:gd name="connsiteY62" fmla="*/ 4318 h 10000"/>
                <a:gd name="connsiteX63" fmla="*/ 9535 w 9619"/>
                <a:gd name="connsiteY63" fmla="*/ 4192 h 10000"/>
                <a:gd name="connsiteX64" fmla="*/ 9506 w 9619"/>
                <a:gd name="connsiteY64" fmla="*/ 4066 h 10000"/>
                <a:gd name="connsiteX65" fmla="*/ 9473 w 9619"/>
                <a:gd name="connsiteY65" fmla="*/ 3940 h 10000"/>
                <a:gd name="connsiteX66" fmla="*/ 9473 w 9619"/>
                <a:gd name="connsiteY66" fmla="*/ 3940 h 10000"/>
                <a:gd name="connsiteX67" fmla="*/ 9435 w 9619"/>
                <a:gd name="connsiteY67" fmla="*/ 3816 h 10000"/>
                <a:gd name="connsiteX68" fmla="*/ 9394 w 9619"/>
                <a:gd name="connsiteY68" fmla="*/ 3692 h 10000"/>
                <a:gd name="connsiteX69" fmla="*/ 9350 w 9619"/>
                <a:gd name="connsiteY69" fmla="*/ 3568 h 10000"/>
                <a:gd name="connsiteX70" fmla="*/ 9302 w 9619"/>
                <a:gd name="connsiteY70" fmla="*/ 3446 h 10000"/>
                <a:gd name="connsiteX71" fmla="*/ 9251 w 9619"/>
                <a:gd name="connsiteY71" fmla="*/ 3328 h 10000"/>
                <a:gd name="connsiteX72" fmla="*/ 9192 w 9619"/>
                <a:gd name="connsiteY72" fmla="*/ 3208 h 10000"/>
                <a:gd name="connsiteX73" fmla="*/ 9136 w 9619"/>
                <a:gd name="connsiteY73" fmla="*/ 3092 h 10000"/>
                <a:gd name="connsiteX74" fmla="*/ 9074 w 9619"/>
                <a:gd name="connsiteY74" fmla="*/ 2976 h 10000"/>
                <a:gd name="connsiteX75" fmla="*/ 9005 w 9619"/>
                <a:gd name="connsiteY75" fmla="*/ 2864 h 10000"/>
                <a:gd name="connsiteX76" fmla="*/ 8939 w 9619"/>
                <a:gd name="connsiteY76" fmla="*/ 2754 h 10000"/>
                <a:gd name="connsiteX77" fmla="*/ 8864 w 9619"/>
                <a:gd name="connsiteY77" fmla="*/ 2642 h 10000"/>
                <a:gd name="connsiteX78" fmla="*/ 8788 w 9619"/>
                <a:gd name="connsiteY78" fmla="*/ 2536 h 10000"/>
                <a:gd name="connsiteX79" fmla="*/ 8708 w 9619"/>
                <a:gd name="connsiteY79" fmla="*/ 2430 h 10000"/>
                <a:gd name="connsiteX80" fmla="*/ 8626 w 9619"/>
                <a:gd name="connsiteY80" fmla="*/ 2324 h 10000"/>
                <a:gd name="connsiteX81" fmla="*/ 8542 w 9619"/>
                <a:gd name="connsiteY81" fmla="*/ 2222 h 10000"/>
                <a:gd name="connsiteX82" fmla="*/ 8452 w 9619"/>
                <a:gd name="connsiteY82" fmla="*/ 2122 h 10000"/>
                <a:gd name="connsiteX83" fmla="*/ 8363 w 9619"/>
                <a:gd name="connsiteY83" fmla="*/ 2024 h 10000"/>
                <a:gd name="connsiteX84" fmla="*/ 8268 w 9619"/>
                <a:gd name="connsiteY84" fmla="*/ 1928 h 10000"/>
                <a:gd name="connsiteX85" fmla="*/ 8171 w 9619"/>
                <a:gd name="connsiteY85" fmla="*/ 1834 h 10000"/>
                <a:gd name="connsiteX86" fmla="*/ 8071 w 9619"/>
                <a:gd name="connsiteY86" fmla="*/ 1740 h 10000"/>
                <a:gd name="connsiteX87" fmla="*/ 7972 w 9619"/>
                <a:gd name="connsiteY87" fmla="*/ 1648 h 10000"/>
                <a:gd name="connsiteX88" fmla="*/ 7864 w 9619"/>
                <a:gd name="connsiteY88" fmla="*/ 1560 h 10000"/>
                <a:gd name="connsiteX89" fmla="*/ 7757 w 9619"/>
                <a:gd name="connsiteY89" fmla="*/ 1474 h 10000"/>
                <a:gd name="connsiteX90" fmla="*/ 7647 w 9619"/>
                <a:gd name="connsiteY90" fmla="*/ 1392 h 10000"/>
                <a:gd name="connsiteX91" fmla="*/ 7534 w 9619"/>
                <a:gd name="connsiteY91" fmla="*/ 1308 h 10000"/>
                <a:gd name="connsiteX92" fmla="*/ 7422 w 9619"/>
                <a:gd name="connsiteY92" fmla="*/ 1226 h 10000"/>
                <a:gd name="connsiteX93" fmla="*/ 7301 w 9619"/>
                <a:gd name="connsiteY93" fmla="*/ 1150 h 10000"/>
                <a:gd name="connsiteX94" fmla="*/ 7184 w 9619"/>
                <a:gd name="connsiteY94" fmla="*/ 1076 h 10000"/>
                <a:gd name="connsiteX95" fmla="*/ 7063 w 9619"/>
                <a:gd name="connsiteY95" fmla="*/ 1002 h 10000"/>
                <a:gd name="connsiteX96" fmla="*/ 6938 w 9619"/>
                <a:gd name="connsiteY96" fmla="*/ 932 h 10000"/>
                <a:gd name="connsiteX97" fmla="*/ 6810 w 9619"/>
                <a:gd name="connsiteY97" fmla="*/ 862 h 10000"/>
                <a:gd name="connsiteX98" fmla="*/ 6685 w 9619"/>
                <a:gd name="connsiteY98" fmla="*/ 798 h 10000"/>
                <a:gd name="connsiteX99" fmla="*/ 6554 w 9619"/>
                <a:gd name="connsiteY99" fmla="*/ 734 h 10000"/>
                <a:gd name="connsiteX100" fmla="*/ 6424 w 9619"/>
                <a:gd name="connsiteY100" fmla="*/ 670 h 10000"/>
                <a:gd name="connsiteX101" fmla="*/ 6288 w 9619"/>
                <a:gd name="connsiteY101" fmla="*/ 612 h 10000"/>
                <a:gd name="connsiteX102" fmla="*/ 6150 w 9619"/>
                <a:gd name="connsiteY102" fmla="*/ 556 h 10000"/>
                <a:gd name="connsiteX103" fmla="*/ 6014 w 9619"/>
                <a:gd name="connsiteY103" fmla="*/ 504 h 10000"/>
                <a:gd name="connsiteX104" fmla="*/ 5876 w 9619"/>
                <a:gd name="connsiteY104" fmla="*/ 450 h 10000"/>
                <a:gd name="connsiteX105" fmla="*/ 5736 w 9619"/>
                <a:gd name="connsiteY105" fmla="*/ 402 h 10000"/>
                <a:gd name="connsiteX106" fmla="*/ 5595 w 9619"/>
                <a:gd name="connsiteY106" fmla="*/ 358 h 10000"/>
                <a:gd name="connsiteX107" fmla="*/ 5449 w 9619"/>
                <a:gd name="connsiteY107" fmla="*/ 314 h 10000"/>
                <a:gd name="connsiteX108" fmla="*/ 5303 w 9619"/>
                <a:gd name="connsiteY108" fmla="*/ 274 h 10000"/>
                <a:gd name="connsiteX109" fmla="*/ 5160 w 9619"/>
                <a:gd name="connsiteY109" fmla="*/ 236 h 10000"/>
                <a:gd name="connsiteX110" fmla="*/ 5009 w 9619"/>
                <a:gd name="connsiteY110" fmla="*/ 200 h 10000"/>
                <a:gd name="connsiteX111" fmla="*/ 4861 w 9619"/>
                <a:gd name="connsiteY111" fmla="*/ 168 h 10000"/>
                <a:gd name="connsiteX112" fmla="*/ 4712 w 9619"/>
                <a:gd name="connsiteY112" fmla="*/ 138 h 10000"/>
                <a:gd name="connsiteX113" fmla="*/ 4561 w 9619"/>
                <a:gd name="connsiteY113" fmla="*/ 110 h 10000"/>
                <a:gd name="connsiteX114" fmla="*/ 4408 w 9619"/>
                <a:gd name="connsiteY114" fmla="*/ 86 h 10000"/>
                <a:gd name="connsiteX115" fmla="*/ 4254 w 9619"/>
                <a:gd name="connsiteY115" fmla="*/ 66 h 10000"/>
                <a:gd name="connsiteX116" fmla="*/ 4098 w 9619"/>
                <a:gd name="connsiteY116" fmla="*/ 46 h 10000"/>
                <a:gd name="connsiteX117" fmla="*/ 3945 w 9619"/>
                <a:gd name="connsiteY117" fmla="*/ 32 h 10000"/>
                <a:gd name="connsiteX118" fmla="*/ 3789 w 9619"/>
                <a:gd name="connsiteY118" fmla="*/ 22 h 10000"/>
                <a:gd name="connsiteX119" fmla="*/ 3630 w 9619"/>
                <a:gd name="connsiteY119" fmla="*/ 10 h 10000"/>
                <a:gd name="connsiteX120" fmla="*/ 3472 w 9619"/>
                <a:gd name="connsiteY120" fmla="*/ 4 h 10000"/>
                <a:gd name="connsiteX121" fmla="*/ 3313 w 9619"/>
                <a:gd name="connsiteY121" fmla="*/ 0 h 10000"/>
                <a:gd name="connsiteX122" fmla="*/ 3154 w 9619"/>
                <a:gd name="connsiteY122" fmla="*/ 0 h 10000"/>
                <a:gd name="connsiteX123" fmla="*/ 2996 w 9619"/>
                <a:gd name="connsiteY123" fmla="*/ 4 h 10000"/>
                <a:gd name="connsiteX124" fmla="*/ 2835 w 9619"/>
                <a:gd name="connsiteY124" fmla="*/ 10 h 10000"/>
                <a:gd name="connsiteX125" fmla="*/ 2676 w 9619"/>
                <a:gd name="connsiteY125" fmla="*/ 22 h 10000"/>
                <a:gd name="connsiteX126" fmla="*/ 2515 w 9619"/>
                <a:gd name="connsiteY126" fmla="*/ 34 h 10000"/>
                <a:gd name="connsiteX127" fmla="*/ 2354 w 9619"/>
                <a:gd name="connsiteY127" fmla="*/ 48 h 10000"/>
                <a:gd name="connsiteX128" fmla="*/ 2193 w 9619"/>
                <a:gd name="connsiteY128" fmla="*/ 66 h 10000"/>
                <a:gd name="connsiteX129" fmla="*/ 2031 w 9619"/>
                <a:gd name="connsiteY129" fmla="*/ 90 h 10000"/>
                <a:gd name="connsiteX130" fmla="*/ 1868 w 9619"/>
                <a:gd name="connsiteY130" fmla="*/ 114 h 10000"/>
                <a:gd name="connsiteX131" fmla="*/ 1868 w 9619"/>
                <a:gd name="connsiteY131" fmla="*/ 114 h 10000"/>
                <a:gd name="connsiteX132" fmla="*/ 1714 w 9619"/>
                <a:gd name="connsiteY132" fmla="*/ 142 h 10000"/>
                <a:gd name="connsiteX133" fmla="*/ 1561 w 9619"/>
                <a:gd name="connsiteY133" fmla="*/ 176 h 10000"/>
                <a:gd name="connsiteX134" fmla="*/ 1410 w 9619"/>
                <a:gd name="connsiteY134" fmla="*/ 208 h 10000"/>
                <a:gd name="connsiteX135" fmla="*/ 1261 w 9619"/>
                <a:gd name="connsiteY135" fmla="*/ 244 h 10000"/>
                <a:gd name="connsiteX136" fmla="*/ 1113 w 9619"/>
                <a:gd name="connsiteY136" fmla="*/ 282 h 10000"/>
                <a:gd name="connsiteX137" fmla="*/ 967 w 9619"/>
                <a:gd name="connsiteY137" fmla="*/ 324 h 10000"/>
                <a:gd name="connsiteX138" fmla="*/ 821 w 9619"/>
                <a:gd name="connsiteY138" fmla="*/ 368 h 10000"/>
                <a:gd name="connsiteX139" fmla="*/ 678 w 9619"/>
                <a:gd name="connsiteY139" fmla="*/ 416 h 10000"/>
                <a:gd name="connsiteX140" fmla="*/ 540 w 9619"/>
                <a:gd name="connsiteY140" fmla="*/ 464 h 10000"/>
                <a:gd name="connsiteX141" fmla="*/ 402 w 9619"/>
                <a:gd name="connsiteY141" fmla="*/ 514 h 10000"/>
                <a:gd name="connsiteX142" fmla="*/ 266 w 9619"/>
                <a:gd name="connsiteY142" fmla="*/ 570 h 10000"/>
                <a:gd name="connsiteX143" fmla="*/ 133 w 9619"/>
                <a:gd name="connsiteY143" fmla="*/ 626 h 10000"/>
                <a:gd name="connsiteX144" fmla="*/ 0 w 9619"/>
                <a:gd name="connsiteY144" fmla="*/ 684 h 10000"/>
                <a:gd name="connsiteX145" fmla="*/ 1031 w 9619"/>
                <a:gd name="connsiteY145" fmla="*/ 9698 h 10000"/>
                <a:gd name="connsiteX146" fmla="*/ 1180 w 9619"/>
                <a:gd name="connsiteY146" fmla="*/ 9738 h 10000"/>
                <a:gd name="connsiteX147" fmla="*/ 1333 w 9619"/>
                <a:gd name="connsiteY147" fmla="*/ 9778 h 10000"/>
                <a:gd name="connsiteX148" fmla="*/ 1486 w 9619"/>
                <a:gd name="connsiteY148" fmla="*/ 9814 h 10000"/>
                <a:gd name="connsiteX149" fmla="*/ 1643 w 9619"/>
                <a:gd name="connsiteY149" fmla="*/ 9846 h 10000"/>
                <a:gd name="connsiteX150" fmla="*/ 1799 w 9619"/>
                <a:gd name="connsiteY150" fmla="*/ 9874 h 10000"/>
                <a:gd name="connsiteX151" fmla="*/ 1955 w 9619"/>
                <a:gd name="connsiteY151" fmla="*/ 9902 h 10000"/>
                <a:gd name="connsiteX152" fmla="*/ 2113 w 9619"/>
                <a:gd name="connsiteY152" fmla="*/ 9926 h 10000"/>
                <a:gd name="connsiteX153" fmla="*/ 2272 w 9619"/>
                <a:gd name="connsiteY153" fmla="*/ 9946 h 10000"/>
                <a:gd name="connsiteX154" fmla="*/ 2433 w 9619"/>
                <a:gd name="connsiteY154" fmla="*/ 9962 h 10000"/>
                <a:gd name="connsiteX155" fmla="*/ 2597 w 9619"/>
                <a:gd name="connsiteY155" fmla="*/ 9978 h 10000"/>
                <a:gd name="connsiteX156" fmla="*/ 2758 w 9619"/>
                <a:gd name="connsiteY156" fmla="*/ 9988 h 10000"/>
                <a:gd name="connsiteX157" fmla="*/ 2922 w 9619"/>
                <a:gd name="connsiteY157" fmla="*/ 9996 h 10000"/>
                <a:gd name="connsiteX158" fmla="*/ 3083 w 9619"/>
                <a:gd name="connsiteY158" fmla="*/ 10000 h 10000"/>
                <a:gd name="connsiteX159" fmla="*/ 3249 w 9619"/>
                <a:gd name="connsiteY159" fmla="*/ 10000 h 10000"/>
                <a:gd name="connsiteX160" fmla="*/ 3413 w 9619"/>
                <a:gd name="connsiteY160" fmla="*/ 9998 h 10000"/>
                <a:gd name="connsiteX161" fmla="*/ 3582 w 9619"/>
                <a:gd name="connsiteY161" fmla="*/ 9994 h 10000"/>
                <a:gd name="connsiteX162" fmla="*/ 3745 w 9619"/>
                <a:gd name="connsiteY162" fmla="*/ 9986 h 10000"/>
                <a:gd name="connsiteX163" fmla="*/ 3914 w 9619"/>
                <a:gd name="connsiteY163" fmla="*/ 9974 h 10000"/>
                <a:gd name="connsiteX164" fmla="*/ 4080 w 9619"/>
                <a:gd name="connsiteY164" fmla="*/ 9956 h 10000"/>
                <a:gd name="connsiteX165" fmla="*/ 4247 w 9619"/>
                <a:gd name="connsiteY165" fmla="*/ 9938 h 10000"/>
                <a:gd name="connsiteX166" fmla="*/ 4416 w 9619"/>
                <a:gd name="connsiteY166" fmla="*/ 9912 h 10000"/>
                <a:gd name="connsiteX167" fmla="*/ 4584 w 9619"/>
                <a:gd name="connsiteY167" fmla="*/ 9888 h 10000"/>
                <a:gd name="connsiteX168" fmla="*/ 4584 w 9619"/>
                <a:gd name="connsiteY168"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705 w 10000"/>
                <a:gd name="connsiteY138" fmla="*/ 416 h 10000"/>
                <a:gd name="connsiteX139" fmla="*/ 561 w 10000"/>
                <a:gd name="connsiteY139" fmla="*/ 464 h 10000"/>
                <a:gd name="connsiteX140" fmla="*/ 418 w 10000"/>
                <a:gd name="connsiteY140" fmla="*/ 514 h 10000"/>
                <a:gd name="connsiteX141" fmla="*/ 277 w 10000"/>
                <a:gd name="connsiteY141" fmla="*/ 570 h 10000"/>
                <a:gd name="connsiteX142" fmla="*/ 138 w 10000"/>
                <a:gd name="connsiteY142" fmla="*/ 626 h 10000"/>
                <a:gd name="connsiteX143" fmla="*/ 0 w 10000"/>
                <a:gd name="connsiteY143" fmla="*/ 684 h 10000"/>
                <a:gd name="connsiteX144" fmla="*/ 1072 w 10000"/>
                <a:gd name="connsiteY144" fmla="*/ 9698 h 10000"/>
                <a:gd name="connsiteX145" fmla="*/ 1227 w 10000"/>
                <a:gd name="connsiteY145" fmla="*/ 9738 h 10000"/>
                <a:gd name="connsiteX146" fmla="*/ 1386 w 10000"/>
                <a:gd name="connsiteY146" fmla="*/ 9778 h 10000"/>
                <a:gd name="connsiteX147" fmla="*/ 1545 w 10000"/>
                <a:gd name="connsiteY147" fmla="*/ 9814 h 10000"/>
                <a:gd name="connsiteX148" fmla="*/ 1708 w 10000"/>
                <a:gd name="connsiteY148" fmla="*/ 9846 h 10000"/>
                <a:gd name="connsiteX149" fmla="*/ 1870 w 10000"/>
                <a:gd name="connsiteY149" fmla="*/ 9874 h 10000"/>
                <a:gd name="connsiteX150" fmla="*/ 2032 w 10000"/>
                <a:gd name="connsiteY150" fmla="*/ 9902 h 10000"/>
                <a:gd name="connsiteX151" fmla="*/ 2197 w 10000"/>
                <a:gd name="connsiteY151" fmla="*/ 9926 h 10000"/>
                <a:gd name="connsiteX152" fmla="*/ 2362 w 10000"/>
                <a:gd name="connsiteY152" fmla="*/ 9946 h 10000"/>
                <a:gd name="connsiteX153" fmla="*/ 2529 w 10000"/>
                <a:gd name="connsiteY153" fmla="*/ 9962 h 10000"/>
                <a:gd name="connsiteX154" fmla="*/ 2700 w 10000"/>
                <a:gd name="connsiteY154" fmla="*/ 9978 h 10000"/>
                <a:gd name="connsiteX155" fmla="*/ 2867 w 10000"/>
                <a:gd name="connsiteY155" fmla="*/ 9988 h 10000"/>
                <a:gd name="connsiteX156" fmla="*/ 3038 w 10000"/>
                <a:gd name="connsiteY156" fmla="*/ 9996 h 10000"/>
                <a:gd name="connsiteX157" fmla="*/ 3205 w 10000"/>
                <a:gd name="connsiteY157" fmla="*/ 10000 h 10000"/>
                <a:gd name="connsiteX158" fmla="*/ 3378 w 10000"/>
                <a:gd name="connsiteY158" fmla="*/ 10000 h 10000"/>
                <a:gd name="connsiteX159" fmla="*/ 3548 w 10000"/>
                <a:gd name="connsiteY159" fmla="*/ 9998 h 10000"/>
                <a:gd name="connsiteX160" fmla="*/ 3724 w 10000"/>
                <a:gd name="connsiteY160" fmla="*/ 9994 h 10000"/>
                <a:gd name="connsiteX161" fmla="*/ 3893 w 10000"/>
                <a:gd name="connsiteY161" fmla="*/ 9986 h 10000"/>
                <a:gd name="connsiteX162" fmla="*/ 4069 w 10000"/>
                <a:gd name="connsiteY162" fmla="*/ 9974 h 10000"/>
                <a:gd name="connsiteX163" fmla="*/ 4242 w 10000"/>
                <a:gd name="connsiteY163" fmla="*/ 9956 h 10000"/>
                <a:gd name="connsiteX164" fmla="*/ 4415 w 10000"/>
                <a:gd name="connsiteY164" fmla="*/ 9938 h 10000"/>
                <a:gd name="connsiteX165" fmla="*/ 4591 w 10000"/>
                <a:gd name="connsiteY165" fmla="*/ 9912 h 10000"/>
                <a:gd name="connsiteX166" fmla="*/ 4766 w 10000"/>
                <a:gd name="connsiteY166" fmla="*/ 9888 h 10000"/>
                <a:gd name="connsiteX167" fmla="*/ 4766 w 10000"/>
                <a:gd name="connsiteY167"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561 w 10000"/>
                <a:gd name="connsiteY138" fmla="*/ 464 h 10000"/>
                <a:gd name="connsiteX139" fmla="*/ 418 w 10000"/>
                <a:gd name="connsiteY139" fmla="*/ 514 h 10000"/>
                <a:gd name="connsiteX140" fmla="*/ 277 w 10000"/>
                <a:gd name="connsiteY140" fmla="*/ 570 h 10000"/>
                <a:gd name="connsiteX141" fmla="*/ 138 w 10000"/>
                <a:gd name="connsiteY141" fmla="*/ 626 h 10000"/>
                <a:gd name="connsiteX142" fmla="*/ 0 w 10000"/>
                <a:gd name="connsiteY142" fmla="*/ 684 h 10000"/>
                <a:gd name="connsiteX143" fmla="*/ 1072 w 10000"/>
                <a:gd name="connsiteY143" fmla="*/ 9698 h 10000"/>
                <a:gd name="connsiteX144" fmla="*/ 1227 w 10000"/>
                <a:gd name="connsiteY144" fmla="*/ 9738 h 10000"/>
                <a:gd name="connsiteX145" fmla="*/ 1386 w 10000"/>
                <a:gd name="connsiteY145" fmla="*/ 9778 h 10000"/>
                <a:gd name="connsiteX146" fmla="*/ 1545 w 10000"/>
                <a:gd name="connsiteY146" fmla="*/ 9814 h 10000"/>
                <a:gd name="connsiteX147" fmla="*/ 1708 w 10000"/>
                <a:gd name="connsiteY147" fmla="*/ 9846 h 10000"/>
                <a:gd name="connsiteX148" fmla="*/ 1870 w 10000"/>
                <a:gd name="connsiteY148" fmla="*/ 9874 h 10000"/>
                <a:gd name="connsiteX149" fmla="*/ 2032 w 10000"/>
                <a:gd name="connsiteY149" fmla="*/ 9902 h 10000"/>
                <a:gd name="connsiteX150" fmla="*/ 2197 w 10000"/>
                <a:gd name="connsiteY150" fmla="*/ 9926 h 10000"/>
                <a:gd name="connsiteX151" fmla="*/ 2362 w 10000"/>
                <a:gd name="connsiteY151" fmla="*/ 9946 h 10000"/>
                <a:gd name="connsiteX152" fmla="*/ 2529 w 10000"/>
                <a:gd name="connsiteY152" fmla="*/ 9962 h 10000"/>
                <a:gd name="connsiteX153" fmla="*/ 2700 w 10000"/>
                <a:gd name="connsiteY153" fmla="*/ 9978 h 10000"/>
                <a:gd name="connsiteX154" fmla="*/ 2867 w 10000"/>
                <a:gd name="connsiteY154" fmla="*/ 9988 h 10000"/>
                <a:gd name="connsiteX155" fmla="*/ 3038 w 10000"/>
                <a:gd name="connsiteY155" fmla="*/ 9996 h 10000"/>
                <a:gd name="connsiteX156" fmla="*/ 3205 w 10000"/>
                <a:gd name="connsiteY156" fmla="*/ 10000 h 10000"/>
                <a:gd name="connsiteX157" fmla="*/ 3378 w 10000"/>
                <a:gd name="connsiteY157" fmla="*/ 10000 h 10000"/>
                <a:gd name="connsiteX158" fmla="*/ 3548 w 10000"/>
                <a:gd name="connsiteY158" fmla="*/ 9998 h 10000"/>
                <a:gd name="connsiteX159" fmla="*/ 3724 w 10000"/>
                <a:gd name="connsiteY159" fmla="*/ 9994 h 10000"/>
                <a:gd name="connsiteX160" fmla="*/ 3893 w 10000"/>
                <a:gd name="connsiteY160" fmla="*/ 9986 h 10000"/>
                <a:gd name="connsiteX161" fmla="*/ 4069 w 10000"/>
                <a:gd name="connsiteY161" fmla="*/ 9974 h 10000"/>
                <a:gd name="connsiteX162" fmla="*/ 4242 w 10000"/>
                <a:gd name="connsiteY162" fmla="*/ 9956 h 10000"/>
                <a:gd name="connsiteX163" fmla="*/ 4415 w 10000"/>
                <a:gd name="connsiteY163" fmla="*/ 9938 h 10000"/>
                <a:gd name="connsiteX164" fmla="*/ 4591 w 10000"/>
                <a:gd name="connsiteY164" fmla="*/ 9912 h 10000"/>
                <a:gd name="connsiteX165" fmla="*/ 4766 w 10000"/>
                <a:gd name="connsiteY165" fmla="*/ 9888 h 10000"/>
                <a:gd name="connsiteX166" fmla="*/ 4766 w 10000"/>
                <a:gd name="connsiteY166"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418 w 10000"/>
                <a:gd name="connsiteY138" fmla="*/ 514 h 10000"/>
                <a:gd name="connsiteX139" fmla="*/ 277 w 10000"/>
                <a:gd name="connsiteY139" fmla="*/ 570 h 10000"/>
                <a:gd name="connsiteX140" fmla="*/ 138 w 10000"/>
                <a:gd name="connsiteY140" fmla="*/ 626 h 10000"/>
                <a:gd name="connsiteX141" fmla="*/ 0 w 10000"/>
                <a:gd name="connsiteY141" fmla="*/ 684 h 10000"/>
                <a:gd name="connsiteX142" fmla="*/ 1072 w 10000"/>
                <a:gd name="connsiteY142" fmla="*/ 9698 h 10000"/>
                <a:gd name="connsiteX143" fmla="*/ 1227 w 10000"/>
                <a:gd name="connsiteY143" fmla="*/ 9738 h 10000"/>
                <a:gd name="connsiteX144" fmla="*/ 1386 w 10000"/>
                <a:gd name="connsiteY144" fmla="*/ 9778 h 10000"/>
                <a:gd name="connsiteX145" fmla="*/ 1545 w 10000"/>
                <a:gd name="connsiteY145" fmla="*/ 9814 h 10000"/>
                <a:gd name="connsiteX146" fmla="*/ 1708 w 10000"/>
                <a:gd name="connsiteY146" fmla="*/ 9846 h 10000"/>
                <a:gd name="connsiteX147" fmla="*/ 1870 w 10000"/>
                <a:gd name="connsiteY147" fmla="*/ 9874 h 10000"/>
                <a:gd name="connsiteX148" fmla="*/ 2032 w 10000"/>
                <a:gd name="connsiteY148" fmla="*/ 9902 h 10000"/>
                <a:gd name="connsiteX149" fmla="*/ 2197 w 10000"/>
                <a:gd name="connsiteY149" fmla="*/ 9926 h 10000"/>
                <a:gd name="connsiteX150" fmla="*/ 2362 w 10000"/>
                <a:gd name="connsiteY150" fmla="*/ 9946 h 10000"/>
                <a:gd name="connsiteX151" fmla="*/ 2529 w 10000"/>
                <a:gd name="connsiteY151" fmla="*/ 9962 h 10000"/>
                <a:gd name="connsiteX152" fmla="*/ 2700 w 10000"/>
                <a:gd name="connsiteY152" fmla="*/ 9978 h 10000"/>
                <a:gd name="connsiteX153" fmla="*/ 2867 w 10000"/>
                <a:gd name="connsiteY153" fmla="*/ 9988 h 10000"/>
                <a:gd name="connsiteX154" fmla="*/ 3038 w 10000"/>
                <a:gd name="connsiteY154" fmla="*/ 9996 h 10000"/>
                <a:gd name="connsiteX155" fmla="*/ 3205 w 10000"/>
                <a:gd name="connsiteY155" fmla="*/ 10000 h 10000"/>
                <a:gd name="connsiteX156" fmla="*/ 3378 w 10000"/>
                <a:gd name="connsiteY156" fmla="*/ 10000 h 10000"/>
                <a:gd name="connsiteX157" fmla="*/ 3548 w 10000"/>
                <a:gd name="connsiteY157" fmla="*/ 9998 h 10000"/>
                <a:gd name="connsiteX158" fmla="*/ 3724 w 10000"/>
                <a:gd name="connsiteY158" fmla="*/ 9994 h 10000"/>
                <a:gd name="connsiteX159" fmla="*/ 3893 w 10000"/>
                <a:gd name="connsiteY159" fmla="*/ 9986 h 10000"/>
                <a:gd name="connsiteX160" fmla="*/ 4069 w 10000"/>
                <a:gd name="connsiteY160" fmla="*/ 9974 h 10000"/>
                <a:gd name="connsiteX161" fmla="*/ 4242 w 10000"/>
                <a:gd name="connsiteY161" fmla="*/ 9956 h 10000"/>
                <a:gd name="connsiteX162" fmla="*/ 4415 w 10000"/>
                <a:gd name="connsiteY162" fmla="*/ 9938 h 10000"/>
                <a:gd name="connsiteX163" fmla="*/ 4591 w 10000"/>
                <a:gd name="connsiteY163" fmla="*/ 9912 h 10000"/>
                <a:gd name="connsiteX164" fmla="*/ 4766 w 10000"/>
                <a:gd name="connsiteY164" fmla="*/ 9888 h 10000"/>
                <a:gd name="connsiteX165" fmla="*/ 4766 w 10000"/>
                <a:gd name="connsiteY165"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277 w 10000"/>
                <a:gd name="connsiteY138" fmla="*/ 570 h 10000"/>
                <a:gd name="connsiteX139" fmla="*/ 138 w 10000"/>
                <a:gd name="connsiteY139" fmla="*/ 626 h 10000"/>
                <a:gd name="connsiteX140" fmla="*/ 0 w 10000"/>
                <a:gd name="connsiteY140" fmla="*/ 684 h 10000"/>
                <a:gd name="connsiteX141" fmla="*/ 1072 w 10000"/>
                <a:gd name="connsiteY141" fmla="*/ 9698 h 10000"/>
                <a:gd name="connsiteX142" fmla="*/ 1227 w 10000"/>
                <a:gd name="connsiteY142" fmla="*/ 9738 h 10000"/>
                <a:gd name="connsiteX143" fmla="*/ 1386 w 10000"/>
                <a:gd name="connsiteY143" fmla="*/ 9778 h 10000"/>
                <a:gd name="connsiteX144" fmla="*/ 1545 w 10000"/>
                <a:gd name="connsiteY144" fmla="*/ 9814 h 10000"/>
                <a:gd name="connsiteX145" fmla="*/ 1708 w 10000"/>
                <a:gd name="connsiteY145" fmla="*/ 9846 h 10000"/>
                <a:gd name="connsiteX146" fmla="*/ 1870 w 10000"/>
                <a:gd name="connsiteY146" fmla="*/ 9874 h 10000"/>
                <a:gd name="connsiteX147" fmla="*/ 2032 w 10000"/>
                <a:gd name="connsiteY147" fmla="*/ 9902 h 10000"/>
                <a:gd name="connsiteX148" fmla="*/ 2197 w 10000"/>
                <a:gd name="connsiteY148" fmla="*/ 9926 h 10000"/>
                <a:gd name="connsiteX149" fmla="*/ 2362 w 10000"/>
                <a:gd name="connsiteY149" fmla="*/ 9946 h 10000"/>
                <a:gd name="connsiteX150" fmla="*/ 2529 w 10000"/>
                <a:gd name="connsiteY150" fmla="*/ 9962 h 10000"/>
                <a:gd name="connsiteX151" fmla="*/ 2700 w 10000"/>
                <a:gd name="connsiteY151" fmla="*/ 9978 h 10000"/>
                <a:gd name="connsiteX152" fmla="*/ 2867 w 10000"/>
                <a:gd name="connsiteY152" fmla="*/ 9988 h 10000"/>
                <a:gd name="connsiteX153" fmla="*/ 3038 w 10000"/>
                <a:gd name="connsiteY153" fmla="*/ 9996 h 10000"/>
                <a:gd name="connsiteX154" fmla="*/ 3205 w 10000"/>
                <a:gd name="connsiteY154" fmla="*/ 10000 h 10000"/>
                <a:gd name="connsiteX155" fmla="*/ 3378 w 10000"/>
                <a:gd name="connsiteY155" fmla="*/ 10000 h 10000"/>
                <a:gd name="connsiteX156" fmla="*/ 3548 w 10000"/>
                <a:gd name="connsiteY156" fmla="*/ 9998 h 10000"/>
                <a:gd name="connsiteX157" fmla="*/ 3724 w 10000"/>
                <a:gd name="connsiteY157" fmla="*/ 9994 h 10000"/>
                <a:gd name="connsiteX158" fmla="*/ 3893 w 10000"/>
                <a:gd name="connsiteY158" fmla="*/ 9986 h 10000"/>
                <a:gd name="connsiteX159" fmla="*/ 4069 w 10000"/>
                <a:gd name="connsiteY159" fmla="*/ 9974 h 10000"/>
                <a:gd name="connsiteX160" fmla="*/ 4242 w 10000"/>
                <a:gd name="connsiteY160" fmla="*/ 9956 h 10000"/>
                <a:gd name="connsiteX161" fmla="*/ 4415 w 10000"/>
                <a:gd name="connsiteY161" fmla="*/ 9938 h 10000"/>
                <a:gd name="connsiteX162" fmla="*/ 4591 w 10000"/>
                <a:gd name="connsiteY162" fmla="*/ 9912 h 10000"/>
                <a:gd name="connsiteX163" fmla="*/ 4766 w 10000"/>
                <a:gd name="connsiteY163" fmla="*/ 9888 h 10000"/>
                <a:gd name="connsiteX164" fmla="*/ 4766 w 10000"/>
                <a:gd name="connsiteY164"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138 w 10000"/>
                <a:gd name="connsiteY138" fmla="*/ 626 h 10000"/>
                <a:gd name="connsiteX139" fmla="*/ 0 w 10000"/>
                <a:gd name="connsiteY139" fmla="*/ 684 h 10000"/>
                <a:gd name="connsiteX140" fmla="*/ 1072 w 10000"/>
                <a:gd name="connsiteY140" fmla="*/ 9698 h 10000"/>
                <a:gd name="connsiteX141" fmla="*/ 1227 w 10000"/>
                <a:gd name="connsiteY141" fmla="*/ 9738 h 10000"/>
                <a:gd name="connsiteX142" fmla="*/ 1386 w 10000"/>
                <a:gd name="connsiteY142" fmla="*/ 9778 h 10000"/>
                <a:gd name="connsiteX143" fmla="*/ 1545 w 10000"/>
                <a:gd name="connsiteY143" fmla="*/ 9814 h 10000"/>
                <a:gd name="connsiteX144" fmla="*/ 1708 w 10000"/>
                <a:gd name="connsiteY144" fmla="*/ 9846 h 10000"/>
                <a:gd name="connsiteX145" fmla="*/ 1870 w 10000"/>
                <a:gd name="connsiteY145" fmla="*/ 9874 h 10000"/>
                <a:gd name="connsiteX146" fmla="*/ 2032 w 10000"/>
                <a:gd name="connsiteY146" fmla="*/ 9902 h 10000"/>
                <a:gd name="connsiteX147" fmla="*/ 2197 w 10000"/>
                <a:gd name="connsiteY147" fmla="*/ 9926 h 10000"/>
                <a:gd name="connsiteX148" fmla="*/ 2362 w 10000"/>
                <a:gd name="connsiteY148" fmla="*/ 9946 h 10000"/>
                <a:gd name="connsiteX149" fmla="*/ 2529 w 10000"/>
                <a:gd name="connsiteY149" fmla="*/ 9962 h 10000"/>
                <a:gd name="connsiteX150" fmla="*/ 2700 w 10000"/>
                <a:gd name="connsiteY150" fmla="*/ 9978 h 10000"/>
                <a:gd name="connsiteX151" fmla="*/ 2867 w 10000"/>
                <a:gd name="connsiteY151" fmla="*/ 9988 h 10000"/>
                <a:gd name="connsiteX152" fmla="*/ 3038 w 10000"/>
                <a:gd name="connsiteY152" fmla="*/ 9996 h 10000"/>
                <a:gd name="connsiteX153" fmla="*/ 3205 w 10000"/>
                <a:gd name="connsiteY153" fmla="*/ 10000 h 10000"/>
                <a:gd name="connsiteX154" fmla="*/ 3378 w 10000"/>
                <a:gd name="connsiteY154" fmla="*/ 10000 h 10000"/>
                <a:gd name="connsiteX155" fmla="*/ 3548 w 10000"/>
                <a:gd name="connsiteY155" fmla="*/ 9998 h 10000"/>
                <a:gd name="connsiteX156" fmla="*/ 3724 w 10000"/>
                <a:gd name="connsiteY156" fmla="*/ 9994 h 10000"/>
                <a:gd name="connsiteX157" fmla="*/ 3893 w 10000"/>
                <a:gd name="connsiteY157" fmla="*/ 9986 h 10000"/>
                <a:gd name="connsiteX158" fmla="*/ 4069 w 10000"/>
                <a:gd name="connsiteY158" fmla="*/ 9974 h 10000"/>
                <a:gd name="connsiteX159" fmla="*/ 4242 w 10000"/>
                <a:gd name="connsiteY159" fmla="*/ 9956 h 10000"/>
                <a:gd name="connsiteX160" fmla="*/ 4415 w 10000"/>
                <a:gd name="connsiteY160" fmla="*/ 9938 h 10000"/>
                <a:gd name="connsiteX161" fmla="*/ 4591 w 10000"/>
                <a:gd name="connsiteY161" fmla="*/ 9912 h 10000"/>
                <a:gd name="connsiteX162" fmla="*/ 4766 w 10000"/>
                <a:gd name="connsiteY162" fmla="*/ 9888 h 10000"/>
                <a:gd name="connsiteX163" fmla="*/ 4766 w 10000"/>
                <a:gd name="connsiteY163"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0 w 10000"/>
                <a:gd name="connsiteY138" fmla="*/ 684 h 10000"/>
                <a:gd name="connsiteX139" fmla="*/ 1072 w 10000"/>
                <a:gd name="connsiteY139" fmla="*/ 9698 h 10000"/>
                <a:gd name="connsiteX140" fmla="*/ 1227 w 10000"/>
                <a:gd name="connsiteY140" fmla="*/ 9738 h 10000"/>
                <a:gd name="connsiteX141" fmla="*/ 1386 w 10000"/>
                <a:gd name="connsiteY141" fmla="*/ 9778 h 10000"/>
                <a:gd name="connsiteX142" fmla="*/ 1545 w 10000"/>
                <a:gd name="connsiteY142" fmla="*/ 9814 h 10000"/>
                <a:gd name="connsiteX143" fmla="*/ 1708 w 10000"/>
                <a:gd name="connsiteY143" fmla="*/ 9846 h 10000"/>
                <a:gd name="connsiteX144" fmla="*/ 1870 w 10000"/>
                <a:gd name="connsiteY144" fmla="*/ 9874 h 10000"/>
                <a:gd name="connsiteX145" fmla="*/ 2032 w 10000"/>
                <a:gd name="connsiteY145" fmla="*/ 9902 h 10000"/>
                <a:gd name="connsiteX146" fmla="*/ 2197 w 10000"/>
                <a:gd name="connsiteY146" fmla="*/ 9926 h 10000"/>
                <a:gd name="connsiteX147" fmla="*/ 2362 w 10000"/>
                <a:gd name="connsiteY147" fmla="*/ 9946 h 10000"/>
                <a:gd name="connsiteX148" fmla="*/ 2529 w 10000"/>
                <a:gd name="connsiteY148" fmla="*/ 9962 h 10000"/>
                <a:gd name="connsiteX149" fmla="*/ 2700 w 10000"/>
                <a:gd name="connsiteY149" fmla="*/ 9978 h 10000"/>
                <a:gd name="connsiteX150" fmla="*/ 2867 w 10000"/>
                <a:gd name="connsiteY150" fmla="*/ 9988 h 10000"/>
                <a:gd name="connsiteX151" fmla="*/ 3038 w 10000"/>
                <a:gd name="connsiteY151" fmla="*/ 9996 h 10000"/>
                <a:gd name="connsiteX152" fmla="*/ 3205 w 10000"/>
                <a:gd name="connsiteY152" fmla="*/ 10000 h 10000"/>
                <a:gd name="connsiteX153" fmla="*/ 3378 w 10000"/>
                <a:gd name="connsiteY153" fmla="*/ 10000 h 10000"/>
                <a:gd name="connsiteX154" fmla="*/ 3548 w 10000"/>
                <a:gd name="connsiteY154" fmla="*/ 9998 h 10000"/>
                <a:gd name="connsiteX155" fmla="*/ 3724 w 10000"/>
                <a:gd name="connsiteY155" fmla="*/ 9994 h 10000"/>
                <a:gd name="connsiteX156" fmla="*/ 3893 w 10000"/>
                <a:gd name="connsiteY156" fmla="*/ 9986 h 10000"/>
                <a:gd name="connsiteX157" fmla="*/ 4069 w 10000"/>
                <a:gd name="connsiteY157" fmla="*/ 9974 h 10000"/>
                <a:gd name="connsiteX158" fmla="*/ 4242 w 10000"/>
                <a:gd name="connsiteY158" fmla="*/ 9956 h 10000"/>
                <a:gd name="connsiteX159" fmla="*/ 4415 w 10000"/>
                <a:gd name="connsiteY159" fmla="*/ 9938 h 10000"/>
                <a:gd name="connsiteX160" fmla="*/ 4591 w 10000"/>
                <a:gd name="connsiteY160" fmla="*/ 9912 h 10000"/>
                <a:gd name="connsiteX161" fmla="*/ 4766 w 10000"/>
                <a:gd name="connsiteY161" fmla="*/ 9888 h 10000"/>
                <a:gd name="connsiteX162" fmla="*/ 4766 w 10000"/>
                <a:gd name="connsiteY162" fmla="*/ 9888 h 10000"/>
                <a:gd name="connsiteX0" fmla="*/ 3761 w 8995"/>
                <a:gd name="connsiteY0" fmla="*/ 9888 h 10000"/>
                <a:gd name="connsiteX1" fmla="*/ 3761 w 8995"/>
                <a:gd name="connsiteY1" fmla="*/ 9888 h 10000"/>
                <a:gd name="connsiteX2" fmla="*/ 3926 w 8995"/>
                <a:gd name="connsiteY2" fmla="*/ 9856 h 10000"/>
                <a:gd name="connsiteX3" fmla="*/ 4091 w 8995"/>
                <a:gd name="connsiteY3" fmla="*/ 9826 h 10000"/>
                <a:gd name="connsiteX4" fmla="*/ 4253 w 8995"/>
                <a:gd name="connsiteY4" fmla="*/ 9792 h 10000"/>
                <a:gd name="connsiteX5" fmla="*/ 4416 w 8995"/>
                <a:gd name="connsiteY5" fmla="*/ 9754 h 10000"/>
                <a:gd name="connsiteX6" fmla="*/ 4573 w 8995"/>
                <a:gd name="connsiteY6" fmla="*/ 9712 h 10000"/>
                <a:gd name="connsiteX7" fmla="*/ 4732 w 8995"/>
                <a:gd name="connsiteY7" fmla="*/ 9670 h 10000"/>
                <a:gd name="connsiteX8" fmla="*/ 4886 w 8995"/>
                <a:gd name="connsiteY8" fmla="*/ 9622 h 10000"/>
                <a:gd name="connsiteX9" fmla="*/ 5040 w 8995"/>
                <a:gd name="connsiteY9" fmla="*/ 9574 h 10000"/>
                <a:gd name="connsiteX10" fmla="*/ 5189 w 8995"/>
                <a:gd name="connsiteY10" fmla="*/ 9524 h 10000"/>
                <a:gd name="connsiteX11" fmla="*/ 5336 w 8995"/>
                <a:gd name="connsiteY11" fmla="*/ 9468 h 10000"/>
                <a:gd name="connsiteX12" fmla="*/ 5484 w 8995"/>
                <a:gd name="connsiteY12" fmla="*/ 9412 h 10000"/>
                <a:gd name="connsiteX13" fmla="*/ 5626 w 8995"/>
                <a:gd name="connsiteY13" fmla="*/ 9352 h 10000"/>
                <a:gd name="connsiteX14" fmla="*/ 5766 w 8995"/>
                <a:gd name="connsiteY14" fmla="*/ 9290 h 10000"/>
                <a:gd name="connsiteX15" fmla="*/ 5907 w 8995"/>
                <a:gd name="connsiteY15" fmla="*/ 9224 h 10000"/>
                <a:gd name="connsiteX16" fmla="*/ 6043 w 8995"/>
                <a:gd name="connsiteY16" fmla="*/ 9160 h 10000"/>
                <a:gd name="connsiteX17" fmla="*/ 6176 w 8995"/>
                <a:gd name="connsiteY17" fmla="*/ 9090 h 10000"/>
                <a:gd name="connsiteX18" fmla="*/ 6307 w 8995"/>
                <a:gd name="connsiteY18" fmla="*/ 9018 h 10000"/>
                <a:gd name="connsiteX19" fmla="*/ 6433 w 8995"/>
                <a:gd name="connsiteY19" fmla="*/ 8944 h 10000"/>
                <a:gd name="connsiteX20" fmla="*/ 6559 w 8995"/>
                <a:gd name="connsiteY20" fmla="*/ 8868 h 10000"/>
                <a:gd name="connsiteX21" fmla="*/ 6684 w 8995"/>
                <a:gd name="connsiteY21" fmla="*/ 8792 h 10000"/>
                <a:gd name="connsiteX22" fmla="*/ 6804 w 8995"/>
                <a:gd name="connsiteY22" fmla="*/ 8712 h 10000"/>
                <a:gd name="connsiteX23" fmla="*/ 6923 w 8995"/>
                <a:gd name="connsiteY23" fmla="*/ 8628 h 10000"/>
                <a:gd name="connsiteX24" fmla="*/ 7037 w 8995"/>
                <a:gd name="connsiteY24" fmla="*/ 8544 h 10000"/>
                <a:gd name="connsiteX25" fmla="*/ 7147 w 8995"/>
                <a:gd name="connsiteY25" fmla="*/ 8458 h 10000"/>
                <a:gd name="connsiteX26" fmla="*/ 7258 w 8995"/>
                <a:gd name="connsiteY26" fmla="*/ 8370 h 10000"/>
                <a:gd name="connsiteX27" fmla="*/ 7365 w 8995"/>
                <a:gd name="connsiteY27" fmla="*/ 8282 h 10000"/>
                <a:gd name="connsiteX28" fmla="*/ 7466 w 8995"/>
                <a:gd name="connsiteY28" fmla="*/ 8190 h 10000"/>
                <a:gd name="connsiteX29" fmla="*/ 7567 w 8995"/>
                <a:gd name="connsiteY29" fmla="*/ 8098 h 10000"/>
                <a:gd name="connsiteX30" fmla="*/ 7665 w 8995"/>
                <a:gd name="connsiteY30" fmla="*/ 8002 h 10000"/>
                <a:gd name="connsiteX31" fmla="*/ 7758 w 8995"/>
                <a:gd name="connsiteY31" fmla="*/ 7906 h 10000"/>
                <a:gd name="connsiteX32" fmla="*/ 7848 w 8995"/>
                <a:gd name="connsiteY32" fmla="*/ 7806 h 10000"/>
                <a:gd name="connsiteX33" fmla="*/ 7937 w 8995"/>
                <a:gd name="connsiteY33" fmla="*/ 7706 h 10000"/>
                <a:gd name="connsiteX34" fmla="*/ 8022 w 8995"/>
                <a:gd name="connsiteY34" fmla="*/ 7604 h 10000"/>
                <a:gd name="connsiteX35" fmla="*/ 8104 w 8995"/>
                <a:gd name="connsiteY35" fmla="*/ 7500 h 10000"/>
                <a:gd name="connsiteX36" fmla="*/ 8181 w 8995"/>
                <a:gd name="connsiteY36" fmla="*/ 7398 h 10000"/>
                <a:gd name="connsiteX37" fmla="*/ 8256 w 8995"/>
                <a:gd name="connsiteY37" fmla="*/ 7292 h 10000"/>
                <a:gd name="connsiteX38" fmla="*/ 8328 w 8995"/>
                <a:gd name="connsiteY38" fmla="*/ 7182 h 10000"/>
                <a:gd name="connsiteX39" fmla="*/ 8396 w 8995"/>
                <a:gd name="connsiteY39" fmla="*/ 7074 h 10000"/>
                <a:gd name="connsiteX40" fmla="*/ 8461 w 8995"/>
                <a:gd name="connsiteY40" fmla="*/ 6964 h 10000"/>
                <a:gd name="connsiteX41" fmla="*/ 8522 w 8995"/>
                <a:gd name="connsiteY41" fmla="*/ 6854 h 10000"/>
                <a:gd name="connsiteX42" fmla="*/ 8580 w 8995"/>
                <a:gd name="connsiteY42" fmla="*/ 6740 h 10000"/>
                <a:gd name="connsiteX43" fmla="*/ 8633 w 8995"/>
                <a:gd name="connsiteY43" fmla="*/ 6626 h 10000"/>
                <a:gd name="connsiteX44" fmla="*/ 8684 w 8995"/>
                <a:gd name="connsiteY44" fmla="*/ 6512 h 10000"/>
                <a:gd name="connsiteX45" fmla="*/ 8729 w 8995"/>
                <a:gd name="connsiteY45" fmla="*/ 6396 h 10000"/>
                <a:gd name="connsiteX46" fmla="*/ 8775 w 8995"/>
                <a:gd name="connsiteY46" fmla="*/ 6280 h 10000"/>
                <a:gd name="connsiteX47" fmla="*/ 8814 w 8995"/>
                <a:gd name="connsiteY47" fmla="*/ 6164 h 10000"/>
                <a:gd name="connsiteX48" fmla="*/ 8852 w 8995"/>
                <a:gd name="connsiteY48" fmla="*/ 6044 h 10000"/>
                <a:gd name="connsiteX49" fmla="*/ 8881 w 8995"/>
                <a:gd name="connsiteY49" fmla="*/ 5926 h 10000"/>
                <a:gd name="connsiteX50" fmla="*/ 8908 w 8995"/>
                <a:gd name="connsiteY50" fmla="*/ 5804 h 10000"/>
                <a:gd name="connsiteX51" fmla="*/ 8934 w 8995"/>
                <a:gd name="connsiteY51" fmla="*/ 5684 h 10000"/>
                <a:gd name="connsiteX52" fmla="*/ 8955 w 8995"/>
                <a:gd name="connsiteY52" fmla="*/ 5562 h 10000"/>
                <a:gd name="connsiteX53" fmla="*/ 8971 w 8995"/>
                <a:gd name="connsiteY53" fmla="*/ 5440 h 10000"/>
                <a:gd name="connsiteX54" fmla="*/ 8981 w 8995"/>
                <a:gd name="connsiteY54" fmla="*/ 5316 h 10000"/>
                <a:gd name="connsiteX55" fmla="*/ 8992 w 8995"/>
                <a:gd name="connsiteY55" fmla="*/ 5196 h 10000"/>
                <a:gd name="connsiteX56" fmla="*/ 8995 w 8995"/>
                <a:gd name="connsiteY56" fmla="*/ 5072 h 10000"/>
                <a:gd name="connsiteX57" fmla="*/ 8995 w 8995"/>
                <a:gd name="connsiteY57" fmla="*/ 4948 h 10000"/>
                <a:gd name="connsiteX58" fmla="*/ 8992 w 8995"/>
                <a:gd name="connsiteY58" fmla="*/ 4822 h 10000"/>
                <a:gd name="connsiteX59" fmla="*/ 8981 w 8995"/>
                <a:gd name="connsiteY59" fmla="*/ 4698 h 10000"/>
                <a:gd name="connsiteX60" fmla="*/ 8971 w 8995"/>
                <a:gd name="connsiteY60" fmla="*/ 4572 h 10000"/>
                <a:gd name="connsiteX61" fmla="*/ 8955 w 8995"/>
                <a:gd name="connsiteY61" fmla="*/ 4444 h 10000"/>
                <a:gd name="connsiteX62" fmla="*/ 8932 w 8995"/>
                <a:gd name="connsiteY62" fmla="*/ 4318 h 10000"/>
                <a:gd name="connsiteX63" fmla="*/ 8908 w 8995"/>
                <a:gd name="connsiteY63" fmla="*/ 4192 h 10000"/>
                <a:gd name="connsiteX64" fmla="*/ 8878 w 8995"/>
                <a:gd name="connsiteY64" fmla="*/ 4066 h 10000"/>
                <a:gd name="connsiteX65" fmla="*/ 8843 w 8995"/>
                <a:gd name="connsiteY65" fmla="*/ 3940 h 10000"/>
                <a:gd name="connsiteX66" fmla="*/ 8843 w 8995"/>
                <a:gd name="connsiteY66" fmla="*/ 3940 h 10000"/>
                <a:gd name="connsiteX67" fmla="*/ 8804 w 8995"/>
                <a:gd name="connsiteY67" fmla="*/ 3816 h 10000"/>
                <a:gd name="connsiteX68" fmla="*/ 8761 w 8995"/>
                <a:gd name="connsiteY68" fmla="*/ 3692 h 10000"/>
                <a:gd name="connsiteX69" fmla="*/ 8715 w 8995"/>
                <a:gd name="connsiteY69" fmla="*/ 3568 h 10000"/>
                <a:gd name="connsiteX70" fmla="*/ 8665 w 8995"/>
                <a:gd name="connsiteY70" fmla="*/ 3446 h 10000"/>
                <a:gd name="connsiteX71" fmla="*/ 8612 w 8995"/>
                <a:gd name="connsiteY71" fmla="*/ 3328 h 10000"/>
                <a:gd name="connsiteX72" fmla="*/ 8551 w 8995"/>
                <a:gd name="connsiteY72" fmla="*/ 3208 h 10000"/>
                <a:gd name="connsiteX73" fmla="*/ 8493 w 8995"/>
                <a:gd name="connsiteY73" fmla="*/ 3092 h 10000"/>
                <a:gd name="connsiteX74" fmla="*/ 8428 w 8995"/>
                <a:gd name="connsiteY74" fmla="*/ 2976 h 10000"/>
                <a:gd name="connsiteX75" fmla="*/ 8357 w 8995"/>
                <a:gd name="connsiteY75" fmla="*/ 2864 h 10000"/>
                <a:gd name="connsiteX76" fmla="*/ 8288 w 8995"/>
                <a:gd name="connsiteY76" fmla="*/ 2754 h 10000"/>
                <a:gd name="connsiteX77" fmla="*/ 8210 w 8995"/>
                <a:gd name="connsiteY77" fmla="*/ 2642 h 10000"/>
                <a:gd name="connsiteX78" fmla="*/ 8131 w 8995"/>
                <a:gd name="connsiteY78" fmla="*/ 2536 h 10000"/>
                <a:gd name="connsiteX79" fmla="*/ 8048 w 8995"/>
                <a:gd name="connsiteY79" fmla="*/ 2430 h 10000"/>
                <a:gd name="connsiteX80" fmla="*/ 7963 w 8995"/>
                <a:gd name="connsiteY80" fmla="*/ 2324 h 10000"/>
                <a:gd name="connsiteX81" fmla="*/ 7875 w 8995"/>
                <a:gd name="connsiteY81" fmla="*/ 2222 h 10000"/>
                <a:gd name="connsiteX82" fmla="*/ 7782 w 8995"/>
                <a:gd name="connsiteY82" fmla="*/ 2122 h 10000"/>
                <a:gd name="connsiteX83" fmla="*/ 7689 w 8995"/>
                <a:gd name="connsiteY83" fmla="*/ 2024 h 10000"/>
                <a:gd name="connsiteX84" fmla="*/ 7590 w 8995"/>
                <a:gd name="connsiteY84" fmla="*/ 1928 h 10000"/>
                <a:gd name="connsiteX85" fmla="*/ 7490 w 8995"/>
                <a:gd name="connsiteY85" fmla="*/ 1834 h 10000"/>
                <a:gd name="connsiteX86" fmla="*/ 7386 w 8995"/>
                <a:gd name="connsiteY86" fmla="*/ 1740 h 10000"/>
                <a:gd name="connsiteX87" fmla="*/ 7283 w 8995"/>
                <a:gd name="connsiteY87" fmla="*/ 1648 h 10000"/>
                <a:gd name="connsiteX88" fmla="*/ 7170 w 8995"/>
                <a:gd name="connsiteY88" fmla="*/ 1560 h 10000"/>
                <a:gd name="connsiteX89" fmla="*/ 7059 w 8995"/>
                <a:gd name="connsiteY89" fmla="*/ 1474 h 10000"/>
                <a:gd name="connsiteX90" fmla="*/ 6945 w 8995"/>
                <a:gd name="connsiteY90" fmla="*/ 1392 h 10000"/>
                <a:gd name="connsiteX91" fmla="*/ 6827 w 8995"/>
                <a:gd name="connsiteY91" fmla="*/ 1308 h 10000"/>
                <a:gd name="connsiteX92" fmla="*/ 6711 w 8995"/>
                <a:gd name="connsiteY92" fmla="*/ 1226 h 10000"/>
                <a:gd name="connsiteX93" fmla="*/ 6585 w 8995"/>
                <a:gd name="connsiteY93" fmla="*/ 1150 h 10000"/>
                <a:gd name="connsiteX94" fmla="*/ 6464 w 8995"/>
                <a:gd name="connsiteY94" fmla="*/ 1076 h 10000"/>
                <a:gd name="connsiteX95" fmla="*/ 6338 w 8995"/>
                <a:gd name="connsiteY95" fmla="*/ 1002 h 10000"/>
                <a:gd name="connsiteX96" fmla="*/ 6208 w 8995"/>
                <a:gd name="connsiteY96" fmla="*/ 932 h 10000"/>
                <a:gd name="connsiteX97" fmla="*/ 6075 w 8995"/>
                <a:gd name="connsiteY97" fmla="*/ 862 h 10000"/>
                <a:gd name="connsiteX98" fmla="*/ 5945 w 8995"/>
                <a:gd name="connsiteY98" fmla="*/ 798 h 10000"/>
                <a:gd name="connsiteX99" fmla="*/ 5809 w 8995"/>
                <a:gd name="connsiteY99" fmla="*/ 734 h 10000"/>
                <a:gd name="connsiteX100" fmla="*/ 5673 w 8995"/>
                <a:gd name="connsiteY100" fmla="*/ 670 h 10000"/>
                <a:gd name="connsiteX101" fmla="*/ 5532 w 8995"/>
                <a:gd name="connsiteY101" fmla="*/ 612 h 10000"/>
                <a:gd name="connsiteX102" fmla="*/ 5389 w 8995"/>
                <a:gd name="connsiteY102" fmla="*/ 556 h 10000"/>
                <a:gd name="connsiteX103" fmla="*/ 5247 w 8995"/>
                <a:gd name="connsiteY103" fmla="*/ 504 h 10000"/>
                <a:gd name="connsiteX104" fmla="*/ 5104 w 8995"/>
                <a:gd name="connsiteY104" fmla="*/ 450 h 10000"/>
                <a:gd name="connsiteX105" fmla="*/ 4958 w 8995"/>
                <a:gd name="connsiteY105" fmla="*/ 402 h 10000"/>
                <a:gd name="connsiteX106" fmla="*/ 4812 w 8995"/>
                <a:gd name="connsiteY106" fmla="*/ 358 h 10000"/>
                <a:gd name="connsiteX107" fmla="*/ 4660 w 8995"/>
                <a:gd name="connsiteY107" fmla="*/ 314 h 10000"/>
                <a:gd name="connsiteX108" fmla="*/ 4508 w 8995"/>
                <a:gd name="connsiteY108" fmla="*/ 274 h 10000"/>
                <a:gd name="connsiteX109" fmla="*/ 4359 w 8995"/>
                <a:gd name="connsiteY109" fmla="*/ 236 h 10000"/>
                <a:gd name="connsiteX110" fmla="*/ 4202 w 8995"/>
                <a:gd name="connsiteY110" fmla="*/ 200 h 10000"/>
                <a:gd name="connsiteX111" fmla="*/ 4049 w 8995"/>
                <a:gd name="connsiteY111" fmla="*/ 168 h 10000"/>
                <a:gd name="connsiteX112" fmla="*/ 3894 w 8995"/>
                <a:gd name="connsiteY112" fmla="*/ 138 h 10000"/>
                <a:gd name="connsiteX113" fmla="*/ 3737 w 8995"/>
                <a:gd name="connsiteY113" fmla="*/ 110 h 10000"/>
                <a:gd name="connsiteX114" fmla="*/ 3578 w 8995"/>
                <a:gd name="connsiteY114" fmla="*/ 86 h 10000"/>
                <a:gd name="connsiteX115" fmla="*/ 3417 w 8995"/>
                <a:gd name="connsiteY115" fmla="*/ 66 h 10000"/>
                <a:gd name="connsiteX116" fmla="*/ 3255 w 8995"/>
                <a:gd name="connsiteY116" fmla="*/ 46 h 10000"/>
                <a:gd name="connsiteX117" fmla="*/ 3096 w 8995"/>
                <a:gd name="connsiteY117" fmla="*/ 32 h 10000"/>
                <a:gd name="connsiteX118" fmla="*/ 2934 w 8995"/>
                <a:gd name="connsiteY118" fmla="*/ 22 h 10000"/>
                <a:gd name="connsiteX119" fmla="*/ 2769 w 8995"/>
                <a:gd name="connsiteY119" fmla="*/ 10 h 10000"/>
                <a:gd name="connsiteX120" fmla="*/ 2605 w 8995"/>
                <a:gd name="connsiteY120" fmla="*/ 4 h 10000"/>
                <a:gd name="connsiteX121" fmla="*/ 2439 w 8995"/>
                <a:gd name="connsiteY121" fmla="*/ 0 h 10000"/>
                <a:gd name="connsiteX122" fmla="*/ 2274 w 8995"/>
                <a:gd name="connsiteY122" fmla="*/ 0 h 10000"/>
                <a:gd name="connsiteX123" fmla="*/ 2110 w 8995"/>
                <a:gd name="connsiteY123" fmla="*/ 4 h 10000"/>
                <a:gd name="connsiteX124" fmla="*/ 1942 w 8995"/>
                <a:gd name="connsiteY124" fmla="*/ 10 h 10000"/>
                <a:gd name="connsiteX125" fmla="*/ 1777 w 8995"/>
                <a:gd name="connsiteY125" fmla="*/ 22 h 10000"/>
                <a:gd name="connsiteX126" fmla="*/ 1610 w 8995"/>
                <a:gd name="connsiteY126" fmla="*/ 34 h 10000"/>
                <a:gd name="connsiteX127" fmla="*/ 1442 w 8995"/>
                <a:gd name="connsiteY127" fmla="*/ 48 h 10000"/>
                <a:gd name="connsiteX128" fmla="*/ 1275 w 8995"/>
                <a:gd name="connsiteY128" fmla="*/ 66 h 10000"/>
                <a:gd name="connsiteX129" fmla="*/ 1106 w 8995"/>
                <a:gd name="connsiteY129" fmla="*/ 90 h 10000"/>
                <a:gd name="connsiteX130" fmla="*/ 937 w 8995"/>
                <a:gd name="connsiteY130" fmla="*/ 114 h 10000"/>
                <a:gd name="connsiteX131" fmla="*/ 937 w 8995"/>
                <a:gd name="connsiteY131" fmla="*/ 114 h 10000"/>
                <a:gd name="connsiteX132" fmla="*/ 777 w 8995"/>
                <a:gd name="connsiteY132" fmla="*/ 142 h 10000"/>
                <a:gd name="connsiteX133" fmla="*/ 618 w 8995"/>
                <a:gd name="connsiteY133" fmla="*/ 176 h 10000"/>
                <a:gd name="connsiteX134" fmla="*/ 461 w 8995"/>
                <a:gd name="connsiteY134" fmla="*/ 208 h 10000"/>
                <a:gd name="connsiteX135" fmla="*/ 306 w 8995"/>
                <a:gd name="connsiteY135" fmla="*/ 244 h 10000"/>
                <a:gd name="connsiteX136" fmla="*/ 152 w 8995"/>
                <a:gd name="connsiteY136" fmla="*/ 282 h 10000"/>
                <a:gd name="connsiteX137" fmla="*/ 0 w 8995"/>
                <a:gd name="connsiteY137" fmla="*/ 324 h 10000"/>
                <a:gd name="connsiteX138" fmla="*/ 67 w 8995"/>
                <a:gd name="connsiteY138" fmla="*/ 9698 h 10000"/>
                <a:gd name="connsiteX139" fmla="*/ 222 w 8995"/>
                <a:gd name="connsiteY139" fmla="*/ 9738 h 10000"/>
                <a:gd name="connsiteX140" fmla="*/ 381 w 8995"/>
                <a:gd name="connsiteY140" fmla="*/ 9778 h 10000"/>
                <a:gd name="connsiteX141" fmla="*/ 540 w 8995"/>
                <a:gd name="connsiteY141" fmla="*/ 9814 h 10000"/>
                <a:gd name="connsiteX142" fmla="*/ 703 w 8995"/>
                <a:gd name="connsiteY142" fmla="*/ 9846 h 10000"/>
                <a:gd name="connsiteX143" fmla="*/ 865 w 8995"/>
                <a:gd name="connsiteY143" fmla="*/ 9874 h 10000"/>
                <a:gd name="connsiteX144" fmla="*/ 1027 w 8995"/>
                <a:gd name="connsiteY144" fmla="*/ 9902 h 10000"/>
                <a:gd name="connsiteX145" fmla="*/ 1192 w 8995"/>
                <a:gd name="connsiteY145" fmla="*/ 9926 h 10000"/>
                <a:gd name="connsiteX146" fmla="*/ 1357 w 8995"/>
                <a:gd name="connsiteY146" fmla="*/ 9946 h 10000"/>
                <a:gd name="connsiteX147" fmla="*/ 1524 w 8995"/>
                <a:gd name="connsiteY147" fmla="*/ 9962 h 10000"/>
                <a:gd name="connsiteX148" fmla="*/ 1695 w 8995"/>
                <a:gd name="connsiteY148" fmla="*/ 9978 h 10000"/>
                <a:gd name="connsiteX149" fmla="*/ 1862 w 8995"/>
                <a:gd name="connsiteY149" fmla="*/ 9988 h 10000"/>
                <a:gd name="connsiteX150" fmla="*/ 2033 w 8995"/>
                <a:gd name="connsiteY150" fmla="*/ 9996 h 10000"/>
                <a:gd name="connsiteX151" fmla="*/ 2200 w 8995"/>
                <a:gd name="connsiteY151" fmla="*/ 10000 h 10000"/>
                <a:gd name="connsiteX152" fmla="*/ 2373 w 8995"/>
                <a:gd name="connsiteY152" fmla="*/ 10000 h 10000"/>
                <a:gd name="connsiteX153" fmla="*/ 2543 w 8995"/>
                <a:gd name="connsiteY153" fmla="*/ 9998 h 10000"/>
                <a:gd name="connsiteX154" fmla="*/ 2719 w 8995"/>
                <a:gd name="connsiteY154" fmla="*/ 9994 h 10000"/>
                <a:gd name="connsiteX155" fmla="*/ 2888 w 8995"/>
                <a:gd name="connsiteY155" fmla="*/ 9986 h 10000"/>
                <a:gd name="connsiteX156" fmla="*/ 3064 w 8995"/>
                <a:gd name="connsiteY156" fmla="*/ 9974 h 10000"/>
                <a:gd name="connsiteX157" fmla="*/ 3237 w 8995"/>
                <a:gd name="connsiteY157" fmla="*/ 9956 h 10000"/>
                <a:gd name="connsiteX158" fmla="*/ 3410 w 8995"/>
                <a:gd name="connsiteY158" fmla="*/ 9938 h 10000"/>
                <a:gd name="connsiteX159" fmla="*/ 3586 w 8995"/>
                <a:gd name="connsiteY159" fmla="*/ 9912 h 10000"/>
                <a:gd name="connsiteX160" fmla="*/ 3761 w 8995"/>
                <a:gd name="connsiteY160" fmla="*/ 9888 h 10000"/>
                <a:gd name="connsiteX161" fmla="*/ 3761 w 8995"/>
                <a:gd name="connsiteY161" fmla="*/ 988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8995" h="10000">
                  <a:moveTo>
                    <a:pt x="3761" y="9888"/>
                  </a:moveTo>
                  <a:lnTo>
                    <a:pt x="3761" y="9888"/>
                  </a:lnTo>
                  <a:lnTo>
                    <a:pt x="3926" y="9856"/>
                  </a:lnTo>
                  <a:lnTo>
                    <a:pt x="4091" y="9826"/>
                  </a:lnTo>
                  <a:lnTo>
                    <a:pt x="4253" y="9792"/>
                  </a:lnTo>
                  <a:lnTo>
                    <a:pt x="4416" y="9754"/>
                  </a:lnTo>
                  <a:lnTo>
                    <a:pt x="4573" y="9712"/>
                  </a:lnTo>
                  <a:lnTo>
                    <a:pt x="4732" y="9670"/>
                  </a:lnTo>
                  <a:lnTo>
                    <a:pt x="4886" y="9622"/>
                  </a:lnTo>
                  <a:lnTo>
                    <a:pt x="5040" y="9574"/>
                  </a:lnTo>
                  <a:lnTo>
                    <a:pt x="5189" y="9524"/>
                  </a:lnTo>
                  <a:lnTo>
                    <a:pt x="5336" y="9468"/>
                  </a:lnTo>
                  <a:lnTo>
                    <a:pt x="5484" y="9412"/>
                  </a:lnTo>
                  <a:lnTo>
                    <a:pt x="5626" y="9352"/>
                  </a:lnTo>
                  <a:lnTo>
                    <a:pt x="5766" y="9290"/>
                  </a:lnTo>
                  <a:lnTo>
                    <a:pt x="5907" y="9224"/>
                  </a:lnTo>
                  <a:lnTo>
                    <a:pt x="6043" y="9160"/>
                  </a:lnTo>
                  <a:lnTo>
                    <a:pt x="6176" y="9090"/>
                  </a:lnTo>
                  <a:lnTo>
                    <a:pt x="6307" y="9018"/>
                  </a:lnTo>
                  <a:lnTo>
                    <a:pt x="6433" y="8944"/>
                  </a:lnTo>
                  <a:lnTo>
                    <a:pt x="6559" y="8868"/>
                  </a:lnTo>
                  <a:cubicBezTo>
                    <a:pt x="6601" y="8843"/>
                    <a:pt x="6642" y="8817"/>
                    <a:pt x="6684" y="8792"/>
                  </a:cubicBezTo>
                  <a:cubicBezTo>
                    <a:pt x="6723" y="8765"/>
                    <a:pt x="6764" y="8739"/>
                    <a:pt x="6804" y="8712"/>
                  </a:cubicBezTo>
                  <a:lnTo>
                    <a:pt x="6923" y="8628"/>
                  </a:lnTo>
                  <a:lnTo>
                    <a:pt x="7037" y="8544"/>
                  </a:lnTo>
                  <a:lnTo>
                    <a:pt x="7147" y="8458"/>
                  </a:lnTo>
                  <a:cubicBezTo>
                    <a:pt x="7184" y="8429"/>
                    <a:pt x="7220" y="8399"/>
                    <a:pt x="7258" y="8370"/>
                  </a:cubicBezTo>
                  <a:cubicBezTo>
                    <a:pt x="7294" y="8341"/>
                    <a:pt x="7329" y="8311"/>
                    <a:pt x="7365" y="8282"/>
                  </a:cubicBezTo>
                  <a:cubicBezTo>
                    <a:pt x="7398" y="8251"/>
                    <a:pt x="7432" y="8221"/>
                    <a:pt x="7466" y="8190"/>
                  </a:cubicBezTo>
                  <a:cubicBezTo>
                    <a:pt x="7499" y="8159"/>
                    <a:pt x="7533" y="8129"/>
                    <a:pt x="7567" y="8098"/>
                  </a:cubicBezTo>
                  <a:lnTo>
                    <a:pt x="7665" y="8002"/>
                  </a:lnTo>
                  <a:cubicBezTo>
                    <a:pt x="7697" y="7970"/>
                    <a:pt x="7727" y="7938"/>
                    <a:pt x="7758" y="7906"/>
                  </a:cubicBezTo>
                  <a:cubicBezTo>
                    <a:pt x="7788" y="7873"/>
                    <a:pt x="7818" y="7839"/>
                    <a:pt x="7848" y="7806"/>
                  </a:cubicBezTo>
                  <a:cubicBezTo>
                    <a:pt x="7878" y="7773"/>
                    <a:pt x="7907" y="7739"/>
                    <a:pt x="7937" y="7706"/>
                  </a:cubicBezTo>
                  <a:cubicBezTo>
                    <a:pt x="7965" y="7672"/>
                    <a:pt x="7994" y="7638"/>
                    <a:pt x="8022" y="7604"/>
                  </a:cubicBezTo>
                  <a:cubicBezTo>
                    <a:pt x="8049" y="7569"/>
                    <a:pt x="8077" y="7535"/>
                    <a:pt x="8104" y="7500"/>
                  </a:cubicBezTo>
                  <a:cubicBezTo>
                    <a:pt x="8130" y="7466"/>
                    <a:pt x="8155" y="7432"/>
                    <a:pt x="8181" y="7398"/>
                  </a:cubicBezTo>
                  <a:cubicBezTo>
                    <a:pt x="8206" y="7363"/>
                    <a:pt x="8231" y="7327"/>
                    <a:pt x="8256" y="7292"/>
                  </a:cubicBezTo>
                  <a:cubicBezTo>
                    <a:pt x="8280" y="7255"/>
                    <a:pt x="8304" y="7219"/>
                    <a:pt x="8328" y="7182"/>
                  </a:cubicBezTo>
                  <a:cubicBezTo>
                    <a:pt x="8351" y="7146"/>
                    <a:pt x="8373" y="7110"/>
                    <a:pt x="8396" y="7074"/>
                  </a:cubicBezTo>
                  <a:cubicBezTo>
                    <a:pt x="8418" y="7037"/>
                    <a:pt x="8439" y="7001"/>
                    <a:pt x="8461" y="6964"/>
                  </a:cubicBezTo>
                  <a:cubicBezTo>
                    <a:pt x="8481" y="6927"/>
                    <a:pt x="8501" y="6891"/>
                    <a:pt x="8522" y="6854"/>
                  </a:cubicBezTo>
                  <a:cubicBezTo>
                    <a:pt x="8542" y="6816"/>
                    <a:pt x="8560" y="6778"/>
                    <a:pt x="8580" y="6740"/>
                  </a:cubicBezTo>
                  <a:cubicBezTo>
                    <a:pt x="8598" y="6702"/>
                    <a:pt x="8615" y="6664"/>
                    <a:pt x="8633" y="6626"/>
                  </a:cubicBezTo>
                  <a:cubicBezTo>
                    <a:pt x="8650" y="6588"/>
                    <a:pt x="8668" y="6550"/>
                    <a:pt x="8684" y="6512"/>
                  </a:cubicBezTo>
                  <a:cubicBezTo>
                    <a:pt x="8699" y="6473"/>
                    <a:pt x="8714" y="6435"/>
                    <a:pt x="8729" y="6396"/>
                  </a:cubicBezTo>
                  <a:cubicBezTo>
                    <a:pt x="8744" y="6357"/>
                    <a:pt x="8759" y="6319"/>
                    <a:pt x="8775" y="6280"/>
                  </a:cubicBezTo>
                  <a:cubicBezTo>
                    <a:pt x="8788" y="6241"/>
                    <a:pt x="8801" y="6203"/>
                    <a:pt x="8814" y="6164"/>
                  </a:cubicBezTo>
                  <a:cubicBezTo>
                    <a:pt x="8827" y="6124"/>
                    <a:pt x="8839" y="6084"/>
                    <a:pt x="8852" y="6044"/>
                  </a:cubicBezTo>
                  <a:cubicBezTo>
                    <a:pt x="8861" y="6005"/>
                    <a:pt x="8871" y="5965"/>
                    <a:pt x="8881" y="5926"/>
                  </a:cubicBezTo>
                  <a:cubicBezTo>
                    <a:pt x="8890" y="5885"/>
                    <a:pt x="8898" y="5845"/>
                    <a:pt x="8908" y="5804"/>
                  </a:cubicBezTo>
                  <a:cubicBezTo>
                    <a:pt x="8916" y="5764"/>
                    <a:pt x="8925" y="5724"/>
                    <a:pt x="8934" y="5684"/>
                  </a:cubicBezTo>
                  <a:cubicBezTo>
                    <a:pt x="8941" y="5643"/>
                    <a:pt x="8948" y="5603"/>
                    <a:pt x="8955" y="5562"/>
                  </a:cubicBezTo>
                  <a:cubicBezTo>
                    <a:pt x="8961" y="5521"/>
                    <a:pt x="8966" y="5481"/>
                    <a:pt x="8971" y="5440"/>
                  </a:cubicBezTo>
                  <a:cubicBezTo>
                    <a:pt x="8974" y="5399"/>
                    <a:pt x="8978" y="5357"/>
                    <a:pt x="8981" y="5316"/>
                  </a:cubicBezTo>
                  <a:cubicBezTo>
                    <a:pt x="8985" y="5276"/>
                    <a:pt x="8989" y="5236"/>
                    <a:pt x="8992" y="5196"/>
                  </a:cubicBezTo>
                  <a:cubicBezTo>
                    <a:pt x="8993" y="5155"/>
                    <a:pt x="8994" y="5113"/>
                    <a:pt x="8995" y="5072"/>
                  </a:cubicBezTo>
                  <a:lnTo>
                    <a:pt x="8995" y="4948"/>
                  </a:lnTo>
                  <a:lnTo>
                    <a:pt x="8992" y="4822"/>
                  </a:lnTo>
                  <a:cubicBezTo>
                    <a:pt x="8989" y="4781"/>
                    <a:pt x="8985" y="4739"/>
                    <a:pt x="8981" y="4698"/>
                  </a:cubicBezTo>
                  <a:cubicBezTo>
                    <a:pt x="8978" y="4656"/>
                    <a:pt x="8974" y="4614"/>
                    <a:pt x="8971" y="4572"/>
                  </a:cubicBezTo>
                  <a:cubicBezTo>
                    <a:pt x="8966" y="4529"/>
                    <a:pt x="8961" y="4487"/>
                    <a:pt x="8955" y="4444"/>
                  </a:cubicBezTo>
                  <a:cubicBezTo>
                    <a:pt x="8947" y="4402"/>
                    <a:pt x="8940" y="4360"/>
                    <a:pt x="8932" y="4318"/>
                  </a:cubicBezTo>
                  <a:cubicBezTo>
                    <a:pt x="8923" y="4276"/>
                    <a:pt x="8916" y="4234"/>
                    <a:pt x="8908" y="4192"/>
                  </a:cubicBezTo>
                  <a:cubicBezTo>
                    <a:pt x="8897" y="4150"/>
                    <a:pt x="8888" y="4108"/>
                    <a:pt x="8878" y="4066"/>
                  </a:cubicBezTo>
                  <a:cubicBezTo>
                    <a:pt x="8866" y="4024"/>
                    <a:pt x="8855" y="3982"/>
                    <a:pt x="8843" y="3940"/>
                  </a:cubicBezTo>
                  <a:lnTo>
                    <a:pt x="8843" y="3940"/>
                  </a:lnTo>
                  <a:cubicBezTo>
                    <a:pt x="8830" y="3899"/>
                    <a:pt x="8817" y="3857"/>
                    <a:pt x="8804" y="3816"/>
                  </a:cubicBezTo>
                  <a:cubicBezTo>
                    <a:pt x="8789" y="3775"/>
                    <a:pt x="8776" y="3733"/>
                    <a:pt x="8761" y="3692"/>
                  </a:cubicBezTo>
                  <a:cubicBezTo>
                    <a:pt x="8745" y="3651"/>
                    <a:pt x="8731" y="3609"/>
                    <a:pt x="8715" y="3568"/>
                  </a:cubicBezTo>
                  <a:cubicBezTo>
                    <a:pt x="8699" y="3527"/>
                    <a:pt x="8682" y="3487"/>
                    <a:pt x="8665" y="3446"/>
                  </a:cubicBezTo>
                  <a:cubicBezTo>
                    <a:pt x="8648" y="3407"/>
                    <a:pt x="8630" y="3367"/>
                    <a:pt x="8612" y="3328"/>
                  </a:cubicBezTo>
                  <a:cubicBezTo>
                    <a:pt x="8592" y="3288"/>
                    <a:pt x="8572" y="3248"/>
                    <a:pt x="8551" y="3208"/>
                  </a:cubicBezTo>
                  <a:cubicBezTo>
                    <a:pt x="8531" y="3169"/>
                    <a:pt x="8513" y="3131"/>
                    <a:pt x="8493" y="3092"/>
                  </a:cubicBezTo>
                  <a:cubicBezTo>
                    <a:pt x="8471" y="3053"/>
                    <a:pt x="8450" y="3015"/>
                    <a:pt x="8428" y="2976"/>
                  </a:cubicBezTo>
                  <a:cubicBezTo>
                    <a:pt x="8405" y="2939"/>
                    <a:pt x="8381" y="2901"/>
                    <a:pt x="8357" y="2864"/>
                  </a:cubicBezTo>
                  <a:cubicBezTo>
                    <a:pt x="8334" y="2827"/>
                    <a:pt x="8311" y="2791"/>
                    <a:pt x="8288" y="2754"/>
                  </a:cubicBezTo>
                  <a:cubicBezTo>
                    <a:pt x="8262" y="2717"/>
                    <a:pt x="8236" y="2679"/>
                    <a:pt x="8210" y="2642"/>
                  </a:cubicBezTo>
                  <a:lnTo>
                    <a:pt x="8131" y="2536"/>
                  </a:lnTo>
                  <a:cubicBezTo>
                    <a:pt x="8103" y="2501"/>
                    <a:pt x="8076" y="2465"/>
                    <a:pt x="8048" y="2430"/>
                  </a:cubicBezTo>
                  <a:lnTo>
                    <a:pt x="7963" y="2324"/>
                  </a:lnTo>
                  <a:cubicBezTo>
                    <a:pt x="7934" y="2290"/>
                    <a:pt x="7904" y="2256"/>
                    <a:pt x="7875" y="2222"/>
                  </a:cubicBezTo>
                  <a:cubicBezTo>
                    <a:pt x="7844" y="2189"/>
                    <a:pt x="7813" y="2155"/>
                    <a:pt x="7782" y="2122"/>
                  </a:cubicBezTo>
                  <a:cubicBezTo>
                    <a:pt x="7751" y="2089"/>
                    <a:pt x="7720" y="2057"/>
                    <a:pt x="7689" y="2024"/>
                  </a:cubicBezTo>
                  <a:cubicBezTo>
                    <a:pt x="7656" y="1992"/>
                    <a:pt x="7624" y="1960"/>
                    <a:pt x="7590" y="1928"/>
                  </a:cubicBezTo>
                  <a:lnTo>
                    <a:pt x="7490" y="1834"/>
                  </a:lnTo>
                  <a:cubicBezTo>
                    <a:pt x="7455" y="1803"/>
                    <a:pt x="7421" y="1771"/>
                    <a:pt x="7386" y="1740"/>
                  </a:cubicBezTo>
                  <a:cubicBezTo>
                    <a:pt x="7352" y="1709"/>
                    <a:pt x="7317" y="1679"/>
                    <a:pt x="7283" y="1648"/>
                  </a:cubicBezTo>
                  <a:cubicBezTo>
                    <a:pt x="7245" y="1619"/>
                    <a:pt x="7208" y="1589"/>
                    <a:pt x="7170" y="1560"/>
                  </a:cubicBezTo>
                  <a:lnTo>
                    <a:pt x="7059" y="1474"/>
                  </a:lnTo>
                  <a:lnTo>
                    <a:pt x="6945" y="1392"/>
                  </a:lnTo>
                  <a:lnTo>
                    <a:pt x="6827" y="1308"/>
                  </a:lnTo>
                  <a:cubicBezTo>
                    <a:pt x="6788" y="1281"/>
                    <a:pt x="6750" y="1253"/>
                    <a:pt x="6711" y="1226"/>
                  </a:cubicBezTo>
                  <a:lnTo>
                    <a:pt x="6585" y="1150"/>
                  </a:lnTo>
                  <a:cubicBezTo>
                    <a:pt x="6545" y="1125"/>
                    <a:pt x="6504" y="1101"/>
                    <a:pt x="6464" y="1076"/>
                  </a:cubicBezTo>
                  <a:cubicBezTo>
                    <a:pt x="6422" y="1051"/>
                    <a:pt x="6379" y="1027"/>
                    <a:pt x="6338" y="1002"/>
                  </a:cubicBezTo>
                  <a:cubicBezTo>
                    <a:pt x="6294" y="979"/>
                    <a:pt x="6251" y="955"/>
                    <a:pt x="6208" y="932"/>
                  </a:cubicBezTo>
                  <a:cubicBezTo>
                    <a:pt x="6163" y="909"/>
                    <a:pt x="6119" y="885"/>
                    <a:pt x="6075" y="862"/>
                  </a:cubicBezTo>
                  <a:cubicBezTo>
                    <a:pt x="6031" y="841"/>
                    <a:pt x="5988" y="819"/>
                    <a:pt x="5945" y="798"/>
                  </a:cubicBezTo>
                  <a:cubicBezTo>
                    <a:pt x="5899" y="777"/>
                    <a:pt x="5854" y="755"/>
                    <a:pt x="5809" y="734"/>
                  </a:cubicBezTo>
                  <a:lnTo>
                    <a:pt x="5673" y="670"/>
                  </a:lnTo>
                  <a:lnTo>
                    <a:pt x="5532" y="612"/>
                  </a:lnTo>
                  <a:lnTo>
                    <a:pt x="5389" y="556"/>
                  </a:lnTo>
                  <a:lnTo>
                    <a:pt x="5247" y="504"/>
                  </a:lnTo>
                  <a:lnTo>
                    <a:pt x="5104" y="450"/>
                  </a:lnTo>
                  <a:lnTo>
                    <a:pt x="4958" y="402"/>
                  </a:lnTo>
                  <a:lnTo>
                    <a:pt x="4812" y="358"/>
                  </a:lnTo>
                  <a:lnTo>
                    <a:pt x="4660" y="314"/>
                  </a:lnTo>
                  <a:lnTo>
                    <a:pt x="4508" y="274"/>
                  </a:lnTo>
                  <a:lnTo>
                    <a:pt x="4359" y="236"/>
                  </a:lnTo>
                  <a:lnTo>
                    <a:pt x="4202" y="200"/>
                  </a:lnTo>
                  <a:lnTo>
                    <a:pt x="4049" y="168"/>
                  </a:lnTo>
                  <a:lnTo>
                    <a:pt x="3894" y="138"/>
                  </a:lnTo>
                  <a:lnTo>
                    <a:pt x="3737" y="110"/>
                  </a:lnTo>
                  <a:lnTo>
                    <a:pt x="3578" y="86"/>
                  </a:lnTo>
                  <a:lnTo>
                    <a:pt x="3417" y="66"/>
                  </a:lnTo>
                  <a:lnTo>
                    <a:pt x="3255" y="46"/>
                  </a:lnTo>
                  <a:lnTo>
                    <a:pt x="3096" y="32"/>
                  </a:lnTo>
                  <a:lnTo>
                    <a:pt x="2934" y="22"/>
                  </a:lnTo>
                  <a:lnTo>
                    <a:pt x="2769" y="10"/>
                  </a:lnTo>
                  <a:lnTo>
                    <a:pt x="2605" y="4"/>
                  </a:lnTo>
                  <a:lnTo>
                    <a:pt x="2439" y="0"/>
                  </a:lnTo>
                  <a:lnTo>
                    <a:pt x="2274" y="0"/>
                  </a:lnTo>
                  <a:lnTo>
                    <a:pt x="2110" y="4"/>
                  </a:lnTo>
                  <a:lnTo>
                    <a:pt x="1942" y="10"/>
                  </a:lnTo>
                  <a:lnTo>
                    <a:pt x="1777" y="22"/>
                  </a:lnTo>
                  <a:lnTo>
                    <a:pt x="1610" y="34"/>
                  </a:lnTo>
                  <a:lnTo>
                    <a:pt x="1442" y="48"/>
                  </a:lnTo>
                  <a:lnTo>
                    <a:pt x="1275" y="66"/>
                  </a:lnTo>
                  <a:lnTo>
                    <a:pt x="1106" y="90"/>
                  </a:lnTo>
                  <a:lnTo>
                    <a:pt x="937" y="114"/>
                  </a:lnTo>
                  <a:lnTo>
                    <a:pt x="937" y="114"/>
                  </a:lnTo>
                  <a:lnTo>
                    <a:pt x="777" y="142"/>
                  </a:lnTo>
                  <a:lnTo>
                    <a:pt x="618" y="176"/>
                  </a:lnTo>
                  <a:lnTo>
                    <a:pt x="461" y="208"/>
                  </a:lnTo>
                  <a:lnTo>
                    <a:pt x="306" y="244"/>
                  </a:lnTo>
                  <a:lnTo>
                    <a:pt x="152" y="282"/>
                  </a:lnTo>
                  <a:lnTo>
                    <a:pt x="0" y="324"/>
                  </a:lnTo>
                  <a:cubicBezTo>
                    <a:pt x="22" y="3449"/>
                    <a:pt x="45" y="6573"/>
                    <a:pt x="67" y="9698"/>
                  </a:cubicBezTo>
                  <a:lnTo>
                    <a:pt x="222" y="9738"/>
                  </a:lnTo>
                  <a:lnTo>
                    <a:pt x="381" y="9778"/>
                  </a:lnTo>
                  <a:lnTo>
                    <a:pt x="540" y="9814"/>
                  </a:lnTo>
                  <a:lnTo>
                    <a:pt x="703" y="9846"/>
                  </a:lnTo>
                  <a:lnTo>
                    <a:pt x="865" y="9874"/>
                  </a:lnTo>
                  <a:lnTo>
                    <a:pt x="1027" y="9902"/>
                  </a:lnTo>
                  <a:lnTo>
                    <a:pt x="1192" y="9926"/>
                  </a:lnTo>
                  <a:lnTo>
                    <a:pt x="1357" y="9946"/>
                  </a:lnTo>
                  <a:lnTo>
                    <a:pt x="1524" y="9962"/>
                  </a:lnTo>
                  <a:lnTo>
                    <a:pt x="1695" y="9978"/>
                  </a:lnTo>
                  <a:lnTo>
                    <a:pt x="1862" y="9988"/>
                  </a:lnTo>
                  <a:lnTo>
                    <a:pt x="2033" y="9996"/>
                  </a:lnTo>
                  <a:lnTo>
                    <a:pt x="2200" y="10000"/>
                  </a:lnTo>
                  <a:lnTo>
                    <a:pt x="2373" y="10000"/>
                  </a:lnTo>
                  <a:lnTo>
                    <a:pt x="2543" y="9998"/>
                  </a:lnTo>
                  <a:lnTo>
                    <a:pt x="2719" y="9994"/>
                  </a:lnTo>
                  <a:lnTo>
                    <a:pt x="2888" y="9986"/>
                  </a:lnTo>
                  <a:lnTo>
                    <a:pt x="3064" y="9974"/>
                  </a:lnTo>
                  <a:lnTo>
                    <a:pt x="3237" y="9956"/>
                  </a:lnTo>
                  <a:lnTo>
                    <a:pt x="3410" y="9938"/>
                  </a:lnTo>
                  <a:lnTo>
                    <a:pt x="3586" y="9912"/>
                  </a:lnTo>
                  <a:lnTo>
                    <a:pt x="3761" y="9888"/>
                  </a:lnTo>
                  <a:lnTo>
                    <a:pt x="3761" y="98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1870" tIns="50935" rIns="101870" bIns="50935"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13" name="AutoShape 3">
              <a:extLst>
                <a:ext uri="{FF2B5EF4-FFF2-40B4-BE49-F238E27FC236}">
                  <a16:creationId xmlns:a16="http://schemas.microsoft.com/office/drawing/2014/main" id="{53853A01-5A5E-4545-8FAC-7D0461928013}"/>
                </a:ext>
              </a:extLst>
            </p:cNvPr>
            <p:cNvSpPr>
              <a:spLocks noChangeAspect="1" noChangeArrowheads="1" noTextEdit="1"/>
            </p:cNvSpPr>
            <p:nvPr/>
          </p:nvSpPr>
          <p:spPr bwMode="auto">
            <a:xfrm>
              <a:off x="6344958" y="4714978"/>
              <a:ext cx="1642023" cy="2123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70" tIns="50935" rIns="101870" bIns="50935"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14" name="Freeform 24">
              <a:extLst>
                <a:ext uri="{FF2B5EF4-FFF2-40B4-BE49-F238E27FC236}">
                  <a16:creationId xmlns:a16="http://schemas.microsoft.com/office/drawing/2014/main" id="{EB2EC031-833D-452B-9FB5-399E2F1F260B}"/>
                </a:ext>
              </a:extLst>
            </p:cNvPr>
            <p:cNvSpPr>
              <a:spLocks/>
            </p:cNvSpPr>
            <p:nvPr/>
          </p:nvSpPr>
          <p:spPr bwMode="auto">
            <a:xfrm>
              <a:off x="6485115" y="4969046"/>
              <a:ext cx="733679" cy="649995"/>
            </a:xfrm>
            <a:custGeom>
              <a:avLst/>
              <a:gdLst>
                <a:gd name="T0" fmla="*/ 1364 w 1964"/>
                <a:gd name="T1" fmla="*/ 0 h 1926"/>
                <a:gd name="T2" fmla="*/ 0 w 1964"/>
                <a:gd name="T3" fmla="*/ 1670 h 1926"/>
                <a:gd name="T4" fmla="*/ 256 w 1964"/>
                <a:gd name="T5" fmla="*/ 1926 h 1926"/>
                <a:gd name="T6" fmla="*/ 1964 w 1964"/>
                <a:gd name="T7" fmla="*/ 604 h 1926"/>
                <a:gd name="T8" fmla="*/ 1876 w 1964"/>
                <a:gd name="T9" fmla="*/ 92 h 1926"/>
                <a:gd name="T10" fmla="*/ 1364 w 1964"/>
                <a:gd name="T11" fmla="*/ 0 h 1926"/>
              </a:gdLst>
              <a:ahLst/>
              <a:cxnLst>
                <a:cxn ang="0">
                  <a:pos x="T0" y="T1"/>
                </a:cxn>
                <a:cxn ang="0">
                  <a:pos x="T2" y="T3"/>
                </a:cxn>
                <a:cxn ang="0">
                  <a:pos x="T4" y="T5"/>
                </a:cxn>
                <a:cxn ang="0">
                  <a:pos x="T6" y="T7"/>
                </a:cxn>
                <a:cxn ang="0">
                  <a:pos x="T8" y="T9"/>
                </a:cxn>
                <a:cxn ang="0">
                  <a:pos x="T10" y="T11"/>
                </a:cxn>
              </a:cxnLst>
              <a:rect l="0" t="0" r="r" b="b"/>
              <a:pathLst>
                <a:path w="1964" h="1926">
                  <a:moveTo>
                    <a:pt x="1364" y="0"/>
                  </a:moveTo>
                  <a:lnTo>
                    <a:pt x="0" y="1670"/>
                  </a:lnTo>
                  <a:lnTo>
                    <a:pt x="256" y="1926"/>
                  </a:lnTo>
                  <a:lnTo>
                    <a:pt x="1964" y="604"/>
                  </a:lnTo>
                  <a:lnTo>
                    <a:pt x="1876" y="92"/>
                  </a:lnTo>
                  <a:lnTo>
                    <a:pt x="1364" y="0"/>
                  </a:lnTo>
                  <a:close/>
                </a:path>
              </a:pathLst>
            </a:cu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1870" tIns="50935" rIns="101870" bIns="50935"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Verdana"/>
                <a:ea typeface="+mn-ea"/>
                <a:cs typeface="+mn-cs"/>
              </a:endParaRPr>
            </a:p>
          </p:txBody>
        </p:sp>
        <p:sp>
          <p:nvSpPr>
            <p:cNvPr id="115" name="Freeform 24">
              <a:extLst>
                <a:ext uri="{FF2B5EF4-FFF2-40B4-BE49-F238E27FC236}">
                  <a16:creationId xmlns:a16="http://schemas.microsoft.com/office/drawing/2014/main" id="{049B6CF0-15AE-4EDE-B0DE-7C8577774F1A}"/>
                </a:ext>
              </a:extLst>
            </p:cNvPr>
            <p:cNvSpPr>
              <a:spLocks/>
            </p:cNvSpPr>
            <p:nvPr/>
          </p:nvSpPr>
          <p:spPr bwMode="auto">
            <a:xfrm rot="1450862">
              <a:off x="6600286" y="5211090"/>
              <a:ext cx="733679" cy="649995"/>
            </a:xfrm>
            <a:custGeom>
              <a:avLst/>
              <a:gdLst>
                <a:gd name="T0" fmla="*/ 1364 w 1964"/>
                <a:gd name="T1" fmla="*/ 0 h 1926"/>
                <a:gd name="T2" fmla="*/ 0 w 1964"/>
                <a:gd name="T3" fmla="*/ 1670 h 1926"/>
                <a:gd name="T4" fmla="*/ 256 w 1964"/>
                <a:gd name="T5" fmla="*/ 1926 h 1926"/>
                <a:gd name="T6" fmla="*/ 1964 w 1964"/>
                <a:gd name="T7" fmla="*/ 604 h 1926"/>
                <a:gd name="T8" fmla="*/ 1876 w 1964"/>
                <a:gd name="T9" fmla="*/ 92 h 1926"/>
                <a:gd name="T10" fmla="*/ 1364 w 1964"/>
                <a:gd name="T11" fmla="*/ 0 h 1926"/>
              </a:gdLst>
              <a:ahLst/>
              <a:cxnLst>
                <a:cxn ang="0">
                  <a:pos x="T0" y="T1"/>
                </a:cxn>
                <a:cxn ang="0">
                  <a:pos x="T2" y="T3"/>
                </a:cxn>
                <a:cxn ang="0">
                  <a:pos x="T4" y="T5"/>
                </a:cxn>
                <a:cxn ang="0">
                  <a:pos x="T6" y="T7"/>
                </a:cxn>
                <a:cxn ang="0">
                  <a:pos x="T8" y="T9"/>
                </a:cxn>
                <a:cxn ang="0">
                  <a:pos x="T10" y="T11"/>
                </a:cxn>
              </a:cxnLst>
              <a:rect l="0" t="0" r="r" b="b"/>
              <a:pathLst>
                <a:path w="1964" h="1926">
                  <a:moveTo>
                    <a:pt x="1364" y="0"/>
                  </a:moveTo>
                  <a:lnTo>
                    <a:pt x="0" y="1670"/>
                  </a:lnTo>
                  <a:lnTo>
                    <a:pt x="256" y="1926"/>
                  </a:lnTo>
                  <a:lnTo>
                    <a:pt x="1964" y="604"/>
                  </a:lnTo>
                  <a:lnTo>
                    <a:pt x="1876" y="92"/>
                  </a:lnTo>
                  <a:lnTo>
                    <a:pt x="1364" y="0"/>
                  </a:lnTo>
                  <a:close/>
                </a:path>
              </a:pathLst>
            </a:custGeom>
            <a:solidFill>
              <a:schemeClr val="accent3"/>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1870" tIns="50935" rIns="101870" bIns="50935"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Verdana"/>
                <a:ea typeface="+mn-ea"/>
                <a:cs typeface="+mn-cs"/>
              </a:endParaRPr>
            </a:p>
          </p:txBody>
        </p:sp>
        <p:sp>
          <p:nvSpPr>
            <p:cNvPr id="116" name="Freeform 24">
              <a:extLst>
                <a:ext uri="{FF2B5EF4-FFF2-40B4-BE49-F238E27FC236}">
                  <a16:creationId xmlns:a16="http://schemas.microsoft.com/office/drawing/2014/main" id="{4586599C-62CE-418D-8507-D13CBD86766B}"/>
                </a:ext>
              </a:extLst>
            </p:cNvPr>
            <p:cNvSpPr>
              <a:spLocks/>
            </p:cNvSpPr>
            <p:nvPr/>
          </p:nvSpPr>
          <p:spPr bwMode="auto">
            <a:xfrm flipV="1">
              <a:off x="6485115" y="5937220"/>
              <a:ext cx="733679" cy="649995"/>
            </a:xfrm>
            <a:custGeom>
              <a:avLst/>
              <a:gdLst>
                <a:gd name="T0" fmla="*/ 1364 w 1964"/>
                <a:gd name="T1" fmla="*/ 0 h 1926"/>
                <a:gd name="T2" fmla="*/ 0 w 1964"/>
                <a:gd name="T3" fmla="*/ 1670 h 1926"/>
                <a:gd name="T4" fmla="*/ 256 w 1964"/>
                <a:gd name="T5" fmla="*/ 1926 h 1926"/>
                <a:gd name="T6" fmla="*/ 1964 w 1964"/>
                <a:gd name="T7" fmla="*/ 604 h 1926"/>
                <a:gd name="T8" fmla="*/ 1876 w 1964"/>
                <a:gd name="T9" fmla="*/ 92 h 1926"/>
                <a:gd name="T10" fmla="*/ 1364 w 1964"/>
                <a:gd name="T11" fmla="*/ 0 h 1926"/>
              </a:gdLst>
              <a:ahLst/>
              <a:cxnLst>
                <a:cxn ang="0">
                  <a:pos x="T0" y="T1"/>
                </a:cxn>
                <a:cxn ang="0">
                  <a:pos x="T2" y="T3"/>
                </a:cxn>
                <a:cxn ang="0">
                  <a:pos x="T4" y="T5"/>
                </a:cxn>
                <a:cxn ang="0">
                  <a:pos x="T6" y="T7"/>
                </a:cxn>
                <a:cxn ang="0">
                  <a:pos x="T8" y="T9"/>
                </a:cxn>
                <a:cxn ang="0">
                  <a:pos x="T10" y="T11"/>
                </a:cxn>
              </a:cxnLst>
              <a:rect l="0" t="0" r="r" b="b"/>
              <a:pathLst>
                <a:path w="1964" h="1926">
                  <a:moveTo>
                    <a:pt x="1364" y="0"/>
                  </a:moveTo>
                  <a:lnTo>
                    <a:pt x="0" y="1670"/>
                  </a:lnTo>
                  <a:lnTo>
                    <a:pt x="256" y="1926"/>
                  </a:lnTo>
                  <a:lnTo>
                    <a:pt x="1964" y="604"/>
                  </a:lnTo>
                  <a:lnTo>
                    <a:pt x="1876" y="92"/>
                  </a:lnTo>
                  <a:lnTo>
                    <a:pt x="1364" y="0"/>
                  </a:lnTo>
                  <a:close/>
                </a:path>
              </a:pathLst>
            </a:custGeom>
            <a:solidFill>
              <a:schemeClr val="accent6">
                <a:lumMod val="75000"/>
              </a:schemeClr>
            </a:solid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1870" tIns="50935" rIns="101870" bIns="50935"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Verdana"/>
                <a:ea typeface="+mn-ea"/>
                <a:cs typeface="+mn-cs"/>
              </a:endParaRPr>
            </a:p>
          </p:txBody>
        </p:sp>
        <p:sp>
          <p:nvSpPr>
            <p:cNvPr id="117" name="Freeform 24">
              <a:extLst>
                <a:ext uri="{FF2B5EF4-FFF2-40B4-BE49-F238E27FC236}">
                  <a16:creationId xmlns:a16="http://schemas.microsoft.com/office/drawing/2014/main" id="{F8A2FE4A-880C-4D8E-9B70-BBA554BDB5F8}"/>
                </a:ext>
              </a:extLst>
            </p:cNvPr>
            <p:cNvSpPr>
              <a:spLocks/>
            </p:cNvSpPr>
            <p:nvPr/>
          </p:nvSpPr>
          <p:spPr bwMode="auto">
            <a:xfrm rot="20149138" flipV="1">
              <a:off x="6600286" y="5695176"/>
              <a:ext cx="733679" cy="649995"/>
            </a:xfrm>
            <a:custGeom>
              <a:avLst/>
              <a:gdLst>
                <a:gd name="T0" fmla="*/ 1364 w 1964"/>
                <a:gd name="T1" fmla="*/ 0 h 1926"/>
                <a:gd name="T2" fmla="*/ 0 w 1964"/>
                <a:gd name="T3" fmla="*/ 1670 h 1926"/>
                <a:gd name="T4" fmla="*/ 256 w 1964"/>
                <a:gd name="T5" fmla="*/ 1926 h 1926"/>
                <a:gd name="T6" fmla="*/ 1964 w 1964"/>
                <a:gd name="T7" fmla="*/ 604 h 1926"/>
                <a:gd name="T8" fmla="*/ 1876 w 1964"/>
                <a:gd name="T9" fmla="*/ 92 h 1926"/>
                <a:gd name="T10" fmla="*/ 1364 w 1964"/>
                <a:gd name="T11" fmla="*/ 0 h 1926"/>
              </a:gdLst>
              <a:ahLst/>
              <a:cxnLst>
                <a:cxn ang="0">
                  <a:pos x="T0" y="T1"/>
                </a:cxn>
                <a:cxn ang="0">
                  <a:pos x="T2" y="T3"/>
                </a:cxn>
                <a:cxn ang="0">
                  <a:pos x="T4" y="T5"/>
                </a:cxn>
                <a:cxn ang="0">
                  <a:pos x="T6" y="T7"/>
                </a:cxn>
                <a:cxn ang="0">
                  <a:pos x="T8" y="T9"/>
                </a:cxn>
                <a:cxn ang="0">
                  <a:pos x="T10" y="T11"/>
                </a:cxn>
              </a:cxnLst>
              <a:rect l="0" t="0" r="r" b="b"/>
              <a:pathLst>
                <a:path w="1964" h="1926">
                  <a:moveTo>
                    <a:pt x="1364" y="0"/>
                  </a:moveTo>
                  <a:lnTo>
                    <a:pt x="0" y="1670"/>
                  </a:lnTo>
                  <a:lnTo>
                    <a:pt x="256" y="1926"/>
                  </a:lnTo>
                  <a:lnTo>
                    <a:pt x="1964" y="604"/>
                  </a:lnTo>
                  <a:lnTo>
                    <a:pt x="1876" y="92"/>
                  </a:lnTo>
                  <a:lnTo>
                    <a:pt x="1364" y="0"/>
                  </a:lnTo>
                  <a:close/>
                </a:path>
              </a:pathLst>
            </a:cu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1870" tIns="50935" rIns="101870" bIns="50935"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Verdana"/>
                <a:ea typeface="+mn-ea"/>
                <a:cs typeface="+mn-cs"/>
              </a:endParaRPr>
            </a:p>
          </p:txBody>
        </p:sp>
        <p:sp>
          <p:nvSpPr>
            <p:cNvPr id="118" name="Freeform 24">
              <a:extLst>
                <a:ext uri="{FF2B5EF4-FFF2-40B4-BE49-F238E27FC236}">
                  <a16:creationId xmlns:a16="http://schemas.microsoft.com/office/drawing/2014/main" id="{C24C2696-71CE-4C89-9562-AFC91A628326}"/>
                </a:ext>
              </a:extLst>
            </p:cNvPr>
            <p:cNvSpPr>
              <a:spLocks/>
            </p:cNvSpPr>
            <p:nvPr/>
          </p:nvSpPr>
          <p:spPr bwMode="auto">
            <a:xfrm rot="2592155">
              <a:off x="6631952" y="5453133"/>
              <a:ext cx="733679" cy="649995"/>
            </a:xfrm>
            <a:custGeom>
              <a:avLst/>
              <a:gdLst>
                <a:gd name="T0" fmla="*/ 1364 w 1964"/>
                <a:gd name="T1" fmla="*/ 0 h 1926"/>
                <a:gd name="T2" fmla="*/ 0 w 1964"/>
                <a:gd name="T3" fmla="*/ 1670 h 1926"/>
                <a:gd name="T4" fmla="*/ 256 w 1964"/>
                <a:gd name="T5" fmla="*/ 1926 h 1926"/>
                <a:gd name="T6" fmla="*/ 1964 w 1964"/>
                <a:gd name="T7" fmla="*/ 604 h 1926"/>
                <a:gd name="T8" fmla="*/ 1876 w 1964"/>
                <a:gd name="T9" fmla="*/ 92 h 1926"/>
                <a:gd name="T10" fmla="*/ 1364 w 1964"/>
                <a:gd name="T11" fmla="*/ 0 h 1926"/>
              </a:gdLst>
              <a:ahLst/>
              <a:cxnLst>
                <a:cxn ang="0">
                  <a:pos x="T0" y="T1"/>
                </a:cxn>
                <a:cxn ang="0">
                  <a:pos x="T2" y="T3"/>
                </a:cxn>
                <a:cxn ang="0">
                  <a:pos x="T4" y="T5"/>
                </a:cxn>
                <a:cxn ang="0">
                  <a:pos x="T6" y="T7"/>
                </a:cxn>
                <a:cxn ang="0">
                  <a:pos x="T8" y="T9"/>
                </a:cxn>
                <a:cxn ang="0">
                  <a:pos x="T10" y="T11"/>
                </a:cxn>
              </a:cxnLst>
              <a:rect l="0" t="0" r="r" b="b"/>
              <a:pathLst>
                <a:path w="1964" h="1926">
                  <a:moveTo>
                    <a:pt x="1364" y="0"/>
                  </a:moveTo>
                  <a:lnTo>
                    <a:pt x="0" y="1670"/>
                  </a:lnTo>
                  <a:lnTo>
                    <a:pt x="256" y="1926"/>
                  </a:lnTo>
                  <a:lnTo>
                    <a:pt x="1964" y="604"/>
                  </a:lnTo>
                  <a:lnTo>
                    <a:pt x="1876" y="92"/>
                  </a:lnTo>
                  <a:lnTo>
                    <a:pt x="1364" y="0"/>
                  </a:lnTo>
                  <a:close/>
                </a:path>
              </a:pathLst>
            </a:custGeom>
            <a:solidFill>
              <a:schemeClr val="accent4"/>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1870" tIns="50935" rIns="101870" bIns="50935"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Verdana"/>
                <a:ea typeface="+mn-ea"/>
                <a:cs typeface="+mn-cs"/>
              </a:endParaRPr>
            </a:p>
          </p:txBody>
        </p:sp>
        <p:sp>
          <p:nvSpPr>
            <p:cNvPr id="119" name="Rectangle 118">
              <a:extLst>
                <a:ext uri="{FF2B5EF4-FFF2-40B4-BE49-F238E27FC236}">
                  <a16:creationId xmlns:a16="http://schemas.microsoft.com/office/drawing/2014/main" id="{C87686F7-C112-4821-AAC0-1F4588534537}"/>
                </a:ext>
              </a:extLst>
            </p:cNvPr>
            <p:cNvSpPr/>
            <p:nvPr/>
          </p:nvSpPr>
          <p:spPr>
            <a:xfrm>
              <a:off x="7645336" y="4733288"/>
              <a:ext cx="4348122" cy="265122"/>
            </a:xfrm>
            <a:prstGeom prst="rect">
              <a:avLst/>
            </a:prstGeom>
          </p:spPr>
          <p:txBody>
            <a:bodyPr wrap="square" lIns="101870" tIns="50935" rIns="101870" bIns="50935">
              <a:spAutoFit/>
            </a:bodyPr>
            <a:lstStyle/>
            <a:p>
              <a:pPr marL="0" marR="0" lvl="0" indent="0" algn="l" defTabSz="71076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Effective Communication Plan leveraging digital tools </a:t>
              </a:r>
            </a:p>
          </p:txBody>
        </p:sp>
        <p:sp>
          <p:nvSpPr>
            <p:cNvPr id="120" name="Rectangle 119">
              <a:extLst>
                <a:ext uri="{FF2B5EF4-FFF2-40B4-BE49-F238E27FC236}">
                  <a16:creationId xmlns:a16="http://schemas.microsoft.com/office/drawing/2014/main" id="{353384D3-A540-4F67-97CE-FE9B6F52CA70}"/>
                </a:ext>
              </a:extLst>
            </p:cNvPr>
            <p:cNvSpPr/>
            <p:nvPr/>
          </p:nvSpPr>
          <p:spPr>
            <a:xfrm>
              <a:off x="8193106" y="5109160"/>
              <a:ext cx="3726093" cy="441419"/>
            </a:xfrm>
            <a:prstGeom prst="rect">
              <a:avLst/>
            </a:prstGeom>
          </p:spPr>
          <p:txBody>
            <a:bodyPr wrap="square" lIns="101870" tIns="50935" rIns="101870" bIns="50935">
              <a:spAutoFit/>
            </a:bodyPr>
            <a:lstStyle/>
            <a:p>
              <a:pPr marL="0" marR="0" lvl="0" indent="0" algn="l" defTabSz="71076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Continuous training and knowledge transfer to Ministries/ States/UTs</a:t>
              </a:r>
            </a:p>
          </p:txBody>
        </p:sp>
        <p:sp>
          <p:nvSpPr>
            <p:cNvPr id="121" name="Rectangle 120">
              <a:extLst>
                <a:ext uri="{FF2B5EF4-FFF2-40B4-BE49-F238E27FC236}">
                  <a16:creationId xmlns:a16="http://schemas.microsoft.com/office/drawing/2014/main" id="{32245A30-6D09-4446-87F3-8D08BA6B9E2F}"/>
                </a:ext>
              </a:extLst>
            </p:cNvPr>
            <p:cNvSpPr/>
            <p:nvPr/>
          </p:nvSpPr>
          <p:spPr>
            <a:xfrm>
              <a:off x="8327937" y="5589539"/>
              <a:ext cx="3665522" cy="441419"/>
            </a:xfrm>
            <a:prstGeom prst="rect">
              <a:avLst/>
            </a:prstGeom>
          </p:spPr>
          <p:txBody>
            <a:bodyPr wrap="square" lIns="101870" tIns="50935" rIns="101870" bIns="50935">
              <a:spAutoFit/>
            </a:bodyPr>
            <a:lstStyle/>
            <a:p>
              <a:pPr marL="0" marR="0" lvl="0" indent="0" algn="l" defTabSz="71076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Support in monitoring progress against implementation roadmap</a:t>
              </a:r>
            </a:p>
          </p:txBody>
        </p:sp>
        <p:sp>
          <p:nvSpPr>
            <p:cNvPr id="122" name="Rectangle 121">
              <a:extLst>
                <a:ext uri="{FF2B5EF4-FFF2-40B4-BE49-F238E27FC236}">
                  <a16:creationId xmlns:a16="http://schemas.microsoft.com/office/drawing/2014/main" id="{039B64BE-0D2F-431A-A4EC-CD59EB4DCABF}"/>
                </a:ext>
              </a:extLst>
            </p:cNvPr>
            <p:cNvSpPr/>
            <p:nvPr/>
          </p:nvSpPr>
          <p:spPr>
            <a:xfrm>
              <a:off x="8196948" y="5995683"/>
              <a:ext cx="3800352" cy="444333"/>
            </a:xfrm>
            <a:prstGeom prst="rect">
              <a:avLst/>
            </a:prstGeom>
          </p:spPr>
          <p:txBody>
            <a:bodyPr wrap="square" lIns="101870" tIns="50935" rIns="101870" bIns="50935">
              <a:spAutoFit/>
            </a:bodyPr>
            <a:lstStyle/>
            <a:p>
              <a:pPr marL="0" marR="0" lvl="0" indent="0" algn="l" defTabSz="71076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Continuous training and knowledge building throughout the project</a:t>
              </a:r>
            </a:p>
          </p:txBody>
        </p:sp>
        <p:sp>
          <p:nvSpPr>
            <p:cNvPr id="123" name="Rectangle 122">
              <a:extLst>
                <a:ext uri="{FF2B5EF4-FFF2-40B4-BE49-F238E27FC236}">
                  <a16:creationId xmlns:a16="http://schemas.microsoft.com/office/drawing/2014/main" id="{6613FEA3-170B-471D-8E72-C5387A95C640}"/>
                </a:ext>
              </a:extLst>
            </p:cNvPr>
            <p:cNvSpPr/>
            <p:nvPr/>
          </p:nvSpPr>
          <p:spPr>
            <a:xfrm>
              <a:off x="7666487" y="6360837"/>
              <a:ext cx="4348122" cy="430033"/>
            </a:xfrm>
            <a:prstGeom prst="rect">
              <a:avLst/>
            </a:prstGeom>
          </p:spPr>
          <p:txBody>
            <a:bodyPr wrap="square" lIns="101870" tIns="50935" rIns="101870" bIns="50935">
              <a:spAutoFit/>
            </a:bodyPr>
            <a:lstStyle/>
            <a:p>
              <a:pPr marL="0" marR="0" lvl="0" indent="0" algn="l" defTabSz="71076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Facilitate coordination to ensure effective implementation of training plan</a:t>
              </a:r>
            </a:p>
          </p:txBody>
        </p:sp>
        <p:sp>
          <p:nvSpPr>
            <p:cNvPr id="124" name="Oval 123">
              <a:extLst>
                <a:ext uri="{FF2B5EF4-FFF2-40B4-BE49-F238E27FC236}">
                  <a16:creationId xmlns:a16="http://schemas.microsoft.com/office/drawing/2014/main" id="{4A461394-CC3D-4A5C-8355-1D2D5DBFEB76}"/>
                </a:ext>
              </a:extLst>
            </p:cNvPr>
            <p:cNvSpPr/>
            <p:nvPr/>
          </p:nvSpPr>
          <p:spPr>
            <a:xfrm>
              <a:off x="6313406" y="5507511"/>
              <a:ext cx="596893" cy="539245"/>
            </a:xfrm>
            <a:prstGeom prst="ellipse">
              <a:avLst/>
            </a:prstGeom>
            <a:gradFill flip="none" rotWithShape="1">
              <a:gsLst>
                <a:gs pos="0">
                  <a:srgbClr val="575757">
                    <a:tint val="66000"/>
                    <a:satMod val="160000"/>
                  </a:srgbClr>
                </a:gs>
                <a:gs pos="50000">
                  <a:srgbClr val="575757">
                    <a:tint val="44500"/>
                    <a:satMod val="160000"/>
                  </a:srgbClr>
                </a:gs>
                <a:gs pos="100000">
                  <a:srgbClr val="575757">
                    <a:tint val="23500"/>
                    <a:satMod val="160000"/>
                  </a:srgbClr>
                </a:gs>
              </a:gsLst>
              <a:lin ang="0" scaled="1"/>
              <a:tileRect/>
            </a:gradFill>
            <a:ln w="127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Verdana"/>
                <a:ea typeface="+mn-ea"/>
                <a:cs typeface="+mn-cs"/>
              </a:endParaRPr>
            </a:p>
          </p:txBody>
        </p:sp>
        <p:sp>
          <p:nvSpPr>
            <p:cNvPr id="125" name="Oval 124">
              <a:extLst>
                <a:ext uri="{FF2B5EF4-FFF2-40B4-BE49-F238E27FC236}">
                  <a16:creationId xmlns:a16="http://schemas.microsoft.com/office/drawing/2014/main" id="{ACC0F26D-AA4C-45A9-B9A6-88525B84FD31}"/>
                </a:ext>
              </a:extLst>
            </p:cNvPr>
            <p:cNvSpPr/>
            <p:nvPr/>
          </p:nvSpPr>
          <p:spPr>
            <a:xfrm>
              <a:off x="6383327" y="5570678"/>
              <a:ext cx="457051" cy="412909"/>
            </a:xfrm>
            <a:prstGeom prst="ellipse">
              <a:avLst/>
            </a:prstGeom>
            <a:gradFill flip="none" rotWithShape="1">
              <a:gsLst>
                <a:gs pos="0">
                  <a:srgbClr val="575757">
                    <a:shade val="30000"/>
                    <a:satMod val="115000"/>
                  </a:srgbClr>
                </a:gs>
                <a:gs pos="50000">
                  <a:srgbClr val="575757">
                    <a:shade val="67500"/>
                    <a:satMod val="115000"/>
                  </a:srgbClr>
                </a:gs>
                <a:gs pos="100000">
                  <a:srgbClr val="575757">
                    <a:shade val="100000"/>
                    <a:satMod val="115000"/>
                  </a:srgbClr>
                </a:gs>
              </a:gsLst>
              <a:lin ang="162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Verdana"/>
                <a:ea typeface="+mn-ea"/>
                <a:cs typeface="+mn-cs"/>
              </a:endParaRPr>
            </a:p>
          </p:txBody>
        </p:sp>
        <p:cxnSp>
          <p:nvCxnSpPr>
            <p:cNvPr id="126" name="Straight Connector 125">
              <a:extLst>
                <a:ext uri="{FF2B5EF4-FFF2-40B4-BE49-F238E27FC236}">
                  <a16:creationId xmlns:a16="http://schemas.microsoft.com/office/drawing/2014/main" id="{B0DB3A4D-273C-418F-A427-4026664E3373}"/>
                </a:ext>
              </a:extLst>
            </p:cNvPr>
            <p:cNvCxnSpPr/>
            <p:nvPr/>
          </p:nvCxnSpPr>
          <p:spPr>
            <a:xfrm rot="16200000">
              <a:off x="8029398" y="5276235"/>
              <a:ext cx="316758"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6FEAAC3-9BC6-4335-9E41-418272A46A42}"/>
                </a:ext>
              </a:extLst>
            </p:cNvPr>
            <p:cNvCxnSpPr/>
            <p:nvPr/>
          </p:nvCxnSpPr>
          <p:spPr>
            <a:xfrm rot="5400000">
              <a:off x="7490375" y="4926463"/>
              <a:ext cx="3125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107CBC2B-88A0-4791-957A-AE3357DFDF93}"/>
                </a:ext>
              </a:extLst>
            </p:cNvPr>
            <p:cNvSpPr txBox="1"/>
            <p:nvPr/>
          </p:nvSpPr>
          <p:spPr>
            <a:xfrm>
              <a:off x="6902375" y="4909106"/>
              <a:ext cx="236178" cy="233933"/>
            </a:xfrm>
            <a:prstGeom prst="rect">
              <a:avLst/>
            </a:prstGeom>
            <a:noFill/>
          </p:spPr>
          <p:txBody>
            <a:bodyPr wrap="square" lIns="101870" tIns="50935" rIns="101870" bIns="50935"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Verdana"/>
                  <a:ea typeface="+mn-ea"/>
                  <a:cs typeface="+mn-cs"/>
                </a:rPr>
                <a:t>1</a:t>
              </a:r>
            </a:p>
          </p:txBody>
        </p:sp>
        <p:sp>
          <p:nvSpPr>
            <p:cNvPr id="129" name="TextBox 128">
              <a:extLst>
                <a:ext uri="{FF2B5EF4-FFF2-40B4-BE49-F238E27FC236}">
                  <a16:creationId xmlns:a16="http://schemas.microsoft.com/office/drawing/2014/main" id="{8811B52F-67FE-4658-B8F2-471E57E4449F}"/>
                </a:ext>
              </a:extLst>
            </p:cNvPr>
            <p:cNvSpPr txBox="1"/>
            <p:nvPr/>
          </p:nvSpPr>
          <p:spPr>
            <a:xfrm>
              <a:off x="7025722" y="5248246"/>
              <a:ext cx="236178" cy="233933"/>
            </a:xfrm>
            <a:prstGeom prst="rect">
              <a:avLst/>
            </a:prstGeom>
            <a:noFill/>
          </p:spPr>
          <p:txBody>
            <a:bodyPr wrap="square" lIns="101870" tIns="50935" rIns="101870" bIns="50935"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Verdana"/>
                  <a:ea typeface="+mn-ea"/>
                  <a:cs typeface="+mn-cs"/>
                </a:rPr>
                <a:t>2</a:t>
              </a:r>
            </a:p>
          </p:txBody>
        </p:sp>
        <p:sp>
          <p:nvSpPr>
            <p:cNvPr id="130" name="TextBox 129">
              <a:extLst>
                <a:ext uri="{FF2B5EF4-FFF2-40B4-BE49-F238E27FC236}">
                  <a16:creationId xmlns:a16="http://schemas.microsoft.com/office/drawing/2014/main" id="{A45B6AE5-7784-4217-85FC-F8588C9F3FF0}"/>
                </a:ext>
              </a:extLst>
            </p:cNvPr>
            <p:cNvSpPr txBox="1"/>
            <p:nvPr/>
          </p:nvSpPr>
          <p:spPr>
            <a:xfrm>
              <a:off x="7097483" y="5602651"/>
              <a:ext cx="236178" cy="233933"/>
            </a:xfrm>
            <a:prstGeom prst="rect">
              <a:avLst/>
            </a:prstGeom>
            <a:noFill/>
          </p:spPr>
          <p:txBody>
            <a:bodyPr wrap="square" lIns="101870" tIns="50935" rIns="101870" bIns="50935"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Verdana"/>
                  <a:ea typeface="+mn-ea"/>
                  <a:cs typeface="+mn-cs"/>
                </a:rPr>
                <a:t>3</a:t>
              </a:r>
            </a:p>
          </p:txBody>
        </p:sp>
        <p:sp>
          <p:nvSpPr>
            <p:cNvPr id="131" name="TextBox 130">
              <a:extLst>
                <a:ext uri="{FF2B5EF4-FFF2-40B4-BE49-F238E27FC236}">
                  <a16:creationId xmlns:a16="http://schemas.microsoft.com/office/drawing/2014/main" id="{330C5C1B-1A7E-49C0-82FE-020705DE6AC9}"/>
                </a:ext>
              </a:extLst>
            </p:cNvPr>
            <p:cNvSpPr txBox="1"/>
            <p:nvPr/>
          </p:nvSpPr>
          <p:spPr>
            <a:xfrm>
              <a:off x="7018137" y="5859714"/>
              <a:ext cx="236178" cy="233933"/>
            </a:xfrm>
            <a:prstGeom prst="rect">
              <a:avLst/>
            </a:prstGeom>
            <a:noFill/>
          </p:spPr>
          <p:txBody>
            <a:bodyPr wrap="square" lIns="101870" tIns="50935" rIns="101870" bIns="50935"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Verdana"/>
                  <a:ea typeface="+mn-ea"/>
                  <a:cs typeface="+mn-cs"/>
                </a:rPr>
                <a:t>4</a:t>
              </a:r>
            </a:p>
          </p:txBody>
        </p:sp>
        <p:sp>
          <p:nvSpPr>
            <p:cNvPr id="132" name="TextBox 131">
              <a:extLst>
                <a:ext uri="{FF2B5EF4-FFF2-40B4-BE49-F238E27FC236}">
                  <a16:creationId xmlns:a16="http://schemas.microsoft.com/office/drawing/2014/main" id="{A602EBBD-1EF3-4B82-9200-5CAAF8C5A67F}"/>
                </a:ext>
              </a:extLst>
            </p:cNvPr>
            <p:cNvSpPr txBox="1"/>
            <p:nvPr/>
          </p:nvSpPr>
          <p:spPr>
            <a:xfrm>
              <a:off x="6902375" y="6230901"/>
              <a:ext cx="236178" cy="233933"/>
            </a:xfrm>
            <a:prstGeom prst="rect">
              <a:avLst/>
            </a:prstGeom>
            <a:noFill/>
          </p:spPr>
          <p:txBody>
            <a:bodyPr wrap="square" lIns="101870" tIns="50935" rIns="101870" bIns="50935"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Verdana"/>
                  <a:ea typeface="+mn-ea"/>
                  <a:cs typeface="+mn-cs"/>
                </a:rPr>
                <a:t>5</a:t>
              </a:r>
            </a:p>
          </p:txBody>
        </p:sp>
        <p:sp>
          <p:nvSpPr>
            <p:cNvPr id="133" name="Freeform 217">
              <a:extLst>
                <a:ext uri="{FF2B5EF4-FFF2-40B4-BE49-F238E27FC236}">
                  <a16:creationId xmlns:a16="http://schemas.microsoft.com/office/drawing/2014/main" id="{9CCCC914-8881-46F7-A100-6027A84DBAE4}"/>
                </a:ext>
              </a:extLst>
            </p:cNvPr>
            <p:cNvSpPr>
              <a:spLocks noEditPoints="1"/>
            </p:cNvSpPr>
            <p:nvPr/>
          </p:nvSpPr>
          <p:spPr bwMode="auto">
            <a:xfrm rot="16200000">
              <a:off x="7360672" y="4853538"/>
              <a:ext cx="268234" cy="135981"/>
            </a:xfrm>
            <a:custGeom>
              <a:avLst/>
              <a:gdLst>
                <a:gd name="T0" fmla="*/ 430 w 470"/>
                <a:gd name="T1" fmla="*/ 70 h 212"/>
                <a:gd name="T2" fmla="*/ 204 w 470"/>
                <a:gd name="T3" fmla="*/ 70 h 212"/>
                <a:gd name="T4" fmla="*/ 188 w 470"/>
                <a:gd name="T5" fmla="*/ 40 h 212"/>
                <a:gd name="T6" fmla="*/ 180 w 470"/>
                <a:gd name="T7" fmla="*/ 32 h 212"/>
                <a:gd name="T8" fmla="*/ 144 w 470"/>
                <a:gd name="T9" fmla="*/ 8 h 212"/>
                <a:gd name="T10" fmla="*/ 106 w 470"/>
                <a:gd name="T11" fmla="*/ 0 h 212"/>
                <a:gd name="T12" fmla="*/ 66 w 470"/>
                <a:gd name="T13" fmla="*/ 8 h 212"/>
                <a:gd name="T14" fmla="*/ 30 w 470"/>
                <a:gd name="T15" fmla="*/ 32 h 212"/>
                <a:gd name="T16" fmla="*/ 18 w 470"/>
                <a:gd name="T17" fmla="*/ 48 h 212"/>
                <a:gd name="T18" fmla="*/ 2 w 470"/>
                <a:gd name="T19" fmla="*/ 86 h 212"/>
                <a:gd name="T20" fmla="*/ 2 w 470"/>
                <a:gd name="T21" fmla="*/ 126 h 212"/>
                <a:gd name="T22" fmla="*/ 18 w 470"/>
                <a:gd name="T23" fmla="*/ 164 h 212"/>
                <a:gd name="T24" fmla="*/ 30 w 470"/>
                <a:gd name="T25" fmla="*/ 180 h 212"/>
                <a:gd name="T26" fmla="*/ 66 w 470"/>
                <a:gd name="T27" fmla="*/ 204 h 212"/>
                <a:gd name="T28" fmla="*/ 106 w 470"/>
                <a:gd name="T29" fmla="*/ 212 h 212"/>
                <a:gd name="T30" fmla="*/ 144 w 470"/>
                <a:gd name="T31" fmla="*/ 204 h 212"/>
                <a:gd name="T32" fmla="*/ 180 w 470"/>
                <a:gd name="T33" fmla="*/ 180 h 212"/>
                <a:gd name="T34" fmla="*/ 190 w 470"/>
                <a:gd name="T35" fmla="*/ 168 h 212"/>
                <a:gd name="T36" fmla="*/ 204 w 470"/>
                <a:gd name="T37" fmla="*/ 142 h 212"/>
                <a:gd name="T38" fmla="*/ 258 w 470"/>
                <a:gd name="T39" fmla="*/ 126 h 212"/>
                <a:gd name="T40" fmla="*/ 306 w 470"/>
                <a:gd name="T41" fmla="*/ 128 h 212"/>
                <a:gd name="T42" fmla="*/ 354 w 470"/>
                <a:gd name="T43" fmla="*/ 128 h 212"/>
                <a:gd name="T44" fmla="*/ 402 w 470"/>
                <a:gd name="T45" fmla="*/ 128 h 212"/>
                <a:gd name="T46" fmla="*/ 452 w 470"/>
                <a:gd name="T47" fmla="*/ 126 h 212"/>
                <a:gd name="T48" fmla="*/ 470 w 470"/>
                <a:gd name="T49" fmla="*/ 108 h 212"/>
                <a:gd name="T50" fmla="*/ 74 w 470"/>
                <a:gd name="T51" fmla="*/ 124 h 212"/>
                <a:gd name="T52" fmla="*/ 66 w 470"/>
                <a:gd name="T53" fmla="*/ 128 h 212"/>
                <a:gd name="T54" fmla="*/ 46 w 470"/>
                <a:gd name="T55" fmla="*/ 128 h 212"/>
                <a:gd name="T56" fmla="*/ 38 w 470"/>
                <a:gd name="T57" fmla="*/ 124 h 212"/>
                <a:gd name="T58" fmla="*/ 32 w 470"/>
                <a:gd name="T59" fmla="*/ 106 h 212"/>
                <a:gd name="T60" fmla="*/ 38 w 470"/>
                <a:gd name="T61" fmla="*/ 88 h 212"/>
                <a:gd name="T62" fmla="*/ 46 w 470"/>
                <a:gd name="T63" fmla="*/ 84 h 212"/>
                <a:gd name="T64" fmla="*/ 66 w 470"/>
                <a:gd name="T65" fmla="*/ 84 h 212"/>
                <a:gd name="T66" fmla="*/ 74 w 470"/>
                <a:gd name="T67" fmla="*/ 88 h 212"/>
                <a:gd name="T68" fmla="*/ 80 w 470"/>
                <a:gd name="T69" fmla="*/ 106 h 212"/>
                <a:gd name="T70" fmla="*/ 74 w 470"/>
                <a:gd name="T71" fmla="*/ 124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0" h="212">
                  <a:moveTo>
                    <a:pt x="430" y="70"/>
                  </a:moveTo>
                  <a:lnTo>
                    <a:pt x="430" y="70"/>
                  </a:lnTo>
                  <a:lnTo>
                    <a:pt x="204" y="70"/>
                  </a:lnTo>
                  <a:lnTo>
                    <a:pt x="204" y="70"/>
                  </a:lnTo>
                  <a:lnTo>
                    <a:pt x="194" y="50"/>
                  </a:lnTo>
                  <a:lnTo>
                    <a:pt x="188" y="40"/>
                  </a:lnTo>
                  <a:lnTo>
                    <a:pt x="180" y="32"/>
                  </a:lnTo>
                  <a:lnTo>
                    <a:pt x="180" y="32"/>
                  </a:lnTo>
                  <a:lnTo>
                    <a:pt x="164" y="18"/>
                  </a:lnTo>
                  <a:lnTo>
                    <a:pt x="144" y="8"/>
                  </a:lnTo>
                  <a:lnTo>
                    <a:pt x="126" y="2"/>
                  </a:lnTo>
                  <a:lnTo>
                    <a:pt x="106" y="0"/>
                  </a:lnTo>
                  <a:lnTo>
                    <a:pt x="84" y="2"/>
                  </a:lnTo>
                  <a:lnTo>
                    <a:pt x="66" y="8"/>
                  </a:lnTo>
                  <a:lnTo>
                    <a:pt x="48" y="18"/>
                  </a:lnTo>
                  <a:lnTo>
                    <a:pt x="30" y="32"/>
                  </a:lnTo>
                  <a:lnTo>
                    <a:pt x="30" y="32"/>
                  </a:lnTo>
                  <a:lnTo>
                    <a:pt x="18" y="48"/>
                  </a:lnTo>
                  <a:lnTo>
                    <a:pt x="8" y="66"/>
                  </a:lnTo>
                  <a:lnTo>
                    <a:pt x="2" y="86"/>
                  </a:lnTo>
                  <a:lnTo>
                    <a:pt x="0" y="106"/>
                  </a:lnTo>
                  <a:lnTo>
                    <a:pt x="2" y="126"/>
                  </a:lnTo>
                  <a:lnTo>
                    <a:pt x="8" y="146"/>
                  </a:lnTo>
                  <a:lnTo>
                    <a:pt x="18" y="164"/>
                  </a:lnTo>
                  <a:lnTo>
                    <a:pt x="30" y="180"/>
                  </a:lnTo>
                  <a:lnTo>
                    <a:pt x="30" y="180"/>
                  </a:lnTo>
                  <a:lnTo>
                    <a:pt x="48" y="194"/>
                  </a:lnTo>
                  <a:lnTo>
                    <a:pt x="66" y="204"/>
                  </a:lnTo>
                  <a:lnTo>
                    <a:pt x="84" y="210"/>
                  </a:lnTo>
                  <a:lnTo>
                    <a:pt x="106" y="212"/>
                  </a:lnTo>
                  <a:lnTo>
                    <a:pt x="126" y="210"/>
                  </a:lnTo>
                  <a:lnTo>
                    <a:pt x="144" y="204"/>
                  </a:lnTo>
                  <a:lnTo>
                    <a:pt x="164" y="194"/>
                  </a:lnTo>
                  <a:lnTo>
                    <a:pt x="180" y="180"/>
                  </a:lnTo>
                  <a:lnTo>
                    <a:pt x="180" y="180"/>
                  </a:lnTo>
                  <a:lnTo>
                    <a:pt x="190" y="168"/>
                  </a:lnTo>
                  <a:lnTo>
                    <a:pt x="198" y="156"/>
                  </a:lnTo>
                  <a:lnTo>
                    <a:pt x="204" y="142"/>
                  </a:lnTo>
                  <a:lnTo>
                    <a:pt x="208" y="126"/>
                  </a:lnTo>
                  <a:lnTo>
                    <a:pt x="258" y="126"/>
                  </a:lnTo>
                  <a:lnTo>
                    <a:pt x="282" y="152"/>
                  </a:lnTo>
                  <a:lnTo>
                    <a:pt x="306" y="128"/>
                  </a:lnTo>
                  <a:lnTo>
                    <a:pt x="330" y="152"/>
                  </a:lnTo>
                  <a:lnTo>
                    <a:pt x="354" y="128"/>
                  </a:lnTo>
                  <a:lnTo>
                    <a:pt x="378" y="152"/>
                  </a:lnTo>
                  <a:lnTo>
                    <a:pt x="402" y="128"/>
                  </a:lnTo>
                  <a:lnTo>
                    <a:pt x="426" y="152"/>
                  </a:lnTo>
                  <a:lnTo>
                    <a:pt x="452" y="126"/>
                  </a:lnTo>
                  <a:lnTo>
                    <a:pt x="460" y="118"/>
                  </a:lnTo>
                  <a:lnTo>
                    <a:pt x="470" y="108"/>
                  </a:lnTo>
                  <a:lnTo>
                    <a:pt x="430" y="70"/>
                  </a:lnTo>
                  <a:close/>
                  <a:moveTo>
                    <a:pt x="74" y="124"/>
                  </a:moveTo>
                  <a:lnTo>
                    <a:pt x="74" y="124"/>
                  </a:lnTo>
                  <a:lnTo>
                    <a:pt x="66" y="128"/>
                  </a:lnTo>
                  <a:lnTo>
                    <a:pt x="56" y="130"/>
                  </a:lnTo>
                  <a:lnTo>
                    <a:pt x="46" y="128"/>
                  </a:lnTo>
                  <a:lnTo>
                    <a:pt x="38" y="124"/>
                  </a:lnTo>
                  <a:lnTo>
                    <a:pt x="38" y="124"/>
                  </a:lnTo>
                  <a:lnTo>
                    <a:pt x="34" y="116"/>
                  </a:lnTo>
                  <a:lnTo>
                    <a:pt x="32" y="106"/>
                  </a:lnTo>
                  <a:lnTo>
                    <a:pt x="34" y="96"/>
                  </a:lnTo>
                  <a:lnTo>
                    <a:pt x="38" y="88"/>
                  </a:lnTo>
                  <a:lnTo>
                    <a:pt x="38" y="88"/>
                  </a:lnTo>
                  <a:lnTo>
                    <a:pt x="46" y="84"/>
                  </a:lnTo>
                  <a:lnTo>
                    <a:pt x="56" y="82"/>
                  </a:lnTo>
                  <a:lnTo>
                    <a:pt x="66" y="84"/>
                  </a:lnTo>
                  <a:lnTo>
                    <a:pt x="74" y="88"/>
                  </a:lnTo>
                  <a:lnTo>
                    <a:pt x="74" y="88"/>
                  </a:lnTo>
                  <a:lnTo>
                    <a:pt x="78" y="96"/>
                  </a:lnTo>
                  <a:lnTo>
                    <a:pt x="80" y="106"/>
                  </a:lnTo>
                  <a:lnTo>
                    <a:pt x="78" y="116"/>
                  </a:lnTo>
                  <a:lnTo>
                    <a:pt x="74" y="124"/>
                  </a:lnTo>
                  <a:lnTo>
                    <a:pt x="74" y="12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134" name="Group 133">
              <a:extLst>
                <a:ext uri="{FF2B5EF4-FFF2-40B4-BE49-F238E27FC236}">
                  <a16:creationId xmlns:a16="http://schemas.microsoft.com/office/drawing/2014/main" id="{F073DE26-6264-459D-A251-499E8FB5CC02}"/>
                </a:ext>
              </a:extLst>
            </p:cNvPr>
            <p:cNvGrpSpPr/>
            <p:nvPr/>
          </p:nvGrpSpPr>
          <p:grpSpPr>
            <a:xfrm flipH="1">
              <a:off x="7811218" y="5198444"/>
              <a:ext cx="314483" cy="155580"/>
              <a:chOff x="7391400" y="1254125"/>
              <a:chExt cx="1631950" cy="920750"/>
            </a:xfrm>
          </p:grpSpPr>
          <p:sp>
            <p:nvSpPr>
              <p:cNvPr id="135" name="AutoShape 3">
                <a:extLst>
                  <a:ext uri="{FF2B5EF4-FFF2-40B4-BE49-F238E27FC236}">
                    <a16:creationId xmlns:a16="http://schemas.microsoft.com/office/drawing/2014/main" id="{626F1B3F-84E0-4C68-AADE-567435E30684}"/>
                  </a:ext>
                </a:extLst>
              </p:cNvPr>
              <p:cNvSpPr>
                <a:spLocks noChangeAspect="1" noChangeArrowheads="1" noTextEdit="1"/>
              </p:cNvSpPr>
              <p:nvPr/>
            </p:nvSpPr>
            <p:spPr bwMode="auto">
              <a:xfrm>
                <a:off x="7391400" y="1254125"/>
                <a:ext cx="16319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36" name="Freeform 5">
                <a:extLst>
                  <a:ext uri="{FF2B5EF4-FFF2-40B4-BE49-F238E27FC236}">
                    <a16:creationId xmlns:a16="http://schemas.microsoft.com/office/drawing/2014/main" id="{25240062-B69D-48E8-BA69-99FAD678182F}"/>
                  </a:ext>
                </a:extLst>
              </p:cNvPr>
              <p:cNvSpPr>
                <a:spLocks/>
              </p:cNvSpPr>
              <p:nvPr/>
            </p:nvSpPr>
            <p:spPr bwMode="auto">
              <a:xfrm>
                <a:off x="7845425" y="1254125"/>
                <a:ext cx="879475" cy="635000"/>
              </a:xfrm>
              <a:custGeom>
                <a:avLst/>
                <a:gdLst>
                  <a:gd name="T0" fmla="*/ 6 w 554"/>
                  <a:gd name="T1" fmla="*/ 156 h 400"/>
                  <a:gd name="T2" fmla="*/ 128 w 554"/>
                  <a:gd name="T3" fmla="*/ 54 h 400"/>
                  <a:gd name="T4" fmla="*/ 160 w 554"/>
                  <a:gd name="T5" fmla="*/ 24 h 400"/>
                  <a:gd name="T6" fmla="*/ 172 w 554"/>
                  <a:gd name="T7" fmla="*/ 12 h 400"/>
                  <a:gd name="T8" fmla="*/ 204 w 554"/>
                  <a:gd name="T9" fmla="*/ 0 h 400"/>
                  <a:gd name="T10" fmla="*/ 230 w 554"/>
                  <a:gd name="T11" fmla="*/ 0 h 400"/>
                  <a:gd name="T12" fmla="*/ 260 w 554"/>
                  <a:gd name="T13" fmla="*/ 4 h 400"/>
                  <a:gd name="T14" fmla="*/ 298 w 554"/>
                  <a:gd name="T15" fmla="*/ 18 h 400"/>
                  <a:gd name="T16" fmla="*/ 384 w 554"/>
                  <a:gd name="T17" fmla="*/ 62 h 400"/>
                  <a:gd name="T18" fmla="*/ 496 w 554"/>
                  <a:gd name="T19" fmla="*/ 120 h 400"/>
                  <a:gd name="T20" fmla="*/ 514 w 554"/>
                  <a:gd name="T21" fmla="*/ 124 h 400"/>
                  <a:gd name="T22" fmla="*/ 540 w 554"/>
                  <a:gd name="T23" fmla="*/ 124 h 400"/>
                  <a:gd name="T24" fmla="*/ 554 w 554"/>
                  <a:gd name="T25" fmla="*/ 394 h 400"/>
                  <a:gd name="T26" fmla="*/ 544 w 554"/>
                  <a:gd name="T27" fmla="*/ 396 h 400"/>
                  <a:gd name="T28" fmla="*/ 490 w 554"/>
                  <a:gd name="T29" fmla="*/ 400 h 400"/>
                  <a:gd name="T30" fmla="*/ 466 w 554"/>
                  <a:gd name="T31" fmla="*/ 394 h 400"/>
                  <a:gd name="T32" fmla="*/ 448 w 554"/>
                  <a:gd name="T33" fmla="*/ 374 h 400"/>
                  <a:gd name="T34" fmla="*/ 354 w 554"/>
                  <a:gd name="T35" fmla="*/ 256 h 400"/>
                  <a:gd name="T36" fmla="*/ 282 w 554"/>
                  <a:gd name="T37" fmla="*/ 176 h 400"/>
                  <a:gd name="T38" fmla="*/ 252 w 554"/>
                  <a:gd name="T39" fmla="*/ 150 h 400"/>
                  <a:gd name="T40" fmla="*/ 230 w 554"/>
                  <a:gd name="T41" fmla="*/ 138 h 400"/>
                  <a:gd name="T42" fmla="*/ 212 w 554"/>
                  <a:gd name="T43" fmla="*/ 138 h 400"/>
                  <a:gd name="T44" fmla="*/ 180 w 554"/>
                  <a:gd name="T45" fmla="*/ 148 h 400"/>
                  <a:gd name="T46" fmla="*/ 138 w 554"/>
                  <a:gd name="T47" fmla="*/ 178 h 400"/>
                  <a:gd name="T48" fmla="*/ 112 w 554"/>
                  <a:gd name="T49" fmla="*/ 196 h 400"/>
                  <a:gd name="T50" fmla="*/ 80 w 554"/>
                  <a:gd name="T51" fmla="*/ 208 h 400"/>
                  <a:gd name="T52" fmla="*/ 34 w 554"/>
                  <a:gd name="T53" fmla="*/ 202 h 400"/>
                  <a:gd name="T54" fmla="*/ 22 w 554"/>
                  <a:gd name="T55" fmla="*/ 198 h 400"/>
                  <a:gd name="T56" fmla="*/ 4 w 554"/>
                  <a:gd name="T57" fmla="*/ 184 h 400"/>
                  <a:gd name="T58" fmla="*/ 0 w 554"/>
                  <a:gd name="T59" fmla="*/ 170 h 400"/>
                  <a:gd name="T60" fmla="*/ 2 w 554"/>
                  <a:gd name="T61" fmla="*/ 160 h 400"/>
                  <a:gd name="T62" fmla="*/ 6 w 554"/>
                  <a:gd name="T63" fmla="*/ 156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4" h="400">
                    <a:moveTo>
                      <a:pt x="6" y="156"/>
                    </a:moveTo>
                    <a:lnTo>
                      <a:pt x="6" y="156"/>
                    </a:lnTo>
                    <a:lnTo>
                      <a:pt x="78" y="96"/>
                    </a:lnTo>
                    <a:lnTo>
                      <a:pt x="128" y="54"/>
                    </a:lnTo>
                    <a:lnTo>
                      <a:pt x="148" y="36"/>
                    </a:lnTo>
                    <a:lnTo>
                      <a:pt x="160" y="24"/>
                    </a:lnTo>
                    <a:lnTo>
                      <a:pt x="160" y="24"/>
                    </a:lnTo>
                    <a:lnTo>
                      <a:pt x="172" y="12"/>
                    </a:lnTo>
                    <a:lnTo>
                      <a:pt x="186" y="6"/>
                    </a:lnTo>
                    <a:lnTo>
                      <a:pt x="204" y="0"/>
                    </a:lnTo>
                    <a:lnTo>
                      <a:pt x="230" y="0"/>
                    </a:lnTo>
                    <a:lnTo>
                      <a:pt x="230" y="0"/>
                    </a:lnTo>
                    <a:lnTo>
                      <a:pt x="244" y="0"/>
                    </a:lnTo>
                    <a:lnTo>
                      <a:pt x="260" y="4"/>
                    </a:lnTo>
                    <a:lnTo>
                      <a:pt x="278" y="10"/>
                    </a:lnTo>
                    <a:lnTo>
                      <a:pt x="298" y="18"/>
                    </a:lnTo>
                    <a:lnTo>
                      <a:pt x="340" y="38"/>
                    </a:lnTo>
                    <a:lnTo>
                      <a:pt x="384" y="62"/>
                    </a:lnTo>
                    <a:lnTo>
                      <a:pt x="466" y="106"/>
                    </a:lnTo>
                    <a:lnTo>
                      <a:pt x="496" y="120"/>
                    </a:lnTo>
                    <a:lnTo>
                      <a:pt x="506" y="124"/>
                    </a:lnTo>
                    <a:lnTo>
                      <a:pt x="514" y="124"/>
                    </a:lnTo>
                    <a:lnTo>
                      <a:pt x="514" y="124"/>
                    </a:lnTo>
                    <a:lnTo>
                      <a:pt x="540" y="124"/>
                    </a:lnTo>
                    <a:lnTo>
                      <a:pt x="554" y="122"/>
                    </a:lnTo>
                    <a:lnTo>
                      <a:pt x="554" y="394"/>
                    </a:lnTo>
                    <a:lnTo>
                      <a:pt x="554" y="394"/>
                    </a:lnTo>
                    <a:lnTo>
                      <a:pt x="544" y="396"/>
                    </a:lnTo>
                    <a:lnTo>
                      <a:pt x="520" y="398"/>
                    </a:lnTo>
                    <a:lnTo>
                      <a:pt x="490" y="400"/>
                    </a:lnTo>
                    <a:lnTo>
                      <a:pt x="476" y="398"/>
                    </a:lnTo>
                    <a:lnTo>
                      <a:pt x="466" y="394"/>
                    </a:lnTo>
                    <a:lnTo>
                      <a:pt x="466" y="394"/>
                    </a:lnTo>
                    <a:lnTo>
                      <a:pt x="448" y="374"/>
                    </a:lnTo>
                    <a:lnTo>
                      <a:pt x="422" y="342"/>
                    </a:lnTo>
                    <a:lnTo>
                      <a:pt x="354" y="256"/>
                    </a:lnTo>
                    <a:lnTo>
                      <a:pt x="318" y="214"/>
                    </a:lnTo>
                    <a:lnTo>
                      <a:pt x="282" y="176"/>
                    </a:lnTo>
                    <a:lnTo>
                      <a:pt x="266" y="160"/>
                    </a:lnTo>
                    <a:lnTo>
                      <a:pt x="252" y="150"/>
                    </a:lnTo>
                    <a:lnTo>
                      <a:pt x="240" y="142"/>
                    </a:lnTo>
                    <a:lnTo>
                      <a:pt x="230" y="138"/>
                    </a:lnTo>
                    <a:lnTo>
                      <a:pt x="230" y="138"/>
                    </a:lnTo>
                    <a:lnTo>
                      <a:pt x="212" y="138"/>
                    </a:lnTo>
                    <a:lnTo>
                      <a:pt x="194" y="142"/>
                    </a:lnTo>
                    <a:lnTo>
                      <a:pt x="180" y="148"/>
                    </a:lnTo>
                    <a:lnTo>
                      <a:pt x="164" y="158"/>
                    </a:lnTo>
                    <a:lnTo>
                      <a:pt x="138" y="178"/>
                    </a:lnTo>
                    <a:lnTo>
                      <a:pt x="112" y="196"/>
                    </a:lnTo>
                    <a:lnTo>
                      <a:pt x="112" y="196"/>
                    </a:lnTo>
                    <a:lnTo>
                      <a:pt x="96" y="204"/>
                    </a:lnTo>
                    <a:lnTo>
                      <a:pt x="80" y="208"/>
                    </a:lnTo>
                    <a:lnTo>
                      <a:pt x="58" y="206"/>
                    </a:lnTo>
                    <a:lnTo>
                      <a:pt x="34" y="202"/>
                    </a:lnTo>
                    <a:lnTo>
                      <a:pt x="34" y="202"/>
                    </a:lnTo>
                    <a:lnTo>
                      <a:pt x="22" y="198"/>
                    </a:lnTo>
                    <a:lnTo>
                      <a:pt x="12" y="192"/>
                    </a:lnTo>
                    <a:lnTo>
                      <a:pt x="4" y="184"/>
                    </a:lnTo>
                    <a:lnTo>
                      <a:pt x="2" y="178"/>
                    </a:lnTo>
                    <a:lnTo>
                      <a:pt x="0" y="170"/>
                    </a:lnTo>
                    <a:lnTo>
                      <a:pt x="0" y="164"/>
                    </a:lnTo>
                    <a:lnTo>
                      <a:pt x="2" y="160"/>
                    </a:lnTo>
                    <a:lnTo>
                      <a:pt x="6" y="156"/>
                    </a:lnTo>
                    <a:lnTo>
                      <a:pt x="6" y="15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37" name="Freeform 6">
                <a:extLst>
                  <a:ext uri="{FF2B5EF4-FFF2-40B4-BE49-F238E27FC236}">
                    <a16:creationId xmlns:a16="http://schemas.microsoft.com/office/drawing/2014/main" id="{9283B148-DD51-4AD1-9A7A-B30006C804E5}"/>
                  </a:ext>
                </a:extLst>
              </p:cNvPr>
              <p:cNvSpPr>
                <a:spLocks/>
              </p:cNvSpPr>
              <p:nvPr/>
            </p:nvSpPr>
            <p:spPr bwMode="auto">
              <a:xfrm>
                <a:off x="7696200" y="1289050"/>
                <a:ext cx="904875" cy="885825"/>
              </a:xfrm>
              <a:custGeom>
                <a:avLst/>
                <a:gdLst>
                  <a:gd name="T0" fmla="*/ 0 w 570"/>
                  <a:gd name="T1" fmla="*/ 370 h 558"/>
                  <a:gd name="T2" fmla="*/ 44 w 570"/>
                  <a:gd name="T3" fmla="*/ 370 h 558"/>
                  <a:gd name="T4" fmla="*/ 48 w 570"/>
                  <a:gd name="T5" fmla="*/ 372 h 558"/>
                  <a:gd name="T6" fmla="*/ 72 w 570"/>
                  <a:gd name="T7" fmla="*/ 396 h 558"/>
                  <a:gd name="T8" fmla="*/ 150 w 570"/>
                  <a:gd name="T9" fmla="*/ 488 h 558"/>
                  <a:gd name="T10" fmla="*/ 196 w 570"/>
                  <a:gd name="T11" fmla="*/ 530 h 558"/>
                  <a:gd name="T12" fmla="*/ 226 w 570"/>
                  <a:gd name="T13" fmla="*/ 548 h 558"/>
                  <a:gd name="T14" fmla="*/ 240 w 570"/>
                  <a:gd name="T15" fmla="*/ 554 h 558"/>
                  <a:gd name="T16" fmla="*/ 282 w 570"/>
                  <a:gd name="T17" fmla="*/ 558 h 558"/>
                  <a:gd name="T18" fmla="*/ 302 w 570"/>
                  <a:gd name="T19" fmla="*/ 550 h 558"/>
                  <a:gd name="T20" fmla="*/ 308 w 570"/>
                  <a:gd name="T21" fmla="*/ 540 h 558"/>
                  <a:gd name="T22" fmla="*/ 308 w 570"/>
                  <a:gd name="T23" fmla="*/ 534 h 558"/>
                  <a:gd name="T24" fmla="*/ 330 w 570"/>
                  <a:gd name="T25" fmla="*/ 544 h 558"/>
                  <a:gd name="T26" fmla="*/ 366 w 570"/>
                  <a:gd name="T27" fmla="*/ 552 h 558"/>
                  <a:gd name="T28" fmla="*/ 380 w 570"/>
                  <a:gd name="T29" fmla="*/ 554 h 558"/>
                  <a:gd name="T30" fmla="*/ 392 w 570"/>
                  <a:gd name="T31" fmla="*/ 552 h 558"/>
                  <a:gd name="T32" fmla="*/ 404 w 570"/>
                  <a:gd name="T33" fmla="*/ 538 h 558"/>
                  <a:gd name="T34" fmla="*/ 406 w 570"/>
                  <a:gd name="T35" fmla="*/ 520 h 558"/>
                  <a:gd name="T36" fmla="*/ 402 w 570"/>
                  <a:gd name="T37" fmla="*/ 506 h 558"/>
                  <a:gd name="T38" fmla="*/ 408 w 570"/>
                  <a:gd name="T39" fmla="*/ 510 h 558"/>
                  <a:gd name="T40" fmla="*/ 436 w 570"/>
                  <a:gd name="T41" fmla="*/ 522 h 558"/>
                  <a:gd name="T42" fmla="*/ 460 w 570"/>
                  <a:gd name="T43" fmla="*/ 526 h 558"/>
                  <a:gd name="T44" fmla="*/ 472 w 570"/>
                  <a:gd name="T45" fmla="*/ 524 h 558"/>
                  <a:gd name="T46" fmla="*/ 490 w 570"/>
                  <a:gd name="T47" fmla="*/ 514 h 558"/>
                  <a:gd name="T48" fmla="*/ 500 w 570"/>
                  <a:gd name="T49" fmla="*/ 498 h 558"/>
                  <a:gd name="T50" fmla="*/ 502 w 570"/>
                  <a:gd name="T51" fmla="*/ 478 h 558"/>
                  <a:gd name="T52" fmla="*/ 546 w 570"/>
                  <a:gd name="T53" fmla="*/ 476 h 558"/>
                  <a:gd name="T54" fmla="*/ 560 w 570"/>
                  <a:gd name="T55" fmla="*/ 468 h 558"/>
                  <a:gd name="T56" fmla="*/ 570 w 570"/>
                  <a:gd name="T57" fmla="*/ 452 h 558"/>
                  <a:gd name="T58" fmla="*/ 570 w 570"/>
                  <a:gd name="T59" fmla="*/ 434 h 558"/>
                  <a:gd name="T60" fmla="*/ 556 w 570"/>
                  <a:gd name="T61" fmla="*/ 408 h 558"/>
                  <a:gd name="T62" fmla="*/ 538 w 570"/>
                  <a:gd name="T63" fmla="*/ 384 h 558"/>
                  <a:gd name="T64" fmla="*/ 456 w 570"/>
                  <a:gd name="T65" fmla="*/ 286 h 558"/>
                  <a:gd name="T66" fmla="*/ 356 w 570"/>
                  <a:gd name="T67" fmla="*/ 170 h 558"/>
                  <a:gd name="T68" fmla="*/ 350 w 570"/>
                  <a:gd name="T69" fmla="*/ 162 h 558"/>
                  <a:gd name="T70" fmla="*/ 330 w 570"/>
                  <a:gd name="T71" fmla="*/ 148 h 558"/>
                  <a:gd name="T72" fmla="*/ 304 w 570"/>
                  <a:gd name="T73" fmla="*/ 146 h 558"/>
                  <a:gd name="T74" fmla="*/ 286 w 570"/>
                  <a:gd name="T75" fmla="*/ 152 h 558"/>
                  <a:gd name="T76" fmla="*/ 278 w 570"/>
                  <a:gd name="T77" fmla="*/ 156 h 558"/>
                  <a:gd name="T78" fmla="*/ 198 w 570"/>
                  <a:gd name="T79" fmla="*/ 198 h 558"/>
                  <a:gd name="T80" fmla="*/ 178 w 570"/>
                  <a:gd name="T81" fmla="*/ 206 h 558"/>
                  <a:gd name="T82" fmla="*/ 138 w 570"/>
                  <a:gd name="T83" fmla="*/ 208 h 558"/>
                  <a:gd name="T84" fmla="*/ 106 w 570"/>
                  <a:gd name="T85" fmla="*/ 198 h 558"/>
                  <a:gd name="T86" fmla="*/ 84 w 570"/>
                  <a:gd name="T87" fmla="*/ 188 h 558"/>
                  <a:gd name="T88" fmla="*/ 78 w 570"/>
                  <a:gd name="T89" fmla="*/ 182 h 558"/>
                  <a:gd name="T90" fmla="*/ 64 w 570"/>
                  <a:gd name="T91" fmla="*/ 164 h 558"/>
                  <a:gd name="T92" fmla="*/ 60 w 570"/>
                  <a:gd name="T93" fmla="*/ 148 h 558"/>
                  <a:gd name="T94" fmla="*/ 62 w 570"/>
                  <a:gd name="T95" fmla="*/ 136 h 558"/>
                  <a:gd name="T96" fmla="*/ 70 w 570"/>
                  <a:gd name="T97" fmla="*/ 122 h 558"/>
                  <a:gd name="T98" fmla="*/ 78 w 570"/>
                  <a:gd name="T99" fmla="*/ 116 h 558"/>
                  <a:gd name="T100" fmla="*/ 164 w 570"/>
                  <a:gd name="T101" fmla="*/ 48 h 558"/>
                  <a:gd name="T102" fmla="*/ 188 w 570"/>
                  <a:gd name="T103" fmla="*/ 26 h 558"/>
                  <a:gd name="T104" fmla="*/ 206 w 570"/>
                  <a:gd name="T105" fmla="*/ 8 h 558"/>
                  <a:gd name="T106" fmla="*/ 204 w 570"/>
                  <a:gd name="T107" fmla="*/ 0 h 558"/>
                  <a:gd name="T108" fmla="*/ 192 w 570"/>
                  <a:gd name="T109" fmla="*/ 2 h 558"/>
                  <a:gd name="T110" fmla="*/ 172 w 570"/>
                  <a:gd name="T111" fmla="*/ 10 h 558"/>
                  <a:gd name="T112" fmla="*/ 114 w 570"/>
                  <a:gd name="T113" fmla="*/ 52 h 558"/>
                  <a:gd name="T114" fmla="*/ 64 w 570"/>
                  <a:gd name="T115" fmla="*/ 88 h 558"/>
                  <a:gd name="T116" fmla="*/ 54 w 570"/>
                  <a:gd name="T117" fmla="*/ 92 h 558"/>
                  <a:gd name="T118" fmla="*/ 8 w 570"/>
                  <a:gd name="T119" fmla="*/ 98 h 558"/>
                  <a:gd name="T120" fmla="*/ 0 w 570"/>
                  <a:gd name="T121" fmla="*/ 98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0" h="558">
                    <a:moveTo>
                      <a:pt x="0" y="98"/>
                    </a:moveTo>
                    <a:lnTo>
                      <a:pt x="0" y="370"/>
                    </a:lnTo>
                    <a:lnTo>
                      <a:pt x="0" y="370"/>
                    </a:lnTo>
                    <a:lnTo>
                      <a:pt x="44" y="370"/>
                    </a:lnTo>
                    <a:lnTo>
                      <a:pt x="44" y="370"/>
                    </a:lnTo>
                    <a:lnTo>
                      <a:pt x="48" y="372"/>
                    </a:lnTo>
                    <a:lnTo>
                      <a:pt x="54" y="378"/>
                    </a:lnTo>
                    <a:lnTo>
                      <a:pt x="72" y="396"/>
                    </a:lnTo>
                    <a:lnTo>
                      <a:pt x="120" y="456"/>
                    </a:lnTo>
                    <a:lnTo>
                      <a:pt x="150" y="488"/>
                    </a:lnTo>
                    <a:lnTo>
                      <a:pt x="180" y="518"/>
                    </a:lnTo>
                    <a:lnTo>
                      <a:pt x="196" y="530"/>
                    </a:lnTo>
                    <a:lnTo>
                      <a:pt x="212" y="540"/>
                    </a:lnTo>
                    <a:lnTo>
                      <a:pt x="226" y="548"/>
                    </a:lnTo>
                    <a:lnTo>
                      <a:pt x="240" y="554"/>
                    </a:lnTo>
                    <a:lnTo>
                      <a:pt x="240" y="554"/>
                    </a:lnTo>
                    <a:lnTo>
                      <a:pt x="264" y="558"/>
                    </a:lnTo>
                    <a:lnTo>
                      <a:pt x="282" y="558"/>
                    </a:lnTo>
                    <a:lnTo>
                      <a:pt x="294" y="554"/>
                    </a:lnTo>
                    <a:lnTo>
                      <a:pt x="302" y="550"/>
                    </a:lnTo>
                    <a:lnTo>
                      <a:pt x="306" y="544"/>
                    </a:lnTo>
                    <a:lnTo>
                      <a:pt x="308" y="540"/>
                    </a:lnTo>
                    <a:lnTo>
                      <a:pt x="308" y="534"/>
                    </a:lnTo>
                    <a:lnTo>
                      <a:pt x="308" y="534"/>
                    </a:lnTo>
                    <a:lnTo>
                      <a:pt x="314" y="538"/>
                    </a:lnTo>
                    <a:lnTo>
                      <a:pt x="330" y="544"/>
                    </a:lnTo>
                    <a:lnTo>
                      <a:pt x="354" y="550"/>
                    </a:lnTo>
                    <a:lnTo>
                      <a:pt x="366" y="552"/>
                    </a:lnTo>
                    <a:lnTo>
                      <a:pt x="380" y="554"/>
                    </a:lnTo>
                    <a:lnTo>
                      <a:pt x="380" y="554"/>
                    </a:lnTo>
                    <a:lnTo>
                      <a:pt x="388" y="552"/>
                    </a:lnTo>
                    <a:lnTo>
                      <a:pt x="392" y="552"/>
                    </a:lnTo>
                    <a:lnTo>
                      <a:pt x="400" y="546"/>
                    </a:lnTo>
                    <a:lnTo>
                      <a:pt x="404" y="538"/>
                    </a:lnTo>
                    <a:lnTo>
                      <a:pt x="406" y="530"/>
                    </a:lnTo>
                    <a:lnTo>
                      <a:pt x="406" y="520"/>
                    </a:lnTo>
                    <a:lnTo>
                      <a:pt x="404" y="512"/>
                    </a:lnTo>
                    <a:lnTo>
                      <a:pt x="402" y="506"/>
                    </a:lnTo>
                    <a:lnTo>
                      <a:pt x="402" y="506"/>
                    </a:lnTo>
                    <a:lnTo>
                      <a:pt x="408" y="510"/>
                    </a:lnTo>
                    <a:lnTo>
                      <a:pt x="426" y="518"/>
                    </a:lnTo>
                    <a:lnTo>
                      <a:pt x="436" y="522"/>
                    </a:lnTo>
                    <a:lnTo>
                      <a:pt x="448" y="524"/>
                    </a:lnTo>
                    <a:lnTo>
                      <a:pt x="460" y="526"/>
                    </a:lnTo>
                    <a:lnTo>
                      <a:pt x="472" y="524"/>
                    </a:lnTo>
                    <a:lnTo>
                      <a:pt x="472" y="524"/>
                    </a:lnTo>
                    <a:lnTo>
                      <a:pt x="484" y="520"/>
                    </a:lnTo>
                    <a:lnTo>
                      <a:pt x="490" y="514"/>
                    </a:lnTo>
                    <a:lnTo>
                      <a:pt x="496" y="506"/>
                    </a:lnTo>
                    <a:lnTo>
                      <a:pt x="500" y="498"/>
                    </a:lnTo>
                    <a:lnTo>
                      <a:pt x="502" y="484"/>
                    </a:lnTo>
                    <a:lnTo>
                      <a:pt x="502" y="478"/>
                    </a:lnTo>
                    <a:lnTo>
                      <a:pt x="546" y="476"/>
                    </a:lnTo>
                    <a:lnTo>
                      <a:pt x="546" y="476"/>
                    </a:lnTo>
                    <a:lnTo>
                      <a:pt x="552" y="472"/>
                    </a:lnTo>
                    <a:lnTo>
                      <a:pt x="560" y="468"/>
                    </a:lnTo>
                    <a:lnTo>
                      <a:pt x="566" y="462"/>
                    </a:lnTo>
                    <a:lnTo>
                      <a:pt x="570" y="452"/>
                    </a:lnTo>
                    <a:lnTo>
                      <a:pt x="570" y="440"/>
                    </a:lnTo>
                    <a:lnTo>
                      <a:pt x="570" y="434"/>
                    </a:lnTo>
                    <a:lnTo>
                      <a:pt x="566" y="426"/>
                    </a:lnTo>
                    <a:lnTo>
                      <a:pt x="556" y="408"/>
                    </a:lnTo>
                    <a:lnTo>
                      <a:pt x="556" y="408"/>
                    </a:lnTo>
                    <a:lnTo>
                      <a:pt x="538" y="384"/>
                    </a:lnTo>
                    <a:lnTo>
                      <a:pt x="514" y="354"/>
                    </a:lnTo>
                    <a:lnTo>
                      <a:pt x="456" y="286"/>
                    </a:lnTo>
                    <a:lnTo>
                      <a:pt x="398" y="218"/>
                    </a:lnTo>
                    <a:lnTo>
                      <a:pt x="356" y="170"/>
                    </a:lnTo>
                    <a:lnTo>
                      <a:pt x="356" y="170"/>
                    </a:lnTo>
                    <a:lnTo>
                      <a:pt x="350" y="162"/>
                    </a:lnTo>
                    <a:lnTo>
                      <a:pt x="344" y="156"/>
                    </a:lnTo>
                    <a:lnTo>
                      <a:pt x="330" y="148"/>
                    </a:lnTo>
                    <a:lnTo>
                      <a:pt x="316" y="146"/>
                    </a:lnTo>
                    <a:lnTo>
                      <a:pt x="304" y="146"/>
                    </a:lnTo>
                    <a:lnTo>
                      <a:pt x="294" y="148"/>
                    </a:lnTo>
                    <a:lnTo>
                      <a:pt x="286" y="152"/>
                    </a:lnTo>
                    <a:lnTo>
                      <a:pt x="278" y="156"/>
                    </a:lnTo>
                    <a:lnTo>
                      <a:pt x="278" y="156"/>
                    </a:lnTo>
                    <a:lnTo>
                      <a:pt x="198" y="198"/>
                    </a:lnTo>
                    <a:lnTo>
                      <a:pt x="198" y="198"/>
                    </a:lnTo>
                    <a:lnTo>
                      <a:pt x="188" y="204"/>
                    </a:lnTo>
                    <a:lnTo>
                      <a:pt x="178" y="206"/>
                    </a:lnTo>
                    <a:lnTo>
                      <a:pt x="158" y="208"/>
                    </a:lnTo>
                    <a:lnTo>
                      <a:pt x="138" y="208"/>
                    </a:lnTo>
                    <a:lnTo>
                      <a:pt x="122" y="204"/>
                    </a:lnTo>
                    <a:lnTo>
                      <a:pt x="106" y="198"/>
                    </a:lnTo>
                    <a:lnTo>
                      <a:pt x="94" y="194"/>
                    </a:lnTo>
                    <a:lnTo>
                      <a:pt x="84" y="188"/>
                    </a:lnTo>
                    <a:lnTo>
                      <a:pt x="84" y="188"/>
                    </a:lnTo>
                    <a:lnTo>
                      <a:pt x="78" y="182"/>
                    </a:lnTo>
                    <a:lnTo>
                      <a:pt x="70" y="174"/>
                    </a:lnTo>
                    <a:lnTo>
                      <a:pt x="64" y="164"/>
                    </a:lnTo>
                    <a:lnTo>
                      <a:pt x="60" y="154"/>
                    </a:lnTo>
                    <a:lnTo>
                      <a:pt x="60" y="148"/>
                    </a:lnTo>
                    <a:lnTo>
                      <a:pt x="60" y="142"/>
                    </a:lnTo>
                    <a:lnTo>
                      <a:pt x="62" y="136"/>
                    </a:lnTo>
                    <a:lnTo>
                      <a:pt x="66" y="130"/>
                    </a:lnTo>
                    <a:lnTo>
                      <a:pt x="70" y="122"/>
                    </a:lnTo>
                    <a:lnTo>
                      <a:pt x="78" y="116"/>
                    </a:lnTo>
                    <a:lnTo>
                      <a:pt x="78" y="116"/>
                    </a:lnTo>
                    <a:lnTo>
                      <a:pt x="138" y="70"/>
                    </a:lnTo>
                    <a:lnTo>
                      <a:pt x="164" y="48"/>
                    </a:lnTo>
                    <a:lnTo>
                      <a:pt x="188" y="26"/>
                    </a:lnTo>
                    <a:lnTo>
                      <a:pt x="188" y="26"/>
                    </a:lnTo>
                    <a:lnTo>
                      <a:pt x="200" y="16"/>
                    </a:lnTo>
                    <a:lnTo>
                      <a:pt x="206" y="8"/>
                    </a:lnTo>
                    <a:lnTo>
                      <a:pt x="208" y="4"/>
                    </a:lnTo>
                    <a:lnTo>
                      <a:pt x="204" y="0"/>
                    </a:lnTo>
                    <a:lnTo>
                      <a:pt x="200" y="0"/>
                    </a:lnTo>
                    <a:lnTo>
                      <a:pt x="192" y="2"/>
                    </a:lnTo>
                    <a:lnTo>
                      <a:pt x="172" y="10"/>
                    </a:lnTo>
                    <a:lnTo>
                      <a:pt x="172" y="10"/>
                    </a:lnTo>
                    <a:lnTo>
                      <a:pt x="150" y="26"/>
                    </a:lnTo>
                    <a:lnTo>
                      <a:pt x="114" y="52"/>
                    </a:lnTo>
                    <a:lnTo>
                      <a:pt x="78" y="78"/>
                    </a:lnTo>
                    <a:lnTo>
                      <a:pt x="64" y="88"/>
                    </a:lnTo>
                    <a:lnTo>
                      <a:pt x="54" y="92"/>
                    </a:lnTo>
                    <a:lnTo>
                      <a:pt x="54" y="92"/>
                    </a:lnTo>
                    <a:lnTo>
                      <a:pt x="24" y="96"/>
                    </a:lnTo>
                    <a:lnTo>
                      <a:pt x="8" y="98"/>
                    </a:lnTo>
                    <a:lnTo>
                      <a:pt x="0" y="98"/>
                    </a:lnTo>
                    <a:lnTo>
                      <a:pt x="0" y="98"/>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38" name="Freeform 7">
                <a:extLst>
                  <a:ext uri="{FF2B5EF4-FFF2-40B4-BE49-F238E27FC236}">
                    <a16:creationId xmlns:a16="http://schemas.microsoft.com/office/drawing/2014/main" id="{731305B6-78C4-446A-8FB0-1D11132245D6}"/>
                  </a:ext>
                </a:extLst>
              </p:cNvPr>
              <p:cNvSpPr>
                <a:spLocks noEditPoints="1"/>
              </p:cNvSpPr>
              <p:nvPr/>
            </p:nvSpPr>
            <p:spPr bwMode="auto">
              <a:xfrm>
                <a:off x="8772525" y="1327150"/>
                <a:ext cx="250825" cy="762000"/>
              </a:xfrm>
              <a:custGeom>
                <a:avLst/>
                <a:gdLst>
                  <a:gd name="T0" fmla="*/ 0 w 158"/>
                  <a:gd name="T1" fmla="*/ 0 h 480"/>
                  <a:gd name="T2" fmla="*/ 0 w 158"/>
                  <a:gd name="T3" fmla="*/ 480 h 480"/>
                  <a:gd name="T4" fmla="*/ 158 w 158"/>
                  <a:gd name="T5" fmla="*/ 480 h 480"/>
                  <a:gd name="T6" fmla="*/ 158 w 158"/>
                  <a:gd name="T7" fmla="*/ 0 h 480"/>
                  <a:gd name="T8" fmla="*/ 0 w 158"/>
                  <a:gd name="T9" fmla="*/ 0 h 480"/>
                  <a:gd name="T10" fmla="*/ 78 w 158"/>
                  <a:gd name="T11" fmla="*/ 446 h 480"/>
                  <a:gd name="T12" fmla="*/ 78 w 158"/>
                  <a:gd name="T13" fmla="*/ 446 h 480"/>
                  <a:gd name="T14" fmla="*/ 68 w 158"/>
                  <a:gd name="T15" fmla="*/ 444 h 480"/>
                  <a:gd name="T16" fmla="*/ 60 w 158"/>
                  <a:gd name="T17" fmla="*/ 438 h 480"/>
                  <a:gd name="T18" fmla="*/ 54 w 158"/>
                  <a:gd name="T19" fmla="*/ 430 h 480"/>
                  <a:gd name="T20" fmla="*/ 52 w 158"/>
                  <a:gd name="T21" fmla="*/ 420 h 480"/>
                  <a:gd name="T22" fmla="*/ 52 w 158"/>
                  <a:gd name="T23" fmla="*/ 420 h 480"/>
                  <a:gd name="T24" fmla="*/ 54 w 158"/>
                  <a:gd name="T25" fmla="*/ 410 h 480"/>
                  <a:gd name="T26" fmla="*/ 60 w 158"/>
                  <a:gd name="T27" fmla="*/ 402 h 480"/>
                  <a:gd name="T28" fmla="*/ 68 w 158"/>
                  <a:gd name="T29" fmla="*/ 396 h 480"/>
                  <a:gd name="T30" fmla="*/ 78 w 158"/>
                  <a:gd name="T31" fmla="*/ 394 h 480"/>
                  <a:gd name="T32" fmla="*/ 78 w 158"/>
                  <a:gd name="T33" fmla="*/ 394 h 480"/>
                  <a:gd name="T34" fmla="*/ 88 w 158"/>
                  <a:gd name="T35" fmla="*/ 396 h 480"/>
                  <a:gd name="T36" fmla="*/ 96 w 158"/>
                  <a:gd name="T37" fmla="*/ 402 h 480"/>
                  <a:gd name="T38" fmla="*/ 102 w 158"/>
                  <a:gd name="T39" fmla="*/ 410 h 480"/>
                  <a:gd name="T40" fmla="*/ 104 w 158"/>
                  <a:gd name="T41" fmla="*/ 420 h 480"/>
                  <a:gd name="T42" fmla="*/ 104 w 158"/>
                  <a:gd name="T43" fmla="*/ 420 h 480"/>
                  <a:gd name="T44" fmla="*/ 102 w 158"/>
                  <a:gd name="T45" fmla="*/ 430 h 480"/>
                  <a:gd name="T46" fmla="*/ 96 w 158"/>
                  <a:gd name="T47" fmla="*/ 438 h 480"/>
                  <a:gd name="T48" fmla="*/ 88 w 158"/>
                  <a:gd name="T49" fmla="*/ 444 h 480"/>
                  <a:gd name="T50" fmla="*/ 78 w 158"/>
                  <a:gd name="T51" fmla="*/ 446 h 480"/>
                  <a:gd name="T52" fmla="*/ 78 w 158"/>
                  <a:gd name="T53" fmla="*/ 446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8" h="480">
                    <a:moveTo>
                      <a:pt x="0" y="0"/>
                    </a:moveTo>
                    <a:lnTo>
                      <a:pt x="0" y="480"/>
                    </a:lnTo>
                    <a:lnTo>
                      <a:pt x="158" y="480"/>
                    </a:lnTo>
                    <a:lnTo>
                      <a:pt x="158" y="0"/>
                    </a:lnTo>
                    <a:lnTo>
                      <a:pt x="0" y="0"/>
                    </a:lnTo>
                    <a:close/>
                    <a:moveTo>
                      <a:pt x="78" y="446"/>
                    </a:moveTo>
                    <a:lnTo>
                      <a:pt x="78" y="446"/>
                    </a:lnTo>
                    <a:lnTo>
                      <a:pt x="68" y="444"/>
                    </a:lnTo>
                    <a:lnTo>
                      <a:pt x="60" y="438"/>
                    </a:lnTo>
                    <a:lnTo>
                      <a:pt x="54" y="430"/>
                    </a:lnTo>
                    <a:lnTo>
                      <a:pt x="52" y="420"/>
                    </a:lnTo>
                    <a:lnTo>
                      <a:pt x="52" y="420"/>
                    </a:lnTo>
                    <a:lnTo>
                      <a:pt x="54" y="410"/>
                    </a:lnTo>
                    <a:lnTo>
                      <a:pt x="60" y="402"/>
                    </a:lnTo>
                    <a:lnTo>
                      <a:pt x="68" y="396"/>
                    </a:lnTo>
                    <a:lnTo>
                      <a:pt x="78" y="394"/>
                    </a:lnTo>
                    <a:lnTo>
                      <a:pt x="78" y="394"/>
                    </a:lnTo>
                    <a:lnTo>
                      <a:pt x="88" y="396"/>
                    </a:lnTo>
                    <a:lnTo>
                      <a:pt x="96" y="402"/>
                    </a:lnTo>
                    <a:lnTo>
                      <a:pt x="102" y="410"/>
                    </a:lnTo>
                    <a:lnTo>
                      <a:pt x="104" y="420"/>
                    </a:lnTo>
                    <a:lnTo>
                      <a:pt x="104" y="420"/>
                    </a:lnTo>
                    <a:lnTo>
                      <a:pt x="102" y="430"/>
                    </a:lnTo>
                    <a:lnTo>
                      <a:pt x="96" y="438"/>
                    </a:lnTo>
                    <a:lnTo>
                      <a:pt x="88" y="444"/>
                    </a:lnTo>
                    <a:lnTo>
                      <a:pt x="78" y="446"/>
                    </a:lnTo>
                    <a:lnTo>
                      <a:pt x="78" y="44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39" name="Freeform 8">
                <a:extLst>
                  <a:ext uri="{FF2B5EF4-FFF2-40B4-BE49-F238E27FC236}">
                    <a16:creationId xmlns:a16="http://schemas.microsoft.com/office/drawing/2014/main" id="{45EC1D85-0146-4DCD-9B0A-60D6306A6E83}"/>
                  </a:ext>
                </a:extLst>
              </p:cNvPr>
              <p:cNvSpPr>
                <a:spLocks noEditPoints="1"/>
              </p:cNvSpPr>
              <p:nvPr/>
            </p:nvSpPr>
            <p:spPr bwMode="auto">
              <a:xfrm>
                <a:off x="7391400" y="1327150"/>
                <a:ext cx="254000" cy="762000"/>
              </a:xfrm>
              <a:custGeom>
                <a:avLst/>
                <a:gdLst>
                  <a:gd name="T0" fmla="*/ 0 w 160"/>
                  <a:gd name="T1" fmla="*/ 0 h 480"/>
                  <a:gd name="T2" fmla="*/ 0 w 160"/>
                  <a:gd name="T3" fmla="*/ 480 h 480"/>
                  <a:gd name="T4" fmla="*/ 160 w 160"/>
                  <a:gd name="T5" fmla="*/ 480 h 480"/>
                  <a:gd name="T6" fmla="*/ 160 w 160"/>
                  <a:gd name="T7" fmla="*/ 0 h 480"/>
                  <a:gd name="T8" fmla="*/ 0 w 160"/>
                  <a:gd name="T9" fmla="*/ 0 h 480"/>
                  <a:gd name="T10" fmla="*/ 80 w 160"/>
                  <a:gd name="T11" fmla="*/ 446 h 480"/>
                  <a:gd name="T12" fmla="*/ 80 w 160"/>
                  <a:gd name="T13" fmla="*/ 446 h 480"/>
                  <a:gd name="T14" fmla="*/ 70 w 160"/>
                  <a:gd name="T15" fmla="*/ 444 h 480"/>
                  <a:gd name="T16" fmla="*/ 62 w 160"/>
                  <a:gd name="T17" fmla="*/ 438 h 480"/>
                  <a:gd name="T18" fmla="*/ 56 w 160"/>
                  <a:gd name="T19" fmla="*/ 430 h 480"/>
                  <a:gd name="T20" fmla="*/ 54 w 160"/>
                  <a:gd name="T21" fmla="*/ 420 h 480"/>
                  <a:gd name="T22" fmla="*/ 54 w 160"/>
                  <a:gd name="T23" fmla="*/ 420 h 480"/>
                  <a:gd name="T24" fmla="*/ 56 w 160"/>
                  <a:gd name="T25" fmla="*/ 410 h 480"/>
                  <a:gd name="T26" fmla="*/ 62 w 160"/>
                  <a:gd name="T27" fmla="*/ 402 h 480"/>
                  <a:gd name="T28" fmla="*/ 70 w 160"/>
                  <a:gd name="T29" fmla="*/ 396 h 480"/>
                  <a:gd name="T30" fmla="*/ 80 w 160"/>
                  <a:gd name="T31" fmla="*/ 394 h 480"/>
                  <a:gd name="T32" fmla="*/ 80 w 160"/>
                  <a:gd name="T33" fmla="*/ 394 h 480"/>
                  <a:gd name="T34" fmla="*/ 90 w 160"/>
                  <a:gd name="T35" fmla="*/ 396 h 480"/>
                  <a:gd name="T36" fmla="*/ 98 w 160"/>
                  <a:gd name="T37" fmla="*/ 402 h 480"/>
                  <a:gd name="T38" fmla="*/ 104 w 160"/>
                  <a:gd name="T39" fmla="*/ 410 h 480"/>
                  <a:gd name="T40" fmla="*/ 106 w 160"/>
                  <a:gd name="T41" fmla="*/ 420 h 480"/>
                  <a:gd name="T42" fmla="*/ 106 w 160"/>
                  <a:gd name="T43" fmla="*/ 420 h 480"/>
                  <a:gd name="T44" fmla="*/ 104 w 160"/>
                  <a:gd name="T45" fmla="*/ 430 h 480"/>
                  <a:gd name="T46" fmla="*/ 98 w 160"/>
                  <a:gd name="T47" fmla="*/ 438 h 480"/>
                  <a:gd name="T48" fmla="*/ 90 w 160"/>
                  <a:gd name="T49" fmla="*/ 444 h 480"/>
                  <a:gd name="T50" fmla="*/ 80 w 160"/>
                  <a:gd name="T51" fmla="*/ 446 h 480"/>
                  <a:gd name="T52" fmla="*/ 80 w 160"/>
                  <a:gd name="T53" fmla="*/ 446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0" h="480">
                    <a:moveTo>
                      <a:pt x="0" y="0"/>
                    </a:moveTo>
                    <a:lnTo>
                      <a:pt x="0" y="480"/>
                    </a:lnTo>
                    <a:lnTo>
                      <a:pt x="160" y="480"/>
                    </a:lnTo>
                    <a:lnTo>
                      <a:pt x="160" y="0"/>
                    </a:lnTo>
                    <a:lnTo>
                      <a:pt x="0" y="0"/>
                    </a:lnTo>
                    <a:close/>
                    <a:moveTo>
                      <a:pt x="80" y="446"/>
                    </a:moveTo>
                    <a:lnTo>
                      <a:pt x="80" y="446"/>
                    </a:lnTo>
                    <a:lnTo>
                      <a:pt x="70" y="444"/>
                    </a:lnTo>
                    <a:lnTo>
                      <a:pt x="62" y="438"/>
                    </a:lnTo>
                    <a:lnTo>
                      <a:pt x="56" y="430"/>
                    </a:lnTo>
                    <a:lnTo>
                      <a:pt x="54" y="420"/>
                    </a:lnTo>
                    <a:lnTo>
                      <a:pt x="54" y="420"/>
                    </a:lnTo>
                    <a:lnTo>
                      <a:pt x="56" y="410"/>
                    </a:lnTo>
                    <a:lnTo>
                      <a:pt x="62" y="402"/>
                    </a:lnTo>
                    <a:lnTo>
                      <a:pt x="70" y="396"/>
                    </a:lnTo>
                    <a:lnTo>
                      <a:pt x="80" y="394"/>
                    </a:lnTo>
                    <a:lnTo>
                      <a:pt x="80" y="394"/>
                    </a:lnTo>
                    <a:lnTo>
                      <a:pt x="90" y="396"/>
                    </a:lnTo>
                    <a:lnTo>
                      <a:pt x="98" y="402"/>
                    </a:lnTo>
                    <a:lnTo>
                      <a:pt x="104" y="410"/>
                    </a:lnTo>
                    <a:lnTo>
                      <a:pt x="106" y="420"/>
                    </a:lnTo>
                    <a:lnTo>
                      <a:pt x="106" y="420"/>
                    </a:lnTo>
                    <a:lnTo>
                      <a:pt x="104" y="430"/>
                    </a:lnTo>
                    <a:lnTo>
                      <a:pt x="98" y="438"/>
                    </a:lnTo>
                    <a:lnTo>
                      <a:pt x="90" y="444"/>
                    </a:lnTo>
                    <a:lnTo>
                      <a:pt x="80" y="446"/>
                    </a:lnTo>
                    <a:lnTo>
                      <a:pt x="80" y="44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140" name="Freeform 59">
              <a:extLst>
                <a:ext uri="{FF2B5EF4-FFF2-40B4-BE49-F238E27FC236}">
                  <a16:creationId xmlns:a16="http://schemas.microsoft.com/office/drawing/2014/main" id="{86B04530-7F6E-45EA-8E12-6273791D3CF5}"/>
                </a:ext>
              </a:extLst>
            </p:cNvPr>
            <p:cNvSpPr>
              <a:spLocks/>
            </p:cNvSpPr>
            <p:nvPr/>
          </p:nvSpPr>
          <p:spPr bwMode="auto">
            <a:xfrm>
              <a:off x="7993746" y="5647787"/>
              <a:ext cx="267790" cy="231404"/>
            </a:xfrm>
            <a:custGeom>
              <a:avLst/>
              <a:gdLst>
                <a:gd name="T0" fmla="*/ 144 w 288"/>
                <a:gd name="T1" fmla="*/ 0 h 288"/>
                <a:gd name="T2" fmla="*/ 182 w 288"/>
                <a:gd name="T3" fmla="*/ 110 h 288"/>
                <a:gd name="T4" fmla="*/ 288 w 288"/>
                <a:gd name="T5" fmla="*/ 110 h 288"/>
                <a:gd name="T6" fmla="*/ 202 w 288"/>
                <a:gd name="T7" fmla="*/ 174 h 288"/>
                <a:gd name="T8" fmla="*/ 232 w 288"/>
                <a:gd name="T9" fmla="*/ 288 h 288"/>
                <a:gd name="T10" fmla="*/ 144 w 288"/>
                <a:gd name="T11" fmla="*/ 220 h 288"/>
                <a:gd name="T12" fmla="*/ 56 w 288"/>
                <a:gd name="T13" fmla="*/ 288 h 288"/>
                <a:gd name="T14" fmla="*/ 86 w 288"/>
                <a:gd name="T15" fmla="*/ 174 h 288"/>
                <a:gd name="T16" fmla="*/ 0 w 288"/>
                <a:gd name="T17" fmla="*/ 110 h 288"/>
                <a:gd name="T18" fmla="*/ 104 w 288"/>
                <a:gd name="T19" fmla="*/ 110 h 288"/>
                <a:gd name="T20" fmla="*/ 144 w 288"/>
                <a:gd name="T2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0"/>
                  </a:moveTo>
                  <a:lnTo>
                    <a:pt x="182" y="110"/>
                  </a:lnTo>
                  <a:lnTo>
                    <a:pt x="288" y="110"/>
                  </a:lnTo>
                  <a:lnTo>
                    <a:pt x="202" y="174"/>
                  </a:lnTo>
                  <a:lnTo>
                    <a:pt x="232" y="288"/>
                  </a:lnTo>
                  <a:lnTo>
                    <a:pt x="144" y="220"/>
                  </a:lnTo>
                  <a:lnTo>
                    <a:pt x="56" y="288"/>
                  </a:lnTo>
                  <a:lnTo>
                    <a:pt x="86" y="174"/>
                  </a:lnTo>
                  <a:lnTo>
                    <a:pt x="0" y="110"/>
                  </a:lnTo>
                  <a:lnTo>
                    <a:pt x="104" y="110"/>
                  </a:lnTo>
                  <a:lnTo>
                    <a:pt x="144" y="0"/>
                  </a:lnTo>
                  <a:close/>
                </a:path>
              </a:pathLst>
            </a:custGeom>
            <a:solidFill>
              <a:srgbClr val="3C8A2E"/>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1" name="Freeform 214">
              <a:extLst>
                <a:ext uri="{FF2B5EF4-FFF2-40B4-BE49-F238E27FC236}">
                  <a16:creationId xmlns:a16="http://schemas.microsoft.com/office/drawing/2014/main" id="{08F79BCA-3836-4CBD-A319-F2BBF5067CD2}"/>
                </a:ext>
              </a:extLst>
            </p:cNvPr>
            <p:cNvSpPr>
              <a:spLocks/>
            </p:cNvSpPr>
            <p:nvPr/>
          </p:nvSpPr>
          <p:spPr bwMode="auto">
            <a:xfrm>
              <a:off x="7742921" y="6123109"/>
              <a:ext cx="396050" cy="158066"/>
            </a:xfrm>
            <a:custGeom>
              <a:avLst/>
              <a:gdLst>
                <a:gd name="T0" fmla="*/ 466 w 472"/>
                <a:gd name="T1" fmla="*/ 78 h 218"/>
                <a:gd name="T2" fmla="*/ 246 w 472"/>
                <a:gd name="T3" fmla="*/ 2 h 218"/>
                <a:gd name="T4" fmla="*/ 246 w 472"/>
                <a:gd name="T5" fmla="*/ 2 h 218"/>
                <a:gd name="T6" fmla="*/ 236 w 472"/>
                <a:gd name="T7" fmla="*/ 0 h 218"/>
                <a:gd name="T8" fmla="*/ 226 w 472"/>
                <a:gd name="T9" fmla="*/ 2 h 218"/>
                <a:gd name="T10" fmla="*/ 4 w 472"/>
                <a:gd name="T11" fmla="*/ 80 h 218"/>
                <a:gd name="T12" fmla="*/ 4 w 472"/>
                <a:gd name="T13" fmla="*/ 80 h 218"/>
                <a:gd name="T14" fmla="*/ 2 w 472"/>
                <a:gd name="T15" fmla="*/ 82 h 218"/>
                <a:gd name="T16" fmla="*/ 0 w 472"/>
                <a:gd name="T17" fmla="*/ 84 h 218"/>
                <a:gd name="T18" fmla="*/ 2 w 472"/>
                <a:gd name="T19" fmla="*/ 84 h 218"/>
                <a:gd name="T20" fmla="*/ 4 w 472"/>
                <a:gd name="T21" fmla="*/ 86 h 218"/>
                <a:gd name="T22" fmla="*/ 96 w 472"/>
                <a:gd name="T23" fmla="*/ 118 h 218"/>
                <a:gd name="T24" fmla="*/ 96 w 472"/>
                <a:gd name="T25" fmla="*/ 184 h 218"/>
                <a:gd name="T26" fmla="*/ 96 w 472"/>
                <a:gd name="T27" fmla="*/ 184 h 218"/>
                <a:gd name="T28" fmla="*/ 108 w 472"/>
                <a:gd name="T29" fmla="*/ 178 h 218"/>
                <a:gd name="T30" fmla="*/ 126 w 472"/>
                <a:gd name="T31" fmla="*/ 178 h 218"/>
                <a:gd name="T32" fmla="*/ 146 w 472"/>
                <a:gd name="T33" fmla="*/ 178 h 218"/>
                <a:gd name="T34" fmla="*/ 168 w 472"/>
                <a:gd name="T35" fmla="*/ 184 h 218"/>
                <a:gd name="T36" fmla="*/ 168 w 472"/>
                <a:gd name="T37" fmla="*/ 184 h 218"/>
                <a:gd name="T38" fmla="*/ 188 w 472"/>
                <a:gd name="T39" fmla="*/ 190 h 218"/>
                <a:gd name="T40" fmla="*/ 206 w 472"/>
                <a:gd name="T41" fmla="*/ 198 h 218"/>
                <a:gd name="T42" fmla="*/ 220 w 472"/>
                <a:gd name="T43" fmla="*/ 208 h 218"/>
                <a:gd name="T44" fmla="*/ 230 w 472"/>
                <a:gd name="T45" fmla="*/ 218 h 218"/>
                <a:gd name="T46" fmla="*/ 230 w 472"/>
                <a:gd name="T47" fmla="*/ 218 h 218"/>
                <a:gd name="T48" fmla="*/ 238 w 472"/>
                <a:gd name="T49" fmla="*/ 218 h 218"/>
                <a:gd name="T50" fmla="*/ 238 w 472"/>
                <a:gd name="T51" fmla="*/ 218 h 218"/>
                <a:gd name="T52" fmla="*/ 248 w 472"/>
                <a:gd name="T53" fmla="*/ 208 h 218"/>
                <a:gd name="T54" fmla="*/ 262 w 472"/>
                <a:gd name="T55" fmla="*/ 198 h 218"/>
                <a:gd name="T56" fmla="*/ 278 w 472"/>
                <a:gd name="T57" fmla="*/ 190 h 218"/>
                <a:gd name="T58" fmla="*/ 300 w 472"/>
                <a:gd name="T59" fmla="*/ 184 h 218"/>
                <a:gd name="T60" fmla="*/ 300 w 472"/>
                <a:gd name="T61" fmla="*/ 184 h 218"/>
                <a:gd name="T62" fmla="*/ 318 w 472"/>
                <a:gd name="T63" fmla="*/ 180 h 218"/>
                <a:gd name="T64" fmla="*/ 336 w 472"/>
                <a:gd name="T65" fmla="*/ 178 h 218"/>
                <a:gd name="T66" fmla="*/ 352 w 472"/>
                <a:gd name="T67" fmla="*/ 178 h 218"/>
                <a:gd name="T68" fmla="*/ 366 w 472"/>
                <a:gd name="T69" fmla="*/ 180 h 218"/>
                <a:gd name="T70" fmla="*/ 366 w 472"/>
                <a:gd name="T71" fmla="*/ 120 h 218"/>
                <a:gd name="T72" fmla="*/ 406 w 472"/>
                <a:gd name="T73" fmla="*/ 106 h 218"/>
                <a:gd name="T74" fmla="*/ 406 w 472"/>
                <a:gd name="T75" fmla="*/ 122 h 218"/>
                <a:gd name="T76" fmla="*/ 406 w 472"/>
                <a:gd name="T77" fmla="*/ 122 h 218"/>
                <a:gd name="T78" fmla="*/ 400 w 472"/>
                <a:gd name="T79" fmla="*/ 126 h 218"/>
                <a:gd name="T80" fmla="*/ 398 w 472"/>
                <a:gd name="T81" fmla="*/ 130 h 218"/>
                <a:gd name="T82" fmla="*/ 398 w 472"/>
                <a:gd name="T83" fmla="*/ 134 h 218"/>
                <a:gd name="T84" fmla="*/ 398 w 472"/>
                <a:gd name="T85" fmla="*/ 134 h 218"/>
                <a:gd name="T86" fmla="*/ 398 w 472"/>
                <a:gd name="T87" fmla="*/ 138 h 218"/>
                <a:gd name="T88" fmla="*/ 402 w 472"/>
                <a:gd name="T89" fmla="*/ 142 h 218"/>
                <a:gd name="T90" fmla="*/ 392 w 472"/>
                <a:gd name="T91" fmla="*/ 208 h 218"/>
                <a:gd name="T92" fmla="*/ 430 w 472"/>
                <a:gd name="T93" fmla="*/ 208 h 218"/>
                <a:gd name="T94" fmla="*/ 418 w 472"/>
                <a:gd name="T95" fmla="*/ 144 h 218"/>
                <a:gd name="T96" fmla="*/ 418 w 472"/>
                <a:gd name="T97" fmla="*/ 144 h 218"/>
                <a:gd name="T98" fmla="*/ 422 w 472"/>
                <a:gd name="T99" fmla="*/ 140 h 218"/>
                <a:gd name="T100" fmla="*/ 424 w 472"/>
                <a:gd name="T101" fmla="*/ 134 h 218"/>
                <a:gd name="T102" fmla="*/ 424 w 472"/>
                <a:gd name="T103" fmla="*/ 134 h 218"/>
                <a:gd name="T104" fmla="*/ 422 w 472"/>
                <a:gd name="T105" fmla="*/ 130 h 218"/>
                <a:gd name="T106" fmla="*/ 420 w 472"/>
                <a:gd name="T107" fmla="*/ 126 h 218"/>
                <a:gd name="T108" fmla="*/ 416 w 472"/>
                <a:gd name="T109" fmla="*/ 122 h 218"/>
                <a:gd name="T110" fmla="*/ 416 w 472"/>
                <a:gd name="T111" fmla="*/ 102 h 218"/>
                <a:gd name="T112" fmla="*/ 466 w 472"/>
                <a:gd name="T113" fmla="*/ 84 h 218"/>
                <a:gd name="T114" fmla="*/ 466 w 472"/>
                <a:gd name="T115" fmla="*/ 84 h 218"/>
                <a:gd name="T116" fmla="*/ 470 w 472"/>
                <a:gd name="T117" fmla="*/ 82 h 218"/>
                <a:gd name="T118" fmla="*/ 472 w 472"/>
                <a:gd name="T119" fmla="*/ 82 h 218"/>
                <a:gd name="T120" fmla="*/ 470 w 472"/>
                <a:gd name="T121" fmla="*/ 80 h 218"/>
                <a:gd name="T122" fmla="*/ 466 w 472"/>
                <a:gd name="T123" fmla="*/ 78 h 218"/>
                <a:gd name="T124" fmla="*/ 466 w 472"/>
                <a:gd name="T125" fmla="*/ 7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2" h="218">
                  <a:moveTo>
                    <a:pt x="466" y="78"/>
                  </a:moveTo>
                  <a:lnTo>
                    <a:pt x="246" y="2"/>
                  </a:lnTo>
                  <a:lnTo>
                    <a:pt x="246" y="2"/>
                  </a:lnTo>
                  <a:lnTo>
                    <a:pt x="236" y="0"/>
                  </a:lnTo>
                  <a:lnTo>
                    <a:pt x="226" y="2"/>
                  </a:lnTo>
                  <a:lnTo>
                    <a:pt x="4" y="80"/>
                  </a:lnTo>
                  <a:lnTo>
                    <a:pt x="4" y="80"/>
                  </a:lnTo>
                  <a:lnTo>
                    <a:pt x="2" y="82"/>
                  </a:lnTo>
                  <a:lnTo>
                    <a:pt x="0" y="84"/>
                  </a:lnTo>
                  <a:lnTo>
                    <a:pt x="2" y="84"/>
                  </a:lnTo>
                  <a:lnTo>
                    <a:pt x="4" y="86"/>
                  </a:lnTo>
                  <a:lnTo>
                    <a:pt x="96" y="118"/>
                  </a:lnTo>
                  <a:lnTo>
                    <a:pt x="96" y="184"/>
                  </a:lnTo>
                  <a:lnTo>
                    <a:pt x="96" y="184"/>
                  </a:lnTo>
                  <a:lnTo>
                    <a:pt x="108" y="178"/>
                  </a:lnTo>
                  <a:lnTo>
                    <a:pt x="126" y="178"/>
                  </a:lnTo>
                  <a:lnTo>
                    <a:pt x="146" y="178"/>
                  </a:lnTo>
                  <a:lnTo>
                    <a:pt x="168" y="184"/>
                  </a:lnTo>
                  <a:lnTo>
                    <a:pt x="168" y="184"/>
                  </a:lnTo>
                  <a:lnTo>
                    <a:pt x="188" y="190"/>
                  </a:lnTo>
                  <a:lnTo>
                    <a:pt x="206" y="198"/>
                  </a:lnTo>
                  <a:lnTo>
                    <a:pt x="220" y="208"/>
                  </a:lnTo>
                  <a:lnTo>
                    <a:pt x="230" y="218"/>
                  </a:lnTo>
                  <a:lnTo>
                    <a:pt x="230" y="218"/>
                  </a:lnTo>
                  <a:lnTo>
                    <a:pt x="238" y="218"/>
                  </a:lnTo>
                  <a:lnTo>
                    <a:pt x="238" y="218"/>
                  </a:lnTo>
                  <a:lnTo>
                    <a:pt x="248" y="208"/>
                  </a:lnTo>
                  <a:lnTo>
                    <a:pt x="262" y="198"/>
                  </a:lnTo>
                  <a:lnTo>
                    <a:pt x="278" y="190"/>
                  </a:lnTo>
                  <a:lnTo>
                    <a:pt x="300" y="184"/>
                  </a:lnTo>
                  <a:lnTo>
                    <a:pt x="300" y="184"/>
                  </a:lnTo>
                  <a:lnTo>
                    <a:pt x="318" y="180"/>
                  </a:lnTo>
                  <a:lnTo>
                    <a:pt x="336" y="178"/>
                  </a:lnTo>
                  <a:lnTo>
                    <a:pt x="352" y="178"/>
                  </a:lnTo>
                  <a:lnTo>
                    <a:pt x="366" y="180"/>
                  </a:lnTo>
                  <a:lnTo>
                    <a:pt x="366" y="120"/>
                  </a:lnTo>
                  <a:lnTo>
                    <a:pt x="406" y="106"/>
                  </a:lnTo>
                  <a:lnTo>
                    <a:pt x="406" y="122"/>
                  </a:lnTo>
                  <a:lnTo>
                    <a:pt x="406" y="122"/>
                  </a:lnTo>
                  <a:lnTo>
                    <a:pt x="400" y="126"/>
                  </a:lnTo>
                  <a:lnTo>
                    <a:pt x="398" y="130"/>
                  </a:lnTo>
                  <a:lnTo>
                    <a:pt x="398" y="134"/>
                  </a:lnTo>
                  <a:lnTo>
                    <a:pt x="398" y="134"/>
                  </a:lnTo>
                  <a:lnTo>
                    <a:pt x="398" y="138"/>
                  </a:lnTo>
                  <a:lnTo>
                    <a:pt x="402" y="142"/>
                  </a:lnTo>
                  <a:lnTo>
                    <a:pt x="392" y="208"/>
                  </a:lnTo>
                  <a:lnTo>
                    <a:pt x="430" y="208"/>
                  </a:lnTo>
                  <a:lnTo>
                    <a:pt x="418" y="144"/>
                  </a:lnTo>
                  <a:lnTo>
                    <a:pt x="418" y="144"/>
                  </a:lnTo>
                  <a:lnTo>
                    <a:pt x="422" y="140"/>
                  </a:lnTo>
                  <a:lnTo>
                    <a:pt x="424" y="134"/>
                  </a:lnTo>
                  <a:lnTo>
                    <a:pt x="424" y="134"/>
                  </a:lnTo>
                  <a:lnTo>
                    <a:pt x="422" y="130"/>
                  </a:lnTo>
                  <a:lnTo>
                    <a:pt x="420" y="126"/>
                  </a:lnTo>
                  <a:lnTo>
                    <a:pt x="416" y="122"/>
                  </a:lnTo>
                  <a:lnTo>
                    <a:pt x="416" y="102"/>
                  </a:lnTo>
                  <a:lnTo>
                    <a:pt x="466" y="84"/>
                  </a:lnTo>
                  <a:lnTo>
                    <a:pt x="466" y="84"/>
                  </a:lnTo>
                  <a:lnTo>
                    <a:pt x="470" y="82"/>
                  </a:lnTo>
                  <a:lnTo>
                    <a:pt x="472" y="82"/>
                  </a:lnTo>
                  <a:lnTo>
                    <a:pt x="470" y="80"/>
                  </a:lnTo>
                  <a:lnTo>
                    <a:pt x="466" y="78"/>
                  </a:lnTo>
                  <a:lnTo>
                    <a:pt x="466" y="78"/>
                  </a:lnTo>
                  <a:close/>
                </a:path>
              </a:pathLst>
            </a:custGeom>
            <a:solidFill>
              <a:srgbClr val="002776"/>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cxnSp>
          <p:nvCxnSpPr>
            <p:cNvPr id="142" name="Straight Connector 141">
              <a:extLst>
                <a:ext uri="{FF2B5EF4-FFF2-40B4-BE49-F238E27FC236}">
                  <a16:creationId xmlns:a16="http://schemas.microsoft.com/office/drawing/2014/main" id="{103A3A34-9124-4C37-B1B4-B08022EB9F79}"/>
                </a:ext>
              </a:extLst>
            </p:cNvPr>
            <p:cNvCxnSpPr/>
            <p:nvPr/>
          </p:nvCxnSpPr>
          <p:spPr>
            <a:xfrm rot="5400000">
              <a:off x="8173255" y="5763489"/>
              <a:ext cx="312548"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DA06D211-638B-4E2C-BB0A-CB8A596EF732}"/>
                </a:ext>
              </a:extLst>
            </p:cNvPr>
            <p:cNvCxnSpPr/>
            <p:nvPr/>
          </p:nvCxnSpPr>
          <p:spPr>
            <a:xfrm rot="16200000">
              <a:off x="8029398" y="6189337"/>
              <a:ext cx="31675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4" name="Freeform 170">
              <a:extLst>
                <a:ext uri="{FF2B5EF4-FFF2-40B4-BE49-F238E27FC236}">
                  <a16:creationId xmlns:a16="http://schemas.microsoft.com/office/drawing/2014/main" id="{8A4A6725-54CE-45BE-A8DC-C05CF825169D}"/>
                </a:ext>
              </a:extLst>
            </p:cNvPr>
            <p:cNvSpPr>
              <a:spLocks noEditPoints="1"/>
            </p:cNvSpPr>
            <p:nvPr/>
          </p:nvSpPr>
          <p:spPr bwMode="auto">
            <a:xfrm>
              <a:off x="7353233" y="6510523"/>
              <a:ext cx="200733" cy="194644"/>
            </a:xfrm>
            <a:custGeom>
              <a:avLst/>
              <a:gdLst>
                <a:gd name="T0" fmla="*/ 190 w 262"/>
                <a:gd name="T1" fmla="*/ 104 h 294"/>
                <a:gd name="T2" fmla="*/ 198 w 262"/>
                <a:gd name="T3" fmla="*/ 92 h 294"/>
                <a:gd name="T4" fmla="*/ 214 w 262"/>
                <a:gd name="T5" fmla="*/ 66 h 294"/>
                <a:gd name="T6" fmla="*/ 224 w 262"/>
                <a:gd name="T7" fmla="*/ 34 h 294"/>
                <a:gd name="T8" fmla="*/ 222 w 262"/>
                <a:gd name="T9" fmla="*/ 18 h 294"/>
                <a:gd name="T10" fmla="*/ 214 w 262"/>
                <a:gd name="T11" fmla="*/ 2 h 294"/>
                <a:gd name="T12" fmla="*/ 212 w 262"/>
                <a:gd name="T13" fmla="*/ 0 h 294"/>
                <a:gd name="T14" fmla="*/ 204 w 262"/>
                <a:gd name="T15" fmla="*/ 4 h 294"/>
                <a:gd name="T16" fmla="*/ 164 w 262"/>
                <a:gd name="T17" fmla="*/ 52 h 294"/>
                <a:gd name="T18" fmla="*/ 138 w 262"/>
                <a:gd name="T19" fmla="*/ 76 h 294"/>
                <a:gd name="T20" fmla="*/ 118 w 262"/>
                <a:gd name="T21" fmla="*/ 90 h 294"/>
                <a:gd name="T22" fmla="*/ 82 w 262"/>
                <a:gd name="T23" fmla="*/ 116 h 294"/>
                <a:gd name="T24" fmla="*/ 68 w 262"/>
                <a:gd name="T25" fmla="*/ 132 h 294"/>
                <a:gd name="T26" fmla="*/ 66 w 262"/>
                <a:gd name="T27" fmla="*/ 250 h 294"/>
                <a:gd name="T28" fmla="*/ 66 w 262"/>
                <a:gd name="T29" fmla="*/ 254 h 294"/>
                <a:gd name="T30" fmla="*/ 78 w 262"/>
                <a:gd name="T31" fmla="*/ 266 h 294"/>
                <a:gd name="T32" fmla="*/ 114 w 262"/>
                <a:gd name="T33" fmla="*/ 280 h 294"/>
                <a:gd name="T34" fmla="*/ 158 w 262"/>
                <a:gd name="T35" fmla="*/ 290 h 294"/>
                <a:gd name="T36" fmla="*/ 206 w 262"/>
                <a:gd name="T37" fmla="*/ 294 h 294"/>
                <a:gd name="T38" fmla="*/ 210 w 262"/>
                <a:gd name="T39" fmla="*/ 292 h 294"/>
                <a:gd name="T40" fmla="*/ 224 w 262"/>
                <a:gd name="T41" fmla="*/ 272 h 294"/>
                <a:gd name="T42" fmla="*/ 242 w 262"/>
                <a:gd name="T43" fmla="*/ 220 h 294"/>
                <a:gd name="T44" fmla="*/ 260 w 262"/>
                <a:gd name="T45" fmla="*/ 144 h 294"/>
                <a:gd name="T46" fmla="*/ 262 w 262"/>
                <a:gd name="T47" fmla="*/ 132 h 294"/>
                <a:gd name="T48" fmla="*/ 258 w 262"/>
                <a:gd name="T49" fmla="*/ 124 h 294"/>
                <a:gd name="T50" fmla="*/ 240 w 262"/>
                <a:gd name="T51" fmla="*/ 114 h 294"/>
                <a:gd name="T52" fmla="*/ 202 w 262"/>
                <a:gd name="T53" fmla="*/ 108 h 294"/>
                <a:gd name="T54" fmla="*/ 190 w 262"/>
                <a:gd name="T55" fmla="*/ 104 h 294"/>
                <a:gd name="T56" fmla="*/ 50 w 262"/>
                <a:gd name="T57" fmla="*/ 106 h 294"/>
                <a:gd name="T58" fmla="*/ 36 w 262"/>
                <a:gd name="T59" fmla="*/ 108 h 294"/>
                <a:gd name="T60" fmla="*/ 20 w 262"/>
                <a:gd name="T61" fmla="*/ 114 h 294"/>
                <a:gd name="T62" fmla="*/ 6 w 262"/>
                <a:gd name="T63" fmla="*/ 130 h 294"/>
                <a:gd name="T64" fmla="*/ 0 w 262"/>
                <a:gd name="T65" fmla="*/ 156 h 294"/>
                <a:gd name="T66" fmla="*/ 0 w 262"/>
                <a:gd name="T67" fmla="*/ 236 h 294"/>
                <a:gd name="T68" fmla="*/ 6 w 262"/>
                <a:gd name="T69" fmla="*/ 262 h 294"/>
                <a:gd name="T70" fmla="*/ 20 w 262"/>
                <a:gd name="T71" fmla="*/ 276 h 294"/>
                <a:gd name="T72" fmla="*/ 36 w 262"/>
                <a:gd name="T73" fmla="*/ 284 h 294"/>
                <a:gd name="T74" fmla="*/ 50 w 262"/>
                <a:gd name="T75" fmla="*/ 284 h 294"/>
                <a:gd name="T76" fmla="*/ 52 w 262"/>
                <a:gd name="T77" fmla="*/ 282 h 294"/>
                <a:gd name="T78" fmla="*/ 40 w 262"/>
                <a:gd name="T79" fmla="*/ 272 h 294"/>
                <a:gd name="T80" fmla="*/ 34 w 262"/>
                <a:gd name="T81" fmla="*/ 258 h 294"/>
                <a:gd name="T82" fmla="*/ 32 w 262"/>
                <a:gd name="T83" fmla="*/ 144 h 294"/>
                <a:gd name="T84" fmla="*/ 34 w 262"/>
                <a:gd name="T85" fmla="*/ 134 h 294"/>
                <a:gd name="T86" fmla="*/ 40 w 262"/>
                <a:gd name="T87" fmla="*/ 118 h 294"/>
                <a:gd name="T88" fmla="*/ 52 w 262"/>
                <a:gd name="T89" fmla="*/ 108 h 294"/>
                <a:gd name="T90" fmla="*/ 50 w 262"/>
                <a:gd name="T91" fmla="*/ 106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62" h="294">
                  <a:moveTo>
                    <a:pt x="190" y="104"/>
                  </a:moveTo>
                  <a:lnTo>
                    <a:pt x="190" y="104"/>
                  </a:lnTo>
                  <a:lnTo>
                    <a:pt x="192" y="100"/>
                  </a:lnTo>
                  <a:lnTo>
                    <a:pt x="198" y="92"/>
                  </a:lnTo>
                  <a:lnTo>
                    <a:pt x="206" y="80"/>
                  </a:lnTo>
                  <a:lnTo>
                    <a:pt x="214" y="66"/>
                  </a:lnTo>
                  <a:lnTo>
                    <a:pt x="220" y="52"/>
                  </a:lnTo>
                  <a:lnTo>
                    <a:pt x="224" y="34"/>
                  </a:lnTo>
                  <a:lnTo>
                    <a:pt x="224" y="26"/>
                  </a:lnTo>
                  <a:lnTo>
                    <a:pt x="222" y="18"/>
                  </a:lnTo>
                  <a:lnTo>
                    <a:pt x="218" y="10"/>
                  </a:lnTo>
                  <a:lnTo>
                    <a:pt x="214" y="2"/>
                  </a:lnTo>
                  <a:lnTo>
                    <a:pt x="214" y="2"/>
                  </a:lnTo>
                  <a:lnTo>
                    <a:pt x="212" y="0"/>
                  </a:lnTo>
                  <a:lnTo>
                    <a:pt x="210" y="0"/>
                  </a:lnTo>
                  <a:lnTo>
                    <a:pt x="204" y="4"/>
                  </a:lnTo>
                  <a:lnTo>
                    <a:pt x="188" y="24"/>
                  </a:lnTo>
                  <a:lnTo>
                    <a:pt x="164" y="52"/>
                  </a:lnTo>
                  <a:lnTo>
                    <a:pt x="152" y="64"/>
                  </a:lnTo>
                  <a:lnTo>
                    <a:pt x="138" y="76"/>
                  </a:lnTo>
                  <a:lnTo>
                    <a:pt x="138" y="76"/>
                  </a:lnTo>
                  <a:lnTo>
                    <a:pt x="118" y="90"/>
                  </a:lnTo>
                  <a:lnTo>
                    <a:pt x="94" y="106"/>
                  </a:lnTo>
                  <a:lnTo>
                    <a:pt x="82" y="116"/>
                  </a:lnTo>
                  <a:lnTo>
                    <a:pt x="74" y="124"/>
                  </a:lnTo>
                  <a:lnTo>
                    <a:pt x="68" y="132"/>
                  </a:lnTo>
                  <a:lnTo>
                    <a:pt x="66" y="140"/>
                  </a:lnTo>
                  <a:lnTo>
                    <a:pt x="66" y="250"/>
                  </a:lnTo>
                  <a:lnTo>
                    <a:pt x="66" y="250"/>
                  </a:lnTo>
                  <a:lnTo>
                    <a:pt x="66" y="254"/>
                  </a:lnTo>
                  <a:lnTo>
                    <a:pt x="68" y="258"/>
                  </a:lnTo>
                  <a:lnTo>
                    <a:pt x="78" y="266"/>
                  </a:lnTo>
                  <a:lnTo>
                    <a:pt x="94" y="274"/>
                  </a:lnTo>
                  <a:lnTo>
                    <a:pt x="114" y="280"/>
                  </a:lnTo>
                  <a:lnTo>
                    <a:pt x="136" y="286"/>
                  </a:lnTo>
                  <a:lnTo>
                    <a:pt x="158" y="290"/>
                  </a:lnTo>
                  <a:lnTo>
                    <a:pt x="182" y="292"/>
                  </a:lnTo>
                  <a:lnTo>
                    <a:pt x="206" y="294"/>
                  </a:lnTo>
                  <a:lnTo>
                    <a:pt x="206" y="294"/>
                  </a:lnTo>
                  <a:lnTo>
                    <a:pt x="210" y="292"/>
                  </a:lnTo>
                  <a:lnTo>
                    <a:pt x="216" y="288"/>
                  </a:lnTo>
                  <a:lnTo>
                    <a:pt x="224" y="272"/>
                  </a:lnTo>
                  <a:lnTo>
                    <a:pt x="234" y="248"/>
                  </a:lnTo>
                  <a:lnTo>
                    <a:pt x="242" y="220"/>
                  </a:lnTo>
                  <a:lnTo>
                    <a:pt x="256" y="166"/>
                  </a:lnTo>
                  <a:lnTo>
                    <a:pt x="260" y="144"/>
                  </a:lnTo>
                  <a:lnTo>
                    <a:pt x="262" y="132"/>
                  </a:lnTo>
                  <a:lnTo>
                    <a:pt x="262" y="132"/>
                  </a:lnTo>
                  <a:lnTo>
                    <a:pt x="260" y="128"/>
                  </a:lnTo>
                  <a:lnTo>
                    <a:pt x="258" y="124"/>
                  </a:lnTo>
                  <a:lnTo>
                    <a:pt x="250" y="118"/>
                  </a:lnTo>
                  <a:lnTo>
                    <a:pt x="240" y="114"/>
                  </a:lnTo>
                  <a:lnTo>
                    <a:pt x="226" y="112"/>
                  </a:lnTo>
                  <a:lnTo>
                    <a:pt x="202" y="108"/>
                  </a:lnTo>
                  <a:lnTo>
                    <a:pt x="194" y="106"/>
                  </a:lnTo>
                  <a:lnTo>
                    <a:pt x="190" y="104"/>
                  </a:lnTo>
                  <a:lnTo>
                    <a:pt x="190" y="104"/>
                  </a:lnTo>
                  <a:close/>
                  <a:moveTo>
                    <a:pt x="50" y="106"/>
                  </a:moveTo>
                  <a:lnTo>
                    <a:pt x="50" y="106"/>
                  </a:lnTo>
                  <a:lnTo>
                    <a:pt x="36" y="108"/>
                  </a:lnTo>
                  <a:lnTo>
                    <a:pt x="28" y="110"/>
                  </a:lnTo>
                  <a:lnTo>
                    <a:pt x="20" y="114"/>
                  </a:lnTo>
                  <a:lnTo>
                    <a:pt x="12" y="120"/>
                  </a:lnTo>
                  <a:lnTo>
                    <a:pt x="6" y="130"/>
                  </a:lnTo>
                  <a:lnTo>
                    <a:pt x="2" y="142"/>
                  </a:lnTo>
                  <a:lnTo>
                    <a:pt x="0" y="156"/>
                  </a:lnTo>
                  <a:lnTo>
                    <a:pt x="0" y="236"/>
                  </a:lnTo>
                  <a:lnTo>
                    <a:pt x="0" y="236"/>
                  </a:lnTo>
                  <a:lnTo>
                    <a:pt x="2" y="250"/>
                  </a:lnTo>
                  <a:lnTo>
                    <a:pt x="6" y="262"/>
                  </a:lnTo>
                  <a:lnTo>
                    <a:pt x="12" y="270"/>
                  </a:lnTo>
                  <a:lnTo>
                    <a:pt x="20" y="276"/>
                  </a:lnTo>
                  <a:lnTo>
                    <a:pt x="28" y="280"/>
                  </a:lnTo>
                  <a:lnTo>
                    <a:pt x="36" y="284"/>
                  </a:lnTo>
                  <a:lnTo>
                    <a:pt x="50" y="284"/>
                  </a:lnTo>
                  <a:lnTo>
                    <a:pt x="50" y="284"/>
                  </a:lnTo>
                  <a:lnTo>
                    <a:pt x="52" y="284"/>
                  </a:lnTo>
                  <a:lnTo>
                    <a:pt x="52" y="282"/>
                  </a:lnTo>
                  <a:lnTo>
                    <a:pt x="44" y="276"/>
                  </a:lnTo>
                  <a:lnTo>
                    <a:pt x="40" y="272"/>
                  </a:lnTo>
                  <a:lnTo>
                    <a:pt x="36" y="266"/>
                  </a:lnTo>
                  <a:lnTo>
                    <a:pt x="34" y="258"/>
                  </a:lnTo>
                  <a:lnTo>
                    <a:pt x="32" y="248"/>
                  </a:lnTo>
                  <a:lnTo>
                    <a:pt x="32" y="144"/>
                  </a:lnTo>
                  <a:lnTo>
                    <a:pt x="32" y="144"/>
                  </a:lnTo>
                  <a:lnTo>
                    <a:pt x="34" y="134"/>
                  </a:lnTo>
                  <a:lnTo>
                    <a:pt x="36" y="126"/>
                  </a:lnTo>
                  <a:lnTo>
                    <a:pt x="40" y="118"/>
                  </a:lnTo>
                  <a:lnTo>
                    <a:pt x="44" y="114"/>
                  </a:lnTo>
                  <a:lnTo>
                    <a:pt x="52" y="108"/>
                  </a:lnTo>
                  <a:lnTo>
                    <a:pt x="52" y="106"/>
                  </a:lnTo>
                  <a:lnTo>
                    <a:pt x="50" y="106"/>
                  </a:lnTo>
                  <a:lnTo>
                    <a:pt x="50" y="106"/>
                  </a:lnTo>
                  <a:close/>
                </a:path>
              </a:pathLst>
            </a:custGeom>
            <a:solidFill>
              <a:srgbClr val="8E9D02"/>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Verdana"/>
                <a:ea typeface="+mn-ea"/>
                <a:cs typeface="+mn-cs"/>
              </a:endParaRPr>
            </a:p>
          </p:txBody>
        </p:sp>
        <p:cxnSp>
          <p:nvCxnSpPr>
            <p:cNvPr id="145" name="Straight Connector 144">
              <a:extLst>
                <a:ext uri="{FF2B5EF4-FFF2-40B4-BE49-F238E27FC236}">
                  <a16:creationId xmlns:a16="http://schemas.microsoft.com/office/drawing/2014/main" id="{1A908167-C58C-4479-8ECC-1BE2472062BA}"/>
                </a:ext>
              </a:extLst>
            </p:cNvPr>
            <p:cNvCxnSpPr/>
            <p:nvPr/>
          </p:nvCxnSpPr>
          <p:spPr>
            <a:xfrm rot="5400000">
              <a:off x="7490375" y="6607845"/>
              <a:ext cx="312548" cy="0"/>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12B0C4F-707E-4292-9C67-8D6C99B1996D}"/>
                </a:ext>
              </a:extLst>
            </p:cNvPr>
            <p:cNvCxnSpPr/>
            <p:nvPr/>
          </p:nvCxnSpPr>
          <p:spPr>
            <a:xfrm>
              <a:off x="8510307" y="4674320"/>
              <a:ext cx="2520000" cy="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473281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a:xfrm>
            <a:off x="478155" y="358730"/>
            <a:ext cx="10098405" cy="334099"/>
          </a:xfrm>
        </p:spPr>
        <p:txBody>
          <a:bodyPr/>
          <a:lstStyle/>
          <a:p>
            <a:r>
              <a:rPr lang="en-US" dirty="0"/>
              <a:t>Workplan</a:t>
            </a:r>
            <a:endParaRPr lang="en-IN" dirty="0"/>
          </a:p>
        </p:txBody>
      </p:sp>
      <p:graphicFrame>
        <p:nvGraphicFramePr>
          <p:cNvPr id="48" name="Table 5">
            <a:extLst>
              <a:ext uri="{FF2B5EF4-FFF2-40B4-BE49-F238E27FC236}">
                <a16:creationId xmlns:a16="http://schemas.microsoft.com/office/drawing/2014/main" id="{1304527C-FF5C-46CF-B206-E9B0BB418536}"/>
              </a:ext>
            </a:extLst>
          </p:cNvPr>
          <p:cNvGraphicFramePr>
            <a:graphicFrameLocks noGrp="1"/>
          </p:cNvGraphicFramePr>
          <p:nvPr>
            <p:extLst>
              <p:ext uri="{D42A27DB-BD31-4B8C-83A1-F6EECF244321}">
                <p14:modId xmlns:p14="http://schemas.microsoft.com/office/powerpoint/2010/main" val="2114321934"/>
              </p:ext>
            </p:extLst>
          </p:nvPr>
        </p:nvGraphicFramePr>
        <p:xfrm>
          <a:off x="1999220" y="1043212"/>
          <a:ext cx="4284495" cy="213360"/>
        </p:xfrm>
        <a:graphic>
          <a:graphicData uri="http://schemas.openxmlformats.org/drawingml/2006/table">
            <a:tbl>
              <a:tblPr firstRow="1" bandRow="1"/>
              <a:tblGrid>
                <a:gridCol w="1428165">
                  <a:extLst>
                    <a:ext uri="{9D8B030D-6E8A-4147-A177-3AD203B41FA5}">
                      <a16:colId xmlns:a16="http://schemas.microsoft.com/office/drawing/2014/main" val="3504343262"/>
                    </a:ext>
                  </a:extLst>
                </a:gridCol>
                <a:gridCol w="1428165">
                  <a:extLst>
                    <a:ext uri="{9D8B030D-6E8A-4147-A177-3AD203B41FA5}">
                      <a16:colId xmlns:a16="http://schemas.microsoft.com/office/drawing/2014/main" val="3213897969"/>
                    </a:ext>
                  </a:extLst>
                </a:gridCol>
                <a:gridCol w="1428165">
                  <a:extLst>
                    <a:ext uri="{9D8B030D-6E8A-4147-A177-3AD203B41FA5}">
                      <a16:colId xmlns:a16="http://schemas.microsoft.com/office/drawing/2014/main" val="695559418"/>
                    </a:ext>
                  </a:extLst>
                </a:gridCol>
              </a:tblGrid>
              <a:tr h="210312">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l"/>
                      <a:r>
                        <a:rPr lang="en-US" sz="800" b="0" dirty="0">
                          <a:solidFill>
                            <a:schemeClr val="tx1"/>
                          </a:solidFill>
                          <a:latin typeface="Verdana" panose="020B0604030504040204" pitchFamily="34" charset="0"/>
                          <a:ea typeface="Verdana" panose="020B0604030504040204" pitchFamily="34" charset="0"/>
                        </a:rPr>
                        <a:t>T                          M1</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l"/>
                      <a:r>
                        <a:rPr lang="en-US" sz="800" b="0" dirty="0">
                          <a:solidFill>
                            <a:schemeClr val="tx1"/>
                          </a:solidFill>
                          <a:latin typeface="Verdana" panose="020B0604030504040204" pitchFamily="34" charset="0"/>
                          <a:ea typeface="Verdana" panose="020B0604030504040204" pitchFamily="34" charset="0"/>
                        </a:rPr>
                        <a:t>                           M2</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l"/>
                      <a:r>
                        <a:rPr lang="en-US" sz="800" b="0" dirty="0">
                          <a:solidFill>
                            <a:schemeClr val="tx1"/>
                          </a:solidFill>
                          <a:latin typeface="Verdana" panose="020B0604030504040204" pitchFamily="34" charset="0"/>
                          <a:ea typeface="Verdana" panose="020B0604030504040204" pitchFamily="34" charset="0"/>
                        </a:rPr>
                        <a:t>                   M3</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730945632"/>
                  </a:ext>
                </a:extLst>
              </a:tr>
            </a:tbl>
          </a:graphicData>
        </a:graphic>
      </p:graphicFrame>
      <p:graphicFrame>
        <p:nvGraphicFramePr>
          <p:cNvPr id="49" name="Table 7">
            <a:extLst>
              <a:ext uri="{FF2B5EF4-FFF2-40B4-BE49-F238E27FC236}">
                <a16:creationId xmlns:a16="http://schemas.microsoft.com/office/drawing/2014/main" id="{6CA21001-1E2E-426B-AABA-25CE9E27C6D2}"/>
              </a:ext>
            </a:extLst>
          </p:cNvPr>
          <p:cNvGraphicFramePr>
            <a:graphicFrameLocks noGrp="1"/>
          </p:cNvGraphicFramePr>
          <p:nvPr>
            <p:extLst>
              <p:ext uri="{D42A27DB-BD31-4B8C-83A1-F6EECF244321}">
                <p14:modId xmlns:p14="http://schemas.microsoft.com/office/powerpoint/2010/main" val="3690584134"/>
              </p:ext>
            </p:extLst>
          </p:nvPr>
        </p:nvGraphicFramePr>
        <p:xfrm>
          <a:off x="9109635" y="1043212"/>
          <a:ext cx="2598147" cy="213360"/>
        </p:xfrm>
        <a:graphic>
          <a:graphicData uri="http://schemas.openxmlformats.org/drawingml/2006/table">
            <a:tbl>
              <a:tblPr firstRow="1" bandRow="1"/>
              <a:tblGrid>
                <a:gridCol w="288683">
                  <a:extLst>
                    <a:ext uri="{9D8B030D-6E8A-4147-A177-3AD203B41FA5}">
                      <a16:colId xmlns:a16="http://schemas.microsoft.com/office/drawing/2014/main" val="42616981"/>
                    </a:ext>
                  </a:extLst>
                </a:gridCol>
                <a:gridCol w="288683">
                  <a:extLst>
                    <a:ext uri="{9D8B030D-6E8A-4147-A177-3AD203B41FA5}">
                      <a16:colId xmlns:a16="http://schemas.microsoft.com/office/drawing/2014/main" val="3813933775"/>
                    </a:ext>
                  </a:extLst>
                </a:gridCol>
                <a:gridCol w="288683">
                  <a:extLst>
                    <a:ext uri="{9D8B030D-6E8A-4147-A177-3AD203B41FA5}">
                      <a16:colId xmlns:a16="http://schemas.microsoft.com/office/drawing/2014/main" val="1222567652"/>
                    </a:ext>
                  </a:extLst>
                </a:gridCol>
                <a:gridCol w="288683">
                  <a:extLst>
                    <a:ext uri="{9D8B030D-6E8A-4147-A177-3AD203B41FA5}">
                      <a16:colId xmlns:a16="http://schemas.microsoft.com/office/drawing/2014/main" val="465293365"/>
                    </a:ext>
                  </a:extLst>
                </a:gridCol>
                <a:gridCol w="288683">
                  <a:extLst>
                    <a:ext uri="{9D8B030D-6E8A-4147-A177-3AD203B41FA5}">
                      <a16:colId xmlns:a16="http://schemas.microsoft.com/office/drawing/2014/main" val="997830492"/>
                    </a:ext>
                  </a:extLst>
                </a:gridCol>
                <a:gridCol w="288683">
                  <a:extLst>
                    <a:ext uri="{9D8B030D-6E8A-4147-A177-3AD203B41FA5}">
                      <a16:colId xmlns:a16="http://schemas.microsoft.com/office/drawing/2014/main" val="1357966780"/>
                    </a:ext>
                  </a:extLst>
                </a:gridCol>
                <a:gridCol w="288683">
                  <a:extLst>
                    <a:ext uri="{9D8B030D-6E8A-4147-A177-3AD203B41FA5}">
                      <a16:colId xmlns:a16="http://schemas.microsoft.com/office/drawing/2014/main" val="1986465378"/>
                    </a:ext>
                  </a:extLst>
                </a:gridCol>
                <a:gridCol w="288683">
                  <a:extLst>
                    <a:ext uri="{9D8B030D-6E8A-4147-A177-3AD203B41FA5}">
                      <a16:colId xmlns:a16="http://schemas.microsoft.com/office/drawing/2014/main" val="2726777721"/>
                    </a:ext>
                  </a:extLst>
                </a:gridCol>
                <a:gridCol w="288683">
                  <a:extLst>
                    <a:ext uri="{9D8B030D-6E8A-4147-A177-3AD203B41FA5}">
                      <a16:colId xmlns:a16="http://schemas.microsoft.com/office/drawing/2014/main" val="587033764"/>
                    </a:ext>
                  </a:extLst>
                </a:gridCol>
              </a:tblGrid>
              <a:tr h="205580">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dirty="0">
                          <a:solidFill>
                            <a:schemeClr val="tx1"/>
                          </a:solidFill>
                          <a:latin typeface="Verdana" panose="020B0604030504040204" pitchFamily="34" charset="0"/>
                          <a:ea typeface="Verdana" panose="020B0604030504040204" pitchFamily="34" charset="0"/>
                        </a:rPr>
                        <a:t>M16</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dirty="0">
                          <a:solidFill>
                            <a:schemeClr val="tx1"/>
                          </a:solidFill>
                          <a:latin typeface="Verdana" panose="020B0604030504040204" pitchFamily="34" charset="0"/>
                          <a:ea typeface="Verdana" panose="020B0604030504040204" pitchFamily="34" charset="0"/>
                        </a:rPr>
                        <a:t>M17</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kern="1200" dirty="0">
                          <a:solidFill>
                            <a:schemeClr val="tx1"/>
                          </a:solidFill>
                          <a:latin typeface="Verdana" panose="020B0604030504040204" pitchFamily="34" charset="0"/>
                          <a:ea typeface="Verdana" panose="020B0604030504040204" pitchFamily="34" charset="0"/>
                          <a:cs typeface="+mn-cs"/>
                        </a:rPr>
                        <a:t>M18</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kern="1200" dirty="0">
                          <a:solidFill>
                            <a:schemeClr val="tx1"/>
                          </a:solidFill>
                          <a:latin typeface="Verdana" panose="020B0604030504040204" pitchFamily="34" charset="0"/>
                          <a:ea typeface="Verdana" panose="020B0604030504040204" pitchFamily="34" charset="0"/>
                          <a:cs typeface="+mn-cs"/>
                        </a:rPr>
                        <a:t>M19</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kern="1200" dirty="0">
                          <a:solidFill>
                            <a:schemeClr val="tx1"/>
                          </a:solidFill>
                          <a:latin typeface="Verdana" panose="020B0604030504040204" pitchFamily="34" charset="0"/>
                          <a:ea typeface="Verdana" panose="020B0604030504040204" pitchFamily="34" charset="0"/>
                          <a:cs typeface="+mn-cs"/>
                        </a:rPr>
                        <a:t>M20</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kern="1200" dirty="0">
                          <a:solidFill>
                            <a:schemeClr val="tx1"/>
                          </a:solidFill>
                          <a:latin typeface="Verdana" panose="020B0604030504040204" pitchFamily="34" charset="0"/>
                          <a:ea typeface="Verdana" panose="020B0604030504040204" pitchFamily="34" charset="0"/>
                          <a:cs typeface="+mn-cs"/>
                        </a:rPr>
                        <a:t>M21</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kern="1200" dirty="0">
                          <a:solidFill>
                            <a:schemeClr val="tx1"/>
                          </a:solidFill>
                          <a:latin typeface="Verdana" panose="020B0604030504040204" pitchFamily="34" charset="0"/>
                          <a:ea typeface="Verdana" panose="020B0604030504040204" pitchFamily="34" charset="0"/>
                          <a:cs typeface="+mn-cs"/>
                        </a:rPr>
                        <a:t>M22</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kern="1200" dirty="0">
                          <a:solidFill>
                            <a:schemeClr val="tx1"/>
                          </a:solidFill>
                          <a:latin typeface="Verdana" panose="020B0604030504040204" pitchFamily="34" charset="0"/>
                          <a:ea typeface="Verdana" panose="020B0604030504040204" pitchFamily="34" charset="0"/>
                          <a:cs typeface="+mn-cs"/>
                        </a:rPr>
                        <a:t>M23</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kern="1200" dirty="0">
                          <a:solidFill>
                            <a:schemeClr val="tx1"/>
                          </a:solidFill>
                          <a:latin typeface="Verdana" panose="020B0604030504040204" pitchFamily="34" charset="0"/>
                          <a:ea typeface="Verdana" panose="020B0604030504040204" pitchFamily="34" charset="0"/>
                          <a:cs typeface="+mn-cs"/>
                        </a:rPr>
                        <a:t>M24</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559070051"/>
                  </a:ext>
                </a:extLst>
              </a:tr>
            </a:tbl>
          </a:graphicData>
        </a:graphic>
      </p:graphicFrame>
      <p:graphicFrame>
        <p:nvGraphicFramePr>
          <p:cNvPr id="50" name="Table 9">
            <a:extLst>
              <a:ext uri="{FF2B5EF4-FFF2-40B4-BE49-F238E27FC236}">
                <a16:creationId xmlns:a16="http://schemas.microsoft.com/office/drawing/2014/main" id="{9A42466B-B743-49CD-A15D-B867E22D1993}"/>
              </a:ext>
            </a:extLst>
          </p:cNvPr>
          <p:cNvGraphicFramePr>
            <a:graphicFrameLocks noGrp="1"/>
          </p:cNvGraphicFramePr>
          <p:nvPr>
            <p:extLst>
              <p:ext uri="{D42A27DB-BD31-4B8C-83A1-F6EECF244321}">
                <p14:modId xmlns:p14="http://schemas.microsoft.com/office/powerpoint/2010/main" val="627914163"/>
              </p:ext>
            </p:extLst>
          </p:nvPr>
        </p:nvGraphicFramePr>
        <p:xfrm>
          <a:off x="6427515" y="1043212"/>
          <a:ext cx="2529905" cy="213360"/>
        </p:xfrm>
        <a:graphic>
          <a:graphicData uri="http://schemas.openxmlformats.org/drawingml/2006/table">
            <a:tbl>
              <a:tblPr firstRow="1" bandRow="1"/>
              <a:tblGrid>
                <a:gridCol w="505981">
                  <a:extLst>
                    <a:ext uri="{9D8B030D-6E8A-4147-A177-3AD203B41FA5}">
                      <a16:colId xmlns:a16="http://schemas.microsoft.com/office/drawing/2014/main" val="2531086438"/>
                    </a:ext>
                  </a:extLst>
                </a:gridCol>
                <a:gridCol w="505981">
                  <a:extLst>
                    <a:ext uri="{9D8B030D-6E8A-4147-A177-3AD203B41FA5}">
                      <a16:colId xmlns:a16="http://schemas.microsoft.com/office/drawing/2014/main" val="73478351"/>
                    </a:ext>
                  </a:extLst>
                </a:gridCol>
                <a:gridCol w="505981">
                  <a:extLst>
                    <a:ext uri="{9D8B030D-6E8A-4147-A177-3AD203B41FA5}">
                      <a16:colId xmlns:a16="http://schemas.microsoft.com/office/drawing/2014/main" val="676770155"/>
                    </a:ext>
                  </a:extLst>
                </a:gridCol>
                <a:gridCol w="505981">
                  <a:extLst>
                    <a:ext uri="{9D8B030D-6E8A-4147-A177-3AD203B41FA5}">
                      <a16:colId xmlns:a16="http://schemas.microsoft.com/office/drawing/2014/main" val="527498605"/>
                    </a:ext>
                  </a:extLst>
                </a:gridCol>
                <a:gridCol w="505981">
                  <a:extLst>
                    <a:ext uri="{9D8B030D-6E8A-4147-A177-3AD203B41FA5}">
                      <a16:colId xmlns:a16="http://schemas.microsoft.com/office/drawing/2014/main" val="2334818724"/>
                    </a:ext>
                  </a:extLst>
                </a:gridCol>
              </a:tblGrid>
              <a:tr h="0">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dirty="0">
                          <a:solidFill>
                            <a:schemeClr val="tx1"/>
                          </a:solidFill>
                          <a:latin typeface="Verdana" panose="020B0604030504040204" pitchFamily="34" charset="0"/>
                          <a:ea typeface="Verdana" panose="020B0604030504040204" pitchFamily="34" charset="0"/>
                        </a:rPr>
                        <a:t>M4-6</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dirty="0">
                          <a:solidFill>
                            <a:schemeClr val="tx1"/>
                          </a:solidFill>
                          <a:latin typeface="Verdana" panose="020B0604030504040204" pitchFamily="34" charset="0"/>
                          <a:ea typeface="Verdana" panose="020B0604030504040204" pitchFamily="34" charset="0"/>
                        </a:rPr>
                        <a:t>M7-9</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dirty="0">
                          <a:solidFill>
                            <a:schemeClr val="tx1"/>
                          </a:solidFill>
                          <a:latin typeface="Verdana" panose="020B0604030504040204" pitchFamily="34" charset="0"/>
                          <a:ea typeface="Verdana" panose="020B0604030504040204" pitchFamily="34" charset="0"/>
                        </a:rPr>
                        <a:t>M10-12</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dirty="0">
                          <a:solidFill>
                            <a:schemeClr val="tx1"/>
                          </a:solidFill>
                          <a:latin typeface="Verdana" panose="020B0604030504040204" pitchFamily="34" charset="0"/>
                          <a:ea typeface="Verdana" panose="020B0604030504040204" pitchFamily="34" charset="0"/>
                        </a:rPr>
                        <a:t>M13-14</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b="0" dirty="0">
                          <a:solidFill>
                            <a:schemeClr val="tx1"/>
                          </a:solidFill>
                          <a:latin typeface="Verdana" panose="020B0604030504040204" pitchFamily="34" charset="0"/>
                          <a:ea typeface="Verdana" panose="020B0604030504040204" pitchFamily="34" charset="0"/>
                        </a:rPr>
                        <a:t>M15</a:t>
                      </a:r>
                    </a:p>
                  </a:txBody>
                  <a:tcPr marL="0" marR="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658518343"/>
                  </a:ext>
                </a:extLst>
              </a:tr>
            </a:tbl>
          </a:graphicData>
        </a:graphic>
      </p:graphicFrame>
      <p:sp>
        <p:nvSpPr>
          <p:cNvPr id="51" name="Rectangle 7">
            <a:extLst>
              <a:ext uri="{FF2B5EF4-FFF2-40B4-BE49-F238E27FC236}">
                <a16:creationId xmlns:a16="http://schemas.microsoft.com/office/drawing/2014/main" id="{329F4614-2EBB-4892-897F-E1BF5CF843AC}"/>
              </a:ext>
            </a:extLst>
          </p:cNvPr>
          <p:cNvSpPr>
            <a:spLocks noChangeArrowheads="1"/>
          </p:cNvSpPr>
          <p:nvPr/>
        </p:nvSpPr>
        <p:spPr bwMode="auto">
          <a:xfrm>
            <a:off x="478155" y="4568612"/>
            <a:ext cx="1424462" cy="326296"/>
          </a:xfrm>
          <a:prstGeom prst="rect">
            <a:avLst/>
          </a:prstGeom>
          <a:solidFill>
            <a:schemeClr val="bg1">
              <a:lumMod val="95000"/>
            </a:schemeClr>
          </a:solidFill>
          <a:ln w="3175" algn="ctr">
            <a:noFill/>
            <a:miter lim="800000"/>
            <a:headEnd/>
            <a:tailEnd/>
          </a:ln>
        </p:spPr>
        <p:txBody>
          <a:bodyPr lIns="72000" tIns="0" rIns="0" bIns="0" anchor="ctr"/>
          <a:lstStyle/>
          <a:p>
            <a:pPr marL="0" marR="0" lvl="0" indent="0" algn="ctr" defTabSz="865188" eaLnBrk="1" fontAlgn="auto" latinLnBrk="0" hangingPunct="1">
              <a:lnSpc>
                <a:spcPct val="95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ea typeface="ＭＳ Ｐゴシック" pitchFamily="50" charset="-128"/>
              </a:rPr>
              <a:t>Program Management, Quality &amp; Risk Assurance</a:t>
            </a:r>
          </a:p>
        </p:txBody>
      </p:sp>
      <p:sp>
        <p:nvSpPr>
          <p:cNvPr id="53" name="Rectangle 52">
            <a:extLst>
              <a:ext uri="{FF2B5EF4-FFF2-40B4-BE49-F238E27FC236}">
                <a16:creationId xmlns:a16="http://schemas.microsoft.com/office/drawing/2014/main" id="{F43ADA24-014F-4858-8731-225D68391F0D}"/>
              </a:ext>
            </a:extLst>
          </p:cNvPr>
          <p:cNvSpPr/>
          <p:nvPr/>
        </p:nvSpPr>
        <p:spPr bwMode="gray">
          <a:xfrm rot="16200000">
            <a:off x="396130" y="2952196"/>
            <a:ext cx="3190155" cy="179560"/>
          </a:xfrm>
          <a:prstGeom prst="rect">
            <a:avLst/>
          </a:prstGeom>
          <a:no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0" cap="none" spc="0" normalizeH="0" baseline="0" noProof="0" dirty="0">
                <a:ln>
                  <a:noFill/>
                </a:ln>
                <a:solidFill>
                  <a:prstClr val="black"/>
                </a:solidFill>
                <a:effectLst/>
                <a:uLnTx/>
                <a:uFillTx/>
                <a:ea typeface="Verdana" panose="020B0604030504040204" pitchFamily="34" charset="0"/>
              </a:rPr>
              <a:t>Key Activities</a:t>
            </a:r>
            <a:endParaRPr kumimoji="0" lang="en-IN" sz="900" b="1" i="0" u="none" strike="noStrike" kern="0" cap="none" spc="0" normalizeH="0" baseline="0" noProof="0" dirty="0">
              <a:ln>
                <a:noFill/>
              </a:ln>
              <a:solidFill>
                <a:prstClr val="black"/>
              </a:solidFill>
              <a:effectLst/>
              <a:uLnTx/>
              <a:uFillTx/>
              <a:ea typeface="Verdana" panose="020B0604030504040204" pitchFamily="34" charset="0"/>
            </a:endParaRPr>
          </a:p>
        </p:txBody>
      </p:sp>
      <p:sp>
        <p:nvSpPr>
          <p:cNvPr id="54" name="Rectangle 7">
            <a:extLst>
              <a:ext uri="{FF2B5EF4-FFF2-40B4-BE49-F238E27FC236}">
                <a16:creationId xmlns:a16="http://schemas.microsoft.com/office/drawing/2014/main" id="{B0DE3A2D-A7F5-4251-87D7-633D3ECF599C}"/>
              </a:ext>
            </a:extLst>
          </p:cNvPr>
          <p:cNvSpPr>
            <a:spLocks noChangeArrowheads="1"/>
          </p:cNvSpPr>
          <p:nvPr/>
        </p:nvSpPr>
        <p:spPr bwMode="auto">
          <a:xfrm>
            <a:off x="478155" y="2027616"/>
            <a:ext cx="1428671" cy="602191"/>
          </a:xfrm>
          <a:prstGeom prst="rect">
            <a:avLst/>
          </a:prstGeom>
          <a:solidFill>
            <a:schemeClr val="bg1">
              <a:lumMod val="95000"/>
            </a:schemeClr>
          </a:solidFill>
          <a:ln w="3175" algn="ctr">
            <a:noFill/>
            <a:miter lim="800000"/>
            <a:headEnd/>
            <a:tailEnd/>
          </a:ln>
        </p:spPr>
        <p:txBody>
          <a:bodyPr lIns="72000" tIns="0" rIns="0" bIns="0" anchor="ctr"/>
          <a:lstStyle/>
          <a:p>
            <a:pPr marL="0" marR="0" lvl="0" indent="0" algn="ctr" defTabSz="865188" eaLnBrk="1" fontAlgn="auto" latinLnBrk="0" hangingPunct="1">
              <a:lnSpc>
                <a:spcPct val="95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ea typeface="Verdana" panose="020B0604030504040204" pitchFamily="34" charset="0"/>
              </a:rPr>
              <a:t>Pillar 2:</a:t>
            </a:r>
          </a:p>
          <a:p>
            <a:pPr marL="0" marR="0" lvl="0" indent="0" algn="ctr" defTabSz="865188" eaLnBrk="1" fontAlgn="auto" latinLnBrk="0" hangingPunct="1">
              <a:lnSpc>
                <a:spcPct val="95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ea typeface="Verdana" panose="020B0604030504040204" pitchFamily="34" charset="0"/>
              </a:rPr>
              <a:t>Conceptualize and develop OOMF dashboard 2.0</a:t>
            </a:r>
          </a:p>
        </p:txBody>
      </p:sp>
      <p:sp>
        <p:nvSpPr>
          <p:cNvPr id="55" name="Rectangle 7">
            <a:extLst>
              <a:ext uri="{FF2B5EF4-FFF2-40B4-BE49-F238E27FC236}">
                <a16:creationId xmlns:a16="http://schemas.microsoft.com/office/drawing/2014/main" id="{99A418BB-2DB4-4314-BD35-9027834034CB}"/>
              </a:ext>
            </a:extLst>
          </p:cNvPr>
          <p:cNvSpPr>
            <a:spLocks noChangeArrowheads="1"/>
          </p:cNvSpPr>
          <p:nvPr/>
        </p:nvSpPr>
        <p:spPr bwMode="auto">
          <a:xfrm>
            <a:off x="478155" y="1392367"/>
            <a:ext cx="1428671" cy="602191"/>
          </a:xfrm>
          <a:prstGeom prst="rect">
            <a:avLst/>
          </a:prstGeom>
          <a:solidFill>
            <a:schemeClr val="accent2">
              <a:lumMod val="60000"/>
              <a:lumOff val="40000"/>
            </a:schemeClr>
          </a:solidFill>
          <a:ln w="3175" algn="ctr">
            <a:noFill/>
            <a:miter lim="800000"/>
            <a:headEnd/>
            <a:tailEnd/>
          </a:ln>
        </p:spPr>
        <p:txBody>
          <a:bodyPr wrap="square" lIns="72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effectLst/>
                <a:uLnTx/>
                <a:uFillTx/>
                <a:ea typeface="Verdana" panose="020B0604030504040204" pitchFamily="34" charset="0"/>
              </a:rPr>
              <a:t>Pillar 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effectLst/>
                <a:uLnTx/>
                <a:uFillTx/>
                <a:ea typeface="Verdana" panose="020B0604030504040204" pitchFamily="34" charset="0"/>
              </a:rPr>
              <a:t>Review of OOMF</a:t>
            </a:r>
          </a:p>
        </p:txBody>
      </p:sp>
      <p:sp>
        <p:nvSpPr>
          <p:cNvPr id="56" name="Rectangle 7">
            <a:extLst>
              <a:ext uri="{FF2B5EF4-FFF2-40B4-BE49-F238E27FC236}">
                <a16:creationId xmlns:a16="http://schemas.microsoft.com/office/drawing/2014/main" id="{46CB3A3A-28F3-4468-B7B8-95564F43894E}"/>
              </a:ext>
            </a:extLst>
          </p:cNvPr>
          <p:cNvSpPr>
            <a:spLocks noChangeArrowheads="1"/>
          </p:cNvSpPr>
          <p:nvPr/>
        </p:nvSpPr>
        <p:spPr bwMode="auto">
          <a:xfrm>
            <a:off x="478155" y="3933363"/>
            <a:ext cx="1428671" cy="602191"/>
          </a:xfrm>
          <a:prstGeom prst="rect">
            <a:avLst/>
          </a:prstGeom>
          <a:solidFill>
            <a:schemeClr val="accent2">
              <a:lumMod val="60000"/>
              <a:lumOff val="40000"/>
            </a:schemeClr>
          </a:solidFill>
          <a:ln w="3175" algn="ctr">
            <a:noFill/>
            <a:miter lim="800000"/>
            <a:headEnd/>
            <a:tailEnd/>
          </a:ln>
        </p:spPr>
        <p:txBody>
          <a:bodyPr lIns="72000" tIns="0" rIns="0" bIns="0" anchor="ctr"/>
          <a:lstStyle/>
          <a:p>
            <a:pPr marL="0" marR="0" lvl="0" indent="0" algn="ctr" defTabSz="865188" eaLnBrk="1" fontAlgn="auto" latinLnBrk="0" hangingPunct="1">
              <a:lnSpc>
                <a:spcPct val="95000"/>
              </a:lnSpc>
              <a:spcBef>
                <a:spcPts val="0"/>
              </a:spcBef>
              <a:spcAft>
                <a:spcPts val="0"/>
              </a:spcAft>
              <a:buClrTx/>
              <a:buSzTx/>
              <a:buFontTx/>
              <a:buNone/>
              <a:tabLst/>
              <a:defRPr/>
            </a:pPr>
            <a:r>
              <a:rPr kumimoji="0" lang="en-US" sz="900" b="1" i="0" u="none" strike="noStrike" kern="0" cap="none" spc="0" normalizeH="0" baseline="0" noProof="0" dirty="0">
                <a:ln>
                  <a:noFill/>
                </a:ln>
                <a:effectLst/>
                <a:uLnTx/>
                <a:uFillTx/>
                <a:ea typeface="Verdana" panose="020B0604030504040204" pitchFamily="34" charset="0"/>
              </a:rPr>
              <a:t>Pillar 5:</a:t>
            </a:r>
          </a:p>
          <a:p>
            <a:pPr marL="0" marR="0" lvl="0" indent="0" algn="ctr" defTabSz="865188" eaLnBrk="1" fontAlgn="auto" latinLnBrk="0" hangingPunct="1">
              <a:lnSpc>
                <a:spcPct val="95000"/>
              </a:lnSpc>
              <a:spcBef>
                <a:spcPts val="0"/>
              </a:spcBef>
              <a:spcAft>
                <a:spcPts val="0"/>
              </a:spcAft>
              <a:buClrTx/>
              <a:buSzTx/>
              <a:buFontTx/>
              <a:buNone/>
              <a:tabLst/>
              <a:defRPr/>
            </a:pPr>
            <a:r>
              <a:rPr kumimoji="0" lang="en-US" sz="900" b="1" i="0" u="none" strike="noStrike" kern="0" cap="none" spc="0" normalizeH="0" baseline="0" noProof="0" dirty="0">
                <a:ln>
                  <a:noFill/>
                </a:ln>
                <a:effectLst/>
                <a:uLnTx/>
                <a:uFillTx/>
                <a:ea typeface="Verdana" panose="020B0604030504040204" pitchFamily="34" charset="0"/>
              </a:rPr>
              <a:t>Expand OOMF to States</a:t>
            </a:r>
          </a:p>
        </p:txBody>
      </p:sp>
      <p:sp>
        <p:nvSpPr>
          <p:cNvPr id="73" name="Rectangle 7">
            <a:extLst>
              <a:ext uri="{FF2B5EF4-FFF2-40B4-BE49-F238E27FC236}">
                <a16:creationId xmlns:a16="http://schemas.microsoft.com/office/drawing/2014/main" id="{A71356E5-B4B1-471F-B410-900AA4158A03}"/>
              </a:ext>
            </a:extLst>
          </p:cNvPr>
          <p:cNvSpPr>
            <a:spLocks noChangeArrowheads="1"/>
          </p:cNvSpPr>
          <p:nvPr/>
        </p:nvSpPr>
        <p:spPr bwMode="auto">
          <a:xfrm>
            <a:off x="478155" y="2662865"/>
            <a:ext cx="1428671" cy="602191"/>
          </a:xfrm>
          <a:prstGeom prst="rect">
            <a:avLst/>
          </a:prstGeom>
          <a:solidFill>
            <a:schemeClr val="accent2">
              <a:lumMod val="60000"/>
              <a:lumOff val="40000"/>
            </a:schemeClr>
          </a:solidFill>
          <a:ln w="3175" algn="ctr">
            <a:noFill/>
            <a:miter lim="800000"/>
            <a:headEnd/>
            <a:tailEnd/>
          </a:ln>
        </p:spPr>
        <p:txBody>
          <a:bodyPr lIns="72000" tIns="0" rIns="0" bIns="0" anchor="ctr"/>
          <a:lstStyle/>
          <a:p>
            <a:pPr marL="0" marR="0" lvl="0" indent="0" algn="ctr" defTabSz="865188" eaLnBrk="1" fontAlgn="auto" latinLnBrk="0" hangingPunct="1">
              <a:lnSpc>
                <a:spcPct val="95000"/>
              </a:lnSpc>
              <a:spcBef>
                <a:spcPts val="0"/>
              </a:spcBef>
              <a:spcAft>
                <a:spcPts val="0"/>
              </a:spcAft>
              <a:buClrTx/>
              <a:buSzTx/>
              <a:buFontTx/>
              <a:buNone/>
              <a:tabLst/>
              <a:defRPr/>
            </a:pPr>
            <a:r>
              <a:rPr kumimoji="0" lang="en-US" sz="900" b="1" i="0" u="none" strike="noStrike" kern="0" cap="none" spc="0" normalizeH="0" baseline="0" noProof="0" dirty="0">
                <a:ln>
                  <a:noFill/>
                </a:ln>
                <a:effectLst/>
                <a:uLnTx/>
                <a:uFillTx/>
                <a:ea typeface="Verdana" panose="020B0604030504040204" pitchFamily="34" charset="0"/>
              </a:rPr>
              <a:t>Pillar 3:</a:t>
            </a:r>
          </a:p>
          <a:p>
            <a:pPr marL="0" marR="0" lvl="0" indent="0" algn="ctr" defTabSz="865188" eaLnBrk="1" fontAlgn="auto" latinLnBrk="0" hangingPunct="1">
              <a:lnSpc>
                <a:spcPct val="95000"/>
              </a:lnSpc>
              <a:spcBef>
                <a:spcPts val="0"/>
              </a:spcBef>
              <a:spcAft>
                <a:spcPts val="0"/>
              </a:spcAft>
              <a:buClrTx/>
              <a:buSzTx/>
              <a:buFontTx/>
              <a:buNone/>
              <a:tabLst/>
              <a:defRPr/>
            </a:pPr>
            <a:r>
              <a:rPr kumimoji="0" lang="en-US" sz="900" b="1" i="0" u="none" strike="noStrike" kern="0" cap="none" spc="0" normalizeH="0" baseline="0" noProof="0" dirty="0">
                <a:ln>
                  <a:noFill/>
                </a:ln>
                <a:effectLst/>
                <a:uLnTx/>
                <a:uFillTx/>
                <a:ea typeface="Verdana" panose="020B0604030504040204" pitchFamily="34" charset="0"/>
              </a:rPr>
              <a:t>Advocacy of Outcomes</a:t>
            </a:r>
          </a:p>
        </p:txBody>
      </p:sp>
      <p:sp>
        <p:nvSpPr>
          <p:cNvPr id="74" name="Rectangle 7">
            <a:extLst>
              <a:ext uri="{FF2B5EF4-FFF2-40B4-BE49-F238E27FC236}">
                <a16:creationId xmlns:a16="http://schemas.microsoft.com/office/drawing/2014/main" id="{080046A0-D146-4D52-92B6-9D68E4536083}"/>
              </a:ext>
            </a:extLst>
          </p:cNvPr>
          <p:cNvSpPr>
            <a:spLocks noChangeArrowheads="1"/>
          </p:cNvSpPr>
          <p:nvPr/>
        </p:nvSpPr>
        <p:spPr bwMode="auto">
          <a:xfrm>
            <a:off x="478155" y="3298114"/>
            <a:ext cx="1428671" cy="602191"/>
          </a:xfrm>
          <a:prstGeom prst="rect">
            <a:avLst/>
          </a:prstGeom>
          <a:solidFill>
            <a:schemeClr val="bg1">
              <a:lumMod val="95000"/>
            </a:schemeClr>
          </a:solidFill>
          <a:ln w="3175" algn="ctr">
            <a:noFill/>
            <a:miter lim="800000"/>
            <a:headEnd/>
            <a:tailEnd/>
          </a:ln>
        </p:spPr>
        <p:txBody>
          <a:bodyPr lIns="72000" tIns="0" rIns="0" bIns="0" anchor="ctr"/>
          <a:lstStyle/>
          <a:p>
            <a:pPr marL="0" marR="0" lvl="0" indent="0" algn="ctr" defTabSz="865188" eaLnBrk="1" fontAlgn="auto" latinLnBrk="0" hangingPunct="1">
              <a:lnSpc>
                <a:spcPct val="95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ea typeface="Verdana" panose="020B0604030504040204" pitchFamily="34" charset="0"/>
              </a:rPr>
              <a:t>Pillar 4:</a:t>
            </a:r>
          </a:p>
          <a:p>
            <a:pPr marL="0" marR="0" lvl="0" indent="0" algn="ctr" defTabSz="865188" eaLnBrk="1" fontAlgn="auto" latinLnBrk="0" hangingPunct="1">
              <a:lnSpc>
                <a:spcPct val="95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ea typeface="Verdana" panose="020B0604030504040204" pitchFamily="34" charset="0"/>
              </a:rPr>
              <a:t>Expand OOMF to Departments/ Ministries</a:t>
            </a:r>
          </a:p>
        </p:txBody>
      </p:sp>
      <p:sp>
        <p:nvSpPr>
          <p:cNvPr id="75" name="Rectangle 239">
            <a:extLst>
              <a:ext uri="{FF2B5EF4-FFF2-40B4-BE49-F238E27FC236}">
                <a16:creationId xmlns:a16="http://schemas.microsoft.com/office/drawing/2014/main" id="{75EC9724-9E47-473E-BDE3-B6F1A3E3447E}"/>
              </a:ext>
            </a:extLst>
          </p:cNvPr>
          <p:cNvSpPr>
            <a:spLocks noChangeArrowheads="1"/>
          </p:cNvSpPr>
          <p:nvPr>
            <p:custDataLst>
              <p:tags r:id="rId1"/>
            </p:custDataLst>
          </p:nvPr>
        </p:nvSpPr>
        <p:spPr bwMode="auto">
          <a:xfrm>
            <a:off x="2105804" y="1421976"/>
            <a:ext cx="1478077" cy="353535"/>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Assessment of existing M&amp;E environment</a:t>
            </a:r>
          </a:p>
        </p:txBody>
      </p:sp>
      <p:sp>
        <p:nvSpPr>
          <p:cNvPr id="76" name="Rectangle 239">
            <a:extLst>
              <a:ext uri="{FF2B5EF4-FFF2-40B4-BE49-F238E27FC236}">
                <a16:creationId xmlns:a16="http://schemas.microsoft.com/office/drawing/2014/main" id="{3E0B9848-5449-49F0-AEA5-AF4A78A1EB29}"/>
              </a:ext>
            </a:extLst>
          </p:cNvPr>
          <p:cNvSpPr>
            <a:spLocks noChangeArrowheads="1"/>
          </p:cNvSpPr>
          <p:nvPr>
            <p:custDataLst>
              <p:tags r:id="rId2"/>
            </p:custDataLst>
          </p:nvPr>
        </p:nvSpPr>
        <p:spPr bwMode="auto">
          <a:xfrm>
            <a:off x="2106394" y="4646322"/>
            <a:ext cx="9606179" cy="178863"/>
          </a:xfrm>
          <a:prstGeom prst="rect">
            <a:avLst/>
          </a:prstGeom>
          <a:solidFill>
            <a:schemeClr val="bg1">
              <a:lumMod val="50000"/>
            </a:schemeClr>
          </a:solidFill>
          <a:ln w="6350" algn="ctr">
            <a:no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Project Charter &amp; Governance Mechanism, Technical Handholding Support, Inter-agency coordination, Communication Management, Status Reporting, Program, Quality &amp; Risk Management</a:t>
            </a:r>
          </a:p>
        </p:txBody>
      </p:sp>
      <p:sp>
        <p:nvSpPr>
          <p:cNvPr id="77" name="Rectangle 239">
            <a:extLst>
              <a:ext uri="{FF2B5EF4-FFF2-40B4-BE49-F238E27FC236}">
                <a16:creationId xmlns:a16="http://schemas.microsoft.com/office/drawing/2014/main" id="{EBCF1CDC-B1ED-40A3-AF10-2C151877F2A8}"/>
              </a:ext>
            </a:extLst>
          </p:cNvPr>
          <p:cNvSpPr>
            <a:spLocks noChangeArrowheads="1"/>
          </p:cNvSpPr>
          <p:nvPr>
            <p:custDataLst>
              <p:tags r:id="rId3"/>
            </p:custDataLst>
          </p:nvPr>
        </p:nvSpPr>
        <p:spPr bwMode="auto">
          <a:xfrm>
            <a:off x="3662959" y="1604372"/>
            <a:ext cx="667932" cy="374958"/>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Best practices’ study</a:t>
            </a:r>
          </a:p>
        </p:txBody>
      </p:sp>
      <p:sp>
        <p:nvSpPr>
          <p:cNvPr id="78" name="Isosceles Triangle 77">
            <a:extLst>
              <a:ext uri="{FF2B5EF4-FFF2-40B4-BE49-F238E27FC236}">
                <a16:creationId xmlns:a16="http://schemas.microsoft.com/office/drawing/2014/main" id="{99051566-4171-4A4E-8801-79FC3D05BB8E}"/>
              </a:ext>
            </a:extLst>
          </p:cNvPr>
          <p:cNvSpPr/>
          <p:nvPr/>
        </p:nvSpPr>
        <p:spPr bwMode="gray">
          <a:xfrm>
            <a:off x="6752973" y="2660592"/>
            <a:ext cx="130260" cy="60109"/>
          </a:xfrm>
          <a:prstGeom prst="triangle">
            <a:avLst/>
          </a:prstGeom>
          <a:solidFill>
            <a:srgbClr val="70AD47">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a typeface="Verdana" panose="020B0604030504040204" pitchFamily="34" charset="0"/>
            </a:endParaRPr>
          </a:p>
        </p:txBody>
      </p:sp>
      <p:sp>
        <p:nvSpPr>
          <p:cNvPr id="79" name="Rectangle 239">
            <a:extLst>
              <a:ext uri="{FF2B5EF4-FFF2-40B4-BE49-F238E27FC236}">
                <a16:creationId xmlns:a16="http://schemas.microsoft.com/office/drawing/2014/main" id="{6FA2A972-597A-47B9-9324-EC1F4C69CC14}"/>
              </a:ext>
            </a:extLst>
          </p:cNvPr>
          <p:cNvSpPr>
            <a:spLocks noChangeArrowheads="1"/>
          </p:cNvSpPr>
          <p:nvPr>
            <p:custDataLst>
              <p:tags r:id="rId4"/>
            </p:custDataLst>
          </p:nvPr>
        </p:nvSpPr>
        <p:spPr bwMode="auto">
          <a:xfrm>
            <a:off x="5355414" y="1613957"/>
            <a:ext cx="982100" cy="369394"/>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6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Finalization of OOMF v2.0 Methodology &amp; Toolkit</a:t>
            </a:r>
          </a:p>
        </p:txBody>
      </p:sp>
      <p:sp>
        <p:nvSpPr>
          <p:cNvPr id="80" name="Rectangle 239">
            <a:extLst>
              <a:ext uri="{FF2B5EF4-FFF2-40B4-BE49-F238E27FC236}">
                <a16:creationId xmlns:a16="http://schemas.microsoft.com/office/drawing/2014/main" id="{BA36C4F0-C191-467F-B477-F5132FA3F319}"/>
              </a:ext>
            </a:extLst>
          </p:cNvPr>
          <p:cNvSpPr>
            <a:spLocks noChangeArrowheads="1"/>
          </p:cNvSpPr>
          <p:nvPr>
            <p:custDataLst>
              <p:tags r:id="rId5"/>
            </p:custDataLst>
          </p:nvPr>
        </p:nvSpPr>
        <p:spPr bwMode="auto">
          <a:xfrm>
            <a:off x="2634309" y="2076646"/>
            <a:ext cx="783376" cy="340496"/>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Dashboard Assessment &amp; Fitness</a:t>
            </a:r>
          </a:p>
        </p:txBody>
      </p:sp>
      <p:sp>
        <p:nvSpPr>
          <p:cNvPr id="81" name="Rectangle 239">
            <a:extLst>
              <a:ext uri="{FF2B5EF4-FFF2-40B4-BE49-F238E27FC236}">
                <a16:creationId xmlns:a16="http://schemas.microsoft.com/office/drawing/2014/main" id="{1346B451-8E20-4876-8765-2007D893ED39}"/>
              </a:ext>
            </a:extLst>
          </p:cNvPr>
          <p:cNvSpPr>
            <a:spLocks noChangeArrowheads="1"/>
          </p:cNvSpPr>
          <p:nvPr>
            <p:custDataLst>
              <p:tags r:id="rId6"/>
            </p:custDataLst>
          </p:nvPr>
        </p:nvSpPr>
        <p:spPr bwMode="auto">
          <a:xfrm>
            <a:off x="8148103" y="2211124"/>
            <a:ext cx="987878" cy="341029"/>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6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Monitoring development, UAT &amp; deployment for dashboard 2.0</a:t>
            </a:r>
          </a:p>
        </p:txBody>
      </p:sp>
      <p:grpSp>
        <p:nvGrpSpPr>
          <p:cNvPr id="82" name="Group 81">
            <a:extLst>
              <a:ext uri="{FF2B5EF4-FFF2-40B4-BE49-F238E27FC236}">
                <a16:creationId xmlns:a16="http://schemas.microsoft.com/office/drawing/2014/main" id="{0EA3EE95-7587-4EC8-89B2-087E1F7CE7D9}"/>
              </a:ext>
            </a:extLst>
          </p:cNvPr>
          <p:cNvGrpSpPr/>
          <p:nvPr/>
        </p:nvGrpSpPr>
        <p:grpSpPr>
          <a:xfrm>
            <a:off x="8578361" y="2775053"/>
            <a:ext cx="1718638" cy="133085"/>
            <a:chOff x="9287502" y="4391711"/>
            <a:chExt cx="1295479" cy="135354"/>
          </a:xfrm>
        </p:grpSpPr>
        <p:sp>
          <p:nvSpPr>
            <p:cNvPr id="90" name="Donut 257">
              <a:extLst>
                <a:ext uri="{FF2B5EF4-FFF2-40B4-BE49-F238E27FC236}">
                  <a16:creationId xmlns:a16="http://schemas.microsoft.com/office/drawing/2014/main" id="{2C947D79-C5F0-492D-86F6-8CDF594C63D3}"/>
                </a:ext>
              </a:extLst>
            </p:cNvPr>
            <p:cNvSpPr/>
            <p:nvPr/>
          </p:nvSpPr>
          <p:spPr bwMode="gray">
            <a:xfrm>
              <a:off x="9287502" y="4391711"/>
              <a:ext cx="114421" cy="135354"/>
            </a:xfrm>
            <a:prstGeom prst="donut">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ea typeface="Verdana" panose="020B0604030504040204" pitchFamily="34" charset="0"/>
              </a:endParaRPr>
            </a:p>
          </p:txBody>
        </p:sp>
        <p:sp>
          <p:nvSpPr>
            <p:cNvPr id="91" name="Rectangle 90">
              <a:extLst>
                <a:ext uri="{FF2B5EF4-FFF2-40B4-BE49-F238E27FC236}">
                  <a16:creationId xmlns:a16="http://schemas.microsoft.com/office/drawing/2014/main" id="{AB6405B2-5465-4A66-9015-F932ADCFE67D}"/>
                </a:ext>
              </a:extLst>
            </p:cNvPr>
            <p:cNvSpPr/>
            <p:nvPr/>
          </p:nvSpPr>
          <p:spPr bwMode="gray">
            <a:xfrm>
              <a:off x="9485830" y="4395805"/>
              <a:ext cx="1097151" cy="127166"/>
            </a:xfrm>
            <a:prstGeom prst="rect">
              <a:avLst/>
            </a:prstGeom>
            <a:noFill/>
            <a:ln w="19050" algn="ctr">
              <a:noFill/>
              <a:miter lim="800000"/>
              <a:headEnd/>
              <a:tailEnd/>
            </a:ln>
          </p:spPr>
          <p:txBody>
            <a:bodyPr wrap="none" lIns="0" tIns="0" rIns="0" bIns="0" rtlCol="0" anchor="ctr">
              <a:spAutoFit/>
            </a:bodyP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dirty="0">
                  <a:ln>
                    <a:noFill/>
                  </a:ln>
                  <a:solidFill>
                    <a:prstClr val="black"/>
                  </a:solidFill>
                  <a:effectLst/>
                  <a:uLnTx/>
                  <a:uFillTx/>
                  <a:ea typeface="Verdana" panose="020B0604030504040204" pitchFamily="34" charset="0"/>
                </a:rPr>
                <a:t>National Workshop on OOMF v2.0</a:t>
              </a:r>
            </a:p>
          </p:txBody>
        </p:sp>
      </p:grpSp>
      <p:sp>
        <p:nvSpPr>
          <p:cNvPr id="83" name="Rectangle 239">
            <a:extLst>
              <a:ext uri="{FF2B5EF4-FFF2-40B4-BE49-F238E27FC236}">
                <a16:creationId xmlns:a16="http://schemas.microsoft.com/office/drawing/2014/main" id="{E12B3315-3B61-4733-AD0E-6C64E21DB128}"/>
              </a:ext>
            </a:extLst>
          </p:cNvPr>
          <p:cNvSpPr>
            <a:spLocks noChangeArrowheads="1"/>
          </p:cNvSpPr>
          <p:nvPr>
            <p:custDataLst>
              <p:tags r:id="rId7"/>
            </p:custDataLst>
          </p:nvPr>
        </p:nvSpPr>
        <p:spPr bwMode="auto">
          <a:xfrm>
            <a:off x="2626363" y="3007839"/>
            <a:ext cx="2072482" cy="257229"/>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Brainstorming sessions with DMEO to develop strategies to educate, inform &amp; engage</a:t>
            </a:r>
          </a:p>
        </p:txBody>
      </p:sp>
      <p:sp>
        <p:nvSpPr>
          <p:cNvPr id="84" name="Rectangle 239">
            <a:extLst>
              <a:ext uri="{FF2B5EF4-FFF2-40B4-BE49-F238E27FC236}">
                <a16:creationId xmlns:a16="http://schemas.microsoft.com/office/drawing/2014/main" id="{9C97B79B-87B9-4FE8-AC19-E8740D935A8D}"/>
              </a:ext>
            </a:extLst>
          </p:cNvPr>
          <p:cNvSpPr>
            <a:spLocks noChangeArrowheads="1"/>
          </p:cNvSpPr>
          <p:nvPr>
            <p:custDataLst>
              <p:tags r:id="rId8"/>
            </p:custDataLst>
          </p:nvPr>
        </p:nvSpPr>
        <p:spPr bwMode="auto">
          <a:xfrm>
            <a:off x="5950510" y="2737926"/>
            <a:ext cx="1170422" cy="424016"/>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Finalization of Integrated C</a:t>
            </a:r>
            <a:r>
              <a:rPr kumimoji="0" lang="en-GB" sz="700" b="1" i="0" u="none" strike="noStrike" kern="0" cap="none" spc="0" normalizeH="0" baseline="0" noProof="0" dirty="0" err="1">
                <a:ln>
                  <a:noFill/>
                </a:ln>
                <a:solidFill>
                  <a:prstClr val="white"/>
                </a:solidFill>
                <a:effectLst/>
                <a:uLnTx/>
                <a:uFillTx/>
                <a:ea typeface="Verdana" panose="020B0604030504040204" pitchFamily="34" charset="0"/>
                <a:cs typeface="Verdana" panose="020B0604030504040204" pitchFamily="34" charset="0"/>
              </a:rPr>
              <a:t>ommunication</a:t>
            </a:r>
            <a:r>
              <a:rPr kumimoji="0" lang="en-GB"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 Plan</a:t>
            </a:r>
          </a:p>
        </p:txBody>
      </p:sp>
      <p:sp>
        <p:nvSpPr>
          <p:cNvPr id="85" name="Rectangle 239">
            <a:extLst>
              <a:ext uri="{FF2B5EF4-FFF2-40B4-BE49-F238E27FC236}">
                <a16:creationId xmlns:a16="http://schemas.microsoft.com/office/drawing/2014/main" id="{244677C2-F3C4-4416-8435-CAB41794C566}"/>
              </a:ext>
            </a:extLst>
          </p:cNvPr>
          <p:cNvSpPr>
            <a:spLocks noChangeArrowheads="1"/>
          </p:cNvSpPr>
          <p:nvPr>
            <p:custDataLst>
              <p:tags r:id="rId9"/>
            </p:custDataLst>
          </p:nvPr>
        </p:nvSpPr>
        <p:spPr bwMode="auto">
          <a:xfrm>
            <a:off x="2602035" y="3971365"/>
            <a:ext cx="1265555" cy="188583"/>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Shortlisting of States/UT</a:t>
            </a:r>
          </a:p>
        </p:txBody>
      </p:sp>
      <p:grpSp>
        <p:nvGrpSpPr>
          <p:cNvPr id="3" name="Group 2">
            <a:extLst>
              <a:ext uri="{FF2B5EF4-FFF2-40B4-BE49-F238E27FC236}">
                <a16:creationId xmlns:a16="http://schemas.microsoft.com/office/drawing/2014/main" id="{0EBE1309-86A6-4D4D-B0D6-3DAD7D9B393C}"/>
              </a:ext>
            </a:extLst>
          </p:cNvPr>
          <p:cNvGrpSpPr/>
          <p:nvPr/>
        </p:nvGrpSpPr>
        <p:grpSpPr>
          <a:xfrm>
            <a:off x="2080987" y="2021852"/>
            <a:ext cx="9631587" cy="1913115"/>
            <a:chOff x="2018073" y="2158482"/>
            <a:chExt cx="9694502" cy="1913115"/>
          </a:xfrm>
        </p:grpSpPr>
        <p:cxnSp>
          <p:nvCxnSpPr>
            <p:cNvPr id="86" name="Straight Connector 85">
              <a:extLst>
                <a:ext uri="{FF2B5EF4-FFF2-40B4-BE49-F238E27FC236}">
                  <a16:creationId xmlns:a16="http://schemas.microsoft.com/office/drawing/2014/main" id="{531ACAD8-7753-4F8E-B7F3-5E82750A50D1}"/>
                </a:ext>
              </a:extLst>
            </p:cNvPr>
            <p:cNvCxnSpPr/>
            <p:nvPr/>
          </p:nvCxnSpPr>
          <p:spPr>
            <a:xfrm>
              <a:off x="2045139" y="2158482"/>
              <a:ext cx="9667436" cy="15440"/>
            </a:xfrm>
            <a:prstGeom prst="line">
              <a:avLst/>
            </a:prstGeom>
            <a:noFill/>
            <a:ln w="12700" cap="flat" cmpd="sng" algn="ctr">
              <a:solidFill>
                <a:sysClr val="windowText" lastClr="000000"/>
              </a:solidFill>
              <a:prstDash val="sysDot"/>
              <a:miter lim="800000"/>
            </a:ln>
            <a:effectLst/>
          </p:spPr>
        </p:cxnSp>
        <p:cxnSp>
          <p:nvCxnSpPr>
            <p:cNvPr id="87" name="Straight Connector 86">
              <a:extLst>
                <a:ext uri="{FF2B5EF4-FFF2-40B4-BE49-F238E27FC236}">
                  <a16:creationId xmlns:a16="http://schemas.microsoft.com/office/drawing/2014/main" id="{1ECCD674-6525-4B15-B95C-5AEA198195B3}"/>
                </a:ext>
              </a:extLst>
            </p:cNvPr>
            <p:cNvCxnSpPr/>
            <p:nvPr/>
          </p:nvCxnSpPr>
          <p:spPr>
            <a:xfrm>
              <a:off x="2018081" y="2780194"/>
              <a:ext cx="9667436" cy="15440"/>
            </a:xfrm>
            <a:prstGeom prst="line">
              <a:avLst/>
            </a:prstGeom>
            <a:noFill/>
            <a:ln w="12700" cap="flat" cmpd="sng" algn="ctr">
              <a:solidFill>
                <a:sysClr val="windowText" lastClr="000000"/>
              </a:solidFill>
              <a:prstDash val="sysDot"/>
              <a:miter lim="800000"/>
            </a:ln>
            <a:effectLst/>
          </p:spPr>
        </p:cxnSp>
        <p:cxnSp>
          <p:nvCxnSpPr>
            <p:cNvPr id="88" name="Straight Connector 87">
              <a:extLst>
                <a:ext uri="{FF2B5EF4-FFF2-40B4-BE49-F238E27FC236}">
                  <a16:creationId xmlns:a16="http://schemas.microsoft.com/office/drawing/2014/main" id="{5C1B224E-9735-4759-904F-4F730FBBC626}"/>
                </a:ext>
              </a:extLst>
            </p:cNvPr>
            <p:cNvCxnSpPr/>
            <p:nvPr/>
          </p:nvCxnSpPr>
          <p:spPr>
            <a:xfrm>
              <a:off x="2018073" y="3418572"/>
              <a:ext cx="9667436" cy="15440"/>
            </a:xfrm>
            <a:prstGeom prst="line">
              <a:avLst/>
            </a:prstGeom>
            <a:noFill/>
            <a:ln w="12700" cap="flat" cmpd="sng" algn="ctr">
              <a:solidFill>
                <a:sysClr val="windowText" lastClr="000000"/>
              </a:solidFill>
              <a:prstDash val="sysDot"/>
              <a:miter lim="800000"/>
            </a:ln>
            <a:effectLst/>
          </p:spPr>
        </p:cxnSp>
        <p:cxnSp>
          <p:nvCxnSpPr>
            <p:cNvPr id="89" name="Straight Connector 88">
              <a:extLst>
                <a:ext uri="{FF2B5EF4-FFF2-40B4-BE49-F238E27FC236}">
                  <a16:creationId xmlns:a16="http://schemas.microsoft.com/office/drawing/2014/main" id="{A21C493F-327C-46C5-B109-B5B8761FC076}"/>
                </a:ext>
              </a:extLst>
            </p:cNvPr>
            <p:cNvCxnSpPr/>
            <p:nvPr/>
          </p:nvCxnSpPr>
          <p:spPr>
            <a:xfrm>
              <a:off x="2027096" y="4056157"/>
              <a:ext cx="9667436" cy="15440"/>
            </a:xfrm>
            <a:prstGeom prst="line">
              <a:avLst/>
            </a:prstGeom>
            <a:noFill/>
            <a:ln w="12700" cap="flat" cmpd="sng" algn="ctr">
              <a:solidFill>
                <a:sysClr val="windowText" lastClr="000000"/>
              </a:solidFill>
              <a:prstDash val="sysDot"/>
              <a:miter lim="800000"/>
            </a:ln>
            <a:effectLst/>
          </p:spPr>
        </p:cxnSp>
      </p:grpSp>
      <p:grpSp>
        <p:nvGrpSpPr>
          <p:cNvPr id="92" name="Group 91">
            <a:extLst>
              <a:ext uri="{FF2B5EF4-FFF2-40B4-BE49-F238E27FC236}">
                <a16:creationId xmlns:a16="http://schemas.microsoft.com/office/drawing/2014/main" id="{7E3CC09D-2D88-4A3A-BCCB-088F5A0C0B12}"/>
              </a:ext>
            </a:extLst>
          </p:cNvPr>
          <p:cNvGrpSpPr/>
          <p:nvPr/>
        </p:nvGrpSpPr>
        <p:grpSpPr>
          <a:xfrm>
            <a:off x="484625" y="1167209"/>
            <a:ext cx="11237476" cy="164376"/>
            <a:chOff x="197934" y="786320"/>
            <a:chExt cx="11541816" cy="196833"/>
          </a:xfrm>
        </p:grpSpPr>
        <p:sp>
          <p:nvSpPr>
            <p:cNvPr id="93" name="TextBox 92">
              <a:extLst>
                <a:ext uri="{FF2B5EF4-FFF2-40B4-BE49-F238E27FC236}">
                  <a16:creationId xmlns:a16="http://schemas.microsoft.com/office/drawing/2014/main" id="{E1236EBA-E26F-41D2-8ECD-05A1FECC5138}"/>
                </a:ext>
              </a:extLst>
            </p:cNvPr>
            <p:cNvSpPr txBox="1"/>
            <p:nvPr/>
          </p:nvSpPr>
          <p:spPr>
            <a:xfrm>
              <a:off x="469900" y="786320"/>
              <a:ext cx="567453" cy="13849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prstClr val="black"/>
                  </a:solidFill>
                  <a:effectLst/>
                  <a:uLnTx/>
                  <a:uFillTx/>
                  <a:ea typeface="Verdana" panose="020B0604030504040204" pitchFamily="34" charset="0"/>
                </a:rPr>
                <a:t>Timeline</a:t>
              </a:r>
            </a:p>
          </p:txBody>
        </p:sp>
        <p:grpSp>
          <p:nvGrpSpPr>
            <p:cNvPr id="94" name="Group 93">
              <a:extLst>
                <a:ext uri="{FF2B5EF4-FFF2-40B4-BE49-F238E27FC236}">
                  <a16:creationId xmlns:a16="http://schemas.microsoft.com/office/drawing/2014/main" id="{23AB6E3E-8C87-42C2-8296-034019054EDB}"/>
                </a:ext>
              </a:extLst>
            </p:cNvPr>
            <p:cNvGrpSpPr/>
            <p:nvPr/>
          </p:nvGrpSpPr>
          <p:grpSpPr>
            <a:xfrm>
              <a:off x="197934" y="858655"/>
              <a:ext cx="11541816" cy="124498"/>
              <a:chOff x="197934" y="858655"/>
              <a:chExt cx="11541816" cy="124498"/>
            </a:xfrm>
          </p:grpSpPr>
          <p:cxnSp>
            <p:nvCxnSpPr>
              <p:cNvPr id="95" name="Straight Arrow Connector 94">
                <a:extLst>
                  <a:ext uri="{FF2B5EF4-FFF2-40B4-BE49-F238E27FC236}">
                    <a16:creationId xmlns:a16="http://schemas.microsoft.com/office/drawing/2014/main" id="{B500061F-F387-42F6-A455-9CAECCC0D447}"/>
                  </a:ext>
                </a:extLst>
              </p:cNvPr>
              <p:cNvCxnSpPr/>
              <p:nvPr/>
            </p:nvCxnSpPr>
            <p:spPr>
              <a:xfrm>
                <a:off x="1066919" y="858655"/>
                <a:ext cx="657064" cy="0"/>
              </a:xfrm>
              <a:prstGeom prst="straightConnector1">
                <a:avLst/>
              </a:prstGeom>
              <a:noFill/>
              <a:ln w="6350" cap="flat" cmpd="sng" algn="ctr">
                <a:solidFill>
                  <a:sysClr val="windowText" lastClr="000000"/>
                </a:solidFill>
                <a:prstDash val="sysDot"/>
                <a:miter lim="800000"/>
                <a:tailEnd type="triangle"/>
              </a:ln>
              <a:effectLst/>
            </p:spPr>
          </p:cxnSp>
          <p:cxnSp>
            <p:nvCxnSpPr>
              <p:cNvPr id="96" name="Straight Connector 95">
                <a:extLst>
                  <a:ext uri="{FF2B5EF4-FFF2-40B4-BE49-F238E27FC236}">
                    <a16:creationId xmlns:a16="http://schemas.microsoft.com/office/drawing/2014/main" id="{07763033-4A82-4021-B8CF-78661A26842C}"/>
                  </a:ext>
                </a:extLst>
              </p:cNvPr>
              <p:cNvCxnSpPr>
                <a:cxnSpLocks/>
              </p:cNvCxnSpPr>
              <p:nvPr/>
            </p:nvCxnSpPr>
            <p:spPr>
              <a:xfrm>
                <a:off x="197934" y="983153"/>
                <a:ext cx="11541816" cy="0"/>
              </a:xfrm>
              <a:prstGeom prst="line">
                <a:avLst/>
              </a:prstGeom>
              <a:noFill/>
              <a:ln w="19050" cap="flat" cmpd="sng" algn="ctr">
                <a:solidFill>
                  <a:srgbClr val="A5A5A5"/>
                </a:solidFill>
                <a:prstDash val="solid"/>
                <a:miter lim="800000"/>
              </a:ln>
              <a:effectLst/>
            </p:spPr>
          </p:cxnSp>
        </p:grpSp>
      </p:grpSp>
      <p:grpSp>
        <p:nvGrpSpPr>
          <p:cNvPr id="9" name="Group 8">
            <a:extLst>
              <a:ext uri="{FF2B5EF4-FFF2-40B4-BE49-F238E27FC236}">
                <a16:creationId xmlns:a16="http://schemas.microsoft.com/office/drawing/2014/main" id="{1FD7BF90-922E-4FB8-A958-B22B83C5DAE3}"/>
              </a:ext>
            </a:extLst>
          </p:cNvPr>
          <p:cNvGrpSpPr/>
          <p:nvPr/>
        </p:nvGrpSpPr>
        <p:grpSpPr>
          <a:xfrm>
            <a:off x="476251" y="5677303"/>
            <a:ext cx="11206527" cy="583192"/>
            <a:chOff x="476251" y="5717943"/>
            <a:chExt cx="11206527" cy="583192"/>
          </a:xfrm>
        </p:grpSpPr>
        <p:sp>
          <p:nvSpPr>
            <p:cNvPr id="101" name="Rounded Rectangle 120">
              <a:extLst>
                <a:ext uri="{FF2B5EF4-FFF2-40B4-BE49-F238E27FC236}">
                  <a16:creationId xmlns:a16="http://schemas.microsoft.com/office/drawing/2014/main" id="{FBD008F6-7545-4C62-A8D9-CE61A4326431}"/>
                </a:ext>
              </a:extLst>
            </p:cNvPr>
            <p:cNvSpPr/>
            <p:nvPr/>
          </p:nvSpPr>
          <p:spPr bwMode="gray">
            <a:xfrm>
              <a:off x="476251" y="5717943"/>
              <a:ext cx="11206527" cy="583192"/>
            </a:xfrm>
            <a:prstGeom prst="roundRect">
              <a:avLst>
                <a:gd name="adj" fmla="val 50000"/>
              </a:avLst>
            </a:prstGeom>
            <a:noFill/>
            <a:ln w="3175" algn="ctr">
              <a:solidFill>
                <a:schemeClr val="bg1">
                  <a:lumMod val="75000"/>
                </a:scheme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a typeface="Verdana" panose="020B0604030504040204" pitchFamily="34" charset="0"/>
              </a:endParaRPr>
            </a:p>
          </p:txBody>
        </p:sp>
        <p:grpSp>
          <p:nvGrpSpPr>
            <p:cNvPr id="8" name="Group 7">
              <a:extLst>
                <a:ext uri="{FF2B5EF4-FFF2-40B4-BE49-F238E27FC236}">
                  <a16:creationId xmlns:a16="http://schemas.microsoft.com/office/drawing/2014/main" id="{4C0BB913-3E89-4A93-9CF3-875E58FA5010}"/>
                </a:ext>
              </a:extLst>
            </p:cNvPr>
            <p:cNvGrpSpPr/>
            <p:nvPr/>
          </p:nvGrpSpPr>
          <p:grpSpPr>
            <a:xfrm>
              <a:off x="820443" y="5801983"/>
              <a:ext cx="10518143" cy="415113"/>
              <a:chOff x="670385" y="5787856"/>
              <a:chExt cx="10518143" cy="415113"/>
            </a:xfrm>
          </p:grpSpPr>
          <p:sp>
            <p:nvSpPr>
              <p:cNvPr id="102" name="TextBox 101">
                <a:extLst>
                  <a:ext uri="{FF2B5EF4-FFF2-40B4-BE49-F238E27FC236}">
                    <a16:creationId xmlns:a16="http://schemas.microsoft.com/office/drawing/2014/main" id="{97380F7C-ED1D-43E1-A9FC-F25F3097212D}"/>
                  </a:ext>
                </a:extLst>
              </p:cNvPr>
              <p:cNvSpPr txBox="1"/>
              <p:nvPr/>
            </p:nvSpPr>
            <p:spPr>
              <a:xfrm>
                <a:off x="670385" y="5926227"/>
                <a:ext cx="636822" cy="138371"/>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effectLst/>
                    <a:uLnTx/>
                    <a:uFillTx/>
                    <a:ea typeface="Verdana" panose="020B0604030504040204" pitchFamily="34" charset="0"/>
                  </a:rPr>
                  <a:t>Legend:</a:t>
                </a:r>
                <a:endParaRPr kumimoji="0" lang="en-IN" sz="900" b="1" i="0" u="none" strike="noStrike" kern="0" cap="none" spc="0" normalizeH="0" baseline="0" noProof="0" dirty="0">
                  <a:ln>
                    <a:noFill/>
                  </a:ln>
                  <a:effectLst/>
                  <a:uLnTx/>
                  <a:uFillTx/>
                  <a:ea typeface="Verdana" panose="020B0604030504040204" pitchFamily="34" charset="0"/>
                </a:endParaRPr>
              </a:p>
            </p:txBody>
          </p:sp>
          <p:sp>
            <p:nvSpPr>
              <p:cNvPr id="103" name="Flowchart: Decision 102">
                <a:extLst>
                  <a:ext uri="{FF2B5EF4-FFF2-40B4-BE49-F238E27FC236}">
                    <a16:creationId xmlns:a16="http://schemas.microsoft.com/office/drawing/2014/main" id="{84D9FB9E-60B5-47E6-9BD2-1F0CA2EA1020}"/>
                  </a:ext>
                </a:extLst>
              </p:cNvPr>
              <p:cNvSpPr/>
              <p:nvPr/>
            </p:nvSpPr>
            <p:spPr bwMode="gray">
              <a:xfrm>
                <a:off x="3643392" y="5923479"/>
                <a:ext cx="216347" cy="143867"/>
              </a:xfrm>
              <a:prstGeom prst="flowChartDecision">
                <a:avLst/>
              </a:prstGeom>
              <a:solidFill>
                <a:srgbClr val="00B0F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a typeface="Verdana" panose="020B0604030504040204" pitchFamily="34" charset="0"/>
                </a:endParaRPr>
              </a:p>
            </p:txBody>
          </p:sp>
          <p:sp>
            <p:nvSpPr>
              <p:cNvPr id="104" name="TextBox 103">
                <a:extLst>
                  <a:ext uri="{FF2B5EF4-FFF2-40B4-BE49-F238E27FC236}">
                    <a16:creationId xmlns:a16="http://schemas.microsoft.com/office/drawing/2014/main" id="{1D81D5DE-E66D-4CD3-BE07-F28618B61D97}"/>
                  </a:ext>
                </a:extLst>
              </p:cNvPr>
              <p:cNvSpPr txBox="1"/>
              <p:nvPr/>
            </p:nvSpPr>
            <p:spPr>
              <a:xfrm>
                <a:off x="3860239" y="5857041"/>
                <a:ext cx="1734631" cy="276742"/>
              </a:xfrm>
              <a:prstGeom prst="rect">
                <a:avLst/>
              </a:prstGeom>
              <a:noFill/>
            </p:spPr>
            <p:txBody>
              <a:bodyPr wrap="square" lIns="72000" tIns="0" rIns="0" bIns="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313131"/>
                    </a:solidFill>
                    <a:effectLst/>
                    <a:uLnTx/>
                    <a:uFillTx/>
                    <a:ea typeface="Verdana" panose="020B0604030504040204" pitchFamily="34" charset="0"/>
                  </a:rPr>
                  <a:t>Weekly/Monthly updates for Working Group (WG)</a:t>
                </a:r>
              </a:p>
            </p:txBody>
          </p:sp>
          <p:sp>
            <p:nvSpPr>
              <p:cNvPr id="105" name="5-Point Star 182">
                <a:extLst>
                  <a:ext uri="{FF2B5EF4-FFF2-40B4-BE49-F238E27FC236}">
                    <a16:creationId xmlns:a16="http://schemas.microsoft.com/office/drawing/2014/main" id="{3BE7CDA0-4223-455C-A0FA-3AF045CFAD04}"/>
                  </a:ext>
                </a:extLst>
              </p:cNvPr>
              <p:cNvSpPr/>
              <p:nvPr/>
            </p:nvSpPr>
            <p:spPr bwMode="gray">
              <a:xfrm>
                <a:off x="5839046" y="5923479"/>
                <a:ext cx="216347" cy="143867"/>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a typeface="Verdana" panose="020B0604030504040204" pitchFamily="34" charset="0"/>
                </a:endParaRPr>
              </a:p>
            </p:txBody>
          </p:sp>
          <p:sp>
            <p:nvSpPr>
              <p:cNvPr id="106" name="TextBox 105">
                <a:extLst>
                  <a:ext uri="{FF2B5EF4-FFF2-40B4-BE49-F238E27FC236}">
                    <a16:creationId xmlns:a16="http://schemas.microsoft.com/office/drawing/2014/main" id="{88B03FF9-32CB-43BA-BE72-CFBBF6CCDD1E}"/>
                  </a:ext>
                </a:extLst>
              </p:cNvPr>
              <p:cNvSpPr txBox="1"/>
              <p:nvPr/>
            </p:nvSpPr>
            <p:spPr>
              <a:xfrm>
                <a:off x="6029676" y="5857041"/>
                <a:ext cx="1507149" cy="276742"/>
              </a:xfrm>
              <a:prstGeom prst="rect">
                <a:avLst/>
              </a:prstGeom>
              <a:noFill/>
            </p:spPr>
            <p:txBody>
              <a:bodyPr wrap="square" lIns="72000" tIns="0" rIns="0" bIns="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313131"/>
                    </a:solidFill>
                    <a:effectLst/>
                    <a:uLnTx/>
                    <a:uFillTx/>
                    <a:ea typeface="Verdana" panose="020B0604030504040204" pitchFamily="34" charset="0"/>
                  </a:rPr>
                  <a:t>Stakeholder Trainings/Workshops</a:t>
                </a:r>
              </a:p>
            </p:txBody>
          </p:sp>
          <p:sp>
            <p:nvSpPr>
              <p:cNvPr id="107" name="Isosceles Triangle 106">
                <a:extLst>
                  <a:ext uri="{FF2B5EF4-FFF2-40B4-BE49-F238E27FC236}">
                    <a16:creationId xmlns:a16="http://schemas.microsoft.com/office/drawing/2014/main" id="{48146947-139E-415E-91BA-C139E469EB28}"/>
                  </a:ext>
                </a:extLst>
              </p:cNvPr>
              <p:cNvSpPr/>
              <p:nvPr/>
            </p:nvSpPr>
            <p:spPr bwMode="gray">
              <a:xfrm>
                <a:off x="9830248" y="5923479"/>
                <a:ext cx="216347" cy="143867"/>
              </a:xfrm>
              <a:prstGeom prst="triangle">
                <a:avLst/>
              </a:prstGeom>
              <a:solidFill>
                <a:srgbClr val="70AD47">
                  <a:lumMod val="75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a typeface="Verdana" panose="020B0604030504040204" pitchFamily="34" charset="0"/>
                </a:endParaRPr>
              </a:p>
            </p:txBody>
          </p:sp>
          <p:sp>
            <p:nvSpPr>
              <p:cNvPr id="108" name="TextBox 107">
                <a:extLst>
                  <a:ext uri="{FF2B5EF4-FFF2-40B4-BE49-F238E27FC236}">
                    <a16:creationId xmlns:a16="http://schemas.microsoft.com/office/drawing/2014/main" id="{FC46D31B-86B8-4EBA-ACE5-26B8047CD306}"/>
                  </a:ext>
                </a:extLst>
              </p:cNvPr>
              <p:cNvSpPr txBox="1"/>
              <p:nvPr/>
            </p:nvSpPr>
            <p:spPr>
              <a:xfrm>
                <a:off x="10027385" y="5926163"/>
                <a:ext cx="1161143" cy="138499"/>
              </a:xfrm>
              <a:prstGeom prst="rect">
                <a:avLst/>
              </a:prstGeom>
              <a:noFill/>
            </p:spPr>
            <p:txBody>
              <a:bodyPr wrap="none" lIns="72000" tIns="0" rIns="0" bIns="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313131"/>
                    </a:solidFill>
                    <a:effectLst/>
                    <a:uLnTx/>
                    <a:uFillTx/>
                    <a:ea typeface="Verdana" panose="020B0604030504040204" pitchFamily="34" charset="0"/>
                  </a:rPr>
                  <a:t>Outputs / Deliverables</a:t>
                </a:r>
                <a:endParaRPr kumimoji="0" lang="en-IN" sz="900" b="1" i="0" u="none" strike="noStrike" kern="0" cap="none" spc="0" normalizeH="0" baseline="0" noProof="0" dirty="0">
                  <a:ln>
                    <a:noFill/>
                  </a:ln>
                  <a:solidFill>
                    <a:srgbClr val="313131"/>
                  </a:solidFill>
                  <a:effectLst/>
                  <a:uLnTx/>
                  <a:uFillTx/>
                  <a:ea typeface="Verdana" panose="020B0604030504040204" pitchFamily="34" charset="0"/>
                </a:endParaRPr>
              </a:p>
            </p:txBody>
          </p:sp>
          <p:sp>
            <p:nvSpPr>
              <p:cNvPr id="110" name="TextBox 109">
                <a:extLst>
                  <a:ext uri="{FF2B5EF4-FFF2-40B4-BE49-F238E27FC236}">
                    <a16:creationId xmlns:a16="http://schemas.microsoft.com/office/drawing/2014/main" id="{B31FF8AC-CE10-4181-81B6-43EB10E983A7}"/>
                  </a:ext>
                </a:extLst>
              </p:cNvPr>
              <p:cNvSpPr txBox="1"/>
              <p:nvPr/>
            </p:nvSpPr>
            <p:spPr>
              <a:xfrm>
                <a:off x="1563029" y="5787856"/>
                <a:ext cx="1970140" cy="415113"/>
              </a:xfrm>
              <a:prstGeom prst="rect">
                <a:avLst/>
              </a:prstGeom>
              <a:noFill/>
            </p:spPr>
            <p:txBody>
              <a:bodyPr wrap="square" lIns="72000" tIns="0" rIns="0" bIns="0" rtlCol="0">
                <a:spAutoFit/>
              </a:bodyPr>
              <a:lstStyle/>
              <a:p>
                <a:pPr marL="0" marR="0" lvl="0" indent="0" defTabSz="914400" eaLnBrk="1" fontAlgn="auto" latinLnBrk="0" hangingPunct="1">
                  <a:lnSpc>
                    <a:spcPct val="100000"/>
                  </a:lnSpc>
                  <a:spcBef>
                    <a:spcPts val="0"/>
                  </a:spcBef>
                  <a:spcAft>
                    <a:spcPts val="0"/>
                  </a:spcAft>
                  <a:buClrTx/>
                  <a:buSzPct val="100000"/>
                  <a:buFontTx/>
                  <a:buNone/>
                  <a:tabLst/>
                  <a:defRPr/>
                </a:pPr>
                <a:r>
                  <a:rPr kumimoji="0" lang="en-US" sz="900" b="1" i="0" u="none" strike="noStrike" kern="0" cap="none" spc="0" normalizeH="0" baseline="0" noProof="0" dirty="0">
                    <a:ln>
                      <a:noFill/>
                    </a:ln>
                    <a:solidFill>
                      <a:srgbClr val="313131"/>
                    </a:solidFill>
                    <a:effectLst/>
                    <a:uLnTx/>
                    <a:uFillTx/>
                    <a:ea typeface="Verdana" panose="020B0604030504040204" pitchFamily="34" charset="0"/>
                  </a:rPr>
                  <a:t>Imagine - Discover &amp; Design</a:t>
                </a:r>
              </a:p>
              <a:p>
                <a:pPr marL="0" marR="0" lvl="0" indent="0" defTabSz="914400" eaLnBrk="1" fontAlgn="auto" latinLnBrk="0" hangingPunct="1">
                  <a:lnSpc>
                    <a:spcPct val="100000"/>
                  </a:lnSpc>
                  <a:spcBef>
                    <a:spcPts val="0"/>
                  </a:spcBef>
                  <a:spcAft>
                    <a:spcPts val="0"/>
                  </a:spcAft>
                  <a:buClrTx/>
                  <a:buSzPct val="100000"/>
                  <a:buFontTx/>
                  <a:buNone/>
                  <a:tabLst/>
                  <a:defRPr/>
                </a:pPr>
                <a:r>
                  <a:rPr kumimoji="0" lang="en-US" sz="900" b="1" i="0" u="none" strike="noStrike" kern="0" cap="none" spc="0" normalizeH="0" baseline="0" noProof="0" dirty="0">
                    <a:ln>
                      <a:noFill/>
                    </a:ln>
                    <a:solidFill>
                      <a:srgbClr val="313131"/>
                    </a:solidFill>
                    <a:effectLst/>
                    <a:uLnTx/>
                    <a:uFillTx/>
                    <a:ea typeface="Verdana" panose="020B0604030504040204" pitchFamily="34" charset="0"/>
                  </a:rPr>
                  <a:t>Deliver - Refine &amp; Build</a:t>
                </a:r>
              </a:p>
              <a:p>
                <a:pPr marL="0" marR="0" lvl="0" indent="0" defTabSz="914400" eaLnBrk="1" fontAlgn="auto" latinLnBrk="0" hangingPunct="1">
                  <a:lnSpc>
                    <a:spcPct val="100000"/>
                  </a:lnSpc>
                  <a:spcBef>
                    <a:spcPts val="0"/>
                  </a:spcBef>
                  <a:spcAft>
                    <a:spcPts val="0"/>
                  </a:spcAft>
                  <a:buClrTx/>
                  <a:buSzPct val="100000"/>
                  <a:buFontTx/>
                  <a:buNone/>
                  <a:tabLst/>
                  <a:defRPr/>
                </a:pPr>
                <a:r>
                  <a:rPr kumimoji="0" lang="en-US" sz="900" b="1" i="0" u="none" strike="noStrike" kern="0" cap="none" spc="0" normalizeH="0" baseline="0" noProof="0" dirty="0">
                    <a:ln>
                      <a:noFill/>
                    </a:ln>
                    <a:solidFill>
                      <a:srgbClr val="313131"/>
                    </a:solidFill>
                    <a:effectLst/>
                    <a:uLnTx/>
                    <a:uFillTx/>
                    <a:ea typeface="Verdana" panose="020B0604030504040204" pitchFamily="34" charset="0"/>
                  </a:rPr>
                  <a:t>Run - Scale</a:t>
                </a:r>
              </a:p>
            </p:txBody>
          </p:sp>
          <p:grpSp>
            <p:nvGrpSpPr>
              <p:cNvPr id="7" name="Group 6">
                <a:extLst>
                  <a:ext uri="{FF2B5EF4-FFF2-40B4-BE49-F238E27FC236}">
                    <a16:creationId xmlns:a16="http://schemas.microsoft.com/office/drawing/2014/main" id="{84C38279-9DDD-459E-8AFE-4E3F016DBDF8}"/>
                  </a:ext>
                </a:extLst>
              </p:cNvPr>
              <p:cNvGrpSpPr/>
              <p:nvPr/>
            </p:nvGrpSpPr>
            <p:grpSpPr>
              <a:xfrm>
                <a:off x="1475799" y="5810848"/>
                <a:ext cx="108173" cy="369128"/>
                <a:chOff x="1475799" y="5808843"/>
                <a:chExt cx="108173" cy="369128"/>
              </a:xfrm>
            </p:grpSpPr>
            <p:sp>
              <p:nvSpPr>
                <p:cNvPr id="109" name="Rectangle 108">
                  <a:extLst>
                    <a:ext uri="{FF2B5EF4-FFF2-40B4-BE49-F238E27FC236}">
                      <a16:creationId xmlns:a16="http://schemas.microsoft.com/office/drawing/2014/main" id="{B10A5632-56B0-4B4D-BF56-CC7B92431CF4}"/>
                    </a:ext>
                  </a:extLst>
                </p:cNvPr>
                <p:cNvSpPr/>
                <p:nvPr/>
              </p:nvSpPr>
              <p:spPr bwMode="gray">
                <a:xfrm>
                  <a:off x="1475799" y="5808843"/>
                  <a:ext cx="108173" cy="107900"/>
                </a:xfrm>
                <a:prstGeom prst="rect">
                  <a:avLst/>
                </a:prstGeom>
                <a:solidFill>
                  <a:srgbClr val="70AD47">
                    <a:lumMod val="20000"/>
                    <a:lumOff val="8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dirty="0">
                    <a:ln>
                      <a:noFill/>
                    </a:ln>
                    <a:solidFill>
                      <a:prstClr val="white"/>
                    </a:solidFill>
                    <a:effectLst/>
                    <a:uLnTx/>
                    <a:uFillTx/>
                    <a:ea typeface="Verdana" panose="020B0604030504040204" pitchFamily="34" charset="0"/>
                  </a:endParaRPr>
                </a:p>
              </p:txBody>
            </p:sp>
            <p:grpSp>
              <p:nvGrpSpPr>
                <p:cNvPr id="6" name="Group 5">
                  <a:extLst>
                    <a:ext uri="{FF2B5EF4-FFF2-40B4-BE49-F238E27FC236}">
                      <a16:creationId xmlns:a16="http://schemas.microsoft.com/office/drawing/2014/main" id="{7765AC84-56E2-43B9-A049-92C20D927A15}"/>
                    </a:ext>
                  </a:extLst>
                </p:cNvPr>
                <p:cNvGrpSpPr/>
                <p:nvPr/>
              </p:nvGrpSpPr>
              <p:grpSpPr>
                <a:xfrm>
                  <a:off x="1475799" y="5936929"/>
                  <a:ext cx="108173" cy="241042"/>
                  <a:chOff x="1475799" y="5936929"/>
                  <a:chExt cx="108173" cy="241042"/>
                </a:xfrm>
              </p:grpSpPr>
              <p:sp>
                <p:nvSpPr>
                  <p:cNvPr id="111" name="Rectangle 110">
                    <a:extLst>
                      <a:ext uri="{FF2B5EF4-FFF2-40B4-BE49-F238E27FC236}">
                        <a16:creationId xmlns:a16="http://schemas.microsoft.com/office/drawing/2014/main" id="{48C0B74A-8A4C-4428-9004-00A255E0B7A1}"/>
                      </a:ext>
                    </a:extLst>
                  </p:cNvPr>
                  <p:cNvSpPr/>
                  <p:nvPr/>
                </p:nvSpPr>
                <p:spPr bwMode="gray">
                  <a:xfrm>
                    <a:off x="1475799" y="5936929"/>
                    <a:ext cx="108173" cy="107900"/>
                  </a:xfrm>
                  <a:prstGeom prst="rect">
                    <a:avLst/>
                  </a:prstGeom>
                  <a:solidFill>
                    <a:srgbClr val="70AD47">
                      <a:lumMod val="75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a typeface="Verdana" panose="020B0604030504040204" pitchFamily="34" charset="0"/>
                    </a:endParaRPr>
                  </a:p>
                </p:txBody>
              </p:sp>
              <p:sp>
                <p:nvSpPr>
                  <p:cNvPr id="112" name="Rectangle 111">
                    <a:extLst>
                      <a:ext uri="{FF2B5EF4-FFF2-40B4-BE49-F238E27FC236}">
                        <a16:creationId xmlns:a16="http://schemas.microsoft.com/office/drawing/2014/main" id="{D7F41BD2-EF9B-4676-813E-F2D28E810BFE}"/>
                      </a:ext>
                    </a:extLst>
                  </p:cNvPr>
                  <p:cNvSpPr/>
                  <p:nvPr/>
                </p:nvSpPr>
                <p:spPr bwMode="gray">
                  <a:xfrm>
                    <a:off x="1475799" y="6070071"/>
                    <a:ext cx="108173" cy="107900"/>
                  </a:xfrm>
                  <a:prstGeom prst="rect">
                    <a:avLst/>
                  </a:prstGeom>
                  <a:solidFill>
                    <a:srgbClr val="00B0F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a typeface="Verdana" panose="020B0604030504040204" pitchFamily="34" charset="0"/>
                    </a:endParaRPr>
                  </a:p>
                </p:txBody>
              </p:sp>
            </p:grpSp>
          </p:grpSp>
          <p:sp>
            <p:nvSpPr>
              <p:cNvPr id="113" name="Flowchart: Decision 112">
                <a:extLst>
                  <a:ext uri="{FF2B5EF4-FFF2-40B4-BE49-F238E27FC236}">
                    <a16:creationId xmlns:a16="http://schemas.microsoft.com/office/drawing/2014/main" id="{942E3EB9-E636-4A0A-ADD7-78CAAD451A3C}"/>
                  </a:ext>
                </a:extLst>
              </p:cNvPr>
              <p:cNvSpPr/>
              <p:nvPr/>
            </p:nvSpPr>
            <p:spPr bwMode="gray">
              <a:xfrm>
                <a:off x="7611572" y="5923479"/>
                <a:ext cx="216347" cy="143867"/>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a typeface="Verdana" panose="020B0604030504040204" pitchFamily="34" charset="0"/>
                </a:endParaRPr>
              </a:p>
            </p:txBody>
          </p:sp>
          <p:sp>
            <p:nvSpPr>
              <p:cNvPr id="114" name="TextBox 113">
                <a:extLst>
                  <a:ext uri="{FF2B5EF4-FFF2-40B4-BE49-F238E27FC236}">
                    <a16:creationId xmlns:a16="http://schemas.microsoft.com/office/drawing/2014/main" id="{54642A3C-EA15-4115-A59A-1E25CFECBB5A}"/>
                  </a:ext>
                </a:extLst>
              </p:cNvPr>
              <p:cNvSpPr txBox="1"/>
              <p:nvPr/>
            </p:nvSpPr>
            <p:spPr>
              <a:xfrm>
                <a:off x="7796590" y="5926227"/>
                <a:ext cx="1983179" cy="138371"/>
              </a:xfrm>
              <a:prstGeom prst="rect">
                <a:avLst/>
              </a:prstGeom>
              <a:noFill/>
            </p:spPr>
            <p:txBody>
              <a:bodyPr wrap="square" lIns="72000" tIns="0" rIns="0" bIns="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313131"/>
                    </a:solidFill>
                    <a:effectLst/>
                    <a:uLnTx/>
                    <a:uFillTx/>
                    <a:ea typeface="Verdana" panose="020B0604030504040204" pitchFamily="34" charset="0"/>
                  </a:rPr>
                  <a:t>Advocacy Contents, Materials</a:t>
                </a:r>
              </a:p>
            </p:txBody>
          </p:sp>
        </p:grpSp>
      </p:grpSp>
      <p:grpSp>
        <p:nvGrpSpPr>
          <p:cNvPr id="4" name="Group 3">
            <a:extLst>
              <a:ext uri="{FF2B5EF4-FFF2-40B4-BE49-F238E27FC236}">
                <a16:creationId xmlns:a16="http://schemas.microsoft.com/office/drawing/2014/main" id="{EB0FD05C-18A0-4350-A083-189640B1013A}"/>
              </a:ext>
            </a:extLst>
          </p:cNvPr>
          <p:cNvGrpSpPr/>
          <p:nvPr/>
        </p:nvGrpSpPr>
        <p:grpSpPr>
          <a:xfrm>
            <a:off x="484625" y="4886904"/>
            <a:ext cx="11220730" cy="751244"/>
            <a:chOff x="484625" y="5076084"/>
            <a:chExt cx="11220730" cy="751244"/>
          </a:xfrm>
        </p:grpSpPr>
        <p:sp>
          <p:nvSpPr>
            <p:cNvPr id="98" name="TextBox 97">
              <a:extLst>
                <a:ext uri="{FF2B5EF4-FFF2-40B4-BE49-F238E27FC236}">
                  <a16:creationId xmlns:a16="http://schemas.microsoft.com/office/drawing/2014/main" id="{2BFEE8B8-F1E6-4B35-BF8F-E676C9137228}"/>
                </a:ext>
              </a:extLst>
            </p:cNvPr>
            <p:cNvSpPr txBox="1"/>
            <p:nvPr/>
          </p:nvSpPr>
          <p:spPr>
            <a:xfrm>
              <a:off x="486689" y="5276855"/>
              <a:ext cx="1419079" cy="349702"/>
            </a:xfrm>
            <a:prstGeom prst="rect">
              <a:avLst/>
            </a:prstGeom>
            <a:noFill/>
          </p:spPr>
          <p:txBody>
            <a:bodyPr wrap="square" lIns="36000" tIns="36000" rIns="36000" bIns="3600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prstClr val="black"/>
                  </a:solidFill>
                  <a:effectLst/>
                  <a:uLnTx/>
                  <a:uFillTx/>
                  <a:ea typeface="Verdana" panose="020B0604030504040204" pitchFamily="34" charset="0"/>
                </a:rPr>
                <a:t>Key Output/</a:t>
              </a:r>
              <a:br>
                <a:rPr kumimoji="0" lang="en-US" sz="900" b="1" i="0" u="none" strike="noStrike" kern="0" cap="none" spc="0" normalizeH="0" baseline="0" noProof="0" dirty="0">
                  <a:ln>
                    <a:noFill/>
                  </a:ln>
                  <a:solidFill>
                    <a:prstClr val="black"/>
                  </a:solidFill>
                  <a:effectLst/>
                  <a:uLnTx/>
                  <a:uFillTx/>
                  <a:ea typeface="Verdana" panose="020B0604030504040204" pitchFamily="34" charset="0"/>
                </a:rPr>
              </a:br>
              <a:r>
                <a:rPr kumimoji="0" lang="en-US" sz="900" b="1" i="0" u="none" strike="noStrike" kern="0" cap="none" spc="0" normalizeH="0" baseline="0" noProof="0" dirty="0">
                  <a:ln>
                    <a:noFill/>
                  </a:ln>
                  <a:solidFill>
                    <a:prstClr val="black"/>
                  </a:solidFill>
                  <a:effectLst/>
                  <a:uLnTx/>
                  <a:uFillTx/>
                  <a:ea typeface="Verdana" panose="020B0604030504040204" pitchFamily="34" charset="0"/>
                </a:rPr>
                <a:t>Deliverables:</a:t>
              </a:r>
              <a:endParaRPr kumimoji="0" lang="en-IN" sz="900" b="1" i="0" u="none" strike="noStrike" kern="0" cap="none" spc="0" normalizeH="0" baseline="0" noProof="0" dirty="0">
                <a:ln>
                  <a:noFill/>
                </a:ln>
                <a:solidFill>
                  <a:prstClr val="black"/>
                </a:solidFill>
                <a:effectLst/>
                <a:uLnTx/>
                <a:uFillTx/>
                <a:ea typeface="Verdana" panose="020B0604030504040204" pitchFamily="34" charset="0"/>
              </a:endParaRPr>
            </a:p>
          </p:txBody>
        </p:sp>
        <p:sp>
          <p:nvSpPr>
            <p:cNvPr id="99" name="Rectangle 98">
              <a:extLst>
                <a:ext uri="{FF2B5EF4-FFF2-40B4-BE49-F238E27FC236}">
                  <a16:creationId xmlns:a16="http://schemas.microsoft.com/office/drawing/2014/main" id="{47EF7BA2-FFF2-4154-BD22-9BC807B4AD38}"/>
                </a:ext>
              </a:extLst>
            </p:cNvPr>
            <p:cNvSpPr/>
            <p:nvPr/>
          </p:nvSpPr>
          <p:spPr bwMode="gray">
            <a:xfrm>
              <a:off x="2089951" y="5131106"/>
              <a:ext cx="9574456" cy="641201"/>
            </a:xfrm>
            <a:prstGeom prst="rect">
              <a:avLst/>
            </a:prstGeom>
            <a:noFill/>
            <a:ln w="3175" algn="ctr">
              <a:solidFill>
                <a:sysClr val="window" lastClr="FFFFFF"/>
              </a:solidFill>
              <a:miter lim="800000"/>
              <a:headEnd/>
              <a:tailEnd/>
            </a:ln>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200"/>
                </a:spcAft>
                <a:buClrTx/>
                <a:buSzTx/>
                <a:buFontTx/>
                <a:buNone/>
                <a:tabLst/>
                <a:defRPr/>
              </a:pPr>
              <a:r>
                <a:rPr kumimoji="0" lang="en-US" sz="800" b="0" i="0" u="none" strike="noStrike" kern="0" cap="none" spc="0" normalizeH="0" baseline="0" noProof="0" dirty="0">
                  <a:ln>
                    <a:noFill/>
                  </a:ln>
                  <a:solidFill>
                    <a:srgbClr val="0076A8"/>
                  </a:solidFill>
                  <a:effectLst/>
                  <a:uLnTx/>
                  <a:uFillTx/>
                  <a:ea typeface="Verdana" panose="020B0604030504040204" pitchFamily="34" charset="0"/>
                </a:rPr>
                <a:t>- Inception Report; P1: -OOMF Documentation; - Draft OOMF v2.0 toolkit; - Draft OOMF v2.0 improvement test report; - Final OOMF v2.0 toolkit; - Final OOMF v2.0 improvement test report; P2: - Stakeholder-wise requirement documentation and roadmap for dashboard 2.0; - Vendor </a:t>
              </a:r>
              <a:r>
                <a:rPr kumimoji="0" lang="en-US" sz="800" b="0" i="0" u="none" strike="noStrike" kern="0" cap="none" spc="0" normalizeH="0" baseline="0" noProof="0" dirty="0" err="1">
                  <a:ln>
                    <a:noFill/>
                  </a:ln>
                  <a:solidFill>
                    <a:srgbClr val="0076A8"/>
                  </a:solidFill>
                  <a:effectLst/>
                  <a:uLnTx/>
                  <a:uFillTx/>
                  <a:ea typeface="Verdana" panose="020B0604030504040204" pitchFamily="34" charset="0"/>
                </a:rPr>
                <a:t>ToR</a:t>
              </a:r>
              <a:r>
                <a:rPr kumimoji="0" lang="en-US" sz="800" b="0" i="0" u="none" strike="noStrike" kern="0" cap="none" spc="0" normalizeH="0" baseline="0" noProof="0" dirty="0">
                  <a:ln>
                    <a:noFill/>
                  </a:ln>
                  <a:solidFill>
                    <a:srgbClr val="0076A8"/>
                  </a:solidFill>
                  <a:effectLst/>
                  <a:uLnTx/>
                  <a:uFillTx/>
                  <a:ea typeface="Verdana" panose="020B0604030504040204" pitchFamily="34" charset="0"/>
                </a:rPr>
                <a:t>; - Bidding Documents; - BRD; P3: - Communication plan; P4: - Finding and recommendations report per department; - Workshop design and training material; - Guidelines and checklists for dashboard; P5: - Maturity assessment frameworks and 5 assessment reports; - Course curriculum; - Progress reports; - Training reports</a:t>
              </a:r>
            </a:p>
            <a:p>
              <a:pPr marL="0" marR="0" lvl="0" indent="0" defTabSz="914400" eaLnBrk="1" fontAlgn="auto" latinLnBrk="0" hangingPunct="1">
                <a:lnSpc>
                  <a:spcPct val="100000"/>
                </a:lnSpc>
                <a:spcBef>
                  <a:spcPts val="0"/>
                </a:spcBef>
                <a:spcAft>
                  <a:spcPts val="200"/>
                </a:spcAft>
                <a:buClrTx/>
                <a:buSzTx/>
                <a:buFontTx/>
                <a:buNone/>
                <a:tabLst/>
                <a:defRPr/>
              </a:pPr>
              <a:r>
                <a:rPr kumimoji="0" lang="en-US" sz="800" b="0" i="1" u="none" strike="noStrike" kern="0" cap="none" spc="0" normalizeH="0" baseline="0" noProof="0" dirty="0">
                  <a:ln>
                    <a:noFill/>
                  </a:ln>
                  <a:solidFill>
                    <a:prstClr val="black"/>
                  </a:solidFill>
                  <a:effectLst/>
                  <a:uLnTx/>
                  <a:uFillTx/>
                  <a:ea typeface="Verdana" panose="020B0604030504040204" pitchFamily="34" charset="0"/>
                </a:rPr>
                <a:t>Draft of all outputs prepared will be presented to officials for review. Discussion/meeting will be undertaken with the relevant officials and recommended changes will be incorporated in the final output. All final outputs/reports will then be submitted. </a:t>
              </a:r>
            </a:p>
          </p:txBody>
        </p:sp>
        <p:cxnSp>
          <p:nvCxnSpPr>
            <p:cNvPr id="115" name="Straight Connector 114">
              <a:extLst>
                <a:ext uri="{FF2B5EF4-FFF2-40B4-BE49-F238E27FC236}">
                  <a16:creationId xmlns:a16="http://schemas.microsoft.com/office/drawing/2014/main" id="{92881B0B-5183-44EA-BFB0-F8EC28636C1D}"/>
                </a:ext>
              </a:extLst>
            </p:cNvPr>
            <p:cNvCxnSpPr/>
            <p:nvPr/>
          </p:nvCxnSpPr>
          <p:spPr>
            <a:xfrm flipV="1">
              <a:off x="489120" y="5076084"/>
              <a:ext cx="11216235" cy="640"/>
            </a:xfrm>
            <a:prstGeom prst="line">
              <a:avLst/>
            </a:prstGeom>
            <a:noFill/>
            <a:ln w="12700" cap="flat" cmpd="sng" algn="ctr">
              <a:solidFill>
                <a:srgbClr val="A5A5A5"/>
              </a:solidFill>
              <a:prstDash val="solid"/>
              <a:miter lim="800000"/>
            </a:ln>
            <a:effectLst/>
          </p:spPr>
        </p:cxnSp>
        <p:cxnSp>
          <p:nvCxnSpPr>
            <p:cNvPr id="116" name="Straight Connector 115">
              <a:extLst>
                <a:ext uri="{FF2B5EF4-FFF2-40B4-BE49-F238E27FC236}">
                  <a16:creationId xmlns:a16="http://schemas.microsoft.com/office/drawing/2014/main" id="{7BA4C055-DEDF-4383-BB2A-022F7AEB9B36}"/>
                </a:ext>
              </a:extLst>
            </p:cNvPr>
            <p:cNvCxnSpPr/>
            <p:nvPr/>
          </p:nvCxnSpPr>
          <p:spPr>
            <a:xfrm flipV="1">
              <a:off x="484625" y="5826688"/>
              <a:ext cx="11216235" cy="640"/>
            </a:xfrm>
            <a:prstGeom prst="line">
              <a:avLst/>
            </a:prstGeom>
            <a:noFill/>
            <a:ln w="12700" cap="flat" cmpd="sng" algn="ctr">
              <a:solidFill>
                <a:srgbClr val="A5A5A5"/>
              </a:solidFill>
              <a:prstDash val="solid"/>
              <a:miter lim="800000"/>
            </a:ln>
            <a:effectLst/>
          </p:spPr>
        </p:cxnSp>
      </p:grpSp>
      <p:sp>
        <p:nvSpPr>
          <p:cNvPr id="117" name="Rectangle 239">
            <a:extLst>
              <a:ext uri="{FF2B5EF4-FFF2-40B4-BE49-F238E27FC236}">
                <a16:creationId xmlns:a16="http://schemas.microsoft.com/office/drawing/2014/main" id="{2E9D7950-1C0B-4F3E-A808-813504AEDF89}"/>
              </a:ext>
            </a:extLst>
          </p:cNvPr>
          <p:cNvSpPr>
            <a:spLocks noChangeArrowheads="1"/>
          </p:cNvSpPr>
          <p:nvPr>
            <p:custDataLst>
              <p:tags r:id="rId10"/>
            </p:custDataLst>
          </p:nvPr>
        </p:nvSpPr>
        <p:spPr bwMode="auto">
          <a:xfrm>
            <a:off x="4433152" y="1608162"/>
            <a:ext cx="892311" cy="372804"/>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 Discussions on draft OOMF v2.0 Methodology &amp; Toolkit</a:t>
            </a:r>
          </a:p>
        </p:txBody>
      </p:sp>
      <p:sp>
        <p:nvSpPr>
          <p:cNvPr id="118" name="Rectangle 239">
            <a:extLst>
              <a:ext uri="{FF2B5EF4-FFF2-40B4-BE49-F238E27FC236}">
                <a16:creationId xmlns:a16="http://schemas.microsoft.com/office/drawing/2014/main" id="{ABE1A641-481C-4C72-8D15-48516746FCD4}"/>
              </a:ext>
            </a:extLst>
          </p:cNvPr>
          <p:cNvSpPr>
            <a:spLocks noChangeArrowheads="1"/>
          </p:cNvSpPr>
          <p:nvPr>
            <p:custDataLst>
              <p:tags r:id="rId11"/>
            </p:custDataLst>
          </p:nvPr>
        </p:nvSpPr>
        <p:spPr bwMode="auto">
          <a:xfrm>
            <a:off x="2671662" y="1801440"/>
            <a:ext cx="946370" cy="171092"/>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Gap Identification</a:t>
            </a:r>
          </a:p>
        </p:txBody>
      </p:sp>
      <p:sp>
        <p:nvSpPr>
          <p:cNvPr id="119" name="Rectangle 239">
            <a:extLst>
              <a:ext uri="{FF2B5EF4-FFF2-40B4-BE49-F238E27FC236}">
                <a16:creationId xmlns:a16="http://schemas.microsoft.com/office/drawing/2014/main" id="{AA52C22D-4510-40A8-BFAC-73E3BAA0F49D}"/>
              </a:ext>
            </a:extLst>
          </p:cNvPr>
          <p:cNvSpPr>
            <a:spLocks noChangeArrowheads="1"/>
          </p:cNvSpPr>
          <p:nvPr>
            <p:custDataLst>
              <p:tags r:id="rId12"/>
            </p:custDataLst>
          </p:nvPr>
        </p:nvSpPr>
        <p:spPr bwMode="auto">
          <a:xfrm>
            <a:off x="4517959" y="2084802"/>
            <a:ext cx="946370" cy="367876"/>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6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Conceptualize functional &amp; technical architecture</a:t>
            </a:r>
          </a:p>
        </p:txBody>
      </p:sp>
      <p:sp>
        <p:nvSpPr>
          <p:cNvPr id="120" name="Rectangle 239">
            <a:extLst>
              <a:ext uri="{FF2B5EF4-FFF2-40B4-BE49-F238E27FC236}">
                <a16:creationId xmlns:a16="http://schemas.microsoft.com/office/drawing/2014/main" id="{93F0779B-C244-41FC-B73A-436EAA6F05AC}"/>
              </a:ext>
            </a:extLst>
          </p:cNvPr>
          <p:cNvSpPr>
            <a:spLocks noChangeArrowheads="1"/>
          </p:cNvSpPr>
          <p:nvPr>
            <p:custDataLst>
              <p:tags r:id="rId13"/>
            </p:custDataLst>
          </p:nvPr>
        </p:nvSpPr>
        <p:spPr bwMode="auto">
          <a:xfrm>
            <a:off x="3516922" y="2080808"/>
            <a:ext cx="946370" cy="367876"/>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Gather user requirements for dashboard 2.0</a:t>
            </a:r>
          </a:p>
        </p:txBody>
      </p:sp>
      <p:sp>
        <p:nvSpPr>
          <p:cNvPr id="121" name="Rectangle 239">
            <a:extLst>
              <a:ext uri="{FF2B5EF4-FFF2-40B4-BE49-F238E27FC236}">
                <a16:creationId xmlns:a16="http://schemas.microsoft.com/office/drawing/2014/main" id="{5E96AA9E-E169-4ADF-80AB-091C5A7FD0AD}"/>
              </a:ext>
            </a:extLst>
          </p:cNvPr>
          <p:cNvSpPr>
            <a:spLocks noChangeArrowheads="1"/>
          </p:cNvSpPr>
          <p:nvPr>
            <p:custDataLst>
              <p:tags r:id="rId14"/>
            </p:custDataLst>
          </p:nvPr>
        </p:nvSpPr>
        <p:spPr bwMode="auto">
          <a:xfrm>
            <a:off x="5518995" y="2204883"/>
            <a:ext cx="1380133" cy="367876"/>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Finalization of BRD, TDD and FDD and roadmap for dashboard 2.0</a:t>
            </a:r>
          </a:p>
        </p:txBody>
      </p:sp>
      <p:sp>
        <p:nvSpPr>
          <p:cNvPr id="122" name="Rectangle 239">
            <a:extLst>
              <a:ext uri="{FF2B5EF4-FFF2-40B4-BE49-F238E27FC236}">
                <a16:creationId xmlns:a16="http://schemas.microsoft.com/office/drawing/2014/main" id="{3A6DC096-4047-413C-B303-F869A875F18B}"/>
              </a:ext>
            </a:extLst>
          </p:cNvPr>
          <p:cNvSpPr>
            <a:spLocks noChangeArrowheads="1"/>
          </p:cNvSpPr>
          <p:nvPr>
            <p:custDataLst>
              <p:tags r:id="rId15"/>
            </p:custDataLst>
          </p:nvPr>
        </p:nvSpPr>
        <p:spPr bwMode="auto">
          <a:xfrm>
            <a:off x="6953795" y="2216703"/>
            <a:ext cx="1166973" cy="341029"/>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Bid Process Management &amp; selection of vendor</a:t>
            </a:r>
          </a:p>
        </p:txBody>
      </p:sp>
      <p:sp>
        <p:nvSpPr>
          <p:cNvPr id="123" name="Rectangle 239">
            <a:extLst>
              <a:ext uri="{FF2B5EF4-FFF2-40B4-BE49-F238E27FC236}">
                <a16:creationId xmlns:a16="http://schemas.microsoft.com/office/drawing/2014/main" id="{BA1A3C3A-D2DA-49AF-8244-F225837A3788}"/>
              </a:ext>
            </a:extLst>
          </p:cNvPr>
          <p:cNvSpPr>
            <a:spLocks noChangeArrowheads="1"/>
          </p:cNvSpPr>
          <p:nvPr>
            <p:custDataLst>
              <p:tags r:id="rId16"/>
            </p:custDataLst>
          </p:nvPr>
        </p:nvSpPr>
        <p:spPr bwMode="auto">
          <a:xfrm>
            <a:off x="2642274" y="2733137"/>
            <a:ext cx="2078902" cy="257229"/>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Existing advocacy initiatives, materials, communication channels</a:t>
            </a:r>
            <a:endParaRPr kumimoji="0" lang="en-US"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endParaRPr>
          </a:p>
        </p:txBody>
      </p:sp>
      <p:sp>
        <p:nvSpPr>
          <p:cNvPr id="124" name="Rectangle 239">
            <a:extLst>
              <a:ext uri="{FF2B5EF4-FFF2-40B4-BE49-F238E27FC236}">
                <a16:creationId xmlns:a16="http://schemas.microsoft.com/office/drawing/2014/main" id="{93CB7C66-ACB1-46A1-8009-DFB92DD5FBF4}"/>
              </a:ext>
            </a:extLst>
          </p:cNvPr>
          <p:cNvSpPr>
            <a:spLocks noChangeArrowheads="1"/>
          </p:cNvSpPr>
          <p:nvPr>
            <p:custDataLst>
              <p:tags r:id="rId17"/>
            </p:custDataLst>
          </p:nvPr>
        </p:nvSpPr>
        <p:spPr bwMode="auto">
          <a:xfrm>
            <a:off x="4739720" y="2741797"/>
            <a:ext cx="1179909" cy="420145"/>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Draft roadmap for advocacy &amp; integrated communication plan </a:t>
            </a:r>
          </a:p>
        </p:txBody>
      </p:sp>
      <p:sp>
        <p:nvSpPr>
          <p:cNvPr id="125" name="Rectangle 239">
            <a:extLst>
              <a:ext uri="{FF2B5EF4-FFF2-40B4-BE49-F238E27FC236}">
                <a16:creationId xmlns:a16="http://schemas.microsoft.com/office/drawing/2014/main" id="{A0C86DE7-E3B6-4E82-8FB2-0A26C5A5AE36}"/>
              </a:ext>
            </a:extLst>
          </p:cNvPr>
          <p:cNvSpPr>
            <a:spLocks noChangeArrowheads="1"/>
          </p:cNvSpPr>
          <p:nvPr>
            <p:custDataLst>
              <p:tags r:id="rId18"/>
            </p:custDataLst>
          </p:nvPr>
        </p:nvSpPr>
        <p:spPr bwMode="auto">
          <a:xfrm>
            <a:off x="3978685" y="4417617"/>
            <a:ext cx="1236439" cy="188583"/>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Assess state level M&amp;E environment</a:t>
            </a:r>
          </a:p>
        </p:txBody>
      </p:sp>
      <p:sp>
        <p:nvSpPr>
          <p:cNvPr id="126" name="Rectangle 239">
            <a:extLst>
              <a:ext uri="{FF2B5EF4-FFF2-40B4-BE49-F238E27FC236}">
                <a16:creationId xmlns:a16="http://schemas.microsoft.com/office/drawing/2014/main" id="{87EFDC53-F4BB-4F89-A0D3-7D48B425CD15}"/>
              </a:ext>
            </a:extLst>
          </p:cNvPr>
          <p:cNvSpPr>
            <a:spLocks noChangeArrowheads="1"/>
          </p:cNvSpPr>
          <p:nvPr>
            <p:custDataLst>
              <p:tags r:id="rId19"/>
            </p:custDataLst>
          </p:nvPr>
        </p:nvSpPr>
        <p:spPr bwMode="auto">
          <a:xfrm>
            <a:off x="3126399" y="4190994"/>
            <a:ext cx="1261826" cy="188583"/>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err="1">
                <a:ln>
                  <a:noFill/>
                </a:ln>
                <a:solidFill>
                  <a:prstClr val="black"/>
                </a:solidFill>
                <a:effectLst/>
                <a:uLnTx/>
                <a:uFillTx/>
                <a:ea typeface="Verdana" panose="020B0604030504040204" pitchFamily="34" charset="0"/>
                <a:cs typeface="Verdana" panose="020B0604030504040204" pitchFamily="34" charset="0"/>
              </a:rPr>
              <a:t>MoUs</a:t>
            </a: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 </a:t>
            </a:r>
            <a:r>
              <a:rPr kumimoji="0" lang="en-GB" sz="700" b="1" i="0" u="none" strike="noStrike" kern="0" cap="none" spc="0" normalizeH="0" baseline="0" noProof="0" dirty="0" err="1">
                <a:ln>
                  <a:noFill/>
                </a:ln>
                <a:solidFill>
                  <a:prstClr val="black"/>
                </a:solidFill>
                <a:effectLst/>
                <a:uLnTx/>
                <a:uFillTx/>
                <a:ea typeface="Verdana" panose="020B0604030504040204" pitchFamily="34" charset="0"/>
                <a:cs typeface="Verdana" panose="020B0604030504040204" pitchFamily="34" charset="0"/>
              </a:rPr>
              <a:t>SoIs</a:t>
            </a: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 with States/UT</a:t>
            </a:r>
          </a:p>
        </p:txBody>
      </p:sp>
      <p:sp>
        <p:nvSpPr>
          <p:cNvPr id="127" name="Rectangle 239">
            <a:extLst>
              <a:ext uri="{FF2B5EF4-FFF2-40B4-BE49-F238E27FC236}">
                <a16:creationId xmlns:a16="http://schemas.microsoft.com/office/drawing/2014/main" id="{CFC168FE-A0C4-45A1-AB67-12EF3C410A84}"/>
              </a:ext>
            </a:extLst>
          </p:cNvPr>
          <p:cNvSpPr>
            <a:spLocks noChangeArrowheads="1"/>
          </p:cNvSpPr>
          <p:nvPr>
            <p:custDataLst>
              <p:tags r:id="rId20"/>
            </p:custDataLst>
          </p:nvPr>
        </p:nvSpPr>
        <p:spPr bwMode="auto">
          <a:xfrm>
            <a:off x="4415474" y="4186165"/>
            <a:ext cx="806167" cy="206401"/>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Stakeholder Discussions</a:t>
            </a:r>
          </a:p>
        </p:txBody>
      </p:sp>
      <p:sp>
        <p:nvSpPr>
          <p:cNvPr id="128" name="Rectangle 239">
            <a:extLst>
              <a:ext uri="{FF2B5EF4-FFF2-40B4-BE49-F238E27FC236}">
                <a16:creationId xmlns:a16="http://schemas.microsoft.com/office/drawing/2014/main" id="{90DC4ADD-71F1-45A0-8483-BAAD8B2F7B3B}"/>
              </a:ext>
            </a:extLst>
          </p:cNvPr>
          <p:cNvSpPr>
            <a:spLocks noChangeArrowheads="1"/>
          </p:cNvSpPr>
          <p:nvPr>
            <p:custDataLst>
              <p:tags r:id="rId21"/>
            </p:custDataLst>
          </p:nvPr>
        </p:nvSpPr>
        <p:spPr bwMode="auto">
          <a:xfrm>
            <a:off x="5304950" y="4059065"/>
            <a:ext cx="727388" cy="533823"/>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Collaboration with Training Institutes</a:t>
            </a:r>
          </a:p>
        </p:txBody>
      </p:sp>
      <p:sp>
        <p:nvSpPr>
          <p:cNvPr id="129" name="Rectangle 239">
            <a:extLst>
              <a:ext uri="{FF2B5EF4-FFF2-40B4-BE49-F238E27FC236}">
                <a16:creationId xmlns:a16="http://schemas.microsoft.com/office/drawing/2014/main" id="{BA08007B-222C-45D4-BC17-7299F754C161}"/>
              </a:ext>
            </a:extLst>
          </p:cNvPr>
          <p:cNvSpPr>
            <a:spLocks noChangeArrowheads="1"/>
          </p:cNvSpPr>
          <p:nvPr>
            <p:custDataLst>
              <p:tags r:id="rId22"/>
            </p:custDataLst>
          </p:nvPr>
        </p:nvSpPr>
        <p:spPr bwMode="auto">
          <a:xfrm>
            <a:off x="6104124" y="4059065"/>
            <a:ext cx="1032002" cy="533823"/>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Sensitization workshops, training material</a:t>
            </a:r>
            <a:endParaRPr kumimoji="0" lang="en-GB"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endParaRPr>
          </a:p>
        </p:txBody>
      </p:sp>
      <p:sp>
        <p:nvSpPr>
          <p:cNvPr id="130" name="5-Point Star 182">
            <a:extLst>
              <a:ext uri="{FF2B5EF4-FFF2-40B4-BE49-F238E27FC236}">
                <a16:creationId xmlns:a16="http://schemas.microsoft.com/office/drawing/2014/main" id="{BDE1BA99-6027-454C-A04B-3E6379D5EA90}"/>
              </a:ext>
            </a:extLst>
          </p:cNvPr>
          <p:cNvSpPr/>
          <p:nvPr/>
        </p:nvSpPr>
        <p:spPr bwMode="gray">
          <a:xfrm>
            <a:off x="4584537" y="1387334"/>
            <a:ext cx="210304" cy="120255"/>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ndParaRPr>
          </a:p>
        </p:txBody>
      </p:sp>
      <p:cxnSp>
        <p:nvCxnSpPr>
          <p:cNvPr id="131" name="Straight Connector 130">
            <a:extLst>
              <a:ext uri="{FF2B5EF4-FFF2-40B4-BE49-F238E27FC236}">
                <a16:creationId xmlns:a16="http://schemas.microsoft.com/office/drawing/2014/main" id="{F6163BBF-60A7-4CCF-949E-232BD9A8E170}"/>
              </a:ext>
            </a:extLst>
          </p:cNvPr>
          <p:cNvCxnSpPr/>
          <p:nvPr/>
        </p:nvCxnSpPr>
        <p:spPr>
          <a:xfrm flipV="1">
            <a:off x="5558844" y="2104432"/>
            <a:ext cx="3575175" cy="501"/>
          </a:xfrm>
          <a:prstGeom prst="line">
            <a:avLst/>
          </a:prstGeom>
          <a:noFill/>
          <a:ln w="19050" cap="flat" cmpd="sng" algn="ctr">
            <a:solidFill>
              <a:sysClr val="windowText" lastClr="000000"/>
            </a:solidFill>
            <a:prstDash val="solid"/>
            <a:miter lim="800000"/>
            <a:headEnd type="oval" w="med" len="med"/>
            <a:tailEnd type="oval" w="med" len="med"/>
          </a:ln>
          <a:effectLst/>
        </p:spPr>
      </p:cxnSp>
      <p:sp>
        <p:nvSpPr>
          <p:cNvPr id="132" name="5-Point Star 182">
            <a:extLst>
              <a:ext uri="{FF2B5EF4-FFF2-40B4-BE49-F238E27FC236}">
                <a16:creationId xmlns:a16="http://schemas.microsoft.com/office/drawing/2014/main" id="{92537C34-29F3-4808-9580-B20FF02B6735}"/>
              </a:ext>
            </a:extLst>
          </p:cNvPr>
          <p:cNvSpPr/>
          <p:nvPr/>
        </p:nvSpPr>
        <p:spPr bwMode="gray">
          <a:xfrm>
            <a:off x="7156834" y="2031519"/>
            <a:ext cx="210304" cy="120255"/>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ndParaRPr>
          </a:p>
        </p:txBody>
      </p:sp>
      <p:grpSp>
        <p:nvGrpSpPr>
          <p:cNvPr id="133" name="Group 132">
            <a:extLst>
              <a:ext uri="{FF2B5EF4-FFF2-40B4-BE49-F238E27FC236}">
                <a16:creationId xmlns:a16="http://schemas.microsoft.com/office/drawing/2014/main" id="{D24FF935-00F4-44CB-B441-C58B74C291A6}"/>
              </a:ext>
            </a:extLst>
          </p:cNvPr>
          <p:cNvGrpSpPr/>
          <p:nvPr/>
        </p:nvGrpSpPr>
        <p:grpSpPr>
          <a:xfrm>
            <a:off x="7185143" y="4246157"/>
            <a:ext cx="4486494" cy="147708"/>
            <a:chOff x="6788032" y="4361528"/>
            <a:chExt cx="4752000" cy="176874"/>
          </a:xfrm>
        </p:grpSpPr>
        <p:cxnSp>
          <p:nvCxnSpPr>
            <p:cNvPr id="134" name="Straight Connector 133">
              <a:extLst>
                <a:ext uri="{FF2B5EF4-FFF2-40B4-BE49-F238E27FC236}">
                  <a16:creationId xmlns:a16="http://schemas.microsoft.com/office/drawing/2014/main" id="{37FC1FFA-AE0F-423D-894C-6C218521DFD9}"/>
                </a:ext>
              </a:extLst>
            </p:cNvPr>
            <p:cNvCxnSpPr/>
            <p:nvPr/>
          </p:nvCxnSpPr>
          <p:spPr>
            <a:xfrm flipV="1">
              <a:off x="6788032" y="4448838"/>
              <a:ext cx="4752000" cy="600"/>
            </a:xfrm>
            <a:prstGeom prst="line">
              <a:avLst/>
            </a:prstGeom>
            <a:noFill/>
            <a:ln w="19050" cap="flat" cmpd="sng" algn="ctr">
              <a:solidFill>
                <a:sysClr val="windowText" lastClr="000000"/>
              </a:solidFill>
              <a:prstDash val="solid"/>
              <a:miter lim="800000"/>
              <a:headEnd type="oval" w="med" len="med"/>
              <a:tailEnd type="oval" w="med" len="med"/>
            </a:ln>
            <a:effectLst/>
          </p:spPr>
        </p:cxnSp>
        <p:sp>
          <p:nvSpPr>
            <p:cNvPr id="135" name="5-Point Star 182">
              <a:extLst>
                <a:ext uri="{FF2B5EF4-FFF2-40B4-BE49-F238E27FC236}">
                  <a16:creationId xmlns:a16="http://schemas.microsoft.com/office/drawing/2014/main" id="{397DB2DC-69C2-4D15-BB63-1B0B274D3D73}"/>
                </a:ext>
              </a:extLst>
            </p:cNvPr>
            <p:cNvSpPr/>
            <p:nvPr/>
          </p:nvSpPr>
          <p:spPr bwMode="gray">
            <a:xfrm>
              <a:off x="8909595" y="4361528"/>
              <a:ext cx="216000" cy="14400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ndParaRPr>
            </a:p>
          </p:txBody>
        </p:sp>
        <p:sp>
          <p:nvSpPr>
            <p:cNvPr id="136" name="TextBox 135">
              <a:extLst>
                <a:ext uri="{FF2B5EF4-FFF2-40B4-BE49-F238E27FC236}">
                  <a16:creationId xmlns:a16="http://schemas.microsoft.com/office/drawing/2014/main" id="{185348F4-CC67-4CC1-AE45-BE0D99B654EF}"/>
                </a:ext>
              </a:extLst>
            </p:cNvPr>
            <p:cNvSpPr txBox="1"/>
            <p:nvPr/>
          </p:nvSpPr>
          <p:spPr>
            <a:xfrm>
              <a:off x="7606140" y="4368120"/>
              <a:ext cx="779625" cy="165847"/>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00B0F0"/>
                  </a:solidFill>
                  <a:effectLst/>
                  <a:uLnTx/>
                  <a:uFillTx/>
                  <a:ea typeface="Verdana" panose="020B0604030504040204" pitchFamily="34" charset="0"/>
                </a:rPr>
                <a:t>Run – Scale</a:t>
              </a:r>
            </a:p>
          </p:txBody>
        </p:sp>
        <p:sp>
          <p:nvSpPr>
            <p:cNvPr id="137" name="TextBox 136">
              <a:extLst>
                <a:ext uri="{FF2B5EF4-FFF2-40B4-BE49-F238E27FC236}">
                  <a16:creationId xmlns:a16="http://schemas.microsoft.com/office/drawing/2014/main" id="{3963E67E-1A4D-4326-911E-268E7BC6CE1D}"/>
                </a:ext>
              </a:extLst>
            </p:cNvPr>
            <p:cNvSpPr txBox="1"/>
            <p:nvPr/>
          </p:nvSpPr>
          <p:spPr>
            <a:xfrm>
              <a:off x="9824294" y="4372555"/>
              <a:ext cx="779625" cy="165847"/>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00B0F0"/>
                  </a:solidFill>
                  <a:effectLst/>
                  <a:uLnTx/>
                  <a:uFillTx/>
                  <a:ea typeface="Verdana" panose="020B0604030504040204" pitchFamily="34" charset="0"/>
                </a:rPr>
                <a:t>Run – Scale</a:t>
              </a:r>
            </a:p>
          </p:txBody>
        </p:sp>
      </p:grpSp>
      <p:grpSp>
        <p:nvGrpSpPr>
          <p:cNvPr id="138" name="Group 137">
            <a:extLst>
              <a:ext uri="{FF2B5EF4-FFF2-40B4-BE49-F238E27FC236}">
                <a16:creationId xmlns:a16="http://schemas.microsoft.com/office/drawing/2014/main" id="{161A9871-59C0-40FC-A15F-99680C255DB1}"/>
              </a:ext>
            </a:extLst>
          </p:cNvPr>
          <p:cNvGrpSpPr/>
          <p:nvPr/>
        </p:nvGrpSpPr>
        <p:grpSpPr>
          <a:xfrm>
            <a:off x="7198525" y="3007836"/>
            <a:ext cx="4451443" cy="143227"/>
            <a:chOff x="7059821" y="2787314"/>
            <a:chExt cx="4680000" cy="171509"/>
          </a:xfrm>
        </p:grpSpPr>
        <p:cxnSp>
          <p:nvCxnSpPr>
            <p:cNvPr id="139" name="Straight Connector 138">
              <a:extLst>
                <a:ext uri="{FF2B5EF4-FFF2-40B4-BE49-F238E27FC236}">
                  <a16:creationId xmlns:a16="http://schemas.microsoft.com/office/drawing/2014/main" id="{ACAB8E86-5E18-4260-BF60-F0D475FC2996}"/>
                </a:ext>
              </a:extLst>
            </p:cNvPr>
            <p:cNvCxnSpPr/>
            <p:nvPr/>
          </p:nvCxnSpPr>
          <p:spPr>
            <a:xfrm flipV="1">
              <a:off x="7059821" y="2872731"/>
              <a:ext cx="4680000" cy="600"/>
            </a:xfrm>
            <a:prstGeom prst="line">
              <a:avLst/>
            </a:prstGeom>
            <a:noFill/>
            <a:ln w="19050" cap="flat" cmpd="sng" algn="ctr">
              <a:solidFill>
                <a:sysClr val="windowText" lastClr="000000"/>
              </a:solidFill>
              <a:prstDash val="solid"/>
              <a:miter lim="800000"/>
              <a:headEnd type="oval" w="med" len="med"/>
              <a:tailEnd type="oval" w="med" len="med"/>
            </a:ln>
            <a:effectLst/>
          </p:spPr>
        </p:cxnSp>
        <p:sp>
          <p:nvSpPr>
            <p:cNvPr id="140" name="TextBox 139">
              <a:extLst>
                <a:ext uri="{FF2B5EF4-FFF2-40B4-BE49-F238E27FC236}">
                  <a16:creationId xmlns:a16="http://schemas.microsoft.com/office/drawing/2014/main" id="{BC44E599-91D4-423E-A7C1-F3A186CCADBD}"/>
                </a:ext>
              </a:extLst>
            </p:cNvPr>
            <p:cNvSpPr txBox="1"/>
            <p:nvPr/>
          </p:nvSpPr>
          <p:spPr>
            <a:xfrm>
              <a:off x="7799776" y="2792976"/>
              <a:ext cx="773858" cy="165847"/>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00B0F0"/>
                  </a:solidFill>
                  <a:effectLst/>
                  <a:uLnTx/>
                  <a:uFillTx/>
                  <a:ea typeface="Verdana" panose="020B0604030504040204" pitchFamily="34" charset="0"/>
                </a:rPr>
                <a:t>Run – Scale</a:t>
              </a:r>
            </a:p>
          </p:txBody>
        </p:sp>
        <p:sp>
          <p:nvSpPr>
            <p:cNvPr id="141" name="TextBox 140">
              <a:extLst>
                <a:ext uri="{FF2B5EF4-FFF2-40B4-BE49-F238E27FC236}">
                  <a16:creationId xmlns:a16="http://schemas.microsoft.com/office/drawing/2014/main" id="{5F0321A1-1C53-41F2-B218-B40D842C2915}"/>
                </a:ext>
              </a:extLst>
            </p:cNvPr>
            <p:cNvSpPr txBox="1"/>
            <p:nvPr/>
          </p:nvSpPr>
          <p:spPr>
            <a:xfrm>
              <a:off x="10250876" y="2787314"/>
              <a:ext cx="773858" cy="165847"/>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00B0F0"/>
                  </a:solidFill>
                  <a:effectLst/>
                  <a:uLnTx/>
                  <a:uFillTx/>
                  <a:ea typeface="Verdana" panose="020B0604030504040204" pitchFamily="34" charset="0"/>
                </a:rPr>
                <a:t>Run – Scale</a:t>
              </a:r>
            </a:p>
          </p:txBody>
        </p:sp>
      </p:grpSp>
      <p:sp>
        <p:nvSpPr>
          <p:cNvPr id="142" name="Rectangle 141">
            <a:extLst>
              <a:ext uri="{FF2B5EF4-FFF2-40B4-BE49-F238E27FC236}">
                <a16:creationId xmlns:a16="http://schemas.microsoft.com/office/drawing/2014/main" id="{E922DAAF-C15B-45CF-B8A2-9315C8F27154}"/>
              </a:ext>
            </a:extLst>
          </p:cNvPr>
          <p:cNvSpPr>
            <a:spLocks noChangeArrowheads="1"/>
          </p:cNvSpPr>
          <p:nvPr>
            <p:custDataLst>
              <p:tags r:id="rId23"/>
            </p:custDataLst>
          </p:nvPr>
        </p:nvSpPr>
        <p:spPr bwMode="auto">
          <a:xfrm>
            <a:off x="2635043" y="3339318"/>
            <a:ext cx="1261826" cy="145712"/>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Shortlisting M/Ds</a:t>
            </a:r>
          </a:p>
        </p:txBody>
      </p:sp>
      <p:sp>
        <p:nvSpPr>
          <p:cNvPr id="143" name="Rectangle 239">
            <a:extLst>
              <a:ext uri="{FF2B5EF4-FFF2-40B4-BE49-F238E27FC236}">
                <a16:creationId xmlns:a16="http://schemas.microsoft.com/office/drawing/2014/main" id="{04E84685-3187-4E49-82FF-F9D4A8999B02}"/>
              </a:ext>
            </a:extLst>
          </p:cNvPr>
          <p:cNvSpPr>
            <a:spLocks noChangeArrowheads="1"/>
          </p:cNvSpPr>
          <p:nvPr>
            <p:custDataLst>
              <p:tags r:id="rId24"/>
            </p:custDataLst>
          </p:nvPr>
        </p:nvSpPr>
        <p:spPr bwMode="auto">
          <a:xfrm>
            <a:off x="3983183" y="3719561"/>
            <a:ext cx="1236439" cy="188583"/>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Assess M/Ds level M&amp;E environment</a:t>
            </a:r>
          </a:p>
        </p:txBody>
      </p:sp>
      <p:sp>
        <p:nvSpPr>
          <p:cNvPr id="144" name="Rectangle 239">
            <a:extLst>
              <a:ext uri="{FF2B5EF4-FFF2-40B4-BE49-F238E27FC236}">
                <a16:creationId xmlns:a16="http://schemas.microsoft.com/office/drawing/2014/main" id="{398AD1B5-AD9D-41FC-8A80-5BCBB5CE37E1}"/>
              </a:ext>
            </a:extLst>
          </p:cNvPr>
          <p:cNvSpPr>
            <a:spLocks noChangeArrowheads="1"/>
          </p:cNvSpPr>
          <p:nvPr>
            <p:custDataLst>
              <p:tags r:id="rId25"/>
            </p:custDataLst>
          </p:nvPr>
        </p:nvSpPr>
        <p:spPr bwMode="auto">
          <a:xfrm>
            <a:off x="3121905" y="3508364"/>
            <a:ext cx="1261826" cy="188583"/>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err="1">
                <a:ln>
                  <a:noFill/>
                </a:ln>
                <a:solidFill>
                  <a:prstClr val="black"/>
                </a:solidFill>
                <a:effectLst/>
                <a:uLnTx/>
                <a:uFillTx/>
                <a:ea typeface="Verdana" panose="020B0604030504040204" pitchFamily="34" charset="0"/>
                <a:cs typeface="Verdana" panose="020B0604030504040204" pitchFamily="34" charset="0"/>
              </a:rPr>
              <a:t>MoUs</a:t>
            </a: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 </a:t>
            </a:r>
            <a:r>
              <a:rPr kumimoji="0" lang="en-GB" sz="700" b="1" i="0" u="none" strike="noStrike" kern="0" cap="none" spc="0" normalizeH="0" baseline="0" noProof="0" dirty="0" err="1">
                <a:ln>
                  <a:noFill/>
                </a:ln>
                <a:solidFill>
                  <a:prstClr val="black"/>
                </a:solidFill>
                <a:effectLst/>
                <a:uLnTx/>
                <a:uFillTx/>
                <a:ea typeface="Verdana" panose="020B0604030504040204" pitchFamily="34" charset="0"/>
                <a:cs typeface="Verdana" panose="020B0604030504040204" pitchFamily="34" charset="0"/>
              </a:rPr>
              <a:t>SoIs</a:t>
            </a: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 with M/Ds</a:t>
            </a:r>
          </a:p>
        </p:txBody>
      </p:sp>
      <p:sp>
        <p:nvSpPr>
          <p:cNvPr id="145" name="Rectangle 239">
            <a:extLst>
              <a:ext uri="{FF2B5EF4-FFF2-40B4-BE49-F238E27FC236}">
                <a16:creationId xmlns:a16="http://schemas.microsoft.com/office/drawing/2014/main" id="{A87DDD9C-0ABD-4955-AEF3-DF8D22629D5C}"/>
              </a:ext>
            </a:extLst>
          </p:cNvPr>
          <p:cNvSpPr>
            <a:spLocks noChangeArrowheads="1"/>
          </p:cNvSpPr>
          <p:nvPr>
            <p:custDataLst>
              <p:tags r:id="rId26"/>
            </p:custDataLst>
          </p:nvPr>
        </p:nvSpPr>
        <p:spPr bwMode="auto">
          <a:xfrm>
            <a:off x="4419972" y="3488109"/>
            <a:ext cx="806167" cy="206401"/>
          </a:xfrm>
          <a:prstGeom prst="rect">
            <a:avLst/>
          </a:prstGeom>
          <a:solidFill>
            <a:srgbClr val="70AD47">
              <a:lumMod val="20000"/>
              <a:lumOff val="80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rPr>
              <a:t>Stakeholder Discussions</a:t>
            </a:r>
          </a:p>
        </p:txBody>
      </p:sp>
      <p:sp>
        <p:nvSpPr>
          <p:cNvPr id="146" name="Rectangle 239">
            <a:extLst>
              <a:ext uri="{FF2B5EF4-FFF2-40B4-BE49-F238E27FC236}">
                <a16:creationId xmlns:a16="http://schemas.microsoft.com/office/drawing/2014/main" id="{2BB925E4-B718-4C30-B984-E55FC28B02F6}"/>
              </a:ext>
            </a:extLst>
          </p:cNvPr>
          <p:cNvSpPr>
            <a:spLocks noChangeArrowheads="1"/>
          </p:cNvSpPr>
          <p:nvPr>
            <p:custDataLst>
              <p:tags r:id="rId27"/>
            </p:custDataLst>
          </p:nvPr>
        </p:nvSpPr>
        <p:spPr bwMode="auto">
          <a:xfrm>
            <a:off x="6131056" y="3353280"/>
            <a:ext cx="1005071" cy="533823"/>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Sensitization workshops, Training Materials</a:t>
            </a:r>
          </a:p>
        </p:txBody>
      </p:sp>
      <p:sp>
        <p:nvSpPr>
          <p:cNvPr id="147" name="Rectangle 239">
            <a:extLst>
              <a:ext uri="{FF2B5EF4-FFF2-40B4-BE49-F238E27FC236}">
                <a16:creationId xmlns:a16="http://schemas.microsoft.com/office/drawing/2014/main" id="{0AA58B28-E639-40A8-83F4-472935E277D7}"/>
              </a:ext>
            </a:extLst>
          </p:cNvPr>
          <p:cNvSpPr>
            <a:spLocks noChangeArrowheads="1"/>
          </p:cNvSpPr>
          <p:nvPr>
            <p:custDataLst>
              <p:tags r:id="rId28"/>
            </p:custDataLst>
          </p:nvPr>
        </p:nvSpPr>
        <p:spPr bwMode="auto">
          <a:xfrm>
            <a:off x="5325463" y="3347199"/>
            <a:ext cx="727388" cy="533823"/>
          </a:xfrm>
          <a:prstGeom prst="rect">
            <a:avLst/>
          </a:prstGeom>
          <a:solidFill>
            <a:srgbClr val="70AD47">
              <a:lumMod val="75000"/>
            </a:srgbClr>
          </a:solidFill>
          <a:ln w="6350" algn="ctr">
            <a:solidFill>
              <a:srgbClr val="E7E6E6">
                <a:lumMod val="90000"/>
              </a:srgbClr>
            </a:solidFill>
            <a:prstDash val="sysDot"/>
            <a:miter lim="800000"/>
            <a:headEnd/>
            <a:tailEnd/>
          </a:ln>
        </p:spPr>
        <p:txBody>
          <a:bodyPr wrap="square" lIns="30784" tIns="40019" rIns="30784" bIns="40019" anchor="ctr"/>
          <a:lstStyle/>
          <a:p>
            <a:pPr marL="0" marR="0" lvl="0" indent="0" algn="ctr" defTabSz="851415"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Guidelines &amp; Checklist for Dashboards</a:t>
            </a:r>
            <a:endParaRPr kumimoji="0" lang="en-GB" sz="7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endParaRPr>
          </a:p>
        </p:txBody>
      </p:sp>
      <p:grpSp>
        <p:nvGrpSpPr>
          <p:cNvPr id="148" name="Group 147">
            <a:extLst>
              <a:ext uri="{FF2B5EF4-FFF2-40B4-BE49-F238E27FC236}">
                <a16:creationId xmlns:a16="http://schemas.microsoft.com/office/drawing/2014/main" id="{9EAC8939-0685-4782-84DA-EE11F9FA2456}"/>
              </a:ext>
            </a:extLst>
          </p:cNvPr>
          <p:cNvGrpSpPr/>
          <p:nvPr/>
        </p:nvGrpSpPr>
        <p:grpSpPr>
          <a:xfrm>
            <a:off x="7189637" y="3548101"/>
            <a:ext cx="4451443" cy="147708"/>
            <a:chOff x="6788032" y="4361528"/>
            <a:chExt cx="4752000" cy="176874"/>
          </a:xfrm>
        </p:grpSpPr>
        <p:cxnSp>
          <p:nvCxnSpPr>
            <p:cNvPr id="149" name="Straight Connector 148">
              <a:extLst>
                <a:ext uri="{FF2B5EF4-FFF2-40B4-BE49-F238E27FC236}">
                  <a16:creationId xmlns:a16="http://schemas.microsoft.com/office/drawing/2014/main" id="{93AD5D25-20CA-45F2-AB43-B3E22E09FACF}"/>
                </a:ext>
              </a:extLst>
            </p:cNvPr>
            <p:cNvCxnSpPr/>
            <p:nvPr/>
          </p:nvCxnSpPr>
          <p:spPr>
            <a:xfrm flipV="1">
              <a:off x="6788032" y="4448838"/>
              <a:ext cx="4752000" cy="600"/>
            </a:xfrm>
            <a:prstGeom prst="line">
              <a:avLst/>
            </a:prstGeom>
            <a:noFill/>
            <a:ln w="19050" cap="flat" cmpd="sng" algn="ctr">
              <a:solidFill>
                <a:sysClr val="windowText" lastClr="000000"/>
              </a:solidFill>
              <a:prstDash val="solid"/>
              <a:miter lim="800000"/>
              <a:headEnd type="oval" w="med" len="med"/>
              <a:tailEnd type="oval" w="med" len="med"/>
            </a:ln>
            <a:effectLst/>
          </p:spPr>
        </p:cxnSp>
        <p:sp>
          <p:nvSpPr>
            <p:cNvPr id="150" name="5-Point Star 182">
              <a:extLst>
                <a:ext uri="{FF2B5EF4-FFF2-40B4-BE49-F238E27FC236}">
                  <a16:creationId xmlns:a16="http://schemas.microsoft.com/office/drawing/2014/main" id="{62F01A3A-B93D-4A03-BB88-D6E80586FC51}"/>
                </a:ext>
              </a:extLst>
            </p:cNvPr>
            <p:cNvSpPr/>
            <p:nvPr/>
          </p:nvSpPr>
          <p:spPr bwMode="gray">
            <a:xfrm>
              <a:off x="8909595" y="4361528"/>
              <a:ext cx="216000" cy="14400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ndParaRPr>
            </a:p>
          </p:txBody>
        </p:sp>
        <p:sp>
          <p:nvSpPr>
            <p:cNvPr id="151" name="TextBox 150">
              <a:extLst>
                <a:ext uri="{FF2B5EF4-FFF2-40B4-BE49-F238E27FC236}">
                  <a16:creationId xmlns:a16="http://schemas.microsoft.com/office/drawing/2014/main" id="{A49BD05C-B3DF-40A3-A1C7-B2DD0556B3C5}"/>
                </a:ext>
              </a:extLst>
            </p:cNvPr>
            <p:cNvSpPr txBox="1"/>
            <p:nvPr/>
          </p:nvSpPr>
          <p:spPr>
            <a:xfrm>
              <a:off x="7606141" y="4368120"/>
              <a:ext cx="785764" cy="165847"/>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00B0F0"/>
                  </a:solidFill>
                  <a:effectLst/>
                  <a:uLnTx/>
                  <a:uFillTx/>
                  <a:ea typeface="Verdana" panose="020B0604030504040204" pitchFamily="34" charset="0"/>
                </a:rPr>
                <a:t>Run – Scale</a:t>
              </a:r>
            </a:p>
          </p:txBody>
        </p:sp>
        <p:sp>
          <p:nvSpPr>
            <p:cNvPr id="152" name="TextBox 151">
              <a:extLst>
                <a:ext uri="{FF2B5EF4-FFF2-40B4-BE49-F238E27FC236}">
                  <a16:creationId xmlns:a16="http://schemas.microsoft.com/office/drawing/2014/main" id="{AD3676C9-4119-42CC-B7B2-181587494935}"/>
                </a:ext>
              </a:extLst>
            </p:cNvPr>
            <p:cNvSpPr txBox="1"/>
            <p:nvPr/>
          </p:nvSpPr>
          <p:spPr>
            <a:xfrm>
              <a:off x="9824296" y="4372555"/>
              <a:ext cx="785764" cy="165847"/>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900" b="1" i="0" u="none" strike="noStrike" kern="0" cap="none" spc="0" normalizeH="0" baseline="0" noProof="0" dirty="0">
                  <a:ln>
                    <a:noFill/>
                  </a:ln>
                  <a:solidFill>
                    <a:srgbClr val="00B0F0"/>
                  </a:solidFill>
                  <a:effectLst/>
                  <a:uLnTx/>
                  <a:uFillTx/>
                  <a:ea typeface="Verdana" panose="020B0604030504040204" pitchFamily="34" charset="0"/>
                </a:rPr>
                <a:t>Run – Scale</a:t>
              </a:r>
            </a:p>
          </p:txBody>
        </p:sp>
      </p:grpSp>
      <p:sp>
        <p:nvSpPr>
          <p:cNvPr id="153" name="Flowchart: Decision 152">
            <a:extLst>
              <a:ext uri="{FF2B5EF4-FFF2-40B4-BE49-F238E27FC236}">
                <a16:creationId xmlns:a16="http://schemas.microsoft.com/office/drawing/2014/main" id="{F6E09F32-CFA6-4D36-A93E-405B207FB611}"/>
              </a:ext>
            </a:extLst>
          </p:cNvPr>
          <p:cNvSpPr/>
          <p:nvPr/>
        </p:nvSpPr>
        <p:spPr bwMode="gray">
          <a:xfrm>
            <a:off x="9290134" y="3024033"/>
            <a:ext cx="210304" cy="120255"/>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dirty="0">
              <a:ln>
                <a:noFill/>
              </a:ln>
              <a:solidFill>
                <a:prstClr val="white"/>
              </a:solidFill>
              <a:effectLst/>
              <a:uLnTx/>
              <a:uFillTx/>
              <a:ea typeface="Verdana" panose="020B0604030504040204" pitchFamily="34" charset="0"/>
            </a:endParaRPr>
          </a:p>
        </p:txBody>
      </p:sp>
      <p:sp>
        <p:nvSpPr>
          <p:cNvPr id="155" name="Freeform 805">
            <a:extLst>
              <a:ext uri="{FF2B5EF4-FFF2-40B4-BE49-F238E27FC236}">
                <a16:creationId xmlns:a16="http://schemas.microsoft.com/office/drawing/2014/main" id="{C9EBB095-10B5-4CAA-8F4E-B15FB230692B}"/>
              </a:ext>
            </a:extLst>
          </p:cNvPr>
          <p:cNvSpPr>
            <a:spLocks noChangeAspect="1" noEditPoints="1"/>
          </p:cNvSpPr>
          <p:nvPr/>
        </p:nvSpPr>
        <p:spPr bwMode="auto">
          <a:xfrm>
            <a:off x="11118215" y="227660"/>
            <a:ext cx="594360" cy="594360"/>
          </a:xfrm>
          <a:custGeom>
            <a:avLst/>
            <a:gdLst>
              <a:gd name="T0" fmla="*/ 309 w 512"/>
              <a:gd name="T1" fmla="*/ 149 h 512"/>
              <a:gd name="T2" fmla="*/ 202 w 512"/>
              <a:gd name="T3" fmla="*/ 149 h 512"/>
              <a:gd name="T4" fmla="*/ 181 w 512"/>
              <a:gd name="T5" fmla="*/ 138 h 512"/>
              <a:gd name="T6" fmla="*/ 373 w 512"/>
              <a:gd name="T7" fmla="*/ 373 h 512"/>
              <a:gd name="T8" fmla="*/ 330 w 512"/>
              <a:gd name="T9" fmla="*/ 149 h 512"/>
              <a:gd name="T10" fmla="*/ 170 w 512"/>
              <a:gd name="T11" fmla="*/ 320 h 512"/>
              <a:gd name="T12" fmla="*/ 170 w 512"/>
              <a:gd name="T13" fmla="*/ 298 h 512"/>
              <a:gd name="T14" fmla="*/ 181 w 512"/>
              <a:gd name="T15" fmla="*/ 288 h 512"/>
              <a:gd name="T16" fmla="*/ 160 w 512"/>
              <a:gd name="T17" fmla="*/ 245 h 512"/>
              <a:gd name="T18" fmla="*/ 170 w 512"/>
              <a:gd name="T19" fmla="*/ 256 h 512"/>
              <a:gd name="T20" fmla="*/ 170 w 512"/>
              <a:gd name="T21" fmla="*/ 192 h 512"/>
              <a:gd name="T22" fmla="*/ 213 w 512"/>
              <a:gd name="T23" fmla="*/ 341 h 512"/>
              <a:gd name="T24" fmla="*/ 224 w 512"/>
              <a:gd name="T25" fmla="*/ 330 h 512"/>
              <a:gd name="T26" fmla="*/ 202 w 512"/>
              <a:gd name="T27" fmla="*/ 288 h 512"/>
              <a:gd name="T28" fmla="*/ 213 w 512"/>
              <a:gd name="T29" fmla="*/ 298 h 512"/>
              <a:gd name="T30" fmla="*/ 213 w 512"/>
              <a:gd name="T31" fmla="*/ 234 h 512"/>
              <a:gd name="T32" fmla="*/ 213 w 512"/>
              <a:gd name="T33" fmla="*/ 213 h 512"/>
              <a:gd name="T34" fmla="*/ 224 w 512"/>
              <a:gd name="T35" fmla="*/ 202 h 512"/>
              <a:gd name="T36" fmla="*/ 245 w 512"/>
              <a:gd name="T37" fmla="*/ 330 h 512"/>
              <a:gd name="T38" fmla="*/ 256 w 512"/>
              <a:gd name="T39" fmla="*/ 341 h 512"/>
              <a:gd name="T40" fmla="*/ 256 w 512"/>
              <a:gd name="T41" fmla="*/ 277 h 512"/>
              <a:gd name="T42" fmla="*/ 256 w 512"/>
              <a:gd name="T43" fmla="*/ 256 h 512"/>
              <a:gd name="T44" fmla="*/ 266 w 512"/>
              <a:gd name="T45" fmla="*/ 245 h 512"/>
              <a:gd name="T46" fmla="*/ 245 w 512"/>
              <a:gd name="T47" fmla="*/ 202 h 512"/>
              <a:gd name="T48" fmla="*/ 256 w 512"/>
              <a:gd name="T49" fmla="*/ 213 h 512"/>
              <a:gd name="T50" fmla="*/ 298 w 512"/>
              <a:gd name="T51" fmla="*/ 320 h 512"/>
              <a:gd name="T52" fmla="*/ 298 w 512"/>
              <a:gd name="T53" fmla="*/ 298 h 512"/>
              <a:gd name="T54" fmla="*/ 309 w 512"/>
              <a:gd name="T55" fmla="*/ 288 h 512"/>
              <a:gd name="T56" fmla="*/ 288 w 512"/>
              <a:gd name="T57" fmla="*/ 245 h 512"/>
              <a:gd name="T58" fmla="*/ 298 w 512"/>
              <a:gd name="T59" fmla="*/ 256 h 512"/>
              <a:gd name="T60" fmla="*/ 298 w 512"/>
              <a:gd name="T61" fmla="*/ 192 h 512"/>
              <a:gd name="T62" fmla="*/ 341 w 512"/>
              <a:gd name="T63" fmla="*/ 298 h 512"/>
              <a:gd name="T64" fmla="*/ 352 w 512"/>
              <a:gd name="T65" fmla="*/ 288 h 512"/>
              <a:gd name="T66" fmla="*/ 330 w 512"/>
              <a:gd name="T67" fmla="*/ 245 h 512"/>
              <a:gd name="T68" fmla="*/ 341 w 512"/>
              <a:gd name="T69" fmla="*/ 256 h 512"/>
              <a:gd name="T70" fmla="*/ 341 w 512"/>
              <a:gd name="T71" fmla="*/ 213 h 512"/>
              <a:gd name="T72" fmla="*/ 256 w 512"/>
              <a:gd name="T73" fmla="*/ 0 h 512"/>
              <a:gd name="T74" fmla="*/ 512 w 512"/>
              <a:gd name="T75" fmla="*/ 256 h 512"/>
              <a:gd name="T76" fmla="*/ 384 w 512"/>
              <a:gd name="T77" fmla="*/ 394 h 512"/>
              <a:gd name="T78" fmla="*/ 117 w 512"/>
              <a:gd name="T79" fmla="*/ 128 h 512"/>
              <a:gd name="T80" fmla="*/ 181 w 512"/>
              <a:gd name="T81" fmla="*/ 106 h 512"/>
              <a:gd name="T82" fmla="*/ 202 w 512"/>
              <a:gd name="T83" fmla="*/ 117 h 512"/>
              <a:gd name="T84" fmla="*/ 320 w 512"/>
              <a:gd name="T85" fmla="*/ 96 h 512"/>
              <a:gd name="T86" fmla="*/ 384 w 512"/>
              <a:gd name="T87" fmla="*/ 11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330" y="149"/>
                </a:moveTo>
                <a:cubicBezTo>
                  <a:pt x="330" y="155"/>
                  <a:pt x="326" y="160"/>
                  <a:pt x="320" y="160"/>
                </a:cubicBezTo>
                <a:cubicBezTo>
                  <a:pt x="314" y="160"/>
                  <a:pt x="309" y="155"/>
                  <a:pt x="309" y="149"/>
                </a:cubicBezTo>
                <a:cubicBezTo>
                  <a:pt x="309" y="138"/>
                  <a:pt x="309" y="138"/>
                  <a:pt x="309" y="138"/>
                </a:cubicBezTo>
                <a:cubicBezTo>
                  <a:pt x="202" y="138"/>
                  <a:pt x="202" y="138"/>
                  <a:pt x="202" y="138"/>
                </a:cubicBezTo>
                <a:cubicBezTo>
                  <a:pt x="202" y="149"/>
                  <a:pt x="202" y="149"/>
                  <a:pt x="202" y="149"/>
                </a:cubicBezTo>
                <a:cubicBezTo>
                  <a:pt x="202" y="155"/>
                  <a:pt x="198" y="160"/>
                  <a:pt x="192" y="160"/>
                </a:cubicBezTo>
                <a:cubicBezTo>
                  <a:pt x="186" y="160"/>
                  <a:pt x="181" y="155"/>
                  <a:pt x="181" y="149"/>
                </a:cubicBezTo>
                <a:cubicBezTo>
                  <a:pt x="181" y="138"/>
                  <a:pt x="181" y="138"/>
                  <a:pt x="181" y="138"/>
                </a:cubicBezTo>
                <a:cubicBezTo>
                  <a:pt x="138" y="138"/>
                  <a:pt x="138" y="138"/>
                  <a:pt x="138" y="138"/>
                </a:cubicBezTo>
                <a:cubicBezTo>
                  <a:pt x="138" y="373"/>
                  <a:pt x="138" y="373"/>
                  <a:pt x="138" y="373"/>
                </a:cubicBezTo>
                <a:cubicBezTo>
                  <a:pt x="373" y="373"/>
                  <a:pt x="373" y="373"/>
                  <a:pt x="373" y="373"/>
                </a:cubicBezTo>
                <a:cubicBezTo>
                  <a:pt x="373" y="138"/>
                  <a:pt x="373" y="138"/>
                  <a:pt x="373" y="138"/>
                </a:cubicBezTo>
                <a:cubicBezTo>
                  <a:pt x="330" y="138"/>
                  <a:pt x="330" y="138"/>
                  <a:pt x="330" y="138"/>
                </a:cubicBezTo>
                <a:lnTo>
                  <a:pt x="330" y="149"/>
                </a:lnTo>
                <a:close/>
                <a:moveTo>
                  <a:pt x="170" y="341"/>
                </a:moveTo>
                <a:cubicBezTo>
                  <a:pt x="164" y="341"/>
                  <a:pt x="160" y="336"/>
                  <a:pt x="160" y="330"/>
                </a:cubicBezTo>
                <a:cubicBezTo>
                  <a:pt x="160" y="324"/>
                  <a:pt x="164" y="320"/>
                  <a:pt x="170" y="320"/>
                </a:cubicBezTo>
                <a:cubicBezTo>
                  <a:pt x="176" y="320"/>
                  <a:pt x="181" y="324"/>
                  <a:pt x="181" y="330"/>
                </a:cubicBezTo>
                <a:cubicBezTo>
                  <a:pt x="181" y="336"/>
                  <a:pt x="176" y="341"/>
                  <a:pt x="170" y="341"/>
                </a:cubicBezTo>
                <a:close/>
                <a:moveTo>
                  <a:pt x="170" y="298"/>
                </a:moveTo>
                <a:cubicBezTo>
                  <a:pt x="164" y="298"/>
                  <a:pt x="160" y="294"/>
                  <a:pt x="160" y="288"/>
                </a:cubicBezTo>
                <a:cubicBezTo>
                  <a:pt x="160" y="282"/>
                  <a:pt x="164" y="277"/>
                  <a:pt x="170" y="277"/>
                </a:cubicBezTo>
                <a:cubicBezTo>
                  <a:pt x="176" y="277"/>
                  <a:pt x="181" y="282"/>
                  <a:pt x="181" y="288"/>
                </a:cubicBezTo>
                <a:cubicBezTo>
                  <a:pt x="181" y="294"/>
                  <a:pt x="176" y="298"/>
                  <a:pt x="170" y="298"/>
                </a:cubicBezTo>
                <a:close/>
                <a:moveTo>
                  <a:pt x="170" y="256"/>
                </a:moveTo>
                <a:cubicBezTo>
                  <a:pt x="164" y="256"/>
                  <a:pt x="160" y="251"/>
                  <a:pt x="160" y="245"/>
                </a:cubicBezTo>
                <a:cubicBezTo>
                  <a:pt x="160" y="239"/>
                  <a:pt x="164" y="234"/>
                  <a:pt x="170" y="234"/>
                </a:cubicBezTo>
                <a:cubicBezTo>
                  <a:pt x="176" y="234"/>
                  <a:pt x="181" y="239"/>
                  <a:pt x="181" y="245"/>
                </a:cubicBezTo>
                <a:cubicBezTo>
                  <a:pt x="181" y="251"/>
                  <a:pt x="176" y="256"/>
                  <a:pt x="170" y="256"/>
                </a:cubicBezTo>
                <a:close/>
                <a:moveTo>
                  <a:pt x="170" y="213"/>
                </a:moveTo>
                <a:cubicBezTo>
                  <a:pt x="164" y="213"/>
                  <a:pt x="160" y="208"/>
                  <a:pt x="160" y="202"/>
                </a:cubicBezTo>
                <a:cubicBezTo>
                  <a:pt x="160" y="196"/>
                  <a:pt x="164" y="192"/>
                  <a:pt x="170" y="192"/>
                </a:cubicBezTo>
                <a:cubicBezTo>
                  <a:pt x="176" y="192"/>
                  <a:pt x="181" y="196"/>
                  <a:pt x="181" y="202"/>
                </a:cubicBezTo>
                <a:cubicBezTo>
                  <a:pt x="181" y="208"/>
                  <a:pt x="176" y="213"/>
                  <a:pt x="170" y="213"/>
                </a:cubicBezTo>
                <a:close/>
                <a:moveTo>
                  <a:pt x="213" y="341"/>
                </a:moveTo>
                <a:cubicBezTo>
                  <a:pt x="207" y="341"/>
                  <a:pt x="202" y="336"/>
                  <a:pt x="202" y="330"/>
                </a:cubicBezTo>
                <a:cubicBezTo>
                  <a:pt x="202" y="324"/>
                  <a:pt x="207" y="320"/>
                  <a:pt x="213" y="320"/>
                </a:cubicBezTo>
                <a:cubicBezTo>
                  <a:pt x="219" y="320"/>
                  <a:pt x="224" y="324"/>
                  <a:pt x="224" y="330"/>
                </a:cubicBezTo>
                <a:cubicBezTo>
                  <a:pt x="224" y="336"/>
                  <a:pt x="219" y="341"/>
                  <a:pt x="213" y="341"/>
                </a:cubicBezTo>
                <a:close/>
                <a:moveTo>
                  <a:pt x="213" y="298"/>
                </a:moveTo>
                <a:cubicBezTo>
                  <a:pt x="207" y="298"/>
                  <a:pt x="202" y="294"/>
                  <a:pt x="202" y="288"/>
                </a:cubicBezTo>
                <a:cubicBezTo>
                  <a:pt x="202" y="282"/>
                  <a:pt x="207" y="277"/>
                  <a:pt x="213" y="277"/>
                </a:cubicBezTo>
                <a:cubicBezTo>
                  <a:pt x="219" y="277"/>
                  <a:pt x="224" y="282"/>
                  <a:pt x="224" y="288"/>
                </a:cubicBezTo>
                <a:cubicBezTo>
                  <a:pt x="224" y="294"/>
                  <a:pt x="219" y="298"/>
                  <a:pt x="213" y="298"/>
                </a:cubicBezTo>
                <a:close/>
                <a:moveTo>
                  <a:pt x="213" y="256"/>
                </a:moveTo>
                <a:cubicBezTo>
                  <a:pt x="207" y="256"/>
                  <a:pt x="202" y="251"/>
                  <a:pt x="202" y="245"/>
                </a:cubicBezTo>
                <a:cubicBezTo>
                  <a:pt x="202" y="239"/>
                  <a:pt x="207" y="234"/>
                  <a:pt x="213" y="234"/>
                </a:cubicBezTo>
                <a:cubicBezTo>
                  <a:pt x="219" y="234"/>
                  <a:pt x="224" y="239"/>
                  <a:pt x="224" y="245"/>
                </a:cubicBezTo>
                <a:cubicBezTo>
                  <a:pt x="224" y="251"/>
                  <a:pt x="219" y="256"/>
                  <a:pt x="213" y="256"/>
                </a:cubicBezTo>
                <a:close/>
                <a:moveTo>
                  <a:pt x="213" y="213"/>
                </a:moveTo>
                <a:cubicBezTo>
                  <a:pt x="207" y="213"/>
                  <a:pt x="202" y="208"/>
                  <a:pt x="202" y="202"/>
                </a:cubicBezTo>
                <a:cubicBezTo>
                  <a:pt x="202" y="196"/>
                  <a:pt x="207" y="192"/>
                  <a:pt x="213" y="192"/>
                </a:cubicBezTo>
                <a:cubicBezTo>
                  <a:pt x="219" y="192"/>
                  <a:pt x="224" y="196"/>
                  <a:pt x="224" y="202"/>
                </a:cubicBezTo>
                <a:cubicBezTo>
                  <a:pt x="224" y="208"/>
                  <a:pt x="219" y="213"/>
                  <a:pt x="213" y="213"/>
                </a:cubicBezTo>
                <a:close/>
                <a:moveTo>
                  <a:pt x="256" y="341"/>
                </a:moveTo>
                <a:cubicBezTo>
                  <a:pt x="250" y="341"/>
                  <a:pt x="245" y="336"/>
                  <a:pt x="245" y="330"/>
                </a:cubicBezTo>
                <a:cubicBezTo>
                  <a:pt x="245" y="324"/>
                  <a:pt x="250" y="320"/>
                  <a:pt x="256" y="320"/>
                </a:cubicBezTo>
                <a:cubicBezTo>
                  <a:pt x="262" y="320"/>
                  <a:pt x="266" y="324"/>
                  <a:pt x="266" y="330"/>
                </a:cubicBezTo>
                <a:cubicBezTo>
                  <a:pt x="266" y="336"/>
                  <a:pt x="262" y="341"/>
                  <a:pt x="256" y="341"/>
                </a:cubicBezTo>
                <a:close/>
                <a:moveTo>
                  <a:pt x="256" y="298"/>
                </a:moveTo>
                <a:cubicBezTo>
                  <a:pt x="250" y="298"/>
                  <a:pt x="245" y="294"/>
                  <a:pt x="245" y="288"/>
                </a:cubicBezTo>
                <a:cubicBezTo>
                  <a:pt x="245" y="282"/>
                  <a:pt x="250" y="277"/>
                  <a:pt x="256" y="277"/>
                </a:cubicBezTo>
                <a:cubicBezTo>
                  <a:pt x="262" y="277"/>
                  <a:pt x="266" y="282"/>
                  <a:pt x="266" y="288"/>
                </a:cubicBezTo>
                <a:cubicBezTo>
                  <a:pt x="266" y="294"/>
                  <a:pt x="262" y="298"/>
                  <a:pt x="256" y="298"/>
                </a:cubicBezTo>
                <a:close/>
                <a:moveTo>
                  <a:pt x="256" y="256"/>
                </a:moveTo>
                <a:cubicBezTo>
                  <a:pt x="250" y="256"/>
                  <a:pt x="245" y="251"/>
                  <a:pt x="245" y="245"/>
                </a:cubicBezTo>
                <a:cubicBezTo>
                  <a:pt x="245" y="239"/>
                  <a:pt x="250" y="234"/>
                  <a:pt x="256" y="234"/>
                </a:cubicBezTo>
                <a:cubicBezTo>
                  <a:pt x="262" y="234"/>
                  <a:pt x="266" y="239"/>
                  <a:pt x="266" y="245"/>
                </a:cubicBezTo>
                <a:cubicBezTo>
                  <a:pt x="266" y="251"/>
                  <a:pt x="262" y="256"/>
                  <a:pt x="256" y="256"/>
                </a:cubicBezTo>
                <a:close/>
                <a:moveTo>
                  <a:pt x="256" y="213"/>
                </a:moveTo>
                <a:cubicBezTo>
                  <a:pt x="250" y="213"/>
                  <a:pt x="245" y="208"/>
                  <a:pt x="245" y="202"/>
                </a:cubicBezTo>
                <a:cubicBezTo>
                  <a:pt x="245" y="196"/>
                  <a:pt x="250" y="192"/>
                  <a:pt x="256" y="192"/>
                </a:cubicBezTo>
                <a:cubicBezTo>
                  <a:pt x="262" y="192"/>
                  <a:pt x="266" y="196"/>
                  <a:pt x="266" y="202"/>
                </a:cubicBezTo>
                <a:cubicBezTo>
                  <a:pt x="266" y="208"/>
                  <a:pt x="262" y="213"/>
                  <a:pt x="256" y="213"/>
                </a:cubicBezTo>
                <a:close/>
                <a:moveTo>
                  <a:pt x="298" y="341"/>
                </a:moveTo>
                <a:cubicBezTo>
                  <a:pt x="292" y="341"/>
                  <a:pt x="288" y="336"/>
                  <a:pt x="288" y="330"/>
                </a:cubicBezTo>
                <a:cubicBezTo>
                  <a:pt x="288" y="324"/>
                  <a:pt x="292" y="320"/>
                  <a:pt x="298" y="320"/>
                </a:cubicBezTo>
                <a:cubicBezTo>
                  <a:pt x="304" y="320"/>
                  <a:pt x="309" y="324"/>
                  <a:pt x="309" y="330"/>
                </a:cubicBezTo>
                <a:cubicBezTo>
                  <a:pt x="309" y="336"/>
                  <a:pt x="304" y="341"/>
                  <a:pt x="298" y="341"/>
                </a:cubicBezTo>
                <a:close/>
                <a:moveTo>
                  <a:pt x="298" y="298"/>
                </a:moveTo>
                <a:cubicBezTo>
                  <a:pt x="292" y="298"/>
                  <a:pt x="288" y="294"/>
                  <a:pt x="288" y="288"/>
                </a:cubicBezTo>
                <a:cubicBezTo>
                  <a:pt x="288" y="282"/>
                  <a:pt x="292" y="277"/>
                  <a:pt x="298" y="277"/>
                </a:cubicBezTo>
                <a:cubicBezTo>
                  <a:pt x="304" y="277"/>
                  <a:pt x="309" y="282"/>
                  <a:pt x="309" y="288"/>
                </a:cubicBezTo>
                <a:cubicBezTo>
                  <a:pt x="309" y="294"/>
                  <a:pt x="304" y="298"/>
                  <a:pt x="298" y="298"/>
                </a:cubicBezTo>
                <a:close/>
                <a:moveTo>
                  <a:pt x="298" y="256"/>
                </a:moveTo>
                <a:cubicBezTo>
                  <a:pt x="292" y="256"/>
                  <a:pt x="288" y="251"/>
                  <a:pt x="288" y="245"/>
                </a:cubicBezTo>
                <a:cubicBezTo>
                  <a:pt x="288" y="239"/>
                  <a:pt x="292" y="234"/>
                  <a:pt x="298" y="234"/>
                </a:cubicBezTo>
                <a:cubicBezTo>
                  <a:pt x="304" y="234"/>
                  <a:pt x="309" y="239"/>
                  <a:pt x="309" y="245"/>
                </a:cubicBezTo>
                <a:cubicBezTo>
                  <a:pt x="309" y="251"/>
                  <a:pt x="304" y="256"/>
                  <a:pt x="298" y="256"/>
                </a:cubicBezTo>
                <a:close/>
                <a:moveTo>
                  <a:pt x="298" y="213"/>
                </a:moveTo>
                <a:cubicBezTo>
                  <a:pt x="292" y="213"/>
                  <a:pt x="288" y="208"/>
                  <a:pt x="288" y="202"/>
                </a:cubicBezTo>
                <a:cubicBezTo>
                  <a:pt x="288" y="196"/>
                  <a:pt x="292" y="192"/>
                  <a:pt x="298" y="192"/>
                </a:cubicBezTo>
                <a:cubicBezTo>
                  <a:pt x="304" y="192"/>
                  <a:pt x="309" y="196"/>
                  <a:pt x="309" y="202"/>
                </a:cubicBezTo>
                <a:cubicBezTo>
                  <a:pt x="309" y="208"/>
                  <a:pt x="304" y="213"/>
                  <a:pt x="298" y="213"/>
                </a:cubicBezTo>
                <a:close/>
                <a:moveTo>
                  <a:pt x="341" y="298"/>
                </a:moveTo>
                <a:cubicBezTo>
                  <a:pt x="335" y="298"/>
                  <a:pt x="330" y="294"/>
                  <a:pt x="330" y="288"/>
                </a:cubicBezTo>
                <a:cubicBezTo>
                  <a:pt x="330" y="282"/>
                  <a:pt x="335" y="277"/>
                  <a:pt x="341" y="277"/>
                </a:cubicBezTo>
                <a:cubicBezTo>
                  <a:pt x="347" y="277"/>
                  <a:pt x="352" y="282"/>
                  <a:pt x="352" y="288"/>
                </a:cubicBezTo>
                <a:cubicBezTo>
                  <a:pt x="352" y="294"/>
                  <a:pt x="347" y="298"/>
                  <a:pt x="341" y="298"/>
                </a:cubicBezTo>
                <a:close/>
                <a:moveTo>
                  <a:pt x="341" y="256"/>
                </a:moveTo>
                <a:cubicBezTo>
                  <a:pt x="335" y="256"/>
                  <a:pt x="330" y="251"/>
                  <a:pt x="330" y="245"/>
                </a:cubicBezTo>
                <a:cubicBezTo>
                  <a:pt x="330" y="239"/>
                  <a:pt x="335" y="234"/>
                  <a:pt x="341" y="234"/>
                </a:cubicBezTo>
                <a:cubicBezTo>
                  <a:pt x="347" y="234"/>
                  <a:pt x="352" y="239"/>
                  <a:pt x="352" y="245"/>
                </a:cubicBezTo>
                <a:cubicBezTo>
                  <a:pt x="352" y="251"/>
                  <a:pt x="347" y="256"/>
                  <a:pt x="341" y="256"/>
                </a:cubicBezTo>
                <a:close/>
                <a:moveTo>
                  <a:pt x="341" y="192"/>
                </a:moveTo>
                <a:cubicBezTo>
                  <a:pt x="347" y="192"/>
                  <a:pt x="352" y="196"/>
                  <a:pt x="352" y="202"/>
                </a:cubicBezTo>
                <a:cubicBezTo>
                  <a:pt x="352" y="208"/>
                  <a:pt x="347" y="213"/>
                  <a:pt x="341" y="213"/>
                </a:cubicBezTo>
                <a:cubicBezTo>
                  <a:pt x="335" y="213"/>
                  <a:pt x="330" y="208"/>
                  <a:pt x="330" y="202"/>
                </a:cubicBezTo>
                <a:cubicBezTo>
                  <a:pt x="330" y="196"/>
                  <a:pt x="335" y="192"/>
                  <a:pt x="341" y="192"/>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4" y="384"/>
                </a:moveTo>
                <a:cubicBezTo>
                  <a:pt x="394" y="390"/>
                  <a:pt x="390" y="394"/>
                  <a:pt x="384" y="394"/>
                </a:cubicBezTo>
                <a:cubicBezTo>
                  <a:pt x="128" y="394"/>
                  <a:pt x="128" y="394"/>
                  <a:pt x="128" y="394"/>
                </a:cubicBezTo>
                <a:cubicBezTo>
                  <a:pt x="122" y="394"/>
                  <a:pt x="117" y="390"/>
                  <a:pt x="117" y="384"/>
                </a:cubicBezTo>
                <a:cubicBezTo>
                  <a:pt x="117" y="128"/>
                  <a:pt x="117" y="128"/>
                  <a:pt x="117" y="128"/>
                </a:cubicBezTo>
                <a:cubicBezTo>
                  <a:pt x="117" y="122"/>
                  <a:pt x="122" y="117"/>
                  <a:pt x="128" y="117"/>
                </a:cubicBezTo>
                <a:cubicBezTo>
                  <a:pt x="181" y="117"/>
                  <a:pt x="181" y="117"/>
                  <a:pt x="181" y="117"/>
                </a:cubicBezTo>
                <a:cubicBezTo>
                  <a:pt x="181" y="106"/>
                  <a:pt x="181" y="106"/>
                  <a:pt x="181" y="106"/>
                </a:cubicBezTo>
                <a:cubicBezTo>
                  <a:pt x="181" y="100"/>
                  <a:pt x="186" y="96"/>
                  <a:pt x="192" y="96"/>
                </a:cubicBezTo>
                <a:cubicBezTo>
                  <a:pt x="198" y="96"/>
                  <a:pt x="202" y="100"/>
                  <a:pt x="202" y="106"/>
                </a:cubicBezTo>
                <a:cubicBezTo>
                  <a:pt x="202" y="117"/>
                  <a:pt x="202" y="117"/>
                  <a:pt x="202" y="117"/>
                </a:cubicBezTo>
                <a:cubicBezTo>
                  <a:pt x="309" y="117"/>
                  <a:pt x="309" y="117"/>
                  <a:pt x="309" y="117"/>
                </a:cubicBezTo>
                <a:cubicBezTo>
                  <a:pt x="309" y="106"/>
                  <a:pt x="309" y="106"/>
                  <a:pt x="309" y="106"/>
                </a:cubicBezTo>
                <a:cubicBezTo>
                  <a:pt x="309" y="100"/>
                  <a:pt x="314" y="96"/>
                  <a:pt x="320" y="96"/>
                </a:cubicBezTo>
                <a:cubicBezTo>
                  <a:pt x="326" y="96"/>
                  <a:pt x="330" y="100"/>
                  <a:pt x="330" y="106"/>
                </a:cubicBezTo>
                <a:cubicBezTo>
                  <a:pt x="330" y="117"/>
                  <a:pt x="330" y="117"/>
                  <a:pt x="330" y="117"/>
                </a:cubicBezTo>
                <a:cubicBezTo>
                  <a:pt x="384" y="117"/>
                  <a:pt x="384" y="117"/>
                  <a:pt x="384" y="117"/>
                </a:cubicBezTo>
                <a:cubicBezTo>
                  <a:pt x="390" y="117"/>
                  <a:pt x="394" y="122"/>
                  <a:pt x="394" y="128"/>
                </a:cubicBezTo>
                <a:lnTo>
                  <a:pt x="394" y="3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86279169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US" dirty="0"/>
              <a:t>Why Deloitte</a:t>
            </a:r>
            <a:endParaRPr lang="en-IN" dirty="0"/>
          </a:p>
        </p:txBody>
      </p:sp>
      <p:grpSp>
        <p:nvGrpSpPr>
          <p:cNvPr id="212" name="Group 493">
            <a:extLst>
              <a:ext uri="{FF2B5EF4-FFF2-40B4-BE49-F238E27FC236}">
                <a16:creationId xmlns:a16="http://schemas.microsoft.com/office/drawing/2014/main" id="{AC3A36F4-74B0-4CF4-9613-AF08C2CFB74B}"/>
              </a:ext>
            </a:extLst>
          </p:cNvPr>
          <p:cNvGrpSpPr>
            <a:grpSpLocks noChangeAspect="1"/>
          </p:cNvGrpSpPr>
          <p:nvPr/>
        </p:nvGrpSpPr>
        <p:grpSpPr bwMode="auto">
          <a:xfrm>
            <a:off x="11118215" y="227660"/>
            <a:ext cx="594360" cy="594360"/>
            <a:chOff x="6194" y="1960"/>
            <a:chExt cx="340" cy="340"/>
          </a:xfrm>
          <a:solidFill>
            <a:schemeClr val="bg1"/>
          </a:solidFill>
        </p:grpSpPr>
        <p:sp>
          <p:nvSpPr>
            <p:cNvPr id="213" name="Freeform 494">
              <a:extLst>
                <a:ext uri="{FF2B5EF4-FFF2-40B4-BE49-F238E27FC236}">
                  <a16:creationId xmlns:a16="http://schemas.microsoft.com/office/drawing/2014/main" id="{EBD9E562-0E7F-4E68-8B3D-DDCC1BDF8463}"/>
                </a:ext>
              </a:extLst>
            </p:cNvPr>
            <p:cNvSpPr>
              <a:spLocks/>
            </p:cNvSpPr>
            <p:nvPr/>
          </p:nvSpPr>
          <p:spPr bwMode="auto">
            <a:xfrm>
              <a:off x="6316" y="2038"/>
              <a:ext cx="97" cy="127"/>
            </a:xfrm>
            <a:custGeom>
              <a:avLst/>
              <a:gdLst>
                <a:gd name="T0" fmla="*/ 72 w 146"/>
                <a:gd name="T1" fmla="*/ 0 h 192"/>
                <a:gd name="T2" fmla="*/ 0 w 146"/>
                <a:gd name="T3" fmla="*/ 54 h 192"/>
                <a:gd name="T4" fmla="*/ 22 w 146"/>
                <a:gd name="T5" fmla="*/ 56 h 192"/>
                <a:gd name="T6" fmla="*/ 72 w 146"/>
                <a:gd name="T7" fmla="*/ 21 h 192"/>
                <a:gd name="T8" fmla="*/ 125 w 146"/>
                <a:gd name="T9" fmla="*/ 75 h 192"/>
                <a:gd name="T10" fmla="*/ 72 w 146"/>
                <a:gd name="T11" fmla="*/ 128 h 192"/>
                <a:gd name="T12" fmla="*/ 61 w 146"/>
                <a:gd name="T13" fmla="*/ 128 h 192"/>
                <a:gd name="T14" fmla="*/ 61 w 146"/>
                <a:gd name="T15" fmla="*/ 192 h 192"/>
                <a:gd name="T16" fmla="*/ 82 w 146"/>
                <a:gd name="T17" fmla="*/ 192 h 192"/>
                <a:gd name="T18" fmla="*/ 82 w 146"/>
                <a:gd name="T19" fmla="*/ 157 h 192"/>
                <a:gd name="T20" fmla="*/ 90 w 146"/>
                <a:gd name="T21" fmla="*/ 147 h 192"/>
                <a:gd name="T22" fmla="*/ 146 w 146"/>
                <a:gd name="T23" fmla="*/ 75 h 192"/>
                <a:gd name="T24" fmla="*/ 72 w 146"/>
                <a:gd name="T25"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6" h="192">
                  <a:moveTo>
                    <a:pt x="72" y="0"/>
                  </a:moveTo>
                  <a:cubicBezTo>
                    <a:pt x="38" y="0"/>
                    <a:pt x="9" y="22"/>
                    <a:pt x="0" y="54"/>
                  </a:cubicBezTo>
                  <a:cubicBezTo>
                    <a:pt x="22" y="56"/>
                    <a:pt x="22" y="56"/>
                    <a:pt x="22" y="56"/>
                  </a:cubicBezTo>
                  <a:cubicBezTo>
                    <a:pt x="29" y="35"/>
                    <a:pt x="49" y="21"/>
                    <a:pt x="72" y="21"/>
                  </a:cubicBezTo>
                  <a:cubicBezTo>
                    <a:pt x="101" y="21"/>
                    <a:pt x="125" y="45"/>
                    <a:pt x="125" y="75"/>
                  </a:cubicBezTo>
                  <a:cubicBezTo>
                    <a:pt x="125" y="104"/>
                    <a:pt x="101" y="128"/>
                    <a:pt x="72" y="128"/>
                  </a:cubicBezTo>
                  <a:cubicBezTo>
                    <a:pt x="61" y="128"/>
                    <a:pt x="61" y="128"/>
                    <a:pt x="61" y="128"/>
                  </a:cubicBezTo>
                  <a:cubicBezTo>
                    <a:pt x="61" y="192"/>
                    <a:pt x="61" y="192"/>
                    <a:pt x="61" y="192"/>
                  </a:cubicBezTo>
                  <a:cubicBezTo>
                    <a:pt x="82" y="192"/>
                    <a:pt x="82" y="192"/>
                    <a:pt x="82" y="192"/>
                  </a:cubicBezTo>
                  <a:cubicBezTo>
                    <a:pt x="82" y="157"/>
                    <a:pt x="82" y="157"/>
                    <a:pt x="82" y="157"/>
                  </a:cubicBezTo>
                  <a:cubicBezTo>
                    <a:pt x="82" y="152"/>
                    <a:pt x="86" y="148"/>
                    <a:pt x="90" y="147"/>
                  </a:cubicBezTo>
                  <a:cubicBezTo>
                    <a:pt x="123" y="138"/>
                    <a:pt x="146" y="109"/>
                    <a:pt x="146" y="75"/>
                  </a:cubicBezTo>
                  <a:cubicBezTo>
                    <a:pt x="146" y="33"/>
                    <a:pt x="113" y="0"/>
                    <a:pt x="7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14" name="Freeform 495">
              <a:extLst>
                <a:ext uri="{FF2B5EF4-FFF2-40B4-BE49-F238E27FC236}">
                  <a16:creationId xmlns:a16="http://schemas.microsoft.com/office/drawing/2014/main" id="{E6CD27C2-6119-40AC-A16B-08491E430507}"/>
                </a:ext>
              </a:extLst>
            </p:cNvPr>
            <p:cNvSpPr>
              <a:spLocks noEditPoints="1"/>
            </p:cNvSpPr>
            <p:nvPr/>
          </p:nvSpPr>
          <p:spPr bwMode="auto">
            <a:xfrm>
              <a:off x="6194" y="1960"/>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16 h 512"/>
                <a:gd name="T12" fmla="*/ 224 w 512"/>
                <a:gd name="T13" fmla="*/ 384 h 512"/>
                <a:gd name="T14" fmla="*/ 256 w 512"/>
                <a:gd name="T15" fmla="*/ 352 h 512"/>
                <a:gd name="T16" fmla="*/ 288 w 512"/>
                <a:gd name="T17" fmla="*/ 384 h 512"/>
                <a:gd name="T18" fmla="*/ 256 w 512"/>
                <a:gd name="T19" fmla="*/ 416 h 512"/>
                <a:gd name="T20" fmla="*/ 288 w 512"/>
                <a:gd name="T21" fmla="*/ 282 h 512"/>
                <a:gd name="T22" fmla="*/ 288 w 512"/>
                <a:gd name="T23" fmla="*/ 320 h 512"/>
                <a:gd name="T24" fmla="*/ 277 w 512"/>
                <a:gd name="T25" fmla="*/ 330 h 512"/>
                <a:gd name="T26" fmla="*/ 234 w 512"/>
                <a:gd name="T27" fmla="*/ 330 h 512"/>
                <a:gd name="T28" fmla="*/ 224 w 512"/>
                <a:gd name="T29" fmla="*/ 320 h 512"/>
                <a:gd name="T30" fmla="*/ 224 w 512"/>
                <a:gd name="T31" fmla="*/ 234 h 512"/>
                <a:gd name="T32" fmla="*/ 227 w 512"/>
                <a:gd name="T33" fmla="*/ 227 h 512"/>
                <a:gd name="T34" fmla="*/ 234 w 512"/>
                <a:gd name="T35" fmla="*/ 224 h 512"/>
                <a:gd name="T36" fmla="*/ 256 w 512"/>
                <a:gd name="T37" fmla="*/ 224 h 512"/>
                <a:gd name="T38" fmla="*/ 288 w 512"/>
                <a:gd name="T39" fmla="*/ 192 h 512"/>
                <a:gd name="T40" fmla="*/ 256 w 512"/>
                <a:gd name="T41" fmla="*/ 160 h 512"/>
                <a:gd name="T42" fmla="*/ 224 w 512"/>
                <a:gd name="T43" fmla="*/ 186 h 512"/>
                <a:gd name="T44" fmla="*/ 214 w 512"/>
                <a:gd name="T45" fmla="*/ 195 h 512"/>
                <a:gd name="T46" fmla="*/ 171 w 512"/>
                <a:gd name="T47" fmla="*/ 192 h 512"/>
                <a:gd name="T48" fmla="*/ 161 w 512"/>
                <a:gd name="T49" fmla="*/ 181 h 512"/>
                <a:gd name="T50" fmla="*/ 161 w 512"/>
                <a:gd name="T51" fmla="*/ 176 h 512"/>
                <a:gd name="T52" fmla="*/ 256 w 512"/>
                <a:gd name="T53" fmla="*/ 96 h 512"/>
                <a:gd name="T54" fmla="*/ 352 w 512"/>
                <a:gd name="T55" fmla="*/ 192 h 512"/>
                <a:gd name="T56" fmla="*/ 288 w 512"/>
                <a:gd name="T57" fmla="*/ 2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238" y="416"/>
                    <a:pt x="224" y="401"/>
                    <a:pt x="224" y="384"/>
                  </a:cubicBezTo>
                  <a:cubicBezTo>
                    <a:pt x="224" y="366"/>
                    <a:pt x="238" y="352"/>
                    <a:pt x="256" y="352"/>
                  </a:cubicBezTo>
                  <a:cubicBezTo>
                    <a:pt x="273" y="352"/>
                    <a:pt x="288" y="366"/>
                    <a:pt x="288" y="384"/>
                  </a:cubicBezTo>
                  <a:cubicBezTo>
                    <a:pt x="288" y="401"/>
                    <a:pt x="273" y="416"/>
                    <a:pt x="256" y="416"/>
                  </a:cubicBezTo>
                  <a:close/>
                  <a:moveTo>
                    <a:pt x="288" y="282"/>
                  </a:moveTo>
                  <a:cubicBezTo>
                    <a:pt x="288" y="320"/>
                    <a:pt x="288" y="320"/>
                    <a:pt x="288" y="320"/>
                  </a:cubicBezTo>
                  <a:cubicBezTo>
                    <a:pt x="288" y="326"/>
                    <a:pt x="283" y="330"/>
                    <a:pt x="277" y="330"/>
                  </a:cubicBezTo>
                  <a:cubicBezTo>
                    <a:pt x="234" y="330"/>
                    <a:pt x="234" y="330"/>
                    <a:pt x="234" y="330"/>
                  </a:cubicBezTo>
                  <a:cubicBezTo>
                    <a:pt x="228" y="330"/>
                    <a:pt x="224" y="326"/>
                    <a:pt x="224" y="320"/>
                  </a:cubicBezTo>
                  <a:cubicBezTo>
                    <a:pt x="224" y="234"/>
                    <a:pt x="224" y="234"/>
                    <a:pt x="224" y="234"/>
                  </a:cubicBezTo>
                  <a:cubicBezTo>
                    <a:pt x="224" y="232"/>
                    <a:pt x="225" y="229"/>
                    <a:pt x="227" y="227"/>
                  </a:cubicBezTo>
                  <a:cubicBezTo>
                    <a:pt x="229" y="225"/>
                    <a:pt x="231" y="224"/>
                    <a:pt x="234" y="224"/>
                  </a:cubicBezTo>
                  <a:cubicBezTo>
                    <a:pt x="256" y="224"/>
                    <a:pt x="256" y="224"/>
                    <a:pt x="256" y="224"/>
                  </a:cubicBezTo>
                  <a:cubicBezTo>
                    <a:pt x="272" y="224"/>
                    <a:pt x="288" y="208"/>
                    <a:pt x="288" y="192"/>
                  </a:cubicBezTo>
                  <a:cubicBezTo>
                    <a:pt x="288" y="174"/>
                    <a:pt x="273" y="160"/>
                    <a:pt x="256" y="160"/>
                  </a:cubicBezTo>
                  <a:cubicBezTo>
                    <a:pt x="240" y="160"/>
                    <a:pt x="227" y="171"/>
                    <a:pt x="224" y="186"/>
                  </a:cubicBezTo>
                  <a:cubicBezTo>
                    <a:pt x="223" y="191"/>
                    <a:pt x="219" y="195"/>
                    <a:pt x="214" y="195"/>
                  </a:cubicBezTo>
                  <a:cubicBezTo>
                    <a:pt x="171" y="192"/>
                    <a:pt x="171" y="192"/>
                    <a:pt x="171" y="192"/>
                  </a:cubicBezTo>
                  <a:cubicBezTo>
                    <a:pt x="165" y="191"/>
                    <a:pt x="161" y="187"/>
                    <a:pt x="161" y="181"/>
                  </a:cubicBezTo>
                  <a:cubicBezTo>
                    <a:pt x="161" y="181"/>
                    <a:pt x="161" y="178"/>
                    <a:pt x="161" y="176"/>
                  </a:cubicBezTo>
                  <a:cubicBezTo>
                    <a:pt x="169" y="129"/>
                    <a:pt x="208" y="96"/>
                    <a:pt x="256" y="96"/>
                  </a:cubicBezTo>
                  <a:cubicBezTo>
                    <a:pt x="309" y="96"/>
                    <a:pt x="352" y="139"/>
                    <a:pt x="352" y="192"/>
                  </a:cubicBezTo>
                  <a:cubicBezTo>
                    <a:pt x="352" y="233"/>
                    <a:pt x="326" y="269"/>
                    <a:pt x="288" y="28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15" name="Oval 496">
              <a:extLst>
                <a:ext uri="{FF2B5EF4-FFF2-40B4-BE49-F238E27FC236}">
                  <a16:creationId xmlns:a16="http://schemas.microsoft.com/office/drawing/2014/main" id="{E3B7C822-79D7-4982-A812-999F50F58A67}"/>
                </a:ext>
              </a:extLst>
            </p:cNvPr>
            <p:cNvSpPr>
              <a:spLocks noChangeArrowheads="1"/>
            </p:cNvSpPr>
            <p:nvPr/>
          </p:nvSpPr>
          <p:spPr bwMode="auto">
            <a:xfrm>
              <a:off x="6357" y="2208"/>
              <a:ext cx="14" cy="14"/>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61" name="Block Arc 60">
            <a:extLst>
              <a:ext uri="{FF2B5EF4-FFF2-40B4-BE49-F238E27FC236}">
                <a16:creationId xmlns:a16="http://schemas.microsoft.com/office/drawing/2014/main" id="{F8D506B9-1233-4C73-8AC0-EE6589EF9D9D}"/>
              </a:ext>
            </a:extLst>
          </p:cNvPr>
          <p:cNvSpPr/>
          <p:nvPr/>
        </p:nvSpPr>
        <p:spPr bwMode="gray">
          <a:xfrm rot="5400000">
            <a:off x="-2470158" y="1190481"/>
            <a:ext cx="4994062" cy="4994060"/>
          </a:xfrm>
          <a:prstGeom prst="blockArc">
            <a:avLst>
              <a:gd name="adj1" fmla="val 10778100"/>
              <a:gd name="adj2" fmla="val 24563"/>
              <a:gd name="adj3" fmla="val 2528"/>
            </a:avLst>
          </a:prstGeom>
          <a:solidFill>
            <a:schemeClr val="bg1">
              <a:lumMod val="85000"/>
            </a:schemeClr>
          </a:solidFill>
          <a:ln w="19050" algn="ctr">
            <a:noFill/>
            <a:miter lim="800000"/>
            <a:headEnd/>
            <a:tailEnd/>
          </a:ln>
        </p:spPr>
        <p:txBody>
          <a:bodyPr wrap="square" lIns="80648" tIns="80648" rIns="80648" bIns="80648" rtlCol="0" anchor="ctr"/>
          <a:lstStyle/>
          <a:p>
            <a:pPr algn="ctr">
              <a:lnSpc>
                <a:spcPct val="106000"/>
              </a:lnSpc>
              <a:buFont typeface="Wingdings 2" pitchFamily="18" charset="2"/>
              <a:buNone/>
            </a:pPr>
            <a:endParaRPr lang="en-US" sz="1452" b="1" dirty="0">
              <a:solidFill>
                <a:schemeClr val="bg1"/>
              </a:solidFill>
            </a:endParaRPr>
          </a:p>
        </p:txBody>
      </p:sp>
      <p:grpSp>
        <p:nvGrpSpPr>
          <p:cNvPr id="33" name="Group 32">
            <a:extLst>
              <a:ext uri="{FF2B5EF4-FFF2-40B4-BE49-F238E27FC236}">
                <a16:creationId xmlns:a16="http://schemas.microsoft.com/office/drawing/2014/main" id="{EF958CD5-3B3D-48B7-B9FF-640E74E7889C}"/>
              </a:ext>
            </a:extLst>
          </p:cNvPr>
          <p:cNvGrpSpPr/>
          <p:nvPr/>
        </p:nvGrpSpPr>
        <p:grpSpPr>
          <a:xfrm>
            <a:off x="2903321" y="1158549"/>
            <a:ext cx="8809254" cy="5057925"/>
            <a:chOff x="2903321" y="1165462"/>
            <a:chExt cx="8809254" cy="5057925"/>
          </a:xfrm>
        </p:grpSpPr>
        <p:grpSp>
          <p:nvGrpSpPr>
            <p:cNvPr id="32" name="Group 31">
              <a:extLst>
                <a:ext uri="{FF2B5EF4-FFF2-40B4-BE49-F238E27FC236}">
                  <a16:creationId xmlns:a16="http://schemas.microsoft.com/office/drawing/2014/main" id="{911D0007-25EC-43CA-85F1-F19860D7A3BB}"/>
                </a:ext>
              </a:extLst>
            </p:cNvPr>
            <p:cNvGrpSpPr/>
            <p:nvPr/>
          </p:nvGrpSpPr>
          <p:grpSpPr>
            <a:xfrm>
              <a:off x="2903321" y="1165462"/>
              <a:ext cx="8809254" cy="887333"/>
              <a:chOff x="2903321" y="1165462"/>
              <a:chExt cx="8809254" cy="887333"/>
            </a:xfrm>
          </p:grpSpPr>
          <p:grpSp>
            <p:nvGrpSpPr>
              <p:cNvPr id="21" name="Group 20">
                <a:extLst>
                  <a:ext uri="{FF2B5EF4-FFF2-40B4-BE49-F238E27FC236}">
                    <a16:creationId xmlns:a16="http://schemas.microsoft.com/office/drawing/2014/main" id="{0B1CF344-CF61-4EB1-AB09-97143A82B920}"/>
                  </a:ext>
                </a:extLst>
              </p:cNvPr>
              <p:cNvGrpSpPr/>
              <p:nvPr/>
            </p:nvGrpSpPr>
            <p:grpSpPr>
              <a:xfrm>
                <a:off x="6681665" y="1246687"/>
                <a:ext cx="4955499" cy="724882"/>
                <a:chOff x="6681665" y="1246687"/>
                <a:chExt cx="4955499" cy="724882"/>
              </a:xfrm>
            </p:grpSpPr>
            <p:pic>
              <p:nvPicPr>
                <p:cNvPr id="184" name="Picture 46" descr="https://o.remove.bg/downloads/24982320-5d10-4bdb-84e5-5f44c5a9a032/Picture3-removebg-preview.png">
                  <a:extLst>
                    <a:ext uri="{FF2B5EF4-FFF2-40B4-BE49-F238E27FC236}">
                      <a16:creationId xmlns:a16="http://schemas.microsoft.com/office/drawing/2014/main" id="{F02FF968-A482-413D-B79F-8FB1B6B9A7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5" y="1384105"/>
                  <a:ext cx="963686" cy="450046"/>
                </a:xfrm>
                <a:prstGeom prst="rect">
                  <a:avLst/>
                </a:prstGeom>
                <a:noFill/>
                <a:extLst>
                  <a:ext uri="{909E8E84-426E-40DD-AFC4-6F175D3DCCD1}">
                    <a14:hiddenFill xmlns:a14="http://schemas.microsoft.com/office/drawing/2010/main">
                      <a:solidFill>
                        <a:srgbClr val="FFFFFF"/>
                      </a:solidFill>
                    </a14:hiddenFill>
                  </a:ext>
                </a:extLst>
              </p:spPr>
            </p:pic>
            <p:pic>
              <p:nvPicPr>
                <p:cNvPr id="185" name="Picture 184" descr="A close up of a sign&#10;&#10;Description automatically generated">
                  <a:extLst>
                    <a:ext uri="{FF2B5EF4-FFF2-40B4-BE49-F238E27FC236}">
                      <a16:creationId xmlns:a16="http://schemas.microsoft.com/office/drawing/2014/main" id="{6981E2C6-3390-4208-9BC0-AE5E4880D9F1}"/>
                    </a:ext>
                  </a:extLst>
                </p:cNvPr>
                <p:cNvPicPr>
                  <a:picLocks noChangeAspect="1"/>
                </p:cNvPicPr>
                <p:nvPr/>
              </p:nvPicPr>
              <p:blipFill>
                <a:blip r:embed="rId3"/>
                <a:stretch>
                  <a:fillRect/>
                </a:stretch>
              </p:blipFill>
              <p:spPr>
                <a:xfrm>
                  <a:off x="8925918" y="1273973"/>
                  <a:ext cx="618514" cy="670311"/>
                </a:xfrm>
                <a:prstGeom prst="rect">
                  <a:avLst/>
                </a:prstGeom>
              </p:spPr>
            </p:pic>
            <p:pic>
              <p:nvPicPr>
                <p:cNvPr id="186" name="Picture 185" descr="A close up of a sign&#10;&#10;Description automatically generated">
                  <a:extLst>
                    <a:ext uri="{FF2B5EF4-FFF2-40B4-BE49-F238E27FC236}">
                      <a16:creationId xmlns:a16="http://schemas.microsoft.com/office/drawing/2014/main" id="{2F0F7FBF-7575-4ACA-BBEE-4435549B6372}"/>
                    </a:ext>
                  </a:extLst>
                </p:cNvPr>
                <p:cNvPicPr>
                  <a:picLocks noChangeAspect="1"/>
                </p:cNvPicPr>
                <p:nvPr/>
              </p:nvPicPr>
              <p:blipFill rotWithShape="1">
                <a:blip r:embed="rId4"/>
                <a:srcRect t="25034"/>
                <a:stretch/>
              </p:blipFill>
              <p:spPr>
                <a:xfrm>
                  <a:off x="9775236" y="1279103"/>
                  <a:ext cx="671482" cy="660051"/>
                </a:xfrm>
                <a:prstGeom prst="rect">
                  <a:avLst/>
                </a:prstGeom>
              </p:spPr>
            </p:pic>
            <p:pic>
              <p:nvPicPr>
                <p:cNvPr id="187" name="Picture 186" descr="A picture containing calendar&#10;&#10;Description automatically generated">
                  <a:extLst>
                    <a:ext uri="{FF2B5EF4-FFF2-40B4-BE49-F238E27FC236}">
                      <a16:creationId xmlns:a16="http://schemas.microsoft.com/office/drawing/2014/main" id="{E73C8717-D646-4890-A931-DEDBAFD427DC}"/>
                    </a:ext>
                  </a:extLst>
                </p:cNvPr>
                <p:cNvPicPr>
                  <a:picLocks noChangeAspect="1"/>
                </p:cNvPicPr>
                <p:nvPr/>
              </p:nvPicPr>
              <p:blipFill>
                <a:blip r:embed="rId5"/>
                <a:stretch>
                  <a:fillRect/>
                </a:stretch>
              </p:blipFill>
              <p:spPr>
                <a:xfrm>
                  <a:off x="8030639" y="1246687"/>
                  <a:ext cx="664475" cy="724882"/>
                </a:xfrm>
                <a:prstGeom prst="rect">
                  <a:avLst/>
                </a:prstGeom>
              </p:spPr>
            </p:pic>
            <p:pic>
              <p:nvPicPr>
                <p:cNvPr id="188" name="Picture 187" descr="Logo&#10;&#10;Description automatically generated">
                  <a:extLst>
                    <a:ext uri="{FF2B5EF4-FFF2-40B4-BE49-F238E27FC236}">
                      <a16:creationId xmlns:a16="http://schemas.microsoft.com/office/drawing/2014/main" id="{CE27E130-AE9D-40DE-B145-BD0C3D2E4A21}"/>
                    </a:ext>
                  </a:extLst>
                </p:cNvPr>
                <p:cNvPicPr>
                  <a:picLocks noChangeAspect="1"/>
                </p:cNvPicPr>
                <p:nvPr/>
              </p:nvPicPr>
              <p:blipFill>
                <a:blip r:embed="rId6"/>
                <a:stretch>
                  <a:fillRect/>
                </a:stretch>
              </p:blipFill>
              <p:spPr>
                <a:xfrm>
                  <a:off x="10677522" y="1266399"/>
                  <a:ext cx="959642" cy="685459"/>
                </a:xfrm>
                <a:prstGeom prst="rect">
                  <a:avLst/>
                </a:prstGeom>
              </p:spPr>
            </p:pic>
          </p:grpSp>
          <p:sp>
            <p:nvSpPr>
              <p:cNvPr id="63" name="Rounded Rectangle 5">
                <a:extLst>
                  <a:ext uri="{FF2B5EF4-FFF2-40B4-BE49-F238E27FC236}">
                    <a16:creationId xmlns:a16="http://schemas.microsoft.com/office/drawing/2014/main" id="{1D3B2378-1BDE-4100-9E71-4E90415253B8}"/>
                  </a:ext>
                </a:extLst>
              </p:cNvPr>
              <p:cNvSpPr/>
              <p:nvPr/>
            </p:nvSpPr>
            <p:spPr>
              <a:xfrm>
                <a:off x="2903321" y="1165462"/>
                <a:ext cx="8809254" cy="887333"/>
              </a:xfrm>
              <a:prstGeom prst="roundRect">
                <a:avLst/>
              </a:prstGeom>
              <a:ln w="12700">
                <a:solidFill>
                  <a:srgbClr val="0097A9"/>
                </a:solidFill>
                <a:prstDash val="sysDot"/>
              </a:ln>
            </p:spPr>
            <p:txBody>
              <a:bodyPr lIns="97976" tIns="97976" rIns="5120640" bIns="97976" anchor="ctr" anchorCtr="0">
                <a:noAutofit/>
              </a:bodyPr>
              <a:lstStyle/>
              <a:p>
                <a:pPr>
                  <a:spcBef>
                    <a:spcPts val="544"/>
                  </a:spcBef>
                  <a:buSzPct val="100000"/>
                </a:pPr>
                <a:r>
                  <a:rPr lang="en-US" sz="1400" b="1" dirty="0"/>
                  <a:t>Demonstrated track record of successfully manning Program Management Unit in Government and several projects on outcome budgeting</a:t>
                </a:r>
              </a:p>
            </p:txBody>
          </p:sp>
        </p:grpSp>
        <p:grpSp>
          <p:nvGrpSpPr>
            <p:cNvPr id="31" name="Group 30">
              <a:extLst>
                <a:ext uri="{FF2B5EF4-FFF2-40B4-BE49-F238E27FC236}">
                  <a16:creationId xmlns:a16="http://schemas.microsoft.com/office/drawing/2014/main" id="{53A201CA-47F9-4774-8B2E-E884BB389597}"/>
                </a:ext>
              </a:extLst>
            </p:cNvPr>
            <p:cNvGrpSpPr/>
            <p:nvPr/>
          </p:nvGrpSpPr>
          <p:grpSpPr>
            <a:xfrm>
              <a:off x="2903321" y="2208201"/>
              <a:ext cx="8809254" cy="887333"/>
              <a:chOff x="2903321" y="2192144"/>
              <a:chExt cx="8809254" cy="887333"/>
            </a:xfrm>
          </p:grpSpPr>
          <p:grpSp>
            <p:nvGrpSpPr>
              <p:cNvPr id="24" name="Group 23">
                <a:extLst>
                  <a:ext uri="{FF2B5EF4-FFF2-40B4-BE49-F238E27FC236}">
                    <a16:creationId xmlns:a16="http://schemas.microsoft.com/office/drawing/2014/main" id="{D6E9A0E1-FAF5-4C8F-8278-548189D69871}"/>
                  </a:ext>
                </a:extLst>
              </p:cNvPr>
              <p:cNvGrpSpPr/>
              <p:nvPr/>
            </p:nvGrpSpPr>
            <p:grpSpPr>
              <a:xfrm>
                <a:off x="6896553" y="2240906"/>
                <a:ext cx="4399108" cy="789808"/>
                <a:chOff x="6896553" y="2253116"/>
                <a:chExt cx="4399108" cy="789808"/>
              </a:xfrm>
            </p:grpSpPr>
            <p:grpSp>
              <p:nvGrpSpPr>
                <p:cNvPr id="23" name="Group 22">
                  <a:extLst>
                    <a:ext uri="{FF2B5EF4-FFF2-40B4-BE49-F238E27FC236}">
                      <a16:creationId xmlns:a16="http://schemas.microsoft.com/office/drawing/2014/main" id="{271A83FF-F69D-465A-84E0-7D97C195DC13}"/>
                    </a:ext>
                  </a:extLst>
                </p:cNvPr>
                <p:cNvGrpSpPr/>
                <p:nvPr/>
              </p:nvGrpSpPr>
              <p:grpSpPr>
                <a:xfrm>
                  <a:off x="6896553" y="2253116"/>
                  <a:ext cx="4399108" cy="413802"/>
                  <a:chOff x="6776820" y="2253116"/>
                  <a:chExt cx="4399108" cy="413802"/>
                </a:xfrm>
              </p:grpSpPr>
              <p:grpSp>
                <p:nvGrpSpPr>
                  <p:cNvPr id="204" name="Group 253">
                    <a:extLst>
                      <a:ext uri="{FF2B5EF4-FFF2-40B4-BE49-F238E27FC236}">
                        <a16:creationId xmlns:a16="http://schemas.microsoft.com/office/drawing/2014/main" id="{006AB6D6-94D2-4DA3-BA73-93BE0511342C}"/>
                      </a:ext>
                    </a:extLst>
                  </p:cNvPr>
                  <p:cNvGrpSpPr>
                    <a:grpSpLocks noChangeAspect="1"/>
                  </p:cNvGrpSpPr>
                  <p:nvPr/>
                </p:nvGrpSpPr>
                <p:grpSpPr bwMode="auto">
                  <a:xfrm>
                    <a:off x="6776820" y="2253116"/>
                    <a:ext cx="413802" cy="413802"/>
                    <a:chOff x="4266" y="1820"/>
                    <a:chExt cx="340" cy="340"/>
                  </a:xfrm>
                  <a:solidFill>
                    <a:srgbClr val="00B0F0"/>
                  </a:solidFill>
                </p:grpSpPr>
                <p:sp>
                  <p:nvSpPr>
                    <p:cNvPr id="206" name="Freeform 254">
                      <a:extLst>
                        <a:ext uri="{FF2B5EF4-FFF2-40B4-BE49-F238E27FC236}">
                          <a16:creationId xmlns:a16="http://schemas.microsoft.com/office/drawing/2014/main" id="{11FBBE78-3642-4E5B-883B-DCFDD73CA741}"/>
                        </a:ext>
                      </a:extLst>
                    </p:cNvPr>
                    <p:cNvSpPr>
                      <a:spLocks/>
                    </p:cNvSpPr>
                    <p:nvPr/>
                  </p:nvSpPr>
                  <p:spPr bwMode="auto">
                    <a:xfrm>
                      <a:off x="4329" y="1883"/>
                      <a:ext cx="213" cy="213"/>
                    </a:xfrm>
                    <a:custGeom>
                      <a:avLst/>
                      <a:gdLst>
                        <a:gd name="T0" fmla="*/ 320 w 321"/>
                        <a:gd name="T1" fmla="*/ 165 h 321"/>
                        <a:gd name="T2" fmla="*/ 320 w 321"/>
                        <a:gd name="T3" fmla="*/ 157 h 321"/>
                        <a:gd name="T4" fmla="*/ 318 w 321"/>
                        <a:gd name="T5" fmla="*/ 153 h 321"/>
                        <a:gd name="T6" fmla="*/ 275 w 321"/>
                        <a:gd name="T7" fmla="*/ 110 h 321"/>
                        <a:gd name="T8" fmla="*/ 260 w 321"/>
                        <a:gd name="T9" fmla="*/ 110 h 321"/>
                        <a:gd name="T10" fmla="*/ 260 w 321"/>
                        <a:gd name="T11" fmla="*/ 126 h 321"/>
                        <a:gd name="T12" fmla="*/ 284 w 321"/>
                        <a:gd name="T13" fmla="*/ 150 h 321"/>
                        <a:gd name="T14" fmla="*/ 171 w 321"/>
                        <a:gd name="T15" fmla="*/ 150 h 321"/>
                        <a:gd name="T16" fmla="*/ 171 w 321"/>
                        <a:gd name="T17" fmla="*/ 37 h 321"/>
                        <a:gd name="T18" fmla="*/ 196 w 321"/>
                        <a:gd name="T19" fmla="*/ 62 h 321"/>
                        <a:gd name="T20" fmla="*/ 203 w 321"/>
                        <a:gd name="T21" fmla="*/ 65 h 321"/>
                        <a:gd name="T22" fmla="*/ 211 w 321"/>
                        <a:gd name="T23" fmla="*/ 62 h 321"/>
                        <a:gd name="T24" fmla="*/ 211 w 321"/>
                        <a:gd name="T25" fmla="*/ 46 h 321"/>
                        <a:gd name="T26" fmla="*/ 168 w 321"/>
                        <a:gd name="T27" fmla="*/ 4 h 321"/>
                        <a:gd name="T28" fmla="*/ 165 w 321"/>
                        <a:gd name="T29" fmla="*/ 1 h 321"/>
                        <a:gd name="T30" fmla="*/ 157 w 321"/>
                        <a:gd name="T31" fmla="*/ 1 h 321"/>
                        <a:gd name="T32" fmla="*/ 153 w 321"/>
                        <a:gd name="T33" fmla="*/ 4 h 321"/>
                        <a:gd name="T34" fmla="*/ 110 w 321"/>
                        <a:gd name="T35" fmla="*/ 46 h 321"/>
                        <a:gd name="T36" fmla="*/ 110 w 321"/>
                        <a:gd name="T37" fmla="*/ 62 h 321"/>
                        <a:gd name="T38" fmla="*/ 118 w 321"/>
                        <a:gd name="T39" fmla="*/ 65 h 321"/>
                        <a:gd name="T40" fmla="*/ 126 w 321"/>
                        <a:gd name="T41" fmla="*/ 62 h 321"/>
                        <a:gd name="T42" fmla="*/ 150 w 321"/>
                        <a:gd name="T43" fmla="*/ 37 h 321"/>
                        <a:gd name="T44" fmla="*/ 150 w 321"/>
                        <a:gd name="T45" fmla="*/ 150 h 321"/>
                        <a:gd name="T46" fmla="*/ 37 w 321"/>
                        <a:gd name="T47" fmla="*/ 150 h 321"/>
                        <a:gd name="T48" fmla="*/ 62 w 321"/>
                        <a:gd name="T49" fmla="*/ 126 h 321"/>
                        <a:gd name="T50" fmla="*/ 62 w 321"/>
                        <a:gd name="T51" fmla="*/ 110 h 321"/>
                        <a:gd name="T52" fmla="*/ 46 w 321"/>
                        <a:gd name="T53" fmla="*/ 110 h 321"/>
                        <a:gd name="T54" fmla="*/ 4 w 321"/>
                        <a:gd name="T55" fmla="*/ 153 h 321"/>
                        <a:gd name="T56" fmla="*/ 1 w 321"/>
                        <a:gd name="T57" fmla="*/ 157 h 321"/>
                        <a:gd name="T58" fmla="*/ 1 w 321"/>
                        <a:gd name="T59" fmla="*/ 165 h 321"/>
                        <a:gd name="T60" fmla="*/ 4 w 321"/>
                        <a:gd name="T61" fmla="*/ 168 h 321"/>
                        <a:gd name="T62" fmla="*/ 46 w 321"/>
                        <a:gd name="T63" fmla="*/ 211 h 321"/>
                        <a:gd name="T64" fmla="*/ 54 w 321"/>
                        <a:gd name="T65" fmla="*/ 214 h 321"/>
                        <a:gd name="T66" fmla="*/ 62 w 321"/>
                        <a:gd name="T67" fmla="*/ 211 h 321"/>
                        <a:gd name="T68" fmla="*/ 62 w 321"/>
                        <a:gd name="T69" fmla="*/ 196 h 321"/>
                        <a:gd name="T70" fmla="*/ 37 w 321"/>
                        <a:gd name="T71" fmla="*/ 171 h 321"/>
                        <a:gd name="T72" fmla="*/ 150 w 321"/>
                        <a:gd name="T73" fmla="*/ 171 h 321"/>
                        <a:gd name="T74" fmla="*/ 150 w 321"/>
                        <a:gd name="T75" fmla="*/ 284 h 321"/>
                        <a:gd name="T76" fmla="*/ 126 w 321"/>
                        <a:gd name="T77" fmla="*/ 260 h 321"/>
                        <a:gd name="T78" fmla="*/ 110 w 321"/>
                        <a:gd name="T79" fmla="*/ 260 h 321"/>
                        <a:gd name="T80" fmla="*/ 110 w 321"/>
                        <a:gd name="T81" fmla="*/ 275 h 321"/>
                        <a:gd name="T82" fmla="*/ 153 w 321"/>
                        <a:gd name="T83" fmla="*/ 318 h 321"/>
                        <a:gd name="T84" fmla="*/ 157 w 321"/>
                        <a:gd name="T85" fmla="*/ 320 h 321"/>
                        <a:gd name="T86" fmla="*/ 161 w 321"/>
                        <a:gd name="T87" fmla="*/ 321 h 321"/>
                        <a:gd name="T88" fmla="*/ 165 w 321"/>
                        <a:gd name="T89" fmla="*/ 320 h 321"/>
                        <a:gd name="T90" fmla="*/ 168 w 321"/>
                        <a:gd name="T91" fmla="*/ 318 h 321"/>
                        <a:gd name="T92" fmla="*/ 211 w 321"/>
                        <a:gd name="T93" fmla="*/ 275 h 321"/>
                        <a:gd name="T94" fmla="*/ 211 w 321"/>
                        <a:gd name="T95" fmla="*/ 260 h 321"/>
                        <a:gd name="T96" fmla="*/ 196 w 321"/>
                        <a:gd name="T97" fmla="*/ 260 h 321"/>
                        <a:gd name="T98" fmla="*/ 171 w 321"/>
                        <a:gd name="T99" fmla="*/ 284 h 321"/>
                        <a:gd name="T100" fmla="*/ 171 w 321"/>
                        <a:gd name="T101" fmla="*/ 171 h 321"/>
                        <a:gd name="T102" fmla="*/ 284 w 321"/>
                        <a:gd name="T103" fmla="*/ 171 h 321"/>
                        <a:gd name="T104" fmla="*/ 260 w 321"/>
                        <a:gd name="T105" fmla="*/ 196 h 321"/>
                        <a:gd name="T106" fmla="*/ 260 w 321"/>
                        <a:gd name="T107" fmla="*/ 211 h 321"/>
                        <a:gd name="T108" fmla="*/ 267 w 321"/>
                        <a:gd name="T109" fmla="*/ 214 h 321"/>
                        <a:gd name="T110" fmla="*/ 275 w 321"/>
                        <a:gd name="T111" fmla="*/ 211 h 321"/>
                        <a:gd name="T112" fmla="*/ 318 w 321"/>
                        <a:gd name="T113" fmla="*/ 168 h 321"/>
                        <a:gd name="T114" fmla="*/ 320 w 321"/>
                        <a:gd name="T115" fmla="*/ 165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1" h="321">
                          <a:moveTo>
                            <a:pt x="320" y="165"/>
                          </a:moveTo>
                          <a:cubicBezTo>
                            <a:pt x="321" y="162"/>
                            <a:pt x="321" y="159"/>
                            <a:pt x="320" y="157"/>
                          </a:cubicBezTo>
                          <a:cubicBezTo>
                            <a:pt x="319" y="155"/>
                            <a:pt x="319" y="154"/>
                            <a:pt x="318" y="153"/>
                          </a:cubicBezTo>
                          <a:cubicBezTo>
                            <a:pt x="275" y="110"/>
                            <a:pt x="275" y="110"/>
                            <a:pt x="275" y="110"/>
                          </a:cubicBezTo>
                          <a:cubicBezTo>
                            <a:pt x="271" y="106"/>
                            <a:pt x="264" y="106"/>
                            <a:pt x="260" y="110"/>
                          </a:cubicBezTo>
                          <a:cubicBezTo>
                            <a:pt x="256" y="115"/>
                            <a:pt x="256" y="121"/>
                            <a:pt x="260" y="126"/>
                          </a:cubicBezTo>
                          <a:cubicBezTo>
                            <a:pt x="284" y="150"/>
                            <a:pt x="284" y="150"/>
                            <a:pt x="284" y="150"/>
                          </a:cubicBezTo>
                          <a:cubicBezTo>
                            <a:pt x="171" y="150"/>
                            <a:pt x="171" y="150"/>
                            <a:pt x="171" y="150"/>
                          </a:cubicBezTo>
                          <a:cubicBezTo>
                            <a:pt x="171" y="37"/>
                            <a:pt x="171" y="37"/>
                            <a:pt x="171" y="37"/>
                          </a:cubicBezTo>
                          <a:cubicBezTo>
                            <a:pt x="196" y="62"/>
                            <a:pt x="196" y="62"/>
                            <a:pt x="196" y="62"/>
                          </a:cubicBezTo>
                          <a:cubicBezTo>
                            <a:pt x="198" y="64"/>
                            <a:pt x="201" y="65"/>
                            <a:pt x="203" y="65"/>
                          </a:cubicBezTo>
                          <a:cubicBezTo>
                            <a:pt x="206" y="65"/>
                            <a:pt x="209" y="64"/>
                            <a:pt x="211" y="62"/>
                          </a:cubicBezTo>
                          <a:cubicBezTo>
                            <a:pt x="215" y="57"/>
                            <a:pt x="215" y="51"/>
                            <a:pt x="211" y="46"/>
                          </a:cubicBezTo>
                          <a:cubicBezTo>
                            <a:pt x="168" y="4"/>
                            <a:pt x="168" y="4"/>
                            <a:pt x="168" y="4"/>
                          </a:cubicBezTo>
                          <a:cubicBezTo>
                            <a:pt x="167" y="3"/>
                            <a:pt x="166" y="2"/>
                            <a:pt x="165" y="1"/>
                          </a:cubicBezTo>
                          <a:cubicBezTo>
                            <a:pt x="162" y="0"/>
                            <a:pt x="159" y="0"/>
                            <a:pt x="157" y="1"/>
                          </a:cubicBezTo>
                          <a:cubicBezTo>
                            <a:pt x="155" y="2"/>
                            <a:pt x="154" y="3"/>
                            <a:pt x="153" y="4"/>
                          </a:cubicBezTo>
                          <a:cubicBezTo>
                            <a:pt x="110" y="46"/>
                            <a:pt x="110" y="46"/>
                            <a:pt x="110" y="46"/>
                          </a:cubicBezTo>
                          <a:cubicBezTo>
                            <a:pt x="106" y="51"/>
                            <a:pt x="106" y="57"/>
                            <a:pt x="110" y="62"/>
                          </a:cubicBezTo>
                          <a:cubicBezTo>
                            <a:pt x="113" y="64"/>
                            <a:pt x="115" y="65"/>
                            <a:pt x="118" y="65"/>
                          </a:cubicBezTo>
                          <a:cubicBezTo>
                            <a:pt x="121" y="65"/>
                            <a:pt x="123" y="64"/>
                            <a:pt x="126" y="62"/>
                          </a:cubicBezTo>
                          <a:cubicBezTo>
                            <a:pt x="150" y="37"/>
                            <a:pt x="150" y="37"/>
                            <a:pt x="150" y="37"/>
                          </a:cubicBezTo>
                          <a:cubicBezTo>
                            <a:pt x="150" y="150"/>
                            <a:pt x="150" y="150"/>
                            <a:pt x="150" y="150"/>
                          </a:cubicBezTo>
                          <a:cubicBezTo>
                            <a:pt x="37" y="150"/>
                            <a:pt x="37" y="150"/>
                            <a:pt x="37" y="150"/>
                          </a:cubicBezTo>
                          <a:cubicBezTo>
                            <a:pt x="62" y="126"/>
                            <a:pt x="62" y="126"/>
                            <a:pt x="62" y="126"/>
                          </a:cubicBezTo>
                          <a:cubicBezTo>
                            <a:pt x="66" y="121"/>
                            <a:pt x="66" y="115"/>
                            <a:pt x="62" y="110"/>
                          </a:cubicBezTo>
                          <a:cubicBezTo>
                            <a:pt x="57" y="106"/>
                            <a:pt x="51" y="106"/>
                            <a:pt x="46" y="110"/>
                          </a:cubicBezTo>
                          <a:cubicBezTo>
                            <a:pt x="4" y="153"/>
                            <a:pt x="4" y="153"/>
                            <a:pt x="4" y="153"/>
                          </a:cubicBezTo>
                          <a:cubicBezTo>
                            <a:pt x="3" y="154"/>
                            <a:pt x="2" y="155"/>
                            <a:pt x="1" y="157"/>
                          </a:cubicBezTo>
                          <a:cubicBezTo>
                            <a:pt x="0" y="159"/>
                            <a:pt x="0" y="162"/>
                            <a:pt x="1" y="165"/>
                          </a:cubicBezTo>
                          <a:cubicBezTo>
                            <a:pt x="2" y="166"/>
                            <a:pt x="3" y="167"/>
                            <a:pt x="4" y="168"/>
                          </a:cubicBezTo>
                          <a:cubicBezTo>
                            <a:pt x="46" y="211"/>
                            <a:pt x="46" y="211"/>
                            <a:pt x="46" y="211"/>
                          </a:cubicBezTo>
                          <a:cubicBezTo>
                            <a:pt x="49" y="213"/>
                            <a:pt x="51" y="214"/>
                            <a:pt x="54" y="214"/>
                          </a:cubicBezTo>
                          <a:cubicBezTo>
                            <a:pt x="57" y="214"/>
                            <a:pt x="59" y="213"/>
                            <a:pt x="62" y="211"/>
                          </a:cubicBezTo>
                          <a:cubicBezTo>
                            <a:pt x="66" y="207"/>
                            <a:pt x="66" y="200"/>
                            <a:pt x="62" y="196"/>
                          </a:cubicBezTo>
                          <a:cubicBezTo>
                            <a:pt x="37" y="171"/>
                            <a:pt x="37" y="171"/>
                            <a:pt x="37" y="171"/>
                          </a:cubicBezTo>
                          <a:cubicBezTo>
                            <a:pt x="150" y="171"/>
                            <a:pt x="150" y="171"/>
                            <a:pt x="150" y="171"/>
                          </a:cubicBezTo>
                          <a:cubicBezTo>
                            <a:pt x="150" y="284"/>
                            <a:pt x="150" y="284"/>
                            <a:pt x="150" y="284"/>
                          </a:cubicBezTo>
                          <a:cubicBezTo>
                            <a:pt x="126" y="260"/>
                            <a:pt x="126" y="260"/>
                            <a:pt x="126" y="260"/>
                          </a:cubicBezTo>
                          <a:cubicBezTo>
                            <a:pt x="121" y="256"/>
                            <a:pt x="115" y="256"/>
                            <a:pt x="110" y="260"/>
                          </a:cubicBezTo>
                          <a:cubicBezTo>
                            <a:pt x="106" y="264"/>
                            <a:pt x="106" y="271"/>
                            <a:pt x="110" y="275"/>
                          </a:cubicBezTo>
                          <a:cubicBezTo>
                            <a:pt x="153" y="318"/>
                            <a:pt x="153" y="318"/>
                            <a:pt x="153" y="318"/>
                          </a:cubicBezTo>
                          <a:cubicBezTo>
                            <a:pt x="154" y="319"/>
                            <a:pt x="155" y="319"/>
                            <a:pt x="157" y="320"/>
                          </a:cubicBezTo>
                          <a:cubicBezTo>
                            <a:pt x="158" y="320"/>
                            <a:pt x="159" y="321"/>
                            <a:pt x="161" y="321"/>
                          </a:cubicBezTo>
                          <a:cubicBezTo>
                            <a:pt x="162" y="321"/>
                            <a:pt x="163" y="320"/>
                            <a:pt x="165" y="320"/>
                          </a:cubicBezTo>
                          <a:cubicBezTo>
                            <a:pt x="166" y="319"/>
                            <a:pt x="167" y="319"/>
                            <a:pt x="168" y="318"/>
                          </a:cubicBezTo>
                          <a:cubicBezTo>
                            <a:pt x="211" y="275"/>
                            <a:pt x="211" y="275"/>
                            <a:pt x="211" y="275"/>
                          </a:cubicBezTo>
                          <a:cubicBezTo>
                            <a:pt x="215" y="271"/>
                            <a:pt x="215" y="264"/>
                            <a:pt x="211" y="260"/>
                          </a:cubicBezTo>
                          <a:cubicBezTo>
                            <a:pt x="207" y="256"/>
                            <a:pt x="200" y="256"/>
                            <a:pt x="196" y="260"/>
                          </a:cubicBezTo>
                          <a:cubicBezTo>
                            <a:pt x="171" y="284"/>
                            <a:pt x="171" y="284"/>
                            <a:pt x="171" y="284"/>
                          </a:cubicBezTo>
                          <a:cubicBezTo>
                            <a:pt x="171" y="171"/>
                            <a:pt x="171" y="171"/>
                            <a:pt x="171" y="171"/>
                          </a:cubicBezTo>
                          <a:cubicBezTo>
                            <a:pt x="284" y="171"/>
                            <a:pt x="284" y="171"/>
                            <a:pt x="284" y="171"/>
                          </a:cubicBezTo>
                          <a:cubicBezTo>
                            <a:pt x="260" y="196"/>
                            <a:pt x="260" y="196"/>
                            <a:pt x="260" y="196"/>
                          </a:cubicBezTo>
                          <a:cubicBezTo>
                            <a:pt x="256" y="200"/>
                            <a:pt x="256" y="207"/>
                            <a:pt x="260" y="211"/>
                          </a:cubicBezTo>
                          <a:cubicBezTo>
                            <a:pt x="262" y="213"/>
                            <a:pt x="265" y="214"/>
                            <a:pt x="267" y="214"/>
                          </a:cubicBezTo>
                          <a:cubicBezTo>
                            <a:pt x="270" y="214"/>
                            <a:pt x="273" y="213"/>
                            <a:pt x="275" y="211"/>
                          </a:cubicBezTo>
                          <a:cubicBezTo>
                            <a:pt x="318" y="168"/>
                            <a:pt x="318" y="168"/>
                            <a:pt x="318" y="168"/>
                          </a:cubicBezTo>
                          <a:cubicBezTo>
                            <a:pt x="319" y="167"/>
                            <a:pt x="319" y="166"/>
                            <a:pt x="320" y="165"/>
                          </a:cubicBezTo>
                          <a:close/>
                        </a:path>
                      </a:pathLst>
                    </a:custGeom>
                    <a:solidFill>
                      <a:sysClr val="windowText" lastClr="000000">
                        <a:lumMod val="50000"/>
                        <a:lumOff val="50000"/>
                      </a:sys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prstClr val="black"/>
                        </a:solidFill>
                        <a:effectLst/>
                        <a:uLnTx/>
                        <a:uFillTx/>
                        <a:latin typeface="Calibri"/>
                      </a:endParaRPr>
                    </a:p>
                  </p:txBody>
                </p:sp>
                <p:sp>
                  <p:nvSpPr>
                    <p:cNvPr id="207" name="Freeform 255">
                      <a:extLst>
                        <a:ext uri="{FF2B5EF4-FFF2-40B4-BE49-F238E27FC236}">
                          <a16:creationId xmlns:a16="http://schemas.microsoft.com/office/drawing/2014/main" id="{324CAE8B-1AC0-493F-9E51-A97435952022}"/>
                        </a:ext>
                      </a:extLst>
                    </p:cNvPr>
                    <p:cNvSpPr>
                      <a:spLocks noEditPoints="1"/>
                    </p:cNvSpPr>
                    <p:nvPr/>
                  </p:nvSpPr>
                  <p:spPr bwMode="auto">
                    <a:xfrm>
                      <a:off x="4266" y="182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Text" lastClr="000000">
                        <a:lumMod val="50000"/>
                        <a:lumOff val="50000"/>
                      </a:sysClr>
                    </a:solidFill>
                    <a:ln>
                      <a:solidFill>
                        <a:sysClr val="windowText" lastClr="000000">
                          <a:lumMod val="50000"/>
                          <a:lumOff val="50000"/>
                        </a:sys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prstClr val="black"/>
                        </a:solidFill>
                        <a:effectLst/>
                        <a:uLnTx/>
                        <a:uFillTx/>
                        <a:latin typeface="Calibri"/>
                      </a:endParaRPr>
                    </a:p>
                  </p:txBody>
                </p:sp>
              </p:grpSp>
              <p:sp>
                <p:nvSpPr>
                  <p:cNvPr id="205" name="TextBox 204">
                    <a:extLst>
                      <a:ext uri="{FF2B5EF4-FFF2-40B4-BE49-F238E27FC236}">
                        <a16:creationId xmlns:a16="http://schemas.microsoft.com/office/drawing/2014/main" id="{40B3EE0A-E0E2-4305-AA70-2367C3010340}"/>
                      </a:ext>
                    </a:extLst>
                  </p:cNvPr>
                  <p:cNvSpPr txBox="1"/>
                  <p:nvPr/>
                </p:nvSpPr>
                <p:spPr>
                  <a:xfrm>
                    <a:off x="7150915" y="2275351"/>
                    <a:ext cx="1010160" cy="369332"/>
                  </a:xfrm>
                  <a:prstGeom prst="rect">
                    <a:avLst/>
                  </a:prstGeom>
                  <a:noFill/>
                </p:spPr>
                <p:txBody>
                  <a:bodyPr wrap="square" lIns="0" tIns="0" rIns="0" bIns="0" rtlCol="0" anchor="ctr">
                    <a:spAutoFit/>
                  </a:bodyPr>
                  <a:lstStyle>
                    <a:defPPr>
                      <a:defRPr lang="en-US"/>
                    </a:defPPr>
                    <a:lvl2pPr marL="101600" marR="0" lvl="1" algn="ctr" fontAlgn="auto">
                      <a:lnSpc>
                        <a:spcPct val="100000"/>
                      </a:lnSpc>
                      <a:spcBef>
                        <a:spcPts val="600"/>
                      </a:spcBef>
                      <a:spcAft>
                        <a:spcPts val="0"/>
                      </a:spcAft>
                      <a:buClrTx/>
                      <a:buSzPct val="65000"/>
                      <a:tabLst/>
                      <a:defRPr sz="700" i="1">
                        <a:solidFill>
                          <a:schemeClr val="tx2"/>
                        </a:solidFill>
                        <a:latin typeface="Verdana"/>
                        <a:ea typeface="Calibri" pitchFamily="34" charset="0"/>
                        <a:cs typeface="Arial" pitchFamily="34" charset="0"/>
                      </a:defRPr>
                    </a:lvl2pPr>
                  </a:lstStyle>
                  <a:p>
                    <a:pPr marL="101600" marR="0" lvl="1" indent="0" algn="ctr" defTabSz="914400" eaLnBrk="1" fontAlgn="auto" latinLnBrk="0" hangingPunct="1">
                      <a:lnSpc>
                        <a:spcPct val="100000"/>
                      </a:lnSpc>
                      <a:spcBef>
                        <a:spcPts val="600"/>
                      </a:spcBef>
                      <a:spcAft>
                        <a:spcPts val="0"/>
                      </a:spcAft>
                      <a:buClrTx/>
                      <a:buSzPct val="65000"/>
                      <a:buFontTx/>
                      <a:buNone/>
                      <a:tabLst/>
                      <a:defRPr/>
                    </a:pPr>
                    <a:r>
                      <a:rPr kumimoji="0" lang="en-US" sz="800" b="0" i="1" u="none" strike="noStrike" kern="0" cap="none" spc="0" normalizeH="0" baseline="0" noProof="0" dirty="0">
                        <a:ln>
                          <a:noFill/>
                        </a:ln>
                        <a:solidFill>
                          <a:schemeClr val="tx1"/>
                        </a:solidFill>
                        <a:effectLst/>
                        <a:uLnTx/>
                        <a:uFillTx/>
                        <a:latin typeface="Calibri"/>
                        <a:cs typeface="Arial" pitchFamily="34" charset="0"/>
                      </a:rPr>
                      <a:t>Cross Functional Team with experience in Corporatization</a:t>
                    </a:r>
                  </a:p>
                </p:txBody>
              </p:sp>
              <p:sp>
                <p:nvSpPr>
                  <p:cNvPr id="202" name="Freeform 255">
                    <a:extLst>
                      <a:ext uri="{FF2B5EF4-FFF2-40B4-BE49-F238E27FC236}">
                        <a16:creationId xmlns:a16="http://schemas.microsoft.com/office/drawing/2014/main" id="{11492AD3-EC18-4C97-88EA-62C8848F5B17}"/>
                      </a:ext>
                    </a:extLst>
                  </p:cNvPr>
                  <p:cNvSpPr>
                    <a:spLocks noEditPoints="1"/>
                  </p:cNvSpPr>
                  <p:nvPr/>
                </p:nvSpPr>
                <p:spPr bwMode="auto">
                  <a:xfrm>
                    <a:off x="8354140" y="2254277"/>
                    <a:ext cx="411480" cy="41148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Text" lastClr="000000">
                      <a:lumMod val="50000"/>
                      <a:lumOff val="50000"/>
                    </a:sysClr>
                  </a:solidFill>
                  <a:ln>
                    <a:solidFill>
                      <a:sysClr val="windowText" lastClr="000000">
                        <a:lumMod val="50000"/>
                        <a:lumOff val="50000"/>
                      </a:sys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36000" tIns="36000" rIns="36000" bIns="3600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prstClr val="white">
                            <a:lumMod val="50000"/>
                          </a:prstClr>
                        </a:solidFill>
                        <a:effectLst/>
                        <a:uLnTx/>
                        <a:uFillTx/>
                        <a:latin typeface="Calibri"/>
                      </a:rPr>
                      <a:t>500+</a:t>
                    </a:r>
                  </a:p>
                </p:txBody>
              </p:sp>
              <p:sp>
                <p:nvSpPr>
                  <p:cNvPr id="203" name="TextBox 202">
                    <a:extLst>
                      <a:ext uri="{FF2B5EF4-FFF2-40B4-BE49-F238E27FC236}">
                        <a16:creationId xmlns:a16="http://schemas.microsoft.com/office/drawing/2014/main" id="{B3DCEE0B-AD08-4C25-998D-7C922585CD46}"/>
                      </a:ext>
                    </a:extLst>
                  </p:cNvPr>
                  <p:cNvSpPr txBox="1"/>
                  <p:nvPr/>
                </p:nvSpPr>
                <p:spPr>
                  <a:xfrm>
                    <a:off x="8638963" y="2275351"/>
                    <a:ext cx="1015748" cy="369332"/>
                  </a:xfrm>
                  <a:prstGeom prst="rect">
                    <a:avLst/>
                  </a:prstGeom>
                  <a:noFill/>
                </p:spPr>
                <p:txBody>
                  <a:bodyPr wrap="square" lIns="0" tIns="0" rIns="0" bIns="0" rtlCol="0" anchor="ctr">
                    <a:spAutoFit/>
                  </a:bodyPr>
                  <a:lstStyle>
                    <a:defPPr>
                      <a:defRPr lang="en-US"/>
                    </a:defPPr>
                    <a:lvl2pPr marL="101600" marR="0" lvl="1" algn="ctr" fontAlgn="auto">
                      <a:lnSpc>
                        <a:spcPct val="100000"/>
                      </a:lnSpc>
                      <a:spcBef>
                        <a:spcPts val="600"/>
                      </a:spcBef>
                      <a:spcAft>
                        <a:spcPts val="0"/>
                      </a:spcAft>
                      <a:buClrTx/>
                      <a:buSzPct val="65000"/>
                      <a:tabLst/>
                      <a:defRPr sz="700" i="1">
                        <a:solidFill>
                          <a:schemeClr val="tx2"/>
                        </a:solidFill>
                        <a:latin typeface="Verdana"/>
                        <a:ea typeface="Calibri" pitchFamily="34" charset="0"/>
                        <a:cs typeface="Arial" pitchFamily="34" charset="0"/>
                      </a:defRPr>
                    </a:lvl2pPr>
                  </a:lstStyle>
                  <a:p>
                    <a:pPr marL="101600" marR="0" lvl="1" indent="0" algn="ctr" defTabSz="914400" eaLnBrk="1" fontAlgn="auto" latinLnBrk="0" hangingPunct="1">
                      <a:lnSpc>
                        <a:spcPct val="100000"/>
                      </a:lnSpc>
                      <a:spcBef>
                        <a:spcPts val="600"/>
                      </a:spcBef>
                      <a:spcAft>
                        <a:spcPts val="0"/>
                      </a:spcAft>
                      <a:buClrTx/>
                      <a:buSzPct val="65000"/>
                      <a:buFontTx/>
                      <a:buNone/>
                      <a:tabLst/>
                      <a:defRPr/>
                    </a:pPr>
                    <a:r>
                      <a:rPr kumimoji="0" lang="en-US" sz="800" b="0" i="1" u="none" strike="noStrike" kern="0" cap="none" spc="0" normalizeH="0" baseline="0" noProof="0" dirty="0">
                        <a:ln>
                          <a:noFill/>
                        </a:ln>
                        <a:solidFill>
                          <a:schemeClr val="tx1"/>
                        </a:solidFill>
                        <a:effectLst/>
                        <a:uLnTx/>
                        <a:uFillTx/>
                        <a:latin typeface="Calibri"/>
                        <a:cs typeface="Arial" pitchFamily="34" charset="0"/>
                      </a:rPr>
                      <a:t>Years of Combined Experience of Proposed Team</a:t>
                    </a:r>
                  </a:p>
                </p:txBody>
              </p:sp>
              <p:grpSp>
                <p:nvGrpSpPr>
                  <p:cNvPr id="198" name="Group 197">
                    <a:extLst>
                      <a:ext uri="{FF2B5EF4-FFF2-40B4-BE49-F238E27FC236}">
                        <a16:creationId xmlns:a16="http://schemas.microsoft.com/office/drawing/2014/main" id="{92F52836-2824-45D9-B2B3-E0131BB4C53D}"/>
                      </a:ext>
                    </a:extLst>
                  </p:cNvPr>
                  <p:cNvGrpSpPr/>
                  <p:nvPr/>
                </p:nvGrpSpPr>
                <p:grpSpPr>
                  <a:xfrm>
                    <a:off x="9700795" y="2254277"/>
                    <a:ext cx="411480" cy="411480"/>
                    <a:chOff x="8978888" y="5827534"/>
                    <a:chExt cx="466929" cy="466929"/>
                  </a:xfrm>
                  <a:solidFill>
                    <a:srgbClr val="00B0F0"/>
                  </a:solidFill>
                </p:grpSpPr>
                <p:sp>
                  <p:nvSpPr>
                    <p:cNvPr id="200" name="Freeform 30">
                      <a:extLst>
                        <a:ext uri="{FF2B5EF4-FFF2-40B4-BE49-F238E27FC236}">
                          <a16:creationId xmlns:a16="http://schemas.microsoft.com/office/drawing/2014/main" id="{B187514A-81A8-48AB-AB8C-B29657147EBF}"/>
                        </a:ext>
                      </a:extLst>
                    </p:cNvPr>
                    <p:cNvSpPr>
                      <a:spLocks noEditPoints="1"/>
                    </p:cNvSpPr>
                    <p:nvPr/>
                  </p:nvSpPr>
                  <p:spPr bwMode="auto">
                    <a:xfrm>
                      <a:off x="8978888" y="5827534"/>
                      <a:ext cx="466929" cy="466929"/>
                    </a:xfrm>
                    <a:custGeom>
                      <a:avLst/>
                      <a:gdLst>
                        <a:gd name="T0" fmla="*/ 97 w 194"/>
                        <a:gd name="T1" fmla="*/ 8 h 194"/>
                        <a:gd name="T2" fmla="*/ 186 w 194"/>
                        <a:gd name="T3" fmla="*/ 97 h 194"/>
                        <a:gd name="T4" fmla="*/ 97 w 194"/>
                        <a:gd name="T5" fmla="*/ 186 h 194"/>
                        <a:gd name="T6" fmla="*/ 8 w 194"/>
                        <a:gd name="T7" fmla="*/ 97 h 194"/>
                        <a:gd name="T8" fmla="*/ 97 w 194"/>
                        <a:gd name="T9" fmla="*/ 8 h 194"/>
                        <a:gd name="T10" fmla="*/ 97 w 194"/>
                        <a:gd name="T11" fmla="*/ 0 h 194"/>
                        <a:gd name="T12" fmla="*/ 0 w 194"/>
                        <a:gd name="T13" fmla="*/ 97 h 194"/>
                        <a:gd name="T14" fmla="*/ 97 w 194"/>
                        <a:gd name="T15" fmla="*/ 194 h 194"/>
                        <a:gd name="T16" fmla="*/ 194 w 194"/>
                        <a:gd name="T17" fmla="*/ 97 h 194"/>
                        <a:gd name="T18" fmla="*/ 97 w 194"/>
                        <a:gd name="T19"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194">
                          <a:moveTo>
                            <a:pt x="97" y="8"/>
                          </a:moveTo>
                          <a:cubicBezTo>
                            <a:pt x="146" y="8"/>
                            <a:pt x="186" y="48"/>
                            <a:pt x="186" y="97"/>
                          </a:cubicBezTo>
                          <a:cubicBezTo>
                            <a:pt x="186" y="146"/>
                            <a:pt x="146" y="186"/>
                            <a:pt x="97" y="186"/>
                          </a:cubicBezTo>
                          <a:cubicBezTo>
                            <a:pt x="48" y="186"/>
                            <a:pt x="8" y="146"/>
                            <a:pt x="8" y="97"/>
                          </a:cubicBezTo>
                          <a:cubicBezTo>
                            <a:pt x="8" y="48"/>
                            <a:pt x="48" y="8"/>
                            <a:pt x="97" y="8"/>
                          </a:cubicBezTo>
                          <a:moveTo>
                            <a:pt x="97" y="0"/>
                          </a:moveTo>
                          <a:cubicBezTo>
                            <a:pt x="43" y="0"/>
                            <a:pt x="0" y="43"/>
                            <a:pt x="0" y="97"/>
                          </a:cubicBezTo>
                          <a:cubicBezTo>
                            <a:pt x="0" y="151"/>
                            <a:pt x="43" y="194"/>
                            <a:pt x="97" y="194"/>
                          </a:cubicBezTo>
                          <a:cubicBezTo>
                            <a:pt x="151" y="194"/>
                            <a:pt x="194" y="151"/>
                            <a:pt x="194" y="97"/>
                          </a:cubicBezTo>
                          <a:cubicBezTo>
                            <a:pt x="194" y="43"/>
                            <a:pt x="151" y="0"/>
                            <a:pt x="97" y="0"/>
                          </a:cubicBezTo>
                          <a:close/>
                        </a:path>
                      </a:pathLst>
                    </a:custGeom>
                    <a:solidFill>
                      <a:sysClr val="windowText" lastClr="000000">
                        <a:lumMod val="50000"/>
                        <a:lumOff val="50000"/>
                      </a:sysClr>
                    </a:solidFill>
                    <a:ln>
                      <a:solidFill>
                        <a:sysClr val="windowText" lastClr="000000">
                          <a:lumMod val="50000"/>
                          <a:lumOff val="50000"/>
                        </a:sys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prstClr val="black"/>
                        </a:solidFill>
                        <a:effectLst/>
                        <a:uLnTx/>
                        <a:uFillTx/>
                        <a:latin typeface="Calibri"/>
                      </a:endParaRPr>
                    </a:p>
                  </p:txBody>
                </p:sp>
                <p:sp>
                  <p:nvSpPr>
                    <p:cNvPr id="201" name="Freeform 31">
                      <a:extLst>
                        <a:ext uri="{FF2B5EF4-FFF2-40B4-BE49-F238E27FC236}">
                          <a16:creationId xmlns:a16="http://schemas.microsoft.com/office/drawing/2014/main" id="{7F9042E3-2F7B-4527-A44C-5CBAAF58F950}"/>
                        </a:ext>
                      </a:extLst>
                    </p:cNvPr>
                    <p:cNvSpPr>
                      <a:spLocks noEditPoints="1"/>
                    </p:cNvSpPr>
                    <p:nvPr/>
                  </p:nvSpPr>
                  <p:spPr bwMode="auto">
                    <a:xfrm>
                      <a:off x="9060700" y="5937921"/>
                      <a:ext cx="303304" cy="257410"/>
                    </a:xfrm>
                    <a:custGeom>
                      <a:avLst/>
                      <a:gdLst>
                        <a:gd name="T0" fmla="*/ 91 w 126"/>
                        <a:gd name="T1" fmla="*/ 19 h 107"/>
                        <a:gd name="T2" fmla="*/ 87 w 126"/>
                        <a:gd name="T3" fmla="*/ 0 h 107"/>
                        <a:gd name="T4" fmla="*/ 35 w 126"/>
                        <a:gd name="T5" fmla="*/ 6 h 107"/>
                        <a:gd name="T6" fmla="*/ 6 w 126"/>
                        <a:gd name="T7" fmla="*/ 19 h 107"/>
                        <a:gd name="T8" fmla="*/ 0 w 126"/>
                        <a:gd name="T9" fmla="*/ 104 h 107"/>
                        <a:gd name="T10" fmla="*/ 120 w 126"/>
                        <a:gd name="T11" fmla="*/ 107 h 107"/>
                        <a:gd name="T12" fmla="*/ 126 w 126"/>
                        <a:gd name="T13" fmla="*/ 22 h 107"/>
                        <a:gd name="T14" fmla="*/ 35 w 126"/>
                        <a:gd name="T15" fmla="*/ 100 h 107"/>
                        <a:gd name="T16" fmla="*/ 26 w 126"/>
                        <a:gd name="T17" fmla="*/ 87 h 107"/>
                        <a:gd name="T18" fmla="*/ 19 w 126"/>
                        <a:gd name="T19" fmla="*/ 87 h 107"/>
                        <a:gd name="T20" fmla="*/ 11 w 126"/>
                        <a:gd name="T21" fmla="*/ 100 h 107"/>
                        <a:gd name="T22" fmla="*/ 35 w 126"/>
                        <a:gd name="T23" fmla="*/ 26 h 107"/>
                        <a:gd name="T24" fmla="*/ 83 w 126"/>
                        <a:gd name="T25" fmla="*/ 100 h 107"/>
                        <a:gd name="T26" fmla="*/ 58 w 126"/>
                        <a:gd name="T27" fmla="*/ 87 h 107"/>
                        <a:gd name="T28" fmla="*/ 52 w 126"/>
                        <a:gd name="T29" fmla="*/ 87 h 107"/>
                        <a:gd name="T30" fmla="*/ 43 w 126"/>
                        <a:gd name="T31" fmla="*/ 100 h 107"/>
                        <a:gd name="T32" fmla="*/ 83 w 126"/>
                        <a:gd name="T33" fmla="*/ 11 h 107"/>
                        <a:gd name="T34" fmla="*/ 115 w 126"/>
                        <a:gd name="T35" fmla="*/ 100 h 107"/>
                        <a:gd name="T36" fmla="*/ 107 w 126"/>
                        <a:gd name="T37" fmla="*/ 87 h 107"/>
                        <a:gd name="T38" fmla="*/ 100 w 126"/>
                        <a:gd name="T39" fmla="*/ 87 h 107"/>
                        <a:gd name="T40" fmla="*/ 91 w 126"/>
                        <a:gd name="T41" fmla="*/ 100 h 107"/>
                        <a:gd name="T42" fmla="*/ 115 w 126"/>
                        <a:gd name="T43" fmla="*/ 26 h 107"/>
                        <a:gd name="T44" fmla="*/ 18 w 126"/>
                        <a:gd name="T45" fmla="*/ 71 h 107"/>
                        <a:gd name="T46" fmla="*/ 26 w 126"/>
                        <a:gd name="T47" fmla="*/ 71 h 107"/>
                        <a:gd name="T48" fmla="*/ 18 w 126"/>
                        <a:gd name="T49" fmla="*/ 71 h 107"/>
                        <a:gd name="T50" fmla="*/ 22 w 126"/>
                        <a:gd name="T51" fmla="*/ 51 h 107"/>
                        <a:gd name="T52" fmla="*/ 22 w 126"/>
                        <a:gd name="T53" fmla="*/ 59 h 107"/>
                        <a:gd name="T54" fmla="*/ 18 w 126"/>
                        <a:gd name="T55" fmla="*/ 39 h 107"/>
                        <a:gd name="T56" fmla="*/ 26 w 126"/>
                        <a:gd name="T57" fmla="*/ 39 h 107"/>
                        <a:gd name="T58" fmla="*/ 18 w 126"/>
                        <a:gd name="T59" fmla="*/ 39 h 107"/>
                        <a:gd name="T60" fmla="*/ 55 w 126"/>
                        <a:gd name="T61" fmla="*/ 67 h 107"/>
                        <a:gd name="T62" fmla="*/ 55 w 126"/>
                        <a:gd name="T63" fmla="*/ 75 h 107"/>
                        <a:gd name="T64" fmla="*/ 51 w 126"/>
                        <a:gd name="T65" fmla="*/ 55 h 107"/>
                        <a:gd name="T66" fmla="*/ 59 w 126"/>
                        <a:gd name="T67" fmla="*/ 55 h 107"/>
                        <a:gd name="T68" fmla="*/ 51 w 126"/>
                        <a:gd name="T69" fmla="*/ 55 h 107"/>
                        <a:gd name="T70" fmla="*/ 55 w 126"/>
                        <a:gd name="T71" fmla="*/ 35 h 107"/>
                        <a:gd name="T72" fmla="*/ 55 w 126"/>
                        <a:gd name="T73" fmla="*/ 43 h 107"/>
                        <a:gd name="T74" fmla="*/ 67 w 126"/>
                        <a:gd name="T75" fmla="*/ 71 h 107"/>
                        <a:gd name="T76" fmla="*/ 75 w 126"/>
                        <a:gd name="T77" fmla="*/ 71 h 107"/>
                        <a:gd name="T78" fmla="*/ 67 w 126"/>
                        <a:gd name="T79" fmla="*/ 71 h 107"/>
                        <a:gd name="T80" fmla="*/ 71 w 126"/>
                        <a:gd name="T81" fmla="*/ 51 h 107"/>
                        <a:gd name="T82" fmla="*/ 71 w 126"/>
                        <a:gd name="T83" fmla="*/ 59 h 107"/>
                        <a:gd name="T84" fmla="*/ 67 w 126"/>
                        <a:gd name="T85" fmla="*/ 39 h 107"/>
                        <a:gd name="T86" fmla="*/ 75 w 126"/>
                        <a:gd name="T87" fmla="*/ 39 h 107"/>
                        <a:gd name="T88" fmla="*/ 67 w 126"/>
                        <a:gd name="T89" fmla="*/ 39 h 107"/>
                        <a:gd name="T90" fmla="*/ 104 w 126"/>
                        <a:gd name="T91" fmla="*/ 67 h 107"/>
                        <a:gd name="T92" fmla="*/ 104 w 126"/>
                        <a:gd name="T93" fmla="*/ 75 h 107"/>
                        <a:gd name="T94" fmla="*/ 100 w 126"/>
                        <a:gd name="T95" fmla="*/ 55 h 107"/>
                        <a:gd name="T96" fmla="*/ 108 w 126"/>
                        <a:gd name="T97" fmla="*/ 55 h 107"/>
                        <a:gd name="T98" fmla="*/ 100 w 126"/>
                        <a:gd name="T99" fmla="*/ 55 h 107"/>
                        <a:gd name="T100" fmla="*/ 104 w 126"/>
                        <a:gd name="T101" fmla="*/ 35 h 107"/>
                        <a:gd name="T102" fmla="*/ 104 w 126"/>
                        <a:gd name="T103" fmla="*/ 43 h 107"/>
                        <a:gd name="T104" fmla="*/ 51 w 126"/>
                        <a:gd name="T105" fmla="*/ 22 h 107"/>
                        <a:gd name="T106" fmla="*/ 59 w 126"/>
                        <a:gd name="T107" fmla="*/ 22 h 107"/>
                        <a:gd name="T108" fmla="*/ 51 w 126"/>
                        <a:gd name="T109" fmla="*/ 22 h 107"/>
                        <a:gd name="T110" fmla="*/ 71 w 126"/>
                        <a:gd name="T111" fmla="*/ 18 h 107"/>
                        <a:gd name="T112" fmla="*/ 71 w 126"/>
                        <a:gd name="T113" fmla="*/ 26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6" h="107">
                          <a:moveTo>
                            <a:pt x="120" y="19"/>
                          </a:moveTo>
                          <a:cubicBezTo>
                            <a:pt x="91" y="19"/>
                            <a:pt x="91" y="19"/>
                            <a:pt x="91" y="19"/>
                          </a:cubicBezTo>
                          <a:cubicBezTo>
                            <a:pt x="91" y="6"/>
                            <a:pt x="91" y="6"/>
                            <a:pt x="91" y="6"/>
                          </a:cubicBezTo>
                          <a:cubicBezTo>
                            <a:pt x="91" y="4"/>
                            <a:pt x="90" y="0"/>
                            <a:pt x="87" y="0"/>
                          </a:cubicBezTo>
                          <a:cubicBezTo>
                            <a:pt x="39" y="0"/>
                            <a:pt x="39" y="0"/>
                            <a:pt x="39" y="0"/>
                          </a:cubicBezTo>
                          <a:cubicBezTo>
                            <a:pt x="36" y="0"/>
                            <a:pt x="35" y="4"/>
                            <a:pt x="35" y="6"/>
                          </a:cubicBezTo>
                          <a:cubicBezTo>
                            <a:pt x="35" y="19"/>
                            <a:pt x="35" y="19"/>
                            <a:pt x="35" y="19"/>
                          </a:cubicBezTo>
                          <a:cubicBezTo>
                            <a:pt x="6" y="19"/>
                            <a:pt x="6" y="19"/>
                            <a:pt x="6" y="19"/>
                          </a:cubicBezTo>
                          <a:cubicBezTo>
                            <a:pt x="4" y="19"/>
                            <a:pt x="0" y="20"/>
                            <a:pt x="0" y="22"/>
                          </a:cubicBezTo>
                          <a:cubicBezTo>
                            <a:pt x="0" y="104"/>
                            <a:pt x="0" y="104"/>
                            <a:pt x="0" y="104"/>
                          </a:cubicBezTo>
                          <a:cubicBezTo>
                            <a:pt x="0" y="106"/>
                            <a:pt x="4" y="107"/>
                            <a:pt x="6" y="107"/>
                          </a:cubicBezTo>
                          <a:cubicBezTo>
                            <a:pt x="120" y="107"/>
                            <a:pt x="120" y="107"/>
                            <a:pt x="120" y="107"/>
                          </a:cubicBezTo>
                          <a:cubicBezTo>
                            <a:pt x="122" y="107"/>
                            <a:pt x="126" y="106"/>
                            <a:pt x="126" y="104"/>
                          </a:cubicBezTo>
                          <a:cubicBezTo>
                            <a:pt x="126" y="22"/>
                            <a:pt x="126" y="22"/>
                            <a:pt x="126" y="22"/>
                          </a:cubicBezTo>
                          <a:cubicBezTo>
                            <a:pt x="126" y="20"/>
                            <a:pt x="122" y="19"/>
                            <a:pt x="120" y="19"/>
                          </a:cubicBezTo>
                          <a:close/>
                          <a:moveTo>
                            <a:pt x="35" y="100"/>
                          </a:moveTo>
                          <a:cubicBezTo>
                            <a:pt x="26" y="100"/>
                            <a:pt x="26" y="100"/>
                            <a:pt x="26" y="100"/>
                          </a:cubicBezTo>
                          <a:cubicBezTo>
                            <a:pt x="26" y="87"/>
                            <a:pt x="26" y="87"/>
                            <a:pt x="26" y="87"/>
                          </a:cubicBezTo>
                          <a:cubicBezTo>
                            <a:pt x="26" y="85"/>
                            <a:pt x="25" y="83"/>
                            <a:pt x="22" y="83"/>
                          </a:cubicBezTo>
                          <a:cubicBezTo>
                            <a:pt x="20" y="83"/>
                            <a:pt x="19" y="85"/>
                            <a:pt x="19" y="87"/>
                          </a:cubicBezTo>
                          <a:cubicBezTo>
                            <a:pt x="19" y="100"/>
                            <a:pt x="19" y="100"/>
                            <a:pt x="19" y="100"/>
                          </a:cubicBezTo>
                          <a:cubicBezTo>
                            <a:pt x="11" y="100"/>
                            <a:pt x="11" y="100"/>
                            <a:pt x="11" y="100"/>
                          </a:cubicBezTo>
                          <a:cubicBezTo>
                            <a:pt x="11" y="26"/>
                            <a:pt x="11" y="26"/>
                            <a:pt x="11" y="26"/>
                          </a:cubicBezTo>
                          <a:cubicBezTo>
                            <a:pt x="35" y="26"/>
                            <a:pt x="35" y="26"/>
                            <a:pt x="35" y="26"/>
                          </a:cubicBezTo>
                          <a:lnTo>
                            <a:pt x="35" y="100"/>
                          </a:lnTo>
                          <a:close/>
                          <a:moveTo>
                            <a:pt x="83" y="100"/>
                          </a:moveTo>
                          <a:cubicBezTo>
                            <a:pt x="58" y="100"/>
                            <a:pt x="58" y="100"/>
                            <a:pt x="58" y="100"/>
                          </a:cubicBezTo>
                          <a:cubicBezTo>
                            <a:pt x="58" y="87"/>
                            <a:pt x="58" y="87"/>
                            <a:pt x="58" y="87"/>
                          </a:cubicBezTo>
                          <a:cubicBezTo>
                            <a:pt x="58" y="85"/>
                            <a:pt x="57" y="83"/>
                            <a:pt x="55" y="83"/>
                          </a:cubicBezTo>
                          <a:cubicBezTo>
                            <a:pt x="53" y="83"/>
                            <a:pt x="52" y="85"/>
                            <a:pt x="52" y="87"/>
                          </a:cubicBezTo>
                          <a:cubicBezTo>
                            <a:pt x="52" y="100"/>
                            <a:pt x="52" y="100"/>
                            <a:pt x="52" y="100"/>
                          </a:cubicBezTo>
                          <a:cubicBezTo>
                            <a:pt x="43" y="100"/>
                            <a:pt x="43" y="100"/>
                            <a:pt x="43" y="100"/>
                          </a:cubicBezTo>
                          <a:cubicBezTo>
                            <a:pt x="43" y="11"/>
                            <a:pt x="43" y="11"/>
                            <a:pt x="43" y="11"/>
                          </a:cubicBezTo>
                          <a:cubicBezTo>
                            <a:pt x="83" y="11"/>
                            <a:pt x="83" y="11"/>
                            <a:pt x="83" y="11"/>
                          </a:cubicBezTo>
                          <a:lnTo>
                            <a:pt x="83" y="100"/>
                          </a:lnTo>
                          <a:close/>
                          <a:moveTo>
                            <a:pt x="115" y="100"/>
                          </a:moveTo>
                          <a:cubicBezTo>
                            <a:pt x="107" y="100"/>
                            <a:pt x="107" y="100"/>
                            <a:pt x="107" y="100"/>
                          </a:cubicBezTo>
                          <a:cubicBezTo>
                            <a:pt x="107" y="87"/>
                            <a:pt x="107" y="87"/>
                            <a:pt x="107" y="87"/>
                          </a:cubicBezTo>
                          <a:cubicBezTo>
                            <a:pt x="107" y="85"/>
                            <a:pt x="106" y="83"/>
                            <a:pt x="104" y="83"/>
                          </a:cubicBezTo>
                          <a:cubicBezTo>
                            <a:pt x="101" y="83"/>
                            <a:pt x="100" y="85"/>
                            <a:pt x="100" y="87"/>
                          </a:cubicBezTo>
                          <a:cubicBezTo>
                            <a:pt x="100" y="100"/>
                            <a:pt x="100" y="100"/>
                            <a:pt x="100" y="100"/>
                          </a:cubicBezTo>
                          <a:cubicBezTo>
                            <a:pt x="91" y="100"/>
                            <a:pt x="91" y="100"/>
                            <a:pt x="91" y="100"/>
                          </a:cubicBezTo>
                          <a:cubicBezTo>
                            <a:pt x="91" y="26"/>
                            <a:pt x="91" y="26"/>
                            <a:pt x="91" y="26"/>
                          </a:cubicBezTo>
                          <a:cubicBezTo>
                            <a:pt x="115" y="26"/>
                            <a:pt x="115" y="26"/>
                            <a:pt x="115" y="26"/>
                          </a:cubicBezTo>
                          <a:lnTo>
                            <a:pt x="115" y="100"/>
                          </a:lnTo>
                          <a:close/>
                          <a:moveTo>
                            <a:pt x="18" y="71"/>
                          </a:moveTo>
                          <a:cubicBezTo>
                            <a:pt x="18" y="69"/>
                            <a:pt x="20" y="67"/>
                            <a:pt x="22" y="67"/>
                          </a:cubicBezTo>
                          <a:cubicBezTo>
                            <a:pt x="25" y="67"/>
                            <a:pt x="26" y="69"/>
                            <a:pt x="26" y="71"/>
                          </a:cubicBezTo>
                          <a:cubicBezTo>
                            <a:pt x="26" y="73"/>
                            <a:pt x="25" y="75"/>
                            <a:pt x="22" y="75"/>
                          </a:cubicBezTo>
                          <a:cubicBezTo>
                            <a:pt x="20" y="75"/>
                            <a:pt x="18" y="73"/>
                            <a:pt x="18" y="71"/>
                          </a:cubicBezTo>
                          <a:close/>
                          <a:moveTo>
                            <a:pt x="18" y="55"/>
                          </a:moveTo>
                          <a:cubicBezTo>
                            <a:pt x="18" y="53"/>
                            <a:pt x="20" y="51"/>
                            <a:pt x="22" y="51"/>
                          </a:cubicBezTo>
                          <a:cubicBezTo>
                            <a:pt x="25" y="51"/>
                            <a:pt x="26" y="53"/>
                            <a:pt x="26" y="55"/>
                          </a:cubicBezTo>
                          <a:cubicBezTo>
                            <a:pt x="26" y="57"/>
                            <a:pt x="25" y="59"/>
                            <a:pt x="22" y="59"/>
                          </a:cubicBezTo>
                          <a:cubicBezTo>
                            <a:pt x="20" y="59"/>
                            <a:pt x="18" y="57"/>
                            <a:pt x="18" y="55"/>
                          </a:cubicBezTo>
                          <a:close/>
                          <a:moveTo>
                            <a:pt x="18" y="39"/>
                          </a:moveTo>
                          <a:cubicBezTo>
                            <a:pt x="18" y="36"/>
                            <a:pt x="20" y="35"/>
                            <a:pt x="22" y="35"/>
                          </a:cubicBezTo>
                          <a:cubicBezTo>
                            <a:pt x="25" y="35"/>
                            <a:pt x="26" y="36"/>
                            <a:pt x="26" y="39"/>
                          </a:cubicBezTo>
                          <a:cubicBezTo>
                            <a:pt x="26" y="41"/>
                            <a:pt x="25" y="43"/>
                            <a:pt x="22" y="43"/>
                          </a:cubicBezTo>
                          <a:cubicBezTo>
                            <a:pt x="20" y="43"/>
                            <a:pt x="18" y="41"/>
                            <a:pt x="18" y="39"/>
                          </a:cubicBezTo>
                          <a:close/>
                          <a:moveTo>
                            <a:pt x="51" y="71"/>
                          </a:moveTo>
                          <a:cubicBezTo>
                            <a:pt x="51" y="69"/>
                            <a:pt x="53" y="67"/>
                            <a:pt x="55" y="67"/>
                          </a:cubicBezTo>
                          <a:cubicBezTo>
                            <a:pt x="57" y="67"/>
                            <a:pt x="59" y="69"/>
                            <a:pt x="59" y="71"/>
                          </a:cubicBezTo>
                          <a:cubicBezTo>
                            <a:pt x="59" y="73"/>
                            <a:pt x="57" y="75"/>
                            <a:pt x="55" y="75"/>
                          </a:cubicBezTo>
                          <a:cubicBezTo>
                            <a:pt x="53" y="75"/>
                            <a:pt x="51" y="73"/>
                            <a:pt x="51" y="71"/>
                          </a:cubicBezTo>
                          <a:close/>
                          <a:moveTo>
                            <a:pt x="51" y="55"/>
                          </a:moveTo>
                          <a:cubicBezTo>
                            <a:pt x="51" y="53"/>
                            <a:pt x="53" y="51"/>
                            <a:pt x="55" y="51"/>
                          </a:cubicBezTo>
                          <a:cubicBezTo>
                            <a:pt x="57" y="51"/>
                            <a:pt x="59" y="53"/>
                            <a:pt x="59" y="55"/>
                          </a:cubicBezTo>
                          <a:cubicBezTo>
                            <a:pt x="59" y="57"/>
                            <a:pt x="57" y="59"/>
                            <a:pt x="55" y="59"/>
                          </a:cubicBezTo>
                          <a:cubicBezTo>
                            <a:pt x="53" y="59"/>
                            <a:pt x="51" y="57"/>
                            <a:pt x="51" y="55"/>
                          </a:cubicBezTo>
                          <a:close/>
                          <a:moveTo>
                            <a:pt x="51" y="39"/>
                          </a:moveTo>
                          <a:cubicBezTo>
                            <a:pt x="51" y="36"/>
                            <a:pt x="53" y="35"/>
                            <a:pt x="55" y="35"/>
                          </a:cubicBezTo>
                          <a:cubicBezTo>
                            <a:pt x="57" y="35"/>
                            <a:pt x="59" y="36"/>
                            <a:pt x="59" y="39"/>
                          </a:cubicBezTo>
                          <a:cubicBezTo>
                            <a:pt x="59" y="41"/>
                            <a:pt x="57" y="43"/>
                            <a:pt x="55" y="43"/>
                          </a:cubicBezTo>
                          <a:cubicBezTo>
                            <a:pt x="53" y="43"/>
                            <a:pt x="51" y="41"/>
                            <a:pt x="51" y="39"/>
                          </a:cubicBezTo>
                          <a:close/>
                          <a:moveTo>
                            <a:pt x="67" y="71"/>
                          </a:moveTo>
                          <a:cubicBezTo>
                            <a:pt x="67" y="69"/>
                            <a:pt x="69" y="67"/>
                            <a:pt x="71" y="67"/>
                          </a:cubicBezTo>
                          <a:cubicBezTo>
                            <a:pt x="73" y="67"/>
                            <a:pt x="75" y="69"/>
                            <a:pt x="75" y="71"/>
                          </a:cubicBezTo>
                          <a:cubicBezTo>
                            <a:pt x="75" y="73"/>
                            <a:pt x="73" y="75"/>
                            <a:pt x="71" y="75"/>
                          </a:cubicBezTo>
                          <a:cubicBezTo>
                            <a:pt x="69" y="75"/>
                            <a:pt x="67" y="73"/>
                            <a:pt x="67" y="71"/>
                          </a:cubicBezTo>
                          <a:close/>
                          <a:moveTo>
                            <a:pt x="67" y="55"/>
                          </a:moveTo>
                          <a:cubicBezTo>
                            <a:pt x="67" y="53"/>
                            <a:pt x="69" y="51"/>
                            <a:pt x="71" y="51"/>
                          </a:cubicBezTo>
                          <a:cubicBezTo>
                            <a:pt x="73" y="51"/>
                            <a:pt x="75" y="53"/>
                            <a:pt x="75" y="55"/>
                          </a:cubicBezTo>
                          <a:cubicBezTo>
                            <a:pt x="75" y="57"/>
                            <a:pt x="73" y="59"/>
                            <a:pt x="71" y="59"/>
                          </a:cubicBezTo>
                          <a:cubicBezTo>
                            <a:pt x="69" y="59"/>
                            <a:pt x="67" y="57"/>
                            <a:pt x="67" y="55"/>
                          </a:cubicBezTo>
                          <a:close/>
                          <a:moveTo>
                            <a:pt x="67" y="39"/>
                          </a:moveTo>
                          <a:cubicBezTo>
                            <a:pt x="67" y="36"/>
                            <a:pt x="69" y="35"/>
                            <a:pt x="71" y="35"/>
                          </a:cubicBezTo>
                          <a:cubicBezTo>
                            <a:pt x="73" y="35"/>
                            <a:pt x="75" y="36"/>
                            <a:pt x="75" y="39"/>
                          </a:cubicBezTo>
                          <a:cubicBezTo>
                            <a:pt x="75" y="41"/>
                            <a:pt x="73" y="43"/>
                            <a:pt x="71" y="43"/>
                          </a:cubicBezTo>
                          <a:cubicBezTo>
                            <a:pt x="69" y="43"/>
                            <a:pt x="67" y="41"/>
                            <a:pt x="67" y="39"/>
                          </a:cubicBezTo>
                          <a:close/>
                          <a:moveTo>
                            <a:pt x="100" y="71"/>
                          </a:moveTo>
                          <a:cubicBezTo>
                            <a:pt x="100" y="69"/>
                            <a:pt x="101" y="67"/>
                            <a:pt x="104" y="67"/>
                          </a:cubicBezTo>
                          <a:cubicBezTo>
                            <a:pt x="106" y="67"/>
                            <a:pt x="108" y="69"/>
                            <a:pt x="108" y="71"/>
                          </a:cubicBezTo>
                          <a:cubicBezTo>
                            <a:pt x="108" y="73"/>
                            <a:pt x="106" y="75"/>
                            <a:pt x="104" y="75"/>
                          </a:cubicBezTo>
                          <a:cubicBezTo>
                            <a:pt x="101" y="75"/>
                            <a:pt x="100" y="73"/>
                            <a:pt x="100" y="71"/>
                          </a:cubicBezTo>
                          <a:close/>
                          <a:moveTo>
                            <a:pt x="100" y="55"/>
                          </a:moveTo>
                          <a:cubicBezTo>
                            <a:pt x="100" y="53"/>
                            <a:pt x="101" y="51"/>
                            <a:pt x="104" y="51"/>
                          </a:cubicBezTo>
                          <a:cubicBezTo>
                            <a:pt x="106" y="51"/>
                            <a:pt x="108" y="53"/>
                            <a:pt x="108" y="55"/>
                          </a:cubicBezTo>
                          <a:cubicBezTo>
                            <a:pt x="108" y="57"/>
                            <a:pt x="106" y="59"/>
                            <a:pt x="104" y="59"/>
                          </a:cubicBezTo>
                          <a:cubicBezTo>
                            <a:pt x="101" y="59"/>
                            <a:pt x="100" y="57"/>
                            <a:pt x="100" y="55"/>
                          </a:cubicBezTo>
                          <a:close/>
                          <a:moveTo>
                            <a:pt x="100" y="39"/>
                          </a:moveTo>
                          <a:cubicBezTo>
                            <a:pt x="100" y="36"/>
                            <a:pt x="101" y="35"/>
                            <a:pt x="104" y="35"/>
                          </a:cubicBezTo>
                          <a:cubicBezTo>
                            <a:pt x="106" y="35"/>
                            <a:pt x="108" y="36"/>
                            <a:pt x="108" y="39"/>
                          </a:cubicBezTo>
                          <a:cubicBezTo>
                            <a:pt x="108" y="41"/>
                            <a:pt x="106" y="43"/>
                            <a:pt x="104" y="43"/>
                          </a:cubicBezTo>
                          <a:cubicBezTo>
                            <a:pt x="101" y="43"/>
                            <a:pt x="100" y="41"/>
                            <a:pt x="100" y="39"/>
                          </a:cubicBezTo>
                          <a:close/>
                          <a:moveTo>
                            <a:pt x="51" y="22"/>
                          </a:moveTo>
                          <a:cubicBezTo>
                            <a:pt x="51" y="20"/>
                            <a:pt x="53" y="18"/>
                            <a:pt x="55" y="18"/>
                          </a:cubicBezTo>
                          <a:cubicBezTo>
                            <a:pt x="57" y="18"/>
                            <a:pt x="59" y="20"/>
                            <a:pt x="59" y="22"/>
                          </a:cubicBezTo>
                          <a:cubicBezTo>
                            <a:pt x="59" y="25"/>
                            <a:pt x="57" y="26"/>
                            <a:pt x="55" y="26"/>
                          </a:cubicBezTo>
                          <a:cubicBezTo>
                            <a:pt x="53" y="26"/>
                            <a:pt x="51" y="25"/>
                            <a:pt x="51" y="22"/>
                          </a:cubicBezTo>
                          <a:close/>
                          <a:moveTo>
                            <a:pt x="67" y="22"/>
                          </a:moveTo>
                          <a:cubicBezTo>
                            <a:pt x="67" y="20"/>
                            <a:pt x="69" y="18"/>
                            <a:pt x="71" y="18"/>
                          </a:cubicBezTo>
                          <a:cubicBezTo>
                            <a:pt x="73" y="18"/>
                            <a:pt x="75" y="20"/>
                            <a:pt x="75" y="22"/>
                          </a:cubicBezTo>
                          <a:cubicBezTo>
                            <a:pt x="75" y="25"/>
                            <a:pt x="73" y="26"/>
                            <a:pt x="71" y="26"/>
                          </a:cubicBezTo>
                          <a:cubicBezTo>
                            <a:pt x="69" y="26"/>
                            <a:pt x="67" y="25"/>
                            <a:pt x="67" y="22"/>
                          </a:cubicBezTo>
                          <a:close/>
                        </a:path>
                      </a:pathLst>
                    </a:custGeom>
                    <a:solidFill>
                      <a:sysClr val="windowText" lastClr="000000">
                        <a:lumMod val="50000"/>
                        <a:lumOff val="50000"/>
                      </a:sys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prstClr val="black"/>
                        </a:solidFill>
                        <a:effectLst/>
                        <a:uLnTx/>
                        <a:uFillTx/>
                        <a:latin typeface="Calibri"/>
                      </a:endParaRPr>
                    </a:p>
                  </p:txBody>
                </p:sp>
              </p:grpSp>
              <p:sp>
                <p:nvSpPr>
                  <p:cNvPr id="199" name="TextBox 198">
                    <a:extLst>
                      <a:ext uri="{FF2B5EF4-FFF2-40B4-BE49-F238E27FC236}">
                        <a16:creationId xmlns:a16="http://schemas.microsoft.com/office/drawing/2014/main" id="{1712A35E-86DA-446B-AF11-D37AAD34CF85}"/>
                      </a:ext>
                    </a:extLst>
                  </p:cNvPr>
                  <p:cNvSpPr txBox="1"/>
                  <p:nvPr/>
                </p:nvSpPr>
                <p:spPr>
                  <a:xfrm>
                    <a:off x="10057023" y="2275351"/>
                    <a:ext cx="1118905" cy="369332"/>
                  </a:xfrm>
                  <a:prstGeom prst="rect">
                    <a:avLst/>
                  </a:prstGeom>
                  <a:noFill/>
                </p:spPr>
                <p:txBody>
                  <a:bodyPr wrap="square" lIns="0" tIns="0" rIns="0" bIns="0" rtlCol="0" anchor="ctr">
                    <a:spAutoFit/>
                  </a:bodyPr>
                  <a:lstStyle>
                    <a:defPPr>
                      <a:defRPr lang="en-US"/>
                    </a:defPPr>
                    <a:lvl2pPr marL="101600" marR="0" lvl="1" algn="ctr" fontAlgn="auto">
                      <a:lnSpc>
                        <a:spcPct val="100000"/>
                      </a:lnSpc>
                      <a:spcBef>
                        <a:spcPts val="600"/>
                      </a:spcBef>
                      <a:spcAft>
                        <a:spcPts val="0"/>
                      </a:spcAft>
                      <a:buClrTx/>
                      <a:buSzPct val="65000"/>
                      <a:tabLst/>
                      <a:defRPr sz="700" i="1">
                        <a:solidFill>
                          <a:schemeClr val="tx2"/>
                        </a:solidFill>
                        <a:latin typeface="Verdana"/>
                        <a:ea typeface="Calibri" pitchFamily="34" charset="0"/>
                        <a:cs typeface="Arial" pitchFamily="34" charset="0"/>
                      </a:defRPr>
                    </a:lvl2pPr>
                  </a:lstStyle>
                  <a:p>
                    <a:pPr marL="101600" marR="0" lvl="1" indent="0" algn="ctr" defTabSz="914400" eaLnBrk="1" fontAlgn="auto" latinLnBrk="0" hangingPunct="1">
                      <a:lnSpc>
                        <a:spcPct val="100000"/>
                      </a:lnSpc>
                      <a:spcBef>
                        <a:spcPts val="600"/>
                      </a:spcBef>
                      <a:spcAft>
                        <a:spcPts val="0"/>
                      </a:spcAft>
                      <a:buClrTx/>
                      <a:buSzPct val="65000"/>
                      <a:buFontTx/>
                      <a:buNone/>
                      <a:tabLst/>
                      <a:defRPr/>
                    </a:pPr>
                    <a:r>
                      <a:rPr kumimoji="0" lang="en-US" sz="800" b="0" i="1" u="none" strike="noStrike" kern="0" cap="none" spc="0" normalizeH="0" baseline="0" noProof="0" dirty="0">
                        <a:ln>
                          <a:noFill/>
                        </a:ln>
                        <a:solidFill>
                          <a:schemeClr val="tx1"/>
                        </a:solidFill>
                        <a:effectLst/>
                        <a:uLnTx/>
                        <a:uFillTx/>
                        <a:latin typeface="Calibri"/>
                        <a:cs typeface="Arial" pitchFamily="34" charset="0"/>
                      </a:rPr>
                      <a:t>Experience with the Top PSUs and Government Boards in India</a:t>
                    </a:r>
                  </a:p>
                </p:txBody>
              </p:sp>
            </p:grpSp>
            <p:grpSp>
              <p:nvGrpSpPr>
                <p:cNvPr id="22" name="Group 21">
                  <a:extLst>
                    <a:ext uri="{FF2B5EF4-FFF2-40B4-BE49-F238E27FC236}">
                      <a16:creationId xmlns:a16="http://schemas.microsoft.com/office/drawing/2014/main" id="{2A216588-95D7-4A35-854A-C675E24EE487}"/>
                    </a:ext>
                  </a:extLst>
                </p:cNvPr>
                <p:cNvGrpSpPr/>
                <p:nvPr/>
              </p:nvGrpSpPr>
              <p:grpSpPr>
                <a:xfrm>
                  <a:off x="6973137" y="2711186"/>
                  <a:ext cx="4245940" cy="331738"/>
                  <a:chOff x="7169455" y="2711186"/>
                  <a:chExt cx="4245940" cy="331738"/>
                </a:xfrm>
              </p:grpSpPr>
              <p:pic>
                <p:nvPicPr>
                  <p:cNvPr id="174" name="Picture 173">
                    <a:extLst>
                      <a:ext uri="{FF2B5EF4-FFF2-40B4-BE49-F238E27FC236}">
                        <a16:creationId xmlns:a16="http://schemas.microsoft.com/office/drawing/2014/main" id="{D055CF35-A294-4393-BD40-32D36F8D9F7F}"/>
                      </a:ext>
                    </a:extLst>
                  </p:cNvPr>
                  <p:cNvPicPr>
                    <a:picLocks/>
                  </p:cNvPicPr>
                  <p:nvPr/>
                </p:nvPicPr>
                <p:blipFill>
                  <a:blip r:embed="rId7"/>
                  <a:stretch>
                    <a:fillRect/>
                  </a:stretch>
                </p:blipFill>
                <p:spPr>
                  <a:xfrm>
                    <a:off x="7169455" y="2711186"/>
                    <a:ext cx="434634" cy="331738"/>
                  </a:xfrm>
                  <a:prstGeom prst="rect">
                    <a:avLst/>
                  </a:prstGeom>
                </p:spPr>
              </p:pic>
              <p:sp>
                <p:nvSpPr>
                  <p:cNvPr id="175" name="TextBox 174">
                    <a:extLst>
                      <a:ext uri="{FF2B5EF4-FFF2-40B4-BE49-F238E27FC236}">
                        <a16:creationId xmlns:a16="http://schemas.microsoft.com/office/drawing/2014/main" id="{7BC0AFB3-0D18-4DA9-A4DF-8E911875A90C}"/>
                      </a:ext>
                    </a:extLst>
                  </p:cNvPr>
                  <p:cNvSpPr txBox="1"/>
                  <p:nvPr/>
                </p:nvSpPr>
                <p:spPr>
                  <a:xfrm>
                    <a:off x="7480097" y="2753945"/>
                    <a:ext cx="1332274" cy="246221"/>
                  </a:xfrm>
                  <a:prstGeom prst="rect">
                    <a:avLst/>
                  </a:prstGeom>
                  <a:noFill/>
                </p:spPr>
                <p:txBody>
                  <a:bodyPr wrap="square" lIns="0" tIns="0" rIns="0" bIns="0" rtlCol="0" anchor="ctr">
                    <a:spAutoFit/>
                  </a:bodyPr>
                  <a:lstStyle>
                    <a:defPPr>
                      <a:defRPr lang="en-US"/>
                    </a:defPPr>
                    <a:lvl2pPr marL="101600" marR="0" lvl="1" algn="ctr" fontAlgn="auto">
                      <a:lnSpc>
                        <a:spcPct val="100000"/>
                      </a:lnSpc>
                      <a:spcBef>
                        <a:spcPts val="600"/>
                      </a:spcBef>
                      <a:spcAft>
                        <a:spcPts val="0"/>
                      </a:spcAft>
                      <a:buClrTx/>
                      <a:buSzPct val="65000"/>
                      <a:tabLst/>
                      <a:defRPr sz="700" i="1">
                        <a:solidFill>
                          <a:schemeClr val="tx2"/>
                        </a:solidFill>
                        <a:latin typeface="Verdana"/>
                        <a:ea typeface="Calibri" pitchFamily="34" charset="0"/>
                        <a:cs typeface="Arial" pitchFamily="34" charset="0"/>
                      </a:defRPr>
                    </a:lvl2pPr>
                  </a:lstStyle>
                  <a:p>
                    <a:pPr lvl="1" defTabSz="914400"/>
                    <a:r>
                      <a:rPr lang="en-US" sz="800" dirty="0">
                        <a:solidFill>
                          <a:schemeClr val="tx1"/>
                        </a:solidFill>
                        <a:latin typeface="Calibri"/>
                      </a:rPr>
                      <a:t>PSU with extensive experience in Asset Valuation</a:t>
                    </a:r>
                  </a:p>
                </p:txBody>
              </p:sp>
              <p:pic>
                <p:nvPicPr>
                  <p:cNvPr id="176" name="Picture 175">
                    <a:extLst>
                      <a:ext uri="{FF2B5EF4-FFF2-40B4-BE49-F238E27FC236}">
                        <a16:creationId xmlns:a16="http://schemas.microsoft.com/office/drawing/2014/main" id="{E51D76B9-1941-4256-AE65-881E0F751DB2}"/>
                      </a:ext>
                    </a:extLst>
                  </p:cNvPr>
                  <p:cNvPicPr>
                    <a:picLocks noChangeAspect="1"/>
                  </p:cNvPicPr>
                  <p:nvPr/>
                </p:nvPicPr>
                <p:blipFill rotWithShape="1">
                  <a:blip r:embed="rId8"/>
                  <a:srcRect l="11691" t="11118" r="13054" b="13837"/>
                  <a:stretch/>
                </p:blipFill>
                <p:spPr>
                  <a:xfrm>
                    <a:off x="9166322" y="2712584"/>
                    <a:ext cx="497982" cy="328942"/>
                  </a:xfrm>
                  <a:prstGeom prst="rect">
                    <a:avLst/>
                  </a:prstGeom>
                </p:spPr>
              </p:pic>
              <p:sp>
                <p:nvSpPr>
                  <p:cNvPr id="177" name="TextBox 176">
                    <a:extLst>
                      <a:ext uri="{FF2B5EF4-FFF2-40B4-BE49-F238E27FC236}">
                        <a16:creationId xmlns:a16="http://schemas.microsoft.com/office/drawing/2014/main" id="{7554F30B-C758-4757-81F2-F3125B6E0FD5}"/>
                      </a:ext>
                    </a:extLst>
                  </p:cNvPr>
                  <p:cNvSpPr txBox="1"/>
                  <p:nvPr/>
                </p:nvSpPr>
                <p:spPr>
                  <a:xfrm>
                    <a:off x="9641077" y="2753945"/>
                    <a:ext cx="1774318" cy="246221"/>
                  </a:xfrm>
                  <a:prstGeom prst="rect">
                    <a:avLst/>
                  </a:prstGeom>
                  <a:noFill/>
                </p:spPr>
                <p:txBody>
                  <a:bodyPr wrap="square" lIns="0" tIns="0" rIns="0" bIns="0" rtlCol="0" anchor="ctr">
                    <a:spAutoFit/>
                  </a:bodyPr>
                  <a:lstStyle>
                    <a:defPPr>
                      <a:defRPr lang="en-US"/>
                    </a:defPPr>
                    <a:lvl2pPr marL="101600" marR="0" lvl="1" algn="ctr" fontAlgn="auto">
                      <a:lnSpc>
                        <a:spcPct val="100000"/>
                      </a:lnSpc>
                      <a:spcBef>
                        <a:spcPts val="600"/>
                      </a:spcBef>
                      <a:spcAft>
                        <a:spcPts val="0"/>
                      </a:spcAft>
                      <a:buClrTx/>
                      <a:buSzPct val="65000"/>
                      <a:tabLst/>
                      <a:defRPr sz="700" i="1">
                        <a:solidFill>
                          <a:schemeClr val="tx2"/>
                        </a:solidFill>
                        <a:latin typeface="Verdana"/>
                        <a:ea typeface="Calibri" pitchFamily="34" charset="0"/>
                        <a:cs typeface="Arial" pitchFamily="34" charset="0"/>
                      </a:defRPr>
                    </a:lvl2pPr>
                  </a:lstStyle>
                  <a:p>
                    <a:pPr lvl="1" defTabSz="914400"/>
                    <a:r>
                      <a:rPr lang="en-US" sz="800" dirty="0">
                        <a:solidFill>
                          <a:schemeClr val="tx1"/>
                        </a:solidFill>
                        <a:latin typeface="Calibri"/>
                      </a:rPr>
                      <a:t>No.1 in Legal 500 Ranking - significant corporatization experience</a:t>
                    </a:r>
                  </a:p>
                </p:txBody>
              </p:sp>
            </p:grpSp>
          </p:grpSp>
          <p:sp>
            <p:nvSpPr>
              <p:cNvPr id="64" name="Rounded Rectangle 15">
                <a:extLst>
                  <a:ext uri="{FF2B5EF4-FFF2-40B4-BE49-F238E27FC236}">
                    <a16:creationId xmlns:a16="http://schemas.microsoft.com/office/drawing/2014/main" id="{A436C1D0-01FE-4322-A85E-91C39A815F46}"/>
                  </a:ext>
                </a:extLst>
              </p:cNvPr>
              <p:cNvSpPr/>
              <p:nvPr/>
            </p:nvSpPr>
            <p:spPr>
              <a:xfrm>
                <a:off x="2903321" y="2192144"/>
                <a:ext cx="8809254" cy="887333"/>
              </a:xfrm>
              <a:prstGeom prst="roundRect">
                <a:avLst/>
              </a:prstGeom>
              <a:ln w="12700">
                <a:solidFill>
                  <a:srgbClr val="43B02A"/>
                </a:solidFill>
                <a:prstDash val="sysDot"/>
              </a:ln>
            </p:spPr>
            <p:txBody>
              <a:bodyPr lIns="97976" tIns="97976" rIns="5120640" bIns="97976" anchor="ctr" anchorCtr="0">
                <a:noAutofit/>
              </a:bodyPr>
              <a:lstStyle/>
              <a:p>
                <a:pPr>
                  <a:spcBef>
                    <a:spcPts val="544"/>
                  </a:spcBef>
                  <a:buSzPct val="100000"/>
                </a:pPr>
                <a:r>
                  <a:rPr lang="en-US" sz="1400" b="1" dirty="0"/>
                  <a:t>Experienced &amp; multidisciplinary team with a blend of international expertise &amp; national focus </a:t>
                </a:r>
              </a:p>
            </p:txBody>
          </p:sp>
        </p:grpSp>
        <p:grpSp>
          <p:nvGrpSpPr>
            <p:cNvPr id="30" name="Group 29">
              <a:extLst>
                <a:ext uri="{FF2B5EF4-FFF2-40B4-BE49-F238E27FC236}">
                  <a16:creationId xmlns:a16="http://schemas.microsoft.com/office/drawing/2014/main" id="{06D74347-D47F-402C-96B9-D7BC83184132}"/>
                </a:ext>
              </a:extLst>
            </p:cNvPr>
            <p:cNvGrpSpPr/>
            <p:nvPr/>
          </p:nvGrpSpPr>
          <p:grpSpPr>
            <a:xfrm>
              <a:off x="2903321" y="3250940"/>
              <a:ext cx="8809254" cy="887333"/>
              <a:chOff x="2903321" y="3205001"/>
              <a:chExt cx="8809254" cy="887333"/>
            </a:xfrm>
          </p:grpSpPr>
          <p:grpSp>
            <p:nvGrpSpPr>
              <p:cNvPr id="20" name="Group 19">
                <a:extLst>
                  <a:ext uri="{FF2B5EF4-FFF2-40B4-BE49-F238E27FC236}">
                    <a16:creationId xmlns:a16="http://schemas.microsoft.com/office/drawing/2014/main" id="{61841F0A-82CE-4F75-ACDD-B5A9597B6D0A}"/>
                  </a:ext>
                </a:extLst>
              </p:cNvPr>
              <p:cNvGrpSpPr/>
              <p:nvPr/>
            </p:nvGrpSpPr>
            <p:grpSpPr>
              <a:xfrm>
                <a:off x="6681665" y="3283337"/>
                <a:ext cx="3443099" cy="730660"/>
                <a:chOff x="6681665" y="3283337"/>
                <a:chExt cx="3443099" cy="730660"/>
              </a:xfrm>
            </p:grpSpPr>
            <p:sp>
              <p:nvSpPr>
                <p:cNvPr id="170" name="Rectangle 169">
                  <a:extLst>
                    <a:ext uri="{FF2B5EF4-FFF2-40B4-BE49-F238E27FC236}">
                      <a16:creationId xmlns:a16="http://schemas.microsoft.com/office/drawing/2014/main" id="{8995E349-EA66-4702-8CBE-3CBF2FF7DFEC}"/>
                    </a:ext>
                  </a:extLst>
                </p:cNvPr>
                <p:cNvSpPr/>
                <p:nvPr/>
              </p:nvSpPr>
              <p:spPr>
                <a:xfrm>
                  <a:off x="8921313" y="3494779"/>
                  <a:ext cx="1203451" cy="307777"/>
                </a:xfrm>
                <a:prstGeom prst="rect">
                  <a:avLst/>
                </a:prstGeom>
                <a:noFill/>
              </p:spPr>
              <p:txBody>
                <a:bodyPr wrap="square" lIns="0" tIns="0" rIns="0" bIns="0" rtlCol="0" anchor="ctr">
                  <a:spAutoFit/>
                </a:bodyPr>
                <a:lstStyle/>
                <a:p>
                  <a:pPr marL="101600" lvl="1" algn="ctr" defTabSz="914400">
                    <a:spcBef>
                      <a:spcPts val="600"/>
                    </a:spcBef>
                    <a:buSzPct val="65000"/>
                  </a:pPr>
                  <a:r>
                    <a:rPr lang="en-US" sz="1000" i="1" dirty="0">
                      <a:latin typeface="Calibri"/>
                      <a:ea typeface="Calibri" pitchFamily="34" charset="0"/>
                      <a:cs typeface="Arial" pitchFamily="34" charset="0"/>
                    </a:rPr>
                    <a:t>Regional offices at 14 locations across India</a:t>
                  </a:r>
                  <a:endParaRPr lang="en-IN" sz="1000" i="1" dirty="0">
                    <a:latin typeface="Calibri"/>
                    <a:ea typeface="Calibri" pitchFamily="34" charset="0"/>
                    <a:cs typeface="Arial" pitchFamily="34" charset="0"/>
                  </a:endParaRPr>
                </a:p>
              </p:txBody>
            </p:sp>
            <p:pic>
              <p:nvPicPr>
                <p:cNvPr id="171" name="Picture 170">
                  <a:extLst>
                    <a:ext uri="{FF2B5EF4-FFF2-40B4-BE49-F238E27FC236}">
                      <a16:creationId xmlns:a16="http://schemas.microsoft.com/office/drawing/2014/main" id="{A1CDD127-7669-45C9-A87A-3273238772A5}"/>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t="-1008" b="-495"/>
                <a:stretch/>
              </p:blipFill>
              <p:spPr>
                <a:xfrm>
                  <a:off x="6681665" y="3283337"/>
                  <a:ext cx="1065758" cy="730660"/>
                </a:xfrm>
                <a:prstGeom prst="rect">
                  <a:avLst/>
                </a:prstGeom>
              </p:spPr>
            </p:pic>
            <p:sp>
              <p:nvSpPr>
                <p:cNvPr id="172" name="Rectangle 171">
                  <a:extLst>
                    <a:ext uri="{FF2B5EF4-FFF2-40B4-BE49-F238E27FC236}">
                      <a16:creationId xmlns:a16="http://schemas.microsoft.com/office/drawing/2014/main" id="{D198F688-13E4-4BA0-BDA7-B19291A49197}"/>
                    </a:ext>
                  </a:extLst>
                </p:cNvPr>
                <p:cNvSpPr/>
                <p:nvPr/>
              </p:nvSpPr>
              <p:spPr>
                <a:xfrm>
                  <a:off x="7902407" y="3494779"/>
                  <a:ext cx="863922" cy="307777"/>
                </a:xfrm>
                <a:prstGeom prst="rect">
                  <a:avLst/>
                </a:prstGeom>
                <a:noFill/>
              </p:spPr>
              <p:txBody>
                <a:bodyPr wrap="square" lIns="0" tIns="0" rIns="0" bIns="0" rtlCol="0" anchor="ctr">
                  <a:spAutoFit/>
                </a:bodyPr>
                <a:lstStyle/>
                <a:p>
                  <a:pPr marL="101600" lvl="1" algn="ctr" defTabSz="914400">
                    <a:spcBef>
                      <a:spcPts val="600"/>
                    </a:spcBef>
                    <a:buSzPct val="65000"/>
                  </a:pPr>
                  <a:r>
                    <a:rPr lang="en-US" sz="1000" i="1" dirty="0">
                      <a:latin typeface="Calibri"/>
                      <a:ea typeface="Calibri" pitchFamily="34" charset="0"/>
                      <a:cs typeface="Arial" pitchFamily="34" charset="0"/>
                    </a:rPr>
                    <a:t>Central PMO team in Delhi</a:t>
                  </a:r>
                  <a:endParaRPr lang="en-IN" sz="1000" i="1" dirty="0">
                    <a:latin typeface="Calibri"/>
                    <a:ea typeface="Calibri" pitchFamily="34" charset="0"/>
                    <a:cs typeface="Arial" pitchFamily="34" charset="0"/>
                  </a:endParaRPr>
                </a:p>
              </p:txBody>
            </p:sp>
          </p:grpSp>
          <p:sp>
            <p:nvSpPr>
              <p:cNvPr id="65" name="Rounded Rectangle 16">
                <a:extLst>
                  <a:ext uri="{FF2B5EF4-FFF2-40B4-BE49-F238E27FC236}">
                    <a16:creationId xmlns:a16="http://schemas.microsoft.com/office/drawing/2014/main" id="{D671DC73-E0E5-49FB-9A38-2D72A1C2DDC5}"/>
                  </a:ext>
                </a:extLst>
              </p:cNvPr>
              <p:cNvSpPr/>
              <p:nvPr/>
            </p:nvSpPr>
            <p:spPr>
              <a:xfrm>
                <a:off x="2903321" y="3205001"/>
                <a:ext cx="8809254" cy="887333"/>
              </a:xfrm>
              <a:prstGeom prst="roundRect">
                <a:avLst/>
              </a:prstGeom>
              <a:ln w="12700">
                <a:solidFill>
                  <a:srgbClr val="26890D"/>
                </a:solidFill>
                <a:prstDash val="sysDot"/>
              </a:ln>
            </p:spPr>
            <p:txBody>
              <a:bodyPr lIns="97976" tIns="97976" rIns="5120640" bIns="97976" anchor="ctr" anchorCtr="0">
                <a:noAutofit/>
              </a:bodyPr>
              <a:lstStyle/>
              <a:p>
                <a:pPr>
                  <a:spcBef>
                    <a:spcPts val="544"/>
                  </a:spcBef>
                  <a:buSzPct val="100000"/>
                </a:pPr>
                <a:r>
                  <a:rPr lang="en-US" sz="1400" b="1" dirty="0"/>
                  <a:t>We are where you are &amp; will hit the ground running on day one with understanding of OOMF &amp; our tested framework</a:t>
                </a:r>
              </a:p>
            </p:txBody>
          </p:sp>
        </p:grpSp>
        <p:grpSp>
          <p:nvGrpSpPr>
            <p:cNvPr id="29" name="Group 28">
              <a:extLst>
                <a:ext uri="{FF2B5EF4-FFF2-40B4-BE49-F238E27FC236}">
                  <a16:creationId xmlns:a16="http://schemas.microsoft.com/office/drawing/2014/main" id="{5B6F1FDB-B799-4C8E-A988-83F21AC2935C}"/>
                </a:ext>
              </a:extLst>
            </p:cNvPr>
            <p:cNvGrpSpPr/>
            <p:nvPr/>
          </p:nvGrpSpPr>
          <p:grpSpPr>
            <a:xfrm>
              <a:off x="2903321" y="4293679"/>
              <a:ext cx="8809254" cy="887333"/>
              <a:chOff x="2903321" y="4245509"/>
              <a:chExt cx="8809254" cy="887333"/>
            </a:xfrm>
          </p:grpSpPr>
          <p:grpSp>
            <p:nvGrpSpPr>
              <p:cNvPr id="19" name="Group 18">
                <a:extLst>
                  <a:ext uri="{FF2B5EF4-FFF2-40B4-BE49-F238E27FC236}">
                    <a16:creationId xmlns:a16="http://schemas.microsoft.com/office/drawing/2014/main" id="{63653B4D-4D24-4C66-871C-B9E55F3E43B5}"/>
                  </a:ext>
                </a:extLst>
              </p:cNvPr>
              <p:cNvGrpSpPr/>
              <p:nvPr/>
            </p:nvGrpSpPr>
            <p:grpSpPr>
              <a:xfrm>
                <a:off x="6313211" y="4288144"/>
                <a:ext cx="5142336" cy="802063"/>
                <a:chOff x="6313211" y="4292869"/>
                <a:chExt cx="5142336" cy="802063"/>
              </a:xfrm>
            </p:grpSpPr>
            <p:grpSp>
              <p:nvGrpSpPr>
                <p:cNvPr id="17" name="Group 16">
                  <a:extLst>
                    <a:ext uri="{FF2B5EF4-FFF2-40B4-BE49-F238E27FC236}">
                      <a16:creationId xmlns:a16="http://schemas.microsoft.com/office/drawing/2014/main" id="{04E43827-045C-4531-9627-4F05D5AE7FC2}"/>
                    </a:ext>
                  </a:extLst>
                </p:cNvPr>
                <p:cNvGrpSpPr/>
                <p:nvPr/>
              </p:nvGrpSpPr>
              <p:grpSpPr>
                <a:xfrm>
                  <a:off x="9227724" y="4292869"/>
                  <a:ext cx="1260221" cy="802063"/>
                  <a:chOff x="8922976" y="4292869"/>
                  <a:chExt cx="1260221" cy="802063"/>
                </a:xfrm>
              </p:grpSpPr>
              <p:pic>
                <p:nvPicPr>
                  <p:cNvPr id="190" name="Picture 62">
                    <a:extLst>
                      <a:ext uri="{FF2B5EF4-FFF2-40B4-BE49-F238E27FC236}">
                        <a16:creationId xmlns:a16="http://schemas.microsoft.com/office/drawing/2014/main" id="{8DB4727B-2518-4493-BA47-4FA78E621129}"/>
                      </a:ext>
                    </a:extLst>
                  </p:cNvPr>
                  <p:cNvPicPr>
                    <a:picLocks noChangeAspect="1" noChangeArrowheads="1"/>
                  </p:cNvPicPr>
                  <p:nvPr/>
                </p:nvPicPr>
                <p:blipFill rotWithShape="1">
                  <a:blip r:embed="rId10" cstate="email">
                    <a:extLst>
                      <a:ext uri="{28A0092B-C50C-407E-A947-70E740481C1C}">
                        <a14:useLocalDpi xmlns:a14="http://schemas.microsoft.com/office/drawing/2010/main" val="0"/>
                      </a:ext>
                    </a:extLst>
                  </a:blip>
                  <a:srcRect t="-162"/>
                  <a:stretch/>
                </p:blipFill>
                <p:spPr bwMode="auto">
                  <a:xfrm>
                    <a:off x="9153415" y="4292869"/>
                    <a:ext cx="799343" cy="491465"/>
                  </a:xfrm>
                  <a:prstGeom prst="rect">
                    <a:avLst/>
                  </a:prstGeom>
                  <a:noFill/>
                  <a:ln>
                    <a:solidFill>
                      <a:srgbClr val="D0D0CE"/>
                    </a:solidFill>
                  </a:ln>
                  <a:extLst>
                    <a:ext uri="{909E8E84-426E-40DD-AFC4-6F175D3DCCD1}">
                      <a14:hiddenFill xmlns:a14="http://schemas.microsoft.com/office/drawing/2010/main">
                        <a:solidFill>
                          <a:srgbClr val="FFFFFF"/>
                        </a:solidFill>
                      </a14:hiddenFill>
                    </a:ext>
                  </a:extLst>
                </p:spPr>
              </p:pic>
              <p:sp>
                <p:nvSpPr>
                  <p:cNvPr id="191" name="TextBox 190">
                    <a:extLst>
                      <a:ext uri="{FF2B5EF4-FFF2-40B4-BE49-F238E27FC236}">
                        <a16:creationId xmlns:a16="http://schemas.microsoft.com/office/drawing/2014/main" id="{23A82CCA-2149-423E-AD04-ADA46BEDAE89}"/>
                      </a:ext>
                    </a:extLst>
                  </p:cNvPr>
                  <p:cNvSpPr txBox="1"/>
                  <p:nvPr/>
                </p:nvSpPr>
                <p:spPr>
                  <a:xfrm>
                    <a:off x="8922976" y="4787155"/>
                    <a:ext cx="1260221" cy="307777"/>
                  </a:xfrm>
                  <a:prstGeom prst="rect">
                    <a:avLst/>
                  </a:prstGeom>
                  <a:noFill/>
                </p:spPr>
                <p:txBody>
                  <a:bodyPr wrap="square" lIns="0" tIns="0" rIns="0" bIns="0" rtlCol="0" anchor="ctr">
                    <a:spAutoFit/>
                  </a:bodyPr>
                  <a:lstStyle/>
                  <a:p>
                    <a:pPr marL="0" marR="0" lvl="1" indent="0" algn="ctr" defTabSz="914400" eaLnBrk="1" fontAlgn="auto" latinLnBrk="0" hangingPunct="1">
                      <a:lnSpc>
                        <a:spcPct val="100000"/>
                      </a:lnSpc>
                      <a:spcBef>
                        <a:spcPts val="600"/>
                      </a:spcBef>
                      <a:spcAft>
                        <a:spcPts val="0"/>
                      </a:spcAft>
                      <a:buClrTx/>
                      <a:buSzPct val="65000"/>
                      <a:buFontTx/>
                      <a:buNone/>
                      <a:tabLst/>
                      <a:defRPr/>
                    </a:pPr>
                    <a:r>
                      <a:rPr kumimoji="0" lang="en-US" sz="1000" b="0" i="1" u="none" strike="noStrike" kern="0" cap="none" spc="0" normalizeH="0" baseline="0" noProof="0" dirty="0">
                        <a:ln>
                          <a:noFill/>
                        </a:ln>
                        <a:effectLst/>
                        <a:uLnTx/>
                        <a:uFillTx/>
                        <a:latin typeface="Calibri"/>
                        <a:ea typeface="Calibri" pitchFamily="34" charset="0"/>
                        <a:cs typeface="Arial" pitchFamily="34" charset="0"/>
                      </a:rPr>
                      <a:t>Operational</a:t>
                    </a:r>
                    <a:br>
                      <a:rPr kumimoji="0" lang="en-US" sz="1000" b="0" i="1" u="none" strike="noStrike" kern="0" cap="none" spc="0" normalizeH="0" baseline="0" noProof="0" dirty="0">
                        <a:ln>
                          <a:noFill/>
                        </a:ln>
                        <a:effectLst/>
                        <a:uLnTx/>
                        <a:uFillTx/>
                        <a:latin typeface="Calibri"/>
                        <a:ea typeface="Calibri" pitchFamily="34" charset="0"/>
                        <a:cs typeface="Arial" pitchFamily="34" charset="0"/>
                      </a:rPr>
                    </a:br>
                    <a:r>
                      <a:rPr kumimoji="0" lang="en-US" sz="1000" b="0" i="1" u="none" strike="noStrike" kern="0" cap="none" spc="0" normalizeH="0" baseline="0" noProof="0" dirty="0">
                        <a:ln>
                          <a:noFill/>
                        </a:ln>
                        <a:effectLst/>
                        <a:uLnTx/>
                        <a:uFillTx/>
                        <a:latin typeface="Calibri"/>
                        <a:ea typeface="Calibri" pitchFamily="34" charset="0"/>
                        <a:cs typeface="Arial" pitchFamily="34" charset="0"/>
                      </a:rPr>
                      <a:t>Handbook</a:t>
                    </a:r>
                  </a:p>
                </p:txBody>
              </p:sp>
            </p:grpSp>
            <p:grpSp>
              <p:nvGrpSpPr>
                <p:cNvPr id="18" name="Group 17">
                  <a:extLst>
                    <a:ext uri="{FF2B5EF4-FFF2-40B4-BE49-F238E27FC236}">
                      <a16:creationId xmlns:a16="http://schemas.microsoft.com/office/drawing/2014/main" id="{15E0F042-EC18-471A-BCDD-FE13CFF8004A}"/>
                    </a:ext>
                  </a:extLst>
                </p:cNvPr>
                <p:cNvGrpSpPr/>
                <p:nvPr/>
              </p:nvGrpSpPr>
              <p:grpSpPr>
                <a:xfrm>
                  <a:off x="10470155" y="4292869"/>
                  <a:ext cx="985392" cy="802063"/>
                  <a:chOff x="10470155" y="4292869"/>
                  <a:chExt cx="985392" cy="802063"/>
                </a:xfrm>
              </p:grpSpPr>
              <p:pic>
                <p:nvPicPr>
                  <p:cNvPr id="192" name="Picture 87">
                    <a:extLst>
                      <a:ext uri="{FF2B5EF4-FFF2-40B4-BE49-F238E27FC236}">
                        <a16:creationId xmlns:a16="http://schemas.microsoft.com/office/drawing/2014/main" id="{1961012A-F3FD-4189-A19E-F3BF048899CB}"/>
                      </a:ext>
                    </a:extLst>
                  </p:cNvPr>
                  <p:cNvPicPr>
                    <a:picLocks noChangeAspect="1" noChangeArrowheads="1"/>
                  </p:cNvPicPr>
                  <p:nvPr/>
                </p:nvPicPr>
                <p:blipFill rotWithShape="1">
                  <a:blip r:embed="rId11" cstate="email">
                    <a:extLst>
                      <a:ext uri="{28A0092B-C50C-407E-A947-70E740481C1C}">
                        <a14:useLocalDpi xmlns:a14="http://schemas.microsoft.com/office/drawing/2010/main" val="0"/>
                      </a:ext>
                    </a:extLst>
                  </a:blip>
                  <a:srcRect/>
                  <a:stretch/>
                </p:blipFill>
                <p:spPr bwMode="auto">
                  <a:xfrm>
                    <a:off x="10470155" y="4292869"/>
                    <a:ext cx="985392" cy="491465"/>
                  </a:xfrm>
                  <a:prstGeom prst="rect">
                    <a:avLst/>
                  </a:prstGeom>
                  <a:noFill/>
                  <a:ln>
                    <a:solidFill>
                      <a:srgbClr val="D0D0CE"/>
                    </a:solidFill>
                  </a:ln>
                  <a:effectLst/>
                  <a:extLst>
                    <a:ext uri="{909E8E84-426E-40DD-AFC4-6F175D3DCCD1}">
                      <a14:hiddenFill xmlns:a14="http://schemas.microsoft.com/office/drawing/2010/main">
                        <a:solidFill>
                          <a:srgbClr val="FFFFFF"/>
                        </a:solidFill>
                      </a14:hiddenFill>
                    </a:ext>
                  </a:extLst>
                </p:spPr>
              </p:pic>
              <p:sp>
                <p:nvSpPr>
                  <p:cNvPr id="193" name="TextBox 192">
                    <a:extLst>
                      <a:ext uri="{FF2B5EF4-FFF2-40B4-BE49-F238E27FC236}">
                        <a16:creationId xmlns:a16="http://schemas.microsoft.com/office/drawing/2014/main" id="{AF9C2365-1F1B-4C78-BF4A-0148673FBA40}"/>
                      </a:ext>
                    </a:extLst>
                  </p:cNvPr>
                  <p:cNvSpPr txBox="1"/>
                  <p:nvPr/>
                </p:nvSpPr>
                <p:spPr>
                  <a:xfrm>
                    <a:off x="10671104" y="4787155"/>
                    <a:ext cx="583493" cy="307777"/>
                  </a:xfrm>
                  <a:prstGeom prst="rect">
                    <a:avLst/>
                  </a:prstGeom>
                  <a:noFill/>
                </p:spPr>
                <p:txBody>
                  <a:bodyPr wrap="none" lIns="0" tIns="0" rIns="0" bIns="0" rtlCol="0" anchor="ctr">
                    <a:spAutoFit/>
                  </a:bodyPr>
                  <a:lstStyle/>
                  <a:p>
                    <a:pPr marL="0" marR="0" lvl="1" indent="0" algn="ctr" defTabSz="914400" eaLnBrk="1" fontAlgn="auto" latinLnBrk="0" hangingPunct="1">
                      <a:lnSpc>
                        <a:spcPct val="100000"/>
                      </a:lnSpc>
                      <a:spcBef>
                        <a:spcPts val="600"/>
                      </a:spcBef>
                      <a:spcAft>
                        <a:spcPts val="0"/>
                      </a:spcAft>
                      <a:buClrTx/>
                      <a:buSzPct val="65000"/>
                      <a:buFontTx/>
                      <a:buNone/>
                      <a:tabLst/>
                      <a:defRPr/>
                    </a:pPr>
                    <a:r>
                      <a:rPr kumimoji="0" lang="en-US" sz="1000" b="0" i="1" u="none" strike="noStrike" kern="0" cap="none" spc="0" normalizeH="0" baseline="0" noProof="0" dirty="0">
                        <a:ln>
                          <a:noFill/>
                        </a:ln>
                        <a:effectLst/>
                        <a:uLnTx/>
                        <a:uFillTx/>
                        <a:latin typeface="Calibri"/>
                        <a:ea typeface="Calibri" pitchFamily="34" charset="0"/>
                        <a:cs typeface="Arial" pitchFamily="34" charset="0"/>
                      </a:rPr>
                      <a:t>Org design</a:t>
                    </a:r>
                    <a:br>
                      <a:rPr kumimoji="0" lang="en-US" sz="1000" b="0" i="1" u="none" strike="noStrike" kern="0" cap="none" spc="0" normalizeH="0" baseline="0" noProof="0" dirty="0">
                        <a:ln>
                          <a:noFill/>
                        </a:ln>
                        <a:effectLst/>
                        <a:uLnTx/>
                        <a:uFillTx/>
                        <a:latin typeface="Calibri"/>
                        <a:ea typeface="Calibri" pitchFamily="34" charset="0"/>
                        <a:cs typeface="Arial" pitchFamily="34" charset="0"/>
                      </a:rPr>
                    </a:br>
                    <a:r>
                      <a:rPr kumimoji="0" lang="en-US" sz="1000" b="0" i="1" u="none" strike="noStrike" kern="0" cap="none" spc="0" normalizeH="0" baseline="0" noProof="0" dirty="0">
                        <a:ln>
                          <a:noFill/>
                        </a:ln>
                        <a:effectLst/>
                        <a:uLnTx/>
                        <a:uFillTx/>
                        <a:latin typeface="Calibri"/>
                        <a:ea typeface="Calibri" pitchFamily="34" charset="0"/>
                        <a:cs typeface="Arial" pitchFamily="34" charset="0"/>
                      </a:rPr>
                      <a:t>accelerator</a:t>
                    </a:r>
                  </a:p>
                </p:txBody>
              </p:sp>
            </p:grpSp>
            <p:grpSp>
              <p:nvGrpSpPr>
                <p:cNvPr id="15" name="Group 14">
                  <a:extLst>
                    <a:ext uri="{FF2B5EF4-FFF2-40B4-BE49-F238E27FC236}">
                      <a16:creationId xmlns:a16="http://schemas.microsoft.com/office/drawing/2014/main" id="{61CD5CCD-8FD2-4768-95DA-11C3BC2F9FC8}"/>
                    </a:ext>
                  </a:extLst>
                </p:cNvPr>
                <p:cNvGrpSpPr/>
                <p:nvPr/>
              </p:nvGrpSpPr>
              <p:grpSpPr>
                <a:xfrm>
                  <a:off x="6313211" y="4292869"/>
                  <a:ext cx="1341021" cy="802063"/>
                  <a:chOff x="6313211" y="4292869"/>
                  <a:chExt cx="1341021" cy="802063"/>
                </a:xfrm>
              </p:grpSpPr>
              <p:pic>
                <p:nvPicPr>
                  <p:cNvPr id="194" name="Picture 193">
                    <a:extLst>
                      <a:ext uri="{FF2B5EF4-FFF2-40B4-BE49-F238E27FC236}">
                        <a16:creationId xmlns:a16="http://schemas.microsoft.com/office/drawing/2014/main" id="{9F0AAB4B-DBFD-4872-9B18-8F4AA2DB9AFD}"/>
                      </a:ext>
                    </a:extLst>
                  </p:cNvPr>
                  <p:cNvPicPr>
                    <a:picLocks/>
                  </p:cNvPicPr>
                  <p:nvPr/>
                </p:nvPicPr>
                <p:blipFill rotWithShape="1">
                  <a:blip r:embed="rId12" cstate="email">
                    <a:duotone>
                      <a:srgbClr val="0D8390">
                        <a:shade val="45000"/>
                        <a:satMod val="135000"/>
                      </a:srgbClr>
                      <a:prstClr val="white"/>
                    </a:duotone>
                    <a:extLst>
                      <a:ext uri="{28A0092B-C50C-407E-A947-70E740481C1C}">
                        <a14:useLocalDpi xmlns:a14="http://schemas.microsoft.com/office/drawing/2010/main" val="0"/>
                      </a:ext>
                    </a:extLst>
                  </a:blip>
                  <a:srcRect l="-4890" r="-4890"/>
                  <a:stretch/>
                </p:blipFill>
                <p:spPr bwMode="auto">
                  <a:xfrm>
                    <a:off x="6548237" y="4292869"/>
                    <a:ext cx="870969" cy="450029"/>
                  </a:xfrm>
                  <a:prstGeom prst="rect">
                    <a:avLst/>
                  </a:prstGeom>
                  <a:noFill/>
                  <a:ln>
                    <a:solidFill>
                      <a:srgbClr val="D0D0CE"/>
                    </a:solidFill>
                  </a:ln>
                </p:spPr>
              </p:pic>
              <p:sp>
                <p:nvSpPr>
                  <p:cNvPr id="195" name="TextBox 194">
                    <a:extLst>
                      <a:ext uri="{FF2B5EF4-FFF2-40B4-BE49-F238E27FC236}">
                        <a16:creationId xmlns:a16="http://schemas.microsoft.com/office/drawing/2014/main" id="{898CB29E-2259-4022-968B-78D61543315C}"/>
                      </a:ext>
                    </a:extLst>
                  </p:cNvPr>
                  <p:cNvSpPr txBox="1"/>
                  <p:nvPr/>
                </p:nvSpPr>
                <p:spPr>
                  <a:xfrm>
                    <a:off x="6313211" y="4787155"/>
                    <a:ext cx="1341021" cy="307777"/>
                  </a:xfrm>
                  <a:prstGeom prst="rect">
                    <a:avLst/>
                  </a:prstGeom>
                  <a:noFill/>
                </p:spPr>
                <p:txBody>
                  <a:bodyPr wrap="square" lIns="0" tIns="0" rIns="0" bIns="0" rtlCol="0" anchor="ctr">
                    <a:spAutoFit/>
                  </a:bodyPr>
                  <a:lstStyle/>
                  <a:p>
                    <a:pPr marL="0" marR="0" lvl="1" indent="0" algn="ctr" defTabSz="914400" eaLnBrk="1" fontAlgn="auto" latinLnBrk="0" hangingPunct="1">
                      <a:lnSpc>
                        <a:spcPct val="100000"/>
                      </a:lnSpc>
                      <a:spcBef>
                        <a:spcPts val="600"/>
                      </a:spcBef>
                      <a:spcAft>
                        <a:spcPts val="0"/>
                      </a:spcAft>
                      <a:buClrTx/>
                      <a:buSzPct val="65000"/>
                      <a:buFontTx/>
                      <a:buNone/>
                      <a:tabLst/>
                      <a:defRPr/>
                    </a:pPr>
                    <a:r>
                      <a:rPr kumimoji="0" lang="en-US" sz="1000" b="0" i="1" u="none" strike="noStrike" kern="0" cap="none" spc="0" normalizeH="0" baseline="0" noProof="0" dirty="0">
                        <a:ln>
                          <a:noFill/>
                        </a:ln>
                        <a:effectLst/>
                        <a:uLnTx/>
                        <a:uFillTx/>
                        <a:latin typeface="Calibri"/>
                        <a:ea typeface="Calibri" pitchFamily="34" charset="0"/>
                        <a:cs typeface="Arial" pitchFamily="34" charset="0"/>
                      </a:rPr>
                      <a:t>Deloitte’s Public sector value map</a:t>
                    </a:r>
                  </a:p>
                </p:txBody>
              </p:sp>
            </p:grpSp>
            <p:grpSp>
              <p:nvGrpSpPr>
                <p:cNvPr id="16" name="Group 15">
                  <a:extLst>
                    <a:ext uri="{FF2B5EF4-FFF2-40B4-BE49-F238E27FC236}">
                      <a16:creationId xmlns:a16="http://schemas.microsoft.com/office/drawing/2014/main" id="{DF6A4404-88FA-4C43-835B-50A2A70EFDA8}"/>
                    </a:ext>
                  </a:extLst>
                </p:cNvPr>
                <p:cNvGrpSpPr/>
                <p:nvPr/>
              </p:nvGrpSpPr>
              <p:grpSpPr>
                <a:xfrm>
                  <a:off x="7636441" y="4292869"/>
                  <a:ext cx="1609074" cy="802063"/>
                  <a:chOff x="7484067" y="4292869"/>
                  <a:chExt cx="1609074" cy="802063"/>
                </a:xfrm>
              </p:grpSpPr>
              <p:pic>
                <p:nvPicPr>
                  <p:cNvPr id="196" name="Picture 195">
                    <a:extLst>
                      <a:ext uri="{FF2B5EF4-FFF2-40B4-BE49-F238E27FC236}">
                        <a16:creationId xmlns:a16="http://schemas.microsoft.com/office/drawing/2014/main" id="{5E7639E4-F4D2-432E-A474-C5883497701B}"/>
                      </a:ext>
                    </a:extLst>
                  </p:cNvPr>
                  <p:cNvPicPr>
                    <a:picLocks/>
                  </p:cNvPicPr>
                  <p:nvPr/>
                </p:nvPicPr>
                <p:blipFill rotWithShape="1">
                  <a:blip r:embed="rId13">
                    <a:duotone>
                      <a:prstClr val="black"/>
                      <a:srgbClr val="26890D">
                        <a:tint val="45000"/>
                        <a:satMod val="400000"/>
                      </a:srgbClr>
                    </a:duotone>
                  </a:blip>
                  <a:srcRect l="288" r="288"/>
                  <a:stretch/>
                </p:blipFill>
                <p:spPr>
                  <a:xfrm>
                    <a:off x="7797863" y="4292869"/>
                    <a:ext cx="981482" cy="450029"/>
                  </a:xfrm>
                  <a:prstGeom prst="rect">
                    <a:avLst/>
                  </a:prstGeom>
                  <a:ln>
                    <a:solidFill>
                      <a:srgbClr val="D0D0CE"/>
                    </a:solidFill>
                  </a:ln>
                </p:spPr>
              </p:pic>
              <p:sp>
                <p:nvSpPr>
                  <p:cNvPr id="197" name="TextBox 196">
                    <a:extLst>
                      <a:ext uri="{FF2B5EF4-FFF2-40B4-BE49-F238E27FC236}">
                        <a16:creationId xmlns:a16="http://schemas.microsoft.com/office/drawing/2014/main" id="{A339CBAB-5728-4330-B52F-23590E581CB2}"/>
                      </a:ext>
                    </a:extLst>
                  </p:cNvPr>
                  <p:cNvSpPr txBox="1"/>
                  <p:nvPr/>
                </p:nvSpPr>
                <p:spPr>
                  <a:xfrm>
                    <a:off x="7484067" y="4787155"/>
                    <a:ext cx="1609074" cy="307777"/>
                  </a:xfrm>
                  <a:prstGeom prst="rect">
                    <a:avLst/>
                  </a:prstGeom>
                  <a:noFill/>
                </p:spPr>
                <p:txBody>
                  <a:bodyPr wrap="square" lIns="0" tIns="0" rIns="0" bIns="0" rtlCol="0" anchor="ctr">
                    <a:spAutoFit/>
                  </a:bodyPr>
                  <a:lstStyle/>
                  <a:p>
                    <a:pPr marL="0" marR="0" lvl="1" indent="0" algn="ctr" defTabSz="914400" eaLnBrk="1" fontAlgn="auto" latinLnBrk="0" hangingPunct="1">
                      <a:lnSpc>
                        <a:spcPct val="100000"/>
                      </a:lnSpc>
                      <a:spcBef>
                        <a:spcPts val="600"/>
                      </a:spcBef>
                      <a:spcAft>
                        <a:spcPts val="0"/>
                      </a:spcAft>
                      <a:buClrTx/>
                      <a:buSzPct val="65000"/>
                      <a:buFontTx/>
                      <a:buNone/>
                      <a:tabLst/>
                      <a:defRPr/>
                    </a:pPr>
                    <a:r>
                      <a:rPr kumimoji="0" lang="en-US" sz="1000" b="0" i="1" u="none" strike="noStrike" kern="0" cap="none" spc="0" normalizeH="0" baseline="0" noProof="0" dirty="0">
                        <a:ln>
                          <a:noFill/>
                        </a:ln>
                        <a:effectLst/>
                        <a:uLnTx/>
                        <a:uFillTx/>
                        <a:latin typeface="Calibri"/>
                        <a:ea typeface="Calibri" pitchFamily="34" charset="0"/>
                        <a:cs typeface="Arial" pitchFamily="34" charset="0"/>
                      </a:rPr>
                      <a:t>Deloitte’s Advantage</a:t>
                    </a:r>
                    <a:br>
                      <a:rPr kumimoji="0" lang="en-US" sz="1000" b="0" i="1" u="none" strike="noStrike" kern="0" cap="none" spc="0" normalizeH="0" baseline="0" noProof="0" dirty="0">
                        <a:ln>
                          <a:noFill/>
                        </a:ln>
                        <a:effectLst/>
                        <a:uLnTx/>
                        <a:uFillTx/>
                        <a:latin typeface="Calibri"/>
                        <a:ea typeface="Calibri" pitchFamily="34" charset="0"/>
                        <a:cs typeface="Arial" pitchFamily="34" charset="0"/>
                      </a:rPr>
                    </a:br>
                    <a:r>
                      <a:rPr kumimoji="0" lang="en-US" sz="1000" b="0" i="1" u="none" strike="noStrike" kern="0" cap="none" spc="0" normalizeH="0" baseline="0" noProof="0" dirty="0">
                        <a:ln>
                          <a:noFill/>
                        </a:ln>
                        <a:effectLst/>
                        <a:uLnTx/>
                        <a:uFillTx/>
                        <a:latin typeface="Calibri"/>
                        <a:ea typeface="Calibri" pitchFamily="34" charset="0"/>
                        <a:cs typeface="Arial" pitchFamily="34" charset="0"/>
                      </a:rPr>
                      <a:t>Portfolio Framework</a:t>
                    </a:r>
                  </a:p>
                </p:txBody>
              </p:sp>
            </p:grpSp>
          </p:grpSp>
          <p:sp>
            <p:nvSpPr>
              <p:cNvPr id="66" name="Rounded Rectangle 18">
                <a:extLst>
                  <a:ext uri="{FF2B5EF4-FFF2-40B4-BE49-F238E27FC236}">
                    <a16:creationId xmlns:a16="http://schemas.microsoft.com/office/drawing/2014/main" id="{63653961-A972-47EC-B29F-75ABA9B2D523}"/>
                  </a:ext>
                </a:extLst>
              </p:cNvPr>
              <p:cNvSpPr/>
              <p:nvPr/>
            </p:nvSpPr>
            <p:spPr>
              <a:xfrm>
                <a:off x="2903321" y="4245509"/>
                <a:ext cx="8809254" cy="887333"/>
              </a:xfrm>
              <a:prstGeom prst="roundRect">
                <a:avLst/>
              </a:prstGeom>
              <a:ln w="12700">
                <a:solidFill>
                  <a:srgbClr val="53565A"/>
                </a:solidFill>
                <a:prstDash val="sysDot"/>
              </a:ln>
            </p:spPr>
            <p:txBody>
              <a:bodyPr lIns="97976" tIns="97976" rIns="5120640" bIns="97976" anchor="ctr" anchorCtr="0">
                <a:noAutofit/>
              </a:bodyPr>
              <a:lstStyle/>
              <a:p>
                <a:pPr>
                  <a:spcBef>
                    <a:spcPts val="544"/>
                  </a:spcBef>
                  <a:buSzPct val="100000"/>
                </a:pPr>
                <a:r>
                  <a:rPr lang="en-US" sz="1400" b="1" dirty="0"/>
                  <a:t>Usage of Tools &amp; Accelerators to meet </a:t>
                </a:r>
                <a:br>
                  <a:rPr lang="en-US" sz="1400" b="1" dirty="0"/>
                </a:br>
                <a:r>
                  <a:rPr lang="en-US" sz="1400" b="1" dirty="0"/>
                  <a:t>timeframe and objectives</a:t>
                </a:r>
                <a:endParaRPr lang="en-IN" sz="1400" b="1" dirty="0"/>
              </a:p>
            </p:txBody>
          </p:sp>
        </p:grpSp>
        <p:grpSp>
          <p:nvGrpSpPr>
            <p:cNvPr id="28" name="Group 27">
              <a:extLst>
                <a:ext uri="{FF2B5EF4-FFF2-40B4-BE49-F238E27FC236}">
                  <a16:creationId xmlns:a16="http://schemas.microsoft.com/office/drawing/2014/main" id="{87E3AF24-CE09-4DBC-BEBA-CAE30A759A4D}"/>
                </a:ext>
              </a:extLst>
            </p:cNvPr>
            <p:cNvGrpSpPr/>
            <p:nvPr/>
          </p:nvGrpSpPr>
          <p:grpSpPr>
            <a:xfrm>
              <a:off x="2903321" y="5336419"/>
              <a:ext cx="8809254" cy="886968"/>
              <a:chOff x="2903321" y="5336419"/>
              <a:chExt cx="8809254" cy="886968"/>
            </a:xfrm>
          </p:grpSpPr>
          <p:grpSp>
            <p:nvGrpSpPr>
              <p:cNvPr id="14" name="Group 13">
                <a:extLst>
                  <a:ext uri="{FF2B5EF4-FFF2-40B4-BE49-F238E27FC236}">
                    <a16:creationId xmlns:a16="http://schemas.microsoft.com/office/drawing/2014/main" id="{DB80C386-5A15-4185-8C72-434DAC3F719C}"/>
                  </a:ext>
                </a:extLst>
              </p:cNvPr>
              <p:cNvGrpSpPr/>
              <p:nvPr/>
            </p:nvGrpSpPr>
            <p:grpSpPr>
              <a:xfrm>
                <a:off x="6813660" y="5532680"/>
                <a:ext cx="4823504" cy="494447"/>
                <a:chOff x="6813660" y="5564242"/>
                <a:chExt cx="4823504" cy="494447"/>
              </a:xfrm>
            </p:grpSpPr>
            <p:pic>
              <p:nvPicPr>
                <p:cNvPr id="166" name="Picture 165">
                  <a:extLst>
                    <a:ext uri="{FF2B5EF4-FFF2-40B4-BE49-F238E27FC236}">
                      <a16:creationId xmlns:a16="http://schemas.microsoft.com/office/drawing/2014/main" id="{BF8AC442-364F-4415-AF1D-8D42857CF837}"/>
                    </a:ext>
                  </a:extLst>
                </p:cNvPr>
                <p:cNvPicPr>
                  <a:picLocks noChangeAspect="1"/>
                </p:cNvPicPr>
                <p:nvPr/>
              </p:nvPicPr>
              <p:blipFill rotWithShape="1">
                <a:blip r:embed="rId14"/>
                <a:srcRect/>
                <a:stretch/>
              </p:blipFill>
              <p:spPr>
                <a:xfrm>
                  <a:off x="9146951" y="5583824"/>
                  <a:ext cx="885135" cy="455283"/>
                </a:xfrm>
                <a:prstGeom prst="rect">
                  <a:avLst/>
                </a:prstGeom>
              </p:spPr>
            </p:pic>
            <p:pic>
              <p:nvPicPr>
                <p:cNvPr id="167" name="Picture 166">
                  <a:extLst>
                    <a:ext uri="{FF2B5EF4-FFF2-40B4-BE49-F238E27FC236}">
                      <a16:creationId xmlns:a16="http://schemas.microsoft.com/office/drawing/2014/main" id="{AEEB3F0A-15F6-4D9C-A910-CEA06032479C}"/>
                    </a:ext>
                  </a:extLst>
                </p:cNvPr>
                <p:cNvPicPr>
                  <a:picLocks noChangeAspect="1"/>
                </p:cNvPicPr>
                <p:nvPr/>
              </p:nvPicPr>
              <p:blipFill rotWithShape="1">
                <a:blip r:embed="rId15"/>
                <a:srcRect/>
                <a:stretch/>
              </p:blipFill>
              <p:spPr>
                <a:xfrm>
                  <a:off x="6813660" y="5564242"/>
                  <a:ext cx="1071685" cy="494447"/>
                </a:xfrm>
                <a:prstGeom prst="rect">
                  <a:avLst/>
                </a:prstGeom>
              </p:spPr>
            </p:pic>
            <p:sp>
              <p:nvSpPr>
                <p:cNvPr id="168" name="TextBox 167">
                  <a:extLst>
                    <a:ext uri="{FF2B5EF4-FFF2-40B4-BE49-F238E27FC236}">
                      <a16:creationId xmlns:a16="http://schemas.microsoft.com/office/drawing/2014/main" id="{8C9EDC88-9D50-4838-A5D1-7EB64E71E3F6}"/>
                    </a:ext>
                  </a:extLst>
                </p:cNvPr>
                <p:cNvSpPr txBox="1"/>
                <p:nvPr/>
              </p:nvSpPr>
              <p:spPr>
                <a:xfrm>
                  <a:off x="7944983" y="5657577"/>
                  <a:ext cx="1142330" cy="307777"/>
                </a:xfrm>
                <a:prstGeom prst="rect">
                  <a:avLst/>
                </a:prstGeom>
                <a:noFill/>
              </p:spPr>
              <p:txBody>
                <a:bodyPr wrap="square" lIns="0" tIns="0" rIns="0" bIns="0" rtlCol="0" anchor="ctr">
                  <a:spAutoFit/>
                </a:bodyPr>
                <a:lstStyle>
                  <a:defPPr>
                    <a:defRPr lang="en-US"/>
                  </a:defPPr>
                  <a:lvl2pPr marL="101600" marR="0" lvl="1" algn="ctr" fontAlgn="auto">
                    <a:lnSpc>
                      <a:spcPct val="100000"/>
                    </a:lnSpc>
                    <a:spcBef>
                      <a:spcPts val="600"/>
                    </a:spcBef>
                    <a:spcAft>
                      <a:spcPts val="0"/>
                    </a:spcAft>
                    <a:buClrTx/>
                    <a:buSzPct val="65000"/>
                    <a:tabLst/>
                    <a:defRPr sz="700" i="1">
                      <a:solidFill>
                        <a:schemeClr val="tx2"/>
                      </a:solidFill>
                      <a:latin typeface="Verdana"/>
                      <a:ea typeface="Calibri" pitchFamily="34" charset="0"/>
                      <a:cs typeface="Arial" pitchFamily="34" charset="0"/>
                    </a:defRPr>
                  </a:lvl2pPr>
                </a:lstStyle>
                <a:p>
                  <a:pPr lvl="1" defTabSz="914400"/>
                  <a:r>
                    <a:rPr lang="en-US" sz="1000" dirty="0">
                      <a:solidFill>
                        <a:schemeClr val="tx1"/>
                      </a:solidFill>
                      <a:latin typeface="Calibri"/>
                    </a:rPr>
                    <a:t>Scenario Planning Approach</a:t>
                  </a:r>
                </a:p>
              </p:txBody>
            </p:sp>
            <p:sp>
              <p:nvSpPr>
                <p:cNvPr id="169" name="TextBox 168">
                  <a:extLst>
                    <a:ext uri="{FF2B5EF4-FFF2-40B4-BE49-F238E27FC236}">
                      <a16:creationId xmlns:a16="http://schemas.microsoft.com/office/drawing/2014/main" id="{89648CD2-0506-42A1-9F54-EE1DE7D27AFE}"/>
                    </a:ext>
                  </a:extLst>
                </p:cNvPr>
                <p:cNvSpPr txBox="1"/>
                <p:nvPr/>
              </p:nvSpPr>
              <p:spPr>
                <a:xfrm>
                  <a:off x="10091723" y="5580633"/>
                  <a:ext cx="1545441" cy="461665"/>
                </a:xfrm>
                <a:prstGeom prst="rect">
                  <a:avLst/>
                </a:prstGeom>
                <a:noFill/>
              </p:spPr>
              <p:txBody>
                <a:bodyPr wrap="square" lIns="0" tIns="0" rIns="0" bIns="0" rtlCol="0" anchor="ctr">
                  <a:spAutoFit/>
                </a:bodyPr>
                <a:lstStyle>
                  <a:defPPr>
                    <a:defRPr lang="en-US"/>
                  </a:defPPr>
                  <a:lvl2pPr marL="101600" marR="0" lvl="1" algn="ctr" fontAlgn="auto">
                    <a:lnSpc>
                      <a:spcPct val="100000"/>
                    </a:lnSpc>
                    <a:spcBef>
                      <a:spcPts val="600"/>
                    </a:spcBef>
                    <a:spcAft>
                      <a:spcPts val="0"/>
                    </a:spcAft>
                    <a:buClrTx/>
                    <a:buSzPct val="65000"/>
                    <a:tabLst/>
                    <a:defRPr sz="700" i="1">
                      <a:solidFill>
                        <a:schemeClr val="tx2"/>
                      </a:solidFill>
                      <a:latin typeface="Verdana"/>
                      <a:ea typeface="Calibri" pitchFamily="34" charset="0"/>
                      <a:cs typeface="Arial" pitchFamily="34" charset="0"/>
                    </a:defRPr>
                  </a:lvl2pPr>
                </a:lstStyle>
                <a:p>
                  <a:pPr lvl="1" defTabSz="914400"/>
                  <a:r>
                    <a:rPr lang="en-US" sz="1000" dirty="0">
                      <a:solidFill>
                        <a:schemeClr val="tx1"/>
                      </a:solidFill>
                      <a:latin typeface="Calibri"/>
                    </a:rPr>
                    <a:t>Best-in-Class Strategic Choice Cascade Framework </a:t>
                  </a:r>
                  <a:br>
                    <a:rPr lang="en-US" sz="1000" dirty="0">
                      <a:solidFill>
                        <a:schemeClr val="tx1"/>
                      </a:solidFill>
                      <a:latin typeface="Calibri"/>
                    </a:rPr>
                  </a:br>
                  <a:r>
                    <a:rPr lang="en-US" sz="1000" dirty="0">
                      <a:solidFill>
                        <a:schemeClr val="tx1"/>
                      </a:solidFill>
                      <a:latin typeface="Calibri"/>
                    </a:rPr>
                    <a:t>(Playing to Win)</a:t>
                  </a:r>
                </a:p>
              </p:txBody>
            </p:sp>
          </p:grpSp>
          <p:sp>
            <p:nvSpPr>
              <p:cNvPr id="67" name="Rounded Rectangle 19">
                <a:extLst>
                  <a:ext uri="{FF2B5EF4-FFF2-40B4-BE49-F238E27FC236}">
                    <a16:creationId xmlns:a16="http://schemas.microsoft.com/office/drawing/2014/main" id="{6AD4C3DA-9954-458C-A764-6224983E5CDC}"/>
                  </a:ext>
                </a:extLst>
              </p:cNvPr>
              <p:cNvSpPr/>
              <p:nvPr/>
            </p:nvSpPr>
            <p:spPr>
              <a:xfrm>
                <a:off x="2903321" y="5336419"/>
                <a:ext cx="8809254" cy="886968"/>
              </a:xfrm>
              <a:prstGeom prst="roundRect">
                <a:avLst/>
              </a:prstGeom>
              <a:ln w="12700">
                <a:solidFill>
                  <a:srgbClr val="009A44"/>
                </a:solidFill>
                <a:prstDash val="sysDot"/>
              </a:ln>
            </p:spPr>
            <p:txBody>
              <a:bodyPr lIns="97976" tIns="97976" rIns="5120640" bIns="97976" anchor="ctr" anchorCtr="0">
                <a:noAutofit/>
              </a:bodyPr>
              <a:lstStyle/>
              <a:p>
                <a:pPr>
                  <a:spcBef>
                    <a:spcPts val="544"/>
                  </a:spcBef>
                  <a:buSzPct val="100000"/>
                </a:pPr>
                <a:r>
                  <a:rPr lang="en-US" sz="1400" b="1" dirty="0"/>
                  <a:t>Innovative &amp; pragmatic approach to deliver this transformation successfully addressing the </a:t>
                </a:r>
                <a:br>
                  <a:rPr lang="en-US" sz="1400" b="1" dirty="0"/>
                </a:br>
                <a:r>
                  <a:rPr lang="en-US" sz="1400" b="1" dirty="0"/>
                  <a:t>key challenges and minimizing the risks </a:t>
                </a:r>
              </a:p>
            </p:txBody>
          </p:sp>
        </p:grpSp>
      </p:grpSp>
      <p:sp>
        <p:nvSpPr>
          <p:cNvPr id="135" name="Rectangle 134">
            <a:extLst>
              <a:ext uri="{FF2B5EF4-FFF2-40B4-BE49-F238E27FC236}">
                <a16:creationId xmlns:a16="http://schemas.microsoft.com/office/drawing/2014/main" id="{FCD6CA74-594F-4EF1-8931-48CFD3C93C52}"/>
              </a:ext>
            </a:extLst>
          </p:cNvPr>
          <p:cNvSpPr/>
          <p:nvPr/>
        </p:nvSpPr>
        <p:spPr>
          <a:xfrm>
            <a:off x="492052" y="3364346"/>
            <a:ext cx="1439575" cy="646331"/>
          </a:xfrm>
          <a:prstGeom prst="rect">
            <a:avLst/>
          </a:prstGeom>
        </p:spPr>
        <p:txBody>
          <a:bodyPr wrap="square">
            <a:spAutoFit/>
          </a:bodyPr>
          <a:lstStyle/>
          <a:p>
            <a:pPr algn="ctr" defTabSz="914400"/>
            <a:r>
              <a:rPr lang="en-US" sz="1800" b="1" dirty="0">
                <a:latin typeface="Calibri"/>
              </a:rPr>
              <a:t>WHY DELOITTE?</a:t>
            </a:r>
            <a:endParaRPr lang="en-IN" sz="1800" dirty="0">
              <a:latin typeface="Calibri"/>
            </a:endParaRPr>
          </a:p>
        </p:txBody>
      </p:sp>
      <p:grpSp>
        <p:nvGrpSpPr>
          <p:cNvPr id="39" name="Group 38">
            <a:extLst>
              <a:ext uri="{FF2B5EF4-FFF2-40B4-BE49-F238E27FC236}">
                <a16:creationId xmlns:a16="http://schemas.microsoft.com/office/drawing/2014/main" id="{3AA4B053-6879-4EBA-8389-2DB8B6B53F1C}"/>
              </a:ext>
            </a:extLst>
          </p:cNvPr>
          <p:cNvGrpSpPr/>
          <p:nvPr/>
        </p:nvGrpSpPr>
        <p:grpSpPr>
          <a:xfrm>
            <a:off x="1163356" y="1458715"/>
            <a:ext cx="1739965" cy="4457593"/>
            <a:chOff x="1163356" y="1419591"/>
            <a:chExt cx="1739965" cy="4457593"/>
          </a:xfrm>
        </p:grpSpPr>
        <p:grpSp>
          <p:nvGrpSpPr>
            <p:cNvPr id="34" name="Group 33">
              <a:extLst>
                <a:ext uri="{FF2B5EF4-FFF2-40B4-BE49-F238E27FC236}">
                  <a16:creationId xmlns:a16="http://schemas.microsoft.com/office/drawing/2014/main" id="{FA750C78-4C7C-4854-A1E5-473D2C98A664}"/>
                </a:ext>
              </a:extLst>
            </p:cNvPr>
            <p:cNvGrpSpPr/>
            <p:nvPr/>
          </p:nvGrpSpPr>
          <p:grpSpPr>
            <a:xfrm>
              <a:off x="1163356" y="1419591"/>
              <a:ext cx="1739965" cy="690696"/>
              <a:chOff x="1163356" y="1419591"/>
              <a:chExt cx="1739965" cy="690696"/>
            </a:xfrm>
          </p:grpSpPr>
          <p:sp>
            <p:nvSpPr>
              <p:cNvPr id="79" name="Oval 78">
                <a:extLst>
                  <a:ext uri="{FF2B5EF4-FFF2-40B4-BE49-F238E27FC236}">
                    <a16:creationId xmlns:a16="http://schemas.microsoft.com/office/drawing/2014/main" id="{EE00E0F5-298A-4C7A-82B2-22A7EE1B8BDA}"/>
                  </a:ext>
                </a:extLst>
              </p:cNvPr>
              <p:cNvSpPr/>
              <p:nvPr/>
            </p:nvSpPr>
            <p:spPr bwMode="gray">
              <a:xfrm>
                <a:off x="1163356" y="1419591"/>
                <a:ext cx="690696" cy="690696"/>
              </a:xfrm>
              <a:prstGeom prst="ellipse">
                <a:avLst/>
              </a:prstGeom>
              <a:solidFill>
                <a:schemeClr val="accent5"/>
              </a:solidFill>
              <a:ln w="38100" algn="ctr">
                <a:solidFill>
                  <a:schemeClr val="bg1"/>
                </a:solidFill>
                <a:miter lim="800000"/>
                <a:headEnd/>
                <a:tailEnd/>
              </a:ln>
            </p:spPr>
            <p:txBody>
              <a:bodyPr wrap="square" lIns="80648" tIns="80648" rIns="80648" bIns="80648" rtlCol="0" anchor="ctr"/>
              <a:lstStyle/>
              <a:p>
                <a:pPr algn="ctr">
                  <a:lnSpc>
                    <a:spcPct val="106000"/>
                  </a:lnSpc>
                  <a:buFont typeface="Wingdings 2" pitchFamily="18" charset="2"/>
                  <a:buNone/>
                </a:pPr>
                <a:endParaRPr lang="en-US" sz="1452" b="1" dirty="0">
                  <a:solidFill>
                    <a:schemeClr val="bg1"/>
                  </a:solidFill>
                </a:endParaRPr>
              </a:p>
            </p:txBody>
          </p:sp>
          <p:cxnSp>
            <p:nvCxnSpPr>
              <p:cNvPr id="77" name="Elbow Connector 20">
                <a:extLst>
                  <a:ext uri="{FF2B5EF4-FFF2-40B4-BE49-F238E27FC236}">
                    <a16:creationId xmlns:a16="http://schemas.microsoft.com/office/drawing/2014/main" id="{8A4DA1C5-A896-4B74-85A3-3512F27CEE37}"/>
                  </a:ext>
                </a:extLst>
              </p:cNvPr>
              <p:cNvCxnSpPr>
                <a:cxnSpLocks/>
              </p:cNvCxnSpPr>
              <p:nvPr/>
            </p:nvCxnSpPr>
            <p:spPr>
              <a:xfrm>
                <a:off x="1802206" y="1764939"/>
                <a:ext cx="1101115" cy="0"/>
              </a:xfrm>
              <a:prstGeom prst="straightConnector1">
                <a:avLst/>
              </a:prstGeom>
              <a:ln w="12700">
                <a:solidFill>
                  <a:schemeClr val="accent5"/>
                </a:solidFill>
                <a:prstDash val="sysDot"/>
                <a:tailEnd type="oval"/>
              </a:ln>
            </p:spPr>
          </p:cxnSp>
          <p:sp>
            <p:nvSpPr>
              <p:cNvPr id="149" name="Freeform 908">
                <a:extLst>
                  <a:ext uri="{FF2B5EF4-FFF2-40B4-BE49-F238E27FC236}">
                    <a16:creationId xmlns:a16="http://schemas.microsoft.com/office/drawing/2014/main" id="{2B23EBF2-EB65-456C-82AB-549A465BEF4C}"/>
                  </a:ext>
                </a:extLst>
              </p:cNvPr>
              <p:cNvSpPr>
                <a:spLocks noChangeAspect="1" noEditPoints="1"/>
              </p:cNvSpPr>
              <p:nvPr/>
            </p:nvSpPr>
            <p:spPr bwMode="auto">
              <a:xfrm>
                <a:off x="1266064" y="1522299"/>
                <a:ext cx="485281" cy="485281"/>
              </a:xfrm>
              <a:custGeom>
                <a:avLst/>
                <a:gdLst>
                  <a:gd name="T0" fmla="*/ 160 w 512"/>
                  <a:gd name="T1" fmla="*/ 224 h 512"/>
                  <a:gd name="T2" fmla="*/ 213 w 512"/>
                  <a:gd name="T3" fmla="*/ 224 h 512"/>
                  <a:gd name="T4" fmla="*/ 213 w 512"/>
                  <a:gd name="T5" fmla="*/ 245 h 512"/>
                  <a:gd name="T6" fmla="*/ 160 w 512"/>
                  <a:gd name="T7" fmla="*/ 245 h 512"/>
                  <a:gd name="T8" fmla="*/ 160 w 512"/>
                  <a:gd name="T9" fmla="*/ 224 h 512"/>
                  <a:gd name="T10" fmla="*/ 234 w 512"/>
                  <a:gd name="T11" fmla="*/ 352 h 512"/>
                  <a:gd name="T12" fmla="*/ 256 w 512"/>
                  <a:gd name="T13" fmla="*/ 352 h 512"/>
                  <a:gd name="T14" fmla="*/ 256 w 512"/>
                  <a:gd name="T15" fmla="*/ 266 h 512"/>
                  <a:gd name="T16" fmla="*/ 234 w 512"/>
                  <a:gd name="T17" fmla="*/ 266 h 512"/>
                  <a:gd name="T18" fmla="*/ 234 w 512"/>
                  <a:gd name="T19" fmla="*/ 352 h 512"/>
                  <a:gd name="T20" fmla="*/ 160 w 512"/>
                  <a:gd name="T21" fmla="*/ 352 h 512"/>
                  <a:gd name="T22" fmla="*/ 213 w 512"/>
                  <a:gd name="T23" fmla="*/ 352 h 512"/>
                  <a:gd name="T24" fmla="*/ 213 w 512"/>
                  <a:gd name="T25" fmla="*/ 266 h 512"/>
                  <a:gd name="T26" fmla="*/ 160 w 512"/>
                  <a:gd name="T27" fmla="*/ 266 h 512"/>
                  <a:gd name="T28" fmla="*/ 160 w 512"/>
                  <a:gd name="T29" fmla="*/ 352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77 w 512"/>
                  <a:gd name="T41" fmla="*/ 256 h 512"/>
                  <a:gd name="T42" fmla="*/ 266 w 512"/>
                  <a:gd name="T43" fmla="*/ 245 h 512"/>
                  <a:gd name="T44" fmla="*/ 234 w 512"/>
                  <a:gd name="T45" fmla="*/ 245 h 512"/>
                  <a:gd name="T46" fmla="*/ 234 w 512"/>
                  <a:gd name="T47" fmla="*/ 213 h 512"/>
                  <a:gd name="T48" fmla="*/ 224 w 512"/>
                  <a:gd name="T49" fmla="*/ 202 h 512"/>
                  <a:gd name="T50" fmla="*/ 149 w 512"/>
                  <a:gd name="T51" fmla="*/ 202 h 512"/>
                  <a:gd name="T52" fmla="*/ 138 w 512"/>
                  <a:gd name="T53" fmla="*/ 213 h 512"/>
                  <a:gd name="T54" fmla="*/ 138 w 512"/>
                  <a:gd name="T55" fmla="*/ 245 h 512"/>
                  <a:gd name="T56" fmla="*/ 106 w 512"/>
                  <a:gd name="T57" fmla="*/ 245 h 512"/>
                  <a:gd name="T58" fmla="*/ 96 w 512"/>
                  <a:gd name="T59" fmla="*/ 256 h 512"/>
                  <a:gd name="T60" fmla="*/ 96 w 512"/>
                  <a:gd name="T61" fmla="*/ 362 h 512"/>
                  <a:gd name="T62" fmla="*/ 106 w 512"/>
                  <a:gd name="T63" fmla="*/ 373 h 512"/>
                  <a:gd name="T64" fmla="*/ 266 w 512"/>
                  <a:gd name="T65" fmla="*/ 373 h 512"/>
                  <a:gd name="T66" fmla="*/ 277 w 512"/>
                  <a:gd name="T67" fmla="*/ 362 h 512"/>
                  <a:gd name="T68" fmla="*/ 277 w 512"/>
                  <a:gd name="T69" fmla="*/ 256 h 512"/>
                  <a:gd name="T70" fmla="*/ 413 w 512"/>
                  <a:gd name="T71" fmla="*/ 259 h 512"/>
                  <a:gd name="T72" fmla="*/ 362 w 512"/>
                  <a:gd name="T73" fmla="*/ 209 h 512"/>
                  <a:gd name="T74" fmla="*/ 374 w 512"/>
                  <a:gd name="T75" fmla="*/ 174 h 512"/>
                  <a:gd name="T76" fmla="*/ 356 w 512"/>
                  <a:gd name="T77" fmla="*/ 131 h 512"/>
                  <a:gd name="T78" fmla="*/ 313 w 512"/>
                  <a:gd name="T79" fmla="*/ 113 h 512"/>
                  <a:gd name="T80" fmla="*/ 269 w 512"/>
                  <a:gd name="T81" fmla="*/ 131 h 512"/>
                  <a:gd name="T82" fmla="*/ 252 w 512"/>
                  <a:gd name="T83" fmla="*/ 174 h 512"/>
                  <a:gd name="T84" fmla="*/ 269 w 512"/>
                  <a:gd name="T85" fmla="*/ 217 h 512"/>
                  <a:gd name="T86" fmla="*/ 313 w 512"/>
                  <a:gd name="T87" fmla="*/ 235 h 512"/>
                  <a:gd name="T88" fmla="*/ 347 w 512"/>
                  <a:gd name="T89" fmla="*/ 224 h 512"/>
                  <a:gd name="T90" fmla="*/ 397 w 512"/>
                  <a:gd name="T91" fmla="*/ 274 h 512"/>
                  <a:gd name="T92" fmla="*/ 405 w 512"/>
                  <a:gd name="T93" fmla="*/ 277 h 512"/>
                  <a:gd name="T94" fmla="*/ 413 w 512"/>
                  <a:gd name="T95" fmla="*/ 274 h 512"/>
                  <a:gd name="T96" fmla="*/ 413 w 512"/>
                  <a:gd name="T97" fmla="*/ 259 h 512"/>
                  <a:gd name="T98" fmla="*/ 117 w 512"/>
                  <a:gd name="T99" fmla="*/ 352 h 512"/>
                  <a:gd name="T100" fmla="*/ 138 w 512"/>
                  <a:gd name="T101" fmla="*/ 352 h 512"/>
                  <a:gd name="T102" fmla="*/ 138 w 512"/>
                  <a:gd name="T103" fmla="*/ 266 h 512"/>
                  <a:gd name="T104" fmla="*/ 117 w 512"/>
                  <a:gd name="T105" fmla="*/ 266 h 512"/>
                  <a:gd name="T106" fmla="*/ 117 w 512"/>
                  <a:gd name="T107" fmla="*/ 352 h 512"/>
                  <a:gd name="T108" fmla="*/ 313 w 512"/>
                  <a:gd name="T109" fmla="*/ 134 h 512"/>
                  <a:gd name="T110" fmla="*/ 285 w 512"/>
                  <a:gd name="T111" fmla="*/ 146 h 512"/>
                  <a:gd name="T112" fmla="*/ 285 w 512"/>
                  <a:gd name="T113" fmla="*/ 202 h 512"/>
                  <a:gd name="T114" fmla="*/ 341 w 512"/>
                  <a:gd name="T115" fmla="*/ 202 h 512"/>
                  <a:gd name="T116" fmla="*/ 352 w 512"/>
                  <a:gd name="T117" fmla="*/ 174 h 512"/>
                  <a:gd name="T118" fmla="*/ 341 w 512"/>
                  <a:gd name="T119" fmla="*/ 146 h 512"/>
                  <a:gd name="T120" fmla="*/ 313 w 512"/>
                  <a:gd name="T121" fmla="*/ 13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160" y="224"/>
                    </a:moveTo>
                    <a:cubicBezTo>
                      <a:pt x="213" y="224"/>
                      <a:pt x="213" y="224"/>
                      <a:pt x="213" y="224"/>
                    </a:cubicBezTo>
                    <a:cubicBezTo>
                      <a:pt x="213" y="245"/>
                      <a:pt x="213" y="245"/>
                      <a:pt x="213" y="245"/>
                    </a:cubicBezTo>
                    <a:cubicBezTo>
                      <a:pt x="160" y="245"/>
                      <a:pt x="160" y="245"/>
                      <a:pt x="160" y="245"/>
                    </a:cubicBezTo>
                    <a:lnTo>
                      <a:pt x="160" y="224"/>
                    </a:lnTo>
                    <a:close/>
                    <a:moveTo>
                      <a:pt x="234" y="352"/>
                    </a:moveTo>
                    <a:cubicBezTo>
                      <a:pt x="256" y="352"/>
                      <a:pt x="256" y="352"/>
                      <a:pt x="256" y="352"/>
                    </a:cubicBezTo>
                    <a:cubicBezTo>
                      <a:pt x="256" y="266"/>
                      <a:pt x="256" y="266"/>
                      <a:pt x="256" y="266"/>
                    </a:cubicBezTo>
                    <a:cubicBezTo>
                      <a:pt x="234" y="266"/>
                      <a:pt x="234" y="266"/>
                      <a:pt x="234" y="266"/>
                    </a:cubicBezTo>
                    <a:lnTo>
                      <a:pt x="234" y="352"/>
                    </a:lnTo>
                    <a:close/>
                    <a:moveTo>
                      <a:pt x="160" y="352"/>
                    </a:moveTo>
                    <a:cubicBezTo>
                      <a:pt x="213" y="352"/>
                      <a:pt x="213" y="352"/>
                      <a:pt x="213" y="352"/>
                    </a:cubicBezTo>
                    <a:cubicBezTo>
                      <a:pt x="213" y="266"/>
                      <a:pt x="213" y="266"/>
                      <a:pt x="213" y="266"/>
                    </a:cubicBezTo>
                    <a:cubicBezTo>
                      <a:pt x="160" y="266"/>
                      <a:pt x="160" y="266"/>
                      <a:pt x="160" y="266"/>
                    </a:cubicBezTo>
                    <a:lnTo>
                      <a:pt x="160" y="352"/>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77" y="256"/>
                    </a:moveTo>
                    <a:cubicBezTo>
                      <a:pt x="277" y="250"/>
                      <a:pt x="272" y="245"/>
                      <a:pt x="266" y="245"/>
                    </a:cubicBezTo>
                    <a:cubicBezTo>
                      <a:pt x="234" y="245"/>
                      <a:pt x="234" y="245"/>
                      <a:pt x="234" y="245"/>
                    </a:cubicBezTo>
                    <a:cubicBezTo>
                      <a:pt x="234" y="213"/>
                      <a:pt x="234" y="213"/>
                      <a:pt x="234" y="213"/>
                    </a:cubicBezTo>
                    <a:cubicBezTo>
                      <a:pt x="234" y="207"/>
                      <a:pt x="230" y="202"/>
                      <a:pt x="224" y="202"/>
                    </a:cubicBezTo>
                    <a:cubicBezTo>
                      <a:pt x="149" y="202"/>
                      <a:pt x="149" y="202"/>
                      <a:pt x="149" y="202"/>
                    </a:cubicBezTo>
                    <a:cubicBezTo>
                      <a:pt x="143" y="202"/>
                      <a:pt x="138" y="207"/>
                      <a:pt x="138" y="213"/>
                    </a:cubicBezTo>
                    <a:cubicBezTo>
                      <a:pt x="138" y="245"/>
                      <a:pt x="138" y="245"/>
                      <a:pt x="138" y="245"/>
                    </a:cubicBezTo>
                    <a:cubicBezTo>
                      <a:pt x="106" y="245"/>
                      <a:pt x="106" y="245"/>
                      <a:pt x="106" y="245"/>
                    </a:cubicBezTo>
                    <a:cubicBezTo>
                      <a:pt x="100" y="245"/>
                      <a:pt x="96" y="250"/>
                      <a:pt x="96" y="256"/>
                    </a:cubicBezTo>
                    <a:cubicBezTo>
                      <a:pt x="96" y="362"/>
                      <a:pt x="96" y="362"/>
                      <a:pt x="96" y="362"/>
                    </a:cubicBezTo>
                    <a:cubicBezTo>
                      <a:pt x="96" y="368"/>
                      <a:pt x="100" y="373"/>
                      <a:pt x="106" y="373"/>
                    </a:cubicBezTo>
                    <a:cubicBezTo>
                      <a:pt x="266" y="373"/>
                      <a:pt x="266" y="373"/>
                      <a:pt x="266" y="373"/>
                    </a:cubicBezTo>
                    <a:cubicBezTo>
                      <a:pt x="272" y="373"/>
                      <a:pt x="277" y="368"/>
                      <a:pt x="277" y="362"/>
                    </a:cubicBezTo>
                    <a:lnTo>
                      <a:pt x="277" y="256"/>
                    </a:lnTo>
                    <a:close/>
                    <a:moveTo>
                      <a:pt x="413" y="259"/>
                    </a:moveTo>
                    <a:cubicBezTo>
                      <a:pt x="362" y="209"/>
                      <a:pt x="362" y="209"/>
                      <a:pt x="362" y="209"/>
                    </a:cubicBezTo>
                    <a:cubicBezTo>
                      <a:pt x="370" y="199"/>
                      <a:pt x="374" y="187"/>
                      <a:pt x="374" y="174"/>
                    </a:cubicBezTo>
                    <a:cubicBezTo>
                      <a:pt x="374" y="158"/>
                      <a:pt x="367" y="142"/>
                      <a:pt x="356" y="131"/>
                    </a:cubicBezTo>
                    <a:cubicBezTo>
                      <a:pt x="344" y="119"/>
                      <a:pt x="329" y="113"/>
                      <a:pt x="313" y="113"/>
                    </a:cubicBezTo>
                    <a:cubicBezTo>
                      <a:pt x="296" y="113"/>
                      <a:pt x="281" y="119"/>
                      <a:pt x="269" y="131"/>
                    </a:cubicBezTo>
                    <a:cubicBezTo>
                      <a:pt x="258" y="142"/>
                      <a:pt x="252" y="158"/>
                      <a:pt x="252" y="174"/>
                    </a:cubicBezTo>
                    <a:cubicBezTo>
                      <a:pt x="252" y="190"/>
                      <a:pt x="258" y="205"/>
                      <a:pt x="269" y="217"/>
                    </a:cubicBezTo>
                    <a:cubicBezTo>
                      <a:pt x="281" y="229"/>
                      <a:pt x="296" y="235"/>
                      <a:pt x="313" y="235"/>
                    </a:cubicBezTo>
                    <a:cubicBezTo>
                      <a:pt x="325" y="235"/>
                      <a:pt x="337" y="231"/>
                      <a:pt x="347" y="224"/>
                    </a:cubicBezTo>
                    <a:cubicBezTo>
                      <a:pt x="397" y="274"/>
                      <a:pt x="397" y="274"/>
                      <a:pt x="397" y="274"/>
                    </a:cubicBezTo>
                    <a:cubicBezTo>
                      <a:pt x="400" y="276"/>
                      <a:pt x="402" y="277"/>
                      <a:pt x="405" y="277"/>
                    </a:cubicBezTo>
                    <a:cubicBezTo>
                      <a:pt x="408" y="277"/>
                      <a:pt x="410" y="276"/>
                      <a:pt x="413" y="274"/>
                    </a:cubicBezTo>
                    <a:cubicBezTo>
                      <a:pt x="417" y="270"/>
                      <a:pt x="417" y="263"/>
                      <a:pt x="413" y="259"/>
                    </a:cubicBezTo>
                    <a:close/>
                    <a:moveTo>
                      <a:pt x="117" y="352"/>
                    </a:moveTo>
                    <a:cubicBezTo>
                      <a:pt x="138" y="352"/>
                      <a:pt x="138" y="352"/>
                      <a:pt x="138" y="352"/>
                    </a:cubicBezTo>
                    <a:cubicBezTo>
                      <a:pt x="138" y="266"/>
                      <a:pt x="138" y="266"/>
                      <a:pt x="138" y="266"/>
                    </a:cubicBezTo>
                    <a:cubicBezTo>
                      <a:pt x="117" y="266"/>
                      <a:pt x="117" y="266"/>
                      <a:pt x="117" y="266"/>
                    </a:cubicBezTo>
                    <a:lnTo>
                      <a:pt x="117" y="352"/>
                    </a:lnTo>
                    <a:close/>
                    <a:moveTo>
                      <a:pt x="313" y="134"/>
                    </a:moveTo>
                    <a:cubicBezTo>
                      <a:pt x="302" y="134"/>
                      <a:pt x="292" y="138"/>
                      <a:pt x="285" y="146"/>
                    </a:cubicBezTo>
                    <a:cubicBezTo>
                      <a:pt x="269" y="161"/>
                      <a:pt x="269" y="186"/>
                      <a:pt x="285" y="202"/>
                    </a:cubicBezTo>
                    <a:cubicBezTo>
                      <a:pt x="300" y="217"/>
                      <a:pt x="325" y="217"/>
                      <a:pt x="341" y="202"/>
                    </a:cubicBezTo>
                    <a:cubicBezTo>
                      <a:pt x="348" y="194"/>
                      <a:pt x="352" y="184"/>
                      <a:pt x="352" y="174"/>
                    </a:cubicBezTo>
                    <a:cubicBezTo>
                      <a:pt x="352" y="163"/>
                      <a:pt x="348" y="153"/>
                      <a:pt x="341" y="146"/>
                    </a:cubicBezTo>
                    <a:cubicBezTo>
                      <a:pt x="333" y="138"/>
                      <a:pt x="323" y="134"/>
                      <a:pt x="313" y="13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black"/>
                  </a:solidFill>
                  <a:effectLst/>
                  <a:uLnTx/>
                  <a:uFillTx/>
                  <a:latin typeface="Calibri"/>
                </a:endParaRPr>
              </a:p>
            </p:txBody>
          </p:sp>
        </p:grpSp>
        <p:grpSp>
          <p:nvGrpSpPr>
            <p:cNvPr id="35" name="Group 34">
              <a:extLst>
                <a:ext uri="{FF2B5EF4-FFF2-40B4-BE49-F238E27FC236}">
                  <a16:creationId xmlns:a16="http://schemas.microsoft.com/office/drawing/2014/main" id="{1944C980-53AC-4912-A70E-1EB6739A7BDB}"/>
                </a:ext>
              </a:extLst>
            </p:cNvPr>
            <p:cNvGrpSpPr/>
            <p:nvPr/>
          </p:nvGrpSpPr>
          <p:grpSpPr>
            <a:xfrm>
              <a:off x="1850918" y="2361315"/>
              <a:ext cx="1052403" cy="690696"/>
              <a:chOff x="1850918" y="2290463"/>
              <a:chExt cx="1052403" cy="690696"/>
            </a:xfrm>
          </p:grpSpPr>
          <p:sp>
            <p:nvSpPr>
              <p:cNvPr id="113" name="Oval 112">
                <a:extLst>
                  <a:ext uri="{FF2B5EF4-FFF2-40B4-BE49-F238E27FC236}">
                    <a16:creationId xmlns:a16="http://schemas.microsoft.com/office/drawing/2014/main" id="{1F08D53D-8D3A-46E7-903C-D9E730F4E7FF}"/>
                  </a:ext>
                </a:extLst>
              </p:cNvPr>
              <p:cNvSpPr/>
              <p:nvPr/>
            </p:nvSpPr>
            <p:spPr bwMode="gray">
              <a:xfrm>
                <a:off x="1850918" y="2290463"/>
                <a:ext cx="690696" cy="690696"/>
              </a:xfrm>
              <a:prstGeom prst="ellipse">
                <a:avLst/>
              </a:prstGeom>
              <a:solidFill>
                <a:schemeClr val="accent2"/>
              </a:solidFill>
              <a:ln w="38100" algn="ctr">
                <a:solidFill>
                  <a:schemeClr val="bg1"/>
                </a:solidFill>
                <a:miter lim="800000"/>
                <a:headEnd/>
                <a:tailEnd/>
              </a:ln>
            </p:spPr>
            <p:txBody>
              <a:bodyPr wrap="square" lIns="80648" tIns="80648" rIns="80648" bIns="80648" rtlCol="0" anchor="ctr"/>
              <a:lstStyle/>
              <a:p>
                <a:pPr algn="ctr">
                  <a:lnSpc>
                    <a:spcPct val="106000"/>
                  </a:lnSpc>
                  <a:buFont typeface="Wingdings 2" pitchFamily="18" charset="2"/>
                  <a:buNone/>
                </a:pPr>
                <a:endParaRPr lang="en-US" sz="1452" b="1" dirty="0">
                  <a:solidFill>
                    <a:schemeClr val="bg1"/>
                  </a:solidFill>
                </a:endParaRPr>
              </a:p>
            </p:txBody>
          </p:sp>
          <p:cxnSp>
            <p:nvCxnSpPr>
              <p:cNvPr id="74" name="Straight Connector 73">
                <a:extLst>
                  <a:ext uri="{FF2B5EF4-FFF2-40B4-BE49-F238E27FC236}">
                    <a16:creationId xmlns:a16="http://schemas.microsoft.com/office/drawing/2014/main" id="{CD4DA191-EFDF-4422-B691-CF556D29F123}"/>
                  </a:ext>
                </a:extLst>
              </p:cNvPr>
              <p:cNvCxnSpPr>
                <a:cxnSpLocks/>
              </p:cNvCxnSpPr>
              <p:nvPr/>
            </p:nvCxnSpPr>
            <p:spPr>
              <a:xfrm>
                <a:off x="2541614" y="2631239"/>
                <a:ext cx="361707" cy="9144"/>
              </a:xfrm>
              <a:prstGeom prst="line">
                <a:avLst/>
              </a:prstGeom>
              <a:ln w="12700">
                <a:solidFill>
                  <a:srgbClr val="43B02A"/>
                </a:solidFill>
                <a:prstDash val="sysDot"/>
                <a:tailEnd type="oval"/>
              </a:ln>
            </p:spPr>
          </p:cxnSp>
          <p:sp>
            <p:nvSpPr>
              <p:cNvPr id="150" name="Freeform 23">
                <a:extLst>
                  <a:ext uri="{FF2B5EF4-FFF2-40B4-BE49-F238E27FC236}">
                    <a16:creationId xmlns:a16="http://schemas.microsoft.com/office/drawing/2014/main" id="{C22CFAA4-7737-4466-A7F0-A8238A77DABD}"/>
                  </a:ext>
                </a:extLst>
              </p:cNvPr>
              <p:cNvSpPr>
                <a:spLocks noChangeAspect="1" noEditPoints="1"/>
              </p:cNvSpPr>
              <p:nvPr/>
            </p:nvSpPr>
            <p:spPr bwMode="auto">
              <a:xfrm>
                <a:off x="1953238" y="2393495"/>
                <a:ext cx="486057" cy="484632"/>
              </a:xfrm>
              <a:custGeom>
                <a:avLst/>
                <a:gdLst>
                  <a:gd name="T0" fmla="*/ 192 w 512"/>
                  <a:gd name="T1" fmla="*/ 352 h 512"/>
                  <a:gd name="T2" fmla="*/ 266 w 512"/>
                  <a:gd name="T3" fmla="*/ 117 h 512"/>
                  <a:gd name="T4" fmla="*/ 227 w 512"/>
                  <a:gd name="T5" fmla="*/ 141 h 512"/>
                  <a:gd name="T6" fmla="*/ 245 w 512"/>
                  <a:gd name="T7" fmla="*/ 149 h 512"/>
                  <a:gd name="T8" fmla="*/ 234 w 512"/>
                  <a:gd name="T9" fmla="*/ 160 h 512"/>
                  <a:gd name="T10" fmla="*/ 225 w 512"/>
                  <a:gd name="T11" fmla="*/ 188 h 512"/>
                  <a:gd name="T12" fmla="*/ 244 w 512"/>
                  <a:gd name="T13" fmla="*/ 188 h 512"/>
                  <a:gd name="T14" fmla="*/ 234 w 512"/>
                  <a:gd name="T15" fmla="*/ 202 h 512"/>
                  <a:gd name="T16" fmla="*/ 225 w 512"/>
                  <a:gd name="T17" fmla="*/ 188 h 512"/>
                  <a:gd name="T18" fmla="*/ 238 w 512"/>
                  <a:gd name="T19" fmla="*/ 225 h 512"/>
                  <a:gd name="T20" fmla="*/ 242 w 512"/>
                  <a:gd name="T21" fmla="*/ 242 h 512"/>
                  <a:gd name="T22" fmla="*/ 227 w 512"/>
                  <a:gd name="T23" fmla="*/ 242 h 512"/>
                  <a:gd name="T24" fmla="*/ 225 w 512"/>
                  <a:gd name="T25" fmla="*/ 273 h 512"/>
                  <a:gd name="T26" fmla="*/ 245 w 512"/>
                  <a:gd name="T27" fmla="*/ 277 h 512"/>
                  <a:gd name="T28" fmla="*/ 230 w 512"/>
                  <a:gd name="T29" fmla="*/ 287 h 512"/>
                  <a:gd name="T30" fmla="*/ 227 w 512"/>
                  <a:gd name="T31" fmla="*/ 312 h 512"/>
                  <a:gd name="T32" fmla="*/ 242 w 512"/>
                  <a:gd name="T33" fmla="*/ 312 h 512"/>
                  <a:gd name="T34" fmla="*/ 238 w 512"/>
                  <a:gd name="T35" fmla="*/ 329 h 512"/>
                  <a:gd name="T36" fmla="*/ 224 w 512"/>
                  <a:gd name="T37" fmla="*/ 320 h 512"/>
                  <a:gd name="T38" fmla="*/ 230 w 512"/>
                  <a:gd name="T39" fmla="*/ 353 h 512"/>
                  <a:gd name="T40" fmla="*/ 244 w 512"/>
                  <a:gd name="T41" fmla="*/ 366 h 512"/>
                  <a:gd name="T42" fmla="*/ 230 w 512"/>
                  <a:gd name="T43" fmla="*/ 372 h 512"/>
                  <a:gd name="T44" fmla="*/ 225 w 512"/>
                  <a:gd name="T45" fmla="*/ 358 h 512"/>
                  <a:gd name="T46" fmla="*/ 201 w 512"/>
                  <a:gd name="T47" fmla="*/ 145 h 512"/>
                  <a:gd name="T48" fmla="*/ 188 w 512"/>
                  <a:gd name="T49" fmla="*/ 159 h 512"/>
                  <a:gd name="T50" fmla="*/ 182 w 512"/>
                  <a:gd name="T51" fmla="*/ 188 h 512"/>
                  <a:gd name="T52" fmla="*/ 190 w 512"/>
                  <a:gd name="T53" fmla="*/ 181 h 512"/>
                  <a:gd name="T54" fmla="*/ 202 w 512"/>
                  <a:gd name="T55" fmla="*/ 192 h 512"/>
                  <a:gd name="T56" fmla="*/ 184 w 512"/>
                  <a:gd name="T57" fmla="*/ 199 h 512"/>
                  <a:gd name="T58" fmla="*/ 186 w 512"/>
                  <a:gd name="T59" fmla="*/ 225 h 512"/>
                  <a:gd name="T60" fmla="*/ 196 w 512"/>
                  <a:gd name="T61" fmla="*/ 225 h 512"/>
                  <a:gd name="T62" fmla="*/ 201 w 512"/>
                  <a:gd name="T63" fmla="*/ 238 h 512"/>
                  <a:gd name="T64" fmla="*/ 188 w 512"/>
                  <a:gd name="T65" fmla="*/ 244 h 512"/>
                  <a:gd name="T66" fmla="*/ 182 w 512"/>
                  <a:gd name="T67" fmla="*/ 273 h 512"/>
                  <a:gd name="T68" fmla="*/ 199 w 512"/>
                  <a:gd name="T69" fmla="*/ 269 h 512"/>
                  <a:gd name="T70" fmla="*/ 199 w 512"/>
                  <a:gd name="T71" fmla="*/ 285 h 512"/>
                  <a:gd name="T72" fmla="*/ 182 w 512"/>
                  <a:gd name="T73" fmla="*/ 273 h 512"/>
                  <a:gd name="T74" fmla="*/ 202 w 512"/>
                  <a:gd name="T75" fmla="*/ 320 h 512"/>
                  <a:gd name="T76" fmla="*/ 192 w 512"/>
                  <a:gd name="T77" fmla="*/ 330 h 512"/>
                  <a:gd name="T78" fmla="*/ 184 w 512"/>
                  <a:gd name="T79" fmla="*/ 312 h 512"/>
                  <a:gd name="T80" fmla="*/ 320 w 512"/>
                  <a:gd name="T81" fmla="*/ 352 h 512"/>
                  <a:gd name="T82" fmla="*/ 352 w 512"/>
                  <a:gd name="T83" fmla="*/ 202 h 512"/>
                  <a:gd name="T84" fmla="*/ 314 w 512"/>
                  <a:gd name="T85" fmla="*/ 225 h 512"/>
                  <a:gd name="T86" fmla="*/ 330 w 512"/>
                  <a:gd name="T87" fmla="*/ 234 h 512"/>
                  <a:gd name="T88" fmla="*/ 320 w 512"/>
                  <a:gd name="T89" fmla="*/ 245 h 512"/>
                  <a:gd name="T90" fmla="*/ 309 w 512"/>
                  <a:gd name="T91" fmla="*/ 234 h 512"/>
                  <a:gd name="T92" fmla="*/ 316 w 512"/>
                  <a:gd name="T93" fmla="*/ 267 h 512"/>
                  <a:gd name="T94" fmla="*/ 330 w 512"/>
                  <a:gd name="T95" fmla="*/ 277 h 512"/>
                  <a:gd name="T96" fmla="*/ 320 w 512"/>
                  <a:gd name="T97" fmla="*/ 288 h 512"/>
                  <a:gd name="T98" fmla="*/ 309 w 512"/>
                  <a:gd name="T99" fmla="*/ 277 h 512"/>
                  <a:gd name="T100" fmla="*/ 314 w 512"/>
                  <a:gd name="T101" fmla="*/ 311 h 512"/>
                  <a:gd name="T102" fmla="*/ 324 w 512"/>
                  <a:gd name="T103" fmla="*/ 310 h 512"/>
                  <a:gd name="T104" fmla="*/ 330 w 512"/>
                  <a:gd name="T105" fmla="*/ 320 h 512"/>
                  <a:gd name="T106" fmla="*/ 312 w 512"/>
                  <a:gd name="T107" fmla="*/ 327 h 512"/>
                  <a:gd name="T108" fmla="*/ 256 w 512"/>
                  <a:gd name="T109" fmla="*/ 0 h 512"/>
                  <a:gd name="T110" fmla="*/ 256 w 512"/>
                  <a:gd name="T111" fmla="*/ 0 h 512"/>
                  <a:gd name="T112" fmla="*/ 138 w 512"/>
                  <a:gd name="T113" fmla="*/ 405 h 512"/>
                  <a:gd name="T114" fmla="*/ 288 w 512"/>
                  <a:gd name="T115" fmla="*/ 106 h 512"/>
                  <a:gd name="T116" fmla="*/ 373 w 512"/>
                  <a:gd name="T117" fmla="*/ 40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160" y="394"/>
                    </a:moveTo>
                    <a:cubicBezTo>
                      <a:pt x="181" y="394"/>
                      <a:pt x="181" y="394"/>
                      <a:pt x="181" y="394"/>
                    </a:cubicBezTo>
                    <a:cubicBezTo>
                      <a:pt x="181" y="362"/>
                      <a:pt x="181" y="362"/>
                      <a:pt x="181" y="362"/>
                    </a:cubicBezTo>
                    <a:cubicBezTo>
                      <a:pt x="181" y="356"/>
                      <a:pt x="186" y="352"/>
                      <a:pt x="192" y="352"/>
                    </a:cubicBezTo>
                    <a:cubicBezTo>
                      <a:pt x="198" y="352"/>
                      <a:pt x="202" y="356"/>
                      <a:pt x="202" y="362"/>
                    </a:cubicBezTo>
                    <a:cubicBezTo>
                      <a:pt x="202" y="394"/>
                      <a:pt x="202" y="394"/>
                      <a:pt x="202" y="394"/>
                    </a:cubicBezTo>
                    <a:cubicBezTo>
                      <a:pt x="266" y="394"/>
                      <a:pt x="266" y="394"/>
                      <a:pt x="266" y="394"/>
                    </a:cubicBezTo>
                    <a:cubicBezTo>
                      <a:pt x="266" y="117"/>
                      <a:pt x="266" y="117"/>
                      <a:pt x="266" y="117"/>
                    </a:cubicBezTo>
                    <a:cubicBezTo>
                      <a:pt x="160" y="117"/>
                      <a:pt x="160" y="117"/>
                      <a:pt x="160" y="117"/>
                    </a:cubicBezTo>
                    <a:lnTo>
                      <a:pt x="160" y="394"/>
                    </a:lnTo>
                    <a:close/>
                    <a:moveTo>
                      <a:pt x="225" y="145"/>
                    </a:moveTo>
                    <a:cubicBezTo>
                      <a:pt x="225" y="144"/>
                      <a:pt x="226" y="142"/>
                      <a:pt x="227" y="141"/>
                    </a:cubicBezTo>
                    <a:cubicBezTo>
                      <a:pt x="230" y="138"/>
                      <a:pt x="235" y="137"/>
                      <a:pt x="238" y="139"/>
                    </a:cubicBezTo>
                    <a:cubicBezTo>
                      <a:pt x="240" y="140"/>
                      <a:pt x="241" y="140"/>
                      <a:pt x="242" y="141"/>
                    </a:cubicBezTo>
                    <a:cubicBezTo>
                      <a:pt x="243" y="142"/>
                      <a:pt x="244" y="144"/>
                      <a:pt x="244" y="145"/>
                    </a:cubicBezTo>
                    <a:cubicBezTo>
                      <a:pt x="245" y="146"/>
                      <a:pt x="245" y="148"/>
                      <a:pt x="245" y="149"/>
                    </a:cubicBezTo>
                    <a:cubicBezTo>
                      <a:pt x="245" y="150"/>
                      <a:pt x="245" y="152"/>
                      <a:pt x="244" y="153"/>
                    </a:cubicBezTo>
                    <a:cubicBezTo>
                      <a:pt x="244" y="154"/>
                      <a:pt x="243" y="155"/>
                      <a:pt x="242" y="157"/>
                    </a:cubicBezTo>
                    <a:cubicBezTo>
                      <a:pt x="241" y="158"/>
                      <a:pt x="240" y="158"/>
                      <a:pt x="238" y="159"/>
                    </a:cubicBezTo>
                    <a:cubicBezTo>
                      <a:pt x="237" y="159"/>
                      <a:pt x="236" y="160"/>
                      <a:pt x="234" y="160"/>
                    </a:cubicBezTo>
                    <a:cubicBezTo>
                      <a:pt x="231" y="160"/>
                      <a:pt x="229" y="159"/>
                      <a:pt x="227" y="157"/>
                    </a:cubicBezTo>
                    <a:cubicBezTo>
                      <a:pt x="225" y="155"/>
                      <a:pt x="224" y="152"/>
                      <a:pt x="224" y="149"/>
                    </a:cubicBezTo>
                    <a:cubicBezTo>
                      <a:pt x="224" y="148"/>
                      <a:pt x="224" y="146"/>
                      <a:pt x="225" y="145"/>
                    </a:cubicBezTo>
                    <a:close/>
                    <a:moveTo>
                      <a:pt x="225" y="188"/>
                    </a:moveTo>
                    <a:cubicBezTo>
                      <a:pt x="225" y="186"/>
                      <a:pt x="226" y="185"/>
                      <a:pt x="227" y="184"/>
                    </a:cubicBezTo>
                    <a:cubicBezTo>
                      <a:pt x="228" y="183"/>
                      <a:pt x="229" y="182"/>
                      <a:pt x="230" y="182"/>
                    </a:cubicBezTo>
                    <a:cubicBezTo>
                      <a:pt x="234" y="180"/>
                      <a:pt x="239" y="181"/>
                      <a:pt x="242" y="184"/>
                    </a:cubicBezTo>
                    <a:cubicBezTo>
                      <a:pt x="243" y="185"/>
                      <a:pt x="244" y="186"/>
                      <a:pt x="244" y="188"/>
                    </a:cubicBezTo>
                    <a:cubicBezTo>
                      <a:pt x="245" y="189"/>
                      <a:pt x="245" y="190"/>
                      <a:pt x="245" y="192"/>
                    </a:cubicBezTo>
                    <a:cubicBezTo>
                      <a:pt x="245" y="195"/>
                      <a:pt x="244" y="197"/>
                      <a:pt x="242" y="199"/>
                    </a:cubicBezTo>
                    <a:cubicBezTo>
                      <a:pt x="241" y="200"/>
                      <a:pt x="240" y="201"/>
                      <a:pt x="238" y="201"/>
                    </a:cubicBezTo>
                    <a:cubicBezTo>
                      <a:pt x="237" y="202"/>
                      <a:pt x="236" y="202"/>
                      <a:pt x="234" y="202"/>
                    </a:cubicBezTo>
                    <a:cubicBezTo>
                      <a:pt x="233" y="202"/>
                      <a:pt x="232" y="202"/>
                      <a:pt x="230" y="201"/>
                    </a:cubicBezTo>
                    <a:cubicBezTo>
                      <a:pt x="229" y="201"/>
                      <a:pt x="228" y="200"/>
                      <a:pt x="227" y="199"/>
                    </a:cubicBezTo>
                    <a:cubicBezTo>
                      <a:pt x="225" y="197"/>
                      <a:pt x="224" y="195"/>
                      <a:pt x="224" y="192"/>
                    </a:cubicBezTo>
                    <a:cubicBezTo>
                      <a:pt x="224" y="190"/>
                      <a:pt x="224" y="189"/>
                      <a:pt x="225" y="188"/>
                    </a:cubicBezTo>
                    <a:close/>
                    <a:moveTo>
                      <a:pt x="227" y="227"/>
                    </a:moveTo>
                    <a:cubicBezTo>
                      <a:pt x="228" y="226"/>
                      <a:pt x="229" y="225"/>
                      <a:pt x="230" y="225"/>
                    </a:cubicBezTo>
                    <a:cubicBezTo>
                      <a:pt x="232" y="224"/>
                      <a:pt x="234" y="223"/>
                      <a:pt x="236" y="224"/>
                    </a:cubicBezTo>
                    <a:cubicBezTo>
                      <a:pt x="237" y="224"/>
                      <a:pt x="238" y="224"/>
                      <a:pt x="238" y="225"/>
                    </a:cubicBezTo>
                    <a:cubicBezTo>
                      <a:pt x="239" y="225"/>
                      <a:pt x="240" y="225"/>
                      <a:pt x="240" y="225"/>
                    </a:cubicBezTo>
                    <a:cubicBezTo>
                      <a:pt x="241" y="226"/>
                      <a:pt x="241" y="226"/>
                      <a:pt x="242" y="227"/>
                    </a:cubicBezTo>
                    <a:cubicBezTo>
                      <a:pt x="244" y="229"/>
                      <a:pt x="245" y="232"/>
                      <a:pt x="245" y="234"/>
                    </a:cubicBezTo>
                    <a:cubicBezTo>
                      <a:pt x="245" y="237"/>
                      <a:pt x="244" y="240"/>
                      <a:pt x="242" y="242"/>
                    </a:cubicBezTo>
                    <a:cubicBezTo>
                      <a:pt x="241" y="243"/>
                      <a:pt x="240" y="244"/>
                      <a:pt x="238" y="244"/>
                    </a:cubicBezTo>
                    <a:cubicBezTo>
                      <a:pt x="237" y="245"/>
                      <a:pt x="236" y="245"/>
                      <a:pt x="234" y="245"/>
                    </a:cubicBezTo>
                    <a:cubicBezTo>
                      <a:pt x="233" y="245"/>
                      <a:pt x="232" y="245"/>
                      <a:pt x="230" y="244"/>
                    </a:cubicBezTo>
                    <a:cubicBezTo>
                      <a:pt x="229" y="244"/>
                      <a:pt x="228" y="243"/>
                      <a:pt x="227" y="242"/>
                    </a:cubicBezTo>
                    <a:cubicBezTo>
                      <a:pt x="226" y="241"/>
                      <a:pt x="225" y="240"/>
                      <a:pt x="225" y="238"/>
                    </a:cubicBezTo>
                    <a:cubicBezTo>
                      <a:pt x="224" y="237"/>
                      <a:pt x="224" y="236"/>
                      <a:pt x="224" y="234"/>
                    </a:cubicBezTo>
                    <a:cubicBezTo>
                      <a:pt x="224" y="232"/>
                      <a:pt x="225" y="229"/>
                      <a:pt x="227" y="227"/>
                    </a:cubicBezTo>
                    <a:close/>
                    <a:moveTo>
                      <a:pt x="225" y="273"/>
                    </a:moveTo>
                    <a:cubicBezTo>
                      <a:pt x="225" y="272"/>
                      <a:pt x="226" y="270"/>
                      <a:pt x="227" y="269"/>
                    </a:cubicBezTo>
                    <a:cubicBezTo>
                      <a:pt x="231" y="265"/>
                      <a:pt x="238" y="265"/>
                      <a:pt x="242" y="269"/>
                    </a:cubicBezTo>
                    <a:cubicBezTo>
                      <a:pt x="243" y="270"/>
                      <a:pt x="244" y="272"/>
                      <a:pt x="244" y="273"/>
                    </a:cubicBezTo>
                    <a:cubicBezTo>
                      <a:pt x="245" y="274"/>
                      <a:pt x="245" y="276"/>
                      <a:pt x="245" y="277"/>
                    </a:cubicBezTo>
                    <a:cubicBezTo>
                      <a:pt x="245" y="278"/>
                      <a:pt x="245" y="280"/>
                      <a:pt x="244" y="281"/>
                    </a:cubicBezTo>
                    <a:cubicBezTo>
                      <a:pt x="244" y="282"/>
                      <a:pt x="243" y="284"/>
                      <a:pt x="242" y="285"/>
                    </a:cubicBezTo>
                    <a:cubicBezTo>
                      <a:pt x="240" y="287"/>
                      <a:pt x="237" y="288"/>
                      <a:pt x="234" y="288"/>
                    </a:cubicBezTo>
                    <a:cubicBezTo>
                      <a:pt x="233" y="288"/>
                      <a:pt x="232" y="287"/>
                      <a:pt x="230" y="287"/>
                    </a:cubicBezTo>
                    <a:cubicBezTo>
                      <a:pt x="229" y="286"/>
                      <a:pt x="228" y="286"/>
                      <a:pt x="227" y="285"/>
                    </a:cubicBezTo>
                    <a:cubicBezTo>
                      <a:pt x="225" y="283"/>
                      <a:pt x="224" y="280"/>
                      <a:pt x="224" y="277"/>
                    </a:cubicBezTo>
                    <a:cubicBezTo>
                      <a:pt x="224" y="276"/>
                      <a:pt x="224" y="274"/>
                      <a:pt x="225" y="273"/>
                    </a:cubicBezTo>
                    <a:close/>
                    <a:moveTo>
                      <a:pt x="227" y="312"/>
                    </a:moveTo>
                    <a:cubicBezTo>
                      <a:pt x="227" y="312"/>
                      <a:pt x="228" y="311"/>
                      <a:pt x="228" y="311"/>
                    </a:cubicBezTo>
                    <a:cubicBezTo>
                      <a:pt x="229" y="310"/>
                      <a:pt x="230" y="310"/>
                      <a:pt x="230" y="310"/>
                    </a:cubicBezTo>
                    <a:cubicBezTo>
                      <a:pt x="231" y="310"/>
                      <a:pt x="232" y="309"/>
                      <a:pt x="232" y="309"/>
                    </a:cubicBezTo>
                    <a:cubicBezTo>
                      <a:pt x="236" y="308"/>
                      <a:pt x="239" y="310"/>
                      <a:pt x="242" y="312"/>
                    </a:cubicBezTo>
                    <a:cubicBezTo>
                      <a:pt x="244" y="314"/>
                      <a:pt x="245" y="317"/>
                      <a:pt x="245" y="320"/>
                    </a:cubicBezTo>
                    <a:cubicBezTo>
                      <a:pt x="245" y="321"/>
                      <a:pt x="245" y="322"/>
                      <a:pt x="244" y="324"/>
                    </a:cubicBezTo>
                    <a:cubicBezTo>
                      <a:pt x="244" y="325"/>
                      <a:pt x="243" y="326"/>
                      <a:pt x="242" y="327"/>
                    </a:cubicBezTo>
                    <a:cubicBezTo>
                      <a:pt x="241" y="328"/>
                      <a:pt x="240" y="329"/>
                      <a:pt x="238" y="329"/>
                    </a:cubicBezTo>
                    <a:cubicBezTo>
                      <a:pt x="237" y="330"/>
                      <a:pt x="236" y="330"/>
                      <a:pt x="234" y="330"/>
                    </a:cubicBezTo>
                    <a:cubicBezTo>
                      <a:pt x="231" y="330"/>
                      <a:pt x="229" y="329"/>
                      <a:pt x="227" y="327"/>
                    </a:cubicBezTo>
                    <a:cubicBezTo>
                      <a:pt x="226" y="326"/>
                      <a:pt x="225" y="325"/>
                      <a:pt x="225" y="324"/>
                    </a:cubicBezTo>
                    <a:cubicBezTo>
                      <a:pt x="224" y="322"/>
                      <a:pt x="224" y="321"/>
                      <a:pt x="224" y="320"/>
                    </a:cubicBezTo>
                    <a:cubicBezTo>
                      <a:pt x="224" y="317"/>
                      <a:pt x="225" y="314"/>
                      <a:pt x="227" y="312"/>
                    </a:cubicBezTo>
                    <a:close/>
                    <a:moveTo>
                      <a:pt x="225" y="358"/>
                    </a:moveTo>
                    <a:cubicBezTo>
                      <a:pt x="225" y="357"/>
                      <a:pt x="226" y="356"/>
                      <a:pt x="227" y="355"/>
                    </a:cubicBezTo>
                    <a:cubicBezTo>
                      <a:pt x="228" y="354"/>
                      <a:pt x="229" y="353"/>
                      <a:pt x="230" y="353"/>
                    </a:cubicBezTo>
                    <a:cubicBezTo>
                      <a:pt x="234" y="351"/>
                      <a:pt x="239" y="352"/>
                      <a:pt x="242" y="355"/>
                    </a:cubicBezTo>
                    <a:cubicBezTo>
                      <a:pt x="243" y="356"/>
                      <a:pt x="244" y="357"/>
                      <a:pt x="244" y="358"/>
                    </a:cubicBezTo>
                    <a:cubicBezTo>
                      <a:pt x="245" y="360"/>
                      <a:pt x="245" y="361"/>
                      <a:pt x="245" y="362"/>
                    </a:cubicBezTo>
                    <a:cubicBezTo>
                      <a:pt x="245" y="364"/>
                      <a:pt x="245" y="365"/>
                      <a:pt x="244" y="366"/>
                    </a:cubicBezTo>
                    <a:cubicBezTo>
                      <a:pt x="244" y="368"/>
                      <a:pt x="243" y="369"/>
                      <a:pt x="242" y="370"/>
                    </a:cubicBezTo>
                    <a:cubicBezTo>
                      <a:pt x="241" y="371"/>
                      <a:pt x="240" y="372"/>
                      <a:pt x="238" y="372"/>
                    </a:cubicBezTo>
                    <a:cubicBezTo>
                      <a:pt x="237" y="373"/>
                      <a:pt x="236" y="373"/>
                      <a:pt x="234" y="373"/>
                    </a:cubicBezTo>
                    <a:cubicBezTo>
                      <a:pt x="233" y="373"/>
                      <a:pt x="232" y="373"/>
                      <a:pt x="230" y="372"/>
                    </a:cubicBezTo>
                    <a:cubicBezTo>
                      <a:pt x="229" y="372"/>
                      <a:pt x="228" y="371"/>
                      <a:pt x="227" y="370"/>
                    </a:cubicBezTo>
                    <a:cubicBezTo>
                      <a:pt x="226" y="369"/>
                      <a:pt x="225" y="368"/>
                      <a:pt x="225" y="366"/>
                    </a:cubicBezTo>
                    <a:cubicBezTo>
                      <a:pt x="224" y="365"/>
                      <a:pt x="224" y="364"/>
                      <a:pt x="224" y="362"/>
                    </a:cubicBezTo>
                    <a:cubicBezTo>
                      <a:pt x="224" y="361"/>
                      <a:pt x="224" y="360"/>
                      <a:pt x="225" y="358"/>
                    </a:cubicBezTo>
                    <a:close/>
                    <a:moveTo>
                      <a:pt x="182" y="145"/>
                    </a:moveTo>
                    <a:cubicBezTo>
                      <a:pt x="182" y="144"/>
                      <a:pt x="183" y="142"/>
                      <a:pt x="184" y="141"/>
                    </a:cubicBezTo>
                    <a:cubicBezTo>
                      <a:pt x="188" y="137"/>
                      <a:pt x="195" y="137"/>
                      <a:pt x="199" y="141"/>
                    </a:cubicBezTo>
                    <a:cubicBezTo>
                      <a:pt x="200" y="142"/>
                      <a:pt x="201" y="144"/>
                      <a:pt x="201" y="145"/>
                    </a:cubicBezTo>
                    <a:cubicBezTo>
                      <a:pt x="202" y="146"/>
                      <a:pt x="202" y="148"/>
                      <a:pt x="202" y="149"/>
                    </a:cubicBezTo>
                    <a:cubicBezTo>
                      <a:pt x="202" y="152"/>
                      <a:pt x="201" y="155"/>
                      <a:pt x="199" y="157"/>
                    </a:cubicBezTo>
                    <a:cubicBezTo>
                      <a:pt x="197" y="159"/>
                      <a:pt x="195" y="160"/>
                      <a:pt x="192" y="160"/>
                    </a:cubicBezTo>
                    <a:cubicBezTo>
                      <a:pt x="190" y="160"/>
                      <a:pt x="189" y="159"/>
                      <a:pt x="188" y="159"/>
                    </a:cubicBezTo>
                    <a:cubicBezTo>
                      <a:pt x="186" y="158"/>
                      <a:pt x="185" y="158"/>
                      <a:pt x="184" y="157"/>
                    </a:cubicBezTo>
                    <a:cubicBezTo>
                      <a:pt x="182" y="155"/>
                      <a:pt x="181" y="152"/>
                      <a:pt x="181" y="149"/>
                    </a:cubicBezTo>
                    <a:cubicBezTo>
                      <a:pt x="181" y="148"/>
                      <a:pt x="181" y="146"/>
                      <a:pt x="182" y="145"/>
                    </a:cubicBezTo>
                    <a:close/>
                    <a:moveTo>
                      <a:pt x="182" y="188"/>
                    </a:moveTo>
                    <a:cubicBezTo>
                      <a:pt x="182" y="186"/>
                      <a:pt x="183" y="185"/>
                      <a:pt x="184" y="184"/>
                    </a:cubicBezTo>
                    <a:cubicBezTo>
                      <a:pt x="185" y="184"/>
                      <a:pt x="185" y="183"/>
                      <a:pt x="186" y="183"/>
                    </a:cubicBezTo>
                    <a:cubicBezTo>
                      <a:pt x="186" y="182"/>
                      <a:pt x="187" y="182"/>
                      <a:pt x="188" y="182"/>
                    </a:cubicBezTo>
                    <a:cubicBezTo>
                      <a:pt x="188" y="182"/>
                      <a:pt x="189" y="181"/>
                      <a:pt x="190" y="181"/>
                    </a:cubicBezTo>
                    <a:cubicBezTo>
                      <a:pt x="192" y="181"/>
                      <a:pt x="194" y="181"/>
                      <a:pt x="196" y="182"/>
                    </a:cubicBezTo>
                    <a:cubicBezTo>
                      <a:pt x="197" y="182"/>
                      <a:pt x="198" y="183"/>
                      <a:pt x="199" y="184"/>
                    </a:cubicBezTo>
                    <a:cubicBezTo>
                      <a:pt x="200" y="185"/>
                      <a:pt x="201" y="186"/>
                      <a:pt x="201" y="188"/>
                    </a:cubicBezTo>
                    <a:cubicBezTo>
                      <a:pt x="202" y="189"/>
                      <a:pt x="202" y="190"/>
                      <a:pt x="202" y="192"/>
                    </a:cubicBezTo>
                    <a:cubicBezTo>
                      <a:pt x="202" y="195"/>
                      <a:pt x="201" y="197"/>
                      <a:pt x="199" y="199"/>
                    </a:cubicBezTo>
                    <a:cubicBezTo>
                      <a:pt x="197" y="201"/>
                      <a:pt x="195" y="202"/>
                      <a:pt x="192" y="202"/>
                    </a:cubicBezTo>
                    <a:cubicBezTo>
                      <a:pt x="190" y="202"/>
                      <a:pt x="189" y="202"/>
                      <a:pt x="188" y="201"/>
                    </a:cubicBezTo>
                    <a:cubicBezTo>
                      <a:pt x="186" y="201"/>
                      <a:pt x="185" y="200"/>
                      <a:pt x="184" y="199"/>
                    </a:cubicBezTo>
                    <a:cubicBezTo>
                      <a:pt x="182" y="197"/>
                      <a:pt x="181" y="195"/>
                      <a:pt x="181" y="192"/>
                    </a:cubicBezTo>
                    <a:cubicBezTo>
                      <a:pt x="181" y="190"/>
                      <a:pt x="181" y="189"/>
                      <a:pt x="182" y="188"/>
                    </a:cubicBezTo>
                    <a:close/>
                    <a:moveTo>
                      <a:pt x="184" y="227"/>
                    </a:moveTo>
                    <a:cubicBezTo>
                      <a:pt x="185" y="226"/>
                      <a:pt x="185" y="226"/>
                      <a:pt x="186" y="225"/>
                    </a:cubicBezTo>
                    <a:cubicBezTo>
                      <a:pt x="186" y="225"/>
                      <a:pt x="187" y="225"/>
                      <a:pt x="188" y="225"/>
                    </a:cubicBezTo>
                    <a:cubicBezTo>
                      <a:pt x="188" y="224"/>
                      <a:pt x="189" y="224"/>
                      <a:pt x="190" y="224"/>
                    </a:cubicBezTo>
                    <a:cubicBezTo>
                      <a:pt x="191" y="224"/>
                      <a:pt x="192" y="224"/>
                      <a:pt x="194" y="224"/>
                    </a:cubicBezTo>
                    <a:cubicBezTo>
                      <a:pt x="194" y="224"/>
                      <a:pt x="195" y="224"/>
                      <a:pt x="196" y="225"/>
                    </a:cubicBezTo>
                    <a:cubicBezTo>
                      <a:pt x="196" y="225"/>
                      <a:pt x="197" y="225"/>
                      <a:pt x="198" y="225"/>
                    </a:cubicBezTo>
                    <a:cubicBezTo>
                      <a:pt x="198" y="226"/>
                      <a:pt x="199" y="226"/>
                      <a:pt x="199" y="227"/>
                    </a:cubicBezTo>
                    <a:cubicBezTo>
                      <a:pt x="201" y="229"/>
                      <a:pt x="202" y="232"/>
                      <a:pt x="202" y="234"/>
                    </a:cubicBezTo>
                    <a:cubicBezTo>
                      <a:pt x="202" y="236"/>
                      <a:pt x="202" y="237"/>
                      <a:pt x="201" y="238"/>
                    </a:cubicBezTo>
                    <a:cubicBezTo>
                      <a:pt x="201" y="240"/>
                      <a:pt x="200" y="241"/>
                      <a:pt x="199" y="242"/>
                    </a:cubicBezTo>
                    <a:cubicBezTo>
                      <a:pt x="198" y="243"/>
                      <a:pt x="197" y="244"/>
                      <a:pt x="196" y="244"/>
                    </a:cubicBezTo>
                    <a:cubicBezTo>
                      <a:pt x="194" y="245"/>
                      <a:pt x="193" y="245"/>
                      <a:pt x="192" y="245"/>
                    </a:cubicBezTo>
                    <a:cubicBezTo>
                      <a:pt x="190" y="245"/>
                      <a:pt x="189" y="245"/>
                      <a:pt x="188" y="244"/>
                    </a:cubicBezTo>
                    <a:cubicBezTo>
                      <a:pt x="186" y="244"/>
                      <a:pt x="185" y="243"/>
                      <a:pt x="184" y="242"/>
                    </a:cubicBezTo>
                    <a:cubicBezTo>
                      <a:pt x="182" y="240"/>
                      <a:pt x="181" y="237"/>
                      <a:pt x="181" y="234"/>
                    </a:cubicBezTo>
                    <a:cubicBezTo>
                      <a:pt x="181" y="232"/>
                      <a:pt x="182" y="229"/>
                      <a:pt x="184" y="227"/>
                    </a:cubicBezTo>
                    <a:close/>
                    <a:moveTo>
                      <a:pt x="182" y="273"/>
                    </a:moveTo>
                    <a:cubicBezTo>
                      <a:pt x="182" y="272"/>
                      <a:pt x="183" y="270"/>
                      <a:pt x="184" y="269"/>
                    </a:cubicBezTo>
                    <a:cubicBezTo>
                      <a:pt x="185" y="268"/>
                      <a:pt x="186" y="268"/>
                      <a:pt x="188" y="267"/>
                    </a:cubicBezTo>
                    <a:cubicBezTo>
                      <a:pt x="190" y="266"/>
                      <a:pt x="193" y="266"/>
                      <a:pt x="196" y="267"/>
                    </a:cubicBezTo>
                    <a:cubicBezTo>
                      <a:pt x="197" y="268"/>
                      <a:pt x="198" y="268"/>
                      <a:pt x="199" y="269"/>
                    </a:cubicBezTo>
                    <a:cubicBezTo>
                      <a:pt x="200" y="270"/>
                      <a:pt x="201" y="272"/>
                      <a:pt x="201" y="273"/>
                    </a:cubicBezTo>
                    <a:cubicBezTo>
                      <a:pt x="202" y="274"/>
                      <a:pt x="202" y="276"/>
                      <a:pt x="202" y="277"/>
                    </a:cubicBezTo>
                    <a:cubicBezTo>
                      <a:pt x="202" y="278"/>
                      <a:pt x="202" y="280"/>
                      <a:pt x="201" y="281"/>
                    </a:cubicBezTo>
                    <a:cubicBezTo>
                      <a:pt x="201" y="282"/>
                      <a:pt x="200" y="284"/>
                      <a:pt x="199" y="285"/>
                    </a:cubicBezTo>
                    <a:cubicBezTo>
                      <a:pt x="197" y="287"/>
                      <a:pt x="195" y="288"/>
                      <a:pt x="192" y="288"/>
                    </a:cubicBezTo>
                    <a:cubicBezTo>
                      <a:pt x="189" y="288"/>
                      <a:pt x="186" y="287"/>
                      <a:pt x="184" y="285"/>
                    </a:cubicBezTo>
                    <a:cubicBezTo>
                      <a:pt x="182" y="283"/>
                      <a:pt x="181" y="280"/>
                      <a:pt x="181" y="277"/>
                    </a:cubicBezTo>
                    <a:cubicBezTo>
                      <a:pt x="181" y="276"/>
                      <a:pt x="181" y="274"/>
                      <a:pt x="182" y="273"/>
                    </a:cubicBezTo>
                    <a:close/>
                    <a:moveTo>
                      <a:pt x="184" y="312"/>
                    </a:moveTo>
                    <a:cubicBezTo>
                      <a:pt x="187" y="309"/>
                      <a:pt x="192" y="308"/>
                      <a:pt x="196" y="310"/>
                    </a:cubicBezTo>
                    <a:cubicBezTo>
                      <a:pt x="197" y="310"/>
                      <a:pt x="198" y="311"/>
                      <a:pt x="199" y="312"/>
                    </a:cubicBezTo>
                    <a:cubicBezTo>
                      <a:pt x="201" y="314"/>
                      <a:pt x="202" y="317"/>
                      <a:pt x="202" y="320"/>
                    </a:cubicBezTo>
                    <a:cubicBezTo>
                      <a:pt x="202" y="321"/>
                      <a:pt x="202" y="322"/>
                      <a:pt x="201" y="324"/>
                    </a:cubicBezTo>
                    <a:cubicBezTo>
                      <a:pt x="201" y="325"/>
                      <a:pt x="200" y="326"/>
                      <a:pt x="199" y="327"/>
                    </a:cubicBezTo>
                    <a:cubicBezTo>
                      <a:pt x="198" y="328"/>
                      <a:pt x="197" y="329"/>
                      <a:pt x="196" y="329"/>
                    </a:cubicBezTo>
                    <a:cubicBezTo>
                      <a:pt x="194" y="330"/>
                      <a:pt x="193" y="330"/>
                      <a:pt x="192" y="330"/>
                    </a:cubicBezTo>
                    <a:cubicBezTo>
                      <a:pt x="189" y="330"/>
                      <a:pt x="186" y="329"/>
                      <a:pt x="184" y="327"/>
                    </a:cubicBezTo>
                    <a:cubicBezTo>
                      <a:pt x="183" y="326"/>
                      <a:pt x="182" y="325"/>
                      <a:pt x="182" y="324"/>
                    </a:cubicBezTo>
                    <a:cubicBezTo>
                      <a:pt x="181" y="322"/>
                      <a:pt x="181" y="321"/>
                      <a:pt x="181" y="320"/>
                    </a:cubicBezTo>
                    <a:cubicBezTo>
                      <a:pt x="181" y="317"/>
                      <a:pt x="182" y="314"/>
                      <a:pt x="184" y="312"/>
                    </a:cubicBezTo>
                    <a:close/>
                    <a:moveTo>
                      <a:pt x="288" y="394"/>
                    </a:moveTo>
                    <a:cubicBezTo>
                      <a:pt x="309" y="394"/>
                      <a:pt x="309" y="394"/>
                      <a:pt x="309" y="394"/>
                    </a:cubicBezTo>
                    <a:cubicBezTo>
                      <a:pt x="309" y="362"/>
                      <a:pt x="309" y="362"/>
                      <a:pt x="309" y="362"/>
                    </a:cubicBezTo>
                    <a:cubicBezTo>
                      <a:pt x="309" y="356"/>
                      <a:pt x="314" y="352"/>
                      <a:pt x="320" y="352"/>
                    </a:cubicBezTo>
                    <a:cubicBezTo>
                      <a:pt x="326" y="352"/>
                      <a:pt x="330" y="356"/>
                      <a:pt x="330" y="362"/>
                    </a:cubicBezTo>
                    <a:cubicBezTo>
                      <a:pt x="330" y="394"/>
                      <a:pt x="330" y="394"/>
                      <a:pt x="330" y="394"/>
                    </a:cubicBezTo>
                    <a:cubicBezTo>
                      <a:pt x="352" y="394"/>
                      <a:pt x="352" y="394"/>
                      <a:pt x="352" y="394"/>
                    </a:cubicBezTo>
                    <a:cubicBezTo>
                      <a:pt x="352" y="202"/>
                      <a:pt x="352" y="202"/>
                      <a:pt x="352" y="202"/>
                    </a:cubicBezTo>
                    <a:cubicBezTo>
                      <a:pt x="288" y="202"/>
                      <a:pt x="288" y="202"/>
                      <a:pt x="288" y="202"/>
                    </a:cubicBezTo>
                    <a:lnTo>
                      <a:pt x="288" y="394"/>
                    </a:lnTo>
                    <a:close/>
                    <a:moveTo>
                      <a:pt x="312" y="227"/>
                    </a:moveTo>
                    <a:cubicBezTo>
                      <a:pt x="313" y="226"/>
                      <a:pt x="313" y="226"/>
                      <a:pt x="314" y="225"/>
                    </a:cubicBezTo>
                    <a:cubicBezTo>
                      <a:pt x="314" y="225"/>
                      <a:pt x="315" y="225"/>
                      <a:pt x="316" y="225"/>
                    </a:cubicBezTo>
                    <a:cubicBezTo>
                      <a:pt x="316" y="224"/>
                      <a:pt x="317" y="224"/>
                      <a:pt x="318" y="224"/>
                    </a:cubicBezTo>
                    <a:cubicBezTo>
                      <a:pt x="321" y="223"/>
                      <a:pt x="325" y="224"/>
                      <a:pt x="327" y="227"/>
                    </a:cubicBezTo>
                    <a:cubicBezTo>
                      <a:pt x="329" y="229"/>
                      <a:pt x="330" y="232"/>
                      <a:pt x="330" y="234"/>
                    </a:cubicBezTo>
                    <a:cubicBezTo>
                      <a:pt x="330" y="236"/>
                      <a:pt x="330" y="237"/>
                      <a:pt x="329" y="238"/>
                    </a:cubicBezTo>
                    <a:cubicBezTo>
                      <a:pt x="329" y="240"/>
                      <a:pt x="328" y="241"/>
                      <a:pt x="327" y="242"/>
                    </a:cubicBezTo>
                    <a:cubicBezTo>
                      <a:pt x="326" y="243"/>
                      <a:pt x="325" y="244"/>
                      <a:pt x="324" y="244"/>
                    </a:cubicBezTo>
                    <a:cubicBezTo>
                      <a:pt x="322" y="245"/>
                      <a:pt x="321" y="245"/>
                      <a:pt x="320" y="245"/>
                    </a:cubicBezTo>
                    <a:cubicBezTo>
                      <a:pt x="318" y="245"/>
                      <a:pt x="317" y="245"/>
                      <a:pt x="316" y="244"/>
                    </a:cubicBezTo>
                    <a:cubicBezTo>
                      <a:pt x="314" y="244"/>
                      <a:pt x="313" y="243"/>
                      <a:pt x="312" y="242"/>
                    </a:cubicBezTo>
                    <a:cubicBezTo>
                      <a:pt x="311" y="241"/>
                      <a:pt x="310" y="240"/>
                      <a:pt x="310" y="238"/>
                    </a:cubicBezTo>
                    <a:cubicBezTo>
                      <a:pt x="309" y="237"/>
                      <a:pt x="309" y="236"/>
                      <a:pt x="309" y="234"/>
                    </a:cubicBezTo>
                    <a:cubicBezTo>
                      <a:pt x="309" y="232"/>
                      <a:pt x="310" y="229"/>
                      <a:pt x="312" y="227"/>
                    </a:cubicBezTo>
                    <a:close/>
                    <a:moveTo>
                      <a:pt x="310" y="273"/>
                    </a:moveTo>
                    <a:cubicBezTo>
                      <a:pt x="310" y="272"/>
                      <a:pt x="311" y="270"/>
                      <a:pt x="312" y="269"/>
                    </a:cubicBezTo>
                    <a:cubicBezTo>
                      <a:pt x="313" y="268"/>
                      <a:pt x="314" y="268"/>
                      <a:pt x="316" y="267"/>
                    </a:cubicBezTo>
                    <a:cubicBezTo>
                      <a:pt x="318" y="266"/>
                      <a:pt x="321" y="266"/>
                      <a:pt x="324" y="267"/>
                    </a:cubicBezTo>
                    <a:cubicBezTo>
                      <a:pt x="325" y="268"/>
                      <a:pt x="326" y="268"/>
                      <a:pt x="327" y="269"/>
                    </a:cubicBezTo>
                    <a:cubicBezTo>
                      <a:pt x="328" y="270"/>
                      <a:pt x="329" y="272"/>
                      <a:pt x="329" y="273"/>
                    </a:cubicBezTo>
                    <a:cubicBezTo>
                      <a:pt x="330" y="274"/>
                      <a:pt x="330" y="276"/>
                      <a:pt x="330" y="277"/>
                    </a:cubicBezTo>
                    <a:cubicBezTo>
                      <a:pt x="330" y="278"/>
                      <a:pt x="330" y="280"/>
                      <a:pt x="329" y="281"/>
                    </a:cubicBezTo>
                    <a:cubicBezTo>
                      <a:pt x="329" y="282"/>
                      <a:pt x="328" y="284"/>
                      <a:pt x="327" y="285"/>
                    </a:cubicBezTo>
                    <a:cubicBezTo>
                      <a:pt x="326" y="286"/>
                      <a:pt x="325" y="286"/>
                      <a:pt x="324" y="287"/>
                    </a:cubicBezTo>
                    <a:cubicBezTo>
                      <a:pt x="322" y="287"/>
                      <a:pt x="321" y="288"/>
                      <a:pt x="320" y="288"/>
                    </a:cubicBezTo>
                    <a:cubicBezTo>
                      <a:pt x="318" y="288"/>
                      <a:pt x="317" y="287"/>
                      <a:pt x="316" y="287"/>
                    </a:cubicBezTo>
                    <a:cubicBezTo>
                      <a:pt x="314" y="286"/>
                      <a:pt x="313" y="286"/>
                      <a:pt x="312" y="285"/>
                    </a:cubicBezTo>
                    <a:cubicBezTo>
                      <a:pt x="311" y="284"/>
                      <a:pt x="310" y="282"/>
                      <a:pt x="310" y="281"/>
                    </a:cubicBezTo>
                    <a:cubicBezTo>
                      <a:pt x="309" y="280"/>
                      <a:pt x="309" y="278"/>
                      <a:pt x="309" y="277"/>
                    </a:cubicBezTo>
                    <a:cubicBezTo>
                      <a:pt x="309" y="276"/>
                      <a:pt x="309" y="274"/>
                      <a:pt x="310" y="273"/>
                    </a:cubicBezTo>
                    <a:close/>
                    <a:moveTo>
                      <a:pt x="310" y="316"/>
                    </a:moveTo>
                    <a:cubicBezTo>
                      <a:pt x="310" y="314"/>
                      <a:pt x="311" y="313"/>
                      <a:pt x="312" y="312"/>
                    </a:cubicBezTo>
                    <a:cubicBezTo>
                      <a:pt x="313" y="312"/>
                      <a:pt x="313" y="311"/>
                      <a:pt x="314" y="311"/>
                    </a:cubicBezTo>
                    <a:cubicBezTo>
                      <a:pt x="314" y="310"/>
                      <a:pt x="315" y="310"/>
                      <a:pt x="316" y="310"/>
                    </a:cubicBezTo>
                    <a:cubicBezTo>
                      <a:pt x="316" y="310"/>
                      <a:pt x="317" y="309"/>
                      <a:pt x="318" y="309"/>
                    </a:cubicBezTo>
                    <a:cubicBezTo>
                      <a:pt x="319" y="309"/>
                      <a:pt x="320" y="309"/>
                      <a:pt x="322" y="309"/>
                    </a:cubicBezTo>
                    <a:cubicBezTo>
                      <a:pt x="322" y="309"/>
                      <a:pt x="323" y="310"/>
                      <a:pt x="324" y="310"/>
                    </a:cubicBezTo>
                    <a:cubicBezTo>
                      <a:pt x="324" y="310"/>
                      <a:pt x="325" y="310"/>
                      <a:pt x="326" y="311"/>
                    </a:cubicBezTo>
                    <a:cubicBezTo>
                      <a:pt x="326" y="311"/>
                      <a:pt x="327" y="312"/>
                      <a:pt x="327" y="312"/>
                    </a:cubicBezTo>
                    <a:cubicBezTo>
                      <a:pt x="328" y="313"/>
                      <a:pt x="329" y="314"/>
                      <a:pt x="329" y="316"/>
                    </a:cubicBezTo>
                    <a:cubicBezTo>
                      <a:pt x="330" y="317"/>
                      <a:pt x="330" y="318"/>
                      <a:pt x="330" y="320"/>
                    </a:cubicBezTo>
                    <a:cubicBezTo>
                      <a:pt x="330" y="321"/>
                      <a:pt x="330" y="322"/>
                      <a:pt x="329" y="324"/>
                    </a:cubicBezTo>
                    <a:cubicBezTo>
                      <a:pt x="329" y="325"/>
                      <a:pt x="328" y="326"/>
                      <a:pt x="327" y="327"/>
                    </a:cubicBezTo>
                    <a:cubicBezTo>
                      <a:pt x="325" y="329"/>
                      <a:pt x="322" y="330"/>
                      <a:pt x="320" y="330"/>
                    </a:cubicBezTo>
                    <a:cubicBezTo>
                      <a:pt x="317" y="330"/>
                      <a:pt x="314" y="329"/>
                      <a:pt x="312" y="327"/>
                    </a:cubicBezTo>
                    <a:cubicBezTo>
                      <a:pt x="311" y="326"/>
                      <a:pt x="310" y="325"/>
                      <a:pt x="310" y="324"/>
                    </a:cubicBezTo>
                    <a:cubicBezTo>
                      <a:pt x="309" y="322"/>
                      <a:pt x="309" y="321"/>
                      <a:pt x="309" y="320"/>
                    </a:cubicBezTo>
                    <a:cubicBezTo>
                      <a:pt x="309" y="318"/>
                      <a:pt x="309" y="317"/>
                      <a:pt x="310" y="31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73" y="405"/>
                    </a:moveTo>
                    <a:cubicBezTo>
                      <a:pt x="373" y="411"/>
                      <a:pt x="368" y="416"/>
                      <a:pt x="362" y="416"/>
                    </a:cubicBezTo>
                    <a:cubicBezTo>
                      <a:pt x="149" y="416"/>
                      <a:pt x="149" y="416"/>
                      <a:pt x="149" y="416"/>
                    </a:cubicBezTo>
                    <a:cubicBezTo>
                      <a:pt x="143" y="416"/>
                      <a:pt x="138" y="411"/>
                      <a:pt x="138" y="405"/>
                    </a:cubicBezTo>
                    <a:cubicBezTo>
                      <a:pt x="138" y="106"/>
                      <a:pt x="138" y="106"/>
                      <a:pt x="138" y="106"/>
                    </a:cubicBezTo>
                    <a:cubicBezTo>
                      <a:pt x="138" y="100"/>
                      <a:pt x="143" y="96"/>
                      <a:pt x="149" y="96"/>
                    </a:cubicBezTo>
                    <a:cubicBezTo>
                      <a:pt x="277" y="96"/>
                      <a:pt x="277" y="96"/>
                      <a:pt x="277" y="96"/>
                    </a:cubicBezTo>
                    <a:cubicBezTo>
                      <a:pt x="283" y="96"/>
                      <a:pt x="288" y="100"/>
                      <a:pt x="288" y="106"/>
                    </a:cubicBezTo>
                    <a:cubicBezTo>
                      <a:pt x="288" y="181"/>
                      <a:pt x="288" y="181"/>
                      <a:pt x="288" y="181"/>
                    </a:cubicBezTo>
                    <a:cubicBezTo>
                      <a:pt x="362" y="181"/>
                      <a:pt x="362" y="181"/>
                      <a:pt x="362" y="181"/>
                    </a:cubicBezTo>
                    <a:cubicBezTo>
                      <a:pt x="368" y="181"/>
                      <a:pt x="373" y="186"/>
                      <a:pt x="373" y="192"/>
                    </a:cubicBezTo>
                    <a:lnTo>
                      <a:pt x="373" y="40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400"/>
                <a:endParaRPr lang="en-GB" sz="1800" dirty="0">
                  <a:solidFill>
                    <a:prstClr val="black"/>
                  </a:solidFill>
                  <a:latin typeface="Calibri"/>
                </a:endParaRPr>
              </a:p>
            </p:txBody>
          </p:sp>
        </p:grpSp>
        <p:grpSp>
          <p:nvGrpSpPr>
            <p:cNvPr id="36" name="Group 35">
              <a:extLst>
                <a:ext uri="{FF2B5EF4-FFF2-40B4-BE49-F238E27FC236}">
                  <a16:creationId xmlns:a16="http://schemas.microsoft.com/office/drawing/2014/main" id="{384F6CD6-9AF0-4F49-8DAA-98E7763B5975}"/>
                </a:ext>
              </a:extLst>
            </p:cNvPr>
            <p:cNvGrpSpPr/>
            <p:nvPr/>
          </p:nvGrpSpPr>
          <p:grpSpPr>
            <a:xfrm>
              <a:off x="2067228" y="3303039"/>
              <a:ext cx="836093" cy="690696"/>
              <a:chOff x="2067228" y="3303319"/>
              <a:chExt cx="836093" cy="690696"/>
            </a:xfrm>
          </p:grpSpPr>
          <p:cxnSp>
            <p:nvCxnSpPr>
              <p:cNvPr id="75" name="Straight Connector 74">
                <a:extLst>
                  <a:ext uri="{FF2B5EF4-FFF2-40B4-BE49-F238E27FC236}">
                    <a16:creationId xmlns:a16="http://schemas.microsoft.com/office/drawing/2014/main" id="{AEC82A87-4F30-4160-BF51-2902331F1560}"/>
                  </a:ext>
                </a:extLst>
              </p:cNvPr>
              <p:cNvCxnSpPr>
                <a:cxnSpLocks/>
              </p:cNvCxnSpPr>
              <p:nvPr/>
            </p:nvCxnSpPr>
            <p:spPr>
              <a:xfrm>
                <a:off x="2757924" y="3648667"/>
                <a:ext cx="145397" cy="0"/>
              </a:xfrm>
              <a:prstGeom prst="line">
                <a:avLst/>
              </a:prstGeom>
              <a:ln w="12700">
                <a:solidFill>
                  <a:srgbClr val="26890D"/>
                </a:solidFill>
                <a:prstDash val="sysDot"/>
                <a:tailEnd type="oval"/>
              </a:ln>
            </p:spPr>
          </p:cxnSp>
          <p:grpSp>
            <p:nvGrpSpPr>
              <p:cNvPr id="25" name="Group 24">
                <a:extLst>
                  <a:ext uri="{FF2B5EF4-FFF2-40B4-BE49-F238E27FC236}">
                    <a16:creationId xmlns:a16="http://schemas.microsoft.com/office/drawing/2014/main" id="{188A2358-E9A6-4120-BAA9-72F991A93A4F}"/>
                  </a:ext>
                </a:extLst>
              </p:cNvPr>
              <p:cNvGrpSpPr/>
              <p:nvPr/>
            </p:nvGrpSpPr>
            <p:grpSpPr>
              <a:xfrm>
                <a:off x="2067228" y="3303319"/>
                <a:ext cx="690696" cy="690696"/>
                <a:chOff x="2067228" y="3303319"/>
                <a:chExt cx="690696" cy="690696"/>
              </a:xfrm>
            </p:grpSpPr>
            <p:sp>
              <p:nvSpPr>
                <p:cNvPr id="82" name="Oval 81">
                  <a:extLst>
                    <a:ext uri="{FF2B5EF4-FFF2-40B4-BE49-F238E27FC236}">
                      <a16:creationId xmlns:a16="http://schemas.microsoft.com/office/drawing/2014/main" id="{56D17F36-B15A-4081-807B-412204C0018A}"/>
                    </a:ext>
                  </a:extLst>
                </p:cNvPr>
                <p:cNvSpPr/>
                <p:nvPr/>
              </p:nvSpPr>
              <p:spPr bwMode="gray">
                <a:xfrm>
                  <a:off x="2067228" y="3303319"/>
                  <a:ext cx="690696" cy="690696"/>
                </a:xfrm>
                <a:prstGeom prst="ellipse">
                  <a:avLst/>
                </a:prstGeom>
                <a:solidFill>
                  <a:schemeClr val="accent3"/>
                </a:solidFill>
                <a:ln w="38100" algn="ctr">
                  <a:solidFill>
                    <a:schemeClr val="bg1"/>
                  </a:solidFill>
                  <a:miter lim="800000"/>
                  <a:headEnd/>
                  <a:tailEnd/>
                </a:ln>
              </p:spPr>
              <p:txBody>
                <a:bodyPr wrap="square" lIns="80648" tIns="80648" rIns="80648" bIns="80648" rtlCol="0" anchor="ctr"/>
                <a:lstStyle/>
                <a:p>
                  <a:pPr algn="ctr">
                    <a:lnSpc>
                      <a:spcPct val="106000"/>
                    </a:lnSpc>
                    <a:buFont typeface="Wingdings 2" pitchFamily="18" charset="2"/>
                    <a:buNone/>
                  </a:pPr>
                  <a:endParaRPr lang="en-US" sz="1452" b="1" dirty="0">
                    <a:solidFill>
                      <a:schemeClr val="bg1"/>
                    </a:solidFill>
                  </a:endParaRPr>
                </a:p>
              </p:txBody>
            </p:sp>
            <p:sp>
              <p:nvSpPr>
                <p:cNvPr id="151" name="Freeform 5">
                  <a:extLst>
                    <a:ext uri="{FF2B5EF4-FFF2-40B4-BE49-F238E27FC236}">
                      <a16:creationId xmlns:a16="http://schemas.microsoft.com/office/drawing/2014/main" id="{536F292A-A7AE-49CA-A64C-89FB89E1F76C}"/>
                    </a:ext>
                  </a:extLst>
                </p:cNvPr>
                <p:cNvSpPr>
                  <a:spLocks noChangeAspect="1" noEditPoints="1"/>
                </p:cNvSpPr>
                <p:nvPr/>
              </p:nvSpPr>
              <p:spPr bwMode="auto">
                <a:xfrm>
                  <a:off x="2170260" y="3406351"/>
                  <a:ext cx="484632" cy="484632"/>
                </a:xfrm>
                <a:custGeom>
                  <a:avLst/>
                  <a:gdLst>
                    <a:gd name="T0" fmla="*/ 791 w 791"/>
                    <a:gd name="T1" fmla="*/ 396 h 792"/>
                    <a:gd name="T2" fmla="*/ 0 w 791"/>
                    <a:gd name="T3" fmla="*/ 396 h 792"/>
                    <a:gd name="T4" fmla="*/ 791 w 791"/>
                    <a:gd name="T5" fmla="*/ 396 h 792"/>
                    <a:gd name="T6" fmla="*/ 514 w 791"/>
                    <a:gd name="T7" fmla="*/ 399 h 792"/>
                    <a:gd name="T8" fmla="*/ 482 w 791"/>
                    <a:gd name="T9" fmla="*/ 286 h 792"/>
                    <a:gd name="T10" fmla="*/ 376 w 791"/>
                    <a:gd name="T11" fmla="*/ 252 h 792"/>
                    <a:gd name="T12" fmla="*/ 238 w 791"/>
                    <a:gd name="T13" fmla="*/ 176 h 792"/>
                    <a:gd name="T14" fmla="*/ 352 w 791"/>
                    <a:gd name="T15" fmla="*/ 528 h 792"/>
                    <a:gd name="T16" fmla="*/ 227 w 791"/>
                    <a:gd name="T17" fmla="*/ 560 h 792"/>
                    <a:gd name="T18" fmla="*/ 207 w 791"/>
                    <a:gd name="T19" fmla="*/ 165 h 792"/>
                    <a:gd name="T20" fmla="*/ 410 w 791"/>
                    <a:gd name="T21" fmla="*/ 145 h 792"/>
                    <a:gd name="T22" fmla="*/ 514 w 791"/>
                    <a:gd name="T23" fmla="*/ 399 h 792"/>
                    <a:gd name="T24" fmla="*/ 455 w 791"/>
                    <a:gd name="T25" fmla="*/ 380 h 792"/>
                    <a:gd name="T26" fmla="*/ 442 w 791"/>
                    <a:gd name="T27" fmla="*/ 394 h 792"/>
                    <a:gd name="T28" fmla="*/ 262 w 791"/>
                    <a:gd name="T29" fmla="*/ 380 h 792"/>
                    <a:gd name="T30" fmla="*/ 442 w 791"/>
                    <a:gd name="T31" fmla="*/ 366 h 792"/>
                    <a:gd name="T32" fmla="*/ 442 w 791"/>
                    <a:gd name="T33" fmla="*/ 338 h 792"/>
                    <a:gd name="T34" fmla="*/ 276 w 791"/>
                    <a:gd name="T35" fmla="*/ 338 h 792"/>
                    <a:gd name="T36" fmla="*/ 276 w 791"/>
                    <a:gd name="T37" fmla="*/ 311 h 792"/>
                    <a:gd name="T38" fmla="*/ 455 w 791"/>
                    <a:gd name="T39" fmla="*/ 325 h 792"/>
                    <a:gd name="T40" fmla="*/ 388 w 791"/>
                    <a:gd name="T41" fmla="*/ 423 h 792"/>
                    <a:gd name="T42" fmla="*/ 367 w 791"/>
                    <a:gd name="T43" fmla="*/ 450 h 792"/>
                    <a:gd name="T44" fmla="*/ 262 w 791"/>
                    <a:gd name="T45" fmla="*/ 437 h 792"/>
                    <a:gd name="T46" fmla="*/ 388 w 791"/>
                    <a:gd name="T47" fmla="*/ 423 h 792"/>
                    <a:gd name="T48" fmla="*/ 276 w 791"/>
                    <a:gd name="T49" fmla="*/ 477 h 792"/>
                    <a:gd name="T50" fmla="*/ 355 w 791"/>
                    <a:gd name="T51" fmla="*/ 477 h 792"/>
                    <a:gd name="T52" fmla="*/ 276 w 791"/>
                    <a:gd name="T53" fmla="*/ 504 h 792"/>
                    <a:gd name="T54" fmla="*/ 276 w 791"/>
                    <a:gd name="T55" fmla="*/ 477 h 792"/>
                    <a:gd name="T56" fmla="*/ 616 w 791"/>
                    <a:gd name="T57" fmla="*/ 657 h 792"/>
                    <a:gd name="T58" fmla="*/ 536 w 791"/>
                    <a:gd name="T59" fmla="*/ 595 h 792"/>
                    <a:gd name="T60" fmla="*/ 470 w 791"/>
                    <a:gd name="T61" fmla="*/ 617 h 792"/>
                    <a:gd name="T62" fmla="*/ 470 w 791"/>
                    <a:gd name="T63" fmla="*/ 404 h 792"/>
                    <a:gd name="T64" fmla="*/ 558 w 791"/>
                    <a:gd name="T65" fmla="*/ 571 h 792"/>
                    <a:gd name="T66" fmla="*/ 616 w 791"/>
                    <a:gd name="T67" fmla="*/ 638 h 792"/>
                    <a:gd name="T68" fmla="*/ 552 w 791"/>
                    <a:gd name="T69" fmla="*/ 513 h 792"/>
                    <a:gd name="T70" fmla="*/ 470 w 791"/>
                    <a:gd name="T71" fmla="*/ 432 h 792"/>
                    <a:gd name="T72" fmla="*/ 470 w 791"/>
                    <a:gd name="T73" fmla="*/ 595 h 792"/>
                    <a:gd name="T74" fmla="*/ 455 w 791"/>
                    <a:gd name="T75" fmla="*/ 494 h 792"/>
                    <a:gd name="T76" fmla="*/ 442 w 791"/>
                    <a:gd name="T77" fmla="*/ 507 h 792"/>
                    <a:gd name="T78" fmla="*/ 411 w 791"/>
                    <a:gd name="T79" fmla="*/ 480 h 792"/>
                    <a:gd name="T80" fmla="*/ 455 w 791"/>
                    <a:gd name="T81" fmla="*/ 494 h 792"/>
                    <a:gd name="T82" fmla="*/ 514 w 791"/>
                    <a:gd name="T83" fmla="*/ 542 h 792"/>
                    <a:gd name="T84" fmla="*/ 423 w 791"/>
                    <a:gd name="T85" fmla="*/ 563 h 792"/>
                    <a:gd name="T86" fmla="*/ 482 w 791"/>
                    <a:gd name="T87" fmla="*/ 531 h 792"/>
                    <a:gd name="T88" fmla="*/ 514 w 791"/>
                    <a:gd name="T89" fmla="*/ 462 h 792"/>
                    <a:gd name="T90" fmla="*/ 514 w 791"/>
                    <a:gd name="T91" fmla="*/ 542 h 792"/>
                    <a:gd name="T92" fmla="*/ 410 w 791"/>
                    <a:gd name="T93" fmla="*/ 261 h 792"/>
                    <a:gd name="T94" fmla="*/ 403 w 791"/>
                    <a:gd name="T95" fmla="*/ 185 h 792"/>
                    <a:gd name="T96" fmla="*/ 410 w 791"/>
                    <a:gd name="T97" fmla="*/ 26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1" h="792">
                      <a:moveTo>
                        <a:pt x="791" y="396"/>
                      </a:moveTo>
                      <a:lnTo>
                        <a:pt x="791" y="396"/>
                      </a:lnTo>
                      <a:cubicBezTo>
                        <a:pt x="791" y="178"/>
                        <a:pt x="614" y="0"/>
                        <a:pt x="395" y="0"/>
                      </a:cubicBezTo>
                      <a:cubicBezTo>
                        <a:pt x="177" y="0"/>
                        <a:pt x="0" y="178"/>
                        <a:pt x="0" y="396"/>
                      </a:cubicBezTo>
                      <a:cubicBezTo>
                        <a:pt x="0" y="615"/>
                        <a:pt x="177" y="792"/>
                        <a:pt x="395" y="792"/>
                      </a:cubicBezTo>
                      <a:cubicBezTo>
                        <a:pt x="614" y="792"/>
                        <a:pt x="791" y="615"/>
                        <a:pt x="791" y="396"/>
                      </a:cubicBezTo>
                      <a:close/>
                      <a:moveTo>
                        <a:pt x="514" y="399"/>
                      </a:moveTo>
                      <a:lnTo>
                        <a:pt x="514" y="399"/>
                      </a:lnTo>
                      <a:cubicBezTo>
                        <a:pt x="504" y="395"/>
                        <a:pt x="493" y="393"/>
                        <a:pt x="482" y="392"/>
                      </a:cubicBezTo>
                      <a:lnTo>
                        <a:pt x="482" y="286"/>
                      </a:lnTo>
                      <a:lnTo>
                        <a:pt x="410" y="286"/>
                      </a:lnTo>
                      <a:cubicBezTo>
                        <a:pt x="391" y="286"/>
                        <a:pt x="376" y="270"/>
                        <a:pt x="376" y="252"/>
                      </a:cubicBezTo>
                      <a:lnTo>
                        <a:pt x="376" y="176"/>
                      </a:lnTo>
                      <a:lnTo>
                        <a:pt x="238" y="176"/>
                      </a:lnTo>
                      <a:lnTo>
                        <a:pt x="238" y="528"/>
                      </a:lnTo>
                      <a:lnTo>
                        <a:pt x="352" y="528"/>
                      </a:lnTo>
                      <a:cubicBezTo>
                        <a:pt x="353" y="540"/>
                        <a:pt x="356" y="550"/>
                        <a:pt x="361" y="560"/>
                      </a:cubicBezTo>
                      <a:lnTo>
                        <a:pt x="227" y="560"/>
                      </a:lnTo>
                      <a:cubicBezTo>
                        <a:pt x="216" y="560"/>
                        <a:pt x="207" y="551"/>
                        <a:pt x="207" y="540"/>
                      </a:cubicBezTo>
                      <a:lnTo>
                        <a:pt x="207" y="165"/>
                      </a:lnTo>
                      <a:cubicBezTo>
                        <a:pt x="207" y="154"/>
                        <a:pt x="216" y="145"/>
                        <a:pt x="227" y="145"/>
                      </a:cubicBezTo>
                      <a:lnTo>
                        <a:pt x="410" y="145"/>
                      </a:lnTo>
                      <a:lnTo>
                        <a:pt x="514" y="249"/>
                      </a:lnTo>
                      <a:lnTo>
                        <a:pt x="514" y="399"/>
                      </a:lnTo>
                      <a:lnTo>
                        <a:pt x="514" y="399"/>
                      </a:lnTo>
                      <a:close/>
                      <a:moveTo>
                        <a:pt x="455" y="380"/>
                      </a:moveTo>
                      <a:lnTo>
                        <a:pt x="455" y="380"/>
                      </a:lnTo>
                      <a:cubicBezTo>
                        <a:pt x="455" y="387"/>
                        <a:pt x="449" y="394"/>
                        <a:pt x="442" y="394"/>
                      </a:cubicBezTo>
                      <a:lnTo>
                        <a:pt x="276" y="394"/>
                      </a:lnTo>
                      <a:cubicBezTo>
                        <a:pt x="268" y="394"/>
                        <a:pt x="262" y="387"/>
                        <a:pt x="262" y="380"/>
                      </a:cubicBezTo>
                      <a:cubicBezTo>
                        <a:pt x="262" y="372"/>
                        <a:pt x="268" y="366"/>
                        <a:pt x="276" y="366"/>
                      </a:cubicBezTo>
                      <a:lnTo>
                        <a:pt x="442" y="366"/>
                      </a:lnTo>
                      <a:cubicBezTo>
                        <a:pt x="449" y="366"/>
                        <a:pt x="455" y="372"/>
                        <a:pt x="455" y="380"/>
                      </a:cubicBezTo>
                      <a:close/>
                      <a:moveTo>
                        <a:pt x="442" y="338"/>
                      </a:moveTo>
                      <a:lnTo>
                        <a:pt x="442" y="338"/>
                      </a:lnTo>
                      <a:lnTo>
                        <a:pt x="276" y="338"/>
                      </a:lnTo>
                      <a:cubicBezTo>
                        <a:pt x="268" y="338"/>
                        <a:pt x="262" y="332"/>
                        <a:pt x="262" y="325"/>
                      </a:cubicBezTo>
                      <a:cubicBezTo>
                        <a:pt x="262" y="317"/>
                        <a:pt x="268" y="311"/>
                        <a:pt x="276" y="311"/>
                      </a:cubicBezTo>
                      <a:lnTo>
                        <a:pt x="442" y="311"/>
                      </a:lnTo>
                      <a:cubicBezTo>
                        <a:pt x="449" y="311"/>
                        <a:pt x="455" y="317"/>
                        <a:pt x="455" y="325"/>
                      </a:cubicBezTo>
                      <a:cubicBezTo>
                        <a:pt x="455" y="332"/>
                        <a:pt x="449" y="338"/>
                        <a:pt x="442" y="338"/>
                      </a:cubicBezTo>
                      <a:close/>
                      <a:moveTo>
                        <a:pt x="388" y="423"/>
                      </a:moveTo>
                      <a:lnTo>
                        <a:pt x="388" y="423"/>
                      </a:lnTo>
                      <a:cubicBezTo>
                        <a:pt x="380" y="431"/>
                        <a:pt x="373" y="440"/>
                        <a:pt x="367" y="450"/>
                      </a:cubicBezTo>
                      <a:lnTo>
                        <a:pt x="276" y="450"/>
                      </a:lnTo>
                      <a:cubicBezTo>
                        <a:pt x="268" y="450"/>
                        <a:pt x="262" y="444"/>
                        <a:pt x="262" y="437"/>
                      </a:cubicBezTo>
                      <a:cubicBezTo>
                        <a:pt x="262" y="429"/>
                        <a:pt x="268" y="423"/>
                        <a:pt x="276" y="423"/>
                      </a:cubicBezTo>
                      <a:lnTo>
                        <a:pt x="388" y="423"/>
                      </a:lnTo>
                      <a:lnTo>
                        <a:pt x="388" y="423"/>
                      </a:lnTo>
                      <a:close/>
                      <a:moveTo>
                        <a:pt x="276" y="477"/>
                      </a:moveTo>
                      <a:lnTo>
                        <a:pt x="276" y="477"/>
                      </a:lnTo>
                      <a:lnTo>
                        <a:pt x="355" y="477"/>
                      </a:lnTo>
                      <a:cubicBezTo>
                        <a:pt x="353" y="486"/>
                        <a:pt x="351" y="495"/>
                        <a:pt x="350" y="504"/>
                      </a:cubicBezTo>
                      <a:lnTo>
                        <a:pt x="276" y="504"/>
                      </a:lnTo>
                      <a:cubicBezTo>
                        <a:pt x="268" y="504"/>
                        <a:pt x="262" y="498"/>
                        <a:pt x="262" y="491"/>
                      </a:cubicBezTo>
                      <a:cubicBezTo>
                        <a:pt x="262" y="483"/>
                        <a:pt x="268" y="477"/>
                        <a:pt x="276" y="477"/>
                      </a:cubicBezTo>
                      <a:close/>
                      <a:moveTo>
                        <a:pt x="616" y="657"/>
                      </a:moveTo>
                      <a:lnTo>
                        <a:pt x="616" y="657"/>
                      </a:lnTo>
                      <a:cubicBezTo>
                        <a:pt x="611" y="662"/>
                        <a:pt x="602" y="662"/>
                        <a:pt x="597" y="657"/>
                      </a:cubicBezTo>
                      <a:lnTo>
                        <a:pt x="536" y="595"/>
                      </a:lnTo>
                      <a:lnTo>
                        <a:pt x="531" y="598"/>
                      </a:lnTo>
                      <a:cubicBezTo>
                        <a:pt x="513" y="611"/>
                        <a:pt x="492" y="617"/>
                        <a:pt x="470" y="617"/>
                      </a:cubicBezTo>
                      <a:cubicBezTo>
                        <a:pt x="411" y="617"/>
                        <a:pt x="363" y="570"/>
                        <a:pt x="363" y="511"/>
                      </a:cubicBezTo>
                      <a:cubicBezTo>
                        <a:pt x="363" y="452"/>
                        <a:pt x="411" y="404"/>
                        <a:pt x="470" y="404"/>
                      </a:cubicBezTo>
                      <a:cubicBezTo>
                        <a:pt x="529" y="404"/>
                        <a:pt x="577" y="452"/>
                        <a:pt x="577" y="511"/>
                      </a:cubicBezTo>
                      <a:cubicBezTo>
                        <a:pt x="577" y="532"/>
                        <a:pt x="570" y="553"/>
                        <a:pt x="558" y="571"/>
                      </a:cubicBezTo>
                      <a:lnTo>
                        <a:pt x="555" y="575"/>
                      </a:lnTo>
                      <a:lnTo>
                        <a:pt x="616" y="638"/>
                      </a:lnTo>
                      <a:cubicBezTo>
                        <a:pt x="621" y="643"/>
                        <a:pt x="621" y="652"/>
                        <a:pt x="616" y="657"/>
                      </a:cubicBezTo>
                      <a:close/>
                      <a:moveTo>
                        <a:pt x="552" y="513"/>
                      </a:moveTo>
                      <a:lnTo>
                        <a:pt x="552" y="513"/>
                      </a:lnTo>
                      <a:cubicBezTo>
                        <a:pt x="552" y="468"/>
                        <a:pt x="515" y="432"/>
                        <a:pt x="470" y="432"/>
                      </a:cubicBezTo>
                      <a:cubicBezTo>
                        <a:pt x="425" y="432"/>
                        <a:pt x="388" y="468"/>
                        <a:pt x="388" y="513"/>
                      </a:cubicBezTo>
                      <a:cubicBezTo>
                        <a:pt x="388" y="559"/>
                        <a:pt x="425" y="595"/>
                        <a:pt x="470" y="595"/>
                      </a:cubicBezTo>
                      <a:cubicBezTo>
                        <a:pt x="515" y="595"/>
                        <a:pt x="552" y="559"/>
                        <a:pt x="552" y="513"/>
                      </a:cubicBezTo>
                      <a:close/>
                      <a:moveTo>
                        <a:pt x="455" y="494"/>
                      </a:moveTo>
                      <a:lnTo>
                        <a:pt x="455" y="494"/>
                      </a:lnTo>
                      <a:cubicBezTo>
                        <a:pt x="455" y="501"/>
                        <a:pt x="449" y="507"/>
                        <a:pt x="442" y="507"/>
                      </a:cubicBezTo>
                      <a:lnTo>
                        <a:pt x="403" y="507"/>
                      </a:lnTo>
                      <a:cubicBezTo>
                        <a:pt x="403" y="497"/>
                        <a:pt x="406" y="488"/>
                        <a:pt x="411" y="480"/>
                      </a:cubicBezTo>
                      <a:lnTo>
                        <a:pt x="442" y="480"/>
                      </a:lnTo>
                      <a:cubicBezTo>
                        <a:pt x="449" y="480"/>
                        <a:pt x="455" y="486"/>
                        <a:pt x="455" y="494"/>
                      </a:cubicBezTo>
                      <a:close/>
                      <a:moveTo>
                        <a:pt x="514" y="542"/>
                      </a:moveTo>
                      <a:lnTo>
                        <a:pt x="514" y="542"/>
                      </a:lnTo>
                      <a:cubicBezTo>
                        <a:pt x="514" y="554"/>
                        <a:pt x="505" y="563"/>
                        <a:pt x="494" y="563"/>
                      </a:cubicBezTo>
                      <a:lnTo>
                        <a:pt x="423" y="563"/>
                      </a:lnTo>
                      <a:cubicBezTo>
                        <a:pt x="414" y="554"/>
                        <a:pt x="408" y="543"/>
                        <a:pt x="405" y="531"/>
                      </a:cubicBezTo>
                      <a:lnTo>
                        <a:pt x="482" y="531"/>
                      </a:lnTo>
                      <a:lnTo>
                        <a:pt x="482" y="446"/>
                      </a:lnTo>
                      <a:cubicBezTo>
                        <a:pt x="494" y="449"/>
                        <a:pt x="505" y="454"/>
                        <a:pt x="514" y="462"/>
                      </a:cubicBezTo>
                      <a:lnTo>
                        <a:pt x="514" y="542"/>
                      </a:lnTo>
                      <a:lnTo>
                        <a:pt x="514" y="542"/>
                      </a:lnTo>
                      <a:close/>
                      <a:moveTo>
                        <a:pt x="410" y="261"/>
                      </a:moveTo>
                      <a:lnTo>
                        <a:pt x="410" y="261"/>
                      </a:lnTo>
                      <a:lnTo>
                        <a:pt x="479" y="261"/>
                      </a:lnTo>
                      <a:lnTo>
                        <a:pt x="403" y="185"/>
                      </a:lnTo>
                      <a:lnTo>
                        <a:pt x="403" y="254"/>
                      </a:lnTo>
                      <a:cubicBezTo>
                        <a:pt x="403" y="258"/>
                        <a:pt x="406" y="261"/>
                        <a:pt x="410" y="2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en-US" sz="1800" dirty="0">
                    <a:solidFill>
                      <a:prstClr val="black"/>
                    </a:solidFill>
                    <a:latin typeface="Calibri"/>
                  </a:endParaRPr>
                </a:p>
              </p:txBody>
            </p:sp>
          </p:grpSp>
        </p:grpSp>
        <p:grpSp>
          <p:nvGrpSpPr>
            <p:cNvPr id="37" name="Group 36">
              <a:extLst>
                <a:ext uri="{FF2B5EF4-FFF2-40B4-BE49-F238E27FC236}">
                  <a16:creationId xmlns:a16="http://schemas.microsoft.com/office/drawing/2014/main" id="{74273062-E620-420A-8421-7A2C4F6B6C6B}"/>
                </a:ext>
              </a:extLst>
            </p:cNvPr>
            <p:cNvGrpSpPr/>
            <p:nvPr/>
          </p:nvGrpSpPr>
          <p:grpSpPr>
            <a:xfrm>
              <a:off x="1850918" y="4244763"/>
              <a:ext cx="1052403" cy="690696"/>
              <a:chOff x="1850918" y="4343827"/>
              <a:chExt cx="1052403" cy="690696"/>
            </a:xfrm>
          </p:grpSpPr>
          <p:cxnSp>
            <p:nvCxnSpPr>
              <p:cNvPr id="76" name="Straight Connector 75">
                <a:extLst>
                  <a:ext uri="{FF2B5EF4-FFF2-40B4-BE49-F238E27FC236}">
                    <a16:creationId xmlns:a16="http://schemas.microsoft.com/office/drawing/2014/main" id="{41718725-C16D-49BD-BA94-AC87A9E75B50}"/>
                  </a:ext>
                </a:extLst>
              </p:cNvPr>
              <p:cNvCxnSpPr>
                <a:cxnSpLocks/>
              </p:cNvCxnSpPr>
              <p:nvPr/>
            </p:nvCxnSpPr>
            <p:spPr>
              <a:xfrm>
                <a:off x="2541614" y="4689175"/>
                <a:ext cx="361707" cy="0"/>
              </a:xfrm>
              <a:prstGeom prst="line">
                <a:avLst/>
              </a:prstGeom>
              <a:ln w="12700">
                <a:solidFill>
                  <a:srgbClr val="44546A"/>
                </a:solidFill>
                <a:prstDash val="sysDot"/>
                <a:tailEnd type="oval"/>
              </a:ln>
            </p:spPr>
          </p:cxnSp>
          <p:grpSp>
            <p:nvGrpSpPr>
              <p:cNvPr id="26" name="Group 25">
                <a:extLst>
                  <a:ext uri="{FF2B5EF4-FFF2-40B4-BE49-F238E27FC236}">
                    <a16:creationId xmlns:a16="http://schemas.microsoft.com/office/drawing/2014/main" id="{94534B0F-6441-44E3-A96B-DDFFFF9A47A4}"/>
                  </a:ext>
                </a:extLst>
              </p:cNvPr>
              <p:cNvGrpSpPr/>
              <p:nvPr/>
            </p:nvGrpSpPr>
            <p:grpSpPr>
              <a:xfrm>
                <a:off x="1850918" y="4343827"/>
                <a:ext cx="690696" cy="690696"/>
                <a:chOff x="1850918" y="4343827"/>
                <a:chExt cx="690696" cy="690696"/>
              </a:xfrm>
            </p:grpSpPr>
            <p:sp>
              <p:nvSpPr>
                <p:cNvPr id="102" name="Oval 101">
                  <a:extLst>
                    <a:ext uri="{FF2B5EF4-FFF2-40B4-BE49-F238E27FC236}">
                      <a16:creationId xmlns:a16="http://schemas.microsoft.com/office/drawing/2014/main" id="{384262B5-4932-498A-9B92-014102897269}"/>
                    </a:ext>
                  </a:extLst>
                </p:cNvPr>
                <p:cNvSpPr/>
                <p:nvPr/>
              </p:nvSpPr>
              <p:spPr bwMode="gray">
                <a:xfrm>
                  <a:off x="1850918" y="4343827"/>
                  <a:ext cx="690696" cy="690696"/>
                </a:xfrm>
                <a:prstGeom prst="ellipse">
                  <a:avLst/>
                </a:prstGeom>
                <a:solidFill>
                  <a:schemeClr val="tx2"/>
                </a:solidFill>
                <a:ln w="38100" algn="ctr">
                  <a:solidFill>
                    <a:schemeClr val="bg1"/>
                  </a:solidFill>
                  <a:miter lim="800000"/>
                  <a:headEnd/>
                  <a:tailEnd/>
                </a:ln>
              </p:spPr>
              <p:txBody>
                <a:bodyPr wrap="square" lIns="80648" tIns="80648" rIns="80648" bIns="80648" rtlCol="0" anchor="ctr"/>
                <a:lstStyle/>
                <a:p>
                  <a:pPr algn="ctr">
                    <a:lnSpc>
                      <a:spcPct val="106000"/>
                    </a:lnSpc>
                    <a:buFont typeface="Wingdings 2" pitchFamily="18" charset="2"/>
                    <a:buNone/>
                  </a:pPr>
                  <a:endParaRPr lang="en-US" sz="1452" b="1" dirty="0">
                    <a:solidFill>
                      <a:schemeClr val="bg1"/>
                    </a:solidFill>
                  </a:endParaRPr>
                </a:p>
              </p:txBody>
            </p:sp>
            <p:sp>
              <p:nvSpPr>
                <p:cNvPr id="153" name="Freeform 75">
                  <a:extLst>
                    <a:ext uri="{FF2B5EF4-FFF2-40B4-BE49-F238E27FC236}">
                      <a16:creationId xmlns:a16="http://schemas.microsoft.com/office/drawing/2014/main" id="{21001006-2D18-4D1C-84D3-C6CA3BEA5E59}"/>
                    </a:ext>
                  </a:extLst>
                </p:cNvPr>
                <p:cNvSpPr>
                  <a:spLocks noChangeAspect="1" noEditPoints="1"/>
                </p:cNvSpPr>
                <p:nvPr/>
              </p:nvSpPr>
              <p:spPr bwMode="auto">
                <a:xfrm>
                  <a:off x="1953950" y="4446859"/>
                  <a:ext cx="484632" cy="484632"/>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400"/>
                  <a:endParaRPr lang="en-GB" sz="1800" dirty="0">
                    <a:solidFill>
                      <a:prstClr val="black"/>
                    </a:solidFill>
                    <a:latin typeface="Calibri"/>
                  </a:endParaRPr>
                </a:p>
              </p:txBody>
            </p:sp>
          </p:grpSp>
        </p:grpSp>
        <p:grpSp>
          <p:nvGrpSpPr>
            <p:cNvPr id="38" name="Group 37">
              <a:extLst>
                <a:ext uri="{FF2B5EF4-FFF2-40B4-BE49-F238E27FC236}">
                  <a16:creationId xmlns:a16="http://schemas.microsoft.com/office/drawing/2014/main" id="{11740E14-F24E-4569-9E72-CEA8B685F2E3}"/>
                </a:ext>
              </a:extLst>
            </p:cNvPr>
            <p:cNvGrpSpPr/>
            <p:nvPr/>
          </p:nvGrpSpPr>
          <p:grpSpPr>
            <a:xfrm>
              <a:off x="1163356" y="5186488"/>
              <a:ext cx="1739965" cy="690696"/>
              <a:chOff x="1163356" y="5186488"/>
              <a:chExt cx="1739965" cy="690696"/>
            </a:xfrm>
          </p:grpSpPr>
          <p:cxnSp>
            <p:nvCxnSpPr>
              <p:cNvPr id="78" name="Elbow Connector 22">
                <a:extLst>
                  <a:ext uri="{FF2B5EF4-FFF2-40B4-BE49-F238E27FC236}">
                    <a16:creationId xmlns:a16="http://schemas.microsoft.com/office/drawing/2014/main" id="{4424CFE1-3677-4FCF-BDF9-108F8FA89916}"/>
                  </a:ext>
                </a:extLst>
              </p:cNvPr>
              <p:cNvCxnSpPr>
                <a:cxnSpLocks/>
              </p:cNvCxnSpPr>
              <p:nvPr/>
            </p:nvCxnSpPr>
            <p:spPr>
              <a:xfrm>
                <a:off x="1854052" y="5531836"/>
                <a:ext cx="1049269" cy="0"/>
              </a:xfrm>
              <a:prstGeom prst="straightConnector1">
                <a:avLst/>
              </a:prstGeom>
              <a:ln w="12700">
                <a:solidFill>
                  <a:srgbClr val="009A44"/>
                </a:solidFill>
                <a:prstDash val="sysDot"/>
                <a:tailEnd type="oval"/>
              </a:ln>
            </p:spPr>
          </p:cxnSp>
          <p:grpSp>
            <p:nvGrpSpPr>
              <p:cNvPr id="27" name="Group 26">
                <a:extLst>
                  <a:ext uri="{FF2B5EF4-FFF2-40B4-BE49-F238E27FC236}">
                    <a16:creationId xmlns:a16="http://schemas.microsoft.com/office/drawing/2014/main" id="{1CE68A36-98B1-436A-9B27-FD341C496564}"/>
                  </a:ext>
                </a:extLst>
              </p:cNvPr>
              <p:cNvGrpSpPr/>
              <p:nvPr/>
            </p:nvGrpSpPr>
            <p:grpSpPr>
              <a:xfrm>
                <a:off x="1163356" y="5186488"/>
                <a:ext cx="690696" cy="690696"/>
                <a:chOff x="1163356" y="5186488"/>
                <a:chExt cx="690696" cy="690696"/>
              </a:xfrm>
            </p:grpSpPr>
            <p:sp>
              <p:nvSpPr>
                <p:cNvPr id="93" name="Oval 92">
                  <a:extLst>
                    <a:ext uri="{FF2B5EF4-FFF2-40B4-BE49-F238E27FC236}">
                      <a16:creationId xmlns:a16="http://schemas.microsoft.com/office/drawing/2014/main" id="{0A9EFFCF-8970-4CAF-82C4-5D8685FB913D}"/>
                    </a:ext>
                  </a:extLst>
                </p:cNvPr>
                <p:cNvSpPr/>
                <p:nvPr/>
              </p:nvSpPr>
              <p:spPr bwMode="gray">
                <a:xfrm>
                  <a:off x="1163356" y="5186488"/>
                  <a:ext cx="690696" cy="690696"/>
                </a:xfrm>
                <a:prstGeom prst="ellipse">
                  <a:avLst/>
                </a:prstGeom>
                <a:solidFill>
                  <a:srgbClr val="009A44"/>
                </a:solidFill>
                <a:ln w="38100" algn="ctr">
                  <a:solidFill>
                    <a:schemeClr val="bg1"/>
                  </a:solidFill>
                  <a:miter lim="800000"/>
                  <a:headEnd/>
                  <a:tailEnd/>
                </a:ln>
              </p:spPr>
              <p:txBody>
                <a:bodyPr wrap="square" lIns="80648" tIns="80648" rIns="80648" bIns="80648" rtlCol="0" anchor="ctr"/>
                <a:lstStyle/>
                <a:p>
                  <a:pPr algn="ctr">
                    <a:lnSpc>
                      <a:spcPct val="106000"/>
                    </a:lnSpc>
                    <a:buFont typeface="Wingdings 2" pitchFamily="18" charset="2"/>
                    <a:buNone/>
                  </a:pPr>
                  <a:endParaRPr lang="en-US" sz="1452" b="1" dirty="0">
                    <a:solidFill>
                      <a:schemeClr val="bg1"/>
                    </a:solidFill>
                  </a:endParaRPr>
                </a:p>
              </p:txBody>
            </p:sp>
            <p:sp>
              <p:nvSpPr>
                <p:cNvPr id="163" name="Freeform 589">
                  <a:extLst>
                    <a:ext uri="{FF2B5EF4-FFF2-40B4-BE49-F238E27FC236}">
                      <a16:creationId xmlns:a16="http://schemas.microsoft.com/office/drawing/2014/main" id="{F8353395-7502-4C5C-8A33-2525E9F0E4E8}"/>
                    </a:ext>
                  </a:extLst>
                </p:cNvPr>
                <p:cNvSpPr>
                  <a:spLocks noChangeAspect="1" noEditPoints="1"/>
                </p:cNvSpPr>
                <p:nvPr/>
              </p:nvSpPr>
              <p:spPr bwMode="auto">
                <a:xfrm>
                  <a:off x="1265676" y="5289520"/>
                  <a:ext cx="486057" cy="484632"/>
                </a:xfrm>
                <a:custGeom>
                  <a:avLst/>
                  <a:gdLst>
                    <a:gd name="T0" fmla="*/ 267 w 512"/>
                    <a:gd name="T1" fmla="*/ 160 h 512"/>
                    <a:gd name="T2" fmla="*/ 287 w 512"/>
                    <a:gd name="T3" fmla="*/ 348 h 512"/>
                    <a:gd name="T4" fmla="*/ 256 w 512"/>
                    <a:gd name="T5" fmla="*/ 388 h 512"/>
                    <a:gd name="T6" fmla="*/ 224 w 512"/>
                    <a:gd name="T7" fmla="*/ 348 h 512"/>
                    <a:gd name="T8" fmla="*/ 244 w 512"/>
                    <a:gd name="T9" fmla="*/ 160 h 512"/>
                    <a:gd name="T10" fmla="*/ 267 w 512"/>
                    <a:gd name="T11" fmla="*/ 160 h 512"/>
                    <a:gd name="T12" fmla="*/ 269 w 512"/>
                    <a:gd name="T13" fmla="*/ 138 h 512"/>
                    <a:gd name="T14" fmla="*/ 274 w 512"/>
                    <a:gd name="T15" fmla="*/ 117 h 512"/>
                    <a:gd name="T16" fmla="*/ 237 w 512"/>
                    <a:gd name="T17" fmla="*/ 117 h 512"/>
                    <a:gd name="T18" fmla="*/ 243 w 512"/>
                    <a:gd name="T19" fmla="*/ 138 h 512"/>
                    <a:gd name="T20" fmla="*/ 269 w 512"/>
                    <a:gd name="T21" fmla="*/ 138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09 w 512"/>
                    <a:gd name="T33" fmla="*/ 351 h 512"/>
                    <a:gd name="T34" fmla="*/ 288 w 512"/>
                    <a:gd name="T35" fmla="*/ 150 h 512"/>
                    <a:gd name="T36" fmla="*/ 298 w 512"/>
                    <a:gd name="T37" fmla="*/ 109 h 512"/>
                    <a:gd name="T38" fmla="*/ 296 w 512"/>
                    <a:gd name="T39" fmla="*/ 100 h 512"/>
                    <a:gd name="T40" fmla="*/ 288 w 512"/>
                    <a:gd name="T41" fmla="*/ 96 h 512"/>
                    <a:gd name="T42" fmla="*/ 224 w 512"/>
                    <a:gd name="T43" fmla="*/ 96 h 512"/>
                    <a:gd name="T44" fmla="*/ 215 w 512"/>
                    <a:gd name="T45" fmla="*/ 100 h 512"/>
                    <a:gd name="T46" fmla="*/ 213 w 512"/>
                    <a:gd name="T47" fmla="*/ 109 h 512"/>
                    <a:gd name="T48" fmla="*/ 224 w 512"/>
                    <a:gd name="T49" fmla="*/ 150 h 512"/>
                    <a:gd name="T50" fmla="*/ 202 w 512"/>
                    <a:gd name="T51" fmla="*/ 351 h 512"/>
                    <a:gd name="T52" fmla="*/ 205 w 512"/>
                    <a:gd name="T53" fmla="*/ 358 h 512"/>
                    <a:gd name="T54" fmla="*/ 247 w 512"/>
                    <a:gd name="T55" fmla="*/ 412 h 512"/>
                    <a:gd name="T56" fmla="*/ 256 w 512"/>
                    <a:gd name="T57" fmla="*/ 416 h 512"/>
                    <a:gd name="T58" fmla="*/ 264 w 512"/>
                    <a:gd name="T59" fmla="*/ 412 h 512"/>
                    <a:gd name="T60" fmla="*/ 307 w 512"/>
                    <a:gd name="T61" fmla="*/ 358 h 512"/>
                    <a:gd name="T62" fmla="*/ 309 w 512"/>
                    <a:gd name="T63" fmla="*/ 35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67" y="160"/>
                      </a:moveTo>
                      <a:cubicBezTo>
                        <a:pt x="287" y="348"/>
                        <a:pt x="287" y="348"/>
                        <a:pt x="287" y="348"/>
                      </a:cubicBezTo>
                      <a:cubicBezTo>
                        <a:pt x="256" y="388"/>
                        <a:pt x="256" y="388"/>
                        <a:pt x="256" y="388"/>
                      </a:cubicBezTo>
                      <a:cubicBezTo>
                        <a:pt x="224" y="348"/>
                        <a:pt x="224" y="348"/>
                        <a:pt x="224" y="348"/>
                      </a:cubicBezTo>
                      <a:cubicBezTo>
                        <a:pt x="244" y="160"/>
                        <a:pt x="244" y="160"/>
                        <a:pt x="244" y="160"/>
                      </a:cubicBezTo>
                      <a:lnTo>
                        <a:pt x="267" y="160"/>
                      </a:lnTo>
                      <a:close/>
                      <a:moveTo>
                        <a:pt x="269" y="138"/>
                      </a:moveTo>
                      <a:cubicBezTo>
                        <a:pt x="274" y="117"/>
                        <a:pt x="274" y="117"/>
                        <a:pt x="274" y="117"/>
                      </a:cubicBezTo>
                      <a:cubicBezTo>
                        <a:pt x="237" y="117"/>
                        <a:pt x="237" y="117"/>
                        <a:pt x="237" y="117"/>
                      </a:cubicBezTo>
                      <a:cubicBezTo>
                        <a:pt x="243" y="138"/>
                        <a:pt x="243" y="138"/>
                        <a:pt x="243" y="138"/>
                      </a:cubicBezTo>
                      <a:lnTo>
                        <a:pt x="269" y="13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09" y="351"/>
                      </a:moveTo>
                      <a:cubicBezTo>
                        <a:pt x="288" y="150"/>
                        <a:pt x="288" y="150"/>
                        <a:pt x="288" y="150"/>
                      </a:cubicBezTo>
                      <a:cubicBezTo>
                        <a:pt x="298" y="109"/>
                        <a:pt x="298" y="109"/>
                        <a:pt x="298" y="109"/>
                      </a:cubicBezTo>
                      <a:cubicBezTo>
                        <a:pt x="299" y="106"/>
                        <a:pt x="298" y="102"/>
                        <a:pt x="296" y="100"/>
                      </a:cubicBezTo>
                      <a:cubicBezTo>
                        <a:pt x="294" y="97"/>
                        <a:pt x="291" y="96"/>
                        <a:pt x="288" y="96"/>
                      </a:cubicBezTo>
                      <a:cubicBezTo>
                        <a:pt x="224" y="96"/>
                        <a:pt x="224" y="96"/>
                        <a:pt x="224" y="96"/>
                      </a:cubicBezTo>
                      <a:cubicBezTo>
                        <a:pt x="220" y="96"/>
                        <a:pt x="217" y="97"/>
                        <a:pt x="215" y="100"/>
                      </a:cubicBezTo>
                      <a:cubicBezTo>
                        <a:pt x="213" y="102"/>
                        <a:pt x="213" y="106"/>
                        <a:pt x="213" y="109"/>
                      </a:cubicBezTo>
                      <a:cubicBezTo>
                        <a:pt x="224" y="150"/>
                        <a:pt x="224" y="150"/>
                        <a:pt x="224" y="150"/>
                      </a:cubicBezTo>
                      <a:cubicBezTo>
                        <a:pt x="202" y="351"/>
                        <a:pt x="202" y="351"/>
                        <a:pt x="202" y="351"/>
                      </a:cubicBezTo>
                      <a:cubicBezTo>
                        <a:pt x="202" y="353"/>
                        <a:pt x="203" y="356"/>
                        <a:pt x="205" y="358"/>
                      </a:cubicBezTo>
                      <a:cubicBezTo>
                        <a:pt x="247" y="412"/>
                        <a:pt x="247" y="412"/>
                        <a:pt x="247" y="412"/>
                      </a:cubicBezTo>
                      <a:cubicBezTo>
                        <a:pt x="249" y="414"/>
                        <a:pt x="252" y="416"/>
                        <a:pt x="256" y="416"/>
                      </a:cubicBezTo>
                      <a:cubicBezTo>
                        <a:pt x="259" y="416"/>
                        <a:pt x="262" y="414"/>
                        <a:pt x="264" y="412"/>
                      </a:cubicBezTo>
                      <a:cubicBezTo>
                        <a:pt x="307" y="358"/>
                        <a:pt x="307" y="358"/>
                        <a:pt x="307" y="358"/>
                      </a:cubicBezTo>
                      <a:cubicBezTo>
                        <a:pt x="308" y="356"/>
                        <a:pt x="309" y="353"/>
                        <a:pt x="309" y="35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400"/>
                  <a:endParaRPr lang="en-GB" sz="1800" dirty="0">
                    <a:solidFill>
                      <a:prstClr val="black"/>
                    </a:solidFill>
                    <a:latin typeface="Calibri"/>
                  </a:endParaRPr>
                </a:p>
              </p:txBody>
            </p:sp>
          </p:grpSp>
        </p:grpSp>
      </p:grpSp>
    </p:spTree>
    <p:extLst>
      <p:ext uri="{BB962C8B-B14F-4D97-AF65-F5344CB8AC3E}">
        <p14:creationId xmlns:p14="http://schemas.microsoft.com/office/powerpoint/2010/main" val="377847176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C43BF89-4A84-4EDC-A715-7C9C2F6C5C0B}"/>
              </a:ext>
            </a:extLst>
          </p:cNvPr>
          <p:cNvSpPr>
            <a:spLocks noGrp="1"/>
          </p:cNvSpPr>
          <p:nvPr>
            <p:ph type="body" sz="quarter" idx="13"/>
          </p:nvPr>
        </p:nvSpPr>
        <p:spPr/>
        <p:txBody>
          <a:bodyPr/>
          <a:lstStyle/>
          <a:p>
            <a:r>
              <a:rPr lang="en-US"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r>
              <a:rPr lang="en-US" dirty="0"/>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r>
              <a:rPr lang="en-US"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r>
              <a:rPr lang="en-US" dirty="0"/>
              <a:t>©2020 Deloitte Touche Tohmatsu India LLP. Member of Deloitte Touche Tohmatsu Limited</a:t>
            </a:r>
          </a:p>
          <a:p>
            <a:r>
              <a:rPr lang="en-US" dirty="0"/>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14680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IN" dirty="0"/>
              <a:t>IMAGINE - Discover and Design</a:t>
            </a:r>
          </a:p>
        </p:txBody>
      </p:sp>
      <p:sp>
        <p:nvSpPr>
          <p:cNvPr id="3" name="Rectangle 2">
            <a:extLst>
              <a:ext uri="{FF2B5EF4-FFF2-40B4-BE49-F238E27FC236}">
                <a16:creationId xmlns:a16="http://schemas.microsoft.com/office/drawing/2014/main" id="{F8562C33-73A6-413B-9451-A4CB3DB15DE7}"/>
              </a:ext>
            </a:extLst>
          </p:cNvPr>
          <p:cNvSpPr/>
          <p:nvPr/>
        </p:nvSpPr>
        <p:spPr>
          <a:xfrm>
            <a:off x="478155" y="1011610"/>
            <a:ext cx="11234419" cy="553998"/>
          </a:xfrm>
          <a:prstGeom prst="rect">
            <a:avLst/>
          </a:prstGeom>
        </p:spPr>
        <p:txBody>
          <a:bodyPr wrap="square" lIns="0" tIns="0" rIns="0" bIns="0">
            <a:spAutoFit/>
          </a:bodyPr>
          <a:lstStyle/>
          <a:p>
            <a:r>
              <a:rPr lang="en-US" dirty="0">
                <a:cs typeface="Open Sans" panose="020B0606030504020204" pitchFamily="34" charset="0"/>
              </a:rPr>
              <a:t>Assess the current OOMF, identify gaps, integrate learnings and conceptualize OOMF v.2.0 and OOMF Dashboard 2.0 including advocacy materials</a:t>
            </a:r>
            <a:endParaRPr lang="en-IN" dirty="0"/>
          </a:p>
        </p:txBody>
      </p:sp>
      <p:sp>
        <p:nvSpPr>
          <p:cNvPr id="31" name="Rectangle 30">
            <a:extLst>
              <a:ext uri="{FF2B5EF4-FFF2-40B4-BE49-F238E27FC236}">
                <a16:creationId xmlns:a16="http://schemas.microsoft.com/office/drawing/2014/main" id="{3251204C-37F1-4923-B282-A3BCEF7264CA}"/>
              </a:ext>
            </a:extLst>
          </p:cNvPr>
          <p:cNvSpPr/>
          <p:nvPr/>
        </p:nvSpPr>
        <p:spPr bwMode="gray">
          <a:xfrm>
            <a:off x="0" y="1678359"/>
            <a:ext cx="6370320"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Key tasks and considerations</a:t>
            </a:r>
          </a:p>
        </p:txBody>
      </p:sp>
      <p:sp>
        <p:nvSpPr>
          <p:cNvPr id="32" name="Rectangle 31">
            <a:extLst>
              <a:ext uri="{FF2B5EF4-FFF2-40B4-BE49-F238E27FC236}">
                <a16:creationId xmlns:a16="http://schemas.microsoft.com/office/drawing/2014/main" id="{61D7EEE3-1321-4BFB-BECB-DB712805C137}"/>
              </a:ext>
            </a:extLst>
          </p:cNvPr>
          <p:cNvSpPr/>
          <p:nvPr/>
        </p:nvSpPr>
        <p:spPr bwMode="gray">
          <a:xfrm>
            <a:off x="6570951" y="1678359"/>
            <a:ext cx="5621049"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Deliverables</a:t>
            </a:r>
          </a:p>
        </p:txBody>
      </p:sp>
      <p:sp>
        <p:nvSpPr>
          <p:cNvPr id="169" name="TextBox 168">
            <a:extLst>
              <a:ext uri="{FF2B5EF4-FFF2-40B4-BE49-F238E27FC236}">
                <a16:creationId xmlns:a16="http://schemas.microsoft.com/office/drawing/2014/main" id="{691ADB51-AF1A-4371-A23F-17D465A11B0A}"/>
              </a:ext>
            </a:extLst>
          </p:cNvPr>
          <p:cNvSpPr txBox="1"/>
          <p:nvPr/>
        </p:nvSpPr>
        <p:spPr>
          <a:xfrm>
            <a:off x="6570952" y="5156435"/>
            <a:ext cx="5146936" cy="969496"/>
          </a:xfrm>
          <a:prstGeom prst="rect">
            <a:avLst/>
          </a:prstGeom>
          <a:noFill/>
        </p:spPr>
        <p:txBody>
          <a:bodyPr wrap="square" lIns="0" tIns="0" rIns="0" bIns="0" rtlCol="0">
            <a:spAutoFit/>
          </a:bodyPr>
          <a:lstStyle/>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Timely sharing of data/information</a:t>
            </a:r>
          </a:p>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Timely selection of M/Ds and States/UTs and signing of </a:t>
            </a:r>
            <a:r>
              <a:rPr lang="en-US" sz="1200" kern="0" dirty="0" err="1">
                <a:latin typeface="+mj-lt"/>
                <a:ea typeface="Verdana" panose="020B0604030504040204" pitchFamily="34" charset="0"/>
                <a:cs typeface="Calibri" panose="020F0502020204030204" pitchFamily="34" charset="0"/>
              </a:rPr>
              <a:t>MoUs</a:t>
            </a:r>
            <a:endParaRPr lang="en-US" sz="1200" kern="0" dirty="0">
              <a:latin typeface="+mj-lt"/>
              <a:ea typeface="Verdana" panose="020B0604030504040204" pitchFamily="34" charset="0"/>
              <a:cs typeface="Calibri" panose="020F0502020204030204" pitchFamily="34" charset="0"/>
            </a:endParaRPr>
          </a:p>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Policy continuity</a:t>
            </a:r>
          </a:p>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Strict adherence to Dashboard development timelines</a:t>
            </a:r>
          </a:p>
        </p:txBody>
      </p:sp>
      <p:sp>
        <p:nvSpPr>
          <p:cNvPr id="170" name="Rectangle 169">
            <a:extLst>
              <a:ext uri="{FF2B5EF4-FFF2-40B4-BE49-F238E27FC236}">
                <a16:creationId xmlns:a16="http://schemas.microsoft.com/office/drawing/2014/main" id="{F766A3BC-A4A9-4F3C-B9F3-DFD03E410E0A}"/>
              </a:ext>
            </a:extLst>
          </p:cNvPr>
          <p:cNvSpPr/>
          <p:nvPr/>
        </p:nvSpPr>
        <p:spPr bwMode="gray">
          <a:xfrm>
            <a:off x="6570951" y="4648577"/>
            <a:ext cx="5621049" cy="365760"/>
          </a:xfrm>
          <a:prstGeom prst="rect">
            <a:avLst/>
          </a:prstGeom>
          <a:solidFill>
            <a:schemeClr val="accent6">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Critical success factors</a:t>
            </a:r>
          </a:p>
        </p:txBody>
      </p:sp>
      <p:grpSp>
        <p:nvGrpSpPr>
          <p:cNvPr id="25" name="Group 24">
            <a:extLst>
              <a:ext uri="{FF2B5EF4-FFF2-40B4-BE49-F238E27FC236}">
                <a16:creationId xmlns:a16="http://schemas.microsoft.com/office/drawing/2014/main" id="{69F84ED7-BDCB-43AA-84BB-95270AB99102}"/>
              </a:ext>
            </a:extLst>
          </p:cNvPr>
          <p:cNvGrpSpPr/>
          <p:nvPr/>
        </p:nvGrpSpPr>
        <p:grpSpPr>
          <a:xfrm>
            <a:off x="469900" y="2102640"/>
            <a:ext cx="5900420" cy="4142612"/>
            <a:chOff x="469900" y="2102640"/>
            <a:chExt cx="5900420" cy="4142612"/>
          </a:xfrm>
        </p:grpSpPr>
        <p:grpSp>
          <p:nvGrpSpPr>
            <p:cNvPr id="15" name="Group 14">
              <a:extLst>
                <a:ext uri="{FF2B5EF4-FFF2-40B4-BE49-F238E27FC236}">
                  <a16:creationId xmlns:a16="http://schemas.microsoft.com/office/drawing/2014/main" id="{DD4973FB-0398-4BAF-99DE-2A25309E5920}"/>
                </a:ext>
              </a:extLst>
            </p:cNvPr>
            <p:cNvGrpSpPr/>
            <p:nvPr/>
          </p:nvGrpSpPr>
          <p:grpSpPr>
            <a:xfrm>
              <a:off x="469900" y="2102640"/>
              <a:ext cx="5900420" cy="532606"/>
              <a:chOff x="469900" y="2102640"/>
              <a:chExt cx="5900420" cy="532606"/>
            </a:xfrm>
          </p:grpSpPr>
          <p:sp>
            <p:nvSpPr>
              <p:cNvPr id="34" name="Rounded Rectangle 2">
                <a:extLst>
                  <a:ext uri="{FF2B5EF4-FFF2-40B4-BE49-F238E27FC236}">
                    <a16:creationId xmlns:a16="http://schemas.microsoft.com/office/drawing/2014/main" id="{2CB4F22B-2314-470F-A0B5-F8378E1F1E19}"/>
                  </a:ext>
                </a:extLst>
              </p:cNvPr>
              <p:cNvSpPr/>
              <p:nvPr/>
            </p:nvSpPr>
            <p:spPr bwMode="gray">
              <a:xfrm>
                <a:off x="1343442" y="2102640"/>
                <a:ext cx="5026878"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35" name="Rounded Rectangle 3">
                <a:extLst>
                  <a:ext uri="{FF2B5EF4-FFF2-40B4-BE49-F238E27FC236}">
                    <a16:creationId xmlns:a16="http://schemas.microsoft.com/office/drawing/2014/main" id="{2A1C7DB0-B36D-466C-8C6A-98EA48765170}"/>
                  </a:ext>
                </a:extLst>
              </p:cNvPr>
              <p:cNvSpPr/>
              <p:nvPr/>
            </p:nvSpPr>
            <p:spPr bwMode="gray">
              <a:xfrm>
                <a:off x="1452594" y="2102640"/>
                <a:ext cx="4814020"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buFont typeface="Wingdings 2" pitchFamily="18" charset="2"/>
                  <a:buNone/>
                </a:pPr>
                <a:r>
                  <a:rPr lang="en-US" sz="1200" dirty="0"/>
                  <a:t>Leverage the existing evaluation studies done and findings (by sectoral teams)</a:t>
                </a:r>
              </a:p>
            </p:txBody>
          </p:sp>
          <p:sp>
            <p:nvSpPr>
              <p:cNvPr id="41" name="Oval 40">
                <a:extLst>
                  <a:ext uri="{FF2B5EF4-FFF2-40B4-BE49-F238E27FC236}">
                    <a16:creationId xmlns:a16="http://schemas.microsoft.com/office/drawing/2014/main" id="{189FC768-2D03-4126-BF9A-1D84CD363865}"/>
                  </a:ext>
                </a:extLst>
              </p:cNvPr>
              <p:cNvSpPr>
                <a:spLocks noChangeAspect="1"/>
              </p:cNvSpPr>
              <p:nvPr/>
            </p:nvSpPr>
            <p:spPr bwMode="gray">
              <a:xfrm>
                <a:off x="894939" y="2326676"/>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42" name="Rounded Rectangle 5">
                <a:extLst>
                  <a:ext uri="{FF2B5EF4-FFF2-40B4-BE49-F238E27FC236}">
                    <a16:creationId xmlns:a16="http://schemas.microsoft.com/office/drawing/2014/main" id="{93EC0A15-7599-4FCF-A40F-582725E6A521}"/>
                  </a:ext>
                </a:extLst>
              </p:cNvPr>
              <p:cNvSpPr/>
              <p:nvPr/>
            </p:nvSpPr>
            <p:spPr bwMode="gray">
              <a:xfrm>
                <a:off x="469900" y="2103767"/>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43" name="Rounded Rectangle 6">
                <a:extLst>
                  <a:ext uri="{FF2B5EF4-FFF2-40B4-BE49-F238E27FC236}">
                    <a16:creationId xmlns:a16="http://schemas.microsoft.com/office/drawing/2014/main" id="{5C39F59B-5E98-4200-B113-CE06C87B5F9B}"/>
                  </a:ext>
                </a:extLst>
              </p:cNvPr>
              <p:cNvSpPr/>
              <p:nvPr/>
            </p:nvSpPr>
            <p:spPr bwMode="gray">
              <a:xfrm>
                <a:off x="496303" y="2103767"/>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0" name="Oval 49">
                <a:extLst>
                  <a:ext uri="{FF2B5EF4-FFF2-40B4-BE49-F238E27FC236}">
                    <a16:creationId xmlns:a16="http://schemas.microsoft.com/office/drawing/2014/main" id="{F3FFD41F-337D-4AB2-A82C-A2FF693A8003}"/>
                  </a:ext>
                </a:extLst>
              </p:cNvPr>
              <p:cNvSpPr/>
              <p:nvPr/>
            </p:nvSpPr>
            <p:spPr bwMode="gray">
              <a:xfrm>
                <a:off x="1163072" y="232770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51" name="Oval 50">
                <a:extLst>
                  <a:ext uri="{FF2B5EF4-FFF2-40B4-BE49-F238E27FC236}">
                    <a16:creationId xmlns:a16="http://schemas.microsoft.com/office/drawing/2014/main" id="{0DB1B482-F5CA-4855-809C-17D765514543}"/>
                  </a:ext>
                </a:extLst>
              </p:cNvPr>
              <p:cNvSpPr/>
              <p:nvPr/>
            </p:nvSpPr>
            <p:spPr bwMode="gray">
              <a:xfrm>
                <a:off x="1303547" y="232770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52" name="Straight Connector 51">
                <a:extLst>
                  <a:ext uri="{FF2B5EF4-FFF2-40B4-BE49-F238E27FC236}">
                    <a16:creationId xmlns:a16="http://schemas.microsoft.com/office/drawing/2014/main" id="{845F8985-3245-45F8-837E-068EE4B134D4}"/>
                  </a:ext>
                </a:extLst>
              </p:cNvPr>
              <p:cNvCxnSpPr>
                <a:cxnSpLocks/>
              </p:cNvCxnSpPr>
              <p:nvPr/>
            </p:nvCxnSpPr>
            <p:spPr>
              <a:xfrm>
                <a:off x="1204223" y="2368943"/>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29" name="Freeform 940">
                <a:extLst>
                  <a:ext uri="{FF2B5EF4-FFF2-40B4-BE49-F238E27FC236}">
                    <a16:creationId xmlns:a16="http://schemas.microsoft.com/office/drawing/2014/main" id="{43D314B8-F9D1-4D23-96D7-DAE8A78C98B0}"/>
                  </a:ext>
                </a:extLst>
              </p:cNvPr>
              <p:cNvSpPr>
                <a:spLocks noChangeAspect="1" noEditPoints="1"/>
              </p:cNvSpPr>
              <p:nvPr/>
            </p:nvSpPr>
            <p:spPr bwMode="auto">
              <a:xfrm>
                <a:off x="635047" y="2184433"/>
                <a:ext cx="369021" cy="369021"/>
              </a:xfrm>
              <a:custGeom>
                <a:avLst/>
                <a:gdLst>
                  <a:gd name="T0" fmla="*/ 361 w 512"/>
                  <a:gd name="T1" fmla="*/ 188 h 512"/>
                  <a:gd name="T2" fmla="*/ 391 w 512"/>
                  <a:gd name="T3" fmla="*/ 309 h 512"/>
                  <a:gd name="T4" fmla="*/ 324 w 512"/>
                  <a:gd name="T5" fmla="*/ 309 h 512"/>
                  <a:gd name="T6" fmla="*/ 361 w 512"/>
                  <a:gd name="T7" fmla="*/ 188 h 512"/>
                  <a:gd name="T8" fmla="*/ 121 w 512"/>
                  <a:gd name="T9" fmla="*/ 309 h 512"/>
                  <a:gd name="T10" fmla="*/ 189 w 512"/>
                  <a:gd name="T11" fmla="*/ 309 h 512"/>
                  <a:gd name="T12" fmla="*/ 159 w 512"/>
                  <a:gd name="T13" fmla="*/ 188 h 512"/>
                  <a:gd name="T14" fmla="*/ 121 w 512"/>
                  <a:gd name="T15" fmla="*/ 309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415 w 512"/>
                  <a:gd name="T27" fmla="*/ 317 h 512"/>
                  <a:gd name="T28" fmla="*/ 373 w 512"/>
                  <a:gd name="T29" fmla="*/ 146 h 512"/>
                  <a:gd name="T30" fmla="*/ 372 w 512"/>
                  <a:gd name="T31" fmla="*/ 146 h 512"/>
                  <a:gd name="T32" fmla="*/ 372 w 512"/>
                  <a:gd name="T33" fmla="*/ 144 h 512"/>
                  <a:gd name="T34" fmla="*/ 370 w 512"/>
                  <a:gd name="T35" fmla="*/ 142 h 512"/>
                  <a:gd name="T36" fmla="*/ 369 w 512"/>
                  <a:gd name="T37" fmla="*/ 141 h 512"/>
                  <a:gd name="T38" fmla="*/ 367 w 512"/>
                  <a:gd name="T39" fmla="*/ 140 h 512"/>
                  <a:gd name="T40" fmla="*/ 366 w 512"/>
                  <a:gd name="T41" fmla="*/ 139 h 512"/>
                  <a:gd name="T42" fmla="*/ 363 w 512"/>
                  <a:gd name="T43" fmla="*/ 138 h 512"/>
                  <a:gd name="T44" fmla="*/ 362 w 512"/>
                  <a:gd name="T45" fmla="*/ 138 h 512"/>
                  <a:gd name="T46" fmla="*/ 362 w 512"/>
                  <a:gd name="T47" fmla="*/ 138 h 512"/>
                  <a:gd name="T48" fmla="*/ 266 w 512"/>
                  <a:gd name="T49" fmla="*/ 138 h 512"/>
                  <a:gd name="T50" fmla="*/ 266 w 512"/>
                  <a:gd name="T51" fmla="*/ 106 h 512"/>
                  <a:gd name="T52" fmla="*/ 256 w 512"/>
                  <a:gd name="T53" fmla="*/ 96 h 512"/>
                  <a:gd name="T54" fmla="*/ 245 w 512"/>
                  <a:gd name="T55" fmla="*/ 106 h 512"/>
                  <a:gd name="T56" fmla="*/ 245 w 512"/>
                  <a:gd name="T57" fmla="*/ 138 h 512"/>
                  <a:gd name="T58" fmla="*/ 160 w 512"/>
                  <a:gd name="T59" fmla="*/ 138 h 512"/>
                  <a:gd name="T60" fmla="*/ 159 w 512"/>
                  <a:gd name="T61" fmla="*/ 138 h 512"/>
                  <a:gd name="T62" fmla="*/ 156 w 512"/>
                  <a:gd name="T63" fmla="*/ 139 h 512"/>
                  <a:gd name="T64" fmla="*/ 155 w 512"/>
                  <a:gd name="T65" fmla="*/ 140 h 512"/>
                  <a:gd name="T66" fmla="*/ 153 w 512"/>
                  <a:gd name="T67" fmla="*/ 141 h 512"/>
                  <a:gd name="T68" fmla="*/ 152 w 512"/>
                  <a:gd name="T69" fmla="*/ 142 h 512"/>
                  <a:gd name="T70" fmla="*/ 150 w 512"/>
                  <a:gd name="T71" fmla="*/ 144 h 512"/>
                  <a:gd name="T72" fmla="*/ 150 w 512"/>
                  <a:gd name="T73" fmla="*/ 145 h 512"/>
                  <a:gd name="T74" fmla="*/ 149 w 512"/>
                  <a:gd name="T75" fmla="*/ 146 h 512"/>
                  <a:gd name="T76" fmla="*/ 96 w 512"/>
                  <a:gd name="T77" fmla="*/ 316 h 512"/>
                  <a:gd name="T78" fmla="*/ 98 w 512"/>
                  <a:gd name="T79" fmla="*/ 326 h 512"/>
                  <a:gd name="T80" fmla="*/ 106 w 512"/>
                  <a:gd name="T81" fmla="*/ 330 h 512"/>
                  <a:gd name="T82" fmla="*/ 202 w 512"/>
                  <a:gd name="T83" fmla="*/ 330 h 512"/>
                  <a:gd name="T84" fmla="*/ 211 w 512"/>
                  <a:gd name="T85" fmla="*/ 326 h 512"/>
                  <a:gd name="T86" fmla="*/ 213 w 512"/>
                  <a:gd name="T87" fmla="*/ 317 h 512"/>
                  <a:gd name="T88" fmla="*/ 173 w 512"/>
                  <a:gd name="T89" fmla="*/ 160 h 512"/>
                  <a:gd name="T90" fmla="*/ 245 w 512"/>
                  <a:gd name="T91" fmla="*/ 160 h 512"/>
                  <a:gd name="T92" fmla="*/ 245 w 512"/>
                  <a:gd name="T93" fmla="*/ 394 h 512"/>
                  <a:gd name="T94" fmla="*/ 192 w 512"/>
                  <a:gd name="T95" fmla="*/ 394 h 512"/>
                  <a:gd name="T96" fmla="*/ 181 w 512"/>
                  <a:gd name="T97" fmla="*/ 405 h 512"/>
                  <a:gd name="T98" fmla="*/ 192 w 512"/>
                  <a:gd name="T99" fmla="*/ 416 h 512"/>
                  <a:gd name="T100" fmla="*/ 320 w 512"/>
                  <a:gd name="T101" fmla="*/ 416 h 512"/>
                  <a:gd name="T102" fmla="*/ 330 w 512"/>
                  <a:gd name="T103" fmla="*/ 405 h 512"/>
                  <a:gd name="T104" fmla="*/ 320 w 512"/>
                  <a:gd name="T105" fmla="*/ 394 h 512"/>
                  <a:gd name="T106" fmla="*/ 266 w 512"/>
                  <a:gd name="T107" fmla="*/ 394 h 512"/>
                  <a:gd name="T108" fmla="*/ 266 w 512"/>
                  <a:gd name="T109" fmla="*/ 160 h 512"/>
                  <a:gd name="T110" fmla="*/ 348 w 512"/>
                  <a:gd name="T111" fmla="*/ 160 h 512"/>
                  <a:gd name="T112" fmla="*/ 299 w 512"/>
                  <a:gd name="T113" fmla="*/ 316 h 512"/>
                  <a:gd name="T114" fmla="*/ 300 w 512"/>
                  <a:gd name="T115" fmla="*/ 326 h 512"/>
                  <a:gd name="T116" fmla="*/ 309 w 512"/>
                  <a:gd name="T117" fmla="*/ 330 h 512"/>
                  <a:gd name="T118" fmla="*/ 405 w 512"/>
                  <a:gd name="T119" fmla="*/ 330 h 512"/>
                  <a:gd name="T120" fmla="*/ 413 w 512"/>
                  <a:gd name="T121" fmla="*/ 326 h 512"/>
                  <a:gd name="T122" fmla="*/ 415 w 512"/>
                  <a:gd name="T123" fmla="*/ 31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361" y="188"/>
                    </a:moveTo>
                    <a:cubicBezTo>
                      <a:pt x="391" y="309"/>
                      <a:pt x="391" y="309"/>
                      <a:pt x="391" y="309"/>
                    </a:cubicBezTo>
                    <a:cubicBezTo>
                      <a:pt x="324" y="309"/>
                      <a:pt x="324" y="309"/>
                      <a:pt x="324" y="309"/>
                    </a:cubicBezTo>
                    <a:lnTo>
                      <a:pt x="361" y="188"/>
                    </a:lnTo>
                    <a:close/>
                    <a:moveTo>
                      <a:pt x="121" y="309"/>
                    </a:moveTo>
                    <a:cubicBezTo>
                      <a:pt x="189" y="309"/>
                      <a:pt x="189" y="309"/>
                      <a:pt x="189" y="309"/>
                    </a:cubicBezTo>
                    <a:cubicBezTo>
                      <a:pt x="159" y="188"/>
                      <a:pt x="159" y="188"/>
                      <a:pt x="159" y="188"/>
                    </a:cubicBezTo>
                    <a:lnTo>
                      <a:pt x="121" y="30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317"/>
                    </a:moveTo>
                    <a:cubicBezTo>
                      <a:pt x="373" y="146"/>
                      <a:pt x="373" y="146"/>
                      <a:pt x="373" y="146"/>
                    </a:cubicBezTo>
                    <a:cubicBezTo>
                      <a:pt x="373" y="146"/>
                      <a:pt x="372" y="146"/>
                      <a:pt x="372" y="146"/>
                    </a:cubicBezTo>
                    <a:cubicBezTo>
                      <a:pt x="372" y="145"/>
                      <a:pt x="372" y="145"/>
                      <a:pt x="372" y="144"/>
                    </a:cubicBezTo>
                    <a:cubicBezTo>
                      <a:pt x="371" y="143"/>
                      <a:pt x="371" y="143"/>
                      <a:pt x="370" y="142"/>
                    </a:cubicBezTo>
                    <a:cubicBezTo>
                      <a:pt x="370" y="142"/>
                      <a:pt x="370" y="141"/>
                      <a:pt x="369" y="141"/>
                    </a:cubicBezTo>
                    <a:cubicBezTo>
                      <a:pt x="369" y="141"/>
                      <a:pt x="368" y="140"/>
                      <a:pt x="367" y="140"/>
                    </a:cubicBezTo>
                    <a:cubicBezTo>
                      <a:pt x="367" y="139"/>
                      <a:pt x="367" y="139"/>
                      <a:pt x="366" y="139"/>
                    </a:cubicBezTo>
                    <a:cubicBezTo>
                      <a:pt x="365" y="139"/>
                      <a:pt x="364" y="138"/>
                      <a:pt x="363" y="138"/>
                    </a:cubicBezTo>
                    <a:cubicBezTo>
                      <a:pt x="363" y="138"/>
                      <a:pt x="363" y="138"/>
                      <a:pt x="362" y="138"/>
                    </a:cubicBezTo>
                    <a:cubicBezTo>
                      <a:pt x="362" y="138"/>
                      <a:pt x="362" y="138"/>
                      <a:pt x="362" y="138"/>
                    </a:cubicBezTo>
                    <a:cubicBezTo>
                      <a:pt x="266" y="138"/>
                      <a:pt x="266" y="138"/>
                      <a:pt x="266" y="138"/>
                    </a:cubicBezTo>
                    <a:cubicBezTo>
                      <a:pt x="266" y="106"/>
                      <a:pt x="266" y="106"/>
                      <a:pt x="266" y="106"/>
                    </a:cubicBezTo>
                    <a:cubicBezTo>
                      <a:pt x="266" y="100"/>
                      <a:pt x="262" y="96"/>
                      <a:pt x="256" y="96"/>
                    </a:cubicBezTo>
                    <a:cubicBezTo>
                      <a:pt x="250" y="96"/>
                      <a:pt x="245" y="100"/>
                      <a:pt x="245" y="106"/>
                    </a:cubicBezTo>
                    <a:cubicBezTo>
                      <a:pt x="245" y="138"/>
                      <a:pt x="245" y="138"/>
                      <a:pt x="245" y="138"/>
                    </a:cubicBezTo>
                    <a:cubicBezTo>
                      <a:pt x="160" y="138"/>
                      <a:pt x="160" y="138"/>
                      <a:pt x="160" y="138"/>
                    </a:cubicBezTo>
                    <a:cubicBezTo>
                      <a:pt x="159" y="138"/>
                      <a:pt x="159" y="138"/>
                      <a:pt x="159" y="138"/>
                    </a:cubicBezTo>
                    <a:cubicBezTo>
                      <a:pt x="158" y="139"/>
                      <a:pt x="157" y="139"/>
                      <a:pt x="156" y="139"/>
                    </a:cubicBezTo>
                    <a:cubicBezTo>
                      <a:pt x="156" y="139"/>
                      <a:pt x="155" y="139"/>
                      <a:pt x="155" y="140"/>
                    </a:cubicBezTo>
                    <a:cubicBezTo>
                      <a:pt x="154" y="140"/>
                      <a:pt x="153" y="141"/>
                      <a:pt x="153" y="141"/>
                    </a:cubicBezTo>
                    <a:cubicBezTo>
                      <a:pt x="152" y="141"/>
                      <a:pt x="152" y="142"/>
                      <a:pt x="152" y="142"/>
                    </a:cubicBezTo>
                    <a:cubicBezTo>
                      <a:pt x="151" y="143"/>
                      <a:pt x="151" y="143"/>
                      <a:pt x="150" y="144"/>
                    </a:cubicBezTo>
                    <a:cubicBezTo>
                      <a:pt x="150" y="145"/>
                      <a:pt x="150" y="145"/>
                      <a:pt x="150" y="145"/>
                    </a:cubicBezTo>
                    <a:cubicBezTo>
                      <a:pt x="150" y="145"/>
                      <a:pt x="150" y="146"/>
                      <a:pt x="149" y="146"/>
                    </a:cubicBezTo>
                    <a:cubicBezTo>
                      <a:pt x="96" y="316"/>
                      <a:pt x="96" y="316"/>
                      <a:pt x="96" y="316"/>
                    </a:cubicBezTo>
                    <a:cubicBezTo>
                      <a:pt x="95" y="320"/>
                      <a:pt x="96" y="323"/>
                      <a:pt x="98" y="326"/>
                    </a:cubicBezTo>
                    <a:cubicBezTo>
                      <a:pt x="100" y="329"/>
                      <a:pt x="103" y="330"/>
                      <a:pt x="106" y="330"/>
                    </a:cubicBezTo>
                    <a:cubicBezTo>
                      <a:pt x="202" y="330"/>
                      <a:pt x="202" y="330"/>
                      <a:pt x="202" y="330"/>
                    </a:cubicBezTo>
                    <a:cubicBezTo>
                      <a:pt x="206" y="330"/>
                      <a:pt x="209" y="329"/>
                      <a:pt x="211" y="326"/>
                    </a:cubicBezTo>
                    <a:cubicBezTo>
                      <a:pt x="213" y="324"/>
                      <a:pt x="213" y="320"/>
                      <a:pt x="213" y="317"/>
                    </a:cubicBezTo>
                    <a:cubicBezTo>
                      <a:pt x="173" y="160"/>
                      <a:pt x="173" y="160"/>
                      <a:pt x="173" y="160"/>
                    </a:cubicBezTo>
                    <a:cubicBezTo>
                      <a:pt x="245" y="160"/>
                      <a:pt x="245" y="160"/>
                      <a:pt x="245" y="160"/>
                    </a:cubicBezTo>
                    <a:cubicBezTo>
                      <a:pt x="245" y="394"/>
                      <a:pt x="245" y="394"/>
                      <a:pt x="245" y="394"/>
                    </a:cubicBezTo>
                    <a:cubicBezTo>
                      <a:pt x="192" y="394"/>
                      <a:pt x="192" y="394"/>
                      <a:pt x="192" y="394"/>
                    </a:cubicBezTo>
                    <a:cubicBezTo>
                      <a:pt x="186" y="394"/>
                      <a:pt x="181" y="399"/>
                      <a:pt x="181" y="405"/>
                    </a:cubicBezTo>
                    <a:cubicBezTo>
                      <a:pt x="181" y="411"/>
                      <a:pt x="186" y="416"/>
                      <a:pt x="192" y="416"/>
                    </a:cubicBezTo>
                    <a:cubicBezTo>
                      <a:pt x="320" y="416"/>
                      <a:pt x="320" y="416"/>
                      <a:pt x="320" y="416"/>
                    </a:cubicBezTo>
                    <a:cubicBezTo>
                      <a:pt x="326" y="416"/>
                      <a:pt x="330" y="411"/>
                      <a:pt x="330" y="405"/>
                    </a:cubicBezTo>
                    <a:cubicBezTo>
                      <a:pt x="330" y="399"/>
                      <a:pt x="326" y="394"/>
                      <a:pt x="320" y="394"/>
                    </a:cubicBezTo>
                    <a:cubicBezTo>
                      <a:pt x="266" y="394"/>
                      <a:pt x="266" y="394"/>
                      <a:pt x="266" y="394"/>
                    </a:cubicBezTo>
                    <a:cubicBezTo>
                      <a:pt x="266" y="160"/>
                      <a:pt x="266" y="160"/>
                      <a:pt x="266" y="160"/>
                    </a:cubicBezTo>
                    <a:cubicBezTo>
                      <a:pt x="348" y="160"/>
                      <a:pt x="348" y="160"/>
                      <a:pt x="348" y="160"/>
                    </a:cubicBezTo>
                    <a:cubicBezTo>
                      <a:pt x="299" y="316"/>
                      <a:pt x="299" y="316"/>
                      <a:pt x="299" y="316"/>
                    </a:cubicBezTo>
                    <a:cubicBezTo>
                      <a:pt x="298" y="320"/>
                      <a:pt x="298" y="323"/>
                      <a:pt x="300" y="326"/>
                    </a:cubicBezTo>
                    <a:cubicBezTo>
                      <a:pt x="302" y="329"/>
                      <a:pt x="306" y="330"/>
                      <a:pt x="309" y="330"/>
                    </a:cubicBezTo>
                    <a:cubicBezTo>
                      <a:pt x="405" y="330"/>
                      <a:pt x="405" y="330"/>
                      <a:pt x="405" y="330"/>
                    </a:cubicBezTo>
                    <a:cubicBezTo>
                      <a:pt x="408" y="330"/>
                      <a:pt x="411" y="329"/>
                      <a:pt x="413" y="326"/>
                    </a:cubicBezTo>
                    <a:cubicBezTo>
                      <a:pt x="415" y="324"/>
                      <a:pt x="416" y="320"/>
                      <a:pt x="415" y="31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16" name="Group 15">
              <a:extLst>
                <a:ext uri="{FF2B5EF4-FFF2-40B4-BE49-F238E27FC236}">
                  <a16:creationId xmlns:a16="http://schemas.microsoft.com/office/drawing/2014/main" id="{95EF08B6-23B0-490F-81B4-8032CDD77798}"/>
                </a:ext>
              </a:extLst>
            </p:cNvPr>
            <p:cNvGrpSpPr/>
            <p:nvPr/>
          </p:nvGrpSpPr>
          <p:grpSpPr>
            <a:xfrm>
              <a:off x="469900" y="2704308"/>
              <a:ext cx="5900420" cy="532606"/>
              <a:chOff x="469900" y="2704308"/>
              <a:chExt cx="5900420" cy="532606"/>
            </a:xfrm>
          </p:grpSpPr>
          <p:sp>
            <p:nvSpPr>
              <p:cNvPr id="54" name="Rounded Rectangle 2">
                <a:extLst>
                  <a:ext uri="{FF2B5EF4-FFF2-40B4-BE49-F238E27FC236}">
                    <a16:creationId xmlns:a16="http://schemas.microsoft.com/office/drawing/2014/main" id="{2C1CA2DF-F3DE-41D3-84F6-8175D5052A47}"/>
                  </a:ext>
                </a:extLst>
              </p:cNvPr>
              <p:cNvSpPr/>
              <p:nvPr/>
            </p:nvSpPr>
            <p:spPr bwMode="gray">
              <a:xfrm>
                <a:off x="1343442" y="2704308"/>
                <a:ext cx="5026878"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5" name="Rounded Rectangle 3">
                <a:extLst>
                  <a:ext uri="{FF2B5EF4-FFF2-40B4-BE49-F238E27FC236}">
                    <a16:creationId xmlns:a16="http://schemas.microsoft.com/office/drawing/2014/main" id="{C7753E84-CBB3-4DA9-A18A-2A72C61770C5}"/>
                  </a:ext>
                </a:extLst>
              </p:cNvPr>
              <p:cNvSpPr/>
              <p:nvPr/>
            </p:nvSpPr>
            <p:spPr bwMode="gray">
              <a:xfrm>
                <a:off x="1452594" y="2704308"/>
                <a:ext cx="4814020"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buFont typeface="Wingdings 2" pitchFamily="18" charset="2"/>
                  <a:buNone/>
                </a:pPr>
                <a:r>
                  <a:rPr lang="en-US" sz="1200" dirty="0"/>
                  <a:t>Development of prioritization framework for selection of M/Ds and States/UTs</a:t>
                </a:r>
              </a:p>
            </p:txBody>
          </p:sp>
          <p:sp>
            <p:nvSpPr>
              <p:cNvPr id="56" name="Oval 55">
                <a:extLst>
                  <a:ext uri="{FF2B5EF4-FFF2-40B4-BE49-F238E27FC236}">
                    <a16:creationId xmlns:a16="http://schemas.microsoft.com/office/drawing/2014/main" id="{AE6114E4-B0EA-47A2-AA00-8748620603D2}"/>
                  </a:ext>
                </a:extLst>
              </p:cNvPr>
              <p:cNvSpPr>
                <a:spLocks noChangeAspect="1"/>
              </p:cNvSpPr>
              <p:nvPr/>
            </p:nvSpPr>
            <p:spPr bwMode="gray">
              <a:xfrm>
                <a:off x="894939" y="2928344"/>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7" name="Rounded Rectangle 5">
                <a:extLst>
                  <a:ext uri="{FF2B5EF4-FFF2-40B4-BE49-F238E27FC236}">
                    <a16:creationId xmlns:a16="http://schemas.microsoft.com/office/drawing/2014/main" id="{DD242AC8-34FD-4EC5-B808-B119F7E7A36D}"/>
                  </a:ext>
                </a:extLst>
              </p:cNvPr>
              <p:cNvSpPr/>
              <p:nvPr/>
            </p:nvSpPr>
            <p:spPr bwMode="gray">
              <a:xfrm>
                <a:off x="469900" y="2705435"/>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8" name="Rounded Rectangle 6">
                <a:extLst>
                  <a:ext uri="{FF2B5EF4-FFF2-40B4-BE49-F238E27FC236}">
                    <a16:creationId xmlns:a16="http://schemas.microsoft.com/office/drawing/2014/main" id="{3D811864-1987-4B3D-8108-3B5D3A90C0B1}"/>
                  </a:ext>
                </a:extLst>
              </p:cNvPr>
              <p:cNvSpPr/>
              <p:nvPr/>
            </p:nvSpPr>
            <p:spPr bwMode="gray">
              <a:xfrm>
                <a:off x="496303" y="2705435"/>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65" name="Oval 64">
                <a:extLst>
                  <a:ext uri="{FF2B5EF4-FFF2-40B4-BE49-F238E27FC236}">
                    <a16:creationId xmlns:a16="http://schemas.microsoft.com/office/drawing/2014/main" id="{A5064692-9103-41B7-868C-5868FD832C31}"/>
                  </a:ext>
                </a:extLst>
              </p:cNvPr>
              <p:cNvSpPr/>
              <p:nvPr/>
            </p:nvSpPr>
            <p:spPr bwMode="gray">
              <a:xfrm>
                <a:off x="1163072" y="2929376"/>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66" name="Oval 65">
                <a:extLst>
                  <a:ext uri="{FF2B5EF4-FFF2-40B4-BE49-F238E27FC236}">
                    <a16:creationId xmlns:a16="http://schemas.microsoft.com/office/drawing/2014/main" id="{95A7CA67-2229-4407-9F35-299582A29AF1}"/>
                  </a:ext>
                </a:extLst>
              </p:cNvPr>
              <p:cNvSpPr/>
              <p:nvPr/>
            </p:nvSpPr>
            <p:spPr bwMode="gray">
              <a:xfrm>
                <a:off x="1303547" y="2929376"/>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68" name="Straight Connector 67">
                <a:extLst>
                  <a:ext uri="{FF2B5EF4-FFF2-40B4-BE49-F238E27FC236}">
                    <a16:creationId xmlns:a16="http://schemas.microsoft.com/office/drawing/2014/main" id="{3A9194C8-7C1F-4D7B-913D-453C1ACE46D3}"/>
                  </a:ext>
                </a:extLst>
              </p:cNvPr>
              <p:cNvCxnSpPr>
                <a:cxnSpLocks/>
              </p:cNvCxnSpPr>
              <p:nvPr/>
            </p:nvCxnSpPr>
            <p:spPr>
              <a:xfrm>
                <a:off x="1204223" y="2970611"/>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31" name="Freeform 36">
                <a:extLst>
                  <a:ext uri="{FF2B5EF4-FFF2-40B4-BE49-F238E27FC236}">
                    <a16:creationId xmlns:a16="http://schemas.microsoft.com/office/drawing/2014/main" id="{71B74701-B9F7-4B1A-90EC-3F668C03ED28}"/>
                  </a:ext>
                </a:extLst>
              </p:cNvPr>
              <p:cNvSpPr>
                <a:spLocks noChangeAspect="1" noEditPoints="1"/>
              </p:cNvSpPr>
              <p:nvPr/>
            </p:nvSpPr>
            <p:spPr bwMode="auto">
              <a:xfrm>
                <a:off x="635742" y="2786796"/>
                <a:ext cx="367631" cy="367631"/>
              </a:xfrm>
              <a:custGeom>
                <a:avLst/>
                <a:gdLst>
                  <a:gd name="T0" fmla="*/ 324 w 512"/>
                  <a:gd name="T1" fmla="*/ 194 h 512"/>
                  <a:gd name="T2" fmla="*/ 330 w 512"/>
                  <a:gd name="T3" fmla="*/ 167 h 512"/>
                  <a:gd name="T4" fmla="*/ 400 w 512"/>
                  <a:gd name="T5" fmla="*/ 182 h 512"/>
                  <a:gd name="T6" fmla="*/ 386 w 512"/>
                  <a:gd name="T7" fmla="*/ 223 h 512"/>
                  <a:gd name="T8" fmla="*/ 351 w 512"/>
                  <a:gd name="T9" fmla="*/ 247 h 512"/>
                  <a:gd name="T10" fmla="*/ 312 w 512"/>
                  <a:gd name="T11" fmla="*/ 243 h 512"/>
                  <a:gd name="T12" fmla="*/ 278 w 512"/>
                  <a:gd name="T13" fmla="*/ 222 h 512"/>
                  <a:gd name="T14" fmla="*/ 264 w 512"/>
                  <a:gd name="T15" fmla="*/ 183 h 512"/>
                  <a:gd name="T16" fmla="*/ 275 w 512"/>
                  <a:gd name="T17" fmla="*/ 144 h 512"/>
                  <a:gd name="T18" fmla="*/ 308 w 512"/>
                  <a:gd name="T19" fmla="*/ 119 h 512"/>
                  <a:gd name="T20" fmla="*/ 331 w 512"/>
                  <a:gd name="T21" fmla="*/ 128 h 512"/>
                  <a:gd name="T22" fmla="*/ 364 w 512"/>
                  <a:gd name="T23" fmla="*/ 136 h 512"/>
                  <a:gd name="T24" fmla="*/ 384 w 512"/>
                  <a:gd name="T25" fmla="*/ 164 h 512"/>
                  <a:gd name="T26" fmla="*/ 320 w 512"/>
                  <a:gd name="T27" fmla="*/ 147 h 512"/>
                  <a:gd name="T28" fmla="*/ 330 w 512"/>
                  <a:gd name="T29" fmla="*/ 217 h 512"/>
                  <a:gd name="T30" fmla="*/ 512 w 512"/>
                  <a:gd name="T31" fmla="*/ 256 h 512"/>
                  <a:gd name="T32" fmla="*/ 512 w 512"/>
                  <a:gd name="T33" fmla="*/ 256 h 512"/>
                  <a:gd name="T34" fmla="*/ 268 w 512"/>
                  <a:gd name="T35" fmla="*/ 290 h 512"/>
                  <a:gd name="T36" fmla="*/ 236 w 512"/>
                  <a:gd name="T37" fmla="*/ 251 h 512"/>
                  <a:gd name="T38" fmla="*/ 187 w 512"/>
                  <a:gd name="T39" fmla="*/ 238 h 512"/>
                  <a:gd name="T40" fmla="*/ 140 w 512"/>
                  <a:gd name="T41" fmla="*/ 256 h 512"/>
                  <a:gd name="T42" fmla="*/ 113 w 512"/>
                  <a:gd name="T43" fmla="*/ 299 h 512"/>
                  <a:gd name="T44" fmla="*/ 115 w 512"/>
                  <a:gd name="T45" fmla="*/ 350 h 512"/>
                  <a:gd name="T46" fmla="*/ 147 w 512"/>
                  <a:gd name="T47" fmla="*/ 388 h 512"/>
                  <a:gd name="T48" fmla="*/ 196 w 512"/>
                  <a:gd name="T49" fmla="*/ 401 h 512"/>
                  <a:gd name="T50" fmla="*/ 237 w 512"/>
                  <a:gd name="T51" fmla="*/ 383 h 512"/>
                  <a:gd name="T52" fmla="*/ 266 w 512"/>
                  <a:gd name="T53" fmla="*/ 345 h 512"/>
                  <a:gd name="T54" fmla="*/ 410 w 512"/>
                  <a:gd name="T55" fmla="*/ 163 h 512"/>
                  <a:gd name="T56" fmla="*/ 384 w 512"/>
                  <a:gd name="T57" fmla="*/ 119 h 512"/>
                  <a:gd name="T58" fmla="*/ 337 w 512"/>
                  <a:gd name="T59" fmla="*/ 99 h 512"/>
                  <a:gd name="T60" fmla="*/ 288 w 512"/>
                  <a:gd name="T61" fmla="*/ 111 h 512"/>
                  <a:gd name="T62" fmla="*/ 255 w 512"/>
                  <a:gd name="T63" fmla="*/ 149 h 512"/>
                  <a:gd name="T64" fmla="*/ 251 w 512"/>
                  <a:gd name="T65" fmla="*/ 199 h 512"/>
                  <a:gd name="T66" fmla="*/ 277 w 512"/>
                  <a:gd name="T67" fmla="*/ 243 h 512"/>
                  <a:gd name="T68" fmla="*/ 323 w 512"/>
                  <a:gd name="T69" fmla="*/ 263 h 512"/>
                  <a:gd name="T70" fmla="*/ 358 w 512"/>
                  <a:gd name="T71" fmla="*/ 270 h 512"/>
                  <a:gd name="T72" fmla="*/ 405 w 512"/>
                  <a:gd name="T73" fmla="*/ 237 h 512"/>
                  <a:gd name="T74" fmla="*/ 423 w 512"/>
                  <a:gd name="T75" fmla="*/ 182 h 512"/>
                  <a:gd name="T76" fmla="*/ 179 w 512"/>
                  <a:gd name="T77" fmla="*/ 313 h 512"/>
                  <a:gd name="T78" fmla="*/ 204 w 512"/>
                  <a:gd name="T79" fmla="*/ 326 h 512"/>
                  <a:gd name="T80" fmla="*/ 262 w 512"/>
                  <a:gd name="T81" fmla="*/ 321 h 512"/>
                  <a:gd name="T82" fmla="*/ 248 w 512"/>
                  <a:gd name="T83" fmla="*/ 361 h 512"/>
                  <a:gd name="T84" fmla="*/ 212 w 512"/>
                  <a:gd name="T85" fmla="*/ 386 h 512"/>
                  <a:gd name="T86" fmla="*/ 173 w 512"/>
                  <a:gd name="T87" fmla="*/ 382 h 512"/>
                  <a:gd name="T88" fmla="*/ 139 w 512"/>
                  <a:gd name="T89" fmla="*/ 360 h 512"/>
                  <a:gd name="T90" fmla="*/ 125 w 512"/>
                  <a:gd name="T91" fmla="*/ 321 h 512"/>
                  <a:gd name="T92" fmla="*/ 137 w 512"/>
                  <a:gd name="T93" fmla="*/ 282 h 512"/>
                  <a:gd name="T94" fmla="*/ 169 w 512"/>
                  <a:gd name="T95" fmla="*/ 258 h 512"/>
                  <a:gd name="T96" fmla="*/ 193 w 512"/>
                  <a:gd name="T97" fmla="*/ 266 h 512"/>
                  <a:gd name="T98" fmla="*/ 226 w 512"/>
                  <a:gd name="T99" fmla="*/ 274 h 512"/>
                  <a:gd name="T100" fmla="*/ 246 w 512"/>
                  <a:gd name="T101" fmla="*/ 303 h 512"/>
                  <a:gd name="T102" fmla="*/ 181 w 512"/>
                  <a:gd name="T103" fmla="*/ 286 h 512"/>
                  <a:gd name="T104" fmla="*/ 192 w 512"/>
                  <a:gd name="T105" fmla="*/ 35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344" y="177"/>
                    </a:moveTo>
                    <a:cubicBezTo>
                      <a:pt x="345" y="180"/>
                      <a:pt x="345" y="184"/>
                      <a:pt x="343" y="188"/>
                    </a:cubicBezTo>
                    <a:cubicBezTo>
                      <a:pt x="341" y="191"/>
                      <a:pt x="338" y="193"/>
                      <a:pt x="335" y="195"/>
                    </a:cubicBezTo>
                    <a:cubicBezTo>
                      <a:pt x="331" y="196"/>
                      <a:pt x="327" y="195"/>
                      <a:pt x="324" y="194"/>
                    </a:cubicBezTo>
                    <a:cubicBezTo>
                      <a:pt x="320" y="192"/>
                      <a:pt x="318" y="189"/>
                      <a:pt x="317" y="185"/>
                    </a:cubicBezTo>
                    <a:cubicBezTo>
                      <a:pt x="316" y="182"/>
                      <a:pt x="316" y="178"/>
                      <a:pt x="318" y="174"/>
                    </a:cubicBezTo>
                    <a:cubicBezTo>
                      <a:pt x="320" y="171"/>
                      <a:pt x="322" y="169"/>
                      <a:pt x="326" y="167"/>
                    </a:cubicBezTo>
                    <a:cubicBezTo>
                      <a:pt x="328" y="167"/>
                      <a:pt x="329" y="167"/>
                      <a:pt x="330" y="167"/>
                    </a:cubicBezTo>
                    <a:cubicBezTo>
                      <a:pt x="333" y="167"/>
                      <a:pt x="335" y="167"/>
                      <a:pt x="337" y="168"/>
                    </a:cubicBezTo>
                    <a:cubicBezTo>
                      <a:pt x="340" y="170"/>
                      <a:pt x="343" y="173"/>
                      <a:pt x="344" y="177"/>
                    </a:cubicBezTo>
                    <a:close/>
                    <a:moveTo>
                      <a:pt x="397" y="179"/>
                    </a:moveTo>
                    <a:cubicBezTo>
                      <a:pt x="398" y="180"/>
                      <a:pt x="399" y="181"/>
                      <a:pt x="400" y="182"/>
                    </a:cubicBezTo>
                    <a:cubicBezTo>
                      <a:pt x="399" y="183"/>
                      <a:pt x="398" y="184"/>
                      <a:pt x="397" y="185"/>
                    </a:cubicBezTo>
                    <a:cubicBezTo>
                      <a:pt x="392" y="189"/>
                      <a:pt x="386" y="193"/>
                      <a:pt x="384" y="199"/>
                    </a:cubicBezTo>
                    <a:cubicBezTo>
                      <a:pt x="382" y="206"/>
                      <a:pt x="384" y="212"/>
                      <a:pt x="385" y="218"/>
                    </a:cubicBezTo>
                    <a:cubicBezTo>
                      <a:pt x="386" y="220"/>
                      <a:pt x="386" y="221"/>
                      <a:pt x="386" y="223"/>
                    </a:cubicBezTo>
                    <a:cubicBezTo>
                      <a:pt x="385" y="223"/>
                      <a:pt x="383" y="223"/>
                      <a:pt x="382" y="223"/>
                    </a:cubicBezTo>
                    <a:cubicBezTo>
                      <a:pt x="376" y="223"/>
                      <a:pt x="369" y="223"/>
                      <a:pt x="363" y="227"/>
                    </a:cubicBezTo>
                    <a:cubicBezTo>
                      <a:pt x="357" y="231"/>
                      <a:pt x="355" y="237"/>
                      <a:pt x="353" y="243"/>
                    </a:cubicBezTo>
                    <a:cubicBezTo>
                      <a:pt x="352" y="244"/>
                      <a:pt x="352" y="246"/>
                      <a:pt x="351" y="247"/>
                    </a:cubicBezTo>
                    <a:cubicBezTo>
                      <a:pt x="350" y="246"/>
                      <a:pt x="348" y="244"/>
                      <a:pt x="347" y="244"/>
                    </a:cubicBezTo>
                    <a:cubicBezTo>
                      <a:pt x="342" y="240"/>
                      <a:pt x="336" y="234"/>
                      <a:pt x="330" y="234"/>
                    </a:cubicBezTo>
                    <a:cubicBezTo>
                      <a:pt x="329" y="234"/>
                      <a:pt x="329" y="234"/>
                      <a:pt x="329" y="234"/>
                    </a:cubicBezTo>
                    <a:cubicBezTo>
                      <a:pt x="322" y="234"/>
                      <a:pt x="317" y="240"/>
                      <a:pt x="312" y="243"/>
                    </a:cubicBezTo>
                    <a:cubicBezTo>
                      <a:pt x="311" y="244"/>
                      <a:pt x="309" y="246"/>
                      <a:pt x="308" y="247"/>
                    </a:cubicBezTo>
                    <a:cubicBezTo>
                      <a:pt x="307" y="246"/>
                      <a:pt x="307" y="244"/>
                      <a:pt x="306" y="243"/>
                    </a:cubicBezTo>
                    <a:cubicBezTo>
                      <a:pt x="304" y="237"/>
                      <a:pt x="302" y="230"/>
                      <a:pt x="296" y="226"/>
                    </a:cubicBezTo>
                    <a:cubicBezTo>
                      <a:pt x="291" y="222"/>
                      <a:pt x="284" y="222"/>
                      <a:pt x="278" y="222"/>
                    </a:cubicBezTo>
                    <a:cubicBezTo>
                      <a:pt x="277" y="222"/>
                      <a:pt x="275" y="222"/>
                      <a:pt x="273" y="221"/>
                    </a:cubicBezTo>
                    <a:cubicBezTo>
                      <a:pt x="274" y="220"/>
                      <a:pt x="274" y="218"/>
                      <a:pt x="274" y="217"/>
                    </a:cubicBezTo>
                    <a:cubicBezTo>
                      <a:pt x="276" y="211"/>
                      <a:pt x="278" y="204"/>
                      <a:pt x="276" y="198"/>
                    </a:cubicBezTo>
                    <a:cubicBezTo>
                      <a:pt x="274" y="191"/>
                      <a:pt x="269" y="187"/>
                      <a:pt x="264" y="183"/>
                    </a:cubicBezTo>
                    <a:cubicBezTo>
                      <a:pt x="263" y="182"/>
                      <a:pt x="261" y="181"/>
                      <a:pt x="260" y="180"/>
                    </a:cubicBezTo>
                    <a:cubicBezTo>
                      <a:pt x="262" y="179"/>
                      <a:pt x="263" y="178"/>
                      <a:pt x="264" y="177"/>
                    </a:cubicBezTo>
                    <a:cubicBezTo>
                      <a:pt x="269" y="173"/>
                      <a:pt x="275" y="169"/>
                      <a:pt x="277" y="163"/>
                    </a:cubicBezTo>
                    <a:cubicBezTo>
                      <a:pt x="279" y="156"/>
                      <a:pt x="277" y="150"/>
                      <a:pt x="275" y="144"/>
                    </a:cubicBezTo>
                    <a:cubicBezTo>
                      <a:pt x="275" y="142"/>
                      <a:pt x="275" y="141"/>
                      <a:pt x="274" y="139"/>
                    </a:cubicBezTo>
                    <a:cubicBezTo>
                      <a:pt x="276" y="139"/>
                      <a:pt x="278" y="139"/>
                      <a:pt x="279" y="139"/>
                    </a:cubicBezTo>
                    <a:cubicBezTo>
                      <a:pt x="285" y="139"/>
                      <a:pt x="292" y="139"/>
                      <a:pt x="298" y="135"/>
                    </a:cubicBezTo>
                    <a:cubicBezTo>
                      <a:pt x="303" y="131"/>
                      <a:pt x="306" y="125"/>
                      <a:pt x="308" y="119"/>
                    </a:cubicBezTo>
                    <a:cubicBezTo>
                      <a:pt x="308" y="118"/>
                      <a:pt x="309" y="116"/>
                      <a:pt x="310" y="115"/>
                    </a:cubicBezTo>
                    <a:cubicBezTo>
                      <a:pt x="311" y="116"/>
                      <a:pt x="313" y="118"/>
                      <a:pt x="314" y="118"/>
                    </a:cubicBezTo>
                    <a:cubicBezTo>
                      <a:pt x="319" y="122"/>
                      <a:pt x="324" y="128"/>
                      <a:pt x="331" y="128"/>
                    </a:cubicBezTo>
                    <a:cubicBezTo>
                      <a:pt x="331" y="128"/>
                      <a:pt x="331" y="128"/>
                      <a:pt x="331" y="128"/>
                    </a:cubicBezTo>
                    <a:cubicBezTo>
                      <a:pt x="338" y="128"/>
                      <a:pt x="344" y="122"/>
                      <a:pt x="349" y="119"/>
                    </a:cubicBezTo>
                    <a:cubicBezTo>
                      <a:pt x="350" y="118"/>
                      <a:pt x="352" y="116"/>
                      <a:pt x="353" y="115"/>
                    </a:cubicBezTo>
                    <a:cubicBezTo>
                      <a:pt x="353" y="116"/>
                      <a:pt x="354" y="118"/>
                      <a:pt x="354" y="119"/>
                    </a:cubicBezTo>
                    <a:cubicBezTo>
                      <a:pt x="356" y="125"/>
                      <a:pt x="359" y="132"/>
                      <a:pt x="364" y="136"/>
                    </a:cubicBezTo>
                    <a:cubicBezTo>
                      <a:pt x="370" y="140"/>
                      <a:pt x="377" y="140"/>
                      <a:pt x="383" y="140"/>
                    </a:cubicBezTo>
                    <a:cubicBezTo>
                      <a:pt x="384" y="140"/>
                      <a:pt x="386" y="140"/>
                      <a:pt x="387" y="141"/>
                    </a:cubicBezTo>
                    <a:cubicBezTo>
                      <a:pt x="387" y="142"/>
                      <a:pt x="387" y="144"/>
                      <a:pt x="386" y="145"/>
                    </a:cubicBezTo>
                    <a:cubicBezTo>
                      <a:pt x="384" y="151"/>
                      <a:pt x="382" y="158"/>
                      <a:pt x="384" y="164"/>
                    </a:cubicBezTo>
                    <a:cubicBezTo>
                      <a:pt x="386" y="171"/>
                      <a:pt x="392" y="175"/>
                      <a:pt x="397" y="179"/>
                    </a:cubicBezTo>
                    <a:close/>
                    <a:moveTo>
                      <a:pt x="364" y="170"/>
                    </a:moveTo>
                    <a:cubicBezTo>
                      <a:pt x="361" y="161"/>
                      <a:pt x="355" y="154"/>
                      <a:pt x="347" y="150"/>
                    </a:cubicBezTo>
                    <a:cubicBezTo>
                      <a:pt x="338" y="145"/>
                      <a:pt x="329" y="144"/>
                      <a:pt x="320" y="147"/>
                    </a:cubicBezTo>
                    <a:cubicBezTo>
                      <a:pt x="311" y="150"/>
                      <a:pt x="303" y="156"/>
                      <a:pt x="299" y="164"/>
                    </a:cubicBezTo>
                    <a:cubicBezTo>
                      <a:pt x="294" y="173"/>
                      <a:pt x="294" y="182"/>
                      <a:pt x="296" y="192"/>
                    </a:cubicBezTo>
                    <a:cubicBezTo>
                      <a:pt x="299" y="201"/>
                      <a:pt x="305" y="208"/>
                      <a:pt x="314" y="212"/>
                    </a:cubicBezTo>
                    <a:cubicBezTo>
                      <a:pt x="319" y="215"/>
                      <a:pt x="325" y="217"/>
                      <a:pt x="330" y="217"/>
                    </a:cubicBezTo>
                    <a:cubicBezTo>
                      <a:pt x="334" y="217"/>
                      <a:pt x="337" y="216"/>
                      <a:pt x="341" y="215"/>
                    </a:cubicBezTo>
                    <a:cubicBezTo>
                      <a:pt x="350" y="212"/>
                      <a:pt x="357" y="206"/>
                      <a:pt x="362" y="198"/>
                    </a:cubicBezTo>
                    <a:cubicBezTo>
                      <a:pt x="366" y="189"/>
                      <a:pt x="367" y="180"/>
                      <a:pt x="364" y="17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84" y="321"/>
                    </a:moveTo>
                    <a:cubicBezTo>
                      <a:pt x="285" y="312"/>
                      <a:pt x="277" y="306"/>
                      <a:pt x="271" y="301"/>
                    </a:cubicBezTo>
                    <a:cubicBezTo>
                      <a:pt x="270" y="300"/>
                      <a:pt x="267" y="298"/>
                      <a:pt x="266" y="297"/>
                    </a:cubicBezTo>
                    <a:cubicBezTo>
                      <a:pt x="266" y="295"/>
                      <a:pt x="267" y="292"/>
                      <a:pt x="268" y="290"/>
                    </a:cubicBezTo>
                    <a:cubicBezTo>
                      <a:pt x="270" y="283"/>
                      <a:pt x="273" y="274"/>
                      <a:pt x="267" y="266"/>
                    </a:cubicBezTo>
                    <a:cubicBezTo>
                      <a:pt x="262" y="258"/>
                      <a:pt x="252" y="258"/>
                      <a:pt x="245" y="258"/>
                    </a:cubicBezTo>
                    <a:cubicBezTo>
                      <a:pt x="243" y="258"/>
                      <a:pt x="240" y="257"/>
                      <a:pt x="238" y="257"/>
                    </a:cubicBezTo>
                    <a:cubicBezTo>
                      <a:pt x="238" y="256"/>
                      <a:pt x="237" y="253"/>
                      <a:pt x="236" y="251"/>
                    </a:cubicBezTo>
                    <a:cubicBezTo>
                      <a:pt x="234" y="244"/>
                      <a:pt x="231" y="235"/>
                      <a:pt x="222" y="232"/>
                    </a:cubicBezTo>
                    <a:cubicBezTo>
                      <a:pt x="213" y="229"/>
                      <a:pt x="204" y="234"/>
                      <a:pt x="199" y="238"/>
                    </a:cubicBezTo>
                    <a:cubicBezTo>
                      <a:pt x="197" y="239"/>
                      <a:pt x="194" y="241"/>
                      <a:pt x="193" y="242"/>
                    </a:cubicBezTo>
                    <a:cubicBezTo>
                      <a:pt x="191" y="241"/>
                      <a:pt x="189" y="239"/>
                      <a:pt x="187" y="238"/>
                    </a:cubicBezTo>
                    <a:cubicBezTo>
                      <a:pt x="182" y="234"/>
                      <a:pt x="173" y="228"/>
                      <a:pt x="164" y="231"/>
                    </a:cubicBezTo>
                    <a:cubicBezTo>
                      <a:pt x="155" y="234"/>
                      <a:pt x="152" y="243"/>
                      <a:pt x="149" y="250"/>
                    </a:cubicBezTo>
                    <a:cubicBezTo>
                      <a:pt x="148" y="252"/>
                      <a:pt x="147" y="255"/>
                      <a:pt x="147" y="256"/>
                    </a:cubicBezTo>
                    <a:cubicBezTo>
                      <a:pt x="145" y="256"/>
                      <a:pt x="142" y="256"/>
                      <a:pt x="140" y="256"/>
                    </a:cubicBezTo>
                    <a:cubicBezTo>
                      <a:pt x="133" y="256"/>
                      <a:pt x="123" y="257"/>
                      <a:pt x="117" y="264"/>
                    </a:cubicBezTo>
                    <a:cubicBezTo>
                      <a:pt x="112" y="272"/>
                      <a:pt x="114" y="281"/>
                      <a:pt x="116" y="288"/>
                    </a:cubicBezTo>
                    <a:cubicBezTo>
                      <a:pt x="117" y="290"/>
                      <a:pt x="118" y="293"/>
                      <a:pt x="118" y="295"/>
                    </a:cubicBezTo>
                    <a:cubicBezTo>
                      <a:pt x="117" y="296"/>
                      <a:pt x="114" y="298"/>
                      <a:pt x="113" y="299"/>
                    </a:cubicBezTo>
                    <a:cubicBezTo>
                      <a:pt x="107" y="303"/>
                      <a:pt x="99" y="309"/>
                      <a:pt x="99" y="318"/>
                    </a:cubicBezTo>
                    <a:cubicBezTo>
                      <a:pt x="99" y="328"/>
                      <a:pt x="106" y="334"/>
                      <a:pt x="112" y="338"/>
                    </a:cubicBezTo>
                    <a:cubicBezTo>
                      <a:pt x="114" y="340"/>
                      <a:pt x="117" y="342"/>
                      <a:pt x="117" y="342"/>
                    </a:cubicBezTo>
                    <a:cubicBezTo>
                      <a:pt x="117" y="344"/>
                      <a:pt x="116" y="347"/>
                      <a:pt x="115" y="350"/>
                    </a:cubicBezTo>
                    <a:cubicBezTo>
                      <a:pt x="113" y="357"/>
                      <a:pt x="110" y="366"/>
                      <a:pt x="116" y="373"/>
                    </a:cubicBezTo>
                    <a:cubicBezTo>
                      <a:pt x="121" y="381"/>
                      <a:pt x="131" y="381"/>
                      <a:pt x="138" y="382"/>
                    </a:cubicBezTo>
                    <a:cubicBezTo>
                      <a:pt x="140" y="382"/>
                      <a:pt x="143" y="382"/>
                      <a:pt x="145" y="382"/>
                    </a:cubicBezTo>
                    <a:cubicBezTo>
                      <a:pt x="146" y="384"/>
                      <a:pt x="147" y="387"/>
                      <a:pt x="147" y="388"/>
                    </a:cubicBezTo>
                    <a:cubicBezTo>
                      <a:pt x="150" y="395"/>
                      <a:pt x="153" y="404"/>
                      <a:pt x="162" y="408"/>
                    </a:cubicBezTo>
                    <a:cubicBezTo>
                      <a:pt x="171" y="411"/>
                      <a:pt x="179" y="405"/>
                      <a:pt x="185" y="401"/>
                    </a:cubicBezTo>
                    <a:cubicBezTo>
                      <a:pt x="186" y="400"/>
                      <a:pt x="189" y="398"/>
                      <a:pt x="191" y="398"/>
                    </a:cubicBezTo>
                    <a:cubicBezTo>
                      <a:pt x="192" y="398"/>
                      <a:pt x="194" y="400"/>
                      <a:pt x="196" y="401"/>
                    </a:cubicBezTo>
                    <a:cubicBezTo>
                      <a:pt x="201" y="405"/>
                      <a:pt x="207" y="409"/>
                      <a:pt x="214" y="409"/>
                    </a:cubicBezTo>
                    <a:cubicBezTo>
                      <a:pt x="216" y="409"/>
                      <a:pt x="217" y="409"/>
                      <a:pt x="219" y="408"/>
                    </a:cubicBezTo>
                    <a:cubicBezTo>
                      <a:pt x="228" y="405"/>
                      <a:pt x="232" y="396"/>
                      <a:pt x="234" y="389"/>
                    </a:cubicBezTo>
                    <a:cubicBezTo>
                      <a:pt x="235" y="387"/>
                      <a:pt x="236" y="385"/>
                      <a:pt x="237" y="383"/>
                    </a:cubicBezTo>
                    <a:cubicBezTo>
                      <a:pt x="238" y="383"/>
                      <a:pt x="241" y="383"/>
                      <a:pt x="244" y="383"/>
                    </a:cubicBezTo>
                    <a:cubicBezTo>
                      <a:pt x="251" y="383"/>
                      <a:pt x="260" y="383"/>
                      <a:pt x="266" y="375"/>
                    </a:cubicBezTo>
                    <a:cubicBezTo>
                      <a:pt x="272" y="368"/>
                      <a:pt x="269" y="358"/>
                      <a:pt x="267" y="351"/>
                    </a:cubicBezTo>
                    <a:cubicBezTo>
                      <a:pt x="267" y="349"/>
                      <a:pt x="266" y="346"/>
                      <a:pt x="266" y="345"/>
                    </a:cubicBezTo>
                    <a:cubicBezTo>
                      <a:pt x="267" y="344"/>
                      <a:pt x="269" y="342"/>
                      <a:pt x="271" y="341"/>
                    </a:cubicBezTo>
                    <a:cubicBezTo>
                      <a:pt x="276" y="336"/>
                      <a:pt x="284" y="331"/>
                      <a:pt x="284" y="321"/>
                    </a:cubicBezTo>
                    <a:close/>
                    <a:moveTo>
                      <a:pt x="423" y="182"/>
                    </a:moveTo>
                    <a:cubicBezTo>
                      <a:pt x="423" y="173"/>
                      <a:pt x="416" y="167"/>
                      <a:pt x="410" y="163"/>
                    </a:cubicBezTo>
                    <a:cubicBezTo>
                      <a:pt x="408" y="161"/>
                      <a:pt x="406" y="159"/>
                      <a:pt x="405" y="158"/>
                    </a:cubicBezTo>
                    <a:cubicBezTo>
                      <a:pt x="405" y="156"/>
                      <a:pt x="406" y="153"/>
                      <a:pt x="407" y="151"/>
                    </a:cubicBezTo>
                    <a:cubicBezTo>
                      <a:pt x="409" y="144"/>
                      <a:pt x="412" y="135"/>
                      <a:pt x="406" y="127"/>
                    </a:cubicBezTo>
                    <a:cubicBezTo>
                      <a:pt x="401" y="120"/>
                      <a:pt x="391" y="119"/>
                      <a:pt x="384" y="119"/>
                    </a:cubicBezTo>
                    <a:cubicBezTo>
                      <a:pt x="382" y="119"/>
                      <a:pt x="379" y="119"/>
                      <a:pt x="377" y="118"/>
                    </a:cubicBezTo>
                    <a:cubicBezTo>
                      <a:pt x="376" y="117"/>
                      <a:pt x="375" y="114"/>
                      <a:pt x="375" y="112"/>
                    </a:cubicBezTo>
                    <a:cubicBezTo>
                      <a:pt x="372" y="105"/>
                      <a:pt x="369" y="96"/>
                      <a:pt x="360" y="93"/>
                    </a:cubicBezTo>
                    <a:cubicBezTo>
                      <a:pt x="351" y="90"/>
                      <a:pt x="343" y="95"/>
                      <a:pt x="337" y="99"/>
                    </a:cubicBezTo>
                    <a:cubicBezTo>
                      <a:pt x="336" y="101"/>
                      <a:pt x="333" y="102"/>
                      <a:pt x="331" y="103"/>
                    </a:cubicBezTo>
                    <a:cubicBezTo>
                      <a:pt x="330" y="102"/>
                      <a:pt x="328" y="101"/>
                      <a:pt x="326" y="99"/>
                    </a:cubicBezTo>
                    <a:cubicBezTo>
                      <a:pt x="320" y="95"/>
                      <a:pt x="312" y="89"/>
                      <a:pt x="303" y="92"/>
                    </a:cubicBezTo>
                    <a:cubicBezTo>
                      <a:pt x="294" y="95"/>
                      <a:pt x="290" y="105"/>
                      <a:pt x="288" y="111"/>
                    </a:cubicBezTo>
                    <a:cubicBezTo>
                      <a:pt x="287" y="113"/>
                      <a:pt x="286" y="116"/>
                      <a:pt x="285" y="117"/>
                    </a:cubicBezTo>
                    <a:cubicBezTo>
                      <a:pt x="284" y="118"/>
                      <a:pt x="281" y="118"/>
                      <a:pt x="279" y="118"/>
                    </a:cubicBezTo>
                    <a:cubicBezTo>
                      <a:pt x="271" y="118"/>
                      <a:pt x="262" y="118"/>
                      <a:pt x="256" y="125"/>
                    </a:cubicBezTo>
                    <a:cubicBezTo>
                      <a:pt x="250" y="133"/>
                      <a:pt x="253" y="142"/>
                      <a:pt x="255" y="149"/>
                    </a:cubicBezTo>
                    <a:cubicBezTo>
                      <a:pt x="255" y="151"/>
                      <a:pt x="256" y="154"/>
                      <a:pt x="256" y="156"/>
                    </a:cubicBezTo>
                    <a:cubicBezTo>
                      <a:pt x="255" y="157"/>
                      <a:pt x="253" y="159"/>
                      <a:pt x="251" y="160"/>
                    </a:cubicBezTo>
                    <a:cubicBezTo>
                      <a:pt x="246" y="164"/>
                      <a:pt x="238" y="170"/>
                      <a:pt x="238" y="180"/>
                    </a:cubicBezTo>
                    <a:cubicBezTo>
                      <a:pt x="237" y="189"/>
                      <a:pt x="245" y="195"/>
                      <a:pt x="251" y="199"/>
                    </a:cubicBezTo>
                    <a:cubicBezTo>
                      <a:pt x="252" y="201"/>
                      <a:pt x="255" y="203"/>
                      <a:pt x="256" y="204"/>
                    </a:cubicBezTo>
                    <a:cubicBezTo>
                      <a:pt x="256" y="205"/>
                      <a:pt x="255" y="209"/>
                      <a:pt x="254" y="211"/>
                    </a:cubicBezTo>
                    <a:cubicBezTo>
                      <a:pt x="252" y="218"/>
                      <a:pt x="249" y="227"/>
                      <a:pt x="255" y="235"/>
                    </a:cubicBezTo>
                    <a:cubicBezTo>
                      <a:pt x="260" y="242"/>
                      <a:pt x="270" y="243"/>
                      <a:pt x="277" y="243"/>
                    </a:cubicBezTo>
                    <a:cubicBezTo>
                      <a:pt x="279" y="243"/>
                      <a:pt x="282" y="243"/>
                      <a:pt x="284" y="244"/>
                    </a:cubicBezTo>
                    <a:cubicBezTo>
                      <a:pt x="284" y="245"/>
                      <a:pt x="285" y="248"/>
                      <a:pt x="286" y="250"/>
                    </a:cubicBezTo>
                    <a:cubicBezTo>
                      <a:pt x="288" y="257"/>
                      <a:pt x="291" y="266"/>
                      <a:pt x="300" y="269"/>
                    </a:cubicBezTo>
                    <a:cubicBezTo>
                      <a:pt x="309" y="272"/>
                      <a:pt x="317" y="267"/>
                      <a:pt x="323" y="263"/>
                    </a:cubicBezTo>
                    <a:cubicBezTo>
                      <a:pt x="325" y="261"/>
                      <a:pt x="328" y="260"/>
                      <a:pt x="329" y="259"/>
                    </a:cubicBezTo>
                    <a:cubicBezTo>
                      <a:pt x="331" y="260"/>
                      <a:pt x="333" y="261"/>
                      <a:pt x="335" y="263"/>
                    </a:cubicBezTo>
                    <a:cubicBezTo>
                      <a:pt x="339" y="266"/>
                      <a:pt x="346" y="270"/>
                      <a:pt x="353" y="270"/>
                    </a:cubicBezTo>
                    <a:cubicBezTo>
                      <a:pt x="354" y="270"/>
                      <a:pt x="356" y="270"/>
                      <a:pt x="358" y="270"/>
                    </a:cubicBezTo>
                    <a:cubicBezTo>
                      <a:pt x="367" y="267"/>
                      <a:pt x="370" y="257"/>
                      <a:pt x="373" y="251"/>
                    </a:cubicBezTo>
                    <a:cubicBezTo>
                      <a:pt x="374" y="249"/>
                      <a:pt x="375" y="246"/>
                      <a:pt x="375" y="245"/>
                    </a:cubicBezTo>
                    <a:cubicBezTo>
                      <a:pt x="377" y="244"/>
                      <a:pt x="380" y="244"/>
                      <a:pt x="382" y="244"/>
                    </a:cubicBezTo>
                    <a:cubicBezTo>
                      <a:pt x="389" y="244"/>
                      <a:pt x="399" y="244"/>
                      <a:pt x="405" y="237"/>
                    </a:cubicBezTo>
                    <a:cubicBezTo>
                      <a:pt x="410" y="229"/>
                      <a:pt x="408" y="220"/>
                      <a:pt x="406" y="213"/>
                    </a:cubicBezTo>
                    <a:cubicBezTo>
                      <a:pt x="405" y="211"/>
                      <a:pt x="404" y="208"/>
                      <a:pt x="404" y="206"/>
                    </a:cubicBezTo>
                    <a:cubicBezTo>
                      <a:pt x="405" y="205"/>
                      <a:pt x="408" y="203"/>
                      <a:pt x="409" y="202"/>
                    </a:cubicBezTo>
                    <a:cubicBezTo>
                      <a:pt x="415" y="198"/>
                      <a:pt x="423" y="192"/>
                      <a:pt x="423" y="182"/>
                    </a:cubicBezTo>
                    <a:close/>
                    <a:moveTo>
                      <a:pt x="198" y="307"/>
                    </a:moveTo>
                    <a:cubicBezTo>
                      <a:pt x="196" y="306"/>
                      <a:pt x="194" y="305"/>
                      <a:pt x="192" y="305"/>
                    </a:cubicBezTo>
                    <a:cubicBezTo>
                      <a:pt x="190" y="305"/>
                      <a:pt x="189" y="306"/>
                      <a:pt x="187" y="306"/>
                    </a:cubicBezTo>
                    <a:cubicBezTo>
                      <a:pt x="184" y="307"/>
                      <a:pt x="181" y="310"/>
                      <a:pt x="179" y="313"/>
                    </a:cubicBezTo>
                    <a:cubicBezTo>
                      <a:pt x="177" y="316"/>
                      <a:pt x="177" y="320"/>
                      <a:pt x="178" y="324"/>
                    </a:cubicBezTo>
                    <a:cubicBezTo>
                      <a:pt x="179" y="328"/>
                      <a:pt x="182" y="330"/>
                      <a:pt x="185" y="332"/>
                    </a:cubicBezTo>
                    <a:cubicBezTo>
                      <a:pt x="188" y="334"/>
                      <a:pt x="192" y="334"/>
                      <a:pt x="196" y="333"/>
                    </a:cubicBezTo>
                    <a:cubicBezTo>
                      <a:pt x="200" y="332"/>
                      <a:pt x="202" y="330"/>
                      <a:pt x="204" y="326"/>
                    </a:cubicBezTo>
                    <a:cubicBezTo>
                      <a:pt x="206" y="323"/>
                      <a:pt x="206" y="319"/>
                      <a:pt x="205" y="315"/>
                    </a:cubicBezTo>
                    <a:cubicBezTo>
                      <a:pt x="204" y="312"/>
                      <a:pt x="202" y="309"/>
                      <a:pt x="198" y="307"/>
                    </a:cubicBezTo>
                    <a:close/>
                    <a:moveTo>
                      <a:pt x="258" y="318"/>
                    </a:moveTo>
                    <a:cubicBezTo>
                      <a:pt x="259" y="319"/>
                      <a:pt x="261" y="320"/>
                      <a:pt x="262" y="321"/>
                    </a:cubicBezTo>
                    <a:cubicBezTo>
                      <a:pt x="260" y="322"/>
                      <a:pt x="259" y="323"/>
                      <a:pt x="258" y="324"/>
                    </a:cubicBezTo>
                    <a:cubicBezTo>
                      <a:pt x="253" y="327"/>
                      <a:pt x="247" y="331"/>
                      <a:pt x="245" y="338"/>
                    </a:cubicBezTo>
                    <a:cubicBezTo>
                      <a:pt x="243" y="344"/>
                      <a:pt x="245" y="351"/>
                      <a:pt x="247" y="357"/>
                    </a:cubicBezTo>
                    <a:cubicBezTo>
                      <a:pt x="247" y="358"/>
                      <a:pt x="247" y="360"/>
                      <a:pt x="248" y="361"/>
                    </a:cubicBezTo>
                    <a:cubicBezTo>
                      <a:pt x="246" y="362"/>
                      <a:pt x="244" y="362"/>
                      <a:pt x="243" y="362"/>
                    </a:cubicBezTo>
                    <a:cubicBezTo>
                      <a:pt x="237" y="362"/>
                      <a:pt x="230" y="362"/>
                      <a:pt x="224" y="366"/>
                    </a:cubicBezTo>
                    <a:cubicBezTo>
                      <a:pt x="219" y="370"/>
                      <a:pt x="216" y="376"/>
                      <a:pt x="214" y="382"/>
                    </a:cubicBezTo>
                    <a:cubicBezTo>
                      <a:pt x="214" y="383"/>
                      <a:pt x="213" y="384"/>
                      <a:pt x="212" y="386"/>
                    </a:cubicBezTo>
                    <a:cubicBezTo>
                      <a:pt x="211" y="385"/>
                      <a:pt x="209" y="383"/>
                      <a:pt x="208" y="382"/>
                    </a:cubicBezTo>
                    <a:cubicBezTo>
                      <a:pt x="203" y="379"/>
                      <a:pt x="198" y="373"/>
                      <a:pt x="191" y="373"/>
                    </a:cubicBezTo>
                    <a:cubicBezTo>
                      <a:pt x="191" y="373"/>
                      <a:pt x="191" y="373"/>
                      <a:pt x="191" y="373"/>
                    </a:cubicBezTo>
                    <a:cubicBezTo>
                      <a:pt x="184" y="373"/>
                      <a:pt x="178" y="378"/>
                      <a:pt x="173" y="382"/>
                    </a:cubicBezTo>
                    <a:cubicBezTo>
                      <a:pt x="172" y="383"/>
                      <a:pt x="170" y="385"/>
                      <a:pt x="169" y="386"/>
                    </a:cubicBezTo>
                    <a:cubicBezTo>
                      <a:pt x="169" y="385"/>
                      <a:pt x="168" y="383"/>
                      <a:pt x="168" y="382"/>
                    </a:cubicBezTo>
                    <a:cubicBezTo>
                      <a:pt x="166" y="376"/>
                      <a:pt x="163" y="369"/>
                      <a:pt x="158" y="365"/>
                    </a:cubicBezTo>
                    <a:cubicBezTo>
                      <a:pt x="152" y="361"/>
                      <a:pt x="145" y="361"/>
                      <a:pt x="139" y="360"/>
                    </a:cubicBezTo>
                    <a:cubicBezTo>
                      <a:pt x="138" y="360"/>
                      <a:pt x="136" y="360"/>
                      <a:pt x="135" y="360"/>
                    </a:cubicBezTo>
                    <a:cubicBezTo>
                      <a:pt x="135" y="359"/>
                      <a:pt x="135" y="357"/>
                      <a:pt x="136" y="356"/>
                    </a:cubicBezTo>
                    <a:cubicBezTo>
                      <a:pt x="138" y="350"/>
                      <a:pt x="140" y="343"/>
                      <a:pt x="138" y="336"/>
                    </a:cubicBezTo>
                    <a:cubicBezTo>
                      <a:pt x="136" y="330"/>
                      <a:pt x="130" y="325"/>
                      <a:pt x="125" y="321"/>
                    </a:cubicBezTo>
                    <a:cubicBezTo>
                      <a:pt x="124" y="321"/>
                      <a:pt x="123" y="320"/>
                      <a:pt x="122" y="319"/>
                    </a:cubicBezTo>
                    <a:cubicBezTo>
                      <a:pt x="123" y="318"/>
                      <a:pt x="124" y="317"/>
                      <a:pt x="125" y="316"/>
                    </a:cubicBezTo>
                    <a:cubicBezTo>
                      <a:pt x="130" y="312"/>
                      <a:pt x="136" y="308"/>
                      <a:pt x="138" y="302"/>
                    </a:cubicBezTo>
                    <a:cubicBezTo>
                      <a:pt x="140" y="295"/>
                      <a:pt x="138" y="288"/>
                      <a:pt x="137" y="282"/>
                    </a:cubicBezTo>
                    <a:cubicBezTo>
                      <a:pt x="136" y="281"/>
                      <a:pt x="136" y="279"/>
                      <a:pt x="136" y="278"/>
                    </a:cubicBezTo>
                    <a:cubicBezTo>
                      <a:pt x="137" y="278"/>
                      <a:pt x="139" y="278"/>
                      <a:pt x="140" y="278"/>
                    </a:cubicBezTo>
                    <a:cubicBezTo>
                      <a:pt x="146" y="278"/>
                      <a:pt x="153" y="278"/>
                      <a:pt x="159" y="274"/>
                    </a:cubicBezTo>
                    <a:cubicBezTo>
                      <a:pt x="165" y="270"/>
                      <a:pt x="167" y="263"/>
                      <a:pt x="169" y="258"/>
                    </a:cubicBezTo>
                    <a:cubicBezTo>
                      <a:pt x="170" y="256"/>
                      <a:pt x="170" y="255"/>
                      <a:pt x="171" y="253"/>
                    </a:cubicBezTo>
                    <a:cubicBezTo>
                      <a:pt x="172" y="254"/>
                      <a:pt x="174" y="256"/>
                      <a:pt x="175" y="257"/>
                    </a:cubicBezTo>
                    <a:cubicBezTo>
                      <a:pt x="180" y="261"/>
                      <a:pt x="186" y="266"/>
                      <a:pt x="192" y="266"/>
                    </a:cubicBezTo>
                    <a:cubicBezTo>
                      <a:pt x="193" y="266"/>
                      <a:pt x="193" y="266"/>
                      <a:pt x="193" y="266"/>
                    </a:cubicBezTo>
                    <a:cubicBezTo>
                      <a:pt x="200" y="266"/>
                      <a:pt x="205" y="261"/>
                      <a:pt x="210" y="257"/>
                    </a:cubicBezTo>
                    <a:cubicBezTo>
                      <a:pt x="211" y="257"/>
                      <a:pt x="213" y="254"/>
                      <a:pt x="214" y="253"/>
                    </a:cubicBezTo>
                    <a:cubicBezTo>
                      <a:pt x="215" y="255"/>
                      <a:pt x="215" y="257"/>
                      <a:pt x="216" y="258"/>
                    </a:cubicBezTo>
                    <a:cubicBezTo>
                      <a:pt x="218" y="264"/>
                      <a:pt x="220" y="270"/>
                      <a:pt x="226" y="274"/>
                    </a:cubicBezTo>
                    <a:cubicBezTo>
                      <a:pt x="231" y="278"/>
                      <a:pt x="238" y="279"/>
                      <a:pt x="244" y="279"/>
                    </a:cubicBezTo>
                    <a:cubicBezTo>
                      <a:pt x="245" y="279"/>
                      <a:pt x="247" y="279"/>
                      <a:pt x="249" y="279"/>
                    </a:cubicBezTo>
                    <a:cubicBezTo>
                      <a:pt x="248" y="281"/>
                      <a:pt x="248" y="282"/>
                      <a:pt x="248" y="283"/>
                    </a:cubicBezTo>
                    <a:cubicBezTo>
                      <a:pt x="246" y="289"/>
                      <a:pt x="244" y="296"/>
                      <a:pt x="246" y="303"/>
                    </a:cubicBezTo>
                    <a:cubicBezTo>
                      <a:pt x="248" y="310"/>
                      <a:pt x="253" y="314"/>
                      <a:pt x="258" y="318"/>
                    </a:cubicBezTo>
                    <a:close/>
                    <a:moveTo>
                      <a:pt x="226" y="309"/>
                    </a:moveTo>
                    <a:cubicBezTo>
                      <a:pt x="223" y="300"/>
                      <a:pt x="217" y="293"/>
                      <a:pt x="208" y="288"/>
                    </a:cubicBezTo>
                    <a:cubicBezTo>
                      <a:pt x="200" y="284"/>
                      <a:pt x="190" y="283"/>
                      <a:pt x="181" y="286"/>
                    </a:cubicBezTo>
                    <a:cubicBezTo>
                      <a:pt x="172" y="289"/>
                      <a:pt x="165" y="295"/>
                      <a:pt x="160" y="303"/>
                    </a:cubicBezTo>
                    <a:cubicBezTo>
                      <a:pt x="156" y="312"/>
                      <a:pt x="155" y="321"/>
                      <a:pt x="158" y="330"/>
                    </a:cubicBezTo>
                    <a:cubicBezTo>
                      <a:pt x="161" y="339"/>
                      <a:pt x="167" y="347"/>
                      <a:pt x="175" y="351"/>
                    </a:cubicBezTo>
                    <a:cubicBezTo>
                      <a:pt x="180" y="354"/>
                      <a:pt x="186" y="355"/>
                      <a:pt x="192" y="355"/>
                    </a:cubicBezTo>
                    <a:cubicBezTo>
                      <a:pt x="195" y="355"/>
                      <a:pt x="199" y="355"/>
                      <a:pt x="202" y="354"/>
                    </a:cubicBezTo>
                    <a:cubicBezTo>
                      <a:pt x="211" y="351"/>
                      <a:pt x="219" y="345"/>
                      <a:pt x="223" y="336"/>
                    </a:cubicBezTo>
                    <a:cubicBezTo>
                      <a:pt x="228" y="328"/>
                      <a:pt x="228" y="318"/>
                      <a:pt x="226" y="30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17" name="Group 16">
              <a:extLst>
                <a:ext uri="{FF2B5EF4-FFF2-40B4-BE49-F238E27FC236}">
                  <a16:creationId xmlns:a16="http://schemas.microsoft.com/office/drawing/2014/main" id="{8359CA77-6A51-4FFD-8E1A-363D1BAA7B17}"/>
                </a:ext>
              </a:extLst>
            </p:cNvPr>
            <p:cNvGrpSpPr/>
            <p:nvPr/>
          </p:nvGrpSpPr>
          <p:grpSpPr>
            <a:xfrm>
              <a:off x="469900" y="3305976"/>
              <a:ext cx="5900420" cy="532606"/>
              <a:chOff x="469900" y="3305976"/>
              <a:chExt cx="5900420" cy="532606"/>
            </a:xfrm>
          </p:grpSpPr>
          <p:sp>
            <p:nvSpPr>
              <p:cNvPr id="70" name="Rounded Rectangle 2">
                <a:extLst>
                  <a:ext uri="{FF2B5EF4-FFF2-40B4-BE49-F238E27FC236}">
                    <a16:creationId xmlns:a16="http://schemas.microsoft.com/office/drawing/2014/main" id="{452D644F-B068-4824-BC3D-FC31BB160BB4}"/>
                  </a:ext>
                </a:extLst>
              </p:cNvPr>
              <p:cNvSpPr/>
              <p:nvPr/>
            </p:nvSpPr>
            <p:spPr bwMode="gray">
              <a:xfrm>
                <a:off x="1343442" y="3305976"/>
                <a:ext cx="5026878"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1" name="Rounded Rectangle 3">
                <a:extLst>
                  <a:ext uri="{FF2B5EF4-FFF2-40B4-BE49-F238E27FC236}">
                    <a16:creationId xmlns:a16="http://schemas.microsoft.com/office/drawing/2014/main" id="{F06ED2E1-247C-4323-9A3E-51D7CD272DEF}"/>
                  </a:ext>
                </a:extLst>
              </p:cNvPr>
              <p:cNvSpPr/>
              <p:nvPr/>
            </p:nvSpPr>
            <p:spPr bwMode="gray">
              <a:xfrm>
                <a:off x="1452594" y="3305976"/>
                <a:ext cx="4814020"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buFont typeface="Wingdings 2" pitchFamily="18" charset="2"/>
                  <a:buNone/>
                </a:pPr>
                <a:r>
                  <a:rPr lang="en-US" sz="1200" dirty="0"/>
                  <a:t>Ensure user data needs – collection, validation, analysis and reporting</a:t>
                </a:r>
              </a:p>
            </p:txBody>
          </p:sp>
          <p:sp>
            <p:nvSpPr>
              <p:cNvPr id="72" name="Oval 71">
                <a:extLst>
                  <a:ext uri="{FF2B5EF4-FFF2-40B4-BE49-F238E27FC236}">
                    <a16:creationId xmlns:a16="http://schemas.microsoft.com/office/drawing/2014/main" id="{1064E2CE-703D-4D45-AD46-1E3384967235}"/>
                  </a:ext>
                </a:extLst>
              </p:cNvPr>
              <p:cNvSpPr>
                <a:spLocks noChangeAspect="1"/>
              </p:cNvSpPr>
              <p:nvPr/>
            </p:nvSpPr>
            <p:spPr bwMode="gray">
              <a:xfrm>
                <a:off x="894939" y="3530012"/>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3" name="Rounded Rectangle 5">
                <a:extLst>
                  <a:ext uri="{FF2B5EF4-FFF2-40B4-BE49-F238E27FC236}">
                    <a16:creationId xmlns:a16="http://schemas.microsoft.com/office/drawing/2014/main" id="{660369F2-41E7-4003-8FEC-A7D2A22C1EC3}"/>
                  </a:ext>
                </a:extLst>
              </p:cNvPr>
              <p:cNvSpPr/>
              <p:nvPr/>
            </p:nvSpPr>
            <p:spPr bwMode="gray">
              <a:xfrm>
                <a:off x="469900" y="3307103"/>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4" name="Rounded Rectangle 6">
                <a:extLst>
                  <a:ext uri="{FF2B5EF4-FFF2-40B4-BE49-F238E27FC236}">
                    <a16:creationId xmlns:a16="http://schemas.microsoft.com/office/drawing/2014/main" id="{C0BE7672-0F45-4CB3-8A05-C9F8DC18DDA7}"/>
                  </a:ext>
                </a:extLst>
              </p:cNvPr>
              <p:cNvSpPr/>
              <p:nvPr/>
            </p:nvSpPr>
            <p:spPr bwMode="gray">
              <a:xfrm>
                <a:off x="496303" y="3307103"/>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1" name="Oval 80">
                <a:extLst>
                  <a:ext uri="{FF2B5EF4-FFF2-40B4-BE49-F238E27FC236}">
                    <a16:creationId xmlns:a16="http://schemas.microsoft.com/office/drawing/2014/main" id="{76771CCB-1026-4006-9821-47F3464CF1BC}"/>
                  </a:ext>
                </a:extLst>
              </p:cNvPr>
              <p:cNvSpPr/>
              <p:nvPr/>
            </p:nvSpPr>
            <p:spPr bwMode="gray">
              <a:xfrm>
                <a:off x="1163072" y="353104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82" name="Oval 81">
                <a:extLst>
                  <a:ext uri="{FF2B5EF4-FFF2-40B4-BE49-F238E27FC236}">
                    <a16:creationId xmlns:a16="http://schemas.microsoft.com/office/drawing/2014/main" id="{EF39745F-6E2B-44D9-835D-3E554C0E2951}"/>
                  </a:ext>
                </a:extLst>
              </p:cNvPr>
              <p:cNvSpPr/>
              <p:nvPr/>
            </p:nvSpPr>
            <p:spPr bwMode="gray">
              <a:xfrm>
                <a:off x="1303547" y="353104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83" name="Straight Connector 82">
                <a:extLst>
                  <a:ext uri="{FF2B5EF4-FFF2-40B4-BE49-F238E27FC236}">
                    <a16:creationId xmlns:a16="http://schemas.microsoft.com/office/drawing/2014/main" id="{ED68985C-BFEF-4A2F-8D8D-1F600C6EDB03}"/>
                  </a:ext>
                </a:extLst>
              </p:cNvPr>
              <p:cNvCxnSpPr>
                <a:cxnSpLocks/>
              </p:cNvCxnSpPr>
              <p:nvPr/>
            </p:nvCxnSpPr>
            <p:spPr>
              <a:xfrm>
                <a:off x="1204223" y="3572279"/>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33" name="Freeform 7">
                <a:extLst>
                  <a:ext uri="{FF2B5EF4-FFF2-40B4-BE49-F238E27FC236}">
                    <a16:creationId xmlns:a16="http://schemas.microsoft.com/office/drawing/2014/main" id="{98529296-902A-4369-A9F4-969D15F73ADF}"/>
                  </a:ext>
                </a:extLst>
              </p:cNvPr>
              <p:cNvSpPr>
                <a:spLocks noEditPoints="1"/>
              </p:cNvSpPr>
              <p:nvPr/>
            </p:nvSpPr>
            <p:spPr bwMode="auto">
              <a:xfrm>
                <a:off x="635041" y="3389399"/>
                <a:ext cx="369032" cy="365760"/>
              </a:xfrm>
              <a:custGeom>
                <a:avLst/>
                <a:gdLst>
                  <a:gd name="T0" fmla="*/ 642 w 753"/>
                  <a:gd name="T1" fmla="*/ 581 h 754"/>
                  <a:gd name="T2" fmla="*/ 374 w 753"/>
                  <a:gd name="T3" fmla="*/ 463 h 754"/>
                  <a:gd name="T4" fmla="*/ 126 w 753"/>
                  <a:gd name="T5" fmla="*/ 401 h 754"/>
                  <a:gd name="T6" fmla="*/ 543 w 753"/>
                  <a:gd name="T7" fmla="*/ 452 h 754"/>
                  <a:gd name="T8" fmla="*/ 382 w 753"/>
                  <a:gd name="T9" fmla="*/ 394 h 754"/>
                  <a:gd name="T10" fmla="*/ 527 w 753"/>
                  <a:gd name="T11" fmla="*/ 424 h 754"/>
                  <a:gd name="T12" fmla="*/ 520 w 753"/>
                  <a:gd name="T13" fmla="*/ 336 h 754"/>
                  <a:gd name="T14" fmla="*/ 383 w 753"/>
                  <a:gd name="T15" fmla="*/ 352 h 754"/>
                  <a:gd name="T16" fmla="*/ 383 w 753"/>
                  <a:gd name="T17" fmla="*/ 400 h 754"/>
                  <a:gd name="T18" fmla="*/ 395 w 753"/>
                  <a:gd name="T19" fmla="*/ 427 h 754"/>
                  <a:gd name="T20" fmla="*/ 509 w 753"/>
                  <a:gd name="T21" fmla="*/ 446 h 754"/>
                  <a:gd name="T22" fmla="*/ 515 w 753"/>
                  <a:gd name="T23" fmla="*/ 425 h 754"/>
                  <a:gd name="T24" fmla="*/ 401 w 753"/>
                  <a:gd name="T25" fmla="*/ 352 h 754"/>
                  <a:gd name="T26" fmla="*/ 407 w 753"/>
                  <a:gd name="T27" fmla="*/ 330 h 754"/>
                  <a:gd name="T28" fmla="*/ 395 w 753"/>
                  <a:gd name="T29" fmla="*/ 397 h 754"/>
                  <a:gd name="T30" fmla="*/ 466 w 753"/>
                  <a:gd name="T31" fmla="*/ 431 h 754"/>
                  <a:gd name="T32" fmla="*/ 471 w 753"/>
                  <a:gd name="T33" fmla="*/ 433 h 754"/>
                  <a:gd name="T34" fmla="*/ 461 w 753"/>
                  <a:gd name="T35" fmla="*/ 425 h 754"/>
                  <a:gd name="T36" fmla="*/ 448 w 753"/>
                  <a:gd name="T37" fmla="*/ 431 h 754"/>
                  <a:gd name="T38" fmla="*/ 455 w 753"/>
                  <a:gd name="T39" fmla="*/ 399 h 754"/>
                  <a:gd name="T40" fmla="*/ 430 w 753"/>
                  <a:gd name="T41" fmla="*/ 431 h 754"/>
                  <a:gd name="T42" fmla="*/ 437 w 753"/>
                  <a:gd name="T43" fmla="*/ 431 h 754"/>
                  <a:gd name="T44" fmla="*/ 425 w 753"/>
                  <a:gd name="T45" fmla="*/ 350 h 754"/>
                  <a:gd name="T46" fmla="*/ 427 w 753"/>
                  <a:gd name="T47" fmla="*/ 341 h 754"/>
                  <a:gd name="T48" fmla="*/ 425 w 753"/>
                  <a:gd name="T49" fmla="*/ 377 h 754"/>
                  <a:gd name="T50" fmla="*/ 425 w 753"/>
                  <a:gd name="T51" fmla="*/ 444 h 754"/>
                  <a:gd name="T52" fmla="*/ 427 w 753"/>
                  <a:gd name="T53" fmla="*/ 436 h 754"/>
                  <a:gd name="T54" fmla="*/ 433 w 753"/>
                  <a:gd name="T55" fmla="*/ 340 h 754"/>
                  <a:gd name="T56" fmla="*/ 445 w 753"/>
                  <a:gd name="T57" fmla="*/ 388 h 754"/>
                  <a:gd name="T58" fmla="*/ 443 w 753"/>
                  <a:gd name="T59" fmla="*/ 380 h 754"/>
                  <a:gd name="T60" fmla="*/ 448 w 753"/>
                  <a:gd name="T61" fmla="*/ 341 h 754"/>
                  <a:gd name="T62" fmla="*/ 480 w 753"/>
                  <a:gd name="T63" fmla="*/ 350 h 754"/>
                  <a:gd name="T64" fmla="*/ 482 w 753"/>
                  <a:gd name="T65" fmla="*/ 341 h 754"/>
                  <a:gd name="T66" fmla="*/ 468 w 753"/>
                  <a:gd name="T67" fmla="*/ 380 h 754"/>
                  <a:gd name="T68" fmla="*/ 491 w 753"/>
                  <a:gd name="T69" fmla="*/ 340 h 754"/>
                  <a:gd name="T70" fmla="*/ 497 w 753"/>
                  <a:gd name="T71" fmla="*/ 352 h 754"/>
                  <a:gd name="T72" fmla="*/ 484 w 753"/>
                  <a:gd name="T73" fmla="*/ 388 h 754"/>
                  <a:gd name="T74" fmla="*/ 498 w 753"/>
                  <a:gd name="T75" fmla="*/ 444 h 754"/>
                  <a:gd name="T76" fmla="*/ 500 w 753"/>
                  <a:gd name="T77" fmla="*/ 436 h 754"/>
                  <a:gd name="T78" fmla="*/ 505 w 753"/>
                  <a:gd name="T79" fmla="*/ 340 h 754"/>
                  <a:gd name="T80" fmla="*/ 515 w 753"/>
                  <a:gd name="T81" fmla="*/ 399 h 754"/>
                  <a:gd name="T82" fmla="*/ 510 w 753"/>
                  <a:gd name="T83" fmla="*/ 377 h 754"/>
                  <a:gd name="T84" fmla="*/ 520 w 753"/>
                  <a:gd name="T85" fmla="*/ 388 h 754"/>
                  <a:gd name="T86" fmla="*/ 526 w 753"/>
                  <a:gd name="T87" fmla="*/ 383 h 754"/>
                  <a:gd name="T88" fmla="*/ 529 w 753"/>
                  <a:gd name="T89" fmla="*/ 383 h 754"/>
                  <a:gd name="T90" fmla="*/ 492 w 753"/>
                  <a:gd name="T91" fmla="*/ 429 h 754"/>
                  <a:gd name="T92" fmla="*/ 493 w 753"/>
                  <a:gd name="T93" fmla="*/ 393 h 754"/>
                  <a:gd name="T94" fmla="*/ 492 w 753"/>
                  <a:gd name="T95" fmla="*/ 395 h 754"/>
                  <a:gd name="T96" fmla="*/ 472 w 753"/>
                  <a:gd name="T97" fmla="*/ 383 h 754"/>
                  <a:gd name="T98" fmla="*/ 476 w 753"/>
                  <a:gd name="T99" fmla="*/ 341 h 754"/>
                  <a:gd name="T100" fmla="*/ 475 w 753"/>
                  <a:gd name="T101" fmla="*/ 346 h 754"/>
                  <a:gd name="T102" fmla="*/ 454 w 753"/>
                  <a:gd name="T103" fmla="*/ 341 h 754"/>
                  <a:gd name="T104" fmla="*/ 439 w 753"/>
                  <a:gd name="T105" fmla="*/ 383 h 754"/>
                  <a:gd name="T106" fmla="*/ 421 w 753"/>
                  <a:gd name="T107" fmla="*/ 441 h 754"/>
                  <a:gd name="T108" fmla="*/ 418 w 753"/>
                  <a:gd name="T109" fmla="*/ 441 h 754"/>
                  <a:gd name="T110" fmla="*/ 419 w 753"/>
                  <a:gd name="T111" fmla="*/ 335 h 754"/>
                  <a:gd name="T112" fmla="*/ 403 w 753"/>
                  <a:gd name="T113" fmla="*/ 393 h 754"/>
                  <a:gd name="T114" fmla="*/ 401 w 753"/>
                  <a:gd name="T115" fmla="*/ 395 h 754"/>
                  <a:gd name="T116" fmla="*/ 150 w 753"/>
                  <a:gd name="T117" fmla="*/ 388 h 754"/>
                  <a:gd name="T118" fmla="*/ 324 w 753"/>
                  <a:gd name="T119" fmla="*/ 438 h 754"/>
                  <a:gd name="T120" fmla="*/ 400 w 753"/>
                  <a:gd name="T121" fmla="*/ 441 h 754"/>
                  <a:gd name="T122" fmla="*/ 400 w 753"/>
                  <a:gd name="T123" fmla="*/ 43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3" h="754">
                    <a:moveTo>
                      <a:pt x="753" y="377"/>
                    </a:moveTo>
                    <a:lnTo>
                      <a:pt x="753" y="377"/>
                    </a:lnTo>
                    <a:cubicBezTo>
                      <a:pt x="753" y="169"/>
                      <a:pt x="584" y="0"/>
                      <a:pt x="376" y="0"/>
                    </a:cubicBezTo>
                    <a:cubicBezTo>
                      <a:pt x="168" y="0"/>
                      <a:pt x="0" y="169"/>
                      <a:pt x="0" y="377"/>
                    </a:cubicBezTo>
                    <a:cubicBezTo>
                      <a:pt x="0" y="585"/>
                      <a:pt x="168" y="754"/>
                      <a:pt x="376" y="754"/>
                    </a:cubicBezTo>
                    <a:cubicBezTo>
                      <a:pt x="584" y="754"/>
                      <a:pt x="753" y="585"/>
                      <a:pt x="753" y="377"/>
                    </a:cubicBezTo>
                    <a:close/>
                    <a:moveTo>
                      <a:pt x="642" y="581"/>
                    </a:moveTo>
                    <a:lnTo>
                      <a:pt x="642" y="581"/>
                    </a:lnTo>
                    <a:cubicBezTo>
                      <a:pt x="638" y="585"/>
                      <a:pt x="632" y="587"/>
                      <a:pt x="627" y="587"/>
                    </a:cubicBezTo>
                    <a:cubicBezTo>
                      <a:pt x="621" y="587"/>
                      <a:pt x="616" y="585"/>
                      <a:pt x="611" y="581"/>
                    </a:cubicBezTo>
                    <a:lnTo>
                      <a:pt x="510" y="480"/>
                    </a:lnTo>
                    <a:cubicBezTo>
                      <a:pt x="494" y="489"/>
                      <a:pt x="476" y="494"/>
                      <a:pt x="457" y="494"/>
                    </a:cubicBezTo>
                    <a:cubicBezTo>
                      <a:pt x="427" y="494"/>
                      <a:pt x="399" y="481"/>
                      <a:pt x="380" y="461"/>
                    </a:cubicBezTo>
                    <a:cubicBezTo>
                      <a:pt x="378" y="462"/>
                      <a:pt x="376" y="463"/>
                      <a:pt x="374" y="463"/>
                    </a:cubicBezTo>
                    <a:lnTo>
                      <a:pt x="249" y="463"/>
                    </a:lnTo>
                    <a:cubicBezTo>
                      <a:pt x="242" y="463"/>
                      <a:pt x="238" y="458"/>
                      <a:pt x="238" y="451"/>
                    </a:cubicBezTo>
                    <a:cubicBezTo>
                      <a:pt x="238" y="444"/>
                      <a:pt x="242" y="438"/>
                      <a:pt x="249" y="438"/>
                    </a:cubicBezTo>
                    <a:lnTo>
                      <a:pt x="299" y="438"/>
                    </a:lnTo>
                    <a:lnTo>
                      <a:pt x="299" y="414"/>
                    </a:lnTo>
                    <a:lnTo>
                      <a:pt x="137" y="414"/>
                    </a:lnTo>
                    <a:cubicBezTo>
                      <a:pt x="130" y="414"/>
                      <a:pt x="126" y="408"/>
                      <a:pt x="126" y="401"/>
                    </a:cubicBezTo>
                    <a:lnTo>
                      <a:pt x="126" y="179"/>
                    </a:lnTo>
                    <a:cubicBezTo>
                      <a:pt x="126" y="172"/>
                      <a:pt x="130" y="166"/>
                      <a:pt x="137" y="166"/>
                    </a:cubicBezTo>
                    <a:lnTo>
                      <a:pt x="486" y="166"/>
                    </a:lnTo>
                    <a:cubicBezTo>
                      <a:pt x="493" y="166"/>
                      <a:pt x="499" y="172"/>
                      <a:pt x="499" y="179"/>
                    </a:cubicBezTo>
                    <a:lnTo>
                      <a:pt x="499" y="283"/>
                    </a:lnTo>
                    <a:cubicBezTo>
                      <a:pt x="539" y="299"/>
                      <a:pt x="567" y="338"/>
                      <a:pt x="567" y="384"/>
                    </a:cubicBezTo>
                    <a:cubicBezTo>
                      <a:pt x="567" y="410"/>
                      <a:pt x="558" y="433"/>
                      <a:pt x="543" y="452"/>
                    </a:cubicBezTo>
                    <a:lnTo>
                      <a:pt x="642" y="551"/>
                    </a:lnTo>
                    <a:cubicBezTo>
                      <a:pt x="650" y="559"/>
                      <a:pt x="650" y="573"/>
                      <a:pt x="642" y="581"/>
                    </a:cubicBezTo>
                    <a:close/>
                    <a:moveTo>
                      <a:pt x="383" y="382"/>
                    </a:moveTo>
                    <a:lnTo>
                      <a:pt x="383" y="382"/>
                    </a:lnTo>
                    <a:cubicBezTo>
                      <a:pt x="383" y="382"/>
                      <a:pt x="382" y="382"/>
                      <a:pt x="382" y="383"/>
                    </a:cubicBezTo>
                    <a:cubicBezTo>
                      <a:pt x="381" y="384"/>
                      <a:pt x="381" y="386"/>
                      <a:pt x="381" y="388"/>
                    </a:cubicBezTo>
                    <a:cubicBezTo>
                      <a:pt x="381" y="391"/>
                      <a:pt x="381" y="393"/>
                      <a:pt x="382" y="394"/>
                    </a:cubicBezTo>
                    <a:cubicBezTo>
                      <a:pt x="382" y="394"/>
                      <a:pt x="383" y="395"/>
                      <a:pt x="383" y="395"/>
                    </a:cubicBezTo>
                    <a:cubicBezTo>
                      <a:pt x="384" y="395"/>
                      <a:pt x="385" y="394"/>
                      <a:pt x="385" y="393"/>
                    </a:cubicBezTo>
                    <a:cubicBezTo>
                      <a:pt x="385" y="393"/>
                      <a:pt x="385" y="391"/>
                      <a:pt x="385" y="388"/>
                    </a:cubicBezTo>
                    <a:cubicBezTo>
                      <a:pt x="385" y="386"/>
                      <a:pt x="385" y="384"/>
                      <a:pt x="385" y="383"/>
                    </a:cubicBezTo>
                    <a:cubicBezTo>
                      <a:pt x="385" y="382"/>
                      <a:pt x="384" y="382"/>
                      <a:pt x="383" y="382"/>
                    </a:cubicBezTo>
                    <a:close/>
                    <a:moveTo>
                      <a:pt x="527" y="424"/>
                    </a:moveTo>
                    <a:lnTo>
                      <a:pt x="527" y="424"/>
                    </a:lnTo>
                    <a:cubicBezTo>
                      <a:pt x="534" y="412"/>
                      <a:pt x="538" y="399"/>
                      <a:pt x="538" y="384"/>
                    </a:cubicBezTo>
                    <a:cubicBezTo>
                      <a:pt x="538" y="373"/>
                      <a:pt x="536" y="362"/>
                      <a:pt x="532" y="352"/>
                    </a:cubicBezTo>
                    <a:lnTo>
                      <a:pt x="527" y="352"/>
                    </a:lnTo>
                    <a:lnTo>
                      <a:pt x="527" y="343"/>
                    </a:lnTo>
                    <a:cubicBezTo>
                      <a:pt x="526" y="341"/>
                      <a:pt x="525" y="340"/>
                      <a:pt x="525" y="339"/>
                    </a:cubicBezTo>
                    <a:lnTo>
                      <a:pt x="523" y="340"/>
                    </a:lnTo>
                    <a:lnTo>
                      <a:pt x="520" y="336"/>
                    </a:lnTo>
                    <a:lnTo>
                      <a:pt x="522" y="335"/>
                    </a:lnTo>
                    <a:cubicBezTo>
                      <a:pt x="507" y="315"/>
                      <a:pt x="483" y="303"/>
                      <a:pt x="457" y="303"/>
                    </a:cubicBezTo>
                    <a:cubicBezTo>
                      <a:pt x="430" y="303"/>
                      <a:pt x="406" y="316"/>
                      <a:pt x="391" y="337"/>
                    </a:cubicBezTo>
                    <a:cubicBezTo>
                      <a:pt x="391" y="338"/>
                      <a:pt x="391" y="340"/>
                      <a:pt x="391" y="341"/>
                    </a:cubicBezTo>
                    <a:cubicBezTo>
                      <a:pt x="391" y="345"/>
                      <a:pt x="391" y="348"/>
                      <a:pt x="389" y="350"/>
                    </a:cubicBezTo>
                    <a:cubicBezTo>
                      <a:pt x="388" y="351"/>
                      <a:pt x="386" y="352"/>
                      <a:pt x="383" y="352"/>
                    </a:cubicBezTo>
                    <a:cubicBezTo>
                      <a:pt x="383" y="352"/>
                      <a:pt x="383" y="352"/>
                      <a:pt x="383" y="352"/>
                    </a:cubicBezTo>
                    <a:cubicBezTo>
                      <a:pt x="379" y="362"/>
                      <a:pt x="376" y="372"/>
                      <a:pt x="376" y="382"/>
                    </a:cubicBezTo>
                    <a:cubicBezTo>
                      <a:pt x="376" y="381"/>
                      <a:pt x="377" y="380"/>
                      <a:pt x="377" y="380"/>
                    </a:cubicBezTo>
                    <a:cubicBezTo>
                      <a:pt x="379" y="378"/>
                      <a:pt x="381" y="377"/>
                      <a:pt x="383" y="377"/>
                    </a:cubicBezTo>
                    <a:cubicBezTo>
                      <a:pt x="386" y="377"/>
                      <a:pt x="388" y="378"/>
                      <a:pt x="389" y="380"/>
                    </a:cubicBezTo>
                    <a:cubicBezTo>
                      <a:pt x="391" y="382"/>
                      <a:pt x="391" y="385"/>
                      <a:pt x="391" y="388"/>
                    </a:cubicBezTo>
                    <a:cubicBezTo>
                      <a:pt x="391" y="392"/>
                      <a:pt x="391" y="395"/>
                      <a:pt x="389" y="397"/>
                    </a:cubicBezTo>
                    <a:cubicBezTo>
                      <a:pt x="388" y="399"/>
                      <a:pt x="386" y="400"/>
                      <a:pt x="383" y="400"/>
                    </a:cubicBezTo>
                    <a:cubicBezTo>
                      <a:pt x="381" y="400"/>
                      <a:pt x="379" y="399"/>
                      <a:pt x="377" y="397"/>
                    </a:cubicBezTo>
                    <a:cubicBezTo>
                      <a:pt x="377" y="397"/>
                      <a:pt x="377" y="397"/>
                      <a:pt x="377" y="396"/>
                    </a:cubicBezTo>
                    <a:cubicBezTo>
                      <a:pt x="379" y="407"/>
                      <a:pt x="382" y="417"/>
                      <a:pt x="388" y="426"/>
                    </a:cubicBezTo>
                    <a:cubicBezTo>
                      <a:pt x="388" y="426"/>
                      <a:pt x="389" y="427"/>
                      <a:pt x="389" y="427"/>
                    </a:cubicBezTo>
                    <a:cubicBezTo>
                      <a:pt x="390" y="428"/>
                      <a:pt x="390" y="429"/>
                      <a:pt x="391" y="430"/>
                    </a:cubicBezTo>
                    <a:cubicBezTo>
                      <a:pt x="392" y="431"/>
                      <a:pt x="392" y="433"/>
                      <a:pt x="394" y="434"/>
                    </a:cubicBezTo>
                    <a:cubicBezTo>
                      <a:pt x="394" y="431"/>
                      <a:pt x="394" y="429"/>
                      <a:pt x="395" y="427"/>
                    </a:cubicBezTo>
                    <a:cubicBezTo>
                      <a:pt x="397" y="425"/>
                      <a:pt x="399" y="424"/>
                      <a:pt x="401" y="424"/>
                    </a:cubicBezTo>
                    <a:cubicBezTo>
                      <a:pt x="404" y="424"/>
                      <a:pt x="406" y="425"/>
                      <a:pt x="407" y="427"/>
                    </a:cubicBezTo>
                    <a:cubicBezTo>
                      <a:pt x="409" y="429"/>
                      <a:pt x="409" y="432"/>
                      <a:pt x="409" y="436"/>
                    </a:cubicBezTo>
                    <a:cubicBezTo>
                      <a:pt x="409" y="440"/>
                      <a:pt x="409" y="442"/>
                      <a:pt x="407" y="444"/>
                    </a:cubicBezTo>
                    <a:cubicBezTo>
                      <a:pt x="407" y="445"/>
                      <a:pt x="406" y="446"/>
                      <a:pt x="405" y="446"/>
                    </a:cubicBezTo>
                    <a:cubicBezTo>
                      <a:pt x="419" y="458"/>
                      <a:pt x="437" y="465"/>
                      <a:pt x="457" y="465"/>
                    </a:cubicBezTo>
                    <a:cubicBezTo>
                      <a:pt x="477" y="465"/>
                      <a:pt x="495" y="458"/>
                      <a:pt x="509" y="446"/>
                    </a:cubicBezTo>
                    <a:lnTo>
                      <a:pt x="509" y="435"/>
                    </a:lnTo>
                    <a:cubicBezTo>
                      <a:pt x="509" y="434"/>
                      <a:pt x="509" y="432"/>
                      <a:pt x="509" y="431"/>
                    </a:cubicBezTo>
                    <a:cubicBezTo>
                      <a:pt x="509" y="432"/>
                      <a:pt x="508" y="432"/>
                      <a:pt x="508" y="433"/>
                    </a:cubicBezTo>
                    <a:lnTo>
                      <a:pt x="505" y="435"/>
                    </a:lnTo>
                    <a:lnTo>
                      <a:pt x="502" y="431"/>
                    </a:lnTo>
                    <a:lnTo>
                      <a:pt x="510" y="425"/>
                    </a:lnTo>
                    <a:lnTo>
                      <a:pt x="515" y="425"/>
                    </a:lnTo>
                    <a:lnTo>
                      <a:pt x="515" y="441"/>
                    </a:lnTo>
                    <a:cubicBezTo>
                      <a:pt x="517" y="439"/>
                      <a:pt x="518" y="437"/>
                      <a:pt x="520" y="435"/>
                    </a:cubicBezTo>
                    <a:cubicBezTo>
                      <a:pt x="520" y="432"/>
                      <a:pt x="521" y="429"/>
                      <a:pt x="522" y="427"/>
                    </a:cubicBezTo>
                    <a:cubicBezTo>
                      <a:pt x="523" y="425"/>
                      <a:pt x="525" y="424"/>
                      <a:pt x="527" y="424"/>
                    </a:cubicBezTo>
                    <a:close/>
                    <a:moveTo>
                      <a:pt x="407" y="352"/>
                    </a:moveTo>
                    <a:lnTo>
                      <a:pt x="407" y="352"/>
                    </a:lnTo>
                    <a:lnTo>
                      <a:pt x="401" y="352"/>
                    </a:lnTo>
                    <a:lnTo>
                      <a:pt x="401" y="340"/>
                    </a:lnTo>
                    <a:cubicBezTo>
                      <a:pt x="401" y="339"/>
                      <a:pt x="401" y="338"/>
                      <a:pt x="401" y="337"/>
                    </a:cubicBezTo>
                    <a:cubicBezTo>
                      <a:pt x="400" y="337"/>
                      <a:pt x="400" y="337"/>
                      <a:pt x="399" y="338"/>
                    </a:cubicBezTo>
                    <a:lnTo>
                      <a:pt x="397" y="340"/>
                    </a:lnTo>
                    <a:lnTo>
                      <a:pt x="394" y="336"/>
                    </a:lnTo>
                    <a:lnTo>
                      <a:pt x="401" y="330"/>
                    </a:lnTo>
                    <a:lnTo>
                      <a:pt x="407" y="330"/>
                    </a:lnTo>
                    <a:lnTo>
                      <a:pt x="407" y="352"/>
                    </a:lnTo>
                    <a:lnTo>
                      <a:pt x="407" y="352"/>
                    </a:lnTo>
                    <a:close/>
                    <a:moveTo>
                      <a:pt x="409" y="388"/>
                    </a:moveTo>
                    <a:lnTo>
                      <a:pt x="409" y="388"/>
                    </a:lnTo>
                    <a:cubicBezTo>
                      <a:pt x="409" y="392"/>
                      <a:pt x="409" y="395"/>
                      <a:pt x="407" y="397"/>
                    </a:cubicBezTo>
                    <a:cubicBezTo>
                      <a:pt x="406" y="399"/>
                      <a:pt x="404" y="400"/>
                      <a:pt x="401" y="400"/>
                    </a:cubicBezTo>
                    <a:cubicBezTo>
                      <a:pt x="399" y="400"/>
                      <a:pt x="397" y="399"/>
                      <a:pt x="395" y="397"/>
                    </a:cubicBezTo>
                    <a:cubicBezTo>
                      <a:pt x="394" y="395"/>
                      <a:pt x="393" y="392"/>
                      <a:pt x="393" y="388"/>
                    </a:cubicBezTo>
                    <a:cubicBezTo>
                      <a:pt x="393" y="384"/>
                      <a:pt x="394" y="382"/>
                      <a:pt x="395" y="380"/>
                    </a:cubicBezTo>
                    <a:cubicBezTo>
                      <a:pt x="397" y="378"/>
                      <a:pt x="399" y="377"/>
                      <a:pt x="401" y="377"/>
                    </a:cubicBezTo>
                    <a:cubicBezTo>
                      <a:pt x="404" y="377"/>
                      <a:pt x="406" y="378"/>
                      <a:pt x="407" y="380"/>
                    </a:cubicBezTo>
                    <a:cubicBezTo>
                      <a:pt x="409" y="382"/>
                      <a:pt x="409" y="385"/>
                      <a:pt x="409" y="388"/>
                    </a:cubicBezTo>
                    <a:close/>
                    <a:moveTo>
                      <a:pt x="466" y="431"/>
                    </a:moveTo>
                    <a:lnTo>
                      <a:pt x="466" y="431"/>
                    </a:lnTo>
                    <a:lnTo>
                      <a:pt x="473" y="425"/>
                    </a:lnTo>
                    <a:lnTo>
                      <a:pt x="479" y="425"/>
                    </a:lnTo>
                    <a:lnTo>
                      <a:pt x="479" y="447"/>
                    </a:lnTo>
                    <a:lnTo>
                      <a:pt x="473" y="447"/>
                    </a:lnTo>
                    <a:lnTo>
                      <a:pt x="473" y="435"/>
                    </a:lnTo>
                    <a:cubicBezTo>
                      <a:pt x="473" y="434"/>
                      <a:pt x="473" y="432"/>
                      <a:pt x="473" y="431"/>
                    </a:cubicBezTo>
                    <a:cubicBezTo>
                      <a:pt x="472" y="432"/>
                      <a:pt x="472" y="432"/>
                      <a:pt x="471" y="433"/>
                    </a:cubicBezTo>
                    <a:lnTo>
                      <a:pt x="469" y="435"/>
                    </a:lnTo>
                    <a:lnTo>
                      <a:pt x="466" y="431"/>
                    </a:lnTo>
                    <a:lnTo>
                      <a:pt x="466" y="431"/>
                    </a:lnTo>
                    <a:close/>
                    <a:moveTo>
                      <a:pt x="448" y="431"/>
                    </a:moveTo>
                    <a:lnTo>
                      <a:pt x="448" y="431"/>
                    </a:lnTo>
                    <a:lnTo>
                      <a:pt x="455" y="425"/>
                    </a:lnTo>
                    <a:lnTo>
                      <a:pt x="461" y="425"/>
                    </a:lnTo>
                    <a:lnTo>
                      <a:pt x="461" y="447"/>
                    </a:lnTo>
                    <a:lnTo>
                      <a:pt x="455" y="447"/>
                    </a:lnTo>
                    <a:lnTo>
                      <a:pt x="455" y="435"/>
                    </a:lnTo>
                    <a:cubicBezTo>
                      <a:pt x="455" y="434"/>
                      <a:pt x="455" y="432"/>
                      <a:pt x="455" y="431"/>
                    </a:cubicBezTo>
                    <a:cubicBezTo>
                      <a:pt x="454" y="432"/>
                      <a:pt x="454" y="432"/>
                      <a:pt x="453" y="433"/>
                    </a:cubicBezTo>
                    <a:lnTo>
                      <a:pt x="451" y="435"/>
                    </a:lnTo>
                    <a:lnTo>
                      <a:pt x="448" y="431"/>
                    </a:lnTo>
                    <a:lnTo>
                      <a:pt x="448" y="431"/>
                    </a:lnTo>
                    <a:close/>
                    <a:moveTo>
                      <a:pt x="448" y="384"/>
                    </a:moveTo>
                    <a:lnTo>
                      <a:pt x="448" y="384"/>
                    </a:lnTo>
                    <a:lnTo>
                      <a:pt x="455" y="377"/>
                    </a:lnTo>
                    <a:lnTo>
                      <a:pt x="461" y="377"/>
                    </a:lnTo>
                    <a:lnTo>
                      <a:pt x="461" y="399"/>
                    </a:lnTo>
                    <a:lnTo>
                      <a:pt x="455" y="399"/>
                    </a:lnTo>
                    <a:lnTo>
                      <a:pt x="455" y="388"/>
                    </a:lnTo>
                    <a:cubicBezTo>
                      <a:pt x="455" y="386"/>
                      <a:pt x="455" y="385"/>
                      <a:pt x="455" y="384"/>
                    </a:cubicBezTo>
                    <a:cubicBezTo>
                      <a:pt x="454" y="384"/>
                      <a:pt x="454" y="385"/>
                      <a:pt x="453" y="385"/>
                    </a:cubicBezTo>
                    <a:lnTo>
                      <a:pt x="451" y="387"/>
                    </a:lnTo>
                    <a:lnTo>
                      <a:pt x="448" y="384"/>
                    </a:lnTo>
                    <a:lnTo>
                      <a:pt x="448" y="384"/>
                    </a:lnTo>
                    <a:close/>
                    <a:moveTo>
                      <a:pt x="430" y="431"/>
                    </a:moveTo>
                    <a:lnTo>
                      <a:pt x="430" y="431"/>
                    </a:lnTo>
                    <a:lnTo>
                      <a:pt x="437" y="425"/>
                    </a:lnTo>
                    <a:lnTo>
                      <a:pt x="443" y="425"/>
                    </a:lnTo>
                    <a:lnTo>
                      <a:pt x="443" y="447"/>
                    </a:lnTo>
                    <a:lnTo>
                      <a:pt x="437" y="447"/>
                    </a:lnTo>
                    <a:lnTo>
                      <a:pt x="437" y="435"/>
                    </a:lnTo>
                    <a:cubicBezTo>
                      <a:pt x="437" y="434"/>
                      <a:pt x="437" y="432"/>
                      <a:pt x="437" y="431"/>
                    </a:cubicBezTo>
                    <a:cubicBezTo>
                      <a:pt x="436" y="432"/>
                      <a:pt x="436" y="432"/>
                      <a:pt x="435" y="433"/>
                    </a:cubicBezTo>
                    <a:lnTo>
                      <a:pt x="433" y="435"/>
                    </a:lnTo>
                    <a:lnTo>
                      <a:pt x="430" y="431"/>
                    </a:lnTo>
                    <a:lnTo>
                      <a:pt x="430" y="431"/>
                    </a:lnTo>
                    <a:close/>
                    <a:moveTo>
                      <a:pt x="427" y="341"/>
                    </a:moveTo>
                    <a:lnTo>
                      <a:pt x="427" y="341"/>
                    </a:lnTo>
                    <a:cubicBezTo>
                      <a:pt x="427" y="345"/>
                      <a:pt x="427" y="348"/>
                      <a:pt x="425" y="350"/>
                    </a:cubicBezTo>
                    <a:cubicBezTo>
                      <a:pt x="424" y="351"/>
                      <a:pt x="422" y="352"/>
                      <a:pt x="419" y="352"/>
                    </a:cubicBezTo>
                    <a:cubicBezTo>
                      <a:pt x="417" y="352"/>
                      <a:pt x="415" y="351"/>
                      <a:pt x="414" y="350"/>
                    </a:cubicBezTo>
                    <a:cubicBezTo>
                      <a:pt x="412" y="348"/>
                      <a:pt x="412" y="345"/>
                      <a:pt x="412" y="341"/>
                    </a:cubicBezTo>
                    <a:cubicBezTo>
                      <a:pt x="412" y="337"/>
                      <a:pt x="412" y="334"/>
                      <a:pt x="413" y="332"/>
                    </a:cubicBezTo>
                    <a:cubicBezTo>
                      <a:pt x="415" y="331"/>
                      <a:pt x="417" y="330"/>
                      <a:pt x="419" y="330"/>
                    </a:cubicBezTo>
                    <a:cubicBezTo>
                      <a:pt x="422" y="330"/>
                      <a:pt x="424" y="331"/>
                      <a:pt x="425" y="333"/>
                    </a:cubicBezTo>
                    <a:cubicBezTo>
                      <a:pt x="427" y="335"/>
                      <a:pt x="427" y="337"/>
                      <a:pt x="427" y="341"/>
                    </a:cubicBezTo>
                    <a:close/>
                    <a:moveTo>
                      <a:pt x="419" y="384"/>
                    </a:moveTo>
                    <a:lnTo>
                      <a:pt x="419" y="384"/>
                    </a:lnTo>
                    <a:cubicBezTo>
                      <a:pt x="418" y="384"/>
                      <a:pt x="418" y="385"/>
                      <a:pt x="417" y="385"/>
                    </a:cubicBezTo>
                    <a:lnTo>
                      <a:pt x="415" y="387"/>
                    </a:lnTo>
                    <a:lnTo>
                      <a:pt x="412" y="384"/>
                    </a:lnTo>
                    <a:lnTo>
                      <a:pt x="419" y="377"/>
                    </a:lnTo>
                    <a:lnTo>
                      <a:pt x="425" y="377"/>
                    </a:lnTo>
                    <a:lnTo>
                      <a:pt x="425" y="399"/>
                    </a:lnTo>
                    <a:lnTo>
                      <a:pt x="419" y="399"/>
                    </a:lnTo>
                    <a:lnTo>
                      <a:pt x="419" y="388"/>
                    </a:lnTo>
                    <a:cubicBezTo>
                      <a:pt x="419" y="386"/>
                      <a:pt x="419" y="385"/>
                      <a:pt x="419" y="384"/>
                    </a:cubicBezTo>
                    <a:close/>
                    <a:moveTo>
                      <a:pt x="427" y="436"/>
                    </a:moveTo>
                    <a:lnTo>
                      <a:pt x="427" y="436"/>
                    </a:lnTo>
                    <a:cubicBezTo>
                      <a:pt x="427" y="440"/>
                      <a:pt x="427" y="442"/>
                      <a:pt x="425" y="444"/>
                    </a:cubicBezTo>
                    <a:cubicBezTo>
                      <a:pt x="424" y="446"/>
                      <a:pt x="422" y="447"/>
                      <a:pt x="419" y="447"/>
                    </a:cubicBezTo>
                    <a:cubicBezTo>
                      <a:pt x="417" y="447"/>
                      <a:pt x="415" y="446"/>
                      <a:pt x="414" y="444"/>
                    </a:cubicBezTo>
                    <a:cubicBezTo>
                      <a:pt x="412" y="442"/>
                      <a:pt x="412" y="439"/>
                      <a:pt x="412" y="436"/>
                    </a:cubicBezTo>
                    <a:cubicBezTo>
                      <a:pt x="412" y="432"/>
                      <a:pt x="412" y="429"/>
                      <a:pt x="413" y="427"/>
                    </a:cubicBezTo>
                    <a:cubicBezTo>
                      <a:pt x="415" y="425"/>
                      <a:pt x="417" y="424"/>
                      <a:pt x="419" y="424"/>
                    </a:cubicBezTo>
                    <a:cubicBezTo>
                      <a:pt x="422" y="424"/>
                      <a:pt x="424" y="425"/>
                      <a:pt x="425" y="427"/>
                    </a:cubicBezTo>
                    <a:cubicBezTo>
                      <a:pt x="427" y="429"/>
                      <a:pt x="427" y="432"/>
                      <a:pt x="427" y="436"/>
                    </a:cubicBezTo>
                    <a:close/>
                    <a:moveTo>
                      <a:pt x="443" y="352"/>
                    </a:moveTo>
                    <a:lnTo>
                      <a:pt x="443" y="352"/>
                    </a:lnTo>
                    <a:lnTo>
                      <a:pt x="437" y="352"/>
                    </a:lnTo>
                    <a:lnTo>
                      <a:pt x="437" y="340"/>
                    </a:lnTo>
                    <a:cubicBezTo>
                      <a:pt x="437" y="339"/>
                      <a:pt x="437" y="338"/>
                      <a:pt x="437" y="337"/>
                    </a:cubicBezTo>
                    <a:cubicBezTo>
                      <a:pt x="436" y="337"/>
                      <a:pt x="436" y="337"/>
                      <a:pt x="435" y="338"/>
                    </a:cubicBezTo>
                    <a:lnTo>
                      <a:pt x="433" y="340"/>
                    </a:lnTo>
                    <a:lnTo>
                      <a:pt x="430" y="336"/>
                    </a:lnTo>
                    <a:lnTo>
                      <a:pt x="437" y="330"/>
                    </a:lnTo>
                    <a:lnTo>
                      <a:pt x="443" y="330"/>
                    </a:lnTo>
                    <a:lnTo>
                      <a:pt x="443" y="352"/>
                    </a:lnTo>
                    <a:lnTo>
                      <a:pt x="443" y="352"/>
                    </a:lnTo>
                    <a:close/>
                    <a:moveTo>
                      <a:pt x="445" y="388"/>
                    </a:moveTo>
                    <a:lnTo>
                      <a:pt x="445" y="388"/>
                    </a:lnTo>
                    <a:cubicBezTo>
                      <a:pt x="445" y="392"/>
                      <a:pt x="445" y="395"/>
                      <a:pt x="444" y="397"/>
                    </a:cubicBezTo>
                    <a:cubicBezTo>
                      <a:pt x="442" y="399"/>
                      <a:pt x="440" y="400"/>
                      <a:pt x="438" y="400"/>
                    </a:cubicBezTo>
                    <a:cubicBezTo>
                      <a:pt x="435" y="400"/>
                      <a:pt x="433" y="399"/>
                      <a:pt x="432" y="397"/>
                    </a:cubicBezTo>
                    <a:cubicBezTo>
                      <a:pt x="430" y="395"/>
                      <a:pt x="430" y="392"/>
                      <a:pt x="430" y="388"/>
                    </a:cubicBezTo>
                    <a:cubicBezTo>
                      <a:pt x="430" y="384"/>
                      <a:pt x="430" y="382"/>
                      <a:pt x="432" y="380"/>
                    </a:cubicBezTo>
                    <a:cubicBezTo>
                      <a:pt x="433" y="378"/>
                      <a:pt x="435" y="377"/>
                      <a:pt x="438" y="377"/>
                    </a:cubicBezTo>
                    <a:cubicBezTo>
                      <a:pt x="440" y="377"/>
                      <a:pt x="442" y="378"/>
                      <a:pt x="443" y="380"/>
                    </a:cubicBezTo>
                    <a:cubicBezTo>
                      <a:pt x="445" y="382"/>
                      <a:pt x="445" y="385"/>
                      <a:pt x="445" y="388"/>
                    </a:cubicBezTo>
                    <a:close/>
                    <a:moveTo>
                      <a:pt x="464" y="341"/>
                    </a:moveTo>
                    <a:lnTo>
                      <a:pt x="464" y="341"/>
                    </a:lnTo>
                    <a:cubicBezTo>
                      <a:pt x="464" y="345"/>
                      <a:pt x="463" y="348"/>
                      <a:pt x="462" y="350"/>
                    </a:cubicBezTo>
                    <a:cubicBezTo>
                      <a:pt x="460" y="351"/>
                      <a:pt x="458" y="352"/>
                      <a:pt x="456" y="352"/>
                    </a:cubicBezTo>
                    <a:cubicBezTo>
                      <a:pt x="453" y="352"/>
                      <a:pt x="451" y="351"/>
                      <a:pt x="450" y="350"/>
                    </a:cubicBezTo>
                    <a:cubicBezTo>
                      <a:pt x="448" y="348"/>
                      <a:pt x="448" y="345"/>
                      <a:pt x="448" y="341"/>
                    </a:cubicBezTo>
                    <a:cubicBezTo>
                      <a:pt x="448" y="337"/>
                      <a:pt x="448" y="334"/>
                      <a:pt x="450" y="332"/>
                    </a:cubicBezTo>
                    <a:cubicBezTo>
                      <a:pt x="451" y="331"/>
                      <a:pt x="453" y="330"/>
                      <a:pt x="456" y="330"/>
                    </a:cubicBezTo>
                    <a:cubicBezTo>
                      <a:pt x="458" y="330"/>
                      <a:pt x="460" y="331"/>
                      <a:pt x="462" y="333"/>
                    </a:cubicBezTo>
                    <a:cubicBezTo>
                      <a:pt x="463" y="335"/>
                      <a:pt x="464" y="337"/>
                      <a:pt x="464" y="341"/>
                    </a:cubicBezTo>
                    <a:close/>
                    <a:moveTo>
                      <a:pt x="482" y="341"/>
                    </a:moveTo>
                    <a:lnTo>
                      <a:pt x="482" y="341"/>
                    </a:lnTo>
                    <a:cubicBezTo>
                      <a:pt x="482" y="345"/>
                      <a:pt x="481" y="348"/>
                      <a:pt x="480" y="350"/>
                    </a:cubicBezTo>
                    <a:cubicBezTo>
                      <a:pt x="478" y="351"/>
                      <a:pt x="476" y="352"/>
                      <a:pt x="474" y="352"/>
                    </a:cubicBezTo>
                    <a:cubicBezTo>
                      <a:pt x="471" y="352"/>
                      <a:pt x="469" y="351"/>
                      <a:pt x="468" y="350"/>
                    </a:cubicBezTo>
                    <a:cubicBezTo>
                      <a:pt x="466" y="348"/>
                      <a:pt x="466" y="345"/>
                      <a:pt x="466" y="341"/>
                    </a:cubicBezTo>
                    <a:cubicBezTo>
                      <a:pt x="466" y="337"/>
                      <a:pt x="466" y="334"/>
                      <a:pt x="468" y="332"/>
                    </a:cubicBezTo>
                    <a:cubicBezTo>
                      <a:pt x="469" y="331"/>
                      <a:pt x="471" y="330"/>
                      <a:pt x="474" y="330"/>
                    </a:cubicBezTo>
                    <a:cubicBezTo>
                      <a:pt x="476" y="330"/>
                      <a:pt x="478" y="331"/>
                      <a:pt x="480" y="333"/>
                    </a:cubicBezTo>
                    <a:cubicBezTo>
                      <a:pt x="481" y="335"/>
                      <a:pt x="482" y="337"/>
                      <a:pt x="482" y="341"/>
                    </a:cubicBezTo>
                    <a:close/>
                    <a:moveTo>
                      <a:pt x="482" y="388"/>
                    </a:moveTo>
                    <a:lnTo>
                      <a:pt x="482" y="388"/>
                    </a:lnTo>
                    <a:cubicBezTo>
                      <a:pt x="482" y="392"/>
                      <a:pt x="481" y="395"/>
                      <a:pt x="480" y="397"/>
                    </a:cubicBezTo>
                    <a:cubicBezTo>
                      <a:pt x="478" y="399"/>
                      <a:pt x="476" y="400"/>
                      <a:pt x="474" y="400"/>
                    </a:cubicBezTo>
                    <a:cubicBezTo>
                      <a:pt x="471" y="400"/>
                      <a:pt x="469" y="399"/>
                      <a:pt x="468" y="397"/>
                    </a:cubicBezTo>
                    <a:cubicBezTo>
                      <a:pt x="466" y="395"/>
                      <a:pt x="466" y="392"/>
                      <a:pt x="466" y="388"/>
                    </a:cubicBezTo>
                    <a:cubicBezTo>
                      <a:pt x="466" y="384"/>
                      <a:pt x="466" y="382"/>
                      <a:pt x="468" y="380"/>
                    </a:cubicBezTo>
                    <a:cubicBezTo>
                      <a:pt x="469" y="378"/>
                      <a:pt x="471" y="377"/>
                      <a:pt x="474" y="377"/>
                    </a:cubicBezTo>
                    <a:cubicBezTo>
                      <a:pt x="476" y="377"/>
                      <a:pt x="478" y="378"/>
                      <a:pt x="480" y="380"/>
                    </a:cubicBezTo>
                    <a:cubicBezTo>
                      <a:pt x="481" y="382"/>
                      <a:pt x="482" y="385"/>
                      <a:pt x="482" y="388"/>
                    </a:cubicBezTo>
                    <a:close/>
                    <a:moveTo>
                      <a:pt x="497" y="352"/>
                    </a:moveTo>
                    <a:lnTo>
                      <a:pt x="497" y="352"/>
                    </a:lnTo>
                    <a:lnTo>
                      <a:pt x="491" y="352"/>
                    </a:lnTo>
                    <a:lnTo>
                      <a:pt x="491" y="340"/>
                    </a:lnTo>
                    <a:cubicBezTo>
                      <a:pt x="491" y="339"/>
                      <a:pt x="491" y="338"/>
                      <a:pt x="491" y="337"/>
                    </a:cubicBezTo>
                    <a:cubicBezTo>
                      <a:pt x="491" y="337"/>
                      <a:pt x="490" y="337"/>
                      <a:pt x="490" y="338"/>
                    </a:cubicBezTo>
                    <a:lnTo>
                      <a:pt x="487" y="340"/>
                    </a:lnTo>
                    <a:lnTo>
                      <a:pt x="484" y="336"/>
                    </a:lnTo>
                    <a:lnTo>
                      <a:pt x="492" y="330"/>
                    </a:lnTo>
                    <a:lnTo>
                      <a:pt x="497" y="330"/>
                    </a:lnTo>
                    <a:lnTo>
                      <a:pt x="497" y="352"/>
                    </a:lnTo>
                    <a:lnTo>
                      <a:pt x="497" y="352"/>
                    </a:lnTo>
                    <a:close/>
                    <a:moveTo>
                      <a:pt x="500" y="388"/>
                    </a:moveTo>
                    <a:lnTo>
                      <a:pt x="500" y="388"/>
                    </a:lnTo>
                    <a:cubicBezTo>
                      <a:pt x="500" y="392"/>
                      <a:pt x="499" y="395"/>
                      <a:pt x="498" y="397"/>
                    </a:cubicBezTo>
                    <a:cubicBezTo>
                      <a:pt x="496" y="399"/>
                      <a:pt x="494" y="400"/>
                      <a:pt x="492" y="400"/>
                    </a:cubicBezTo>
                    <a:cubicBezTo>
                      <a:pt x="489" y="400"/>
                      <a:pt x="487" y="399"/>
                      <a:pt x="486" y="397"/>
                    </a:cubicBezTo>
                    <a:cubicBezTo>
                      <a:pt x="484" y="395"/>
                      <a:pt x="484" y="392"/>
                      <a:pt x="484" y="388"/>
                    </a:cubicBezTo>
                    <a:cubicBezTo>
                      <a:pt x="484" y="384"/>
                      <a:pt x="484" y="382"/>
                      <a:pt x="486" y="380"/>
                    </a:cubicBezTo>
                    <a:cubicBezTo>
                      <a:pt x="487" y="378"/>
                      <a:pt x="489" y="377"/>
                      <a:pt x="492" y="377"/>
                    </a:cubicBezTo>
                    <a:cubicBezTo>
                      <a:pt x="494" y="377"/>
                      <a:pt x="496" y="378"/>
                      <a:pt x="498" y="380"/>
                    </a:cubicBezTo>
                    <a:cubicBezTo>
                      <a:pt x="499" y="382"/>
                      <a:pt x="500" y="385"/>
                      <a:pt x="500" y="388"/>
                    </a:cubicBezTo>
                    <a:close/>
                    <a:moveTo>
                      <a:pt x="500" y="436"/>
                    </a:moveTo>
                    <a:lnTo>
                      <a:pt x="500" y="436"/>
                    </a:lnTo>
                    <a:cubicBezTo>
                      <a:pt x="500" y="440"/>
                      <a:pt x="499" y="442"/>
                      <a:pt x="498" y="444"/>
                    </a:cubicBezTo>
                    <a:cubicBezTo>
                      <a:pt x="496" y="446"/>
                      <a:pt x="494" y="447"/>
                      <a:pt x="492" y="447"/>
                    </a:cubicBezTo>
                    <a:cubicBezTo>
                      <a:pt x="489" y="447"/>
                      <a:pt x="487" y="446"/>
                      <a:pt x="486" y="444"/>
                    </a:cubicBezTo>
                    <a:cubicBezTo>
                      <a:pt x="484" y="442"/>
                      <a:pt x="484" y="439"/>
                      <a:pt x="484" y="436"/>
                    </a:cubicBezTo>
                    <a:cubicBezTo>
                      <a:pt x="484" y="432"/>
                      <a:pt x="484" y="429"/>
                      <a:pt x="486" y="427"/>
                    </a:cubicBezTo>
                    <a:cubicBezTo>
                      <a:pt x="487" y="425"/>
                      <a:pt x="489" y="424"/>
                      <a:pt x="492" y="424"/>
                    </a:cubicBezTo>
                    <a:cubicBezTo>
                      <a:pt x="494" y="424"/>
                      <a:pt x="496" y="425"/>
                      <a:pt x="498" y="427"/>
                    </a:cubicBezTo>
                    <a:cubicBezTo>
                      <a:pt x="499" y="429"/>
                      <a:pt x="500" y="432"/>
                      <a:pt x="500" y="436"/>
                    </a:cubicBezTo>
                    <a:close/>
                    <a:moveTo>
                      <a:pt x="515" y="352"/>
                    </a:moveTo>
                    <a:lnTo>
                      <a:pt x="515" y="352"/>
                    </a:lnTo>
                    <a:lnTo>
                      <a:pt x="509" y="352"/>
                    </a:lnTo>
                    <a:lnTo>
                      <a:pt x="509" y="340"/>
                    </a:lnTo>
                    <a:cubicBezTo>
                      <a:pt x="509" y="339"/>
                      <a:pt x="509" y="338"/>
                      <a:pt x="509" y="337"/>
                    </a:cubicBezTo>
                    <a:cubicBezTo>
                      <a:pt x="509" y="337"/>
                      <a:pt x="508" y="337"/>
                      <a:pt x="508" y="338"/>
                    </a:cubicBezTo>
                    <a:lnTo>
                      <a:pt x="505" y="340"/>
                    </a:lnTo>
                    <a:lnTo>
                      <a:pt x="502" y="336"/>
                    </a:lnTo>
                    <a:lnTo>
                      <a:pt x="510" y="330"/>
                    </a:lnTo>
                    <a:lnTo>
                      <a:pt x="515" y="330"/>
                    </a:lnTo>
                    <a:lnTo>
                      <a:pt x="515" y="352"/>
                    </a:lnTo>
                    <a:lnTo>
                      <a:pt x="515" y="352"/>
                    </a:lnTo>
                    <a:close/>
                    <a:moveTo>
                      <a:pt x="515" y="399"/>
                    </a:moveTo>
                    <a:lnTo>
                      <a:pt x="515" y="399"/>
                    </a:lnTo>
                    <a:lnTo>
                      <a:pt x="509" y="399"/>
                    </a:lnTo>
                    <a:lnTo>
                      <a:pt x="509" y="388"/>
                    </a:lnTo>
                    <a:cubicBezTo>
                      <a:pt x="509" y="386"/>
                      <a:pt x="509" y="385"/>
                      <a:pt x="509" y="384"/>
                    </a:cubicBezTo>
                    <a:cubicBezTo>
                      <a:pt x="509" y="384"/>
                      <a:pt x="508" y="385"/>
                      <a:pt x="508" y="385"/>
                    </a:cubicBezTo>
                    <a:lnTo>
                      <a:pt x="505" y="387"/>
                    </a:lnTo>
                    <a:lnTo>
                      <a:pt x="502" y="384"/>
                    </a:lnTo>
                    <a:lnTo>
                      <a:pt x="510" y="377"/>
                    </a:lnTo>
                    <a:lnTo>
                      <a:pt x="515" y="377"/>
                    </a:lnTo>
                    <a:lnTo>
                      <a:pt x="515" y="399"/>
                    </a:lnTo>
                    <a:lnTo>
                      <a:pt x="515" y="399"/>
                    </a:lnTo>
                    <a:close/>
                    <a:moveTo>
                      <a:pt x="528" y="400"/>
                    </a:moveTo>
                    <a:lnTo>
                      <a:pt x="528" y="400"/>
                    </a:lnTo>
                    <a:cubicBezTo>
                      <a:pt x="525" y="400"/>
                      <a:pt x="523" y="399"/>
                      <a:pt x="522" y="397"/>
                    </a:cubicBezTo>
                    <a:cubicBezTo>
                      <a:pt x="521" y="395"/>
                      <a:pt x="520" y="392"/>
                      <a:pt x="520" y="388"/>
                    </a:cubicBezTo>
                    <a:cubicBezTo>
                      <a:pt x="520" y="384"/>
                      <a:pt x="521" y="382"/>
                      <a:pt x="522" y="380"/>
                    </a:cubicBezTo>
                    <a:cubicBezTo>
                      <a:pt x="523" y="378"/>
                      <a:pt x="525" y="377"/>
                      <a:pt x="528" y="377"/>
                    </a:cubicBezTo>
                    <a:cubicBezTo>
                      <a:pt x="530" y="377"/>
                      <a:pt x="532" y="378"/>
                      <a:pt x="534" y="380"/>
                    </a:cubicBezTo>
                    <a:cubicBezTo>
                      <a:pt x="535" y="382"/>
                      <a:pt x="536" y="385"/>
                      <a:pt x="536" y="388"/>
                    </a:cubicBezTo>
                    <a:cubicBezTo>
                      <a:pt x="536" y="392"/>
                      <a:pt x="535" y="395"/>
                      <a:pt x="534" y="397"/>
                    </a:cubicBezTo>
                    <a:cubicBezTo>
                      <a:pt x="533" y="399"/>
                      <a:pt x="531" y="400"/>
                      <a:pt x="528" y="400"/>
                    </a:cubicBezTo>
                    <a:close/>
                    <a:moveTo>
                      <a:pt x="526" y="383"/>
                    </a:moveTo>
                    <a:lnTo>
                      <a:pt x="526" y="383"/>
                    </a:lnTo>
                    <a:cubicBezTo>
                      <a:pt x="526" y="384"/>
                      <a:pt x="526" y="386"/>
                      <a:pt x="526" y="388"/>
                    </a:cubicBezTo>
                    <a:cubicBezTo>
                      <a:pt x="526" y="391"/>
                      <a:pt x="526" y="393"/>
                      <a:pt x="526" y="394"/>
                    </a:cubicBezTo>
                    <a:cubicBezTo>
                      <a:pt x="527" y="394"/>
                      <a:pt x="527" y="395"/>
                      <a:pt x="528" y="395"/>
                    </a:cubicBezTo>
                    <a:cubicBezTo>
                      <a:pt x="529" y="395"/>
                      <a:pt x="529" y="394"/>
                      <a:pt x="529" y="393"/>
                    </a:cubicBezTo>
                    <a:cubicBezTo>
                      <a:pt x="530" y="393"/>
                      <a:pt x="530" y="391"/>
                      <a:pt x="530" y="388"/>
                    </a:cubicBezTo>
                    <a:cubicBezTo>
                      <a:pt x="530" y="386"/>
                      <a:pt x="530" y="384"/>
                      <a:pt x="529" y="383"/>
                    </a:cubicBezTo>
                    <a:cubicBezTo>
                      <a:pt x="529" y="382"/>
                      <a:pt x="529" y="382"/>
                      <a:pt x="528" y="382"/>
                    </a:cubicBezTo>
                    <a:cubicBezTo>
                      <a:pt x="527" y="382"/>
                      <a:pt x="527" y="382"/>
                      <a:pt x="526" y="383"/>
                    </a:cubicBezTo>
                    <a:close/>
                    <a:moveTo>
                      <a:pt x="493" y="441"/>
                    </a:moveTo>
                    <a:lnTo>
                      <a:pt x="493" y="441"/>
                    </a:lnTo>
                    <a:cubicBezTo>
                      <a:pt x="494" y="440"/>
                      <a:pt x="494" y="438"/>
                      <a:pt x="494" y="436"/>
                    </a:cubicBezTo>
                    <a:cubicBezTo>
                      <a:pt x="494" y="433"/>
                      <a:pt x="494" y="432"/>
                      <a:pt x="493" y="431"/>
                    </a:cubicBezTo>
                    <a:cubicBezTo>
                      <a:pt x="493" y="430"/>
                      <a:pt x="492" y="429"/>
                      <a:pt x="492" y="429"/>
                    </a:cubicBezTo>
                    <a:cubicBezTo>
                      <a:pt x="491" y="429"/>
                      <a:pt x="490" y="430"/>
                      <a:pt x="490" y="431"/>
                    </a:cubicBezTo>
                    <a:cubicBezTo>
                      <a:pt x="490" y="431"/>
                      <a:pt x="490" y="433"/>
                      <a:pt x="490" y="436"/>
                    </a:cubicBezTo>
                    <a:cubicBezTo>
                      <a:pt x="490" y="438"/>
                      <a:pt x="490" y="440"/>
                      <a:pt x="490" y="441"/>
                    </a:cubicBezTo>
                    <a:cubicBezTo>
                      <a:pt x="490" y="442"/>
                      <a:pt x="491" y="442"/>
                      <a:pt x="492" y="442"/>
                    </a:cubicBezTo>
                    <a:cubicBezTo>
                      <a:pt x="492" y="442"/>
                      <a:pt x="493" y="442"/>
                      <a:pt x="493" y="441"/>
                    </a:cubicBezTo>
                    <a:close/>
                    <a:moveTo>
                      <a:pt x="493" y="393"/>
                    </a:moveTo>
                    <a:lnTo>
                      <a:pt x="493" y="393"/>
                    </a:lnTo>
                    <a:cubicBezTo>
                      <a:pt x="494" y="393"/>
                      <a:pt x="494" y="391"/>
                      <a:pt x="494" y="388"/>
                    </a:cubicBezTo>
                    <a:cubicBezTo>
                      <a:pt x="494" y="386"/>
                      <a:pt x="494" y="384"/>
                      <a:pt x="493" y="383"/>
                    </a:cubicBezTo>
                    <a:cubicBezTo>
                      <a:pt x="493" y="382"/>
                      <a:pt x="492" y="382"/>
                      <a:pt x="492" y="382"/>
                    </a:cubicBezTo>
                    <a:cubicBezTo>
                      <a:pt x="491" y="382"/>
                      <a:pt x="490" y="382"/>
                      <a:pt x="490" y="383"/>
                    </a:cubicBezTo>
                    <a:cubicBezTo>
                      <a:pt x="490" y="384"/>
                      <a:pt x="490" y="386"/>
                      <a:pt x="490" y="388"/>
                    </a:cubicBezTo>
                    <a:cubicBezTo>
                      <a:pt x="490" y="391"/>
                      <a:pt x="490" y="393"/>
                      <a:pt x="490" y="394"/>
                    </a:cubicBezTo>
                    <a:cubicBezTo>
                      <a:pt x="490" y="394"/>
                      <a:pt x="491" y="395"/>
                      <a:pt x="492" y="395"/>
                    </a:cubicBezTo>
                    <a:cubicBezTo>
                      <a:pt x="492" y="395"/>
                      <a:pt x="493" y="394"/>
                      <a:pt x="493" y="393"/>
                    </a:cubicBezTo>
                    <a:close/>
                    <a:moveTo>
                      <a:pt x="475" y="393"/>
                    </a:moveTo>
                    <a:lnTo>
                      <a:pt x="475" y="393"/>
                    </a:lnTo>
                    <a:cubicBezTo>
                      <a:pt x="476" y="393"/>
                      <a:pt x="476" y="391"/>
                      <a:pt x="476" y="388"/>
                    </a:cubicBezTo>
                    <a:cubicBezTo>
                      <a:pt x="476" y="386"/>
                      <a:pt x="476" y="384"/>
                      <a:pt x="475" y="383"/>
                    </a:cubicBezTo>
                    <a:cubicBezTo>
                      <a:pt x="475" y="382"/>
                      <a:pt x="474" y="382"/>
                      <a:pt x="474" y="382"/>
                    </a:cubicBezTo>
                    <a:cubicBezTo>
                      <a:pt x="473" y="382"/>
                      <a:pt x="472" y="382"/>
                      <a:pt x="472" y="383"/>
                    </a:cubicBezTo>
                    <a:cubicBezTo>
                      <a:pt x="472" y="384"/>
                      <a:pt x="472" y="386"/>
                      <a:pt x="472" y="388"/>
                    </a:cubicBezTo>
                    <a:cubicBezTo>
                      <a:pt x="472" y="391"/>
                      <a:pt x="472" y="393"/>
                      <a:pt x="472" y="394"/>
                    </a:cubicBezTo>
                    <a:cubicBezTo>
                      <a:pt x="472" y="394"/>
                      <a:pt x="473" y="395"/>
                      <a:pt x="474" y="395"/>
                    </a:cubicBezTo>
                    <a:cubicBezTo>
                      <a:pt x="474" y="395"/>
                      <a:pt x="475" y="394"/>
                      <a:pt x="475" y="393"/>
                    </a:cubicBezTo>
                    <a:close/>
                    <a:moveTo>
                      <a:pt x="475" y="346"/>
                    </a:moveTo>
                    <a:lnTo>
                      <a:pt x="475" y="346"/>
                    </a:lnTo>
                    <a:cubicBezTo>
                      <a:pt x="476" y="345"/>
                      <a:pt x="476" y="344"/>
                      <a:pt x="476" y="341"/>
                    </a:cubicBezTo>
                    <a:cubicBezTo>
                      <a:pt x="476" y="339"/>
                      <a:pt x="476" y="337"/>
                      <a:pt x="475" y="336"/>
                    </a:cubicBezTo>
                    <a:cubicBezTo>
                      <a:pt x="475" y="335"/>
                      <a:pt x="474" y="335"/>
                      <a:pt x="474" y="335"/>
                    </a:cubicBezTo>
                    <a:cubicBezTo>
                      <a:pt x="473" y="335"/>
                      <a:pt x="472" y="335"/>
                      <a:pt x="472" y="336"/>
                    </a:cubicBezTo>
                    <a:cubicBezTo>
                      <a:pt x="472" y="337"/>
                      <a:pt x="472" y="339"/>
                      <a:pt x="472" y="341"/>
                    </a:cubicBezTo>
                    <a:cubicBezTo>
                      <a:pt x="472" y="344"/>
                      <a:pt x="472" y="345"/>
                      <a:pt x="472" y="346"/>
                    </a:cubicBezTo>
                    <a:cubicBezTo>
                      <a:pt x="472" y="347"/>
                      <a:pt x="473" y="348"/>
                      <a:pt x="474" y="348"/>
                    </a:cubicBezTo>
                    <a:cubicBezTo>
                      <a:pt x="474" y="348"/>
                      <a:pt x="475" y="347"/>
                      <a:pt x="475" y="346"/>
                    </a:cubicBezTo>
                    <a:close/>
                    <a:moveTo>
                      <a:pt x="457" y="346"/>
                    </a:moveTo>
                    <a:lnTo>
                      <a:pt x="457" y="346"/>
                    </a:lnTo>
                    <a:cubicBezTo>
                      <a:pt x="457" y="345"/>
                      <a:pt x="458" y="344"/>
                      <a:pt x="458" y="341"/>
                    </a:cubicBezTo>
                    <a:cubicBezTo>
                      <a:pt x="458" y="339"/>
                      <a:pt x="457" y="337"/>
                      <a:pt x="457" y="336"/>
                    </a:cubicBezTo>
                    <a:cubicBezTo>
                      <a:pt x="457" y="335"/>
                      <a:pt x="456" y="335"/>
                      <a:pt x="456" y="335"/>
                    </a:cubicBezTo>
                    <a:cubicBezTo>
                      <a:pt x="455" y="335"/>
                      <a:pt x="454" y="335"/>
                      <a:pt x="454" y="336"/>
                    </a:cubicBezTo>
                    <a:cubicBezTo>
                      <a:pt x="454" y="337"/>
                      <a:pt x="454" y="339"/>
                      <a:pt x="454" y="341"/>
                    </a:cubicBezTo>
                    <a:cubicBezTo>
                      <a:pt x="454" y="344"/>
                      <a:pt x="454" y="345"/>
                      <a:pt x="454" y="346"/>
                    </a:cubicBezTo>
                    <a:cubicBezTo>
                      <a:pt x="454" y="347"/>
                      <a:pt x="455" y="348"/>
                      <a:pt x="456" y="348"/>
                    </a:cubicBezTo>
                    <a:cubicBezTo>
                      <a:pt x="456" y="348"/>
                      <a:pt x="457" y="347"/>
                      <a:pt x="457" y="346"/>
                    </a:cubicBezTo>
                    <a:close/>
                    <a:moveTo>
                      <a:pt x="439" y="393"/>
                    </a:moveTo>
                    <a:lnTo>
                      <a:pt x="439" y="393"/>
                    </a:lnTo>
                    <a:cubicBezTo>
                      <a:pt x="439" y="393"/>
                      <a:pt x="440" y="391"/>
                      <a:pt x="440" y="388"/>
                    </a:cubicBezTo>
                    <a:cubicBezTo>
                      <a:pt x="440" y="386"/>
                      <a:pt x="439" y="384"/>
                      <a:pt x="439" y="383"/>
                    </a:cubicBezTo>
                    <a:cubicBezTo>
                      <a:pt x="439" y="382"/>
                      <a:pt x="438" y="382"/>
                      <a:pt x="438" y="382"/>
                    </a:cubicBezTo>
                    <a:cubicBezTo>
                      <a:pt x="437" y="382"/>
                      <a:pt x="436" y="382"/>
                      <a:pt x="436" y="383"/>
                    </a:cubicBezTo>
                    <a:cubicBezTo>
                      <a:pt x="436" y="384"/>
                      <a:pt x="436" y="386"/>
                      <a:pt x="436" y="388"/>
                    </a:cubicBezTo>
                    <a:cubicBezTo>
                      <a:pt x="436" y="391"/>
                      <a:pt x="436" y="393"/>
                      <a:pt x="436" y="394"/>
                    </a:cubicBezTo>
                    <a:cubicBezTo>
                      <a:pt x="436" y="394"/>
                      <a:pt x="437" y="395"/>
                      <a:pt x="438" y="395"/>
                    </a:cubicBezTo>
                    <a:cubicBezTo>
                      <a:pt x="438" y="395"/>
                      <a:pt x="439" y="394"/>
                      <a:pt x="439" y="393"/>
                    </a:cubicBezTo>
                    <a:close/>
                    <a:moveTo>
                      <a:pt x="421" y="441"/>
                    </a:moveTo>
                    <a:lnTo>
                      <a:pt x="421" y="441"/>
                    </a:lnTo>
                    <a:cubicBezTo>
                      <a:pt x="421" y="440"/>
                      <a:pt x="421" y="438"/>
                      <a:pt x="422" y="436"/>
                    </a:cubicBezTo>
                    <a:cubicBezTo>
                      <a:pt x="422" y="433"/>
                      <a:pt x="421" y="432"/>
                      <a:pt x="421" y="431"/>
                    </a:cubicBezTo>
                    <a:cubicBezTo>
                      <a:pt x="421" y="430"/>
                      <a:pt x="420" y="429"/>
                      <a:pt x="419" y="429"/>
                    </a:cubicBezTo>
                    <a:cubicBezTo>
                      <a:pt x="419" y="429"/>
                      <a:pt x="418" y="430"/>
                      <a:pt x="418" y="431"/>
                    </a:cubicBezTo>
                    <a:cubicBezTo>
                      <a:pt x="418" y="431"/>
                      <a:pt x="417" y="433"/>
                      <a:pt x="417" y="436"/>
                    </a:cubicBezTo>
                    <a:cubicBezTo>
                      <a:pt x="417" y="438"/>
                      <a:pt x="418" y="440"/>
                      <a:pt x="418" y="441"/>
                    </a:cubicBezTo>
                    <a:cubicBezTo>
                      <a:pt x="418" y="442"/>
                      <a:pt x="419" y="442"/>
                      <a:pt x="419" y="442"/>
                    </a:cubicBezTo>
                    <a:cubicBezTo>
                      <a:pt x="420" y="442"/>
                      <a:pt x="421" y="442"/>
                      <a:pt x="421" y="441"/>
                    </a:cubicBezTo>
                    <a:close/>
                    <a:moveTo>
                      <a:pt x="421" y="346"/>
                    </a:moveTo>
                    <a:lnTo>
                      <a:pt x="421" y="346"/>
                    </a:lnTo>
                    <a:cubicBezTo>
                      <a:pt x="421" y="345"/>
                      <a:pt x="421" y="344"/>
                      <a:pt x="422" y="341"/>
                    </a:cubicBezTo>
                    <a:cubicBezTo>
                      <a:pt x="422" y="339"/>
                      <a:pt x="421" y="337"/>
                      <a:pt x="421" y="336"/>
                    </a:cubicBezTo>
                    <a:cubicBezTo>
                      <a:pt x="421" y="335"/>
                      <a:pt x="420" y="335"/>
                      <a:pt x="419" y="335"/>
                    </a:cubicBezTo>
                    <a:cubicBezTo>
                      <a:pt x="419" y="335"/>
                      <a:pt x="418" y="335"/>
                      <a:pt x="418" y="336"/>
                    </a:cubicBezTo>
                    <a:cubicBezTo>
                      <a:pt x="418" y="337"/>
                      <a:pt x="417" y="339"/>
                      <a:pt x="417" y="341"/>
                    </a:cubicBezTo>
                    <a:cubicBezTo>
                      <a:pt x="417" y="344"/>
                      <a:pt x="418" y="345"/>
                      <a:pt x="418" y="346"/>
                    </a:cubicBezTo>
                    <a:cubicBezTo>
                      <a:pt x="418" y="347"/>
                      <a:pt x="419" y="348"/>
                      <a:pt x="419" y="348"/>
                    </a:cubicBezTo>
                    <a:cubicBezTo>
                      <a:pt x="420" y="348"/>
                      <a:pt x="421" y="347"/>
                      <a:pt x="421" y="346"/>
                    </a:cubicBezTo>
                    <a:close/>
                    <a:moveTo>
                      <a:pt x="403" y="393"/>
                    </a:moveTo>
                    <a:lnTo>
                      <a:pt x="403" y="393"/>
                    </a:lnTo>
                    <a:cubicBezTo>
                      <a:pt x="403" y="393"/>
                      <a:pt x="403" y="391"/>
                      <a:pt x="403" y="388"/>
                    </a:cubicBezTo>
                    <a:cubicBezTo>
                      <a:pt x="403" y="386"/>
                      <a:pt x="403" y="384"/>
                      <a:pt x="403" y="383"/>
                    </a:cubicBezTo>
                    <a:cubicBezTo>
                      <a:pt x="403" y="382"/>
                      <a:pt x="402" y="382"/>
                      <a:pt x="401" y="382"/>
                    </a:cubicBezTo>
                    <a:cubicBezTo>
                      <a:pt x="401" y="382"/>
                      <a:pt x="400" y="382"/>
                      <a:pt x="400" y="383"/>
                    </a:cubicBezTo>
                    <a:cubicBezTo>
                      <a:pt x="400" y="384"/>
                      <a:pt x="399" y="386"/>
                      <a:pt x="399" y="388"/>
                    </a:cubicBezTo>
                    <a:cubicBezTo>
                      <a:pt x="399" y="391"/>
                      <a:pt x="400" y="393"/>
                      <a:pt x="400" y="394"/>
                    </a:cubicBezTo>
                    <a:cubicBezTo>
                      <a:pt x="400" y="394"/>
                      <a:pt x="401" y="395"/>
                      <a:pt x="401" y="395"/>
                    </a:cubicBezTo>
                    <a:cubicBezTo>
                      <a:pt x="402" y="395"/>
                      <a:pt x="403" y="394"/>
                      <a:pt x="403" y="393"/>
                    </a:cubicBezTo>
                    <a:close/>
                    <a:moveTo>
                      <a:pt x="457" y="274"/>
                    </a:moveTo>
                    <a:lnTo>
                      <a:pt x="457" y="274"/>
                    </a:lnTo>
                    <a:cubicBezTo>
                      <a:pt x="463" y="274"/>
                      <a:pt x="468" y="275"/>
                      <a:pt x="473" y="276"/>
                    </a:cubicBezTo>
                    <a:lnTo>
                      <a:pt x="473" y="192"/>
                    </a:lnTo>
                    <a:lnTo>
                      <a:pt x="150" y="192"/>
                    </a:lnTo>
                    <a:lnTo>
                      <a:pt x="150" y="388"/>
                    </a:lnTo>
                    <a:lnTo>
                      <a:pt x="348" y="388"/>
                    </a:lnTo>
                    <a:cubicBezTo>
                      <a:pt x="348" y="387"/>
                      <a:pt x="348" y="385"/>
                      <a:pt x="348" y="384"/>
                    </a:cubicBezTo>
                    <a:cubicBezTo>
                      <a:pt x="348" y="323"/>
                      <a:pt x="397" y="274"/>
                      <a:pt x="457" y="274"/>
                    </a:cubicBezTo>
                    <a:close/>
                    <a:moveTo>
                      <a:pt x="352" y="414"/>
                    </a:moveTo>
                    <a:lnTo>
                      <a:pt x="352" y="414"/>
                    </a:lnTo>
                    <a:lnTo>
                      <a:pt x="324" y="414"/>
                    </a:lnTo>
                    <a:lnTo>
                      <a:pt x="324" y="438"/>
                    </a:lnTo>
                    <a:lnTo>
                      <a:pt x="363" y="438"/>
                    </a:lnTo>
                    <a:cubicBezTo>
                      <a:pt x="358" y="431"/>
                      <a:pt x="355" y="423"/>
                      <a:pt x="352" y="414"/>
                    </a:cubicBezTo>
                    <a:close/>
                    <a:moveTo>
                      <a:pt x="400" y="431"/>
                    </a:moveTo>
                    <a:lnTo>
                      <a:pt x="400" y="431"/>
                    </a:lnTo>
                    <a:cubicBezTo>
                      <a:pt x="400" y="431"/>
                      <a:pt x="399" y="433"/>
                      <a:pt x="399" y="436"/>
                    </a:cubicBezTo>
                    <a:cubicBezTo>
                      <a:pt x="399" y="438"/>
                      <a:pt x="400" y="440"/>
                      <a:pt x="400" y="441"/>
                    </a:cubicBezTo>
                    <a:cubicBezTo>
                      <a:pt x="400" y="441"/>
                      <a:pt x="400" y="441"/>
                      <a:pt x="400" y="441"/>
                    </a:cubicBezTo>
                    <a:cubicBezTo>
                      <a:pt x="400" y="442"/>
                      <a:pt x="401" y="442"/>
                      <a:pt x="401" y="442"/>
                    </a:cubicBezTo>
                    <a:cubicBezTo>
                      <a:pt x="401" y="442"/>
                      <a:pt x="401" y="442"/>
                      <a:pt x="401" y="442"/>
                    </a:cubicBezTo>
                    <a:cubicBezTo>
                      <a:pt x="402" y="442"/>
                      <a:pt x="403" y="442"/>
                      <a:pt x="403" y="441"/>
                    </a:cubicBezTo>
                    <a:cubicBezTo>
                      <a:pt x="403" y="440"/>
                      <a:pt x="403" y="438"/>
                      <a:pt x="403" y="436"/>
                    </a:cubicBezTo>
                    <a:cubicBezTo>
                      <a:pt x="403" y="433"/>
                      <a:pt x="403" y="432"/>
                      <a:pt x="403" y="431"/>
                    </a:cubicBezTo>
                    <a:cubicBezTo>
                      <a:pt x="403" y="430"/>
                      <a:pt x="402" y="429"/>
                      <a:pt x="401" y="429"/>
                    </a:cubicBezTo>
                    <a:cubicBezTo>
                      <a:pt x="401" y="429"/>
                      <a:pt x="400" y="430"/>
                      <a:pt x="400" y="431"/>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8" name="Group 17">
              <a:extLst>
                <a:ext uri="{FF2B5EF4-FFF2-40B4-BE49-F238E27FC236}">
                  <a16:creationId xmlns:a16="http://schemas.microsoft.com/office/drawing/2014/main" id="{390AC99B-DD36-4B5A-868E-34C5CA877678}"/>
                </a:ext>
              </a:extLst>
            </p:cNvPr>
            <p:cNvGrpSpPr/>
            <p:nvPr/>
          </p:nvGrpSpPr>
          <p:grpSpPr>
            <a:xfrm>
              <a:off x="469900" y="3907644"/>
              <a:ext cx="5900420" cy="532606"/>
              <a:chOff x="469900" y="3907644"/>
              <a:chExt cx="5900420" cy="532606"/>
            </a:xfrm>
          </p:grpSpPr>
          <p:sp>
            <p:nvSpPr>
              <p:cNvPr id="85" name="Rounded Rectangle 2">
                <a:extLst>
                  <a:ext uri="{FF2B5EF4-FFF2-40B4-BE49-F238E27FC236}">
                    <a16:creationId xmlns:a16="http://schemas.microsoft.com/office/drawing/2014/main" id="{6E427DD1-2169-43F5-A6B2-B53F036CAB80}"/>
                  </a:ext>
                </a:extLst>
              </p:cNvPr>
              <p:cNvSpPr/>
              <p:nvPr/>
            </p:nvSpPr>
            <p:spPr bwMode="gray">
              <a:xfrm>
                <a:off x="1343442" y="3907644"/>
                <a:ext cx="5026878"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6" name="Rounded Rectangle 3">
                <a:extLst>
                  <a:ext uri="{FF2B5EF4-FFF2-40B4-BE49-F238E27FC236}">
                    <a16:creationId xmlns:a16="http://schemas.microsoft.com/office/drawing/2014/main" id="{1B6977C4-F249-4F64-8C6C-E224E53894A0}"/>
                  </a:ext>
                </a:extLst>
              </p:cNvPr>
              <p:cNvSpPr/>
              <p:nvPr/>
            </p:nvSpPr>
            <p:spPr bwMode="gray">
              <a:xfrm>
                <a:off x="1452594" y="3907644"/>
                <a:ext cx="4814020"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buFont typeface="Wingdings 2" pitchFamily="18" charset="2"/>
                  <a:buNone/>
                </a:pPr>
                <a:r>
                  <a:rPr lang="en-US" sz="1200" dirty="0"/>
                  <a:t>Leveraging emerging analytical tools and techniques towards design of FRS for dashboard </a:t>
                </a:r>
              </a:p>
            </p:txBody>
          </p:sp>
          <p:sp>
            <p:nvSpPr>
              <p:cNvPr id="87" name="Oval 86">
                <a:extLst>
                  <a:ext uri="{FF2B5EF4-FFF2-40B4-BE49-F238E27FC236}">
                    <a16:creationId xmlns:a16="http://schemas.microsoft.com/office/drawing/2014/main" id="{3B50832C-2759-4970-B86F-FB54564DD33E}"/>
                  </a:ext>
                </a:extLst>
              </p:cNvPr>
              <p:cNvSpPr>
                <a:spLocks noChangeAspect="1"/>
              </p:cNvSpPr>
              <p:nvPr/>
            </p:nvSpPr>
            <p:spPr bwMode="gray">
              <a:xfrm>
                <a:off x="894939" y="4131680"/>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8" name="Rounded Rectangle 5">
                <a:extLst>
                  <a:ext uri="{FF2B5EF4-FFF2-40B4-BE49-F238E27FC236}">
                    <a16:creationId xmlns:a16="http://schemas.microsoft.com/office/drawing/2014/main" id="{77A62585-AE05-4A46-AFDF-8582FDB2766E}"/>
                  </a:ext>
                </a:extLst>
              </p:cNvPr>
              <p:cNvSpPr/>
              <p:nvPr/>
            </p:nvSpPr>
            <p:spPr bwMode="gray">
              <a:xfrm>
                <a:off x="469900" y="3908771"/>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9" name="Rounded Rectangle 6">
                <a:extLst>
                  <a:ext uri="{FF2B5EF4-FFF2-40B4-BE49-F238E27FC236}">
                    <a16:creationId xmlns:a16="http://schemas.microsoft.com/office/drawing/2014/main" id="{07ECEBF9-8C3A-4458-99F4-2882C508C165}"/>
                  </a:ext>
                </a:extLst>
              </p:cNvPr>
              <p:cNvSpPr/>
              <p:nvPr/>
            </p:nvSpPr>
            <p:spPr bwMode="gray">
              <a:xfrm>
                <a:off x="496303" y="3908771"/>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96" name="Oval 95">
                <a:extLst>
                  <a:ext uri="{FF2B5EF4-FFF2-40B4-BE49-F238E27FC236}">
                    <a16:creationId xmlns:a16="http://schemas.microsoft.com/office/drawing/2014/main" id="{FF7FC15B-054C-4033-8536-FD1AE94ABE2C}"/>
                  </a:ext>
                </a:extLst>
              </p:cNvPr>
              <p:cNvSpPr/>
              <p:nvPr/>
            </p:nvSpPr>
            <p:spPr bwMode="gray">
              <a:xfrm>
                <a:off x="1163072" y="4132712"/>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97" name="Oval 96">
                <a:extLst>
                  <a:ext uri="{FF2B5EF4-FFF2-40B4-BE49-F238E27FC236}">
                    <a16:creationId xmlns:a16="http://schemas.microsoft.com/office/drawing/2014/main" id="{5B8218B7-2BCE-47DF-917A-79D148E70B17}"/>
                  </a:ext>
                </a:extLst>
              </p:cNvPr>
              <p:cNvSpPr/>
              <p:nvPr/>
            </p:nvSpPr>
            <p:spPr bwMode="gray">
              <a:xfrm>
                <a:off x="1303547" y="4132712"/>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98" name="Straight Connector 97">
                <a:extLst>
                  <a:ext uri="{FF2B5EF4-FFF2-40B4-BE49-F238E27FC236}">
                    <a16:creationId xmlns:a16="http://schemas.microsoft.com/office/drawing/2014/main" id="{084D32DB-E599-49C6-8F51-5F8ADC7550ED}"/>
                  </a:ext>
                </a:extLst>
              </p:cNvPr>
              <p:cNvCxnSpPr>
                <a:cxnSpLocks/>
              </p:cNvCxnSpPr>
              <p:nvPr/>
            </p:nvCxnSpPr>
            <p:spPr>
              <a:xfrm>
                <a:off x="1204223" y="4173947"/>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34" name="Freeform 364">
                <a:extLst>
                  <a:ext uri="{FF2B5EF4-FFF2-40B4-BE49-F238E27FC236}">
                    <a16:creationId xmlns:a16="http://schemas.microsoft.com/office/drawing/2014/main" id="{200C10CA-D9B7-4D9A-AE91-1C968D0C8408}"/>
                  </a:ext>
                </a:extLst>
              </p:cNvPr>
              <p:cNvSpPr>
                <a:spLocks noChangeAspect="1" noEditPoints="1"/>
              </p:cNvSpPr>
              <p:nvPr/>
            </p:nvSpPr>
            <p:spPr bwMode="auto">
              <a:xfrm>
                <a:off x="635025" y="3989956"/>
                <a:ext cx="369064" cy="367982"/>
              </a:xfrm>
              <a:custGeom>
                <a:avLst/>
                <a:gdLst>
                  <a:gd name="T0" fmla="*/ 0 w 512"/>
                  <a:gd name="T1" fmla="*/ 256 h 512"/>
                  <a:gd name="T2" fmla="*/ 512 w 512"/>
                  <a:gd name="T3" fmla="*/ 256 h 512"/>
                  <a:gd name="T4" fmla="*/ 117 w 512"/>
                  <a:gd name="T5" fmla="*/ 362 h 512"/>
                  <a:gd name="T6" fmla="*/ 96 w 512"/>
                  <a:gd name="T7" fmla="*/ 362 h 512"/>
                  <a:gd name="T8" fmla="*/ 106 w 512"/>
                  <a:gd name="T9" fmla="*/ 330 h 512"/>
                  <a:gd name="T10" fmla="*/ 117 w 512"/>
                  <a:gd name="T11" fmla="*/ 362 h 512"/>
                  <a:gd name="T12" fmla="*/ 149 w 512"/>
                  <a:gd name="T13" fmla="*/ 373 h 512"/>
                  <a:gd name="T14" fmla="*/ 138 w 512"/>
                  <a:gd name="T15" fmla="*/ 320 h 512"/>
                  <a:gd name="T16" fmla="*/ 160 w 512"/>
                  <a:gd name="T17" fmla="*/ 320 h 512"/>
                  <a:gd name="T18" fmla="*/ 202 w 512"/>
                  <a:gd name="T19" fmla="*/ 362 h 512"/>
                  <a:gd name="T20" fmla="*/ 181 w 512"/>
                  <a:gd name="T21" fmla="*/ 362 h 512"/>
                  <a:gd name="T22" fmla="*/ 192 w 512"/>
                  <a:gd name="T23" fmla="*/ 277 h 512"/>
                  <a:gd name="T24" fmla="*/ 202 w 512"/>
                  <a:gd name="T25" fmla="*/ 362 h 512"/>
                  <a:gd name="T26" fmla="*/ 234 w 512"/>
                  <a:gd name="T27" fmla="*/ 373 h 512"/>
                  <a:gd name="T28" fmla="*/ 224 w 512"/>
                  <a:gd name="T29" fmla="*/ 277 h 512"/>
                  <a:gd name="T30" fmla="*/ 245 w 512"/>
                  <a:gd name="T31" fmla="*/ 277 h 512"/>
                  <a:gd name="T32" fmla="*/ 288 w 512"/>
                  <a:gd name="T33" fmla="*/ 362 h 512"/>
                  <a:gd name="T34" fmla="*/ 266 w 512"/>
                  <a:gd name="T35" fmla="*/ 362 h 512"/>
                  <a:gd name="T36" fmla="*/ 277 w 512"/>
                  <a:gd name="T37" fmla="*/ 266 h 512"/>
                  <a:gd name="T38" fmla="*/ 288 w 512"/>
                  <a:gd name="T39" fmla="*/ 362 h 512"/>
                  <a:gd name="T40" fmla="*/ 320 w 512"/>
                  <a:gd name="T41" fmla="*/ 373 h 512"/>
                  <a:gd name="T42" fmla="*/ 309 w 512"/>
                  <a:gd name="T43" fmla="*/ 245 h 512"/>
                  <a:gd name="T44" fmla="*/ 330 w 512"/>
                  <a:gd name="T45" fmla="*/ 245 h 512"/>
                  <a:gd name="T46" fmla="*/ 373 w 512"/>
                  <a:gd name="T47" fmla="*/ 362 h 512"/>
                  <a:gd name="T48" fmla="*/ 352 w 512"/>
                  <a:gd name="T49" fmla="*/ 362 h 512"/>
                  <a:gd name="T50" fmla="*/ 362 w 512"/>
                  <a:gd name="T51" fmla="*/ 202 h 512"/>
                  <a:gd name="T52" fmla="*/ 373 w 512"/>
                  <a:gd name="T53" fmla="*/ 362 h 512"/>
                  <a:gd name="T54" fmla="*/ 384 w 512"/>
                  <a:gd name="T55" fmla="*/ 181 h 512"/>
                  <a:gd name="T56" fmla="*/ 373 w 512"/>
                  <a:gd name="T57" fmla="*/ 153 h 512"/>
                  <a:gd name="T58" fmla="*/ 277 w 512"/>
                  <a:gd name="T59" fmla="*/ 245 h 512"/>
                  <a:gd name="T60" fmla="*/ 113 w 512"/>
                  <a:gd name="T61" fmla="*/ 307 h 512"/>
                  <a:gd name="T62" fmla="*/ 98 w 512"/>
                  <a:gd name="T63" fmla="*/ 305 h 512"/>
                  <a:gd name="T64" fmla="*/ 185 w 512"/>
                  <a:gd name="T65" fmla="*/ 226 h 512"/>
                  <a:gd name="T66" fmla="*/ 273 w 512"/>
                  <a:gd name="T67" fmla="*/ 224 h 512"/>
                  <a:gd name="T68" fmla="*/ 341 w 512"/>
                  <a:gd name="T69" fmla="*/ 138 h 512"/>
                  <a:gd name="T70" fmla="*/ 341 w 512"/>
                  <a:gd name="T71" fmla="*/ 117 h 512"/>
                  <a:gd name="T72" fmla="*/ 388 w 512"/>
                  <a:gd name="T73" fmla="*/ 118 h 512"/>
                  <a:gd name="T74" fmla="*/ 394 w 512"/>
                  <a:gd name="T75"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17" y="362"/>
                    </a:moveTo>
                    <a:cubicBezTo>
                      <a:pt x="117" y="368"/>
                      <a:pt x="112" y="373"/>
                      <a:pt x="106" y="373"/>
                    </a:cubicBezTo>
                    <a:cubicBezTo>
                      <a:pt x="100" y="373"/>
                      <a:pt x="96" y="368"/>
                      <a:pt x="96" y="362"/>
                    </a:cubicBezTo>
                    <a:cubicBezTo>
                      <a:pt x="96" y="341"/>
                      <a:pt x="96" y="341"/>
                      <a:pt x="96" y="341"/>
                    </a:cubicBezTo>
                    <a:cubicBezTo>
                      <a:pt x="96" y="335"/>
                      <a:pt x="100" y="330"/>
                      <a:pt x="106" y="330"/>
                    </a:cubicBezTo>
                    <a:cubicBezTo>
                      <a:pt x="112" y="330"/>
                      <a:pt x="117" y="335"/>
                      <a:pt x="117" y="341"/>
                    </a:cubicBezTo>
                    <a:lnTo>
                      <a:pt x="117" y="362"/>
                    </a:lnTo>
                    <a:close/>
                    <a:moveTo>
                      <a:pt x="160" y="362"/>
                    </a:moveTo>
                    <a:cubicBezTo>
                      <a:pt x="160" y="368"/>
                      <a:pt x="155" y="373"/>
                      <a:pt x="149" y="373"/>
                    </a:cubicBezTo>
                    <a:cubicBezTo>
                      <a:pt x="143" y="373"/>
                      <a:pt x="138" y="368"/>
                      <a:pt x="138" y="362"/>
                    </a:cubicBezTo>
                    <a:cubicBezTo>
                      <a:pt x="138" y="320"/>
                      <a:pt x="138" y="320"/>
                      <a:pt x="138" y="320"/>
                    </a:cubicBezTo>
                    <a:cubicBezTo>
                      <a:pt x="138" y="314"/>
                      <a:pt x="143" y="309"/>
                      <a:pt x="149" y="309"/>
                    </a:cubicBezTo>
                    <a:cubicBezTo>
                      <a:pt x="155" y="309"/>
                      <a:pt x="160" y="314"/>
                      <a:pt x="160" y="320"/>
                    </a:cubicBezTo>
                    <a:lnTo>
                      <a:pt x="160" y="362"/>
                    </a:lnTo>
                    <a:close/>
                    <a:moveTo>
                      <a:pt x="202" y="362"/>
                    </a:moveTo>
                    <a:cubicBezTo>
                      <a:pt x="202" y="368"/>
                      <a:pt x="198" y="373"/>
                      <a:pt x="192" y="373"/>
                    </a:cubicBezTo>
                    <a:cubicBezTo>
                      <a:pt x="186" y="373"/>
                      <a:pt x="181" y="368"/>
                      <a:pt x="181" y="362"/>
                    </a:cubicBezTo>
                    <a:cubicBezTo>
                      <a:pt x="181" y="288"/>
                      <a:pt x="181" y="288"/>
                      <a:pt x="181" y="288"/>
                    </a:cubicBezTo>
                    <a:cubicBezTo>
                      <a:pt x="181" y="282"/>
                      <a:pt x="186" y="277"/>
                      <a:pt x="192" y="277"/>
                    </a:cubicBezTo>
                    <a:cubicBezTo>
                      <a:pt x="198" y="277"/>
                      <a:pt x="202" y="282"/>
                      <a:pt x="202" y="288"/>
                    </a:cubicBezTo>
                    <a:lnTo>
                      <a:pt x="202" y="362"/>
                    </a:lnTo>
                    <a:close/>
                    <a:moveTo>
                      <a:pt x="245" y="362"/>
                    </a:moveTo>
                    <a:cubicBezTo>
                      <a:pt x="245" y="368"/>
                      <a:pt x="240" y="373"/>
                      <a:pt x="234" y="373"/>
                    </a:cubicBezTo>
                    <a:cubicBezTo>
                      <a:pt x="228" y="373"/>
                      <a:pt x="224" y="368"/>
                      <a:pt x="224" y="362"/>
                    </a:cubicBezTo>
                    <a:cubicBezTo>
                      <a:pt x="224" y="277"/>
                      <a:pt x="224" y="277"/>
                      <a:pt x="224" y="277"/>
                    </a:cubicBezTo>
                    <a:cubicBezTo>
                      <a:pt x="224" y="271"/>
                      <a:pt x="228" y="266"/>
                      <a:pt x="234" y="266"/>
                    </a:cubicBezTo>
                    <a:cubicBezTo>
                      <a:pt x="240" y="266"/>
                      <a:pt x="245" y="271"/>
                      <a:pt x="245" y="277"/>
                    </a:cubicBezTo>
                    <a:lnTo>
                      <a:pt x="245" y="362"/>
                    </a:lnTo>
                    <a:close/>
                    <a:moveTo>
                      <a:pt x="288" y="362"/>
                    </a:moveTo>
                    <a:cubicBezTo>
                      <a:pt x="288" y="368"/>
                      <a:pt x="283" y="373"/>
                      <a:pt x="277" y="373"/>
                    </a:cubicBezTo>
                    <a:cubicBezTo>
                      <a:pt x="271" y="373"/>
                      <a:pt x="266" y="368"/>
                      <a:pt x="266" y="362"/>
                    </a:cubicBezTo>
                    <a:cubicBezTo>
                      <a:pt x="266" y="277"/>
                      <a:pt x="266" y="277"/>
                      <a:pt x="266" y="277"/>
                    </a:cubicBezTo>
                    <a:cubicBezTo>
                      <a:pt x="266" y="271"/>
                      <a:pt x="271" y="266"/>
                      <a:pt x="277" y="266"/>
                    </a:cubicBezTo>
                    <a:cubicBezTo>
                      <a:pt x="283" y="266"/>
                      <a:pt x="288" y="271"/>
                      <a:pt x="288" y="277"/>
                    </a:cubicBezTo>
                    <a:lnTo>
                      <a:pt x="288" y="362"/>
                    </a:lnTo>
                    <a:close/>
                    <a:moveTo>
                      <a:pt x="330" y="362"/>
                    </a:moveTo>
                    <a:cubicBezTo>
                      <a:pt x="330" y="368"/>
                      <a:pt x="326" y="373"/>
                      <a:pt x="320" y="373"/>
                    </a:cubicBezTo>
                    <a:cubicBezTo>
                      <a:pt x="314" y="373"/>
                      <a:pt x="309" y="368"/>
                      <a:pt x="309" y="362"/>
                    </a:cubicBezTo>
                    <a:cubicBezTo>
                      <a:pt x="309" y="245"/>
                      <a:pt x="309" y="245"/>
                      <a:pt x="309" y="245"/>
                    </a:cubicBezTo>
                    <a:cubicBezTo>
                      <a:pt x="309" y="239"/>
                      <a:pt x="314" y="234"/>
                      <a:pt x="320" y="234"/>
                    </a:cubicBezTo>
                    <a:cubicBezTo>
                      <a:pt x="326" y="234"/>
                      <a:pt x="330" y="239"/>
                      <a:pt x="330" y="245"/>
                    </a:cubicBezTo>
                    <a:lnTo>
                      <a:pt x="330" y="362"/>
                    </a:lnTo>
                    <a:close/>
                    <a:moveTo>
                      <a:pt x="373" y="362"/>
                    </a:moveTo>
                    <a:cubicBezTo>
                      <a:pt x="373" y="368"/>
                      <a:pt x="368" y="373"/>
                      <a:pt x="362" y="373"/>
                    </a:cubicBezTo>
                    <a:cubicBezTo>
                      <a:pt x="356" y="373"/>
                      <a:pt x="352" y="368"/>
                      <a:pt x="352" y="362"/>
                    </a:cubicBezTo>
                    <a:cubicBezTo>
                      <a:pt x="352" y="213"/>
                      <a:pt x="352" y="213"/>
                      <a:pt x="352" y="213"/>
                    </a:cubicBezTo>
                    <a:cubicBezTo>
                      <a:pt x="352" y="207"/>
                      <a:pt x="356" y="202"/>
                      <a:pt x="362" y="202"/>
                    </a:cubicBezTo>
                    <a:cubicBezTo>
                      <a:pt x="368" y="202"/>
                      <a:pt x="373" y="207"/>
                      <a:pt x="373" y="213"/>
                    </a:cubicBezTo>
                    <a:lnTo>
                      <a:pt x="373" y="362"/>
                    </a:lnTo>
                    <a:close/>
                    <a:moveTo>
                      <a:pt x="394" y="170"/>
                    </a:moveTo>
                    <a:cubicBezTo>
                      <a:pt x="394" y="176"/>
                      <a:pt x="390" y="181"/>
                      <a:pt x="384" y="181"/>
                    </a:cubicBezTo>
                    <a:cubicBezTo>
                      <a:pt x="378" y="181"/>
                      <a:pt x="373" y="176"/>
                      <a:pt x="373" y="170"/>
                    </a:cubicBezTo>
                    <a:cubicBezTo>
                      <a:pt x="373" y="153"/>
                      <a:pt x="373" y="153"/>
                      <a:pt x="373" y="153"/>
                    </a:cubicBezTo>
                    <a:cubicBezTo>
                      <a:pt x="285" y="242"/>
                      <a:pt x="285" y="242"/>
                      <a:pt x="285" y="242"/>
                    </a:cubicBezTo>
                    <a:cubicBezTo>
                      <a:pt x="283" y="244"/>
                      <a:pt x="280" y="245"/>
                      <a:pt x="277" y="245"/>
                    </a:cubicBezTo>
                    <a:cubicBezTo>
                      <a:pt x="195" y="245"/>
                      <a:pt x="195" y="245"/>
                      <a:pt x="195" y="245"/>
                    </a:cubicBezTo>
                    <a:cubicBezTo>
                      <a:pt x="113" y="307"/>
                      <a:pt x="113" y="307"/>
                      <a:pt x="113" y="307"/>
                    </a:cubicBezTo>
                    <a:cubicBezTo>
                      <a:pt x="111" y="308"/>
                      <a:pt x="109" y="309"/>
                      <a:pt x="106" y="309"/>
                    </a:cubicBezTo>
                    <a:cubicBezTo>
                      <a:pt x="103" y="309"/>
                      <a:pt x="100" y="308"/>
                      <a:pt x="98" y="305"/>
                    </a:cubicBezTo>
                    <a:cubicBezTo>
                      <a:pt x="94" y="300"/>
                      <a:pt x="95" y="293"/>
                      <a:pt x="100" y="290"/>
                    </a:cubicBezTo>
                    <a:cubicBezTo>
                      <a:pt x="185" y="226"/>
                      <a:pt x="185" y="226"/>
                      <a:pt x="185" y="226"/>
                    </a:cubicBezTo>
                    <a:cubicBezTo>
                      <a:pt x="187" y="224"/>
                      <a:pt x="189" y="224"/>
                      <a:pt x="192" y="224"/>
                    </a:cubicBezTo>
                    <a:cubicBezTo>
                      <a:pt x="273" y="224"/>
                      <a:pt x="273" y="224"/>
                      <a:pt x="273" y="224"/>
                    </a:cubicBezTo>
                    <a:cubicBezTo>
                      <a:pt x="358" y="138"/>
                      <a:pt x="358" y="138"/>
                      <a:pt x="358" y="138"/>
                    </a:cubicBezTo>
                    <a:cubicBezTo>
                      <a:pt x="341" y="138"/>
                      <a:pt x="341" y="138"/>
                      <a:pt x="341" y="138"/>
                    </a:cubicBezTo>
                    <a:cubicBezTo>
                      <a:pt x="335" y="138"/>
                      <a:pt x="330" y="134"/>
                      <a:pt x="330" y="128"/>
                    </a:cubicBezTo>
                    <a:cubicBezTo>
                      <a:pt x="330" y="122"/>
                      <a:pt x="335" y="117"/>
                      <a:pt x="341" y="117"/>
                    </a:cubicBezTo>
                    <a:cubicBezTo>
                      <a:pt x="384" y="117"/>
                      <a:pt x="384" y="117"/>
                      <a:pt x="384" y="117"/>
                    </a:cubicBezTo>
                    <a:cubicBezTo>
                      <a:pt x="385" y="117"/>
                      <a:pt x="386" y="117"/>
                      <a:pt x="388" y="118"/>
                    </a:cubicBezTo>
                    <a:cubicBezTo>
                      <a:pt x="390" y="119"/>
                      <a:pt x="392" y="121"/>
                      <a:pt x="394" y="124"/>
                    </a:cubicBezTo>
                    <a:cubicBezTo>
                      <a:pt x="394" y="125"/>
                      <a:pt x="394" y="126"/>
                      <a:pt x="394" y="128"/>
                    </a:cubicBezTo>
                    <a:lnTo>
                      <a:pt x="394" y="17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19" name="Group 18">
              <a:extLst>
                <a:ext uri="{FF2B5EF4-FFF2-40B4-BE49-F238E27FC236}">
                  <a16:creationId xmlns:a16="http://schemas.microsoft.com/office/drawing/2014/main" id="{7D45022E-6F4F-49FF-923B-E0D8C58FA91A}"/>
                </a:ext>
              </a:extLst>
            </p:cNvPr>
            <p:cNvGrpSpPr/>
            <p:nvPr/>
          </p:nvGrpSpPr>
          <p:grpSpPr>
            <a:xfrm>
              <a:off x="469900" y="4509312"/>
              <a:ext cx="5900420" cy="532606"/>
              <a:chOff x="469900" y="4509312"/>
              <a:chExt cx="5900420" cy="532606"/>
            </a:xfrm>
          </p:grpSpPr>
          <p:sp>
            <p:nvSpPr>
              <p:cNvPr id="100" name="Rounded Rectangle 2">
                <a:extLst>
                  <a:ext uri="{FF2B5EF4-FFF2-40B4-BE49-F238E27FC236}">
                    <a16:creationId xmlns:a16="http://schemas.microsoft.com/office/drawing/2014/main" id="{F5F15FF1-21FA-4F54-A7E9-7393E07FB41A}"/>
                  </a:ext>
                </a:extLst>
              </p:cNvPr>
              <p:cNvSpPr/>
              <p:nvPr/>
            </p:nvSpPr>
            <p:spPr bwMode="gray">
              <a:xfrm>
                <a:off x="1343442" y="4509312"/>
                <a:ext cx="5026878"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08" name="Rounded Rectangle 3">
                <a:extLst>
                  <a:ext uri="{FF2B5EF4-FFF2-40B4-BE49-F238E27FC236}">
                    <a16:creationId xmlns:a16="http://schemas.microsoft.com/office/drawing/2014/main" id="{7857DD39-227E-4445-A4FB-E035EE64AB47}"/>
                  </a:ext>
                </a:extLst>
              </p:cNvPr>
              <p:cNvSpPr/>
              <p:nvPr/>
            </p:nvSpPr>
            <p:spPr bwMode="gray">
              <a:xfrm>
                <a:off x="1452594" y="4509312"/>
                <a:ext cx="4814020"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buFont typeface="Wingdings 2" pitchFamily="18" charset="2"/>
                  <a:buNone/>
                </a:pPr>
                <a:r>
                  <a:rPr lang="en-US" sz="1200" dirty="0"/>
                  <a:t>Enable Feedback loop mechanism for performance informed decision making</a:t>
                </a:r>
              </a:p>
            </p:txBody>
          </p:sp>
          <p:sp>
            <p:nvSpPr>
              <p:cNvPr id="110" name="Oval 109">
                <a:extLst>
                  <a:ext uri="{FF2B5EF4-FFF2-40B4-BE49-F238E27FC236}">
                    <a16:creationId xmlns:a16="http://schemas.microsoft.com/office/drawing/2014/main" id="{92040D7B-2AF8-403D-80E4-1E650CE7801F}"/>
                  </a:ext>
                </a:extLst>
              </p:cNvPr>
              <p:cNvSpPr>
                <a:spLocks noChangeAspect="1"/>
              </p:cNvSpPr>
              <p:nvPr/>
            </p:nvSpPr>
            <p:spPr bwMode="gray">
              <a:xfrm>
                <a:off x="894939" y="4733348"/>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15" name="Rounded Rectangle 5">
                <a:extLst>
                  <a:ext uri="{FF2B5EF4-FFF2-40B4-BE49-F238E27FC236}">
                    <a16:creationId xmlns:a16="http://schemas.microsoft.com/office/drawing/2014/main" id="{460D8A40-61CC-4F1D-A421-84E457DE6AF4}"/>
                  </a:ext>
                </a:extLst>
              </p:cNvPr>
              <p:cNvSpPr/>
              <p:nvPr/>
            </p:nvSpPr>
            <p:spPr bwMode="gray">
              <a:xfrm>
                <a:off x="469900" y="4510439"/>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16" name="Rounded Rectangle 6">
                <a:extLst>
                  <a:ext uri="{FF2B5EF4-FFF2-40B4-BE49-F238E27FC236}">
                    <a16:creationId xmlns:a16="http://schemas.microsoft.com/office/drawing/2014/main" id="{1250977F-E1A8-4F1B-B304-B0F3C4562DA1}"/>
                  </a:ext>
                </a:extLst>
              </p:cNvPr>
              <p:cNvSpPr/>
              <p:nvPr/>
            </p:nvSpPr>
            <p:spPr bwMode="gray">
              <a:xfrm>
                <a:off x="496303" y="4510439"/>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23" name="Oval 122">
                <a:extLst>
                  <a:ext uri="{FF2B5EF4-FFF2-40B4-BE49-F238E27FC236}">
                    <a16:creationId xmlns:a16="http://schemas.microsoft.com/office/drawing/2014/main" id="{1469A596-EEBD-4B29-86E5-151296E0A3E2}"/>
                  </a:ext>
                </a:extLst>
              </p:cNvPr>
              <p:cNvSpPr/>
              <p:nvPr/>
            </p:nvSpPr>
            <p:spPr bwMode="gray">
              <a:xfrm>
                <a:off x="1163072" y="4734380"/>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24" name="Oval 123">
                <a:extLst>
                  <a:ext uri="{FF2B5EF4-FFF2-40B4-BE49-F238E27FC236}">
                    <a16:creationId xmlns:a16="http://schemas.microsoft.com/office/drawing/2014/main" id="{7CEF6966-05B4-4E1F-9E77-94909C977FAF}"/>
                  </a:ext>
                </a:extLst>
              </p:cNvPr>
              <p:cNvSpPr/>
              <p:nvPr/>
            </p:nvSpPr>
            <p:spPr bwMode="gray">
              <a:xfrm>
                <a:off x="1303547" y="4734380"/>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25" name="Straight Connector 124">
                <a:extLst>
                  <a:ext uri="{FF2B5EF4-FFF2-40B4-BE49-F238E27FC236}">
                    <a16:creationId xmlns:a16="http://schemas.microsoft.com/office/drawing/2014/main" id="{74300DAF-5348-4BEB-A9B5-DF8AE85E5DC9}"/>
                  </a:ext>
                </a:extLst>
              </p:cNvPr>
              <p:cNvCxnSpPr>
                <a:cxnSpLocks/>
              </p:cNvCxnSpPr>
              <p:nvPr/>
            </p:nvCxnSpPr>
            <p:spPr>
              <a:xfrm>
                <a:off x="1204223" y="4775615"/>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36" name="Freeform 254">
                <a:extLst>
                  <a:ext uri="{FF2B5EF4-FFF2-40B4-BE49-F238E27FC236}">
                    <a16:creationId xmlns:a16="http://schemas.microsoft.com/office/drawing/2014/main" id="{834A50E6-6F16-4723-B9DC-3E18FA65BEC9}"/>
                  </a:ext>
                </a:extLst>
              </p:cNvPr>
              <p:cNvSpPr>
                <a:spLocks noChangeAspect="1" noEditPoints="1"/>
              </p:cNvSpPr>
              <p:nvPr/>
            </p:nvSpPr>
            <p:spPr bwMode="auto">
              <a:xfrm>
                <a:off x="634176" y="4590777"/>
                <a:ext cx="370763" cy="369676"/>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6 w 512"/>
                  <a:gd name="T11" fmla="*/ 341 h 512"/>
                  <a:gd name="T12" fmla="*/ 405 w 512"/>
                  <a:gd name="T13" fmla="*/ 352 h 512"/>
                  <a:gd name="T14" fmla="*/ 218 w 512"/>
                  <a:gd name="T15" fmla="*/ 352 h 512"/>
                  <a:gd name="T16" fmla="*/ 168 w 512"/>
                  <a:gd name="T17" fmla="*/ 412 h 512"/>
                  <a:gd name="T18" fmla="*/ 160 w 512"/>
                  <a:gd name="T19" fmla="*/ 416 h 512"/>
                  <a:gd name="T20" fmla="*/ 156 w 512"/>
                  <a:gd name="T21" fmla="*/ 415 h 512"/>
                  <a:gd name="T22" fmla="*/ 149 w 512"/>
                  <a:gd name="T23" fmla="*/ 405 h 512"/>
                  <a:gd name="T24" fmla="*/ 149 w 512"/>
                  <a:gd name="T25" fmla="*/ 352 h 512"/>
                  <a:gd name="T26" fmla="*/ 106 w 512"/>
                  <a:gd name="T27" fmla="*/ 352 h 512"/>
                  <a:gd name="T28" fmla="*/ 96 w 512"/>
                  <a:gd name="T29" fmla="*/ 341 h 512"/>
                  <a:gd name="T30" fmla="*/ 96 w 512"/>
                  <a:gd name="T31" fmla="*/ 149 h 512"/>
                  <a:gd name="T32" fmla="*/ 106 w 512"/>
                  <a:gd name="T33" fmla="*/ 138 h 512"/>
                  <a:gd name="T34" fmla="*/ 405 w 512"/>
                  <a:gd name="T35" fmla="*/ 138 h 512"/>
                  <a:gd name="T36" fmla="*/ 416 w 512"/>
                  <a:gd name="T37" fmla="*/ 149 h 512"/>
                  <a:gd name="T38" fmla="*/ 416 w 512"/>
                  <a:gd name="T39" fmla="*/ 341 h 512"/>
                  <a:gd name="T40" fmla="*/ 117 w 512"/>
                  <a:gd name="T41" fmla="*/ 330 h 512"/>
                  <a:gd name="T42" fmla="*/ 160 w 512"/>
                  <a:gd name="T43" fmla="*/ 330 h 512"/>
                  <a:gd name="T44" fmla="*/ 170 w 512"/>
                  <a:gd name="T45" fmla="*/ 341 h 512"/>
                  <a:gd name="T46" fmla="*/ 170 w 512"/>
                  <a:gd name="T47" fmla="*/ 376 h 512"/>
                  <a:gd name="T48" fmla="*/ 205 w 512"/>
                  <a:gd name="T49" fmla="*/ 334 h 512"/>
                  <a:gd name="T50" fmla="*/ 213 w 512"/>
                  <a:gd name="T51" fmla="*/ 330 h 512"/>
                  <a:gd name="T52" fmla="*/ 394 w 512"/>
                  <a:gd name="T53" fmla="*/ 330 h 512"/>
                  <a:gd name="T54" fmla="*/ 394 w 512"/>
                  <a:gd name="T55" fmla="*/ 160 h 512"/>
                  <a:gd name="T56" fmla="*/ 117 w 512"/>
                  <a:gd name="T57" fmla="*/ 160 h 512"/>
                  <a:gd name="T58" fmla="*/ 117 w 512"/>
                  <a:gd name="T59" fmla="*/ 330 h 512"/>
                  <a:gd name="T60" fmla="*/ 149 w 512"/>
                  <a:gd name="T61" fmla="*/ 192 h 512"/>
                  <a:gd name="T62" fmla="*/ 362 w 512"/>
                  <a:gd name="T63" fmla="*/ 192 h 512"/>
                  <a:gd name="T64" fmla="*/ 373 w 512"/>
                  <a:gd name="T65" fmla="*/ 202 h 512"/>
                  <a:gd name="T66" fmla="*/ 362 w 512"/>
                  <a:gd name="T67" fmla="*/ 213 h 512"/>
                  <a:gd name="T68" fmla="*/ 149 w 512"/>
                  <a:gd name="T69" fmla="*/ 213 h 512"/>
                  <a:gd name="T70" fmla="*/ 138 w 512"/>
                  <a:gd name="T71" fmla="*/ 202 h 512"/>
                  <a:gd name="T72" fmla="*/ 149 w 512"/>
                  <a:gd name="T73" fmla="*/ 192 h 512"/>
                  <a:gd name="T74" fmla="*/ 149 w 512"/>
                  <a:gd name="T75" fmla="*/ 234 h 512"/>
                  <a:gd name="T76" fmla="*/ 362 w 512"/>
                  <a:gd name="T77" fmla="*/ 234 h 512"/>
                  <a:gd name="T78" fmla="*/ 373 w 512"/>
                  <a:gd name="T79" fmla="*/ 245 h 512"/>
                  <a:gd name="T80" fmla="*/ 362 w 512"/>
                  <a:gd name="T81" fmla="*/ 256 h 512"/>
                  <a:gd name="T82" fmla="*/ 149 w 512"/>
                  <a:gd name="T83" fmla="*/ 256 h 512"/>
                  <a:gd name="T84" fmla="*/ 138 w 512"/>
                  <a:gd name="T85" fmla="*/ 245 h 512"/>
                  <a:gd name="T86" fmla="*/ 149 w 512"/>
                  <a:gd name="T87" fmla="*/ 234 h 512"/>
                  <a:gd name="T88" fmla="*/ 149 w 512"/>
                  <a:gd name="T89" fmla="*/ 277 h 512"/>
                  <a:gd name="T90" fmla="*/ 362 w 512"/>
                  <a:gd name="T91" fmla="*/ 277 h 512"/>
                  <a:gd name="T92" fmla="*/ 373 w 512"/>
                  <a:gd name="T93" fmla="*/ 288 h 512"/>
                  <a:gd name="T94" fmla="*/ 362 w 512"/>
                  <a:gd name="T95" fmla="*/ 298 h 512"/>
                  <a:gd name="T96" fmla="*/ 149 w 512"/>
                  <a:gd name="T97" fmla="*/ 298 h 512"/>
                  <a:gd name="T98" fmla="*/ 138 w 512"/>
                  <a:gd name="T99" fmla="*/ 288 h 512"/>
                  <a:gd name="T100" fmla="*/ 149 w 512"/>
                  <a:gd name="T101" fmla="*/ 27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41"/>
                    </a:moveTo>
                    <a:cubicBezTo>
                      <a:pt x="416" y="347"/>
                      <a:pt x="411" y="352"/>
                      <a:pt x="405" y="352"/>
                    </a:cubicBezTo>
                    <a:cubicBezTo>
                      <a:pt x="218" y="352"/>
                      <a:pt x="218" y="352"/>
                      <a:pt x="218" y="352"/>
                    </a:cubicBezTo>
                    <a:cubicBezTo>
                      <a:pt x="168" y="412"/>
                      <a:pt x="168" y="412"/>
                      <a:pt x="168" y="412"/>
                    </a:cubicBezTo>
                    <a:cubicBezTo>
                      <a:pt x="166" y="414"/>
                      <a:pt x="163" y="416"/>
                      <a:pt x="160" y="416"/>
                    </a:cubicBezTo>
                    <a:cubicBezTo>
                      <a:pt x="158" y="416"/>
                      <a:pt x="157" y="415"/>
                      <a:pt x="156" y="415"/>
                    </a:cubicBezTo>
                    <a:cubicBezTo>
                      <a:pt x="152" y="414"/>
                      <a:pt x="149" y="409"/>
                      <a:pt x="149" y="405"/>
                    </a:cubicBezTo>
                    <a:cubicBezTo>
                      <a:pt x="149" y="352"/>
                      <a:pt x="149" y="352"/>
                      <a:pt x="149" y="352"/>
                    </a:cubicBezTo>
                    <a:cubicBezTo>
                      <a:pt x="106" y="352"/>
                      <a:pt x="106" y="352"/>
                      <a:pt x="106" y="352"/>
                    </a:cubicBezTo>
                    <a:cubicBezTo>
                      <a:pt x="100" y="352"/>
                      <a:pt x="96" y="347"/>
                      <a:pt x="96" y="341"/>
                    </a:cubicBezTo>
                    <a:cubicBezTo>
                      <a:pt x="96" y="149"/>
                      <a:pt x="96" y="149"/>
                      <a:pt x="96" y="149"/>
                    </a:cubicBezTo>
                    <a:cubicBezTo>
                      <a:pt x="96" y="143"/>
                      <a:pt x="100" y="138"/>
                      <a:pt x="106" y="138"/>
                    </a:cubicBezTo>
                    <a:cubicBezTo>
                      <a:pt x="405" y="138"/>
                      <a:pt x="405" y="138"/>
                      <a:pt x="405" y="138"/>
                    </a:cubicBezTo>
                    <a:cubicBezTo>
                      <a:pt x="411" y="138"/>
                      <a:pt x="416" y="143"/>
                      <a:pt x="416" y="149"/>
                    </a:cubicBezTo>
                    <a:lnTo>
                      <a:pt x="416" y="341"/>
                    </a:lnTo>
                    <a:close/>
                    <a:moveTo>
                      <a:pt x="117" y="330"/>
                    </a:moveTo>
                    <a:cubicBezTo>
                      <a:pt x="160" y="330"/>
                      <a:pt x="160" y="330"/>
                      <a:pt x="160" y="330"/>
                    </a:cubicBezTo>
                    <a:cubicBezTo>
                      <a:pt x="166" y="330"/>
                      <a:pt x="170" y="335"/>
                      <a:pt x="170" y="341"/>
                    </a:cubicBezTo>
                    <a:cubicBezTo>
                      <a:pt x="170" y="376"/>
                      <a:pt x="170" y="376"/>
                      <a:pt x="170" y="376"/>
                    </a:cubicBezTo>
                    <a:cubicBezTo>
                      <a:pt x="205" y="334"/>
                      <a:pt x="205" y="334"/>
                      <a:pt x="205" y="334"/>
                    </a:cubicBezTo>
                    <a:cubicBezTo>
                      <a:pt x="207" y="332"/>
                      <a:pt x="210" y="330"/>
                      <a:pt x="213" y="330"/>
                    </a:cubicBezTo>
                    <a:cubicBezTo>
                      <a:pt x="394" y="330"/>
                      <a:pt x="394" y="330"/>
                      <a:pt x="394" y="330"/>
                    </a:cubicBezTo>
                    <a:cubicBezTo>
                      <a:pt x="394" y="160"/>
                      <a:pt x="394" y="160"/>
                      <a:pt x="394" y="160"/>
                    </a:cubicBezTo>
                    <a:cubicBezTo>
                      <a:pt x="117" y="160"/>
                      <a:pt x="117" y="160"/>
                      <a:pt x="117" y="160"/>
                    </a:cubicBezTo>
                    <a:lnTo>
                      <a:pt x="117" y="330"/>
                    </a:lnTo>
                    <a:close/>
                    <a:moveTo>
                      <a:pt x="149" y="192"/>
                    </a:moveTo>
                    <a:cubicBezTo>
                      <a:pt x="362" y="192"/>
                      <a:pt x="362" y="192"/>
                      <a:pt x="362" y="192"/>
                    </a:cubicBezTo>
                    <a:cubicBezTo>
                      <a:pt x="368" y="192"/>
                      <a:pt x="373" y="196"/>
                      <a:pt x="373" y="202"/>
                    </a:cubicBezTo>
                    <a:cubicBezTo>
                      <a:pt x="373" y="208"/>
                      <a:pt x="368" y="213"/>
                      <a:pt x="362" y="213"/>
                    </a:cubicBezTo>
                    <a:cubicBezTo>
                      <a:pt x="149" y="213"/>
                      <a:pt x="149" y="213"/>
                      <a:pt x="149" y="213"/>
                    </a:cubicBezTo>
                    <a:cubicBezTo>
                      <a:pt x="143" y="213"/>
                      <a:pt x="138" y="208"/>
                      <a:pt x="138" y="202"/>
                    </a:cubicBezTo>
                    <a:cubicBezTo>
                      <a:pt x="138" y="196"/>
                      <a:pt x="143" y="192"/>
                      <a:pt x="149" y="192"/>
                    </a:cubicBezTo>
                    <a:close/>
                    <a:moveTo>
                      <a:pt x="149" y="234"/>
                    </a:moveTo>
                    <a:cubicBezTo>
                      <a:pt x="362" y="234"/>
                      <a:pt x="362" y="234"/>
                      <a:pt x="362" y="234"/>
                    </a:cubicBezTo>
                    <a:cubicBezTo>
                      <a:pt x="368" y="234"/>
                      <a:pt x="373" y="239"/>
                      <a:pt x="373" y="245"/>
                    </a:cubicBezTo>
                    <a:cubicBezTo>
                      <a:pt x="373" y="251"/>
                      <a:pt x="368" y="256"/>
                      <a:pt x="362" y="256"/>
                    </a:cubicBezTo>
                    <a:cubicBezTo>
                      <a:pt x="149" y="256"/>
                      <a:pt x="149" y="256"/>
                      <a:pt x="149" y="256"/>
                    </a:cubicBezTo>
                    <a:cubicBezTo>
                      <a:pt x="143" y="256"/>
                      <a:pt x="138" y="251"/>
                      <a:pt x="138" y="245"/>
                    </a:cubicBezTo>
                    <a:cubicBezTo>
                      <a:pt x="138" y="239"/>
                      <a:pt x="143" y="234"/>
                      <a:pt x="149" y="234"/>
                    </a:cubicBezTo>
                    <a:close/>
                    <a:moveTo>
                      <a:pt x="149" y="277"/>
                    </a:moveTo>
                    <a:cubicBezTo>
                      <a:pt x="362" y="277"/>
                      <a:pt x="362" y="277"/>
                      <a:pt x="362" y="277"/>
                    </a:cubicBezTo>
                    <a:cubicBezTo>
                      <a:pt x="368" y="277"/>
                      <a:pt x="373" y="282"/>
                      <a:pt x="373" y="288"/>
                    </a:cubicBezTo>
                    <a:cubicBezTo>
                      <a:pt x="373" y="294"/>
                      <a:pt x="368" y="298"/>
                      <a:pt x="362" y="298"/>
                    </a:cubicBezTo>
                    <a:cubicBezTo>
                      <a:pt x="149" y="298"/>
                      <a:pt x="149" y="298"/>
                      <a:pt x="149" y="298"/>
                    </a:cubicBezTo>
                    <a:cubicBezTo>
                      <a:pt x="143" y="298"/>
                      <a:pt x="138" y="294"/>
                      <a:pt x="138" y="288"/>
                    </a:cubicBezTo>
                    <a:cubicBezTo>
                      <a:pt x="138" y="282"/>
                      <a:pt x="143" y="277"/>
                      <a:pt x="149" y="2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20" name="Group 19">
              <a:extLst>
                <a:ext uri="{FF2B5EF4-FFF2-40B4-BE49-F238E27FC236}">
                  <a16:creationId xmlns:a16="http://schemas.microsoft.com/office/drawing/2014/main" id="{BDEDF983-7318-4639-A704-33121264015A}"/>
                </a:ext>
              </a:extLst>
            </p:cNvPr>
            <p:cNvGrpSpPr/>
            <p:nvPr/>
          </p:nvGrpSpPr>
          <p:grpSpPr>
            <a:xfrm>
              <a:off x="469900" y="5110980"/>
              <a:ext cx="5900420" cy="532606"/>
              <a:chOff x="469900" y="5110980"/>
              <a:chExt cx="5900420" cy="532606"/>
            </a:xfrm>
          </p:grpSpPr>
          <p:sp>
            <p:nvSpPr>
              <p:cNvPr id="127" name="Rounded Rectangle 2">
                <a:extLst>
                  <a:ext uri="{FF2B5EF4-FFF2-40B4-BE49-F238E27FC236}">
                    <a16:creationId xmlns:a16="http://schemas.microsoft.com/office/drawing/2014/main" id="{B734AE9B-3C9C-4F7E-A4EB-D0DD1ADB5ADD}"/>
                  </a:ext>
                </a:extLst>
              </p:cNvPr>
              <p:cNvSpPr/>
              <p:nvPr/>
            </p:nvSpPr>
            <p:spPr bwMode="gray">
              <a:xfrm>
                <a:off x="1343442" y="5110980"/>
                <a:ext cx="5026878"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28" name="Rounded Rectangle 3">
                <a:extLst>
                  <a:ext uri="{FF2B5EF4-FFF2-40B4-BE49-F238E27FC236}">
                    <a16:creationId xmlns:a16="http://schemas.microsoft.com/office/drawing/2014/main" id="{899EC8ED-CA8B-45E5-9ADC-64C77729B926}"/>
                  </a:ext>
                </a:extLst>
              </p:cNvPr>
              <p:cNvSpPr/>
              <p:nvPr/>
            </p:nvSpPr>
            <p:spPr bwMode="gray">
              <a:xfrm>
                <a:off x="1452594" y="5110980"/>
                <a:ext cx="4814020"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buFont typeface="Wingdings 2" pitchFamily="18" charset="2"/>
                  <a:buNone/>
                </a:pPr>
                <a:r>
                  <a:rPr lang="en-US" sz="1200" dirty="0"/>
                  <a:t>Advocacy &amp; Communication Plan- Evidence based advocacy with hard budget numbers; Communication platform – 1) Earned, 2) Owned, 3) Paid and 4) Shared</a:t>
                </a:r>
              </a:p>
            </p:txBody>
          </p:sp>
          <p:sp>
            <p:nvSpPr>
              <p:cNvPr id="129" name="Oval 128">
                <a:extLst>
                  <a:ext uri="{FF2B5EF4-FFF2-40B4-BE49-F238E27FC236}">
                    <a16:creationId xmlns:a16="http://schemas.microsoft.com/office/drawing/2014/main" id="{8B40BF7F-6E5F-4005-990F-144BF8ED3388}"/>
                  </a:ext>
                </a:extLst>
              </p:cNvPr>
              <p:cNvSpPr>
                <a:spLocks noChangeAspect="1"/>
              </p:cNvSpPr>
              <p:nvPr/>
            </p:nvSpPr>
            <p:spPr bwMode="gray">
              <a:xfrm>
                <a:off x="894939" y="5335016"/>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0" name="Rounded Rectangle 5">
                <a:extLst>
                  <a:ext uri="{FF2B5EF4-FFF2-40B4-BE49-F238E27FC236}">
                    <a16:creationId xmlns:a16="http://schemas.microsoft.com/office/drawing/2014/main" id="{FFB34E89-AB32-431F-84BC-E84B0EABED13}"/>
                  </a:ext>
                </a:extLst>
              </p:cNvPr>
              <p:cNvSpPr/>
              <p:nvPr/>
            </p:nvSpPr>
            <p:spPr bwMode="gray">
              <a:xfrm>
                <a:off x="469900" y="5112107"/>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2" name="Rounded Rectangle 6">
                <a:extLst>
                  <a:ext uri="{FF2B5EF4-FFF2-40B4-BE49-F238E27FC236}">
                    <a16:creationId xmlns:a16="http://schemas.microsoft.com/office/drawing/2014/main" id="{4B776FD7-8858-40DD-856B-2B91CD52271E}"/>
                  </a:ext>
                </a:extLst>
              </p:cNvPr>
              <p:cNvSpPr/>
              <p:nvPr/>
            </p:nvSpPr>
            <p:spPr bwMode="gray">
              <a:xfrm>
                <a:off x="496303" y="5112107"/>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9" name="Oval 138">
                <a:extLst>
                  <a:ext uri="{FF2B5EF4-FFF2-40B4-BE49-F238E27FC236}">
                    <a16:creationId xmlns:a16="http://schemas.microsoft.com/office/drawing/2014/main" id="{A52A3B41-F925-41F1-AF75-9E9BECE3AFD9}"/>
                  </a:ext>
                </a:extLst>
              </p:cNvPr>
              <p:cNvSpPr/>
              <p:nvPr/>
            </p:nvSpPr>
            <p:spPr bwMode="gray">
              <a:xfrm>
                <a:off x="1163072" y="533604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40" name="Oval 139">
                <a:extLst>
                  <a:ext uri="{FF2B5EF4-FFF2-40B4-BE49-F238E27FC236}">
                    <a16:creationId xmlns:a16="http://schemas.microsoft.com/office/drawing/2014/main" id="{A558845B-9859-49A2-B55E-643B86D847C5}"/>
                  </a:ext>
                </a:extLst>
              </p:cNvPr>
              <p:cNvSpPr/>
              <p:nvPr/>
            </p:nvSpPr>
            <p:spPr bwMode="gray">
              <a:xfrm>
                <a:off x="1303547" y="533604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44" name="Straight Connector 143">
                <a:extLst>
                  <a:ext uri="{FF2B5EF4-FFF2-40B4-BE49-F238E27FC236}">
                    <a16:creationId xmlns:a16="http://schemas.microsoft.com/office/drawing/2014/main" id="{7D8354C2-AAD6-4EAB-B050-14A41D22DA3D}"/>
                  </a:ext>
                </a:extLst>
              </p:cNvPr>
              <p:cNvCxnSpPr>
                <a:cxnSpLocks/>
              </p:cNvCxnSpPr>
              <p:nvPr/>
            </p:nvCxnSpPr>
            <p:spPr>
              <a:xfrm>
                <a:off x="1204223" y="5377283"/>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38" name="Freeform 611">
                <a:extLst>
                  <a:ext uri="{FF2B5EF4-FFF2-40B4-BE49-F238E27FC236}">
                    <a16:creationId xmlns:a16="http://schemas.microsoft.com/office/drawing/2014/main" id="{A3A90A06-A05B-4091-B301-CCD4FBB0C546}"/>
                  </a:ext>
                </a:extLst>
              </p:cNvPr>
              <p:cNvSpPr>
                <a:spLocks noChangeAspect="1" noEditPoints="1"/>
              </p:cNvSpPr>
              <p:nvPr/>
            </p:nvSpPr>
            <p:spPr bwMode="auto">
              <a:xfrm>
                <a:off x="636037" y="5193763"/>
                <a:ext cx="367041" cy="3670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49 w 512"/>
                  <a:gd name="T11" fmla="*/ 362 h 512"/>
                  <a:gd name="T12" fmla="*/ 128 w 512"/>
                  <a:gd name="T13" fmla="*/ 362 h 512"/>
                  <a:gd name="T14" fmla="*/ 117 w 512"/>
                  <a:gd name="T15" fmla="*/ 352 h 512"/>
                  <a:gd name="T16" fmla="*/ 128 w 512"/>
                  <a:gd name="T17" fmla="*/ 341 h 512"/>
                  <a:gd name="T18" fmla="*/ 149 w 512"/>
                  <a:gd name="T19" fmla="*/ 341 h 512"/>
                  <a:gd name="T20" fmla="*/ 160 w 512"/>
                  <a:gd name="T21" fmla="*/ 352 h 512"/>
                  <a:gd name="T22" fmla="*/ 149 w 512"/>
                  <a:gd name="T23" fmla="*/ 362 h 512"/>
                  <a:gd name="T24" fmla="*/ 149 w 512"/>
                  <a:gd name="T25" fmla="*/ 298 h 512"/>
                  <a:gd name="T26" fmla="*/ 128 w 512"/>
                  <a:gd name="T27" fmla="*/ 298 h 512"/>
                  <a:gd name="T28" fmla="*/ 117 w 512"/>
                  <a:gd name="T29" fmla="*/ 288 h 512"/>
                  <a:gd name="T30" fmla="*/ 128 w 512"/>
                  <a:gd name="T31" fmla="*/ 277 h 512"/>
                  <a:gd name="T32" fmla="*/ 149 w 512"/>
                  <a:gd name="T33" fmla="*/ 277 h 512"/>
                  <a:gd name="T34" fmla="*/ 160 w 512"/>
                  <a:gd name="T35" fmla="*/ 288 h 512"/>
                  <a:gd name="T36" fmla="*/ 149 w 512"/>
                  <a:gd name="T37" fmla="*/ 298 h 512"/>
                  <a:gd name="T38" fmla="*/ 149 w 512"/>
                  <a:gd name="T39" fmla="*/ 234 h 512"/>
                  <a:gd name="T40" fmla="*/ 128 w 512"/>
                  <a:gd name="T41" fmla="*/ 234 h 512"/>
                  <a:gd name="T42" fmla="*/ 117 w 512"/>
                  <a:gd name="T43" fmla="*/ 224 h 512"/>
                  <a:gd name="T44" fmla="*/ 128 w 512"/>
                  <a:gd name="T45" fmla="*/ 213 h 512"/>
                  <a:gd name="T46" fmla="*/ 149 w 512"/>
                  <a:gd name="T47" fmla="*/ 213 h 512"/>
                  <a:gd name="T48" fmla="*/ 160 w 512"/>
                  <a:gd name="T49" fmla="*/ 224 h 512"/>
                  <a:gd name="T50" fmla="*/ 149 w 512"/>
                  <a:gd name="T51" fmla="*/ 234 h 512"/>
                  <a:gd name="T52" fmla="*/ 149 w 512"/>
                  <a:gd name="T53" fmla="*/ 170 h 512"/>
                  <a:gd name="T54" fmla="*/ 128 w 512"/>
                  <a:gd name="T55" fmla="*/ 170 h 512"/>
                  <a:gd name="T56" fmla="*/ 117 w 512"/>
                  <a:gd name="T57" fmla="*/ 160 h 512"/>
                  <a:gd name="T58" fmla="*/ 128 w 512"/>
                  <a:gd name="T59" fmla="*/ 149 h 512"/>
                  <a:gd name="T60" fmla="*/ 149 w 512"/>
                  <a:gd name="T61" fmla="*/ 149 h 512"/>
                  <a:gd name="T62" fmla="*/ 160 w 512"/>
                  <a:gd name="T63" fmla="*/ 160 h 512"/>
                  <a:gd name="T64" fmla="*/ 149 w 512"/>
                  <a:gd name="T65" fmla="*/ 170 h 512"/>
                  <a:gd name="T66" fmla="*/ 384 w 512"/>
                  <a:gd name="T67" fmla="*/ 362 h 512"/>
                  <a:gd name="T68" fmla="*/ 202 w 512"/>
                  <a:gd name="T69" fmla="*/ 362 h 512"/>
                  <a:gd name="T70" fmla="*/ 192 w 512"/>
                  <a:gd name="T71" fmla="*/ 352 h 512"/>
                  <a:gd name="T72" fmla="*/ 202 w 512"/>
                  <a:gd name="T73" fmla="*/ 341 h 512"/>
                  <a:gd name="T74" fmla="*/ 384 w 512"/>
                  <a:gd name="T75" fmla="*/ 341 h 512"/>
                  <a:gd name="T76" fmla="*/ 394 w 512"/>
                  <a:gd name="T77" fmla="*/ 352 h 512"/>
                  <a:gd name="T78" fmla="*/ 384 w 512"/>
                  <a:gd name="T79" fmla="*/ 362 h 512"/>
                  <a:gd name="T80" fmla="*/ 384 w 512"/>
                  <a:gd name="T81" fmla="*/ 298 h 512"/>
                  <a:gd name="T82" fmla="*/ 202 w 512"/>
                  <a:gd name="T83" fmla="*/ 298 h 512"/>
                  <a:gd name="T84" fmla="*/ 192 w 512"/>
                  <a:gd name="T85" fmla="*/ 288 h 512"/>
                  <a:gd name="T86" fmla="*/ 202 w 512"/>
                  <a:gd name="T87" fmla="*/ 277 h 512"/>
                  <a:gd name="T88" fmla="*/ 384 w 512"/>
                  <a:gd name="T89" fmla="*/ 277 h 512"/>
                  <a:gd name="T90" fmla="*/ 394 w 512"/>
                  <a:gd name="T91" fmla="*/ 288 h 512"/>
                  <a:gd name="T92" fmla="*/ 384 w 512"/>
                  <a:gd name="T93" fmla="*/ 298 h 512"/>
                  <a:gd name="T94" fmla="*/ 384 w 512"/>
                  <a:gd name="T95" fmla="*/ 234 h 512"/>
                  <a:gd name="T96" fmla="*/ 202 w 512"/>
                  <a:gd name="T97" fmla="*/ 234 h 512"/>
                  <a:gd name="T98" fmla="*/ 192 w 512"/>
                  <a:gd name="T99" fmla="*/ 224 h 512"/>
                  <a:gd name="T100" fmla="*/ 202 w 512"/>
                  <a:gd name="T101" fmla="*/ 213 h 512"/>
                  <a:gd name="T102" fmla="*/ 384 w 512"/>
                  <a:gd name="T103" fmla="*/ 213 h 512"/>
                  <a:gd name="T104" fmla="*/ 394 w 512"/>
                  <a:gd name="T105" fmla="*/ 224 h 512"/>
                  <a:gd name="T106" fmla="*/ 384 w 512"/>
                  <a:gd name="T107" fmla="*/ 234 h 512"/>
                  <a:gd name="T108" fmla="*/ 384 w 512"/>
                  <a:gd name="T109" fmla="*/ 170 h 512"/>
                  <a:gd name="T110" fmla="*/ 202 w 512"/>
                  <a:gd name="T111" fmla="*/ 170 h 512"/>
                  <a:gd name="T112" fmla="*/ 192 w 512"/>
                  <a:gd name="T113" fmla="*/ 160 h 512"/>
                  <a:gd name="T114" fmla="*/ 202 w 512"/>
                  <a:gd name="T115" fmla="*/ 149 h 512"/>
                  <a:gd name="T116" fmla="*/ 384 w 512"/>
                  <a:gd name="T117" fmla="*/ 149 h 512"/>
                  <a:gd name="T118" fmla="*/ 394 w 512"/>
                  <a:gd name="T119" fmla="*/ 160 h 512"/>
                  <a:gd name="T120" fmla="*/ 384 w 512"/>
                  <a:gd name="T12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49" y="362"/>
                    </a:moveTo>
                    <a:cubicBezTo>
                      <a:pt x="128" y="362"/>
                      <a:pt x="128" y="362"/>
                      <a:pt x="128" y="362"/>
                    </a:cubicBezTo>
                    <a:cubicBezTo>
                      <a:pt x="122" y="362"/>
                      <a:pt x="117" y="358"/>
                      <a:pt x="117" y="352"/>
                    </a:cubicBezTo>
                    <a:cubicBezTo>
                      <a:pt x="117" y="346"/>
                      <a:pt x="122" y="341"/>
                      <a:pt x="128" y="341"/>
                    </a:cubicBezTo>
                    <a:cubicBezTo>
                      <a:pt x="149" y="341"/>
                      <a:pt x="149" y="341"/>
                      <a:pt x="149" y="341"/>
                    </a:cubicBezTo>
                    <a:cubicBezTo>
                      <a:pt x="155" y="341"/>
                      <a:pt x="160" y="346"/>
                      <a:pt x="160" y="352"/>
                    </a:cubicBezTo>
                    <a:cubicBezTo>
                      <a:pt x="160" y="358"/>
                      <a:pt x="155" y="362"/>
                      <a:pt x="149" y="362"/>
                    </a:cubicBezTo>
                    <a:close/>
                    <a:moveTo>
                      <a:pt x="149" y="298"/>
                    </a:moveTo>
                    <a:cubicBezTo>
                      <a:pt x="128" y="298"/>
                      <a:pt x="128" y="298"/>
                      <a:pt x="128" y="298"/>
                    </a:cubicBezTo>
                    <a:cubicBezTo>
                      <a:pt x="122" y="298"/>
                      <a:pt x="117" y="294"/>
                      <a:pt x="117" y="288"/>
                    </a:cubicBezTo>
                    <a:cubicBezTo>
                      <a:pt x="117" y="282"/>
                      <a:pt x="122" y="277"/>
                      <a:pt x="128" y="277"/>
                    </a:cubicBezTo>
                    <a:cubicBezTo>
                      <a:pt x="149" y="277"/>
                      <a:pt x="149" y="277"/>
                      <a:pt x="149" y="277"/>
                    </a:cubicBezTo>
                    <a:cubicBezTo>
                      <a:pt x="155" y="277"/>
                      <a:pt x="160" y="282"/>
                      <a:pt x="160" y="288"/>
                    </a:cubicBezTo>
                    <a:cubicBezTo>
                      <a:pt x="160" y="294"/>
                      <a:pt x="155" y="298"/>
                      <a:pt x="149" y="298"/>
                    </a:cubicBezTo>
                    <a:close/>
                    <a:moveTo>
                      <a:pt x="149" y="234"/>
                    </a:moveTo>
                    <a:cubicBezTo>
                      <a:pt x="128" y="234"/>
                      <a:pt x="128" y="234"/>
                      <a:pt x="128" y="234"/>
                    </a:cubicBezTo>
                    <a:cubicBezTo>
                      <a:pt x="122" y="234"/>
                      <a:pt x="117" y="230"/>
                      <a:pt x="117" y="224"/>
                    </a:cubicBezTo>
                    <a:cubicBezTo>
                      <a:pt x="117" y="218"/>
                      <a:pt x="122" y="213"/>
                      <a:pt x="128" y="213"/>
                    </a:cubicBezTo>
                    <a:cubicBezTo>
                      <a:pt x="149" y="213"/>
                      <a:pt x="149" y="213"/>
                      <a:pt x="149" y="213"/>
                    </a:cubicBezTo>
                    <a:cubicBezTo>
                      <a:pt x="155" y="213"/>
                      <a:pt x="160" y="218"/>
                      <a:pt x="160" y="224"/>
                    </a:cubicBezTo>
                    <a:cubicBezTo>
                      <a:pt x="160" y="230"/>
                      <a:pt x="155" y="234"/>
                      <a:pt x="149" y="234"/>
                    </a:cubicBezTo>
                    <a:close/>
                    <a:moveTo>
                      <a:pt x="149" y="170"/>
                    </a:moveTo>
                    <a:cubicBezTo>
                      <a:pt x="128" y="170"/>
                      <a:pt x="128" y="170"/>
                      <a:pt x="128" y="170"/>
                    </a:cubicBezTo>
                    <a:cubicBezTo>
                      <a:pt x="122" y="170"/>
                      <a:pt x="117" y="166"/>
                      <a:pt x="117" y="160"/>
                    </a:cubicBezTo>
                    <a:cubicBezTo>
                      <a:pt x="117" y="154"/>
                      <a:pt x="122" y="149"/>
                      <a:pt x="128" y="149"/>
                    </a:cubicBezTo>
                    <a:cubicBezTo>
                      <a:pt x="149" y="149"/>
                      <a:pt x="149" y="149"/>
                      <a:pt x="149" y="149"/>
                    </a:cubicBezTo>
                    <a:cubicBezTo>
                      <a:pt x="155" y="149"/>
                      <a:pt x="160" y="154"/>
                      <a:pt x="160" y="160"/>
                    </a:cubicBezTo>
                    <a:cubicBezTo>
                      <a:pt x="160" y="166"/>
                      <a:pt x="155" y="170"/>
                      <a:pt x="149" y="170"/>
                    </a:cubicBezTo>
                    <a:close/>
                    <a:moveTo>
                      <a:pt x="384" y="362"/>
                    </a:moveTo>
                    <a:cubicBezTo>
                      <a:pt x="202" y="362"/>
                      <a:pt x="202" y="362"/>
                      <a:pt x="202" y="362"/>
                    </a:cubicBezTo>
                    <a:cubicBezTo>
                      <a:pt x="196" y="362"/>
                      <a:pt x="192" y="358"/>
                      <a:pt x="192" y="352"/>
                    </a:cubicBezTo>
                    <a:cubicBezTo>
                      <a:pt x="192" y="346"/>
                      <a:pt x="196" y="341"/>
                      <a:pt x="202" y="341"/>
                    </a:cubicBezTo>
                    <a:cubicBezTo>
                      <a:pt x="384" y="341"/>
                      <a:pt x="384" y="341"/>
                      <a:pt x="384" y="341"/>
                    </a:cubicBezTo>
                    <a:cubicBezTo>
                      <a:pt x="390" y="341"/>
                      <a:pt x="394" y="346"/>
                      <a:pt x="394" y="352"/>
                    </a:cubicBezTo>
                    <a:cubicBezTo>
                      <a:pt x="394" y="358"/>
                      <a:pt x="390" y="362"/>
                      <a:pt x="384" y="362"/>
                    </a:cubicBezTo>
                    <a:close/>
                    <a:moveTo>
                      <a:pt x="384" y="298"/>
                    </a:moveTo>
                    <a:cubicBezTo>
                      <a:pt x="202" y="298"/>
                      <a:pt x="202" y="298"/>
                      <a:pt x="202" y="298"/>
                    </a:cubicBezTo>
                    <a:cubicBezTo>
                      <a:pt x="196" y="298"/>
                      <a:pt x="192" y="294"/>
                      <a:pt x="192" y="288"/>
                    </a:cubicBezTo>
                    <a:cubicBezTo>
                      <a:pt x="192" y="282"/>
                      <a:pt x="196" y="277"/>
                      <a:pt x="202" y="277"/>
                    </a:cubicBezTo>
                    <a:cubicBezTo>
                      <a:pt x="384" y="277"/>
                      <a:pt x="384" y="277"/>
                      <a:pt x="384" y="277"/>
                    </a:cubicBezTo>
                    <a:cubicBezTo>
                      <a:pt x="390" y="277"/>
                      <a:pt x="394" y="282"/>
                      <a:pt x="394" y="288"/>
                    </a:cubicBezTo>
                    <a:cubicBezTo>
                      <a:pt x="394" y="294"/>
                      <a:pt x="390" y="298"/>
                      <a:pt x="384" y="298"/>
                    </a:cubicBezTo>
                    <a:close/>
                    <a:moveTo>
                      <a:pt x="384" y="234"/>
                    </a:moveTo>
                    <a:cubicBezTo>
                      <a:pt x="202" y="234"/>
                      <a:pt x="202" y="234"/>
                      <a:pt x="202" y="234"/>
                    </a:cubicBezTo>
                    <a:cubicBezTo>
                      <a:pt x="196" y="234"/>
                      <a:pt x="192" y="230"/>
                      <a:pt x="192" y="224"/>
                    </a:cubicBezTo>
                    <a:cubicBezTo>
                      <a:pt x="192" y="218"/>
                      <a:pt x="196" y="213"/>
                      <a:pt x="202" y="213"/>
                    </a:cubicBezTo>
                    <a:cubicBezTo>
                      <a:pt x="384" y="213"/>
                      <a:pt x="384" y="213"/>
                      <a:pt x="384" y="213"/>
                    </a:cubicBezTo>
                    <a:cubicBezTo>
                      <a:pt x="390" y="213"/>
                      <a:pt x="394" y="218"/>
                      <a:pt x="394" y="224"/>
                    </a:cubicBezTo>
                    <a:cubicBezTo>
                      <a:pt x="394" y="230"/>
                      <a:pt x="390" y="234"/>
                      <a:pt x="384" y="234"/>
                    </a:cubicBezTo>
                    <a:close/>
                    <a:moveTo>
                      <a:pt x="384" y="170"/>
                    </a:moveTo>
                    <a:cubicBezTo>
                      <a:pt x="202" y="170"/>
                      <a:pt x="202" y="170"/>
                      <a:pt x="202" y="170"/>
                    </a:cubicBezTo>
                    <a:cubicBezTo>
                      <a:pt x="196" y="170"/>
                      <a:pt x="192" y="166"/>
                      <a:pt x="192" y="160"/>
                    </a:cubicBezTo>
                    <a:cubicBezTo>
                      <a:pt x="192" y="154"/>
                      <a:pt x="196" y="149"/>
                      <a:pt x="202" y="149"/>
                    </a:cubicBezTo>
                    <a:cubicBezTo>
                      <a:pt x="384" y="149"/>
                      <a:pt x="384" y="149"/>
                      <a:pt x="384" y="149"/>
                    </a:cubicBezTo>
                    <a:cubicBezTo>
                      <a:pt x="390" y="149"/>
                      <a:pt x="394" y="154"/>
                      <a:pt x="394" y="160"/>
                    </a:cubicBezTo>
                    <a:cubicBezTo>
                      <a:pt x="394" y="166"/>
                      <a:pt x="390" y="170"/>
                      <a:pt x="384" y="17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21" name="Group 20">
              <a:extLst>
                <a:ext uri="{FF2B5EF4-FFF2-40B4-BE49-F238E27FC236}">
                  <a16:creationId xmlns:a16="http://schemas.microsoft.com/office/drawing/2014/main" id="{03BACE43-DDCE-454B-B5F2-A1AD4313996C}"/>
                </a:ext>
              </a:extLst>
            </p:cNvPr>
            <p:cNvGrpSpPr/>
            <p:nvPr/>
          </p:nvGrpSpPr>
          <p:grpSpPr>
            <a:xfrm>
              <a:off x="469900" y="5712646"/>
              <a:ext cx="5900420" cy="532606"/>
              <a:chOff x="469900" y="5712646"/>
              <a:chExt cx="5900420" cy="532606"/>
            </a:xfrm>
          </p:grpSpPr>
          <p:sp>
            <p:nvSpPr>
              <p:cNvPr id="147" name="Rounded Rectangle 2">
                <a:extLst>
                  <a:ext uri="{FF2B5EF4-FFF2-40B4-BE49-F238E27FC236}">
                    <a16:creationId xmlns:a16="http://schemas.microsoft.com/office/drawing/2014/main" id="{DF6A836D-1FF5-4307-8E91-B4A10836BE77}"/>
                  </a:ext>
                </a:extLst>
              </p:cNvPr>
              <p:cNvSpPr/>
              <p:nvPr/>
            </p:nvSpPr>
            <p:spPr bwMode="gray">
              <a:xfrm>
                <a:off x="1343442" y="5712646"/>
                <a:ext cx="5026878"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48" name="Rounded Rectangle 3">
                <a:extLst>
                  <a:ext uri="{FF2B5EF4-FFF2-40B4-BE49-F238E27FC236}">
                    <a16:creationId xmlns:a16="http://schemas.microsoft.com/office/drawing/2014/main" id="{1EF12940-98F9-4F56-8F9B-8358D3DF0817}"/>
                  </a:ext>
                </a:extLst>
              </p:cNvPr>
              <p:cNvSpPr/>
              <p:nvPr/>
            </p:nvSpPr>
            <p:spPr bwMode="gray">
              <a:xfrm>
                <a:off x="1452594" y="5712646"/>
                <a:ext cx="4814020"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buFont typeface="Wingdings 2" pitchFamily="18" charset="2"/>
                  <a:buNone/>
                </a:pPr>
                <a:r>
                  <a:rPr lang="en-US" sz="1200" dirty="0"/>
                  <a:t>Deploy survey questionnaire, virtual brainstorming session, prioritization framework to assess scheme maturity, issues and challenges in dashboard, selection and utilization of indicators for OOMF</a:t>
                </a:r>
              </a:p>
            </p:txBody>
          </p:sp>
          <p:sp>
            <p:nvSpPr>
              <p:cNvPr id="149" name="Oval 148">
                <a:extLst>
                  <a:ext uri="{FF2B5EF4-FFF2-40B4-BE49-F238E27FC236}">
                    <a16:creationId xmlns:a16="http://schemas.microsoft.com/office/drawing/2014/main" id="{FE9FDA15-ACD2-4BE5-B872-B961DEC9828D}"/>
                  </a:ext>
                </a:extLst>
              </p:cNvPr>
              <p:cNvSpPr>
                <a:spLocks noChangeAspect="1"/>
              </p:cNvSpPr>
              <p:nvPr/>
            </p:nvSpPr>
            <p:spPr bwMode="gray">
              <a:xfrm>
                <a:off x="894939" y="5936682"/>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0" name="Rounded Rectangle 5">
                <a:extLst>
                  <a:ext uri="{FF2B5EF4-FFF2-40B4-BE49-F238E27FC236}">
                    <a16:creationId xmlns:a16="http://schemas.microsoft.com/office/drawing/2014/main" id="{7EF0CE70-1F62-40FB-8365-30E0B628DE57}"/>
                  </a:ext>
                </a:extLst>
              </p:cNvPr>
              <p:cNvSpPr/>
              <p:nvPr/>
            </p:nvSpPr>
            <p:spPr bwMode="gray">
              <a:xfrm>
                <a:off x="469900" y="5713773"/>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1" name="Rounded Rectangle 6">
                <a:extLst>
                  <a:ext uri="{FF2B5EF4-FFF2-40B4-BE49-F238E27FC236}">
                    <a16:creationId xmlns:a16="http://schemas.microsoft.com/office/drawing/2014/main" id="{37366666-CEB0-4DE3-B6E9-86D518C2B222}"/>
                  </a:ext>
                </a:extLst>
              </p:cNvPr>
              <p:cNvSpPr/>
              <p:nvPr/>
            </p:nvSpPr>
            <p:spPr bwMode="gray">
              <a:xfrm>
                <a:off x="496303" y="5713773"/>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8" name="Oval 157">
                <a:extLst>
                  <a:ext uri="{FF2B5EF4-FFF2-40B4-BE49-F238E27FC236}">
                    <a16:creationId xmlns:a16="http://schemas.microsoft.com/office/drawing/2014/main" id="{D8999878-59DE-4971-ADA5-3C005B913486}"/>
                  </a:ext>
                </a:extLst>
              </p:cNvPr>
              <p:cNvSpPr/>
              <p:nvPr/>
            </p:nvSpPr>
            <p:spPr bwMode="gray">
              <a:xfrm>
                <a:off x="1163072" y="593771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59" name="Oval 158">
                <a:extLst>
                  <a:ext uri="{FF2B5EF4-FFF2-40B4-BE49-F238E27FC236}">
                    <a16:creationId xmlns:a16="http://schemas.microsoft.com/office/drawing/2014/main" id="{609904DF-A975-4AAF-AF4D-B77D16A85C41}"/>
                  </a:ext>
                </a:extLst>
              </p:cNvPr>
              <p:cNvSpPr/>
              <p:nvPr/>
            </p:nvSpPr>
            <p:spPr bwMode="gray">
              <a:xfrm>
                <a:off x="1303547" y="593771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60" name="Straight Connector 159">
                <a:extLst>
                  <a:ext uri="{FF2B5EF4-FFF2-40B4-BE49-F238E27FC236}">
                    <a16:creationId xmlns:a16="http://schemas.microsoft.com/office/drawing/2014/main" id="{7D2CCA44-B5ED-46A6-AA42-E3B28FF5F40A}"/>
                  </a:ext>
                </a:extLst>
              </p:cNvPr>
              <p:cNvCxnSpPr>
                <a:cxnSpLocks/>
              </p:cNvCxnSpPr>
              <p:nvPr/>
            </p:nvCxnSpPr>
            <p:spPr>
              <a:xfrm>
                <a:off x="1204223" y="5978949"/>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40" name="Freeform 183">
                <a:extLst>
                  <a:ext uri="{FF2B5EF4-FFF2-40B4-BE49-F238E27FC236}">
                    <a16:creationId xmlns:a16="http://schemas.microsoft.com/office/drawing/2014/main" id="{9F77EF1C-2504-42A4-8442-855A2382BF86}"/>
                  </a:ext>
                </a:extLst>
              </p:cNvPr>
              <p:cNvSpPr>
                <a:spLocks noChangeAspect="1" noEditPoints="1"/>
              </p:cNvSpPr>
              <p:nvPr/>
            </p:nvSpPr>
            <p:spPr bwMode="auto">
              <a:xfrm>
                <a:off x="635047" y="5794439"/>
                <a:ext cx="369021" cy="3690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2 w 512"/>
                  <a:gd name="T11" fmla="*/ 374 h 512"/>
                  <a:gd name="T12" fmla="*/ 347 w 512"/>
                  <a:gd name="T13" fmla="*/ 382 h 512"/>
                  <a:gd name="T14" fmla="*/ 341 w 512"/>
                  <a:gd name="T15" fmla="*/ 384 h 512"/>
                  <a:gd name="T16" fmla="*/ 337 w 512"/>
                  <a:gd name="T17" fmla="*/ 383 h 512"/>
                  <a:gd name="T18" fmla="*/ 252 w 512"/>
                  <a:gd name="T19" fmla="*/ 348 h 512"/>
                  <a:gd name="T20" fmla="*/ 222 w 512"/>
                  <a:gd name="T21" fmla="*/ 390 h 512"/>
                  <a:gd name="T22" fmla="*/ 222 w 512"/>
                  <a:gd name="T23" fmla="*/ 390 h 512"/>
                  <a:gd name="T24" fmla="*/ 213 w 512"/>
                  <a:gd name="T25" fmla="*/ 394 h 512"/>
                  <a:gd name="T26" fmla="*/ 212 w 512"/>
                  <a:gd name="T27" fmla="*/ 394 h 512"/>
                  <a:gd name="T28" fmla="*/ 203 w 512"/>
                  <a:gd name="T29" fmla="*/ 387 h 512"/>
                  <a:gd name="T30" fmla="*/ 184 w 512"/>
                  <a:gd name="T31" fmla="*/ 320 h 512"/>
                  <a:gd name="T32" fmla="*/ 102 w 512"/>
                  <a:gd name="T33" fmla="*/ 287 h 512"/>
                  <a:gd name="T34" fmla="*/ 96 w 512"/>
                  <a:gd name="T35" fmla="*/ 278 h 512"/>
                  <a:gd name="T36" fmla="*/ 101 w 512"/>
                  <a:gd name="T37" fmla="*/ 268 h 512"/>
                  <a:gd name="T38" fmla="*/ 357 w 512"/>
                  <a:gd name="T39" fmla="*/ 118 h 512"/>
                  <a:gd name="T40" fmla="*/ 368 w 512"/>
                  <a:gd name="T41" fmla="*/ 119 h 512"/>
                  <a:gd name="T42" fmla="*/ 373 w 512"/>
                  <a:gd name="T43" fmla="*/ 129 h 512"/>
                  <a:gd name="T44" fmla="*/ 352 w 512"/>
                  <a:gd name="T45" fmla="*/ 374 h 512"/>
                  <a:gd name="T46" fmla="*/ 304 w 512"/>
                  <a:gd name="T47" fmla="*/ 174 h 512"/>
                  <a:gd name="T48" fmla="*/ 187 w 512"/>
                  <a:gd name="T49" fmla="*/ 298 h 512"/>
                  <a:gd name="T50" fmla="*/ 130 w 512"/>
                  <a:gd name="T51" fmla="*/ 275 h 512"/>
                  <a:gd name="T52" fmla="*/ 304 w 512"/>
                  <a:gd name="T53" fmla="*/ 174 h 512"/>
                  <a:gd name="T54" fmla="*/ 294 w 512"/>
                  <a:gd name="T55" fmla="*/ 216 h 512"/>
                  <a:gd name="T56" fmla="*/ 225 w 512"/>
                  <a:gd name="T57" fmla="*/ 325 h 512"/>
                  <a:gd name="T58" fmla="*/ 224 w 512"/>
                  <a:gd name="T59" fmla="*/ 326 h 512"/>
                  <a:gd name="T60" fmla="*/ 215 w 512"/>
                  <a:gd name="T61" fmla="*/ 351 h 512"/>
                  <a:gd name="T62" fmla="*/ 204 w 512"/>
                  <a:gd name="T63" fmla="*/ 312 h 512"/>
                  <a:gd name="T64" fmla="*/ 294 w 512"/>
                  <a:gd name="T65" fmla="*/ 216 h 512"/>
                  <a:gd name="T66" fmla="*/ 251 w 512"/>
                  <a:gd name="T67" fmla="*/ 325 h 512"/>
                  <a:gd name="T68" fmla="*/ 348 w 512"/>
                  <a:gd name="T69" fmla="*/ 170 h 512"/>
                  <a:gd name="T70" fmla="*/ 332 w 512"/>
                  <a:gd name="T71" fmla="*/ 358 h 512"/>
                  <a:gd name="T72" fmla="*/ 251 w 512"/>
                  <a:gd name="T73" fmla="*/ 32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52" y="374"/>
                    </a:moveTo>
                    <a:cubicBezTo>
                      <a:pt x="351" y="377"/>
                      <a:pt x="349" y="380"/>
                      <a:pt x="347" y="382"/>
                    </a:cubicBezTo>
                    <a:cubicBezTo>
                      <a:pt x="345" y="383"/>
                      <a:pt x="343" y="384"/>
                      <a:pt x="341" y="384"/>
                    </a:cubicBezTo>
                    <a:cubicBezTo>
                      <a:pt x="340" y="384"/>
                      <a:pt x="338" y="383"/>
                      <a:pt x="337" y="383"/>
                    </a:cubicBezTo>
                    <a:cubicBezTo>
                      <a:pt x="252" y="348"/>
                      <a:pt x="252" y="348"/>
                      <a:pt x="252" y="348"/>
                    </a:cubicBezTo>
                    <a:cubicBezTo>
                      <a:pt x="222" y="390"/>
                      <a:pt x="222" y="390"/>
                      <a:pt x="222" y="390"/>
                    </a:cubicBezTo>
                    <a:cubicBezTo>
                      <a:pt x="222" y="390"/>
                      <a:pt x="222" y="390"/>
                      <a:pt x="222" y="390"/>
                    </a:cubicBezTo>
                    <a:cubicBezTo>
                      <a:pt x="220" y="393"/>
                      <a:pt x="216" y="394"/>
                      <a:pt x="213" y="394"/>
                    </a:cubicBezTo>
                    <a:cubicBezTo>
                      <a:pt x="213" y="394"/>
                      <a:pt x="213" y="394"/>
                      <a:pt x="212" y="394"/>
                    </a:cubicBezTo>
                    <a:cubicBezTo>
                      <a:pt x="208" y="394"/>
                      <a:pt x="204" y="391"/>
                      <a:pt x="203" y="387"/>
                    </a:cubicBezTo>
                    <a:cubicBezTo>
                      <a:pt x="184" y="320"/>
                      <a:pt x="184" y="320"/>
                      <a:pt x="184" y="320"/>
                    </a:cubicBezTo>
                    <a:cubicBezTo>
                      <a:pt x="102" y="287"/>
                      <a:pt x="102" y="287"/>
                      <a:pt x="102" y="287"/>
                    </a:cubicBezTo>
                    <a:cubicBezTo>
                      <a:pt x="99" y="285"/>
                      <a:pt x="96" y="282"/>
                      <a:pt x="96" y="278"/>
                    </a:cubicBezTo>
                    <a:cubicBezTo>
                      <a:pt x="95" y="274"/>
                      <a:pt x="97" y="270"/>
                      <a:pt x="101" y="268"/>
                    </a:cubicBezTo>
                    <a:cubicBezTo>
                      <a:pt x="357" y="118"/>
                      <a:pt x="357" y="118"/>
                      <a:pt x="357" y="118"/>
                    </a:cubicBezTo>
                    <a:cubicBezTo>
                      <a:pt x="360" y="116"/>
                      <a:pt x="365" y="117"/>
                      <a:pt x="368" y="119"/>
                    </a:cubicBezTo>
                    <a:cubicBezTo>
                      <a:pt x="371" y="121"/>
                      <a:pt x="373" y="125"/>
                      <a:pt x="373" y="129"/>
                    </a:cubicBezTo>
                    <a:lnTo>
                      <a:pt x="352" y="374"/>
                    </a:lnTo>
                    <a:close/>
                    <a:moveTo>
                      <a:pt x="304" y="174"/>
                    </a:moveTo>
                    <a:cubicBezTo>
                      <a:pt x="187" y="298"/>
                      <a:pt x="187" y="298"/>
                      <a:pt x="187" y="298"/>
                    </a:cubicBezTo>
                    <a:cubicBezTo>
                      <a:pt x="130" y="275"/>
                      <a:pt x="130" y="275"/>
                      <a:pt x="130" y="275"/>
                    </a:cubicBezTo>
                    <a:lnTo>
                      <a:pt x="304" y="174"/>
                    </a:lnTo>
                    <a:close/>
                    <a:moveTo>
                      <a:pt x="294" y="216"/>
                    </a:moveTo>
                    <a:cubicBezTo>
                      <a:pt x="225" y="325"/>
                      <a:pt x="225" y="325"/>
                      <a:pt x="225" y="325"/>
                    </a:cubicBezTo>
                    <a:cubicBezTo>
                      <a:pt x="225" y="325"/>
                      <a:pt x="225" y="326"/>
                      <a:pt x="224" y="326"/>
                    </a:cubicBezTo>
                    <a:cubicBezTo>
                      <a:pt x="215" y="351"/>
                      <a:pt x="215" y="351"/>
                      <a:pt x="215" y="351"/>
                    </a:cubicBezTo>
                    <a:cubicBezTo>
                      <a:pt x="204" y="312"/>
                      <a:pt x="204" y="312"/>
                      <a:pt x="204" y="312"/>
                    </a:cubicBezTo>
                    <a:lnTo>
                      <a:pt x="294" y="216"/>
                    </a:lnTo>
                    <a:close/>
                    <a:moveTo>
                      <a:pt x="251" y="325"/>
                    </a:moveTo>
                    <a:cubicBezTo>
                      <a:pt x="348" y="170"/>
                      <a:pt x="348" y="170"/>
                      <a:pt x="348" y="170"/>
                    </a:cubicBezTo>
                    <a:cubicBezTo>
                      <a:pt x="332" y="358"/>
                      <a:pt x="332" y="358"/>
                      <a:pt x="332" y="358"/>
                    </a:cubicBezTo>
                    <a:lnTo>
                      <a:pt x="251" y="32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sp>
        <p:nvSpPr>
          <p:cNvPr id="247" name="Freeform 547">
            <a:extLst>
              <a:ext uri="{FF2B5EF4-FFF2-40B4-BE49-F238E27FC236}">
                <a16:creationId xmlns:a16="http://schemas.microsoft.com/office/drawing/2014/main" id="{54EB0A2F-94F2-468E-ACFD-1E89A95E1180}"/>
              </a:ext>
            </a:extLst>
          </p:cNvPr>
          <p:cNvSpPr>
            <a:spLocks noChangeAspect="1" noEditPoints="1"/>
          </p:cNvSpPr>
          <p:nvPr/>
        </p:nvSpPr>
        <p:spPr bwMode="auto">
          <a:xfrm>
            <a:off x="11118215" y="227660"/>
            <a:ext cx="594360" cy="594360"/>
          </a:xfrm>
          <a:custGeom>
            <a:avLst/>
            <a:gdLst>
              <a:gd name="T0" fmla="*/ 288 w 512"/>
              <a:gd name="T1" fmla="*/ 256 h 512"/>
              <a:gd name="T2" fmla="*/ 256 w 512"/>
              <a:gd name="T3" fmla="*/ 288 h 512"/>
              <a:gd name="T4" fmla="*/ 224 w 512"/>
              <a:gd name="T5" fmla="*/ 256 h 512"/>
              <a:gd name="T6" fmla="*/ 256 w 512"/>
              <a:gd name="T7" fmla="*/ 224 h 512"/>
              <a:gd name="T8" fmla="*/ 288 w 512"/>
              <a:gd name="T9" fmla="*/ 256 h 512"/>
              <a:gd name="T10" fmla="*/ 392 w 512"/>
              <a:gd name="T11" fmla="*/ 256 h 512"/>
              <a:gd name="T12" fmla="*/ 257 w 512"/>
              <a:gd name="T13" fmla="*/ 330 h 512"/>
              <a:gd name="T14" fmla="*/ 121 w 512"/>
              <a:gd name="T15" fmla="*/ 256 h 512"/>
              <a:gd name="T16" fmla="*/ 257 w 512"/>
              <a:gd name="T17" fmla="*/ 181 h 512"/>
              <a:gd name="T18" fmla="*/ 392 w 512"/>
              <a:gd name="T19" fmla="*/ 256 h 512"/>
              <a:gd name="T20" fmla="*/ 309 w 512"/>
              <a:gd name="T21" fmla="*/ 256 h 512"/>
              <a:gd name="T22" fmla="*/ 256 w 512"/>
              <a:gd name="T23" fmla="*/ 202 h 512"/>
              <a:gd name="T24" fmla="*/ 202 w 512"/>
              <a:gd name="T25" fmla="*/ 256 h 512"/>
              <a:gd name="T26" fmla="*/ 256 w 512"/>
              <a:gd name="T27" fmla="*/ 309 h 512"/>
              <a:gd name="T28" fmla="*/ 309 w 512"/>
              <a:gd name="T29" fmla="*/ 256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5 w 512"/>
              <a:gd name="T41" fmla="*/ 255 h 512"/>
              <a:gd name="T42" fmla="*/ 414 w 512"/>
              <a:gd name="T43" fmla="*/ 250 h 512"/>
              <a:gd name="T44" fmla="*/ 257 w 512"/>
              <a:gd name="T45" fmla="*/ 160 h 512"/>
              <a:gd name="T46" fmla="*/ 99 w 512"/>
              <a:gd name="T47" fmla="*/ 249 h 512"/>
              <a:gd name="T48" fmla="*/ 98 w 512"/>
              <a:gd name="T49" fmla="*/ 256 h 512"/>
              <a:gd name="T50" fmla="*/ 99 w 512"/>
              <a:gd name="T51" fmla="*/ 261 h 512"/>
              <a:gd name="T52" fmla="*/ 257 w 512"/>
              <a:gd name="T53" fmla="*/ 352 h 512"/>
              <a:gd name="T54" fmla="*/ 414 w 512"/>
              <a:gd name="T55" fmla="*/ 262 h 512"/>
              <a:gd name="T56" fmla="*/ 415 w 512"/>
              <a:gd name="T57" fmla="*/ 25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2" h="512">
                <a:moveTo>
                  <a:pt x="288" y="256"/>
                </a:moveTo>
                <a:cubicBezTo>
                  <a:pt x="288" y="273"/>
                  <a:pt x="273" y="288"/>
                  <a:pt x="256" y="288"/>
                </a:cubicBezTo>
                <a:cubicBezTo>
                  <a:pt x="238" y="288"/>
                  <a:pt x="224" y="273"/>
                  <a:pt x="224" y="256"/>
                </a:cubicBezTo>
                <a:cubicBezTo>
                  <a:pt x="224" y="238"/>
                  <a:pt x="238" y="224"/>
                  <a:pt x="256" y="224"/>
                </a:cubicBezTo>
                <a:cubicBezTo>
                  <a:pt x="273" y="224"/>
                  <a:pt x="288" y="238"/>
                  <a:pt x="288" y="256"/>
                </a:cubicBezTo>
                <a:close/>
                <a:moveTo>
                  <a:pt x="392" y="256"/>
                </a:moveTo>
                <a:cubicBezTo>
                  <a:pt x="365" y="293"/>
                  <a:pt x="316" y="330"/>
                  <a:pt x="257" y="330"/>
                </a:cubicBezTo>
                <a:cubicBezTo>
                  <a:pt x="192" y="330"/>
                  <a:pt x="143" y="286"/>
                  <a:pt x="121" y="256"/>
                </a:cubicBezTo>
                <a:cubicBezTo>
                  <a:pt x="148" y="218"/>
                  <a:pt x="197" y="181"/>
                  <a:pt x="257" y="181"/>
                </a:cubicBezTo>
                <a:cubicBezTo>
                  <a:pt x="321" y="181"/>
                  <a:pt x="370" y="226"/>
                  <a:pt x="392" y="256"/>
                </a:cubicBezTo>
                <a:close/>
                <a:moveTo>
                  <a:pt x="309" y="256"/>
                </a:moveTo>
                <a:cubicBezTo>
                  <a:pt x="309" y="226"/>
                  <a:pt x="285" y="202"/>
                  <a:pt x="256" y="202"/>
                </a:cubicBezTo>
                <a:cubicBezTo>
                  <a:pt x="226" y="202"/>
                  <a:pt x="202" y="226"/>
                  <a:pt x="202" y="256"/>
                </a:cubicBezTo>
                <a:cubicBezTo>
                  <a:pt x="202" y="285"/>
                  <a:pt x="226" y="309"/>
                  <a:pt x="256" y="309"/>
                </a:cubicBezTo>
                <a:cubicBezTo>
                  <a:pt x="285" y="309"/>
                  <a:pt x="309" y="285"/>
                  <a:pt x="309" y="25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55"/>
                </a:moveTo>
                <a:cubicBezTo>
                  <a:pt x="415" y="254"/>
                  <a:pt x="415" y="252"/>
                  <a:pt x="414" y="250"/>
                </a:cubicBezTo>
                <a:cubicBezTo>
                  <a:pt x="392" y="216"/>
                  <a:pt x="334" y="160"/>
                  <a:pt x="257" y="160"/>
                </a:cubicBezTo>
                <a:cubicBezTo>
                  <a:pt x="186" y="160"/>
                  <a:pt x="129" y="206"/>
                  <a:pt x="99" y="249"/>
                </a:cubicBezTo>
                <a:cubicBezTo>
                  <a:pt x="98" y="251"/>
                  <a:pt x="98" y="254"/>
                  <a:pt x="98" y="256"/>
                </a:cubicBezTo>
                <a:cubicBezTo>
                  <a:pt x="98" y="258"/>
                  <a:pt x="98" y="260"/>
                  <a:pt x="99" y="261"/>
                </a:cubicBezTo>
                <a:cubicBezTo>
                  <a:pt x="121" y="295"/>
                  <a:pt x="179" y="352"/>
                  <a:pt x="257" y="352"/>
                </a:cubicBezTo>
                <a:cubicBezTo>
                  <a:pt x="327" y="352"/>
                  <a:pt x="384" y="305"/>
                  <a:pt x="414" y="262"/>
                </a:cubicBezTo>
                <a:cubicBezTo>
                  <a:pt x="415" y="260"/>
                  <a:pt x="416" y="258"/>
                  <a:pt x="415" y="25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14" name="Group 13">
            <a:extLst>
              <a:ext uri="{FF2B5EF4-FFF2-40B4-BE49-F238E27FC236}">
                <a16:creationId xmlns:a16="http://schemas.microsoft.com/office/drawing/2014/main" id="{B0068D94-16AC-49B5-A9ED-2149B591B9A9}"/>
              </a:ext>
            </a:extLst>
          </p:cNvPr>
          <p:cNvGrpSpPr/>
          <p:nvPr/>
        </p:nvGrpSpPr>
        <p:grpSpPr>
          <a:xfrm>
            <a:off x="6706272" y="2123465"/>
            <a:ext cx="5044606" cy="2429658"/>
            <a:chOff x="6398961" y="2123465"/>
            <a:chExt cx="5044606" cy="2429658"/>
          </a:xfrm>
        </p:grpSpPr>
        <p:sp>
          <p:nvSpPr>
            <p:cNvPr id="186" name="Rectangle 185">
              <a:extLst>
                <a:ext uri="{FF2B5EF4-FFF2-40B4-BE49-F238E27FC236}">
                  <a16:creationId xmlns:a16="http://schemas.microsoft.com/office/drawing/2014/main" id="{9627458C-A449-496D-900C-825A5277CB8E}"/>
                </a:ext>
              </a:extLst>
            </p:cNvPr>
            <p:cNvSpPr/>
            <p:nvPr/>
          </p:nvSpPr>
          <p:spPr>
            <a:xfrm>
              <a:off x="7317213" y="2123465"/>
              <a:ext cx="137160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tx2"/>
                  </a:solidFill>
                </a:rPr>
                <a:t>D/</a:t>
              </a:r>
              <a:r>
                <a:rPr lang="en-US" sz="1000" b="1" dirty="0" err="1">
                  <a:solidFill>
                    <a:schemeClr val="tx2"/>
                  </a:solidFill>
                </a:rPr>
                <a:t>Ms</a:t>
              </a:r>
              <a:r>
                <a:rPr lang="en-US" sz="1000" b="1" dirty="0">
                  <a:solidFill>
                    <a:schemeClr val="tx2"/>
                  </a:solidFill>
                </a:rPr>
                <a:t> specific Capacity Building Roadmap &amp; Dashboard Guidelines </a:t>
              </a:r>
            </a:p>
          </p:txBody>
        </p:sp>
        <p:sp>
          <p:nvSpPr>
            <p:cNvPr id="187" name="Rectangle 186">
              <a:extLst>
                <a:ext uri="{FF2B5EF4-FFF2-40B4-BE49-F238E27FC236}">
                  <a16:creationId xmlns:a16="http://schemas.microsoft.com/office/drawing/2014/main" id="{52CF7624-F8BC-4F24-904D-0B3352770876}"/>
                </a:ext>
              </a:extLst>
            </p:cNvPr>
            <p:cNvSpPr/>
            <p:nvPr/>
          </p:nvSpPr>
          <p:spPr>
            <a:xfrm>
              <a:off x="9153717" y="2123465"/>
              <a:ext cx="137160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accent5"/>
                  </a:solidFill>
                </a:rPr>
                <a:t>State specific M&amp;E Toolkits &amp; Capacity Building Roadmap </a:t>
              </a:r>
            </a:p>
          </p:txBody>
        </p:sp>
        <p:sp>
          <p:nvSpPr>
            <p:cNvPr id="188" name="Rectangle 187">
              <a:extLst>
                <a:ext uri="{FF2B5EF4-FFF2-40B4-BE49-F238E27FC236}">
                  <a16:creationId xmlns:a16="http://schemas.microsoft.com/office/drawing/2014/main" id="{09EB538B-E9B9-4E8A-B1A2-3565513AB1DB}"/>
                </a:ext>
              </a:extLst>
            </p:cNvPr>
            <p:cNvSpPr/>
            <p:nvPr/>
          </p:nvSpPr>
          <p:spPr>
            <a:xfrm>
              <a:off x="6398961" y="3937570"/>
              <a:ext cx="137160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accent3">
                      <a:lumMod val="75000"/>
                    </a:schemeClr>
                  </a:solidFill>
                </a:rPr>
                <a:t>Draft OOMF v.2 Toolkit - Policy, Manual, Process, Methodology</a:t>
              </a:r>
            </a:p>
          </p:txBody>
        </p:sp>
        <p:sp>
          <p:nvSpPr>
            <p:cNvPr id="189" name="Rectangle 188">
              <a:extLst>
                <a:ext uri="{FF2B5EF4-FFF2-40B4-BE49-F238E27FC236}">
                  <a16:creationId xmlns:a16="http://schemas.microsoft.com/office/drawing/2014/main" id="{3137ECE6-D857-46E8-94BB-7B059EC82038}"/>
                </a:ext>
              </a:extLst>
            </p:cNvPr>
            <p:cNvSpPr/>
            <p:nvPr/>
          </p:nvSpPr>
          <p:spPr>
            <a:xfrm>
              <a:off x="8235465" y="3937570"/>
              <a:ext cx="1371600" cy="615553"/>
            </a:xfrm>
            <a:prstGeom prst="rect">
              <a:avLst/>
            </a:prstGeom>
          </p:spPr>
          <p:txBody>
            <a:bodyPr wrap="square" lIns="0" tIns="0" rIns="0" bIns="0">
              <a:spAutoFit/>
            </a:bodyPr>
            <a:lstStyle/>
            <a:p>
              <a:pPr algn="ctr" defTabSz="1219170">
                <a:spcBef>
                  <a:spcPts val="200"/>
                </a:spcBef>
                <a:spcAft>
                  <a:spcPts val="200"/>
                </a:spcAft>
              </a:pPr>
              <a:r>
                <a:rPr lang="en-US" sz="1000" b="1" dirty="0">
                  <a:solidFill>
                    <a:srgbClr val="81B524"/>
                  </a:solidFill>
                </a:rPr>
                <a:t>OOMF Dashboard 2.0 Draft Business, Functional &amp; Technical Requirement Documents</a:t>
              </a:r>
            </a:p>
          </p:txBody>
        </p:sp>
        <p:sp>
          <p:nvSpPr>
            <p:cNvPr id="190" name="Rectangle 189">
              <a:extLst>
                <a:ext uri="{FF2B5EF4-FFF2-40B4-BE49-F238E27FC236}">
                  <a16:creationId xmlns:a16="http://schemas.microsoft.com/office/drawing/2014/main" id="{8AA7D5F5-5FAF-4F3A-9AA1-DEF169AA14DE}"/>
                </a:ext>
              </a:extLst>
            </p:cNvPr>
            <p:cNvSpPr/>
            <p:nvPr/>
          </p:nvSpPr>
          <p:spPr>
            <a:xfrm>
              <a:off x="10071967" y="3937570"/>
              <a:ext cx="137160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accent4"/>
                  </a:solidFill>
                </a:rPr>
                <a:t>Advocacy Materials, Integrated Communication Plan</a:t>
              </a:r>
            </a:p>
          </p:txBody>
        </p:sp>
        <p:grpSp>
          <p:nvGrpSpPr>
            <p:cNvPr id="172" name="Group 171">
              <a:extLst>
                <a:ext uri="{FF2B5EF4-FFF2-40B4-BE49-F238E27FC236}">
                  <a16:creationId xmlns:a16="http://schemas.microsoft.com/office/drawing/2014/main" id="{3F9C34DF-262D-40C0-9FCD-C4BEF5BF6E81}"/>
                </a:ext>
              </a:extLst>
            </p:cNvPr>
            <p:cNvGrpSpPr/>
            <p:nvPr/>
          </p:nvGrpSpPr>
          <p:grpSpPr>
            <a:xfrm flipH="1">
              <a:off x="8148770" y="3063676"/>
              <a:ext cx="706730" cy="420599"/>
              <a:chOff x="2588631" y="2250677"/>
              <a:chExt cx="1146833" cy="682521"/>
            </a:xfrm>
          </p:grpSpPr>
          <p:sp>
            <p:nvSpPr>
              <p:cNvPr id="226" name="Freeform 57">
                <a:extLst>
                  <a:ext uri="{FF2B5EF4-FFF2-40B4-BE49-F238E27FC236}">
                    <a16:creationId xmlns:a16="http://schemas.microsoft.com/office/drawing/2014/main" id="{72DAB705-33A5-47BC-9C2E-23B5C4328CE1}"/>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tx2">
                  <a:lumMod val="75000"/>
                </a:schemeClr>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227" name="Freeform 58">
                <a:extLst>
                  <a:ext uri="{FF2B5EF4-FFF2-40B4-BE49-F238E27FC236}">
                    <a16:creationId xmlns:a16="http://schemas.microsoft.com/office/drawing/2014/main" id="{F4D5AAE1-8141-4DC8-BD7C-B89D0A5249F8}"/>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tx2"/>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grpSp>
          <p:nvGrpSpPr>
            <p:cNvPr id="173" name="Group 172">
              <a:extLst>
                <a:ext uri="{FF2B5EF4-FFF2-40B4-BE49-F238E27FC236}">
                  <a16:creationId xmlns:a16="http://schemas.microsoft.com/office/drawing/2014/main" id="{8780FBFA-8F4F-4F1D-B38B-92AE02C5687A}"/>
                </a:ext>
              </a:extLst>
            </p:cNvPr>
            <p:cNvGrpSpPr/>
            <p:nvPr/>
          </p:nvGrpSpPr>
          <p:grpSpPr>
            <a:xfrm>
              <a:off x="7206213" y="3063676"/>
              <a:ext cx="706730" cy="420599"/>
              <a:chOff x="2588631" y="2250677"/>
              <a:chExt cx="1146833" cy="682521"/>
            </a:xfrm>
          </p:grpSpPr>
          <p:sp>
            <p:nvSpPr>
              <p:cNvPr id="224" name="Freeform 55">
                <a:extLst>
                  <a:ext uri="{FF2B5EF4-FFF2-40B4-BE49-F238E27FC236}">
                    <a16:creationId xmlns:a16="http://schemas.microsoft.com/office/drawing/2014/main" id="{3FEA833D-DFAF-4934-9BF7-5586370DB13E}"/>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3">
                  <a:lumMod val="50000"/>
                </a:schemeClr>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225" name="Freeform 56">
                <a:extLst>
                  <a:ext uri="{FF2B5EF4-FFF2-40B4-BE49-F238E27FC236}">
                    <a16:creationId xmlns:a16="http://schemas.microsoft.com/office/drawing/2014/main" id="{EE9916BE-41F2-4284-B6B3-D8ECA09512A1}"/>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3">
                  <a:lumMod val="75000"/>
                </a:schemeClr>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sp>
          <p:nvSpPr>
            <p:cNvPr id="174" name="Oval 173">
              <a:extLst>
                <a:ext uri="{FF2B5EF4-FFF2-40B4-BE49-F238E27FC236}">
                  <a16:creationId xmlns:a16="http://schemas.microsoft.com/office/drawing/2014/main" id="{78F20847-0E00-48FC-BFE4-3DC342009031}"/>
                </a:ext>
              </a:extLst>
            </p:cNvPr>
            <p:cNvSpPr/>
            <p:nvPr/>
          </p:nvSpPr>
          <p:spPr bwMode="gray">
            <a:xfrm>
              <a:off x="6773598" y="3206981"/>
              <a:ext cx="644495" cy="644494"/>
            </a:xfrm>
            <a:prstGeom prst="ellipse">
              <a:avLst/>
            </a:prstGeom>
            <a:solidFill>
              <a:schemeClr val="accent3">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5" name="Oval 174">
              <a:extLst>
                <a:ext uri="{FF2B5EF4-FFF2-40B4-BE49-F238E27FC236}">
                  <a16:creationId xmlns:a16="http://schemas.microsoft.com/office/drawing/2014/main" id="{5F239BDB-DF3A-4AA6-A2AE-E8AD859F2E5E}"/>
                </a:ext>
              </a:extLst>
            </p:cNvPr>
            <p:cNvSpPr/>
            <p:nvPr/>
          </p:nvSpPr>
          <p:spPr bwMode="gray">
            <a:xfrm>
              <a:off x="6836148" y="3269532"/>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6" name="Oval 175">
              <a:extLst>
                <a:ext uri="{FF2B5EF4-FFF2-40B4-BE49-F238E27FC236}">
                  <a16:creationId xmlns:a16="http://schemas.microsoft.com/office/drawing/2014/main" id="{6AE75391-9E7E-438E-9E14-2D0702FB5B70}"/>
                </a:ext>
              </a:extLst>
            </p:cNvPr>
            <p:cNvSpPr/>
            <p:nvPr/>
          </p:nvSpPr>
          <p:spPr bwMode="gray">
            <a:xfrm>
              <a:off x="7708010" y="2699123"/>
              <a:ext cx="644495" cy="644494"/>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7" name="Oval 176">
              <a:extLst>
                <a:ext uri="{FF2B5EF4-FFF2-40B4-BE49-F238E27FC236}">
                  <a16:creationId xmlns:a16="http://schemas.microsoft.com/office/drawing/2014/main" id="{95BEE79B-5D78-478E-92F6-AF745284549D}"/>
                </a:ext>
              </a:extLst>
            </p:cNvPr>
            <p:cNvSpPr/>
            <p:nvPr/>
          </p:nvSpPr>
          <p:spPr bwMode="gray">
            <a:xfrm>
              <a:off x="7770561" y="2761674"/>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78" name="Group 177">
              <a:extLst>
                <a:ext uri="{FF2B5EF4-FFF2-40B4-BE49-F238E27FC236}">
                  <a16:creationId xmlns:a16="http://schemas.microsoft.com/office/drawing/2014/main" id="{36F306A0-B19C-4B86-9F06-CBE0F57BAC9C}"/>
                </a:ext>
              </a:extLst>
            </p:cNvPr>
            <p:cNvGrpSpPr/>
            <p:nvPr/>
          </p:nvGrpSpPr>
          <p:grpSpPr>
            <a:xfrm flipH="1">
              <a:off x="10017596" y="3063676"/>
              <a:ext cx="706730" cy="420599"/>
              <a:chOff x="2588631" y="2250677"/>
              <a:chExt cx="1146833" cy="682521"/>
            </a:xfrm>
          </p:grpSpPr>
          <p:sp>
            <p:nvSpPr>
              <p:cNvPr id="222" name="Freeform 53">
                <a:extLst>
                  <a:ext uri="{FF2B5EF4-FFF2-40B4-BE49-F238E27FC236}">
                    <a16:creationId xmlns:a16="http://schemas.microsoft.com/office/drawing/2014/main" id="{C6DDD75D-731B-49A8-B9F8-5B983BE8F44F}"/>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rgbClr val="008B9A"/>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223" name="Freeform 54">
                <a:extLst>
                  <a:ext uri="{FF2B5EF4-FFF2-40B4-BE49-F238E27FC236}">
                    <a16:creationId xmlns:a16="http://schemas.microsoft.com/office/drawing/2014/main" id="{1091A6C2-1454-45FD-90FC-7C43144643C7}"/>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5"/>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grpSp>
          <p:nvGrpSpPr>
            <p:cNvPr id="179" name="Group 178">
              <a:extLst>
                <a:ext uri="{FF2B5EF4-FFF2-40B4-BE49-F238E27FC236}">
                  <a16:creationId xmlns:a16="http://schemas.microsoft.com/office/drawing/2014/main" id="{31DA10C5-844C-4D7D-A3EB-56DCA81D6E4C}"/>
                </a:ext>
              </a:extLst>
            </p:cNvPr>
            <p:cNvGrpSpPr/>
            <p:nvPr/>
          </p:nvGrpSpPr>
          <p:grpSpPr>
            <a:xfrm>
              <a:off x="9075038" y="3063676"/>
              <a:ext cx="706730" cy="420599"/>
              <a:chOff x="2588631" y="2250677"/>
              <a:chExt cx="1146833" cy="682521"/>
            </a:xfrm>
          </p:grpSpPr>
          <p:sp>
            <p:nvSpPr>
              <p:cNvPr id="220" name="Freeform 51">
                <a:extLst>
                  <a:ext uri="{FF2B5EF4-FFF2-40B4-BE49-F238E27FC236}">
                    <a16:creationId xmlns:a16="http://schemas.microsoft.com/office/drawing/2014/main" id="{DFB7A9F3-8C7E-4283-87F7-EC4FD7C054BC}"/>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rgbClr val="7DAF23"/>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221" name="Freeform 52">
                <a:extLst>
                  <a:ext uri="{FF2B5EF4-FFF2-40B4-BE49-F238E27FC236}">
                    <a16:creationId xmlns:a16="http://schemas.microsoft.com/office/drawing/2014/main" id="{2AE94492-5BAC-4840-95E2-E84261DF0DE9}"/>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1"/>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sp>
          <p:nvSpPr>
            <p:cNvPr id="180" name="Oval 179">
              <a:extLst>
                <a:ext uri="{FF2B5EF4-FFF2-40B4-BE49-F238E27FC236}">
                  <a16:creationId xmlns:a16="http://schemas.microsoft.com/office/drawing/2014/main" id="{5100DD71-DD14-4C86-9CA7-F48BCCAD60ED}"/>
                </a:ext>
              </a:extLst>
            </p:cNvPr>
            <p:cNvSpPr/>
            <p:nvPr/>
          </p:nvSpPr>
          <p:spPr bwMode="gray">
            <a:xfrm>
              <a:off x="8642424" y="3206981"/>
              <a:ext cx="644495" cy="644494"/>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1" name="Oval 180">
              <a:extLst>
                <a:ext uri="{FF2B5EF4-FFF2-40B4-BE49-F238E27FC236}">
                  <a16:creationId xmlns:a16="http://schemas.microsoft.com/office/drawing/2014/main" id="{E0E18E27-0D55-4BC8-A82D-72BFDCC25EEF}"/>
                </a:ext>
              </a:extLst>
            </p:cNvPr>
            <p:cNvSpPr/>
            <p:nvPr/>
          </p:nvSpPr>
          <p:spPr bwMode="gray">
            <a:xfrm>
              <a:off x="8704974" y="3269532"/>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2" name="Oval 181">
              <a:extLst>
                <a:ext uri="{FF2B5EF4-FFF2-40B4-BE49-F238E27FC236}">
                  <a16:creationId xmlns:a16="http://schemas.microsoft.com/office/drawing/2014/main" id="{8A3A9F6F-96B2-4D36-A79D-055DF3B0C360}"/>
                </a:ext>
              </a:extLst>
            </p:cNvPr>
            <p:cNvSpPr/>
            <p:nvPr/>
          </p:nvSpPr>
          <p:spPr bwMode="gray">
            <a:xfrm>
              <a:off x="9576836" y="2699123"/>
              <a:ext cx="644495" cy="644494"/>
            </a:xfrm>
            <a:prstGeom prst="ellipse">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3" name="Oval 182">
              <a:extLst>
                <a:ext uri="{FF2B5EF4-FFF2-40B4-BE49-F238E27FC236}">
                  <a16:creationId xmlns:a16="http://schemas.microsoft.com/office/drawing/2014/main" id="{8EFDB0A3-0B0D-4F93-A93A-3F9FF74E6FAA}"/>
                </a:ext>
              </a:extLst>
            </p:cNvPr>
            <p:cNvSpPr/>
            <p:nvPr/>
          </p:nvSpPr>
          <p:spPr bwMode="gray">
            <a:xfrm>
              <a:off x="9639387" y="2761674"/>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4" name="Oval 183">
              <a:extLst>
                <a:ext uri="{FF2B5EF4-FFF2-40B4-BE49-F238E27FC236}">
                  <a16:creationId xmlns:a16="http://schemas.microsoft.com/office/drawing/2014/main" id="{BD9F9F00-B613-4BEF-B118-F45C594B8BEB}"/>
                </a:ext>
              </a:extLst>
            </p:cNvPr>
            <p:cNvSpPr/>
            <p:nvPr/>
          </p:nvSpPr>
          <p:spPr bwMode="gray">
            <a:xfrm>
              <a:off x="10510093" y="3206981"/>
              <a:ext cx="644495" cy="644494"/>
            </a:xfrm>
            <a:prstGeom prst="ellipse">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5" name="Oval 184">
              <a:extLst>
                <a:ext uri="{FF2B5EF4-FFF2-40B4-BE49-F238E27FC236}">
                  <a16:creationId xmlns:a16="http://schemas.microsoft.com/office/drawing/2014/main" id="{F1C03AD5-8391-4567-A269-9C4939A7A396}"/>
                </a:ext>
              </a:extLst>
            </p:cNvPr>
            <p:cNvSpPr/>
            <p:nvPr/>
          </p:nvSpPr>
          <p:spPr bwMode="gray">
            <a:xfrm>
              <a:off x="10572644" y="3269532"/>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41" name="Freeform 580">
              <a:extLst>
                <a:ext uri="{FF2B5EF4-FFF2-40B4-BE49-F238E27FC236}">
                  <a16:creationId xmlns:a16="http://schemas.microsoft.com/office/drawing/2014/main" id="{25581F78-13EF-4349-8EC9-C4A13242BBDD}"/>
                </a:ext>
              </a:extLst>
            </p:cNvPr>
            <p:cNvSpPr>
              <a:spLocks noChangeAspect="1" noEditPoints="1"/>
            </p:cNvSpPr>
            <p:nvPr/>
          </p:nvSpPr>
          <p:spPr bwMode="auto">
            <a:xfrm>
              <a:off x="6903977" y="3337923"/>
              <a:ext cx="383736" cy="382611"/>
            </a:xfrm>
            <a:custGeom>
              <a:avLst/>
              <a:gdLst>
                <a:gd name="T0" fmla="*/ 288 w 512"/>
                <a:gd name="T1" fmla="*/ 266 h 512"/>
                <a:gd name="T2" fmla="*/ 373 w 512"/>
                <a:gd name="T3" fmla="*/ 266 h 512"/>
                <a:gd name="T4" fmla="*/ 373 w 512"/>
                <a:gd name="T5" fmla="*/ 352 h 512"/>
                <a:gd name="T6" fmla="*/ 138 w 512"/>
                <a:gd name="T7" fmla="*/ 352 h 512"/>
                <a:gd name="T8" fmla="*/ 138 w 512"/>
                <a:gd name="T9" fmla="*/ 266 h 512"/>
                <a:gd name="T10" fmla="*/ 224 w 512"/>
                <a:gd name="T11" fmla="*/ 266 h 512"/>
                <a:gd name="T12" fmla="*/ 224 w 512"/>
                <a:gd name="T13" fmla="*/ 277 h 512"/>
                <a:gd name="T14" fmla="*/ 234 w 512"/>
                <a:gd name="T15" fmla="*/ 288 h 512"/>
                <a:gd name="T16" fmla="*/ 277 w 512"/>
                <a:gd name="T17" fmla="*/ 288 h 512"/>
                <a:gd name="T18" fmla="*/ 288 w 512"/>
                <a:gd name="T19" fmla="*/ 277 h 512"/>
                <a:gd name="T20" fmla="*/ 288 w 512"/>
                <a:gd name="T21" fmla="*/ 266 h 512"/>
                <a:gd name="T22" fmla="*/ 245 w 512"/>
                <a:gd name="T23" fmla="*/ 245 h 512"/>
                <a:gd name="T24" fmla="*/ 245 w 512"/>
                <a:gd name="T25" fmla="*/ 266 h 512"/>
                <a:gd name="T26" fmla="*/ 266 w 512"/>
                <a:gd name="T27" fmla="*/ 266 h 512"/>
                <a:gd name="T28" fmla="*/ 266 w 512"/>
                <a:gd name="T29" fmla="*/ 245 h 512"/>
                <a:gd name="T30" fmla="*/ 245 w 512"/>
                <a:gd name="T31" fmla="*/ 245 h 512"/>
                <a:gd name="T32" fmla="*/ 288 w 512"/>
                <a:gd name="T33" fmla="*/ 160 h 512"/>
                <a:gd name="T34" fmla="*/ 224 w 512"/>
                <a:gd name="T35" fmla="*/ 160 h 512"/>
                <a:gd name="T36" fmla="*/ 202 w 512"/>
                <a:gd name="T37" fmla="*/ 181 h 512"/>
                <a:gd name="T38" fmla="*/ 309 w 512"/>
                <a:gd name="T39" fmla="*/ 181 h 512"/>
                <a:gd name="T40" fmla="*/ 288 w 512"/>
                <a:gd name="T41" fmla="*/ 160 h 512"/>
                <a:gd name="T42" fmla="*/ 512 w 512"/>
                <a:gd name="T43" fmla="*/ 256 h 512"/>
                <a:gd name="T44" fmla="*/ 256 w 512"/>
                <a:gd name="T45" fmla="*/ 512 h 512"/>
                <a:gd name="T46" fmla="*/ 0 w 512"/>
                <a:gd name="T47" fmla="*/ 256 h 512"/>
                <a:gd name="T48" fmla="*/ 256 w 512"/>
                <a:gd name="T49" fmla="*/ 0 h 512"/>
                <a:gd name="T50" fmla="*/ 512 w 512"/>
                <a:gd name="T51" fmla="*/ 256 h 512"/>
                <a:gd name="T52" fmla="*/ 416 w 512"/>
                <a:gd name="T53" fmla="*/ 192 h 512"/>
                <a:gd name="T54" fmla="*/ 405 w 512"/>
                <a:gd name="T55" fmla="*/ 181 h 512"/>
                <a:gd name="T56" fmla="*/ 330 w 512"/>
                <a:gd name="T57" fmla="*/ 181 h 512"/>
                <a:gd name="T58" fmla="*/ 288 w 512"/>
                <a:gd name="T59" fmla="*/ 138 h 512"/>
                <a:gd name="T60" fmla="*/ 224 w 512"/>
                <a:gd name="T61" fmla="*/ 138 h 512"/>
                <a:gd name="T62" fmla="*/ 181 w 512"/>
                <a:gd name="T63" fmla="*/ 181 h 512"/>
                <a:gd name="T64" fmla="*/ 106 w 512"/>
                <a:gd name="T65" fmla="*/ 181 h 512"/>
                <a:gd name="T66" fmla="*/ 96 w 512"/>
                <a:gd name="T67" fmla="*/ 192 h 512"/>
                <a:gd name="T68" fmla="*/ 96 w 512"/>
                <a:gd name="T69" fmla="*/ 256 h 512"/>
                <a:gd name="T70" fmla="*/ 106 w 512"/>
                <a:gd name="T71" fmla="*/ 266 h 512"/>
                <a:gd name="T72" fmla="*/ 117 w 512"/>
                <a:gd name="T73" fmla="*/ 266 h 512"/>
                <a:gd name="T74" fmla="*/ 117 w 512"/>
                <a:gd name="T75" fmla="*/ 362 h 512"/>
                <a:gd name="T76" fmla="*/ 128 w 512"/>
                <a:gd name="T77" fmla="*/ 373 h 512"/>
                <a:gd name="T78" fmla="*/ 384 w 512"/>
                <a:gd name="T79" fmla="*/ 373 h 512"/>
                <a:gd name="T80" fmla="*/ 394 w 512"/>
                <a:gd name="T81" fmla="*/ 362 h 512"/>
                <a:gd name="T82" fmla="*/ 394 w 512"/>
                <a:gd name="T83" fmla="*/ 266 h 512"/>
                <a:gd name="T84" fmla="*/ 405 w 512"/>
                <a:gd name="T85" fmla="*/ 266 h 512"/>
                <a:gd name="T86" fmla="*/ 416 w 512"/>
                <a:gd name="T87" fmla="*/ 256 h 512"/>
                <a:gd name="T88" fmla="*/ 416 w 512"/>
                <a:gd name="T89" fmla="*/ 192 h 512"/>
                <a:gd name="T90" fmla="*/ 117 w 512"/>
                <a:gd name="T91" fmla="*/ 245 h 512"/>
                <a:gd name="T92" fmla="*/ 224 w 512"/>
                <a:gd name="T93" fmla="*/ 245 h 512"/>
                <a:gd name="T94" fmla="*/ 224 w 512"/>
                <a:gd name="T95" fmla="*/ 234 h 512"/>
                <a:gd name="T96" fmla="*/ 234 w 512"/>
                <a:gd name="T97" fmla="*/ 224 h 512"/>
                <a:gd name="T98" fmla="*/ 277 w 512"/>
                <a:gd name="T99" fmla="*/ 224 h 512"/>
                <a:gd name="T100" fmla="*/ 288 w 512"/>
                <a:gd name="T101" fmla="*/ 234 h 512"/>
                <a:gd name="T102" fmla="*/ 288 w 512"/>
                <a:gd name="T103" fmla="*/ 245 h 512"/>
                <a:gd name="T104" fmla="*/ 394 w 512"/>
                <a:gd name="T105" fmla="*/ 245 h 512"/>
                <a:gd name="T106" fmla="*/ 394 w 512"/>
                <a:gd name="T107" fmla="*/ 202 h 512"/>
                <a:gd name="T108" fmla="*/ 117 w 512"/>
                <a:gd name="T109" fmla="*/ 202 h 512"/>
                <a:gd name="T110" fmla="*/ 117 w 512"/>
                <a:gd name="T111" fmla="*/ 24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2" h="512">
                  <a:moveTo>
                    <a:pt x="288" y="266"/>
                  </a:moveTo>
                  <a:cubicBezTo>
                    <a:pt x="373" y="266"/>
                    <a:pt x="373" y="266"/>
                    <a:pt x="373" y="266"/>
                  </a:cubicBezTo>
                  <a:cubicBezTo>
                    <a:pt x="373" y="352"/>
                    <a:pt x="373" y="352"/>
                    <a:pt x="373" y="352"/>
                  </a:cubicBezTo>
                  <a:cubicBezTo>
                    <a:pt x="138" y="352"/>
                    <a:pt x="138" y="352"/>
                    <a:pt x="138" y="352"/>
                  </a:cubicBezTo>
                  <a:cubicBezTo>
                    <a:pt x="138" y="266"/>
                    <a:pt x="138" y="266"/>
                    <a:pt x="138" y="266"/>
                  </a:cubicBezTo>
                  <a:cubicBezTo>
                    <a:pt x="224" y="266"/>
                    <a:pt x="224" y="266"/>
                    <a:pt x="224" y="266"/>
                  </a:cubicBezTo>
                  <a:cubicBezTo>
                    <a:pt x="224" y="277"/>
                    <a:pt x="224" y="277"/>
                    <a:pt x="224" y="277"/>
                  </a:cubicBezTo>
                  <a:cubicBezTo>
                    <a:pt x="224" y="283"/>
                    <a:pt x="228" y="288"/>
                    <a:pt x="234" y="288"/>
                  </a:cubicBezTo>
                  <a:cubicBezTo>
                    <a:pt x="277" y="288"/>
                    <a:pt x="277" y="288"/>
                    <a:pt x="277" y="288"/>
                  </a:cubicBezTo>
                  <a:cubicBezTo>
                    <a:pt x="283" y="288"/>
                    <a:pt x="288" y="283"/>
                    <a:pt x="288" y="277"/>
                  </a:cubicBezTo>
                  <a:lnTo>
                    <a:pt x="288" y="266"/>
                  </a:lnTo>
                  <a:close/>
                  <a:moveTo>
                    <a:pt x="245" y="245"/>
                  </a:moveTo>
                  <a:cubicBezTo>
                    <a:pt x="245" y="266"/>
                    <a:pt x="245" y="266"/>
                    <a:pt x="245" y="266"/>
                  </a:cubicBezTo>
                  <a:cubicBezTo>
                    <a:pt x="266" y="266"/>
                    <a:pt x="266" y="266"/>
                    <a:pt x="266" y="266"/>
                  </a:cubicBezTo>
                  <a:cubicBezTo>
                    <a:pt x="266" y="245"/>
                    <a:pt x="266" y="245"/>
                    <a:pt x="266" y="245"/>
                  </a:cubicBezTo>
                  <a:lnTo>
                    <a:pt x="245" y="245"/>
                  </a:lnTo>
                  <a:close/>
                  <a:moveTo>
                    <a:pt x="288" y="160"/>
                  </a:moveTo>
                  <a:cubicBezTo>
                    <a:pt x="224" y="160"/>
                    <a:pt x="224" y="160"/>
                    <a:pt x="224" y="160"/>
                  </a:cubicBezTo>
                  <a:cubicBezTo>
                    <a:pt x="212" y="160"/>
                    <a:pt x="202" y="169"/>
                    <a:pt x="202" y="181"/>
                  </a:cubicBezTo>
                  <a:cubicBezTo>
                    <a:pt x="309" y="181"/>
                    <a:pt x="309" y="181"/>
                    <a:pt x="309" y="181"/>
                  </a:cubicBezTo>
                  <a:cubicBezTo>
                    <a:pt x="309" y="169"/>
                    <a:pt x="299" y="160"/>
                    <a:pt x="288"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92"/>
                  </a:moveTo>
                  <a:cubicBezTo>
                    <a:pt x="416" y="186"/>
                    <a:pt x="411" y="181"/>
                    <a:pt x="405" y="181"/>
                  </a:cubicBezTo>
                  <a:cubicBezTo>
                    <a:pt x="330" y="181"/>
                    <a:pt x="330" y="181"/>
                    <a:pt x="330" y="181"/>
                  </a:cubicBezTo>
                  <a:cubicBezTo>
                    <a:pt x="330" y="157"/>
                    <a:pt x="311" y="138"/>
                    <a:pt x="288" y="138"/>
                  </a:cubicBezTo>
                  <a:cubicBezTo>
                    <a:pt x="224" y="138"/>
                    <a:pt x="224" y="138"/>
                    <a:pt x="224" y="138"/>
                  </a:cubicBezTo>
                  <a:cubicBezTo>
                    <a:pt x="200" y="138"/>
                    <a:pt x="181" y="157"/>
                    <a:pt x="181" y="181"/>
                  </a:cubicBezTo>
                  <a:cubicBezTo>
                    <a:pt x="106" y="181"/>
                    <a:pt x="106" y="181"/>
                    <a:pt x="106" y="181"/>
                  </a:cubicBezTo>
                  <a:cubicBezTo>
                    <a:pt x="100" y="181"/>
                    <a:pt x="96" y="186"/>
                    <a:pt x="96" y="192"/>
                  </a:cubicBezTo>
                  <a:cubicBezTo>
                    <a:pt x="96" y="256"/>
                    <a:pt x="96" y="256"/>
                    <a:pt x="96" y="256"/>
                  </a:cubicBezTo>
                  <a:cubicBezTo>
                    <a:pt x="96" y="262"/>
                    <a:pt x="100" y="266"/>
                    <a:pt x="106" y="266"/>
                  </a:cubicBezTo>
                  <a:cubicBezTo>
                    <a:pt x="117" y="266"/>
                    <a:pt x="117" y="266"/>
                    <a:pt x="117" y="266"/>
                  </a:cubicBezTo>
                  <a:cubicBezTo>
                    <a:pt x="117" y="362"/>
                    <a:pt x="117" y="362"/>
                    <a:pt x="117" y="362"/>
                  </a:cubicBezTo>
                  <a:cubicBezTo>
                    <a:pt x="117" y="368"/>
                    <a:pt x="122" y="373"/>
                    <a:pt x="128" y="373"/>
                  </a:cubicBezTo>
                  <a:cubicBezTo>
                    <a:pt x="384" y="373"/>
                    <a:pt x="384" y="373"/>
                    <a:pt x="384" y="373"/>
                  </a:cubicBezTo>
                  <a:cubicBezTo>
                    <a:pt x="390" y="373"/>
                    <a:pt x="394" y="368"/>
                    <a:pt x="394" y="362"/>
                  </a:cubicBezTo>
                  <a:cubicBezTo>
                    <a:pt x="394" y="266"/>
                    <a:pt x="394" y="266"/>
                    <a:pt x="394" y="266"/>
                  </a:cubicBezTo>
                  <a:cubicBezTo>
                    <a:pt x="405" y="266"/>
                    <a:pt x="405" y="266"/>
                    <a:pt x="405" y="266"/>
                  </a:cubicBezTo>
                  <a:cubicBezTo>
                    <a:pt x="411" y="266"/>
                    <a:pt x="416" y="262"/>
                    <a:pt x="416" y="256"/>
                  </a:cubicBezTo>
                  <a:lnTo>
                    <a:pt x="416" y="192"/>
                  </a:lnTo>
                  <a:close/>
                  <a:moveTo>
                    <a:pt x="117" y="245"/>
                  </a:moveTo>
                  <a:cubicBezTo>
                    <a:pt x="224" y="245"/>
                    <a:pt x="224" y="245"/>
                    <a:pt x="224" y="245"/>
                  </a:cubicBezTo>
                  <a:cubicBezTo>
                    <a:pt x="224" y="234"/>
                    <a:pt x="224" y="234"/>
                    <a:pt x="224" y="234"/>
                  </a:cubicBezTo>
                  <a:cubicBezTo>
                    <a:pt x="224" y="228"/>
                    <a:pt x="228" y="224"/>
                    <a:pt x="234" y="224"/>
                  </a:cubicBezTo>
                  <a:cubicBezTo>
                    <a:pt x="277" y="224"/>
                    <a:pt x="277" y="224"/>
                    <a:pt x="277" y="224"/>
                  </a:cubicBezTo>
                  <a:cubicBezTo>
                    <a:pt x="283" y="224"/>
                    <a:pt x="288" y="228"/>
                    <a:pt x="288" y="234"/>
                  </a:cubicBezTo>
                  <a:cubicBezTo>
                    <a:pt x="288" y="245"/>
                    <a:pt x="288" y="245"/>
                    <a:pt x="288" y="245"/>
                  </a:cubicBezTo>
                  <a:cubicBezTo>
                    <a:pt x="394" y="245"/>
                    <a:pt x="394" y="245"/>
                    <a:pt x="394" y="245"/>
                  </a:cubicBezTo>
                  <a:cubicBezTo>
                    <a:pt x="394" y="202"/>
                    <a:pt x="394" y="202"/>
                    <a:pt x="394" y="202"/>
                  </a:cubicBezTo>
                  <a:cubicBezTo>
                    <a:pt x="117" y="202"/>
                    <a:pt x="117" y="202"/>
                    <a:pt x="117" y="202"/>
                  </a:cubicBezTo>
                  <a:lnTo>
                    <a:pt x="117" y="245"/>
                  </a:lnTo>
                  <a:close/>
                </a:path>
              </a:pathLst>
            </a:custGeom>
            <a:solidFill>
              <a:srgbClr val="1C630A"/>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42" name="Freeform 768">
              <a:extLst>
                <a:ext uri="{FF2B5EF4-FFF2-40B4-BE49-F238E27FC236}">
                  <a16:creationId xmlns:a16="http://schemas.microsoft.com/office/drawing/2014/main" id="{94549F7C-BCF0-4ED8-AAF1-2CE273F40415}"/>
                </a:ext>
              </a:extLst>
            </p:cNvPr>
            <p:cNvSpPr>
              <a:spLocks noChangeAspect="1" noEditPoints="1"/>
            </p:cNvSpPr>
            <p:nvPr/>
          </p:nvSpPr>
          <p:spPr bwMode="auto">
            <a:xfrm>
              <a:off x="7840316" y="2831429"/>
              <a:ext cx="379884" cy="379884"/>
            </a:xfrm>
            <a:custGeom>
              <a:avLst/>
              <a:gdLst>
                <a:gd name="T0" fmla="*/ 117 w 512"/>
                <a:gd name="T1" fmla="*/ 167 h 512"/>
                <a:gd name="T2" fmla="*/ 170 w 512"/>
                <a:gd name="T3" fmla="*/ 144 h 512"/>
                <a:gd name="T4" fmla="*/ 170 w 512"/>
                <a:gd name="T5" fmla="*/ 323 h 512"/>
                <a:gd name="T6" fmla="*/ 117 w 512"/>
                <a:gd name="T7" fmla="*/ 346 h 512"/>
                <a:gd name="T8" fmla="*/ 117 w 512"/>
                <a:gd name="T9" fmla="*/ 167 h 512"/>
                <a:gd name="T10" fmla="*/ 266 w 512"/>
                <a:gd name="T11" fmla="*/ 346 h 512"/>
                <a:gd name="T12" fmla="*/ 320 w 512"/>
                <a:gd name="T13" fmla="*/ 323 h 512"/>
                <a:gd name="T14" fmla="*/ 320 w 512"/>
                <a:gd name="T15" fmla="*/ 144 h 512"/>
                <a:gd name="T16" fmla="*/ 266 w 512"/>
                <a:gd name="T17" fmla="*/ 167 h 512"/>
                <a:gd name="T18" fmla="*/ 266 w 512"/>
                <a:gd name="T19" fmla="*/ 346 h 512"/>
                <a:gd name="T20" fmla="*/ 192 w 512"/>
                <a:gd name="T21" fmla="*/ 323 h 512"/>
                <a:gd name="T22" fmla="*/ 245 w 512"/>
                <a:gd name="T23" fmla="*/ 346 h 512"/>
                <a:gd name="T24" fmla="*/ 245 w 512"/>
                <a:gd name="T25" fmla="*/ 167 h 512"/>
                <a:gd name="T26" fmla="*/ 192 w 512"/>
                <a:gd name="T27" fmla="*/ 144 h 512"/>
                <a:gd name="T28" fmla="*/ 192 w 512"/>
                <a:gd name="T29" fmla="*/ 323 h 512"/>
                <a:gd name="T30" fmla="*/ 341 w 512"/>
                <a:gd name="T31" fmla="*/ 323 h 512"/>
                <a:gd name="T32" fmla="*/ 394 w 512"/>
                <a:gd name="T33" fmla="*/ 346 h 512"/>
                <a:gd name="T34" fmla="*/ 394 w 512"/>
                <a:gd name="T35" fmla="*/ 167 h 512"/>
                <a:gd name="T36" fmla="*/ 341 w 512"/>
                <a:gd name="T37" fmla="*/ 144 h 512"/>
                <a:gd name="T38" fmla="*/ 341 w 512"/>
                <a:gd name="T39" fmla="*/ 323 h 512"/>
                <a:gd name="T40" fmla="*/ 512 w 512"/>
                <a:gd name="T41" fmla="*/ 256 h 512"/>
                <a:gd name="T42" fmla="*/ 256 w 512"/>
                <a:gd name="T43" fmla="*/ 512 h 512"/>
                <a:gd name="T44" fmla="*/ 0 w 512"/>
                <a:gd name="T45" fmla="*/ 256 h 512"/>
                <a:gd name="T46" fmla="*/ 256 w 512"/>
                <a:gd name="T47" fmla="*/ 0 h 512"/>
                <a:gd name="T48" fmla="*/ 512 w 512"/>
                <a:gd name="T49" fmla="*/ 256 h 512"/>
                <a:gd name="T50" fmla="*/ 416 w 512"/>
                <a:gd name="T51" fmla="*/ 160 h 512"/>
                <a:gd name="T52" fmla="*/ 409 w 512"/>
                <a:gd name="T53" fmla="*/ 150 h 512"/>
                <a:gd name="T54" fmla="*/ 335 w 512"/>
                <a:gd name="T55" fmla="*/ 118 h 512"/>
                <a:gd name="T56" fmla="*/ 326 w 512"/>
                <a:gd name="T57" fmla="*/ 118 h 512"/>
                <a:gd name="T58" fmla="*/ 256 w 512"/>
                <a:gd name="T59" fmla="*/ 148 h 512"/>
                <a:gd name="T60" fmla="*/ 185 w 512"/>
                <a:gd name="T61" fmla="*/ 118 h 512"/>
                <a:gd name="T62" fmla="*/ 177 w 512"/>
                <a:gd name="T63" fmla="*/ 118 h 512"/>
                <a:gd name="T64" fmla="*/ 102 w 512"/>
                <a:gd name="T65" fmla="*/ 150 h 512"/>
                <a:gd name="T66" fmla="*/ 96 w 512"/>
                <a:gd name="T67" fmla="*/ 160 h 512"/>
                <a:gd name="T68" fmla="*/ 96 w 512"/>
                <a:gd name="T69" fmla="*/ 362 h 512"/>
                <a:gd name="T70" fmla="*/ 100 w 512"/>
                <a:gd name="T71" fmla="*/ 371 h 512"/>
                <a:gd name="T72" fmla="*/ 111 w 512"/>
                <a:gd name="T73" fmla="*/ 372 h 512"/>
                <a:gd name="T74" fmla="*/ 181 w 512"/>
                <a:gd name="T75" fmla="*/ 342 h 512"/>
                <a:gd name="T76" fmla="*/ 251 w 512"/>
                <a:gd name="T77" fmla="*/ 372 h 512"/>
                <a:gd name="T78" fmla="*/ 260 w 512"/>
                <a:gd name="T79" fmla="*/ 372 h 512"/>
                <a:gd name="T80" fmla="*/ 330 w 512"/>
                <a:gd name="T81" fmla="*/ 342 h 512"/>
                <a:gd name="T82" fmla="*/ 401 w 512"/>
                <a:gd name="T83" fmla="*/ 372 h 512"/>
                <a:gd name="T84" fmla="*/ 405 w 512"/>
                <a:gd name="T85" fmla="*/ 373 h 512"/>
                <a:gd name="T86" fmla="*/ 411 w 512"/>
                <a:gd name="T87" fmla="*/ 371 h 512"/>
                <a:gd name="T88" fmla="*/ 416 w 512"/>
                <a:gd name="T89" fmla="*/ 362 h 512"/>
                <a:gd name="T90" fmla="*/ 416 w 512"/>
                <a:gd name="T91"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512">
                  <a:moveTo>
                    <a:pt x="117" y="167"/>
                  </a:moveTo>
                  <a:cubicBezTo>
                    <a:pt x="170" y="144"/>
                    <a:pt x="170" y="144"/>
                    <a:pt x="170" y="144"/>
                  </a:cubicBezTo>
                  <a:cubicBezTo>
                    <a:pt x="170" y="323"/>
                    <a:pt x="170" y="323"/>
                    <a:pt x="170" y="323"/>
                  </a:cubicBezTo>
                  <a:cubicBezTo>
                    <a:pt x="117" y="346"/>
                    <a:pt x="117" y="346"/>
                    <a:pt x="117" y="346"/>
                  </a:cubicBezTo>
                  <a:lnTo>
                    <a:pt x="117" y="167"/>
                  </a:lnTo>
                  <a:close/>
                  <a:moveTo>
                    <a:pt x="266" y="346"/>
                  </a:moveTo>
                  <a:cubicBezTo>
                    <a:pt x="320" y="323"/>
                    <a:pt x="320" y="323"/>
                    <a:pt x="320" y="323"/>
                  </a:cubicBezTo>
                  <a:cubicBezTo>
                    <a:pt x="320" y="144"/>
                    <a:pt x="320" y="144"/>
                    <a:pt x="320" y="144"/>
                  </a:cubicBezTo>
                  <a:cubicBezTo>
                    <a:pt x="266" y="167"/>
                    <a:pt x="266" y="167"/>
                    <a:pt x="266" y="167"/>
                  </a:cubicBezTo>
                  <a:lnTo>
                    <a:pt x="266" y="346"/>
                  </a:lnTo>
                  <a:close/>
                  <a:moveTo>
                    <a:pt x="192" y="323"/>
                  </a:moveTo>
                  <a:cubicBezTo>
                    <a:pt x="245" y="346"/>
                    <a:pt x="245" y="346"/>
                    <a:pt x="245" y="346"/>
                  </a:cubicBezTo>
                  <a:cubicBezTo>
                    <a:pt x="245" y="167"/>
                    <a:pt x="245" y="167"/>
                    <a:pt x="245" y="167"/>
                  </a:cubicBezTo>
                  <a:cubicBezTo>
                    <a:pt x="192" y="144"/>
                    <a:pt x="192" y="144"/>
                    <a:pt x="192" y="144"/>
                  </a:cubicBezTo>
                  <a:lnTo>
                    <a:pt x="192" y="323"/>
                  </a:lnTo>
                  <a:close/>
                  <a:moveTo>
                    <a:pt x="341" y="323"/>
                  </a:moveTo>
                  <a:cubicBezTo>
                    <a:pt x="394" y="346"/>
                    <a:pt x="394" y="346"/>
                    <a:pt x="394" y="346"/>
                  </a:cubicBezTo>
                  <a:cubicBezTo>
                    <a:pt x="394" y="167"/>
                    <a:pt x="394" y="167"/>
                    <a:pt x="394" y="167"/>
                  </a:cubicBezTo>
                  <a:cubicBezTo>
                    <a:pt x="341" y="144"/>
                    <a:pt x="341" y="144"/>
                    <a:pt x="341" y="144"/>
                  </a:cubicBezTo>
                  <a:lnTo>
                    <a:pt x="341" y="32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60"/>
                  </a:moveTo>
                  <a:cubicBezTo>
                    <a:pt x="416" y="155"/>
                    <a:pt x="413" y="152"/>
                    <a:pt x="409" y="150"/>
                  </a:cubicBezTo>
                  <a:cubicBezTo>
                    <a:pt x="335" y="118"/>
                    <a:pt x="335" y="118"/>
                    <a:pt x="335" y="118"/>
                  </a:cubicBezTo>
                  <a:cubicBezTo>
                    <a:pt x="332" y="117"/>
                    <a:pt x="329" y="117"/>
                    <a:pt x="326" y="118"/>
                  </a:cubicBezTo>
                  <a:cubicBezTo>
                    <a:pt x="256" y="148"/>
                    <a:pt x="256" y="148"/>
                    <a:pt x="256" y="148"/>
                  </a:cubicBezTo>
                  <a:cubicBezTo>
                    <a:pt x="185" y="118"/>
                    <a:pt x="185" y="118"/>
                    <a:pt x="185" y="118"/>
                  </a:cubicBezTo>
                  <a:cubicBezTo>
                    <a:pt x="183" y="117"/>
                    <a:pt x="179" y="117"/>
                    <a:pt x="177" y="118"/>
                  </a:cubicBezTo>
                  <a:cubicBezTo>
                    <a:pt x="102" y="150"/>
                    <a:pt x="102" y="150"/>
                    <a:pt x="102" y="150"/>
                  </a:cubicBezTo>
                  <a:cubicBezTo>
                    <a:pt x="98" y="152"/>
                    <a:pt x="96" y="155"/>
                    <a:pt x="96" y="160"/>
                  </a:cubicBezTo>
                  <a:cubicBezTo>
                    <a:pt x="96" y="362"/>
                    <a:pt x="96" y="362"/>
                    <a:pt x="96" y="362"/>
                  </a:cubicBezTo>
                  <a:cubicBezTo>
                    <a:pt x="96" y="366"/>
                    <a:pt x="97" y="369"/>
                    <a:pt x="100" y="371"/>
                  </a:cubicBezTo>
                  <a:cubicBezTo>
                    <a:pt x="103" y="373"/>
                    <a:pt x="107" y="374"/>
                    <a:pt x="111" y="372"/>
                  </a:cubicBezTo>
                  <a:cubicBezTo>
                    <a:pt x="181" y="342"/>
                    <a:pt x="181" y="342"/>
                    <a:pt x="181" y="342"/>
                  </a:cubicBezTo>
                  <a:cubicBezTo>
                    <a:pt x="251" y="372"/>
                    <a:pt x="251" y="372"/>
                    <a:pt x="251" y="372"/>
                  </a:cubicBezTo>
                  <a:cubicBezTo>
                    <a:pt x="254" y="373"/>
                    <a:pt x="257" y="373"/>
                    <a:pt x="260" y="372"/>
                  </a:cubicBezTo>
                  <a:cubicBezTo>
                    <a:pt x="330" y="342"/>
                    <a:pt x="330" y="342"/>
                    <a:pt x="330" y="342"/>
                  </a:cubicBezTo>
                  <a:cubicBezTo>
                    <a:pt x="401" y="372"/>
                    <a:pt x="401" y="372"/>
                    <a:pt x="401" y="372"/>
                  </a:cubicBezTo>
                  <a:cubicBezTo>
                    <a:pt x="402" y="373"/>
                    <a:pt x="404" y="373"/>
                    <a:pt x="405" y="373"/>
                  </a:cubicBezTo>
                  <a:cubicBezTo>
                    <a:pt x="407" y="373"/>
                    <a:pt x="409" y="372"/>
                    <a:pt x="411" y="371"/>
                  </a:cubicBezTo>
                  <a:cubicBezTo>
                    <a:pt x="414" y="369"/>
                    <a:pt x="416" y="366"/>
                    <a:pt x="416" y="362"/>
                  </a:cubicBezTo>
                  <a:lnTo>
                    <a:pt x="416" y="160"/>
                  </a:lnTo>
                  <a:close/>
                </a:path>
              </a:pathLst>
            </a:custGeom>
            <a:solidFill>
              <a:srgbClr val="4F5256"/>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44" name="Freeform 768">
              <a:extLst>
                <a:ext uri="{FF2B5EF4-FFF2-40B4-BE49-F238E27FC236}">
                  <a16:creationId xmlns:a16="http://schemas.microsoft.com/office/drawing/2014/main" id="{D75A8186-64FA-4DC6-AEDD-30A2A36D250A}"/>
                </a:ext>
              </a:extLst>
            </p:cNvPr>
            <p:cNvSpPr>
              <a:spLocks noChangeAspect="1" noEditPoints="1"/>
            </p:cNvSpPr>
            <p:nvPr/>
          </p:nvSpPr>
          <p:spPr bwMode="auto">
            <a:xfrm>
              <a:off x="9709142" y="2831429"/>
              <a:ext cx="379884" cy="379884"/>
            </a:xfrm>
            <a:custGeom>
              <a:avLst/>
              <a:gdLst>
                <a:gd name="T0" fmla="*/ 117 w 512"/>
                <a:gd name="T1" fmla="*/ 167 h 512"/>
                <a:gd name="T2" fmla="*/ 170 w 512"/>
                <a:gd name="T3" fmla="*/ 144 h 512"/>
                <a:gd name="T4" fmla="*/ 170 w 512"/>
                <a:gd name="T5" fmla="*/ 323 h 512"/>
                <a:gd name="T6" fmla="*/ 117 w 512"/>
                <a:gd name="T7" fmla="*/ 346 h 512"/>
                <a:gd name="T8" fmla="*/ 117 w 512"/>
                <a:gd name="T9" fmla="*/ 167 h 512"/>
                <a:gd name="T10" fmla="*/ 266 w 512"/>
                <a:gd name="T11" fmla="*/ 346 h 512"/>
                <a:gd name="T12" fmla="*/ 320 w 512"/>
                <a:gd name="T13" fmla="*/ 323 h 512"/>
                <a:gd name="T14" fmla="*/ 320 w 512"/>
                <a:gd name="T15" fmla="*/ 144 h 512"/>
                <a:gd name="T16" fmla="*/ 266 w 512"/>
                <a:gd name="T17" fmla="*/ 167 h 512"/>
                <a:gd name="T18" fmla="*/ 266 w 512"/>
                <a:gd name="T19" fmla="*/ 346 h 512"/>
                <a:gd name="T20" fmla="*/ 192 w 512"/>
                <a:gd name="T21" fmla="*/ 323 h 512"/>
                <a:gd name="T22" fmla="*/ 245 w 512"/>
                <a:gd name="T23" fmla="*/ 346 h 512"/>
                <a:gd name="T24" fmla="*/ 245 w 512"/>
                <a:gd name="T25" fmla="*/ 167 h 512"/>
                <a:gd name="T26" fmla="*/ 192 w 512"/>
                <a:gd name="T27" fmla="*/ 144 h 512"/>
                <a:gd name="T28" fmla="*/ 192 w 512"/>
                <a:gd name="T29" fmla="*/ 323 h 512"/>
                <a:gd name="T30" fmla="*/ 341 w 512"/>
                <a:gd name="T31" fmla="*/ 323 h 512"/>
                <a:gd name="T32" fmla="*/ 394 w 512"/>
                <a:gd name="T33" fmla="*/ 346 h 512"/>
                <a:gd name="T34" fmla="*/ 394 w 512"/>
                <a:gd name="T35" fmla="*/ 167 h 512"/>
                <a:gd name="T36" fmla="*/ 341 w 512"/>
                <a:gd name="T37" fmla="*/ 144 h 512"/>
                <a:gd name="T38" fmla="*/ 341 w 512"/>
                <a:gd name="T39" fmla="*/ 323 h 512"/>
                <a:gd name="T40" fmla="*/ 512 w 512"/>
                <a:gd name="T41" fmla="*/ 256 h 512"/>
                <a:gd name="T42" fmla="*/ 256 w 512"/>
                <a:gd name="T43" fmla="*/ 512 h 512"/>
                <a:gd name="T44" fmla="*/ 0 w 512"/>
                <a:gd name="T45" fmla="*/ 256 h 512"/>
                <a:gd name="T46" fmla="*/ 256 w 512"/>
                <a:gd name="T47" fmla="*/ 0 h 512"/>
                <a:gd name="T48" fmla="*/ 512 w 512"/>
                <a:gd name="T49" fmla="*/ 256 h 512"/>
                <a:gd name="T50" fmla="*/ 416 w 512"/>
                <a:gd name="T51" fmla="*/ 160 h 512"/>
                <a:gd name="T52" fmla="*/ 409 w 512"/>
                <a:gd name="T53" fmla="*/ 150 h 512"/>
                <a:gd name="T54" fmla="*/ 335 w 512"/>
                <a:gd name="T55" fmla="*/ 118 h 512"/>
                <a:gd name="T56" fmla="*/ 326 w 512"/>
                <a:gd name="T57" fmla="*/ 118 h 512"/>
                <a:gd name="T58" fmla="*/ 256 w 512"/>
                <a:gd name="T59" fmla="*/ 148 h 512"/>
                <a:gd name="T60" fmla="*/ 185 w 512"/>
                <a:gd name="T61" fmla="*/ 118 h 512"/>
                <a:gd name="T62" fmla="*/ 177 w 512"/>
                <a:gd name="T63" fmla="*/ 118 h 512"/>
                <a:gd name="T64" fmla="*/ 102 w 512"/>
                <a:gd name="T65" fmla="*/ 150 h 512"/>
                <a:gd name="T66" fmla="*/ 96 w 512"/>
                <a:gd name="T67" fmla="*/ 160 h 512"/>
                <a:gd name="T68" fmla="*/ 96 w 512"/>
                <a:gd name="T69" fmla="*/ 362 h 512"/>
                <a:gd name="T70" fmla="*/ 100 w 512"/>
                <a:gd name="T71" fmla="*/ 371 h 512"/>
                <a:gd name="T72" fmla="*/ 111 w 512"/>
                <a:gd name="T73" fmla="*/ 372 h 512"/>
                <a:gd name="T74" fmla="*/ 181 w 512"/>
                <a:gd name="T75" fmla="*/ 342 h 512"/>
                <a:gd name="T76" fmla="*/ 251 w 512"/>
                <a:gd name="T77" fmla="*/ 372 h 512"/>
                <a:gd name="T78" fmla="*/ 260 w 512"/>
                <a:gd name="T79" fmla="*/ 372 h 512"/>
                <a:gd name="T80" fmla="*/ 330 w 512"/>
                <a:gd name="T81" fmla="*/ 342 h 512"/>
                <a:gd name="T82" fmla="*/ 401 w 512"/>
                <a:gd name="T83" fmla="*/ 372 h 512"/>
                <a:gd name="T84" fmla="*/ 405 w 512"/>
                <a:gd name="T85" fmla="*/ 373 h 512"/>
                <a:gd name="T86" fmla="*/ 411 w 512"/>
                <a:gd name="T87" fmla="*/ 371 h 512"/>
                <a:gd name="T88" fmla="*/ 416 w 512"/>
                <a:gd name="T89" fmla="*/ 362 h 512"/>
                <a:gd name="T90" fmla="*/ 416 w 512"/>
                <a:gd name="T91"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512">
                  <a:moveTo>
                    <a:pt x="117" y="167"/>
                  </a:moveTo>
                  <a:cubicBezTo>
                    <a:pt x="170" y="144"/>
                    <a:pt x="170" y="144"/>
                    <a:pt x="170" y="144"/>
                  </a:cubicBezTo>
                  <a:cubicBezTo>
                    <a:pt x="170" y="323"/>
                    <a:pt x="170" y="323"/>
                    <a:pt x="170" y="323"/>
                  </a:cubicBezTo>
                  <a:cubicBezTo>
                    <a:pt x="117" y="346"/>
                    <a:pt x="117" y="346"/>
                    <a:pt x="117" y="346"/>
                  </a:cubicBezTo>
                  <a:lnTo>
                    <a:pt x="117" y="167"/>
                  </a:lnTo>
                  <a:close/>
                  <a:moveTo>
                    <a:pt x="266" y="346"/>
                  </a:moveTo>
                  <a:cubicBezTo>
                    <a:pt x="320" y="323"/>
                    <a:pt x="320" y="323"/>
                    <a:pt x="320" y="323"/>
                  </a:cubicBezTo>
                  <a:cubicBezTo>
                    <a:pt x="320" y="144"/>
                    <a:pt x="320" y="144"/>
                    <a:pt x="320" y="144"/>
                  </a:cubicBezTo>
                  <a:cubicBezTo>
                    <a:pt x="266" y="167"/>
                    <a:pt x="266" y="167"/>
                    <a:pt x="266" y="167"/>
                  </a:cubicBezTo>
                  <a:lnTo>
                    <a:pt x="266" y="346"/>
                  </a:lnTo>
                  <a:close/>
                  <a:moveTo>
                    <a:pt x="192" y="323"/>
                  </a:moveTo>
                  <a:cubicBezTo>
                    <a:pt x="245" y="346"/>
                    <a:pt x="245" y="346"/>
                    <a:pt x="245" y="346"/>
                  </a:cubicBezTo>
                  <a:cubicBezTo>
                    <a:pt x="245" y="167"/>
                    <a:pt x="245" y="167"/>
                    <a:pt x="245" y="167"/>
                  </a:cubicBezTo>
                  <a:cubicBezTo>
                    <a:pt x="192" y="144"/>
                    <a:pt x="192" y="144"/>
                    <a:pt x="192" y="144"/>
                  </a:cubicBezTo>
                  <a:lnTo>
                    <a:pt x="192" y="323"/>
                  </a:lnTo>
                  <a:close/>
                  <a:moveTo>
                    <a:pt x="341" y="323"/>
                  </a:moveTo>
                  <a:cubicBezTo>
                    <a:pt x="394" y="346"/>
                    <a:pt x="394" y="346"/>
                    <a:pt x="394" y="346"/>
                  </a:cubicBezTo>
                  <a:cubicBezTo>
                    <a:pt x="394" y="167"/>
                    <a:pt x="394" y="167"/>
                    <a:pt x="394" y="167"/>
                  </a:cubicBezTo>
                  <a:cubicBezTo>
                    <a:pt x="341" y="144"/>
                    <a:pt x="341" y="144"/>
                    <a:pt x="341" y="144"/>
                  </a:cubicBezTo>
                  <a:lnTo>
                    <a:pt x="341" y="32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60"/>
                  </a:moveTo>
                  <a:cubicBezTo>
                    <a:pt x="416" y="155"/>
                    <a:pt x="413" y="152"/>
                    <a:pt x="409" y="150"/>
                  </a:cubicBezTo>
                  <a:cubicBezTo>
                    <a:pt x="335" y="118"/>
                    <a:pt x="335" y="118"/>
                    <a:pt x="335" y="118"/>
                  </a:cubicBezTo>
                  <a:cubicBezTo>
                    <a:pt x="332" y="117"/>
                    <a:pt x="329" y="117"/>
                    <a:pt x="326" y="118"/>
                  </a:cubicBezTo>
                  <a:cubicBezTo>
                    <a:pt x="256" y="148"/>
                    <a:pt x="256" y="148"/>
                    <a:pt x="256" y="148"/>
                  </a:cubicBezTo>
                  <a:cubicBezTo>
                    <a:pt x="185" y="118"/>
                    <a:pt x="185" y="118"/>
                    <a:pt x="185" y="118"/>
                  </a:cubicBezTo>
                  <a:cubicBezTo>
                    <a:pt x="183" y="117"/>
                    <a:pt x="179" y="117"/>
                    <a:pt x="177" y="118"/>
                  </a:cubicBezTo>
                  <a:cubicBezTo>
                    <a:pt x="102" y="150"/>
                    <a:pt x="102" y="150"/>
                    <a:pt x="102" y="150"/>
                  </a:cubicBezTo>
                  <a:cubicBezTo>
                    <a:pt x="98" y="152"/>
                    <a:pt x="96" y="155"/>
                    <a:pt x="96" y="160"/>
                  </a:cubicBezTo>
                  <a:cubicBezTo>
                    <a:pt x="96" y="362"/>
                    <a:pt x="96" y="362"/>
                    <a:pt x="96" y="362"/>
                  </a:cubicBezTo>
                  <a:cubicBezTo>
                    <a:pt x="96" y="366"/>
                    <a:pt x="97" y="369"/>
                    <a:pt x="100" y="371"/>
                  </a:cubicBezTo>
                  <a:cubicBezTo>
                    <a:pt x="103" y="373"/>
                    <a:pt x="107" y="374"/>
                    <a:pt x="111" y="372"/>
                  </a:cubicBezTo>
                  <a:cubicBezTo>
                    <a:pt x="181" y="342"/>
                    <a:pt x="181" y="342"/>
                    <a:pt x="181" y="342"/>
                  </a:cubicBezTo>
                  <a:cubicBezTo>
                    <a:pt x="251" y="372"/>
                    <a:pt x="251" y="372"/>
                    <a:pt x="251" y="372"/>
                  </a:cubicBezTo>
                  <a:cubicBezTo>
                    <a:pt x="254" y="373"/>
                    <a:pt x="257" y="373"/>
                    <a:pt x="260" y="372"/>
                  </a:cubicBezTo>
                  <a:cubicBezTo>
                    <a:pt x="330" y="342"/>
                    <a:pt x="330" y="342"/>
                    <a:pt x="330" y="342"/>
                  </a:cubicBezTo>
                  <a:cubicBezTo>
                    <a:pt x="401" y="372"/>
                    <a:pt x="401" y="372"/>
                    <a:pt x="401" y="372"/>
                  </a:cubicBezTo>
                  <a:cubicBezTo>
                    <a:pt x="402" y="373"/>
                    <a:pt x="404" y="373"/>
                    <a:pt x="405" y="373"/>
                  </a:cubicBezTo>
                  <a:cubicBezTo>
                    <a:pt x="407" y="373"/>
                    <a:pt x="409" y="372"/>
                    <a:pt x="411" y="371"/>
                  </a:cubicBezTo>
                  <a:cubicBezTo>
                    <a:pt x="414" y="369"/>
                    <a:pt x="416" y="366"/>
                    <a:pt x="416" y="362"/>
                  </a:cubicBezTo>
                  <a:lnTo>
                    <a:pt x="416" y="160"/>
                  </a:lnTo>
                  <a:close/>
                </a:path>
              </a:pathLst>
            </a:custGeom>
            <a:solidFill>
              <a:srgbClr val="0D7F8B"/>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45" name="Freeform 611">
              <a:extLst>
                <a:ext uri="{FF2B5EF4-FFF2-40B4-BE49-F238E27FC236}">
                  <a16:creationId xmlns:a16="http://schemas.microsoft.com/office/drawing/2014/main" id="{71D87576-E27F-43EA-92D1-6D7090C7279E}"/>
                </a:ext>
              </a:extLst>
            </p:cNvPr>
            <p:cNvSpPr>
              <a:spLocks noChangeAspect="1" noEditPoints="1"/>
            </p:cNvSpPr>
            <p:nvPr/>
          </p:nvSpPr>
          <p:spPr bwMode="auto">
            <a:xfrm>
              <a:off x="10642399" y="3339287"/>
              <a:ext cx="379884" cy="37988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49 w 512"/>
                <a:gd name="T11" fmla="*/ 362 h 512"/>
                <a:gd name="T12" fmla="*/ 128 w 512"/>
                <a:gd name="T13" fmla="*/ 362 h 512"/>
                <a:gd name="T14" fmla="*/ 117 w 512"/>
                <a:gd name="T15" fmla="*/ 352 h 512"/>
                <a:gd name="T16" fmla="*/ 128 w 512"/>
                <a:gd name="T17" fmla="*/ 341 h 512"/>
                <a:gd name="T18" fmla="*/ 149 w 512"/>
                <a:gd name="T19" fmla="*/ 341 h 512"/>
                <a:gd name="T20" fmla="*/ 160 w 512"/>
                <a:gd name="T21" fmla="*/ 352 h 512"/>
                <a:gd name="T22" fmla="*/ 149 w 512"/>
                <a:gd name="T23" fmla="*/ 362 h 512"/>
                <a:gd name="T24" fmla="*/ 149 w 512"/>
                <a:gd name="T25" fmla="*/ 298 h 512"/>
                <a:gd name="T26" fmla="*/ 128 w 512"/>
                <a:gd name="T27" fmla="*/ 298 h 512"/>
                <a:gd name="T28" fmla="*/ 117 w 512"/>
                <a:gd name="T29" fmla="*/ 288 h 512"/>
                <a:gd name="T30" fmla="*/ 128 w 512"/>
                <a:gd name="T31" fmla="*/ 277 h 512"/>
                <a:gd name="T32" fmla="*/ 149 w 512"/>
                <a:gd name="T33" fmla="*/ 277 h 512"/>
                <a:gd name="T34" fmla="*/ 160 w 512"/>
                <a:gd name="T35" fmla="*/ 288 h 512"/>
                <a:gd name="T36" fmla="*/ 149 w 512"/>
                <a:gd name="T37" fmla="*/ 298 h 512"/>
                <a:gd name="T38" fmla="*/ 149 w 512"/>
                <a:gd name="T39" fmla="*/ 234 h 512"/>
                <a:gd name="T40" fmla="*/ 128 w 512"/>
                <a:gd name="T41" fmla="*/ 234 h 512"/>
                <a:gd name="T42" fmla="*/ 117 w 512"/>
                <a:gd name="T43" fmla="*/ 224 h 512"/>
                <a:gd name="T44" fmla="*/ 128 w 512"/>
                <a:gd name="T45" fmla="*/ 213 h 512"/>
                <a:gd name="T46" fmla="*/ 149 w 512"/>
                <a:gd name="T47" fmla="*/ 213 h 512"/>
                <a:gd name="T48" fmla="*/ 160 w 512"/>
                <a:gd name="T49" fmla="*/ 224 h 512"/>
                <a:gd name="T50" fmla="*/ 149 w 512"/>
                <a:gd name="T51" fmla="*/ 234 h 512"/>
                <a:gd name="T52" fmla="*/ 149 w 512"/>
                <a:gd name="T53" fmla="*/ 170 h 512"/>
                <a:gd name="T54" fmla="*/ 128 w 512"/>
                <a:gd name="T55" fmla="*/ 170 h 512"/>
                <a:gd name="T56" fmla="*/ 117 w 512"/>
                <a:gd name="T57" fmla="*/ 160 h 512"/>
                <a:gd name="T58" fmla="*/ 128 w 512"/>
                <a:gd name="T59" fmla="*/ 149 h 512"/>
                <a:gd name="T60" fmla="*/ 149 w 512"/>
                <a:gd name="T61" fmla="*/ 149 h 512"/>
                <a:gd name="T62" fmla="*/ 160 w 512"/>
                <a:gd name="T63" fmla="*/ 160 h 512"/>
                <a:gd name="T64" fmla="*/ 149 w 512"/>
                <a:gd name="T65" fmla="*/ 170 h 512"/>
                <a:gd name="T66" fmla="*/ 384 w 512"/>
                <a:gd name="T67" fmla="*/ 362 h 512"/>
                <a:gd name="T68" fmla="*/ 202 w 512"/>
                <a:gd name="T69" fmla="*/ 362 h 512"/>
                <a:gd name="T70" fmla="*/ 192 w 512"/>
                <a:gd name="T71" fmla="*/ 352 h 512"/>
                <a:gd name="T72" fmla="*/ 202 w 512"/>
                <a:gd name="T73" fmla="*/ 341 h 512"/>
                <a:gd name="T74" fmla="*/ 384 w 512"/>
                <a:gd name="T75" fmla="*/ 341 h 512"/>
                <a:gd name="T76" fmla="*/ 394 w 512"/>
                <a:gd name="T77" fmla="*/ 352 h 512"/>
                <a:gd name="T78" fmla="*/ 384 w 512"/>
                <a:gd name="T79" fmla="*/ 362 h 512"/>
                <a:gd name="T80" fmla="*/ 384 w 512"/>
                <a:gd name="T81" fmla="*/ 298 h 512"/>
                <a:gd name="T82" fmla="*/ 202 w 512"/>
                <a:gd name="T83" fmla="*/ 298 h 512"/>
                <a:gd name="T84" fmla="*/ 192 w 512"/>
                <a:gd name="T85" fmla="*/ 288 h 512"/>
                <a:gd name="T86" fmla="*/ 202 w 512"/>
                <a:gd name="T87" fmla="*/ 277 h 512"/>
                <a:gd name="T88" fmla="*/ 384 w 512"/>
                <a:gd name="T89" fmla="*/ 277 h 512"/>
                <a:gd name="T90" fmla="*/ 394 w 512"/>
                <a:gd name="T91" fmla="*/ 288 h 512"/>
                <a:gd name="T92" fmla="*/ 384 w 512"/>
                <a:gd name="T93" fmla="*/ 298 h 512"/>
                <a:gd name="T94" fmla="*/ 384 w 512"/>
                <a:gd name="T95" fmla="*/ 234 h 512"/>
                <a:gd name="T96" fmla="*/ 202 w 512"/>
                <a:gd name="T97" fmla="*/ 234 h 512"/>
                <a:gd name="T98" fmla="*/ 192 w 512"/>
                <a:gd name="T99" fmla="*/ 224 h 512"/>
                <a:gd name="T100" fmla="*/ 202 w 512"/>
                <a:gd name="T101" fmla="*/ 213 h 512"/>
                <a:gd name="T102" fmla="*/ 384 w 512"/>
                <a:gd name="T103" fmla="*/ 213 h 512"/>
                <a:gd name="T104" fmla="*/ 394 w 512"/>
                <a:gd name="T105" fmla="*/ 224 h 512"/>
                <a:gd name="T106" fmla="*/ 384 w 512"/>
                <a:gd name="T107" fmla="*/ 234 h 512"/>
                <a:gd name="T108" fmla="*/ 384 w 512"/>
                <a:gd name="T109" fmla="*/ 170 h 512"/>
                <a:gd name="T110" fmla="*/ 202 w 512"/>
                <a:gd name="T111" fmla="*/ 170 h 512"/>
                <a:gd name="T112" fmla="*/ 192 w 512"/>
                <a:gd name="T113" fmla="*/ 160 h 512"/>
                <a:gd name="T114" fmla="*/ 202 w 512"/>
                <a:gd name="T115" fmla="*/ 149 h 512"/>
                <a:gd name="T116" fmla="*/ 384 w 512"/>
                <a:gd name="T117" fmla="*/ 149 h 512"/>
                <a:gd name="T118" fmla="*/ 394 w 512"/>
                <a:gd name="T119" fmla="*/ 160 h 512"/>
                <a:gd name="T120" fmla="*/ 384 w 512"/>
                <a:gd name="T12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49" y="362"/>
                  </a:moveTo>
                  <a:cubicBezTo>
                    <a:pt x="128" y="362"/>
                    <a:pt x="128" y="362"/>
                    <a:pt x="128" y="362"/>
                  </a:cubicBezTo>
                  <a:cubicBezTo>
                    <a:pt x="122" y="362"/>
                    <a:pt x="117" y="358"/>
                    <a:pt x="117" y="352"/>
                  </a:cubicBezTo>
                  <a:cubicBezTo>
                    <a:pt x="117" y="346"/>
                    <a:pt x="122" y="341"/>
                    <a:pt x="128" y="341"/>
                  </a:cubicBezTo>
                  <a:cubicBezTo>
                    <a:pt x="149" y="341"/>
                    <a:pt x="149" y="341"/>
                    <a:pt x="149" y="341"/>
                  </a:cubicBezTo>
                  <a:cubicBezTo>
                    <a:pt x="155" y="341"/>
                    <a:pt x="160" y="346"/>
                    <a:pt x="160" y="352"/>
                  </a:cubicBezTo>
                  <a:cubicBezTo>
                    <a:pt x="160" y="358"/>
                    <a:pt x="155" y="362"/>
                    <a:pt x="149" y="362"/>
                  </a:cubicBezTo>
                  <a:close/>
                  <a:moveTo>
                    <a:pt x="149" y="298"/>
                  </a:moveTo>
                  <a:cubicBezTo>
                    <a:pt x="128" y="298"/>
                    <a:pt x="128" y="298"/>
                    <a:pt x="128" y="298"/>
                  </a:cubicBezTo>
                  <a:cubicBezTo>
                    <a:pt x="122" y="298"/>
                    <a:pt x="117" y="294"/>
                    <a:pt x="117" y="288"/>
                  </a:cubicBezTo>
                  <a:cubicBezTo>
                    <a:pt x="117" y="282"/>
                    <a:pt x="122" y="277"/>
                    <a:pt x="128" y="277"/>
                  </a:cubicBezTo>
                  <a:cubicBezTo>
                    <a:pt x="149" y="277"/>
                    <a:pt x="149" y="277"/>
                    <a:pt x="149" y="277"/>
                  </a:cubicBezTo>
                  <a:cubicBezTo>
                    <a:pt x="155" y="277"/>
                    <a:pt x="160" y="282"/>
                    <a:pt x="160" y="288"/>
                  </a:cubicBezTo>
                  <a:cubicBezTo>
                    <a:pt x="160" y="294"/>
                    <a:pt x="155" y="298"/>
                    <a:pt x="149" y="298"/>
                  </a:cubicBezTo>
                  <a:close/>
                  <a:moveTo>
                    <a:pt x="149" y="234"/>
                  </a:moveTo>
                  <a:cubicBezTo>
                    <a:pt x="128" y="234"/>
                    <a:pt x="128" y="234"/>
                    <a:pt x="128" y="234"/>
                  </a:cubicBezTo>
                  <a:cubicBezTo>
                    <a:pt x="122" y="234"/>
                    <a:pt x="117" y="230"/>
                    <a:pt x="117" y="224"/>
                  </a:cubicBezTo>
                  <a:cubicBezTo>
                    <a:pt x="117" y="218"/>
                    <a:pt x="122" y="213"/>
                    <a:pt x="128" y="213"/>
                  </a:cubicBezTo>
                  <a:cubicBezTo>
                    <a:pt x="149" y="213"/>
                    <a:pt x="149" y="213"/>
                    <a:pt x="149" y="213"/>
                  </a:cubicBezTo>
                  <a:cubicBezTo>
                    <a:pt x="155" y="213"/>
                    <a:pt x="160" y="218"/>
                    <a:pt x="160" y="224"/>
                  </a:cubicBezTo>
                  <a:cubicBezTo>
                    <a:pt x="160" y="230"/>
                    <a:pt x="155" y="234"/>
                    <a:pt x="149" y="234"/>
                  </a:cubicBezTo>
                  <a:close/>
                  <a:moveTo>
                    <a:pt x="149" y="170"/>
                  </a:moveTo>
                  <a:cubicBezTo>
                    <a:pt x="128" y="170"/>
                    <a:pt x="128" y="170"/>
                    <a:pt x="128" y="170"/>
                  </a:cubicBezTo>
                  <a:cubicBezTo>
                    <a:pt x="122" y="170"/>
                    <a:pt x="117" y="166"/>
                    <a:pt x="117" y="160"/>
                  </a:cubicBezTo>
                  <a:cubicBezTo>
                    <a:pt x="117" y="154"/>
                    <a:pt x="122" y="149"/>
                    <a:pt x="128" y="149"/>
                  </a:cubicBezTo>
                  <a:cubicBezTo>
                    <a:pt x="149" y="149"/>
                    <a:pt x="149" y="149"/>
                    <a:pt x="149" y="149"/>
                  </a:cubicBezTo>
                  <a:cubicBezTo>
                    <a:pt x="155" y="149"/>
                    <a:pt x="160" y="154"/>
                    <a:pt x="160" y="160"/>
                  </a:cubicBezTo>
                  <a:cubicBezTo>
                    <a:pt x="160" y="166"/>
                    <a:pt x="155" y="170"/>
                    <a:pt x="149" y="170"/>
                  </a:cubicBezTo>
                  <a:close/>
                  <a:moveTo>
                    <a:pt x="384" y="362"/>
                  </a:moveTo>
                  <a:cubicBezTo>
                    <a:pt x="202" y="362"/>
                    <a:pt x="202" y="362"/>
                    <a:pt x="202" y="362"/>
                  </a:cubicBezTo>
                  <a:cubicBezTo>
                    <a:pt x="196" y="362"/>
                    <a:pt x="192" y="358"/>
                    <a:pt x="192" y="352"/>
                  </a:cubicBezTo>
                  <a:cubicBezTo>
                    <a:pt x="192" y="346"/>
                    <a:pt x="196" y="341"/>
                    <a:pt x="202" y="341"/>
                  </a:cubicBezTo>
                  <a:cubicBezTo>
                    <a:pt x="384" y="341"/>
                    <a:pt x="384" y="341"/>
                    <a:pt x="384" y="341"/>
                  </a:cubicBezTo>
                  <a:cubicBezTo>
                    <a:pt x="390" y="341"/>
                    <a:pt x="394" y="346"/>
                    <a:pt x="394" y="352"/>
                  </a:cubicBezTo>
                  <a:cubicBezTo>
                    <a:pt x="394" y="358"/>
                    <a:pt x="390" y="362"/>
                    <a:pt x="384" y="362"/>
                  </a:cubicBezTo>
                  <a:close/>
                  <a:moveTo>
                    <a:pt x="384" y="298"/>
                  </a:moveTo>
                  <a:cubicBezTo>
                    <a:pt x="202" y="298"/>
                    <a:pt x="202" y="298"/>
                    <a:pt x="202" y="298"/>
                  </a:cubicBezTo>
                  <a:cubicBezTo>
                    <a:pt x="196" y="298"/>
                    <a:pt x="192" y="294"/>
                    <a:pt x="192" y="288"/>
                  </a:cubicBezTo>
                  <a:cubicBezTo>
                    <a:pt x="192" y="282"/>
                    <a:pt x="196" y="277"/>
                    <a:pt x="202" y="277"/>
                  </a:cubicBezTo>
                  <a:cubicBezTo>
                    <a:pt x="384" y="277"/>
                    <a:pt x="384" y="277"/>
                    <a:pt x="384" y="277"/>
                  </a:cubicBezTo>
                  <a:cubicBezTo>
                    <a:pt x="390" y="277"/>
                    <a:pt x="394" y="282"/>
                    <a:pt x="394" y="288"/>
                  </a:cubicBezTo>
                  <a:cubicBezTo>
                    <a:pt x="394" y="294"/>
                    <a:pt x="390" y="298"/>
                    <a:pt x="384" y="298"/>
                  </a:cubicBezTo>
                  <a:close/>
                  <a:moveTo>
                    <a:pt x="384" y="234"/>
                  </a:moveTo>
                  <a:cubicBezTo>
                    <a:pt x="202" y="234"/>
                    <a:pt x="202" y="234"/>
                    <a:pt x="202" y="234"/>
                  </a:cubicBezTo>
                  <a:cubicBezTo>
                    <a:pt x="196" y="234"/>
                    <a:pt x="192" y="230"/>
                    <a:pt x="192" y="224"/>
                  </a:cubicBezTo>
                  <a:cubicBezTo>
                    <a:pt x="192" y="218"/>
                    <a:pt x="196" y="213"/>
                    <a:pt x="202" y="213"/>
                  </a:cubicBezTo>
                  <a:cubicBezTo>
                    <a:pt x="384" y="213"/>
                    <a:pt x="384" y="213"/>
                    <a:pt x="384" y="213"/>
                  </a:cubicBezTo>
                  <a:cubicBezTo>
                    <a:pt x="390" y="213"/>
                    <a:pt x="394" y="218"/>
                    <a:pt x="394" y="224"/>
                  </a:cubicBezTo>
                  <a:cubicBezTo>
                    <a:pt x="394" y="230"/>
                    <a:pt x="390" y="234"/>
                    <a:pt x="384" y="234"/>
                  </a:cubicBezTo>
                  <a:close/>
                  <a:moveTo>
                    <a:pt x="384" y="170"/>
                  </a:moveTo>
                  <a:cubicBezTo>
                    <a:pt x="202" y="170"/>
                    <a:pt x="202" y="170"/>
                    <a:pt x="202" y="170"/>
                  </a:cubicBezTo>
                  <a:cubicBezTo>
                    <a:pt x="196" y="170"/>
                    <a:pt x="192" y="166"/>
                    <a:pt x="192" y="160"/>
                  </a:cubicBezTo>
                  <a:cubicBezTo>
                    <a:pt x="192" y="154"/>
                    <a:pt x="196" y="149"/>
                    <a:pt x="202" y="149"/>
                  </a:cubicBezTo>
                  <a:cubicBezTo>
                    <a:pt x="384" y="149"/>
                    <a:pt x="384" y="149"/>
                    <a:pt x="384" y="149"/>
                  </a:cubicBezTo>
                  <a:cubicBezTo>
                    <a:pt x="390" y="149"/>
                    <a:pt x="394" y="154"/>
                    <a:pt x="394" y="160"/>
                  </a:cubicBezTo>
                  <a:cubicBezTo>
                    <a:pt x="394" y="166"/>
                    <a:pt x="390" y="170"/>
                    <a:pt x="384" y="170"/>
                  </a:cubicBezTo>
                  <a:close/>
                </a:path>
              </a:pathLst>
            </a:custGeom>
            <a:solidFill>
              <a:srgbClr val="046736"/>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49" name="Freeform 867">
              <a:extLst>
                <a:ext uri="{FF2B5EF4-FFF2-40B4-BE49-F238E27FC236}">
                  <a16:creationId xmlns:a16="http://schemas.microsoft.com/office/drawing/2014/main" id="{87E78442-8D35-4014-9CFC-BFA0CE9A53CF}"/>
                </a:ext>
              </a:extLst>
            </p:cNvPr>
            <p:cNvSpPr>
              <a:spLocks noChangeAspect="1" noEditPoints="1"/>
            </p:cNvSpPr>
            <p:nvPr/>
          </p:nvSpPr>
          <p:spPr bwMode="auto">
            <a:xfrm>
              <a:off x="8772647" y="3337205"/>
              <a:ext cx="384048" cy="384048"/>
            </a:xfrm>
            <a:custGeom>
              <a:avLst/>
              <a:gdLst>
                <a:gd name="T0" fmla="*/ 138 w 512"/>
                <a:gd name="T1" fmla="*/ 138 h 512"/>
                <a:gd name="T2" fmla="*/ 373 w 512"/>
                <a:gd name="T3" fmla="*/ 138 h 512"/>
                <a:gd name="T4" fmla="*/ 373 w 512"/>
                <a:gd name="T5" fmla="*/ 309 h 512"/>
                <a:gd name="T6" fmla="*/ 138 w 512"/>
                <a:gd name="T7" fmla="*/ 309 h 512"/>
                <a:gd name="T8" fmla="*/ 138 w 512"/>
                <a:gd name="T9" fmla="*/ 138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94 w 512"/>
                <a:gd name="T21" fmla="*/ 128 h 512"/>
                <a:gd name="T22" fmla="*/ 384 w 512"/>
                <a:gd name="T23" fmla="*/ 117 h 512"/>
                <a:gd name="T24" fmla="*/ 266 w 512"/>
                <a:gd name="T25" fmla="*/ 117 h 512"/>
                <a:gd name="T26" fmla="*/ 256 w 512"/>
                <a:gd name="T27" fmla="*/ 106 h 512"/>
                <a:gd name="T28" fmla="*/ 245 w 512"/>
                <a:gd name="T29" fmla="*/ 117 h 512"/>
                <a:gd name="T30" fmla="*/ 128 w 512"/>
                <a:gd name="T31" fmla="*/ 117 h 512"/>
                <a:gd name="T32" fmla="*/ 117 w 512"/>
                <a:gd name="T33" fmla="*/ 128 h 512"/>
                <a:gd name="T34" fmla="*/ 117 w 512"/>
                <a:gd name="T35" fmla="*/ 320 h 512"/>
                <a:gd name="T36" fmla="*/ 128 w 512"/>
                <a:gd name="T37" fmla="*/ 330 h 512"/>
                <a:gd name="T38" fmla="*/ 198 w 512"/>
                <a:gd name="T39" fmla="*/ 330 h 512"/>
                <a:gd name="T40" fmla="*/ 171 w 512"/>
                <a:gd name="T41" fmla="*/ 401 h 512"/>
                <a:gd name="T42" fmla="*/ 177 w 512"/>
                <a:gd name="T43" fmla="*/ 415 h 512"/>
                <a:gd name="T44" fmla="*/ 181 w 512"/>
                <a:gd name="T45" fmla="*/ 416 h 512"/>
                <a:gd name="T46" fmla="*/ 191 w 512"/>
                <a:gd name="T47" fmla="*/ 409 h 512"/>
                <a:gd name="T48" fmla="*/ 220 w 512"/>
                <a:gd name="T49" fmla="*/ 330 h 512"/>
                <a:gd name="T50" fmla="*/ 245 w 512"/>
                <a:gd name="T51" fmla="*/ 330 h 512"/>
                <a:gd name="T52" fmla="*/ 245 w 512"/>
                <a:gd name="T53" fmla="*/ 373 h 512"/>
                <a:gd name="T54" fmla="*/ 256 w 512"/>
                <a:gd name="T55" fmla="*/ 384 h 512"/>
                <a:gd name="T56" fmla="*/ 266 w 512"/>
                <a:gd name="T57" fmla="*/ 373 h 512"/>
                <a:gd name="T58" fmla="*/ 266 w 512"/>
                <a:gd name="T59" fmla="*/ 330 h 512"/>
                <a:gd name="T60" fmla="*/ 291 w 512"/>
                <a:gd name="T61" fmla="*/ 330 h 512"/>
                <a:gd name="T62" fmla="*/ 320 w 512"/>
                <a:gd name="T63" fmla="*/ 409 h 512"/>
                <a:gd name="T64" fmla="*/ 330 w 512"/>
                <a:gd name="T65" fmla="*/ 416 h 512"/>
                <a:gd name="T66" fmla="*/ 334 w 512"/>
                <a:gd name="T67" fmla="*/ 415 h 512"/>
                <a:gd name="T68" fmla="*/ 340 w 512"/>
                <a:gd name="T69" fmla="*/ 401 h 512"/>
                <a:gd name="T70" fmla="*/ 314 w 512"/>
                <a:gd name="T71" fmla="*/ 330 h 512"/>
                <a:gd name="T72" fmla="*/ 384 w 512"/>
                <a:gd name="T73" fmla="*/ 330 h 512"/>
                <a:gd name="T74" fmla="*/ 394 w 512"/>
                <a:gd name="T75" fmla="*/ 320 h 512"/>
                <a:gd name="T76" fmla="*/ 394 w 512"/>
                <a:gd name="T77"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12" h="512">
                  <a:moveTo>
                    <a:pt x="138" y="138"/>
                  </a:moveTo>
                  <a:cubicBezTo>
                    <a:pt x="373" y="138"/>
                    <a:pt x="373" y="138"/>
                    <a:pt x="373" y="138"/>
                  </a:cubicBezTo>
                  <a:cubicBezTo>
                    <a:pt x="373" y="309"/>
                    <a:pt x="373" y="309"/>
                    <a:pt x="373" y="309"/>
                  </a:cubicBezTo>
                  <a:cubicBezTo>
                    <a:pt x="138" y="309"/>
                    <a:pt x="138" y="309"/>
                    <a:pt x="138" y="309"/>
                  </a:cubicBezTo>
                  <a:lnTo>
                    <a:pt x="138" y="13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4" y="128"/>
                  </a:moveTo>
                  <a:cubicBezTo>
                    <a:pt x="394" y="122"/>
                    <a:pt x="390" y="117"/>
                    <a:pt x="384" y="117"/>
                  </a:cubicBezTo>
                  <a:cubicBezTo>
                    <a:pt x="266" y="117"/>
                    <a:pt x="266" y="117"/>
                    <a:pt x="266" y="117"/>
                  </a:cubicBezTo>
                  <a:cubicBezTo>
                    <a:pt x="266" y="111"/>
                    <a:pt x="262" y="106"/>
                    <a:pt x="256" y="106"/>
                  </a:cubicBezTo>
                  <a:cubicBezTo>
                    <a:pt x="250" y="106"/>
                    <a:pt x="245" y="111"/>
                    <a:pt x="245" y="117"/>
                  </a:cubicBezTo>
                  <a:cubicBezTo>
                    <a:pt x="128" y="117"/>
                    <a:pt x="128" y="117"/>
                    <a:pt x="128" y="117"/>
                  </a:cubicBezTo>
                  <a:cubicBezTo>
                    <a:pt x="122" y="117"/>
                    <a:pt x="117" y="122"/>
                    <a:pt x="117" y="128"/>
                  </a:cubicBezTo>
                  <a:cubicBezTo>
                    <a:pt x="117" y="320"/>
                    <a:pt x="117" y="320"/>
                    <a:pt x="117" y="320"/>
                  </a:cubicBezTo>
                  <a:cubicBezTo>
                    <a:pt x="117" y="326"/>
                    <a:pt x="122" y="330"/>
                    <a:pt x="128" y="330"/>
                  </a:cubicBezTo>
                  <a:cubicBezTo>
                    <a:pt x="198" y="330"/>
                    <a:pt x="198" y="330"/>
                    <a:pt x="198" y="330"/>
                  </a:cubicBezTo>
                  <a:cubicBezTo>
                    <a:pt x="171" y="401"/>
                    <a:pt x="171" y="401"/>
                    <a:pt x="171" y="401"/>
                  </a:cubicBezTo>
                  <a:cubicBezTo>
                    <a:pt x="169" y="407"/>
                    <a:pt x="172" y="413"/>
                    <a:pt x="177" y="415"/>
                  </a:cubicBezTo>
                  <a:cubicBezTo>
                    <a:pt x="178" y="415"/>
                    <a:pt x="180" y="416"/>
                    <a:pt x="181" y="416"/>
                  </a:cubicBezTo>
                  <a:cubicBezTo>
                    <a:pt x="185" y="416"/>
                    <a:pt x="189" y="413"/>
                    <a:pt x="191" y="409"/>
                  </a:cubicBezTo>
                  <a:cubicBezTo>
                    <a:pt x="220" y="330"/>
                    <a:pt x="220" y="330"/>
                    <a:pt x="220" y="330"/>
                  </a:cubicBezTo>
                  <a:cubicBezTo>
                    <a:pt x="245" y="330"/>
                    <a:pt x="245" y="330"/>
                    <a:pt x="245" y="330"/>
                  </a:cubicBezTo>
                  <a:cubicBezTo>
                    <a:pt x="245" y="373"/>
                    <a:pt x="245" y="373"/>
                    <a:pt x="245" y="373"/>
                  </a:cubicBezTo>
                  <a:cubicBezTo>
                    <a:pt x="245" y="379"/>
                    <a:pt x="250" y="384"/>
                    <a:pt x="256" y="384"/>
                  </a:cubicBezTo>
                  <a:cubicBezTo>
                    <a:pt x="262" y="384"/>
                    <a:pt x="266" y="379"/>
                    <a:pt x="266" y="373"/>
                  </a:cubicBezTo>
                  <a:cubicBezTo>
                    <a:pt x="266" y="330"/>
                    <a:pt x="266" y="330"/>
                    <a:pt x="266" y="330"/>
                  </a:cubicBezTo>
                  <a:cubicBezTo>
                    <a:pt x="291" y="330"/>
                    <a:pt x="291" y="330"/>
                    <a:pt x="291" y="330"/>
                  </a:cubicBezTo>
                  <a:cubicBezTo>
                    <a:pt x="320" y="409"/>
                    <a:pt x="320" y="409"/>
                    <a:pt x="320" y="409"/>
                  </a:cubicBezTo>
                  <a:cubicBezTo>
                    <a:pt x="322" y="413"/>
                    <a:pt x="326" y="416"/>
                    <a:pt x="330" y="416"/>
                  </a:cubicBezTo>
                  <a:cubicBezTo>
                    <a:pt x="332" y="416"/>
                    <a:pt x="333" y="415"/>
                    <a:pt x="334" y="415"/>
                  </a:cubicBezTo>
                  <a:cubicBezTo>
                    <a:pt x="340" y="413"/>
                    <a:pt x="342" y="407"/>
                    <a:pt x="340" y="401"/>
                  </a:cubicBezTo>
                  <a:cubicBezTo>
                    <a:pt x="314" y="330"/>
                    <a:pt x="314" y="330"/>
                    <a:pt x="314" y="330"/>
                  </a:cubicBezTo>
                  <a:cubicBezTo>
                    <a:pt x="384" y="330"/>
                    <a:pt x="384" y="330"/>
                    <a:pt x="384" y="330"/>
                  </a:cubicBezTo>
                  <a:cubicBezTo>
                    <a:pt x="390" y="330"/>
                    <a:pt x="394" y="326"/>
                    <a:pt x="394" y="320"/>
                  </a:cubicBezTo>
                  <a:lnTo>
                    <a:pt x="394" y="128"/>
                  </a:lnTo>
                  <a:close/>
                </a:path>
              </a:pathLst>
            </a:custGeom>
            <a:solidFill>
              <a:srgbClr val="7EB123"/>
            </a:solidFill>
            <a:ln>
              <a:noFill/>
            </a:ln>
          </p:spPr>
          <p:txBody>
            <a:bodyPr vert="horz" wrap="square" lIns="91440" tIns="45720" rIns="91440" bIns="45720" numCol="1" anchor="t" anchorCtr="0" compatLnSpc="1">
              <a:prstTxWarp prst="textNoShape">
                <a:avLst/>
              </a:prstTxWarp>
            </a:bodyPr>
            <a:lstStyle/>
            <a:p>
              <a:endParaRPr lang="en-GB" dirty="0"/>
            </a:p>
          </p:txBody>
        </p:sp>
      </p:grpSp>
      <p:sp>
        <p:nvSpPr>
          <p:cNvPr id="4" name="Arrow: Right 3">
            <a:hlinkClick r:id="rId2" action="ppaction://hlinksldjump"/>
            <a:extLst>
              <a:ext uri="{FF2B5EF4-FFF2-40B4-BE49-F238E27FC236}">
                <a16:creationId xmlns:a16="http://schemas.microsoft.com/office/drawing/2014/main" id="{33CC7DCD-8719-4622-AAA9-302AC9588EFD}"/>
              </a:ext>
            </a:extLst>
          </p:cNvPr>
          <p:cNvSpPr/>
          <p:nvPr/>
        </p:nvSpPr>
        <p:spPr bwMode="gray">
          <a:xfrm rot="10800000">
            <a:off x="11750878" y="1158240"/>
            <a:ext cx="310493" cy="365760"/>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64642820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IN" dirty="0"/>
              <a:t>DELIVER – Refine and Build</a:t>
            </a:r>
          </a:p>
        </p:txBody>
      </p:sp>
      <p:sp>
        <p:nvSpPr>
          <p:cNvPr id="3" name="Rectangle 2">
            <a:extLst>
              <a:ext uri="{FF2B5EF4-FFF2-40B4-BE49-F238E27FC236}">
                <a16:creationId xmlns:a16="http://schemas.microsoft.com/office/drawing/2014/main" id="{F8562C33-73A6-413B-9451-A4CB3DB15DE7}"/>
              </a:ext>
            </a:extLst>
          </p:cNvPr>
          <p:cNvSpPr/>
          <p:nvPr/>
        </p:nvSpPr>
        <p:spPr>
          <a:xfrm>
            <a:off x="478155" y="1011610"/>
            <a:ext cx="11234419" cy="553998"/>
          </a:xfrm>
          <a:prstGeom prst="rect">
            <a:avLst/>
          </a:prstGeom>
        </p:spPr>
        <p:txBody>
          <a:bodyPr wrap="square" lIns="0" tIns="0" rIns="0" bIns="0">
            <a:spAutoFit/>
          </a:bodyPr>
          <a:lstStyle/>
          <a:p>
            <a:r>
              <a:rPr lang="en-US" dirty="0">
                <a:cs typeface="Open Sans" panose="020B0606030504020204" pitchFamily="34" charset="0"/>
              </a:rPr>
              <a:t>Assess the current OOMF, identify gaps, integrate learnings and conceptualize OOMF v.2.0 and OOMF Dashboard 2.0 including advocacy materials</a:t>
            </a:r>
            <a:endParaRPr lang="en-IN" dirty="0"/>
          </a:p>
        </p:txBody>
      </p:sp>
      <p:grpSp>
        <p:nvGrpSpPr>
          <p:cNvPr id="14" name="Group 13">
            <a:extLst>
              <a:ext uri="{FF2B5EF4-FFF2-40B4-BE49-F238E27FC236}">
                <a16:creationId xmlns:a16="http://schemas.microsoft.com/office/drawing/2014/main" id="{16014842-0CE6-403B-BD42-3579E7533FE1}"/>
              </a:ext>
            </a:extLst>
          </p:cNvPr>
          <p:cNvGrpSpPr/>
          <p:nvPr/>
        </p:nvGrpSpPr>
        <p:grpSpPr>
          <a:xfrm>
            <a:off x="469900" y="2102640"/>
            <a:ext cx="5902742" cy="4142612"/>
            <a:chOff x="469900" y="2102640"/>
            <a:chExt cx="5902742" cy="4142612"/>
          </a:xfrm>
        </p:grpSpPr>
        <p:grpSp>
          <p:nvGrpSpPr>
            <p:cNvPr id="5" name="Group 4">
              <a:extLst>
                <a:ext uri="{FF2B5EF4-FFF2-40B4-BE49-F238E27FC236}">
                  <a16:creationId xmlns:a16="http://schemas.microsoft.com/office/drawing/2014/main" id="{6C52F8D2-55E9-41E5-9A70-2B0CF2195901}"/>
                </a:ext>
              </a:extLst>
            </p:cNvPr>
            <p:cNvGrpSpPr/>
            <p:nvPr/>
          </p:nvGrpSpPr>
          <p:grpSpPr>
            <a:xfrm>
              <a:off x="469900" y="2704308"/>
              <a:ext cx="5902742" cy="532606"/>
              <a:chOff x="469900" y="2704308"/>
              <a:chExt cx="5902742" cy="532606"/>
            </a:xfrm>
          </p:grpSpPr>
          <p:sp>
            <p:nvSpPr>
              <p:cNvPr id="54" name="Rounded Rectangle 2">
                <a:extLst>
                  <a:ext uri="{FF2B5EF4-FFF2-40B4-BE49-F238E27FC236}">
                    <a16:creationId xmlns:a16="http://schemas.microsoft.com/office/drawing/2014/main" id="{2C1CA2DF-F3DE-41D3-84F6-8175D5052A47}"/>
                  </a:ext>
                </a:extLst>
              </p:cNvPr>
              <p:cNvSpPr/>
              <p:nvPr/>
            </p:nvSpPr>
            <p:spPr bwMode="gray">
              <a:xfrm>
                <a:off x="1343442" y="2704308"/>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5" name="Rounded Rectangle 3">
                <a:extLst>
                  <a:ext uri="{FF2B5EF4-FFF2-40B4-BE49-F238E27FC236}">
                    <a16:creationId xmlns:a16="http://schemas.microsoft.com/office/drawing/2014/main" id="{C7753E84-CBB3-4DA9-A18A-2A72C61770C5}"/>
                  </a:ext>
                </a:extLst>
              </p:cNvPr>
              <p:cNvSpPr/>
              <p:nvPr/>
            </p:nvSpPr>
            <p:spPr bwMode="gray">
              <a:xfrm>
                <a:off x="1452592" y="2704308"/>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Leveraging Deloitte’s Public procurement experience in bid process management and program managing development of OOMF 2.0 dashboard</a:t>
                </a:r>
              </a:p>
            </p:txBody>
          </p:sp>
          <p:sp>
            <p:nvSpPr>
              <p:cNvPr id="56" name="Oval 55">
                <a:extLst>
                  <a:ext uri="{FF2B5EF4-FFF2-40B4-BE49-F238E27FC236}">
                    <a16:creationId xmlns:a16="http://schemas.microsoft.com/office/drawing/2014/main" id="{AE6114E4-B0EA-47A2-AA00-8748620603D2}"/>
                  </a:ext>
                </a:extLst>
              </p:cNvPr>
              <p:cNvSpPr>
                <a:spLocks noChangeAspect="1"/>
              </p:cNvSpPr>
              <p:nvPr/>
            </p:nvSpPr>
            <p:spPr bwMode="gray">
              <a:xfrm>
                <a:off x="894939" y="2928344"/>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7" name="Rounded Rectangle 5">
                <a:extLst>
                  <a:ext uri="{FF2B5EF4-FFF2-40B4-BE49-F238E27FC236}">
                    <a16:creationId xmlns:a16="http://schemas.microsoft.com/office/drawing/2014/main" id="{DD242AC8-34FD-4EC5-B808-B119F7E7A36D}"/>
                  </a:ext>
                </a:extLst>
              </p:cNvPr>
              <p:cNvSpPr/>
              <p:nvPr/>
            </p:nvSpPr>
            <p:spPr bwMode="gray">
              <a:xfrm>
                <a:off x="469900" y="2705435"/>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8" name="Rounded Rectangle 6">
                <a:extLst>
                  <a:ext uri="{FF2B5EF4-FFF2-40B4-BE49-F238E27FC236}">
                    <a16:creationId xmlns:a16="http://schemas.microsoft.com/office/drawing/2014/main" id="{3D811864-1987-4B3D-8108-3B5D3A90C0B1}"/>
                  </a:ext>
                </a:extLst>
              </p:cNvPr>
              <p:cNvSpPr/>
              <p:nvPr/>
            </p:nvSpPr>
            <p:spPr bwMode="gray">
              <a:xfrm>
                <a:off x="496303" y="2705435"/>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65" name="Oval 64">
                <a:extLst>
                  <a:ext uri="{FF2B5EF4-FFF2-40B4-BE49-F238E27FC236}">
                    <a16:creationId xmlns:a16="http://schemas.microsoft.com/office/drawing/2014/main" id="{A5064692-9103-41B7-868C-5868FD832C31}"/>
                  </a:ext>
                </a:extLst>
              </p:cNvPr>
              <p:cNvSpPr/>
              <p:nvPr/>
            </p:nvSpPr>
            <p:spPr bwMode="gray">
              <a:xfrm>
                <a:off x="1163072" y="2929376"/>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66" name="Oval 65">
                <a:extLst>
                  <a:ext uri="{FF2B5EF4-FFF2-40B4-BE49-F238E27FC236}">
                    <a16:creationId xmlns:a16="http://schemas.microsoft.com/office/drawing/2014/main" id="{95A7CA67-2229-4407-9F35-299582A29AF1}"/>
                  </a:ext>
                </a:extLst>
              </p:cNvPr>
              <p:cNvSpPr/>
              <p:nvPr/>
            </p:nvSpPr>
            <p:spPr bwMode="gray">
              <a:xfrm>
                <a:off x="1303547" y="2929376"/>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68" name="Straight Connector 67">
                <a:extLst>
                  <a:ext uri="{FF2B5EF4-FFF2-40B4-BE49-F238E27FC236}">
                    <a16:creationId xmlns:a16="http://schemas.microsoft.com/office/drawing/2014/main" id="{3A9194C8-7C1F-4D7B-913D-453C1ACE46D3}"/>
                  </a:ext>
                </a:extLst>
              </p:cNvPr>
              <p:cNvCxnSpPr>
                <a:cxnSpLocks/>
              </p:cNvCxnSpPr>
              <p:nvPr/>
            </p:nvCxnSpPr>
            <p:spPr>
              <a:xfrm>
                <a:off x="1204223" y="2970611"/>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31" name="Freeform 36">
                <a:extLst>
                  <a:ext uri="{FF2B5EF4-FFF2-40B4-BE49-F238E27FC236}">
                    <a16:creationId xmlns:a16="http://schemas.microsoft.com/office/drawing/2014/main" id="{71B74701-B9F7-4B1A-90EC-3F668C03ED28}"/>
                  </a:ext>
                </a:extLst>
              </p:cNvPr>
              <p:cNvSpPr>
                <a:spLocks noChangeAspect="1" noEditPoints="1"/>
              </p:cNvSpPr>
              <p:nvPr/>
            </p:nvSpPr>
            <p:spPr bwMode="auto">
              <a:xfrm>
                <a:off x="635742" y="2786796"/>
                <a:ext cx="367631" cy="367631"/>
              </a:xfrm>
              <a:custGeom>
                <a:avLst/>
                <a:gdLst>
                  <a:gd name="T0" fmla="*/ 324 w 512"/>
                  <a:gd name="T1" fmla="*/ 194 h 512"/>
                  <a:gd name="T2" fmla="*/ 330 w 512"/>
                  <a:gd name="T3" fmla="*/ 167 h 512"/>
                  <a:gd name="T4" fmla="*/ 400 w 512"/>
                  <a:gd name="T5" fmla="*/ 182 h 512"/>
                  <a:gd name="T6" fmla="*/ 386 w 512"/>
                  <a:gd name="T7" fmla="*/ 223 h 512"/>
                  <a:gd name="T8" fmla="*/ 351 w 512"/>
                  <a:gd name="T9" fmla="*/ 247 h 512"/>
                  <a:gd name="T10" fmla="*/ 312 w 512"/>
                  <a:gd name="T11" fmla="*/ 243 h 512"/>
                  <a:gd name="T12" fmla="*/ 278 w 512"/>
                  <a:gd name="T13" fmla="*/ 222 h 512"/>
                  <a:gd name="T14" fmla="*/ 264 w 512"/>
                  <a:gd name="T15" fmla="*/ 183 h 512"/>
                  <a:gd name="T16" fmla="*/ 275 w 512"/>
                  <a:gd name="T17" fmla="*/ 144 h 512"/>
                  <a:gd name="T18" fmla="*/ 308 w 512"/>
                  <a:gd name="T19" fmla="*/ 119 h 512"/>
                  <a:gd name="T20" fmla="*/ 331 w 512"/>
                  <a:gd name="T21" fmla="*/ 128 h 512"/>
                  <a:gd name="T22" fmla="*/ 364 w 512"/>
                  <a:gd name="T23" fmla="*/ 136 h 512"/>
                  <a:gd name="T24" fmla="*/ 384 w 512"/>
                  <a:gd name="T25" fmla="*/ 164 h 512"/>
                  <a:gd name="T26" fmla="*/ 320 w 512"/>
                  <a:gd name="T27" fmla="*/ 147 h 512"/>
                  <a:gd name="T28" fmla="*/ 330 w 512"/>
                  <a:gd name="T29" fmla="*/ 217 h 512"/>
                  <a:gd name="T30" fmla="*/ 512 w 512"/>
                  <a:gd name="T31" fmla="*/ 256 h 512"/>
                  <a:gd name="T32" fmla="*/ 512 w 512"/>
                  <a:gd name="T33" fmla="*/ 256 h 512"/>
                  <a:gd name="T34" fmla="*/ 268 w 512"/>
                  <a:gd name="T35" fmla="*/ 290 h 512"/>
                  <a:gd name="T36" fmla="*/ 236 w 512"/>
                  <a:gd name="T37" fmla="*/ 251 h 512"/>
                  <a:gd name="T38" fmla="*/ 187 w 512"/>
                  <a:gd name="T39" fmla="*/ 238 h 512"/>
                  <a:gd name="T40" fmla="*/ 140 w 512"/>
                  <a:gd name="T41" fmla="*/ 256 h 512"/>
                  <a:gd name="T42" fmla="*/ 113 w 512"/>
                  <a:gd name="T43" fmla="*/ 299 h 512"/>
                  <a:gd name="T44" fmla="*/ 115 w 512"/>
                  <a:gd name="T45" fmla="*/ 350 h 512"/>
                  <a:gd name="T46" fmla="*/ 147 w 512"/>
                  <a:gd name="T47" fmla="*/ 388 h 512"/>
                  <a:gd name="T48" fmla="*/ 196 w 512"/>
                  <a:gd name="T49" fmla="*/ 401 h 512"/>
                  <a:gd name="T50" fmla="*/ 237 w 512"/>
                  <a:gd name="T51" fmla="*/ 383 h 512"/>
                  <a:gd name="T52" fmla="*/ 266 w 512"/>
                  <a:gd name="T53" fmla="*/ 345 h 512"/>
                  <a:gd name="T54" fmla="*/ 410 w 512"/>
                  <a:gd name="T55" fmla="*/ 163 h 512"/>
                  <a:gd name="T56" fmla="*/ 384 w 512"/>
                  <a:gd name="T57" fmla="*/ 119 h 512"/>
                  <a:gd name="T58" fmla="*/ 337 w 512"/>
                  <a:gd name="T59" fmla="*/ 99 h 512"/>
                  <a:gd name="T60" fmla="*/ 288 w 512"/>
                  <a:gd name="T61" fmla="*/ 111 h 512"/>
                  <a:gd name="T62" fmla="*/ 255 w 512"/>
                  <a:gd name="T63" fmla="*/ 149 h 512"/>
                  <a:gd name="T64" fmla="*/ 251 w 512"/>
                  <a:gd name="T65" fmla="*/ 199 h 512"/>
                  <a:gd name="T66" fmla="*/ 277 w 512"/>
                  <a:gd name="T67" fmla="*/ 243 h 512"/>
                  <a:gd name="T68" fmla="*/ 323 w 512"/>
                  <a:gd name="T69" fmla="*/ 263 h 512"/>
                  <a:gd name="T70" fmla="*/ 358 w 512"/>
                  <a:gd name="T71" fmla="*/ 270 h 512"/>
                  <a:gd name="T72" fmla="*/ 405 w 512"/>
                  <a:gd name="T73" fmla="*/ 237 h 512"/>
                  <a:gd name="T74" fmla="*/ 423 w 512"/>
                  <a:gd name="T75" fmla="*/ 182 h 512"/>
                  <a:gd name="T76" fmla="*/ 179 w 512"/>
                  <a:gd name="T77" fmla="*/ 313 h 512"/>
                  <a:gd name="T78" fmla="*/ 204 w 512"/>
                  <a:gd name="T79" fmla="*/ 326 h 512"/>
                  <a:gd name="T80" fmla="*/ 262 w 512"/>
                  <a:gd name="T81" fmla="*/ 321 h 512"/>
                  <a:gd name="T82" fmla="*/ 248 w 512"/>
                  <a:gd name="T83" fmla="*/ 361 h 512"/>
                  <a:gd name="T84" fmla="*/ 212 w 512"/>
                  <a:gd name="T85" fmla="*/ 386 h 512"/>
                  <a:gd name="T86" fmla="*/ 173 w 512"/>
                  <a:gd name="T87" fmla="*/ 382 h 512"/>
                  <a:gd name="T88" fmla="*/ 139 w 512"/>
                  <a:gd name="T89" fmla="*/ 360 h 512"/>
                  <a:gd name="T90" fmla="*/ 125 w 512"/>
                  <a:gd name="T91" fmla="*/ 321 h 512"/>
                  <a:gd name="T92" fmla="*/ 137 w 512"/>
                  <a:gd name="T93" fmla="*/ 282 h 512"/>
                  <a:gd name="T94" fmla="*/ 169 w 512"/>
                  <a:gd name="T95" fmla="*/ 258 h 512"/>
                  <a:gd name="T96" fmla="*/ 193 w 512"/>
                  <a:gd name="T97" fmla="*/ 266 h 512"/>
                  <a:gd name="T98" fmla="*/ 226 w 512"/>
                  <a:gd name="T99" fmla="*/ 274 h 512"/>
                  <a:gd name="T100" fmla="*/ 246 w 512"/>
                  <a:gd name="T101" fmla="*/ 303 h 512"/>
                  <a:gd name="T102" fmla="*/ 181 w 512"/>
                  <a:gd name="T103" fmla="*/ 286 h 512"/>
                  <a:gd name="T104" fmla="*/ 192 w 512"/>
                  <a:gd name="T105" fmla="*/ 35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344" y="177"/>
                    </a:moveTo>
                    <a:cubicBezTo>
                      <a:pt x="345" y="180"/>
                      <a:pt x="345" y="184"/>
                      <a:pt x="343" y="188"/>
                    </a:cubicBezTo>
                    <a:cubicBezTo>
                      <a:pt x="341" y="191"/>
                      <a:pt x="338" y="193"/>
                      <a:pt x="335" y="195"/>
                    </a:cubicBezTo>
                    <a:cubicBezTo>
                      <a:pt x="331" y="196"/>
                      <a:pt x="327" y="195"/>
                      <a:pt x="324" y="194"/>
                    </a:cubicBezTo>
                    <a:cubicBezTo>
                      <a:pt x="320" y="192"/>
                      <a:pt x="318" y="189"/>
                      <a:pt x="317" y="185"/>
                    </a:cubicBezTo>
                    <a:cubicBezTo>
                      <a:pt x="316" y="182"/>
                      <a:pt x="316" y="178"/>
                      <a:pt x="318" y="174"/>
                    </a:cubicBezTo>
                    <a:cubicBezTo>
                      <a:pt x="320" y="171"/>
                      <a:pt x="322" y="169"/>
                      <a:pt x="326" y="167"/>
                    </a:cubicBezTo>
                    <a:cubicBezTo>
                      <a:pt x="328" y="167"/>
                      <a:pt x="329" y="167"/>
                      <a:pt x="330" y="167"/>
                    </a:cubicBezTo>
                    <a:cubicBezTo>
                      <a:pt x="333" y="167"/>
                      <a:pt x="335" y="167"/>
                      <a:pt x="337" y="168"/>
                    </a:cubicBezTo>
                    <a:cubicBezTo>
                      <a:pt x="340" y="170"/>
                      <a:pt x="343" y="173"/>
                      <a:pt x="344" y="177"/>
                    </a:cubicBezTo>
                    <a:close/>
                    <a:moveTo>
                      <a:pt x="397" y="179"/>
                    </a:moveTo>
                    <a:cubicBezTo>
                      <a:pt x="398" y="180"/>
                      <a:pt x="399" y="181"/>
                      <a:pt x="400" y="182"/>
                    </a:cubicBezTo>
                    <a:cubicBezTo>
                      <a:pt x="399" y="183"/>
                      <a:pt x="398" y="184"/>
                      <a:pt x="397" y="185"/>
                    </a:cubicBezTo>
                    <a:cubicBezTo>
                      <a:pt x="392" y="189"/>
                      <a:pt x="386" y="193"/>
                      <a:pt x="384" y="199"/>
                    </a:cubicBezTo>
                    <a:cubicBezTo>
                      <a:pt x="382" y="206"/>
                      <a:pt x="384" y="212"/>
                      <a:pt x="385" y="218"/>
                    </a:cubicBezTo>
                    <a:cubicBezTo>
                      <a:pt x="386" y="220"/>
                      <a:pt x="386" y="221"/>
                      <a:pt x="386" y="223"/>
                    </a:cubicBezTo>
                    <a:cubicBezTo>
                      <a:pt x="385" y="223"/>
                      <a:pt x="383" y="223"/>
                      <a:pt x="382" y="223"/>
                    </a:cubicBezTo>
                    <a:cubicBezTo>
                      <a:pt x="376" y="223"/>
                      <a:pt x="369" y="223"/>
                      <a:pt x="363" y="227"/>
                    </a:cubicBezTo>
                    <a:cubicBezTo>
                      <a:pt x="357" y="231"/>
                      <a:pt x="355" y="237"/>
                      <a:pt x="353" y="243"/>
                    </a:cubicBezTo>
                    <a:cubicBezTo>
                      <a:pt x="352" y="244"/>
                      <a:pt x="352" y="246"/>
                      <a:pt x="351" y="247"/>
                    </a:cubicBezTo>
                    <a:cubicBezTo>
                      <a:pt x="350" y="246"/>
                      <a:pt x="348" y="244"/>
                      <a:pt x="347" y="244"/>
                    </a:cubicBezTo>
                    <a:cubicBezTo>
                      <a:pt x="342" y="240"/>
                      <a:pt x="336" y="234"/>
                      <a:pt x="330" y="234"/>
                    </a:cubicBezTo>
                    <a:cubicBezTo>
                      <a:pt x="329" y="234"/>
                      <a:pt x="329" y="234"/>
                      <a:pt x="329" y="234"/>
                    </a:cubicBezTo>
                    <a:cubicBezTo>
                      <a:pt x="322" y="234"/>
                      <a:pt x="317" y="240"/>
                      <a:pt x="312" y="243"/>
                    </a:cubicBezTo>
                    <a:cubicBezTo>
                      <a:pt x="311" y="244"/>
                      <a:pt x="309" y="246"/>
                      <a:pt x="308" y="247"/>
                    </a:cubicBezTo>
                    <a:cubicBezTo>
                      <a:pt x="307" y="246"/>
                      <a:pt x="307" y="244"/>
                      <a:pt x="306" y="243"/>
                    </a:cubicBezTo>
                    <a:cubicBezTo>
                      <a:pt x="304" y="237"/>
                      <a:pt x="302" y="230"/>
                      <a:pt x="296" y="226"/>
                    </a:cubicBezTo>
                    <a:cubicBezTo>
                      <a:pt x="291" y="222"/>
                      <a:pt x="284" y="222"/>
                      <a:pt x="278" y="222"/>
                    </a:cubicBezTo>
                    <a:cubicBezTo>
                      <a:pt x="277" y="222"/>
                      <a:pt x="275" y="222"/>
                      <a:pt x="273" y="221"/>
                    </a:cubicBezTo>
                    <a:cubicBezTo>
                      <a:pt x="274" y="220"/>
                      <a:pt x="274" y="218"/>
                      <a:pt x="274" y="217"/>
                    </a:cubicBezTo>
                    <a:cubicBezTo>
                      <a:pt x="276" y="211"/>
                      <a:pt x="278" y="204"/>
                      <a:pt x="276" y="198"/>
                    </a:cubicBezTo>
                    <a:cubicBezTo>
                      <a:pt x="274" y="191"/>
                      <a:pt x="269" y="187"/>
                      <a:pt x="264" y="183"/>
                    </a:cubicBezTo>
                    <a:cubicBezTo>
                      <a:pt x="263" y="182"/>
                      <a:pt x="261" y="181"/>
                      <a:pt x="260" y="180"/>
                    </a:cubicBezTo>
                    <a:cubicBezTo>
                      <a:pt x="262" y="179"/>
                      <a:pt x="263" y="178"/>
                      <a:pt x="264" y="177"/>
                    </a:cubicBezTo>
                    <a:cubicBezTo>
                      <a:pt x="269" y="173"/>
                      <a:pt x="275" y="169"/>
                      <a:pt x="277" y="163"/>
                    </a:cubicBezTo>
                    <a:cubicBezTo>
                      <a:pt x="279" y="156"/>
                      <a:pt x="277" y="150"/>
                      <a:pt x="275" y="144"/>
                    </a:cubicBezTo>
                    <a:cubicBezTo>
                      <a:pt x="275" y="142"/>
                      <a:pt x="275" y="141"/>
                      <a:pt x="274" y="139"/>
                    </a:cubicBezTo>
                    <a:cubicBezTo>
                      <a:pt x="276" y="139"/>
                      <a:pt x="278" y="139"/>
                      <a:pt x="279" y="139"/>
                    </a:cubicBezTo>
                    <a:cubicBezTo>
                      <a:pt x="285" y="139"/>
                      <a:pt x="292" y="139"/>
                      <a:pt x="298" y="135"/>
                    </a:cubicBezTo>
                    <a:cubicBezTo>
                      <a:pt x="303" y="131"/>
                      <a:pt x="306" y="125"/>
                      <a:pt x="308" y="119"/>
                    </a:cubicBezTo>
                    <a:cubicBezTo>
                      <a:pt x="308" y="118"/>
                      <a:pt x="309" y="116"/>
                      <a:pt x="310" y="115"/>
                    </a:cubicBezTo>
                    <a:cubicBezTo>
                      <a:pt x="311" y="116"/>
                      <a:pt x="313" y="118"/>
                      <a:pt x="314" y="118"/>
                    </a:cubicBezTo>
                    <a:cubicBezTo>
                      <a:pt x="319" y="122"/>
                      <a:pt x="324" y="128"/>
                      <a:pt x="331" y="128"/>
                    </a:cubicBezTo>
                    <a:cubicBezTo>
                      <a:pt x="331" y="128"/>
                      <a:pt x="331" y="128"/>
                      <a:pt x="331" y="128"/>
                    </a:cubicBezTo>
                    <a:cubicBezTo>
                      <a:pt x="338" y="128"/>
                      <a:pt x="344" y="122"/>
                      <a:pt x="349" y="119"/>
                    </a:cubicBezTo>
                    <a:cubicBezTo>
                      <a:pt x="350" y="118"/>
                      <a:pt x="352" y="116"/>
                      <a:pt x="353" y="115"/>
                    </a:cubicBezTo>
                    <a:cubicBezTo>
                      <a:pt x="353" y="116"/>
                      <a:pt x="354" y="118"/>
                      <a:pt x="354" y="119"/>
                    </a:cubicBezTo>
                    <a:cubicBezTo>
                      <a:pt x="356" y="125"/>
                      <a:pt x="359" y="132"/>
                      <a:pt x="364" y="136"/>
                    </a:cubicBezTo>
                    <a:cubicBezTo>
                      <a:pt x="370" y="140"/>
                      <a:pt x="377" y="140"/>
                      <a:pt x="383" y="140"/>
                    </a:cubicBezTo>
                    <a:cubicBezTo>
                      <a:pt x="384" y="140"/>
                      <a:pt x="386" y="140"/>
                      <a:pt x="387" y="141"/>
                    </a:cubicBezTo>
                    <a:cubicBezTo>
                      <a:pt x="387" y="142"/>
                      <a:pt x="387" y="144"/>
                      <a:pt x="386" y="145"/>
                    </a:cubicBezTo>
                    <a:cubicBezTo>
                      <a:pt x="384" y="151"/>
                      <a:pt x="382" y="158"/>
                      <a:pt x="384" y="164"/>
                    </a:cubicBezTo>
                    <a:cubicBezTo>
                      <a:pt x="386" y="171"/>
                      <a:pt x="392" y="175"/>
                      <a:pt x="397" y="179"/>
                    </a:cubicBezTo>
                    <a:close/>
                    <a:moveTo>
                      <a:pt x="364" y="170"/>
                    </a:moveTo>
                    <a:cubicBezTo>
                      <a:pt x="361" y="161"/>
                      <a:pt x="355" y="154"/>
                      <a:pt x="347" y="150"/>
                    </a:cubicBezTo>
                    <a:cubicBezTo>
                      <a:pt x="338" y="145"/>
                      <a:pt x="329" y="144"/>
                      <a:pt x="320" y="147"/>
                    </a:cubicBezTo>
                    <a:cubicBezTo>
                      <a:pt x="311" y="150"/>
                      <a:pt x="303" y="156"/>
                      <a:pt x="299" y="164"/>
                    </a:cubicBezTo>
                    <a:cubicBezTo>
                      <a:pt x="294" y="173"/>
                      <a:pt x="294" y="182"/>
                      <a:pt x="296" y="192"/>
                    </a:cubicBezTo>
                    <a:cubicBezTo>
                      <a:pt x="299" y="201"/>
                      <a:pt x="305" y="208"/>
                      <a:pt x="314" y="212"/>
                    </a:cubicBezTo>
                    <a:cubicBezTo>
                      <a:pt x="319" y="215"/>
                      <a:pt x="325" y="217"/>
                      <a:pt x="330" y="217"/>
                    </a:cubicBezTo>
                    <a:cubicBezTo>
                      <a:pt x="334" y="217"/>
                      <a:pt x="337" y="216"/>
                      <a:pt x="341" y="215"/>
                    </a:cubicBezTo>
                    <a:cubicBezTo>
                      <a:pt x="350" y="212"/>
                      <a:pt x="357" y="206"/>
                      <a:pt x="362" y="198"/>
                    </a:cubicBezTo>
                    <a:cubicBezTo>
                      <a:pt x="366" y="189"/>
                      <a:pt x="367" y="180"/>
                      <a:pt x="364" y="17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84" y="321"/>
                    </a:moveTo>
                    <a:cubicBezTo>
                      <a:pt x="285" y="312"/>
                      <a:pt x="277" y="306"/>
                      <a:pt x="271" y="301"/>
                    </a:cubicBezTo>
                    <a:cubicBezTo>
                      <a:pt x="270" y="300"/>
                      <a:pt x="267" y="298"/>
                      <a:pt x="266" y="297"/>
                    </a:cubicBezTo>
                    <a:cubicBezTo>
                      <a:pt x="266" y="295"/>
                      <a:pt x="267" y="292"/>
                      <a:pt x="268" y="290"/>
                    </a:cubicBezTo>
                    <a:cubicBezTo>
                      <a:pt x="270" y="283"/>
                      <a:pt x="273" y="274"/>
                      <a:pt x="267" y="266"/>
                    </a:cubicBezTo>
                    <a:cubicBezTo>
                      <a:pt x="262" y="258"/>
                      <a:pt x="252" y="258"/>
                      <a:pt x="245" y="258"/>
                    </a:cubicBezTo>
                    <a:cubicBezTo>
                      <a:pt x="243" y="258"/>
                      <a:pt x="240" y="257"/>
                      <a:pt x="238" y="257"/>
                    </a:cubicBezTo>
                    <a:cubicBezTo>
                      <a:pt x="238" y="256"/>
                      <a:pt x="237" y="253"/>
                      <a:pt x="236" y="251"/>
                    </a:cubicBezTo>
                    <a:cubicBezTo>
                      <a:pt x="234" y="244"/>
                      <a:pt x="231" y="235"/>
                      <a:pt x="222" y="232"/>
                    </a:cubicBezTo>
                    <a:cubicBezTo>
                      <a:pt x="213" y="229"/>
                      <a:pt x="204" y="234"/>
                      <a:pt x="199" y="238"/>
                    </a:cubicBezTo>
                    <a:cubicBezTo>
                      <a:pt x="197" y="239"/>
                      <a:pt x="194" y="241"/>
                      <a:pt x="193" y="242"/>
                    </a:cubicBezTo>
                    <a:cubicBezTo>
                      <a:pt x="191" y="241"/>
                      <a:pt x="189" y="239"/>
                      <a:pt x="187" y="238"/>
                    </a:cubicBezTo>
                    <a:cubicBezTo>
                      <a:pt x="182" y="234"/>
                      <a:pt x="173" y="228"/>
                      <a:pt x="164" y="231"/>
                    </a:cubicBezTo>
                    <a:cubicBezTo>
                      <a:pt x="155" y="234"/>
                      <a:pt x="152" y="243"/>
                      <a:pt x="149" y="250"/>
                    </a:cubicBezTo>
                    <a:cubicBezTo>
                      <a:pt x="148" y="252"/>
                      <a:pt x="147" y="255"/>
                      <a:pt x="147" y="256"/>
                    </a:cubicBezTo>
                    <a:cubicBezTo>
                      <a:pt x="145" y="256"/>
                      <a:pt x="142" y="256"/>
                      <a:pt x="140" y="256"/>
                    </a:cubicBezTo>
                    <a:cubicBezTo>
                      <a:pt x="133" y="256"/>
                      <a:pt x="123" y="257"/>
                      <a:pt x="117" y="264"/>
                    </a:cubicBezTo>
                    <a:cubicBezTo>
                      <a:pt x="112" y="272"/>
                      <a:pt x="114" y="281"/>
                      <a:pt x="116" y="288"/>
                    </a:cubicBezTo>
                    <a:cubicBezTo>
                      <a:pt x="117" y="290"/>
                      <a:pt x="118" y="293"/>
                      <a:pt x="118" y="295"/>
                    </a:cubicBezTo>
                    <a:cubicBezTo>
                      <a:pt x="117" y="296"/>
                      <a:pt x="114" y="298"/>
                      <a:pt x="113" y="299"/>
                    </a:cubicBezTo>
                    <a:cubicBezTo>
                      <a:pt x="107" y="303"/>
                      <a:pt x="99" y="309"/>
                      <a:pt x="99" y="318"/>
                    </a:cubicBezTo>
                    <a:cubicBezTo>
                      <a:pt x="99" y="328"/>
                      <a:pt x="106" y="334"/>
                      <a:pt x="112" y="338"/>
                    </a:cubicBezTo>
                    <a:cubicBezTo>
                      <a:pt x="114" y="340"/>
                      <a:pt x="117" y="342"/>
                      <a:pt x="117" y="342"/>
                    </a:cubicBezTo>
                    <a:cubicBezTo>
                      <a:pt x="117" y="344"/>
                      <a:pt x="116" y="347"/>
                      <a:pt x="115" y="350"/>
                    </a:cubicBezTo>
                    <a:cubicBezTo>
                      <a:pt x="113" y="357"/>
                      <a:pt x="110" y="366"/>
                      <a:pt x="116" y="373"/>
                    </a:cubicBezTo>
                    <a:cubicBezTo>
                      <a:pt x="121" y="381"/>
                      <a:pt x="131" y="381"/>
                      <a:pt x="138" y="382"/>
                    </a:cubicBezTo>
                    <a:cubicBezTo>
                      <a:pt x="140" y="382"/>
                      <a:pt x="143" y="382"/>
                      <a:pt x="145" y="382"/>
                    </a:cubicBezTo>
                    <a:cubicBezTo>
                      <a:pt x="146" y="384"/>
                      <a:pt x="147" y="387"/>
                      <a:pt x="147" y="388"/>
                    </a:cubicBezTo>
                    <a:cubicBezTo>
                      <a:pt x="150" y="395"/>
                      <a:pt x="153" y="404"/>
                      <a:pt x="162" y="408"/>
                    </a:cubicBezTo>
                    <a:cubicBezTo>
                      <a:pt x="171" y="411"/>
                      <a:pt x="179" y="405"/>
                      <a:pt x="185" y="401"/>
                    </a:cubicBezTo>
                    <a:cubicBezTo>
                      <a:pt x="186" y="400"/>
                      <a:pt x="189" y="398"/>
                      <a:pt x="191" y="398"/>
                    </a:cubicBezTo>
                    <a:cubicBezTo>
                      <a:pt x="192" y="398"/>
                      <a:pt x="194" y="400"/>
                      <a:pt x="196" y="401"/>
                    </a:cubicBezTo>
                    <a:cubicBezTo>
                      <a:pt x="201" y="405"/>
                      <a:pt x="207" y="409"/>
                      <a:pt x="214" y="409"/>
                    </a:cubicBezTo>
                    <a:cubicBezTo>
                      <a:pt x="216" y="409"/>
                      <a:pt x="217" y="409"/>
                      <a:pt x="219" y="408"/>
                    </a:cubicBezTo>
                    <a:cubicBezTo>
                      <a:pt x="228" y="405"/>
                      <a:pt x="232" y="396"/>
                      <a:pt x="234" y="389"/>
                    </a:cubicBezTo>
                    <a:cubicBezTo>
                      <a:pt x="235" y="387"/>
                      <a:pt x="236" y="385"/>
                      <a:pt x="237" y="383"/>
                    </a:cubicBezTo>
                    <a:cubicBezTo>
                      <a:pt x="238" y="383"/>
                      <a:pt x="241" y="383"/>
                      <a:pt x="244" y="383"/>
                    </a:cubicBezTo>
                    <a:cubicBezTo>
                      <a:pt x="251" y="383"/>
                      <a:pt x="260" y="383"/>
                      <a:pt x="266" y="375"/>
                    </a:cubicBezTo>
                    <a:cubicBezTo>
                      <a:pt x="272" y="368"/>
                      <a:pt x="269" y="358"/>
                      <a:pt x="267" y="351"/>
                    </a:cubicBezTo>
                    <a:cubicBezTo>
                      <a:pt x="267" y="349"/>
                      <a:pt x="266" y="346"/>
                      <a:pt x="266" y="345"/>
                    </a:cubicBezTo>
                    <a:cubicBezTo>
                      <a:pt x="267" y="344"/>
                      <a:pt x="269" y="342"/>
                      <a:pt x="271" y="341"/>
                    </a:cubicBezTo>
                    <a:cubicBezTo>
                      <a:pt x="276" y="336"/>
                      <a:pt x="284" y="331"/>
                      <a:pt x="284" y="321"/>
                    </a:cubicBezTo>
                    <a:close/>
                    <a:moveTo>
                      <a:pt x="423" y="182"/>
                    </a:moveTo>
                    <a:cubicBezTo>
                      <a:pt x="423" y="173"/>
                      <a:pt x="416" y="167"/>
                      <a:pt x="410" y="163"/>
                    </a:cubicBezTo>
                    <a:cubicBezTo>
                      <a:pt x="408" y="161"/>
                      <a:pt x="406" y="159"/>
                      <a:pt x="405" y="158"/>
                    </a:cubicBezTo>
                    <a:cubicBezTo>
                      <a:pt x="405" y="156"/>
                      <a:pt x="406" y="153"/>
                      <a:pt x="407" y="151"/>
                    </a:cubicBezTo>
                    <a:cubicBezTo>
                      <a:pt x="409" y="144"/>
                      <a:pt x="412" y="135"/>
                      <a:pt x="406" y="127"/>
                    </a:cubicBezTo>
                    <a:cubicBezTo>
                      <a:pt x="401" y="120"/>
                      <a:pt x="391" y="119"/>
                      <a:pt x="384" y="119"/>
                    </a:cubicBezTo>
                    <a:cubicBezTo>
                      <a:pt x="382" y="119"/>
                      <a:pt x="379" y="119"/>
                      <a:pt x="377" y="118"/>
                    </a:cubicBezTo>
                    <a:cubicBezTo>
                      <a:pt x="376" y="117"/>
                      <a:pt x="375" y="114"/>
                      <a:pt x="375" y="112"/>
                    </a:cubicBezTo>
                    <a:cubicBezTo>
                      <a:pt x="372" y="105"/>
                      <a:pt x="369" y="96"/>
                      <a:pt x="360" y="93"/>
                    </a:cubicBezTo>
                    <a:cubicBezTo>
                      <a:pt x="351" y="90"/>
                      <a:pt x="343" y="95"/>
                      <a:pt x="337" y="99"/>
                    </a:cubicBezTo>
                    <a:cubicBezTo>
                      <a:pt x="336" y="101"/>
                      <a:pt x="333" y="102"/>
                      <a:pt x="331" y="103"/>
                    </a:cubicBezTo>
                    <a:cubicBezTo>
                      <a:pt x="330" y="102"/>
                      <a:pt x="328" y="101"/>
                      <a:pt x="326" y="99"/>
                    </a:cubicBezTo>
                    <a:cubicBezTo>
                      <a:pt x="320" y="95"/>
                      <a:pt x="312" y="89"/>
                      <a:pt x="303" y="92"/>
                    </a:cubicBezTo>
                    <a:cubicBezTo>
                      <a:pt x="294" y="95"/>
                      <a:pt x="290" y="105"/>
                      <a:pt x="288" y="111"/>
                    </a:cubicBezTo>
                    <a:cubicBezTo>
                      <a:pt x="287" y="113"/>
                      <a:pt x="286" y="116"/>
                      <a:pt x="285" y="117"/>
                    </a:cubicBezTo>
                    <a:cubicBezTo>
                      <a:pt x="284" y="118"/>
                      <a:pt x="281" y="118"/>
                      <a:pt x="279" y="118"/>
                    </a:cubicBezTo>
                    <a:cubicBezTo>
                      <a:pt x="271" y="118"/>
                      <a:pt x="262" y="118"/>
                      <a:pt x="256" y="125"/>
                    </a:cubicBezTo>
                    <a:cubicBezTo>
                      <a:pt x="250" y="133"/>
                      <a:pt x="253" y="142"/>
                      <a:pt x="255" y="149"/>
                    </a:cubicBezTo>
                    <a:cubicBezTo>
                      <a:pt x="255" y="151"/>
                      <a:pt x="256" y="154"/>
                      <a:pt x="256" y="156"/>
                    </a:cubicBezTo>
                    <a:cubicBezTo>
                      <a:pt x="255" y="157"/>
                      <a:pt x="253" y="159"/>
                      <a:pt x="251" y="160"/>
                    </a:cubicBezTo>
                    <a:cubicBezTo>
                      <a:pt x="246" y="164"/>
                      <a:pt x="238" y="170"/>
                      <a:pt x="238" y="180"/>
                    </a:cubicBezTo>
                    <a:cubicBezTo>
                      <a:pt x="237" y="189"/>
                      <a:pt x="245" y="195"/>
                      <a:pt x="251" y="199"/>
                    </a:cubicBezTo>
                    <a:cubicBezTo>
                      <a:pt x="252" y="201"/>
                      <a:pt x="255" y="203"/>
                      <a:pt x="256" y="204"/>
                    </a:cubicBezTo>
                    <a:cubicBezTo>
                      <a:pt x="256" y="205"/>
                      <a:pt x="255" y="209"/>
                      <a:pt x="254" y="211"/>
                    </a:cubicBezTo>
                    <a:cubicBezTo>
                      <a:pt x="252" y="218"/>
                      <a:pt x="249" y="227"/>
                      <a:pt x="255" y="235"/>
                    </a:cubicBezTo>
                    <a:cubicBezTo>
                      <a:pt x="260" y="242"/>
                      <a:pt x="270" y="243"/>
                      <a:pt x="277" y="243"/>
                    </a:cubicBezTo>
                    <a:cubicBezTo>
                      <a:pt x="279" y="243"/>
                      <a:pt x="282" y="243"/>
                      <a:pt x="284" y="244"/>
                    </a:cubicBezTo>
                    <a:cubicBezTo>
                      <a:pt x="284" y="245"/>
                      <a:pt x="285" y="248"/>
                      <a:pt x="286" y="250"/>
                    </a:cubicBezTo>
                    <a:cubicBezTo>
                      <a:pt x="288" y="257"/>
                      <a:pt x="291" y="266"/>
                      <a:pt x="300" y="269"/>
                    </a:cubicBezTo>
                    <a:cubicBezTo>
                      <a:pt x="309" y="272"/>
                      <a:pt x="317" y="267"/>
                      <a:pt x="323" y="263"/>
                    </a:cubicBezTo>
                    <a:cubicBezTo>
                      <a:pt x="325" y="261"/>
                      <a:pt x="328" y="260"/>
                      <a:pt x="329" y="259"/>
                    </a:cubicBezTo>
                    <a:cubicBezTo>
                      <a:pt x="331" y="260"/>
                      <a:pt x="333" y="261"/>
                      <a:pt x="335" y="263"/>
                    </a:cubicBezTo>
                    <a:cubicBezTo>
                      <a:pt x="339" y="266"/>
                      <a:pt x="346" y="270"/>
                      <a:pt x="353" y="270"/>
                    </a:cubicBezTo>
                    <a:cubicBezTo>
                      <a:pt x="354" y="270"/>
                      <a:pt x="356" y="270"/>
                      <a:pt x="358" y="270"/>
                    </a:cubicBezTo>
                    <a:cubicBezTo>
                      <a:pt x="367" y="267"/>
                      <a:pt x="370" y="257"/>
                      <a:pt x="373" y="251"/>
                    </a:cubicBezTo>
                    <a:cubicBezTo>
                      <a:pt x="374" y="249"/>
                      <a:pt x="375" y="246"/>
                      <a:pt x="375" y="245"/>
                    </a:cubicBezTo>
                    <a:cubicBezTo>
                      <a:pt x="377" y="244"/>
                      <a:pt x="380" y="244"/>
                      <a:pt x="382" y="244"/>
                    </a:cubicBezTo>
                    <a:cubicBezTo>
                      <a:pt x="389" y="244"/>
                      <a:pt x="399" y="244"/>
                      <a:pt x="405" y="237"/>
                    </a:cubicBezTo>
                    <a:cubicBezTo>
                      <a:pt x="410" y="229"/>
                      <a:pt x="408" y="220"/>
                      <a:pt x="406" y="213"/>
                    </a:cubicBezTo>
                    <a:cubicBezTo>
                      <a:pt x="405" y="211"/>
                      <a:pt x="404" y="208"/>
                      <a:pt x="404" y="206"/>
                    </a:cubicBezTo>
                    <a:cubicBezTo>
                      <a:pt x="405" y="205"/>
                      <a:pt x="408" y="203"/>
                      <a:pt x="409" y="202"/>
                    </a:cubicBezTo>
                    <a:cubicBezTo>
                      <a:pt x="415" y="198"/>
                      <a:pt x="423" y="192"/>
                      <a:pt x="423" y="182"/>
                    </a:cubicBezTo>
                    <a:close/>
                    <a:moveTo>
                      <a:pt x="198" y="307"/>
                    </a:moveTo>
                    <a:cubicBezTo>
                      <a:pt x="196" y="306"/>
                      <a:pt x="194" y="305"/>
                      <a:pt x="192" y="305"/>
                    </a:cubicBezTo>
                    <a:cubicBezTo>
                      <a:pt x="190" y="305"/>
                      <a:pt x="189" y="306"/>
                      <a:pt x="187" y="306"/>
                    </a:cubicBezTo>
                    <a:cubicBezTo>
                      <a:pt x="184" y="307"/>
                      <a:pt x="181" y="310"/>
                      <a:pt x="179" y="313"/>
                    </a:cubicBezTo>
                    <a:cubicBezTo>
                      <a:pt x="177" y="316"/>
                      <a:pt x="177" y="320"/>
                      <a:pt x="178" y="324"/>
                    </a:cubicBezTo>
                    <a:cubicBezTo>
                      <a:pt x="179" y="328"/>
                      <a:pt x="182" y="330"/>
                      <a:pt x="185" y="332"/>
                    </a:cubicBezTo>
                    <a:cubicBezTo>
                      <a:pt x="188" y="334"/>
                      <a:pt x="192" y="334"/>
                      <a:pt x="196" y="333"/>
                    </a:cubicBezTo>
                    <a:cubicBezTo>
                      <a:pt x="200" y="332"/>
                      <a:pt x="202" y="330"/>
                      <a:pt x="204" y="326"/>
                    </a:cubicBezTo>
                    <a:cubicBezTo>
                      <a:pt x="206" y="323"/>
                      <a:pt x="206" y="319"/>
                      <a:pt x="205" y="315"/>
                    </a:cubicBezTo>
                    <a:cubicBezTo>
                      <a:pt x="204" y="312"/>
                      <a:pt x="202" y="309"/>
                      <a:pt x="198" y="307"/>
                    </a:cubicBezTo>
                    <a:close/>
                    <a:moveTo>
                      <a:pt x="258" y="318"/>
                    </a:moveTo>
                    <a:cubicBezTo>
                      <a:pt x="259" y="319"/>
                      <a:pt x="261" y="320"/>
                      <a:pt x="262" y="321"/>
                    </a:cubicBezTo>
                    <a:cubicBezTo>
                      <a:pt x="260" y="322"/>
                      <a:pt x="259" y="323"/>
                      <a:pt x="258" y="324"/>
                    </a:cubicBezTo>
                    <a:cubicBezTo>
                      <a:pt x="253" y="327"/>
                      <a:pt x="247" y="331"/>
                      <a:pt x="245" y="338"/>
                    </a:cubicBezTo>
                    <a:cubicBezTo>
                      <a:pt x="243" y="344"/>
                      <a:pt x="245" y="351"/>
                      <a:pt x="247" y="357"/>
                    </a:cubicBezTo>
                    <a:cubicBezTo>
                      <a:pt x="247" y="358"/>
                      <a:pt x="247" y="360"/>
                      <a:pt x="248" y="361"/>
                    </a:cubicBezTo>
                    <a:cubicBezTo>
                      <a:pt x="246" y="362"/>
                      <a:pt x="244" y="362"/>
                      <a:pt x="243" y="362"/>
                    </a:cubicBezTo>
                    <a:cubicBezTo>
                      <a:pt x="237" y="362"/>
                      <a:pt x="230" y="362"/>
                      <a:pt x="224" y="366"/>
                    </a:cubicBezTo>
                    <a:cubicBezTo>
                      <a:pt x="219" y="370"/>
                      <a:pt x="216" y="376"/>
                      <a:pt x="214" y="382"/>
                    </a:cubicBezTo>
                    <a:cubicBezTo>
                      <a:pt x="214" y="383"/>
                      <a:pt x="213" y="384"/>
                      <a:pt x="212" y="386"/>
                    </a:cubicBezTo>
                    <a:cubicBezTo>
                      <a:pt x="211" y="385"/>
                      <a:pt x="209" y="383"/>
                      <a:pt x="208" y="382"/>
                    </a:cubicBezTo>
                    <a:cubicBezTo>
                      <a:pt x="203" y="379"/>
                      <a:pt x="198" y="373"/>
                      <a:pt x="191" y="373"/>
                    </a:cubicBezTo>
                    <a:cubicBezTo>
                      <a:pt x="191" y="373"/>
                      <a:pt x="191" y="373"/>
                      <a:pt x="191" y="373"/>
                    </a:cubicBezTo>
                    <a:cubicBezTo>
                      <a:pt x="184" y="373"/>
                      <a:pt x="178" y="378"/>
                      <a:pt x="173" y="382"/>
                    </a:cubicBezTo>
                    <a:cubicBezTo>
                      <a:pt x="172" y="383"/>
                      <a:pt x="170" y="385"/>
                      <a:pt x="169" y="386"/>
                    </a:cubicBezTo>
                    <a:cubicBezTo>
                      <a:pt x="169" y="385"/>
                      <a:pt x="168" y="383"/>
                      <a:pt x="168" y="382"/>
                    </a:cubicBezTo>
                    <a:cubicBezTo>
                      <a:pt x="166" y="376"/>
                      <a:pt x="163" y="369"/>
                      <a:pt x="158" y="365"/>
                    </a:cubicBezTo>
                    <a:cubicBezTo>
                      <a:pt x="152" y="361"/>
                      <a:pt x="145" y="361"/>
                      <a:pt x="139" y="360"/>
                    </a:cubicBezTo>
                    <a:cubicBezTo>
                      <a:pt x="138" y="360"/>
                      <a:pt x="136" y="360"/>
                      <a:pt x="135" y="360"/>
                    </a:cubicBezTo>
                    <a:cubicBezTo>
                      <a:pt x="135" y="359"/>
                      <a:pt x="135" y="357"/>
                      <a:pt x="136" y="356"/>
                    </a:cubicBezTo>
                    <a:cubicBezTo>
                      <a:pt x="138" y="350"/>
                      <a:pt x="140" y="343"/>
                      <a:pt x="138" y="336"/>
                    </a:cubicBezTo>
                    <a:cubicBezTo>
                      <a:pt x="136" y="330"/>
                      <a:pt x="130" y="325"/>
                      <a:pt x="125" y="321"/>
                    </a:cubicBezTo>
                    <a:cubicBezTo>
                      <a:pt x="124" y="321"/>
                      <a:pt x="123" y="320"/>
                      <a:pt x="122" y="319"/>
                    </a:cubicBezTo>
                    <a:cubicBezTo>
                      <a:pt x="123" y="318"/>
                      <a:pt x="124" y="317"/>
                      <a:pt x="125" y="316"/>
                    </a:cubicBezTo>
                    <a:cubicBezTo>
                      <a:pt x="130" y="312"/>
                      <a:pt x="136" y="308"/>
                      <a:pt x="138" y="302"/>
                    </a:cubicBezTo>
                    <a:cubicBezTo>
                      <a:pt x="140" y="295"/>
                      <a:pt x="138" y="288"/>
                      <a:pt x="137" y="282"/>
                    </a:cubicBezTo>
                    <a:cubicBezTo>
                      <a:pt x="136" y="281"/>
                      <a:pt x="136" y="279"/>
                      <a:pt x="136" y="278"/>
                    </a:cubicBezTo>
                    <a:cubicBezTo>
                      <a:pt x="137" y="278"/>
                      <a:pt x="139" y="278"/>
                      <a:pt x="140" y="278"/>
                    </a:cubicBezTo>
                    <a:cubicBezTo>
                      <a:pt x="146" y="278"/>
                      <a:pt x="153" y="278"/>
                      <a:pt x="159" y="274"/>
                    </a:cubicBezTo>
                    <a:cubicBezTo>
                      <a:pt x="165" y="270"/>
                      <a:pt x="167" y="263"/>
                      <a:pt x="169" y="258"/>
                    </a:cubicBezTo>
                    <a:cubicBezTo>
                      <a:pt x="170" y="256"/>
                      <a:pt x="170" y="255"/>
                      <a:pt x="171" y="253"/>
                    </a:cubicBezTo>
                    <a:cubicBezTo>
                      <a:pt x="172" y="254"/>
                      <a:pt x="174" y="256"/>
                      <a:pt x="175" y="257"/>
                    </a:cubicBezTo>
                    <a:cubicBezTo>
                      <a:pt x="180" y="261"/>
                      <a:pt x="186" y="266"/>
                      <a:pt x="192" y="266"/>
                    </a:cubicBezTo>
                    <a:cubicBezTo>
                      <a:pt x="193" y="266"/>
                      <a:pt x="193" y="266"/>
                      <a:pt x="193" y="266"/>
                    </a:cubicBezTo>
                    <a:cubicBezTo>
                      <a:pt x="200" y="266"/>
                      <a:pt x="205" y="261"/>
                      <a:pt x="210" y="257"/>
                    </a:cubicBezTo>
                    <a:cubicBezTo>
                      <a:pt x="211" y="257"/>
                      <a:pt x="213" y="254"/>
                      <a:pt x="214" y="253"/>
                    </a:cubicBezTo>
                    <a:cubicBezTo>
                      <a:pt x="215" y="255"/>
                      <a:pt x="215" y="257"/>
                      <a:pt x="216" y="258"/>
                    </a:cubicBezTo>
                    <a:cubicBezTo>
                      <a:pt x="218" y="264"/>
                      <a:pt x="220" y="270"/>
                      <a:pt x="226" y="274"/>
                    </a:cubicBezTo>
                    <a:cubicBezTo>
                      <a:pt x="231" y="278"/>
                      <a:pt x="238" y="279"/>
                      <a:pt x="244" y="279"/>
                    </a:cubicBezTo>
                    <a:cubicBezTo>
                      <a:pt x="245" y="279"/>
                      <a:pt x="247" y="279"/>
                      <a:pt x="249" y="279"/>
                    </a:cubicBezTo>
                    <a:cubicBezTo>
                      <a:pt x="248" y="281"/>
                      <a:pt x="248" y="282"/>
                      <a:pt x="248" y="283"/>
                    </a:cubicBezTo>
                    <a:cubicBezTo>
                      <a:pt x="246" y="289"/>
                      <a:pt x="244" y="296"/>
                      <a:pt x="246" y="303"/>
                    </a:cubicBezTo>
                    <a:cubicBezTo>
                      <a:pt x="248" y="310"/>
                      <a:pt x="253" y="314"/>
                      <a:pt x="258" y="318"/>
                    </a:cubicBezTo>
                    <a:close/>
                    <a:moveTo>
                      <a:pt x="226" y="309"/>
                    </a:moveTo>
                    <a:cubicBezTo>
                      <a:pt x="223" y="300"/>
                      <a:pt x="217" y="293"/>
                      <a:pt x="208" y="288"/>
                    </a:cubicBezTo>
                    <a:cubicBezTo>
                      <a:pt x="200" y="284"/>
                      <a:pt x="190" y="283"/>
                      <a:pt x="181" y="286"/>
                    </a:cubicBezTo>
                    <a:cubicBezTo>
                      <a:pt x="172" y="289"/>
                      <a:pt x="165" y="295"/>
                      <a:pt x="160" y="303"/>
                    </a:cubicBezTo>
                    <a:cubicBezTo>
                      <a:pt x="156" y="312"/>
                      <a:pt x="155" y="321"/>
                      <a:pt x="158" y="330"/>
                    </a:cubicBezTo>
                    <a:cubicBezTo>
                      <a:pt x="161" y="339"/>
                      <a:pt x="167" y="347"/>
                      <a:pt x="175" y="351"/>
                    </a:cubicBezTo>
                    <a:cubicBezTo>
                      <a:pt x="180" y="354"/>
                      <a:pt x="186" y="355"/>
                      <a:pt x="192" y="355"/>
                    </a:cubicBezTo>
                    <a:cubicBezTo>
                      <a:pt x="195" y="355"/>
                      <a:pt x="199" y="355"/>
                      <a:pt x="202" y="354"/>
                    </a:cubicBezTo>
                    <a:cubicBezTo>
                      <a:pt x="211" y="351"/>
                      <a:pt x="219" y="345"/>
                      <a:pt x="223" y="336"/>
                    </a:cubicBezTo>
                    <a:cubicBezTo>
                      <a:pt x="228" y="328"/>
                      <a:pt x="228" y="318"/>
                      <a:pt x="226" y="30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4" name="Group 3">
              <a:extLst>
                <a:ext uri="{FF2B5EF4-FFF2-40B4-BE49-F238E27FC236}">
                  <a16:creationId xmlns:a16="http://schemas.microsoft.com/office/drawing/2014/main" id="{B560EC14-C201-4937-B390-914180BCD7D5}"/>
                </a:ext>
              </a:extLst>
            </p:cNvPr>
            <p:cNvGrpSpPr/>
            <p:nvPr/>
          </p:nvGrpSpPr>
          <p:grpSpPr>
            <a:xfrm>
              <a:off x="469900" y="2102640"/>
              <a:ext cx="5902742" cy="532606"/>
              <a:chOff x="469900" y="2102640"/>
              <a:chExt cx="5902742" cy="532606"/>
            </a:xfrm>
          </p:grpSpPr>
          <p:sp>
            <p:nvSpPr>
              <p:cNvPr id="34" name="Rounded Rectangle 2">
                <a:extLst>
                  <a:ext uri="{FF2B5EF4-FFF2-40B4-BE49-F238E27FC236}">
                    <a16:creationId xmlns:a16="http://schemas.microsoft.com/office/drawing/2014/main" id="{2CB4F22B-2314-470F-A0B5-F8378E1F1E19}"/>
                  </a:ext>
                </a:extLst>
              </p:cNvPr>
              <p:cNvSpPr/>
              <p:nvPr/>
            </p:nvSpPr>
            <p:spPr bwMode="gray">
              <a:xfrm>
                <a:off x="1343442" y="2102640"/>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35" name="Rounded Rectangle 3">
                <a:extLst>
                  <a:ext uri="{FF2B5EF4-FFF2-40B4-BE49-F238E27FC236}">
                    <a16:creationId xmlns:a16="http://schemas.microsoft.com/office/drawing/2014/main" id="{2A1C7DB0-B36D-466C-8C6A-98EA48765170}"/>
                  </a:ext>
                </a:extLst>
              </p:cNvPr>
              <p:cNvSpPr/>
              <p:nvPr/>
            </p:nvSpPr>
            <p:spPr bwMode="gray">
              <a:xfrm>
                <a:off x="1452592" y="2102640"/>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Validation walkthroughs for finalization of OOMF 2.0</a:t>
                </a:r>
              </a:p>
            </p:txBody>
          </p:sp>
          <p:sp>
            <p:nvSpPr>
              <p:cNvPr id="41" name="Oval 40">
                <a:extLst>
                  <a:ext uri="{FF2B5EF4-FFF2-40B4-BE49-F238E27FC236}">
                    <a16:creationId xmlns:a16="http://schemas.microsoft.com/office/drawing/2014/main" id="{189FC768-2D03-4126-BF9A-1D84CD363865}"/>
                  </a:ext>
                </a:extLst>
              </p:cNvPr>
              <p:cNvSpPr>
                <a:spLocks noChangeAspect="1"/>
              </p:cNvSpPr>
              <p:nvPr/>
            </p:nvSpPr>
            <p:spPr bwMode="gray">
              <a:xfrm>
                <a:off x="894939" y="2326676"/>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42" name="Rounded Rectangle 5">
                <a:extLst>
                  <a:ext uri="{FF2B5EF4-FFF2-40B4-BE49-F238E27FC236}">
                    <a16:creationId xmlns:a16="http://schemas.microsoft.com/office/drawing/2014/main" id="{93EC0A15-7599-4FCF-A40F-582725E6A521}"/>
                  </a:ext>
                </a:extLst>
              </p:cNvPr>
              <p:cNvSpPr/>
              <p:nvPr/>
            </p:nvSpPr>
            <p:spPr bwMode="gray">
              <a:xfrm>
                <a:off x="469900" y="2103767"/>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43" name="Rounded Rectangle 6">
                <a:extLst>
                  <a:ext uri="{FF2B5EF4-FFF2-40B4-BE49-F238E27FC236}">
                    <a16:creationId xmlns:a16="http://schemas.microsoft.com/office/drawing/2014/main" id="{5C39F59B-5E98-4200-B113-CE06C87B5F9B}"/>
                  </a:ext>
                </a:extLst>
              </p:cNvPr>
              <p:cNvSpPr/>
              <p:nvPr/>
            </p:nvSpPr>
            <p:spPr bwMode="gray">
              <a:xfrm>
                <a:off x="496303" y="2103767"/>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0" name="Oval 49">
                <a:extLst>
                  <a:ext uri="{FF2B5EF4-FFF2-40B4-BE49-F238E27FC236}">
                    <a16:creationId xmlns:a16="http://schemas.microsoft.com/office/drawing/2014/main" id="{F3FFD41F-337D-4AB2-A82C-A2FF693A8003}"/>
                  </a:ext>
                </a:extLst>
              </p:cNvPr>
              <p:cNvSpPr/>
              <p:nvPr/>
            </p:nvSpPr>
            <p:spPr bwMode="gray">
              <a:xfrm>
                <a:off x="1163072" y="232770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51" name="Oval 50">
                <a:extLst>
                  <a:ext uri="{FF2B5EF4-FFF2-40B4-BE49-F238E27FC236}">
                    <a16:creationId xmlns:a16="http://schemas.microsoft.com/office/drawing/2014/main" id="{0DB1B482-F5CA-4855-809C-17D765514543}"/>
                  </a:ext>
                </a:extLst>
              </p:cNvPr>
              <p:cNvSpPr/>
              <p:nvPr/>
            </p:nvSpPr>
            <p:spPr bwMode="gray">
              <a:xfrm>
                <a:off x="1303547" y="232770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52" name="Straight Connector 51">
                <a:extLst>
                  <a:ext uri="{FF2B5EF4-FFF2-40B4-BE49-F238E27FC236}">
                    <a16:creationId xmlns:a16="http://schemas.microsoft.com/office/drawing/2014/main" id="{845F8985-3245-45F8-837E-068EE4B134D4}"/>
                  </a:ext>
                </a:extLst>
              </p:cNvPr>
              <p:cNvCxnSpPr>
                <a:cxnSpLocks/>
              </p:cNvCxnSpPr>
              <p:nvPr/>
            </p:nvCxnSpPr>
            <p:spPr>
              <a:xfrm>
                <a:off x="1204223" y="2368943"/>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07" name="Freeform 5">
                <a:extLst>
                  <a:ext uri="{FF2B5EF4-FFF2-40B4-BE49-F238E27FC236}">
                    <a16:creationId xmlns:a16="http://schemas.microsoft.com/office/drawing/2014/main" id="{9F4E06FE-0E11-432B-BC34-5D77C9A4C623}"/>
                  </a:ext>
                </a:extLst>
              </p:cNvPr>
              <p:cNvSpPr>
                <a:spLocks noEditPoints="1"/>
              </p:cNvSpPr>
              <p:nvPr/>
            </p:nvSpPr>
            <p:spPr bwMode="auto">
              <a:xfrm>
                <a:off x="635047" y="2184433"/>
                <a:ext cx="365760" cy="365760"/>
              </a:xfrm>
              <a:custGeom>
                <a:avLst/>
                <a:gdLst>
                  <a:gd name="T0" fmla="*/ 791 w 791"/>
                  <a:gd name="T1" fmla="*/ 396 h 792"/>
                  <a:gd name="T2" fmla="*/ 0 w 791"/>
                  <a:gd name="T3" fmla="*/ 396 h 792"/>
                  <a:gd name="T4" fmla="*/ 791 w 791"/>
                  <a:gd name="T5" fmla="*/ 396 h 792"/>
                  <a:gd name="T6" fmla="*/ 514 w 791"/>
                  <a:gd name="T7" fmla="*/ 399 h 792"/>
                  <a:gd name="T8" fmla="*/ 482 w 791"/>
                  <a:gd name="T9" fmla="*/ 286 h 792"/>
                  <a:gd name="T10" fmla="*/ 376 w 791"/>
                  <a:gd name="T11" fmla="*/ 252 h 792"/>
                  <a:gd name="T12" fmla="*/ 238 w 791"/>
                  <a:gd name="T13" fmla="*/ 176 h 792"/>
                  <a:gd name="T14" fmla="*/ 352 w 791"/>
                  <a:gd name="T15" fmla="*/ 528 h 792"/>
                  <a:gd name="T16" fmla="*/ 227 w 791"/>
                  <a:gd name="T17" fmla="*/ 560 h 792"/>
                  <a:gd name="T18" fmla="*/ 207 w 791"/>
                  <a:gd name="T19" fmla="*/ 165 h 792"/>
                  <a:gd name="T20" fmla="*/ 410 w 791"/>
                  <a:gd name="T21" fmla="*/ 145 h 792"/>
                  <a:gd name="T22" fmla="*/ 514 w 791"/>
                  <a:gd name="T23" fmla="*/ 399 h 792"/>
                  <a:gd name="T24" fmla="*/ 455 w 791"/>
                  <a:gd name="T25" fmla="*/ 380 h 792"/>
                  <a:gd name="T26" fmla="*/ 442 w 791"/>
                  <a:gd name="T27" fmla="*/ 394 h 792"/>
                  <a:gd name="T28" fmla="*/ 262 w 791"/>
                  <a:gd name="T29" fmla="*/ 380 h 792"/>
                  <a:gd name="T30" fmla="*/ 442 w 791"/>
                  <a:gd name="T31" fmla="*/ 366 h 792"/>
                  <a:gd name="T32" fmla="*/ 442 w 791"/>
                  <a:gd name="T33" fmla="*/ 338 h 792"/>
                  <a:gd name="T34" fmla="*/ 276 w 791"/>
                  <a:gd name="T35" fmla="*/ 338 h 792"/>
                  <a:gd name="T36" fmla="*/ 276 w 791"/>
                  <a:gd name="T37" fmla="*/ 311 h 792"/>
                  <a:gd name="T38" fmla="*/ 455 w 791"/>
                  <a:gd name="T39" fmla="*/ 325 h 792"/>
                  <a:gd name="T40" fmla="*/ 388 w 791"/>
                  <a:gd name="T41" fmla="*/ 423 h 792"/>
                  <a:gd name="T42" fmla="*/ 367 w 791"/>
                  <a:gd name="T43" fmla="*/ 450 h 792"/>
                  <a:gd name="T44" fmla="*/ 262 w 791"/>
                  <a:gd name="T45" fmla="*/ 437 h 792"/>
                  <a:gd name="T46" fmla="*/ 388 w 791"/>
                  <a:gd name="T47" fmla="*/ 423 h 792"/>
                  <a:gd name="T48" fmla="*/ 276 w 791"/>
                  <a:gd name="T49" fmla="*/ 477 h 792"/>
                  <a:gd name="T50" fmla="*/ 355 w 791"/>
                  <a:gd name="T51" fmla="*/ 477 h 792"/>
                  <a:gd name="T52" fmla="*/ 276 w 791"/>
                  <a:gd name="T53" fmla="*/ 504 h 792"/>
                  <a:gd name="T54" fmla="*/ 276 w 791"/>
                  <a:gd name="T55" fmla="*/ 477 h 792"/>
                  <a:gd name="T56" fmla="*/ 616 w 791"/>
                  <a:gd name="T57" fmla="*/ 657 h 792"/>
                  <a:gd name="T58" fmla="*/ 536 w 791"/>
                  <a:gd name="T59" fmla="*/ 595 h 792"/>
                  <a:gd name="T60" fmla="*/ 470 w 791"/>
                  <a:gd name="T61" fmla="*/ 617 h 792"/>
                  <a:gd name="T62" fmla="*/ 470 w 791"/>
                  <a:gd name="T63" fmla="*/ 404 h 792"/>
                  <a:gd name="T64" fmla="*/ 558 w 791"/>
                  <a:gd name="T65" fmla="*/ 571 h 792"/>
                  <a:gd name="T66" fmla="*/ 616 w 791"/>
                  <a:gd name="T67" fmla="*/ 638 h 792"/>
                  <a:gd name="T68" fmla="*/ 552 w 791"/>
                  <a:gd name="T69" fmla="*/ 513 h 792"/>
                  <a:gd name="T70" fmla="*/ 470 w 791"/>
                  <a:gd name="T71" fmla="*/ 432 h 792"/>
                  <a:gd name="T72" fmla="*/ 470 w 791"/>
                  <a:gd name="T73" fmla="*/ 595 h 792"/>
                  <a:gd name="T74" fmla="*/ 455 w 791"/>
                  <a:gd name="T75" fmla="*/ 494 h 792"/>
                  <a:gd name="T76" fmla="*/ 442 w 791"/>
                  <a:gd name="T77" fmla="*/ 507 h 792"/>
                  <a:gd name="T78" fmla="*/ 411 w 791"/>
                  <a:gd name="T79" fmla="*/ 480 h 792"/>
                  <a:gd name="T80" fmla="*/ 455 w 791"/>
                  <a:gd name="T81" fmla="*/ 494 h 792"/>
                  <a:gd name="T82" fmla="*/ 514 w 791"/>
                  <a:gd name="T83" fmla="*/ 542 h 792"/>
                  <a:gd name="T84" fmla="*/ 423 w 791"/>
                  <a:gd name="T85" fmla="*/ 563 h 792"/>
                  <a:gd name="T86" fmla="*/ 482 w 791"/>
                  <a:gd name="T87" fmla="*/ 531 h 792"/>
                  <a:gd name="T88" fmla="*/ 514 w 791"/>
                  <a:gd name="T89" fmla="*/ 462 h 792"/>
                  <a:gd name="T90" fmla="*/ 514 w 791"/>
                  <a:gd name="T91" fmla="*/ 542 h 792"/>
                  <a:gd name="T92" fmla="*/ 410 w 791"/>
                  <a:gd name="T93" fmla="*/ 261 h 792"/>
                  <a:gd name="T94" fmla="*/ 403 w 791"/>
                  <a:gd name="T95" fmla="*/ 185 h 792"/>
                  <a:gd name="T96" fmla="*/ 410 w 791"/>
                  <a:gd name="T97" fmla="*/ 26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1" h="792">
                    <a:moveTo>
                      <a:pt x="791" y="396"/>
                    </a:moveTo>
                    <a:lnTo>
                      <a:pt x="791" y="396"/>
                    </a:lnTo>
                    <a:cubicBezTo>
                      <a:pt x="791" y="178"/>
                      <a:pt x="614" y="0"/>
                      <a:pt x="395" y="0"/>
                    </a:cubicBezTo>
                    <a:cubicBezTo>
                      <a:pt x="177" y="0"/>
                      <a:pt x="0" y="178"/>
                      <a:pt x="0" y="396"/>
                    </a:cubicBezTo>
                    <a:cubicBezTo>
                      <a:pt x="0" y="615"/>
                      <a:pt x="177" y="792"/>
                      <a:pt x="395" y="792"/>
                    </a:cubicBezTo>
                    <a:cubicBezTo>
                      <a:pt x="614" y="792"/>
                      <a:pt x="791" y="615"/>
                      <a:pt x="791" y="396"/>
                    </a:cubicBezTo>
                    <a:close/>
                    <a:moveTo>
                      <a:pt x="514" y="399"/>
                    </a:moveTo>
                    <a:lnTo>
                      <a:pt x="514" y="399"/>
                    </a:lnTo>
                    <a:cubicBezTo>
                      <a:pt x="504" y="395"/>
                      <a:pt x="493" y="393"/>
                      <a:pt x="482" y="392"/>
                    </a:cubicBezTo>
                    <a:lnTo>
                      <a:pt x="482" y="286"/>
                    </a:lnTo>
                    <a:lnTo>
                      <a:pt x="410" y="286"/>
                    </a:lnTo>
                    <a:cubicBezTo>
                      <a:pt x="391" y="286"/>
                      <a:pt x="376" y="270"/>
                      <a:pt x="376" y="252"/>
                    </a:cubicBezTo>
                    <a:lnTo>
                      <a:pt x="376" y="176"/>
                    </a:lnTo>
                    <a:lnTo>
                      <a:pt x="238" y="176"/>
                    </a:lnTo>
                    <a:lnTo>
                      <a:pt x="238" y="528"/>
                    </a:lnTo>
                    <a:lnTo>
                      <a:pt x="352" y="528"/>
                    </a:lnTo>
                    <a:cubicBezTo>
                      <a:pt x="353" y="540"/>
                      <a:pt x="356" y="550"/>
                      <a:pt x="361" y="560"/>
                    </a:cubicBezTo>
                    <a:lnTo>
                      <a:pt x="227" y="560"/>
                    </a:lnTo>
                    <a:cubicBezTo>
                      <a:pt x="216" y="560"/>
                      <a:pt x="207" y="551"/>
                      <a:pt x="207" y="540"/>
                    </a:cubicBezTo>
                    <a:lnTo>
                      <a:pt x="207" y="165"/>
                    </a:lnTo>
                    <a:cubicBezTo>
                      <a:pt x="207" y="154"/>
                      <a:pt x="216" y="145"/>
                      <a:pt x="227" y="145"/>
                    </a:cubicBezTo>
                    <a:lnTo>
                      <a:pt x="410" y="145"/>
                    </a:lnTo>
                    <a:lnTo>
                      <a:pt x="514" y="249"/>
                    </a:lnTo>
                    <a:lnTo>
                      <a:pt x="514" y="399"/>
                    </a:lnTo>
                    <a:lnTo>
                      <a:pt x="514" y="399"/>
                    </a:lnTo>
                    <a:close/>
                    <a:moveTo>
                      <a:pt x="455" y="380"/>
                    </a:moveTo>
                    <a:lnTo>
                      <a:pt x="455" y="380"/>
                    </a:lnTo>
                    <a:cubicBezTo>
                      <a:pt x="455" y="387"/>
                      <a:pt x="449" y="394"/>
                      <a:pt x="442" y="394"/>
                    </a:cubicBezTo>
                    <a:lnTo>
                      <a:pt x="276" y="394"/>
                    </a:lnTo>
                    <a:cubicBezTo>
                      <a:pt x="268" y="394"/>
                      <a:pt x="262" y="387"/>
                      <a:pt x="262" y="380"/>
                    </a:cubicBezTo>
                    <a:cubicBezTo>
                      <a:pt x="262" y="372"/>
                      <a:pt x="268" y="366"/>
                      <a:pt x="276" y="366"/>
                    </a:cubicBezTo>
                    <a:lnTo>
                      <a:pt x="442" y="366"/>
                    </a:lnTo>
                    <a:cubicBezTo>
                      <a:pt x="449" y="366"/>
                      <a:pt x="455" y="372"/>
                      <a:pt x="455" y="380"/>
                    </a:cubicBezTo>
                    <a:close/>
                    <a:moveTo>
                      <a:pt x="442" y="338"/>
                    </a:moveTo>
                    <a:lnTo>
                      <a:pt x="442" y="338"/>
                    </a:lnTo>
                    <a:lnTo>
                      <a:pt x="276" y="338"/>
                    </a:lnTo>
                    <a:cubicBezTo>
                      <a:pt x="268" y="338"/>
                      <a:pt x="262" y="332"/>
                      <a:pt x="262" y="325"/>
                    </a:cubicBezTo>
                    <a:cubicBezTo>
                      <a:pt x="262" y="317"/>
                      <a:pt x="268" y="311"/>
                      <a:pt x="276" y="311"/>
                    </a:cubicBezTo>
                    <a:lnTo>
                      <a:pt x="442" y="311"/>
                    </a:lnTo>
                    <a:cubicBezTo>
                      <a:pt x="449" y="311"/>
                      <a:pt x="455" y="317"/>
                      <a:pt x="455" y="325"/>
                    </a:cubicBezTo>
                    <a:cubicBezTo>
                      <a:pt x="455" y="332"/>
                      <a:pt x="449" y="338"/>
                      <a:pt x="442" y="338"/>
                    </a:cubicBezTo>
                    <a:close/>
                    <a:moveTo>
                      <a:pt x="388" y="423"/>
                    </a:moveTo>
                    <a:lnTo>
                      <a:pt x="388" y="423"/>
                    </a:lnTo>
                    <a:cubicBezTo>
                      <a:pt x="380" y="431"/>
                      <a:pt x="373" y="440"/>
                      <a:pt x="367" y="450"/>
                    </a:cubicBezTo>
                    <a:lnTo>
                      <a:pt x="276" y="450"/>
                    </a:lnTo>
                    <a:cubicBezTo>
                      <a:pt x="268" y="450"/>
                      <a:pt x="262" y="444"/>
                      <a:pt x="262" y="437"/>
                    </a:cubicBezTo>
                    <a:cubicBezTo>
                      <a:pt x="262" y="429"/>
                      <a:pt x="268" y="423"/>
                      <a:pt x="276" y="423"/>
                    </a:cubicBezTo>
                    <a:lnTo>
                      <a:pt x="388" y="423"/>
                    </a:lnTo>
                    <a:lnTo>
                      <a:pt x="388" y="423"/>
                    </a:lnTo>
                    <a:close/>
                    <a:moveTo>
                      <a:pt x="276" y="477"/>
                    </a:moveTo>
                    <a:lnTo>
                      <a:pt x="276" y="477"/>
                    </a:lnTo>
                    <a:lnTo>
                      <a:pt x="355" y="477"/>
                    </a:lnTo>
                    <a:cubicBezTo>
                      <a:pt x="353" y="486"/>
                      <a:pt x="351" y="495"/>
                      <a:pt x="350" y="504"/>
                    </a:cubicBezTo>
                    <a:lnTo>
                      <a:pt x="276" y="504"/>
                    </a:lnTo>
                    <a:cubicBezTo>
                      <a:pt x="268" y="504"/>
                      <a:pt x="262" y="498"/>
                      <a:pt x="262" y="491"/>
                    </a:cubicBezTo>
                    <a:cubicBezTo>
                      <a:pt x="262" y="483"/>
                      <a:pt x="268" y="477"/>
                      <a:pt x="276" y="477"/>
                    </a:cubicBezTo>
                    <a:close/>
                    <a:moveTo>
                      <a:pt x="616" y="657"/>
                    </a:moveTo>
                    <a:lnTo>
                      <a:pt x="616" y="657"/>
                    </a:lnTo>
                    <a:cubicBezTo>
                      <a:pt x="611" y="662"/>
                      <a:pt x="602" y="662"/>
                      <a:pt x="597" y="657"/>
                    </a:cubicBezTo>
                    <a:lnTo>
                      <a:pt x="536" y="595"/>
                    </a:lnTo>
                    <a:lnTo>
                      <a:pt x="531" y="598"/>
                    </a:lnTo>
                    <a:cubicBezTo>
                      <a:pt x="513" y="611"/>
                      <a:pt x="492" y="617"/>
                      <a:pt x="470" y="617"/>
                    </a:cubicBezTo>
                    <a:cubicBezTo>
                      <a:pt x="411" y="617"/>
                      <a:pt x="363" y="570"/>
                      <a:pt x="363" y="511"/>
                    </a:cubicBezTo>
                    <a:cubicBezTo>
                      <a:pt x="363" y="452"/>
                      <a:pt x="411" y="404"/>
                      <a:pt x="470" y="404"/>
                    </a:cubicBezTo>
                    <a:cubicBezTo>
                      <a:pt x="529" y="404"/>
                      <a:pt x="577" y="452"/>
                      <a:pt x="577" y="511"/>
                    </a:cubicBezTo>
                    <a:cubicBezTo>
                      <a:pt x="577" y="532"/>
                      <a:pt x="570" y="553"/>
                      <a:pt x="558" y="571"/>
                    </a:cubicBezTo>
                    <a:lnTo>
                      <a:pt x="555" y="575"/>
                    </a:lnTo>
                    <a:lnTo>
                      <a:pt x="616" y="638"/>
                    </a:lnTo>
                    <a:cubicBezTo>
                      <a:pt x="621" y="643"/>
                      <a:pt x="621" y="652"/>
                      <a:pt x="616" y="657"/>
                    </a:cubicBezTo>
                    <a:close/>
                    <a:moveTo>
                      <a:pt x="552" y="513"/>
                    </a:moveTo>
                    <a:lnTo>
                      <a:pt x="552" y="513"/>
                    </a:lnTo>
                    <a:cubicBezTo>
                      <a:pt x="552" y="468"/>
                      <a:pt x="515" y="432"/>
                      <a:pt x="470" y="432"/>
                    </a:cubicBezTo>
                    <a:cubicBezTo>
                      <a:pt x="425" y="432"/>
                      <a:pt x="388" y="468"/>
                      <a:pt x="388" y="513"/>
                    </a:cubicBezTo>
                    <a:cubicBezTo>
                      <a:pt x="388" y="559"/>
                      <a:pt x="425" y="595"/>
                      <a:pt x="470" y="595"/>
                    </a:cubicBezTo>
                    <a:cubicBezTo>
                      <a:pt x="515" y="595"/>
                      <a:pt x="552" y="559"/>
                      <a:pt x="552" y="513"/>
                    </a:cubicBezTo>
                    <a:close/>
                    <a:moveTo>
                      <a:pt x="455" y="494"/>
                    </a:moveTo>
                    <a:lnTo>
                      <a:pt x="455" y="494"/>
                    </a:lnTo>
                    <a:cubicBezTo>
                      <a:pt x="455" y="501"/>
                      <a:pt x="449" y="507"/>
                      <a:pt x="442" y="507"/>
                    </a:cubicBezTo>
                    <a:lnTo>
                      <a:pt x="403" y="507"/>
                    </a:lnTo>
                    <a:cubicBezTo>
                      <a:pt x="403" y="497"/>
                      <a:pt x="406" y="488"/>
                      <a:pt x="411" y="480"/>
                    </a:cubicBezTo>
                    <a:lnTo>
                      <a:pt x="442" y="480"/>
                    </a:lnTo>
                    <a:cubicBezTo>
                      <a:pt x="449" y="480"/>
                      <a:pt x="455" y="486"/>
                      <a:pt x="455" y="494"/>
                    </a:cubicBezTo>
                    <a:close/>
                    <a:moveTo>
                      <a:pt x="514" y="542"/>
                    </a:moveTo>
                    <a:lnTo>
                      <a:pt x="514" y="542"/>
                    </a:lnTo>
                    <a:cubicBezTo>
                      <a:pt x="514" y="554"/>
                      <a:pt x="505" y="563"/>
                      <a:pt x="494" y="563"/>
                    </a:cubicBezTo>
                    <a:lnTo>
                      <a:pt x="423" y="563"/>
                    </a:lnTo>
                    <a:cubicBezTo>
                      <a:pt x="414" y="554"/>
                      <a:pt x="408" y="543"/>
                      <a:pt x="405" y="531"/>
                    </a:cubicBezTo>
                    <a:lnTo>
                      <a:pt x="482" y="531"/>
                    </a:lnTo>
                    <a:lnTo>
                      <a:pt x="482" y="446"/>
                    </a:lnTo>
                    <a:cubicBezTo>
                      <a:pt x="494" y="449"/>
                      <a:pt x="505" y="454"/>
                      <a:pt x="514" y="462"/>
                    </a:cubicBezTo>
                    <a:lnTo>
                      <a:pt x="514" y="542"/>
                    </a:lnTo>
                    <a:lnTo>
                      <a:pt x="514" y="542"/>
                    </a:lnTo>
                    <a:close/>
                    <a:moveTo>
                      <a:pt x="410" y="261"/>
                    </a:moveTo>
                    <a:lnTo>
                      <a:pt x="410" y="261"/>
                    </a:lnTo>
                    <a:lnTo>
                      <a:pt x="479" y="261"/>
                    </a:lnTo>
                    <a:lnTo>
                      <a:pt x="403" y="185"/>
                    </a:lnTo>
                    <a:lnTo>
                      <a:pt x="403" y="254"/>
                    </a:lnTo>
                    <a:cubicBezTo>
                      <a:pt x="403" y="258"/>
                      <a:pt x="406" y="261"/>
                      <a:pt x="410" y="261"/>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 name="Group 5">
              <a:extLst>
                <a:ext uri="{FF2B5EF4-FFF2-40B4-BE49-F238E27FC236}">
                  <a16:creationId xmlns:a16="http://schemas.microsoft.com/office/drawing/2014/main" id="{DD254F79-86CE-46E9-823B-B493179132DE}"/>
                </a:ext>
              </a:extLst>
            </p:cNvPr>
            <p:cNvGrpSpPr/>
            <p:nvPr/>
          </p:nvGrpSpPr>
          <p:grpSpPr>
            <a:xfrm>
              <a:off x="469900" y="3305976"/>
              <a:ext cx="5902742" cy="532606"/>
              <a:chOff x="469900" y="3305976"/>
              <a:chExt cx="5902742" cy="532606"/>
            </a:xfrm>
          </p:grpSpPr>
          <p:sp>
            <p:nvSpPr>
              <p:cNvPr id="70" name="Rounded Rectangle 2">
                <a:extLst>
                  <a:ext uri="{FF2B5EF4-FFF2-40B4-BE49-F238E27FC236}">
                    <a16:creationId xmlns:a16="http://schemas.microsoft.com/office/drawing/2014/main" id="{452D644F-B068-4824-BC3D-FC31BB160BB4}"/>
                  </a:ext>
                </a:extLst>
              </p:cNvPr>
              <p:cNvSpPr/>
              <p:nvPr/>
            </p:nvSpPr>
            <p:spPr bwMode="gray">
              <a:xfrm>
                <a:off x="1343442" y="3305976"/>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1" name="Rounded Rectangle 3">
                <a:extLst>
                  <a:ext uri="{FF2B5EF4-FFF2-40B4-BE49-F238E27FC236}">
                    <a16:creationId xmlns:a16="http://schemas.microsoft.com/office/drawing/2014/main" id="{F06ED2E1-247C-4323-9A3E-51D7CD272DEF}"/>
                  </a:ext>
                </a:extLst>
              </p:cNvPr>
              <p:cNvSpPr/>
              <p:nvPr/>
            </p:nvSpPr>
            <p:spPr bwMode="gray">
              <a:xfrm>
                <a:off x="1452592" y="3305976"/>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Develop toolkits, brochures and other communication utilities to advocate for OOMF 2.0 across ministries, departments and states</a:t>
                </a:r>
              </a:p>
            </p:txBody>
          </p:sp>
          <p:sp>
            <p:nvSpPr>
              <p:cNvPr id="72" name="Oval 71">
                <a:extLst>
                  <a:ext uri="{FF2B5EF4-FFF2-40B4-BE49-F238E27FC236}">
                    <a16:creationId xmlns:a16="http://schemas.microsoft.com/office/drawing/2014/main" id="{1064E2CE-703D-4D45-AD46-1E3384967235}"/>
                  </a:ext>
                </a:extLst>
              </p:cNvPr>
              <p:cNvSpPr>
                <a:spLocks noChangeAspect="1"/>
              </p:cNvSpPr>
              <p:nvPr/>
            </p:nvSpPr>
            <p:spPr bwMode="gray">
              <a:xfrm>
                <a:off x="894939" y="3530012"/>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3" name="Rounded Rectangle 5">
                <a:extLst>
                  <a:ext uri="{FF2B5EF4-FFF2-40B4-BE49-F238E27FC236}">
                    <a16:creationId xmlns:a16="http://schemas.microsoft.com/office/drawing/2014/main" id="{660369F2-41E7-4003-8FEC-A7D2A22C1EC3}"/>
                  </a:ext>
                </a:extLst>
              </p:cNvPr>
              <p:cNvSpPr/>
              <p:nvPr/>
            </p:nvSpPr>
            <p:spPr bwMode="gray">
              <a:xfrm>
                <a:off x="469900" y="3307103"/>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4" name="Rounded Rectangle 6">
                <a:extLst>
                  <a:ext uri="{FF2B5EF4-FFF2-40B4-BE49-F238E27FC236}">
                    <a16:creationId xmlns:a16="http://schemas.microsoft.com/office/drawing/2014/main" id="{C0BE7672-0F45-4CB3-8A05-C9F8DC18DDA7}"/>
                  </a:ext>
                </a:extLst>
              </p:cNvPr>
              <p:cNvSpPr/>
              <p:nvPr/>
            </p:nvSpPr>
            <p:spPr bwMode="gray">
              <a:xfrm>
                <a:off x="496303" y="3307103"/>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1" name="Oval 80">
                <a:extLst>
                  <a:ext uri="{FF2B5EF4-FFF2-40B4-BE49-F238E27FC236}">
                    <a16:creationId xmlns:a16="http://schemas.microsoft.com/office/drawing/2014/main" id="{76771CCB-1026-4006-9821-47F3464CF1BC}"/>
                  </a:ext>
                </a:extLst>
              </p:cNvPr>
              <p:cNvSpPr/>
              <p:nvPr/>
            </p:nvSpPr>
            <p:spPr bwMode="gray">
              <a:xfrm>
                <a:off x="1163072" y="353104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82" name="Oval 81">
                <a:extLst>
                  <a:ext uri="{FF2B5EF4-FFF2-40B4-BE49-F238E27FC236}">
                    <a16:creationId xmlns:a16="http://schemas.microsoft.com/office/drawing/2014/main" id="{EF39745F-6E2B-44D9-835D-3E554C0E2951}"/>
                  </a:ext>
                </a:extLst>
              </p:cNvPr>
              <p:cNvSpPr/>
              <p:nvPr/>
            </p:nvSpPr>
            <p:spPr bwMode="gray">
              <a:xfrm>
                <a:off x="1303547" y="353104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83" name="Straight Connector 82">
                <a:extLst>
                  <a:ext uri="{FF2B5EF4-FFF2-40B4-BE49-F238E27FC236}">
                    <a16:creationId xmlns:a16="http://schemas.microsoft.com/office/drawing/2014/main" id="{ED68985C-BFEF-4A2F-8D8D-1F600C6EDB03}"/>
                  </a:ext>
                </a:extLst>
              </p:cNvPr>
              <p:cNvCxnSpPr>
                <a:cxnSpLocks/>
              </p:cNvCxnSpPr>
              <p:nvPr/>
            </p:nvCxnSpPr>
            <p:spPr>
              <a:xfrm>
                <a:off x="1204223" y="3572279"/>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4" name="Group 113">
                <a:extLst>
                  <a:ext uri="{FF2B5EF4-FFF2-40B4-BE49-F238E27FC236}">
                    <a16:creationId xmlns:a16="http://schemas.microsoft.com/office/drawing/2014/main" id="{DD0B544A-98E4-4DD8-B8B6-9F6D9D33716A}"/>
                  </a:ext>
                </a:extLst>
              </p:cNvPr>
              <p:cNvGrpSpPr>
                <a:grpSpLocks noChangeAspect="1"/>
              </p:cNvGrpSpPr>
              <p:nvPr/>
            </p:nvGrpSpPr>
            <p:grpSpPr>
              <a:xfrm>
                <a:off x="631400" y="3384359"/>
                <a:ext cx="372673" cy="370800"/>
                <a:chOff x="3148013" y="3436938"/>
                <a:chExt cx="3159125" cy="3143250"/>
              </a:xfrm>
              <a:solidFill>
                <a:schemeClr val="bg2">
                  <a:lumMod val="25000"/>
                </a:schemeClr>
              </a:solidFill>
            </p:grpSpPr>
            <p:sp>
              <p:nvSpPr>
                <p:cNvPr id="117" name="Freeform 22">
                  <a:extLst>
                    <a:ext uri="{FF2B5EF4-FFF2-40B4-BE49-F238E27FC236}">
                      <a16:creationId xmlns:a16="http://schemas.microsoft.com/office/drawing/2014/main" id="{F5163F60-7499-484C-A395-7D3B451A0874}"/>
                    </a:ext>
                  </a:extLst>
                </p:cNvPr>
                <p:cNvSpPr>
                  <a:spLocks/>
                </p:cNvSpPr>
                <p:nvPr/>
              </p:nvSpPr>
              <p:spPr bwMode="auto">
                <a:xfrm>
                  <a:off x="4991101" y="4246563"/>
                  <a:ext cx="230188" cy="238125"/>
                </a:xfrm>
                <a:custGeom>
                  <a:avLst/>
                  <a:gdLst>
                    <a:gd name="T0" fmla="*/ 0 w 145"/>
                    <a:gd name="T1" fmla="*/ 0 h 150"/>
                    <a:gd name="T2" fmla="*/ 0 w 145"/>
                    <a:gd name="T3" fmla="*/ 150 h 150"/>
                    <a:gd name="T4" fmla="*/ 145 w 145"/>
                    <a:gd name="T5" fmla="*/ 150 h 150"/>
                    <a:gd name="T6" fmla="*/ 0 w 145"/>
                    <a:gd name="T7" fmla="*/ 0 h 150"/>
                  </a:gdLst>
                  <a:ahLst/>
                  <a:cxnLst>
                    <a:cxn ang="0">
                      <a:pos x="T0" y="T1"/>
                    </a:cxn>
                    <a:cxn ang="0">
                      <a:pos x="T2" y="T3"/>
                    </a:cxn>
                    <a:cxn ang="0">
                      <a:pos x="T4" y="T5"/>
                    </a:cxn>
                    <a:cxn ang="0">
                      <a:pos x="T6" y="T7"/>
                    </a:cxn>
                  </a:cxnLst>
                  <a:rect l="0" t="0" r="r" b="b"/>
                  <a:pathLst>
                    <a:path w="145" h="150">
                      <a:moveTo>
                        <a:pt x="0" y="0"/>
                      </a:moveTo>
                      <a:lnTo>
                        <a:pt x="0" y="150"/>
                      </a:lnTo>
                      <a:lnTo>
                        <a:pt x="145" y="15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8" name="Freeform 23">
                  <a:extLst>
                    <a:ext uri="{FF2B5EF4-FFF2-40B4-BE49-F238E27FC236}">
                      <a16:creationId xmlns:a16="http://schemas.microsoft.com/office/drawing/2014/main" id="{55AAA48C-20FC-4053-8BB3-97C3EFF5DF38}"/>
                    </a:ext>
                  </a:extLst>
                </p:cNvPr>
                <p:cNvSpPr>
                  <a:spLocks noEditPoints="1"/>
                </p:cNvSpPr>
                <p:nvPr/>
              </p:nvSpPr>
              <p:spPr bwMode="auto">
                <a:xfrm>
                  <a:off x="4135438" y="4157663"/>
                  <a:ext cx="1184275" cy="1701800"/>
                </a:xfrm>
                <a:custGeom>
                  <a:avLst/>
                  <a:gdLst>
                    <a:gd name="T0" fmla="*/ 88 w 144"/>
                    <a:gd name="T1" fmla="*/ 48 h 208"/>
                    <a:gd name="T2" fmla="*/ 88 w 144"/>
                    <a:gd name="T3" fmla="*/ 0 h 208"/>
                    <a:gd name="T4" fmla="*/ 0 w 144"/>
                    <a:gd name="T5" fmla="*/ 0 h 208"/>
                    <a:gd name="T6" fmla="*/ 0 w 144"/>
                    <a:gd name="T7" fmla="*/ 208 h 208"/>
                    <a:gd name="T8" fmla="*/ 144 w 144"/>
                    <a:gd name="T9" fmla="*/ 208 h 208"/>
                    <a:gd name="T10" fmla="*/ 144 w 144"/>
                    <a:gd name="T11" fmla="*/ 56 h 208"/>
                    <a:gd name="T12" fmla="*/ 96 w 144"/>
                    <a:gd name="T13" fmla="*/ 56 h 208"/>
                    <a:gd name="T14" fmla="*/ 88 w 144"/>
                    <a:gd name="T15" fmla="*/ 48 h 208"/>
                    <a:gd name="T16" fmla="*/ 16 w 144"/>
                    <a:gd name="T17" fmla="*/ 96 h 208"/>
                    <a:gd name="T18" fmla="*/ 19 w 144"/>
                    <a:gd name="T19" fmla="*/ 89 h 208"/>
                    <a:gd name="T20" fmla="*/ 43 w 144"/>
                    <a:gd name="T21" fmla="*/ 73 h 208"/>
                    <a:gd name="T22" fmla="*/ 54 w 144"/>
                    <a:gd name="T23" fmla="*/ 75 h 208"/>
                    <a:gd name="T24" fmla="*/ 52 w 144"/>
                    <a:gd name="T25" fmla="*/ 86 h 208"/>
                    <a:gd name="T26" fmla="*/ 38 w 144"/>
                    <a:gd name="T27" fmla="*/ 96 h 208"/>
                    <a:gd name="T28" fmla="*/ 52 w 144"/>
                    <a:gd name="T29" fmla="*/ 105 h 208"/>
                    <a:gd name="T30" fmla="*/ 54 w 144"/>
                    <a:gd name="T31" fmla="*/ 116 h 208"/>
                    <a:gd name="T32" fmla="*/ 48 w 144"/>
                    <a:gd name="T33" fmla="*/ 120 h 208"/>
                    <a:gd name="T34" fmla="*/ 43 w 144"/>
                    <a:gd name="T35" fmla="*/ 118 h 208"/>
                    <a:gd name="T36" fmla="*/ 19 w 144"/>
                    <a:gd name="T37" fmla="*/ 102 h 208"/>
                    <a:gd name="T38" fmla="*/ 16 w 144"/>
                    <a:gd name="T39" fmla="*/ 96 h 208"/>
                    <a:gd name="T40" fmla="*/ 128 w 144"/>
                    <a:gd name="T41" fmla="*/ 152 h 208"/>
                    <a:gd name="T42" fmla="*/ 124 w 144"/>
                    <a:gd name="T43" fmla="*/ 158 h 208"/>
                    <a:gd name="T44" fmla="*/ 100 w 144"/>
                    <a:gd name="T45" fmla="*/ 174 h 208"/>
                    <a:gd name="T46" fmla="*/ 96 w 144"/>
                    <a:gd name="T47" fmla="*/ 176 h 208"/>
                    <a:gd name="T48" fmla="*/ 89 w 144"/>
                    <a:gd name="T49" fmla="*/ 172 h 208"/>
                    <a:gd name="T50" fmla="*/ 91 w 144"/>
                    <a:gd name="T51" fmla="*/ 161 h 208"/>
                    <a:gd name="T52" fmla="*/ 105 w 144"/>
                    <a:gd name="T53" fmla="*/ 152 h 208"/>
                    <a:gd name="T54" fmla="*/ 91 w 144"/>
                    <a:gd name="T55" fmla="*/ 142 h 208"/>
                    <a:gd name="T56" fmla="*/ 89 w 144"/>
                    <a:gd name="T57" fmla="*/ 131 h 208"/>
                    <a:gd name="T58" fmla="*/ 100 w 144"/>
                    <a:gd name="T59" fmla="*/ 129 h 208"/>
                    <a:gd name="T60" fmla="*/ 124 w 144"/>
                    <a:gd name="T61" fmla="*/ 145 h 208"/>
                    <a:gd name="T62" fmla="*/ 128 w 144"/>
                    <a:gd name="T63" fmla="*/ 152 h 208"/>
                    <a:gd name="T64" fmla="*/ 100 w 144"/>
                    <a:gd name="T65" fmla="*/ 81 h 208"/>
                    <a:gd name="T66" fmla="*/ 102 w 144"/>
                    <a:gd name="T67" fmla="*/ 92 h 208"/>
                    <a:gd name="T68" fmla="*/ 54 w 144"/>
                    <a:gd name="T69" fmla="*/ 164 h 208"/>
                    <a:gd name="T70" fmla="*/ 48 w 144"/>
                    <a:gd name="T71" fmla="*/ 168 h 208"/>
                    <a:gd name="T72" fmla="*/ 43 w 144"/>
                    <a:gd name="T73" fmla="*/ 166 h 208"/>
                    <a:gd name="T74" fmla="*/ 41 w 144"/>
                    <a:gd name="T75" fmla="*/ 155 h 208"/>
                    <a:gd name="T76" fmla="*/ 89 w 144"/>
                    <a:gd name="T77" fmla="*/ 83 h 208"/>
                    <a:gd name="T78" fmla="*/ 100 w 144"/>
                    <a:gd name="T79" fmla="*/ 81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4" h="208">
                      <a:moveTo>
                        <a:pt x="88" y="48"/>
                      </a:moveTo>
                      <a:cubicBezTo>
                        <a:pt x="88" y="0"/>
                        <a:pt x="88" y="0"/>
                        <a:pt x="88" y="0"/>
                      </a:cubicBezTo>
                      <a:cubicBezTo>
                        <a:pt x="0" y="0"/>
                        <a:pt x="0" y="0"/>
                        <a:pt x="0" y="0"/>
                      </a:cubicBezTo>
                      <a:cubicBezTo>
                        <a:pt x="0" y="208"/>
                        <a:pt x="0" y="208"/>
                        <a:pt x="0" y="208"/>
                      </a:cubicBezTo>
                      <a:cubicBezTo>
                        <a:pt x="144" y="208"/>
                        <a:pt x="144" y="208"/>
                        <a:pt x="144" y="208"/>
                      </a:cubicBezTo>
                      <a:cubicBezTo>
                        <a:pt x="144" y="56"/>
                        <a:pt x="144" y="56"/>
                        <a:pt x="144" y="56"/>
                      </a:cubicBezTo>
                      <a:cubicBezTo>
                        <a:pt x="96" y="56"/>
                        <a:pt x="96" y="56"/>
                        <a:pt x="96" y="56"/>
                      </a:cubicBezTo>
                      <a:cubicBezTo>
                        <a:pt x="91" y="56"/>
                        <a:pt x="88" y="52"/>
                        <a:pt x="88" y="48"/>
                      </a:cubicBezTo>
                      <a:close/>
                      <a:moveTo>
                        <a:pt x="16" y="96"/>
                      </a:moveTo>
                      <a:cubicBezTo>
                        <a:pt x="16" y="93"/>
                        <a:pt x="17" y="90"/>
                        <a:pt x="19" y="89"/>
                      </a:cubicBezTo>
                      <a:cubicBezTo>
                        <a:pt x="43" y="73"/>
                        <a:pt x="43" y="73"/>
                        <a:pt x="43" y="73"/>
                      </a:cubicBezTo>
                      <a:cubicBezTo>
                        <a:pt x="47" y="71"/>
                        <a:pt x="52" y="72"/>
                        <a:pt x="54" y="75"/>
                      </a:cubicBezTo>
                      <a:cubicBezTo>
                        <a:pt x="57" y="79"/>
                        <a:pt x="56" y="84"/>
                        <a:pt x="52" y="86"/>
                      </a:cubicBezTo>
                      <a:cubicBezTo>
                        <a:pt x="38" y="96"/>
                        <a:pt x="38" y="96"/>
                        <a:pt x="38" y="96"/>
                      </a:cubicBezTo>
                      <a:cubicBezTo>
                        <a:pt x="52" y="105"/>
                        <a:pt x="52" y="105"/>
                        <a:pt x="52" y="105"/>
                      </a:cubicBezTo>
                      <a:cubicBezTo>
                        <a:pt x="56" y="107"/>
                        <a:pt x="57" y="112"/>
                        <a:pt x="54" y="116"/>
                      </a:cubicBezTo>
                      <a:cubicBezTo>
                        <a:pt x="53" y="118"/>
                        <a:pt x="50" y="120"/>
                        <a:pt x="48" y="120"/>
                      </a:cubicBezTo>
                      <a:cubicBezTo>
                        <a:pt x="46" y="120"/>
                        <a:pt x="45" y="119"/>
                        <a:pt x="43" y="118"/>
                      </a:cubicBezTo>
                      <a:cubicBezTo>
                        <a:pt x="19" y="102"/>
                        <a:pt x="19" y="102"/>
                        <a:pt x="19" y="102"/>
                      </a:cubicBezTo>
                      <a:cubicBezTo>
                        <a:pt x="17" y="101"/>
                        <a:pt x="16" y="98"/>
                        <a:pt x="16" y="96"/>
                      </a:cubicBezTo>
                      <a:close/>
                      <a:moveTo>
                        <a:pt x="128" y="152"/>
                      </a:moveTo>
                      <a:cubicBezTo>
                        <a:pt x="128" y="154"/>
                        <a:pt x="126" y="157"/>
                        <a:pt x="124" y="158"/>
                      </a:cubicBezTo>
                      <a:cubicBezTo>
                        <a:pt x="100" y="174"/>
                        <a:pt x="100" y="174"/>
                        <a:pt x="100" y="174"/>
                      </a:cubicBezTo>
                      <a:cubicBezTo>
                        <a:pt x="99" y="175"/>
                        <a:pt x="97" y="176"/>
                        <a:pt x="96" y="176"/>
                      </a:cubicBezTo>
                      <a:cubicBezTo>
                        <a:pt x="93" y="176"/>
                        <a:pt x="91" y="174"/>
                        <a:pt x="89" y="172"/>
                      </a:cubicBezTo>
                      <a:cubicBezTo>
                        <a:pt x="87" y="168"/>
                        <a:pt x="88" y="163"/>
                        <a:pt x="91" y="161"/>
                      </a:cubicBezTo>
                      <a:cubicBezTo>
                        <a:pt x="105" y="152"/>
                        <a:pt x="105" y="152"/>
                        <a:pt x="105" y="152"/>
                      </a:cubicBezTo>
                      <a:cubicBezTo>
                        <a:pt x="91" y="142"/>
                        <a:pt x="91" y="142"/>
                        <a:pt x="91" y="142"/>
                      </a:cubicBezTo>
                      <a:cubicBezTo>
                        <a:pt x="88" y="140"/>
                        <a:pt x="87" y="135"/>
                        <a:pt x="89" y="131"/>
                      </a:cubicBezTo>
                      <a:cubicBezTo>
                        <a:pt x="91" y="128"/>
                        <a:pt x="96" y="127"/>
                        <a:pt x="100" y="129"/>
                      </a:cubicBezTo>
                      <a:cubicBezTo>
                        <a:pt x="124" y="145"/>
                        <a:pt x="124" y="145"/>
                        <a:pt x="124" y="145"/>
                      </a:cubicBezTo>
                      <a:cubicBezTo>
                        <a:pt x="126" y="146"/>
                        <a:pt x="128" y="149"/>
                        <a:pt x="128" y="152"/>
                      </a:cubicBezTo>
                      <a:close/>
                      <a:moveTo>
                        <a:pt x="100" y="81"/>
                      </a:moveTo>
                      <a:cubicBezTo>
                        <a:pt x="104" y="83"/>
                        <a:pt x="105" y="88"/>
                        <a:pt x="102" y="92"/>
                      </a:cubicBezTo>
                      <a:cubicBezTo>
                        <a:pt x="54" y="164"/>
                        <a:pt x="54" y="164"/>
                        <a:pt x="54" y="164"/>
                      </a:cubicBezTo>
                      <a:cubicBezTo>
                        <a:pt x="53" y="166"/>
                        <a:pt x="50" y="168"/>
                        <a:pt x="48" y="168"/>
                      </a:cubicBezTo>
                      <a:cubicBezTo>
                        <a:pt x="46" y="168"/>
                        <a:pt x="45" y="167"/>
                        <a:pt x="43" y="166"/>
                      </a:cubicBezTo>
                      <a:cubicBezTo>
                        <a:pt x="40" y="164"/>
                        <a:pt x="39" y="159"/>
                        <a:pt x="41" y="155"/>
                      </a:cubicBezTo>
                      <a:cubicBezTo>
                        <a:pt x="89" y="83"/>
                        <a:pt x="89" y="83"/>
                        <a:pt x="89" y="83"/>
                      </a:cubicBezTo>
                      <a:cubicBezTo>
                        <a:pt x="91" y="80"/>
                        <a:pt x="96" y="79"/>
                        <a:pt x="100" y="8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9" name="Freeform 24">
                  <a:extLst>
                    <a:ext uri="{FF2B5EF4-FFF2-40B4-BE49-F238E27FC236}">
                      <a16:creationId xmlns:a16="http://schemas.microsoft.com/office/drawing/2014/main" id="{2D85C42F-AF3E-411B-8669-62CD9F17D787}"/>
                    </a:ext>
                  </a:extLst>
                </p:cNvPr>
                <p:cNvSpPr>
                  <a:spLocks noEditPoints="1"/>
                </p:cNvSpPr>
                <p:nvPr/>
              </p:nvSpPr>
              <p:spPr bwMode="auto">
                <a:xfrm>
                  <a:off x="3148013" y="3436938"/>
                  <a:ext cx="3159125" cy="314325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280 w 384"/>
                    <a:gd name="T11" fmla="*/ 136 h 384"/>
                    <a:gd name="T12" fmla="*/ 280 w 384"/>
                    <a:gd name="T13" fmla="*/ 304 h 384"/>
                    <a:gd name="T14" fmla="*/ 272 w 384"/>
                    <a:gd name="T15" fmla="*/ 312 h 384"/>
                    <a:gd name="T16" fmla="*/ 112 w 384"/>
                    <a:gd name="T17" fmla="*/ 312 h 384"/>
                    <a:gd name="T18" fmla="*/ 104 w 384"/>
                    <a:gd name="T19" fmla="*/ 304 h 384"/>
                    <a:gd name="T20" fmla="*/ 104 w 384"/>
                    <a:gd name="T21" fmla="*/ 80 h 384"/>
                    <a:gd name="T22" fmla="*/ 112 w 384"/>
                    <a:gd name="T23" fmla="*/ 72 h 384"/>
                    <a:gd name="T24" fmla="*/ 216 w 384"/>
                    <a:gd name="T25" fmla="*/ 72 h 384"/>
                    <a:gd name="T26" fmla="*/ 221 w 384"/>
                    <a:gd name="T27" fmla="*/ 74 h 384"/>
                    <a:gd name="T28" fmla="*/ 221 w 384"/>
                    <a:gd name="T29" fmla="*/ 74 h 384"/>
                    <a:gd name="T30" fmla="*/ 221 w 384"/>
                    <a:gd name="T31" fmla="*/ 74 h 384"/>
                    <a:gd name="T32" fmla="*/ 221 w 384"/>
                    <a:gd name="T33" fmla="*/ 74 h 384"/>
                    <a:gd name="T34" fmla="*/ 277 w 384"/>
                    <a:gd name="T35" fmla="*/ 130 h 384"/>
                    <a:gd name="T36" fmla="*/ 279 w 384"/>
                    <a:gd name="T37" fmla="*/ 133 h 384"/>
                    <a:gd name="T38" fmla="*/ 280 w 384"/>
                    <a:gd name="T39" fmla="*/ 136 h 384"/>
                    <a:gd name="T40" fmla="*/ 280 w 384"/>
                    <a:gd name="T41" fmla="*/ 136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280" y="136"/>
                      </a:moveTo>
                      <a:cubicBezTo>
                        <a:pt x="280" y="304"/>
                        <a:pt x="280" y="304"/>
                        <a:pt x="280" y="304"/>
                      </a:cubicBezTo>
                      <a:cubicBezTo>
                        <a:pt x="280" y="308"/>
                        <a:pt x="276" y="312"/>
                        <a:pt x="272" y="312"/>
                      </a:cubicBezTo>
                      <a:cubicBezTo>
                        <a:pt x="112" y="312"/>
                        <a:pt x="112" y="312"/>
                        <a:pt x="112" y="312"/>
                      </a:cubicBezTo>
                      <a:cubicBezTo>
                        <a:pt x="107" y="312"/>
                        <a:pt x="104" y="308"/>
                        <a:pt x="104" y="304"/>
                      </a:cubicBezTo>
                      <a:cubicBezTo>
                        <a:pt x="104" y="80"/>
                        <a:pt x="104" y="80"/>
                        <a:pt x="104" y="80"/>
                      </a:cubicBezTo>
                      <a:cubicBezTo>
                        <a:pt x="104" y="75"/>
                        <a:pt x="107" y="72"/>
                        <a:pt x="112" y="72"/>
                      </a:cubicBezTo>
                      <a:cubicBezTo>
                        <a:pt x="216" y="72"/>
                        <a:pt x="216" y="72"/>
                        <a:pt x="216" y="72"/>
                      </a:cubicBezTo>
                      <a:cubicBezTo>
                        <a:pt x="218" y="72"/>
                        <a:pt x="220" y="73"/>
                        <a:pt x="221" y="74"/>
                      </a:cubicBezTo>
                      <a:cubicBezTo>
                        <a:pt x="221" y="74"/>
                        <a:pt x="221" y="74"/>
                        <a:pt x="221" y="74"/>
                      </a:cubicBezTo>
                      <a:cubicBezTo>
                        <a:pt x="221" y="74"/>
                        <a:pt x="221" y="74"/>
                        <a:pt x="221" y="74"/>
                      </a:cubicBezTo>
                      <a:cubicBezTo>
                        <a:pt x="221" y="74"/>
                        <a:pt x="221" y="74"/>
                        <a:pt x="221" y="74"/>
                      </a:cubicBezTo>
                      <a:cubicBezTo>
                        <a:pt x="277" y="130"/>
                        <a:pt x="277" y="130"/>
                        <a:pt x="277" y="130"/>
                      </a:cubicBezTo>
                      <a:cubicBezTo>
                        <a:pt x="278" y="131"/>
                        <a:pt x="279" y="132"/>
                        <a:pt x="279" y="133"/>
                      </a:cubicBezTo>
                      <a:cubicBezTo>
                        <a:pt x="279" y="134"/>
                        <a:pt x="280" y="135"/>
                        <a:pt x="280" y="136"/>
                      </a:cubicBezTo>
                      <a:cubicBezTo>
                        <a:pt x="280" y="136"/>
                        <a:pt x="280" y="136"/>
                        <a:pt x="280" y="136"/>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7" name="Group 6">
              <a:extLst>
                <a:ext uri="{FF2B5EF4-FFF2-40B4-BE49-F238E27FC236}">
                  <a16:creationId xmlns:a16="http://schemas.microsoft.com/office/drawing/2014/main" id="{32C1093A-B72F-410D-A341-3A5BC5B55818}"/>
                </a:ext>
              </a:extLst>
            </p:cNvPr>
            <p:cNvGrpSpPr/>
            <p:nvPr/>
          </p:nvGrpSpPr>
          <p:grpSpPr>
            <a:xfrm>
              <a:off x="469900" y="3907644"/>
              <a:ext cx="5902742" cy="532606"/>
              <a:chOff x="469900" y="3907644"/>
              <a:chExt cx="5902742" cy="532606"/>
            </a:xfrm>
          </p:grpSpPr>
          <p:sp>
            <p:nvSpPr>
              <p:cNvPr id="85" name="Rounded Rectangle 2">
                <a:extLst>
                  <a:ext uri="{FF2B5EF4-FFF2-40B4-BE49-F238E27FC236}">
                    <a16:creationId xmlns:a16="http://schemas.microsoft.com/office/drawing/2014/main" id="{6E427DD1-2169-43F5-A6B2-B53F036CAB80}"/>
                  </a:ext>
                </a:extLst>
              </p:cNvPr>
              <p:cNvSpPr/>
              <p:nvPr/>
            </p:nvSpPr>
            <p:spPr bwMode="gray">
              <a:xfrm>
                <a:off x="1343442" y="3907644"/>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6" name="Rounded Rectangle 3">
                <a:extLst>
                  <a:ext uri="{FF2B5EF4-FFF2-40B4-BE49-F238E27FC236}">
                    <a16:creationId xmlns:a16="http://schemas.microsoft.com/office/drawing/2014/main" id="{1B6977C4-F249-4F64-8C6C-E224E53894A0}"/>
                  </a:ext>
                </a:extLst>
              </p:cNvPr>
              <p:cNvSpPr/>
              <p:nvPr/>
            </p:nvSpPr>
            <p:spPr bwMode="gray">
              <a:xfrm>
                <a:off x="1452592" y="3907644"/>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Leveraging Deloitte’s international collaborations to bring in international best practices via conferences and workshops</a:t>
                </a:r>
              </a:p>
            </p:txBody>
          </p:sp>
          <p:sp>
            <p:nvSpPr>
              <p:cNvPr id="87" name="Oval 86">
                <a:extLst>
                  <a:ext uri="{FF2B5EF4-FFF2-40B4-BE49-F238E27FC236}">
                    <a16:creationId xmlns:a16="http://schemas.microsoft.com/office/drawing/2014/main" id="{3B50832C-2759-4970-B86F-FB54564DD33E}"/>
                  </a:ext>
                </a:extLst>
              </p:cNvPr>
              <p:cNvSpPr>
                <a:spLocks noChangeAspect="1"/>
              </p:cNvSpPr>
              <p:nvPr/>
            </p:nvSpPr>
            <p:spPr bwMode="gray">
              <a:xfrm>
                <a:off x="894939" y="4131680"/>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8" name="Rounded Rectangle 5">
                <a:extLst>
                  <a:ext uri="{FF2B5EF4-FFF2-40B4-BE49-F238E27FC236}">
                    <a16:creationId xmlns:a16="http://schemas.microsoft.com/office/drawing/2014/main" id="{77A62585-AE05-4A46-AFDF-8582FDB2766E}"/>
                  </a:ext>
                </a:extLst>
              </p:cNvPr>
              <p:cNvSpPr/>
              <p:nvPr/>
            </p:nvSpPr>
            <p:spPr bwMode="gray">
              <a:xfrm>
                <a:off x="469900" y="3908771"/>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9" name="Rounded Rectangle 6">
                <a:extLst>
                  <a:ext uri="{FF2B5EF4-FFF2-40B4-BE49-F238E27FC236}">
                    <a16:creationId xmlns:a16="http://schemas.microsoft.com/office/drawing/2014/main" id="{07ECEBF9-8C3A-4458-99F4-2882C508C165}"/>
                  </a:ext>
                </a:extLst>
              </p:cNvPr>
              <p:cNvSpPr/>
              <p:nvPr/>
            </p:nvSpPr>
            <p:spPr bwMode="gray">
              <a:xfrm>
                <a:off x="496303" y="3908771"/>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96" name="Oval 95">
                <a:extLst>
                  <a:ext uri="{FF2B5EF4-FFF2-40B4-BE49-F238E27FC236}">
                    <a16:creationId xmlns:a16="http://schemas.microsoft.com/office/drawing/2014/main" id="{FF7FC15B-054C-4033-8536-FD1AE94ABE2C}"/>
                  </a:ext>
                </a:extLst>
              </p:cNvPr>
              <p:cNvSpPr/>
              <p:nvPr/>
            </p:nvSpPr>
            <p:spPr bwMode="gray">
              <a:xfrm>
                <a:off x="1163072" y="4132712"/>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97" name="Oval 96">
                <a:extLst>
                  <a:ext uri="{FF2B5EF4-FFF2-40B4-BE49-F238E27FC236}">
                    <a16:creationId xmlns:a16="http://schemas.microsoft.com/office/drawing/2014/main" id="{5B8218B7-2BCE-47DF-917A-79D148E70B17}"/>
                  </a:ext>
                </a:extLst>
              </p:cNvPr>
              <p:cNvSpPr/>
              <p:nvPr/>
            </p:nvSpPr>
            <p:spPr bwMode="gray">
              <a:xfrm>
                <a:off x="1303547" y="4132712"/>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98" name="Straight Connector 97">
                <a:extLst>
                  <a:ext uri="{FF2B5EF4-FFF2-40B4-BE49-F238E27FC236}">
                    <a16:creationId xmlns:a16="http://schemas.microsoft.com/office/drawing/2014/main" id="{084D32DB-E599-49C6-8F51-5F8ADC7550ED}"/>
                  </a:ext>
                </a:extLst>
              </p:cNvPr>
              <p:cNvCxnSpPr>
                <a:cxnSpLocks/>
              </p:cNvCxnSpPr>
              <p:nvPr/>
            </p:nvCxnSpPr>
            <p:spPr>
              <a:xfrm>
                <a:off x="1204223" y="4173947"/>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21" name="Freeform 189">
                <a:extLst>
                  <a:ext uri="{FF2B5EF4-FFF2-40B4-BE49-F238E27FC236}">
                    <a16:creationId xmlns:a16="http://schemas.microsoft.com/office/drawing/2014/main" id="{1E3968EE-B65A-4360-9D22-1B7107258414}"/>
                  </a:ext>
                </a:extLst>
              </p:cNvPr>
              <p:cNvSpPr>
                <a:spLocks noChangeAspect="1" noEditPoints="1"/>
              </p:cNvSpPr>
              <p:nvPr/>
            </p:nvSpPr>
            <p:spPr bwMode="auto">
              <a:xfrm>
                <a:off x="635025" y="3989956"/>
                <a:ext cx="367042" cy="367041"/>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8" name="Group 7">
              <a:extLst>
                <a:ext uri="{FF2B5EF4-FFF2-40B4-BE49-F238E27FC236}">
                  <a16:creationId xmlns:a16="http://schemas.microsoft.com/office/drawing/2014/main" id="{8C6794A9-6AEB-4512-81CD-EF5AD0A01A97}"/>
                </a:ext>
              </a:extLst>
            </p:cNvPr>
            <p:cNvGrpSpPr/>
            <p:nvPr/>
          </p:nvGrpSpPr>
          <p:grpSpPr>
            <a:xfrm>
              <a:off x="469900" y="4509312"/>
              <a:ext cx="5902742" cy="532606"/>
              <a:chOff x="469900" y="4509312"/>
              <a:chExt cx="5902742" cy="532606"/>
            </a:xfrm>
          </p:grpSpPr>
          <p:sp>
            <p:nvSpPr>
              <p:cNvPr id="100" name="Rounded Rectangle 2">
                <a:extLst>
                  <a:ext uri="{FF2B5EF4-FFF2-40B4-BE49-F238E27FC236}">
                    <a16:creationId xmlns:a16="http://schemas.microsoft.com/office/drawing/2014/main" id="{F5F15FF1-21FA-4F54-A7E9-7393E07FB41A}"/>
                  </a:ext>
                </a:extLst>
              </p:cNvPr>
              <p:cNvSpPr/>
              <p:nvPr/>
            </p:nvSpPr>
            <p:spPr bwMode="gray">
              <a:xfrm>
                <a:off x="1343442" y="4509312"/>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08" name="Rounded Rectangle 3">
                <a:extLst>
                  <a:ext uri="{FF2B5EF4-FFF2-40B4-BE49-F238E27FC236}">
                    <a16:creationId xmlns:a16="http://schemas.microsoft.com/office/drawing/2014/main" id="{7857DD39-227E-4445-A4FB-E035EE64AB47}"/>
                  </a:ext>
                </a:extLst>
              </p:cNvPr>
              <p:cNvSpPr/>
              <p:nvPr/>
            </p:nvSpPr>
            <p:spPr bwMode="gray">
              <a:xfrm>
                <a:off x="1452592" y="4509312"/>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Forge institutional collaborations with training institutes</a:t>
                </a:r>
              </a:p>
            </p:txBody>
          </p:sp>
          <p:sp>
            <p:nvSpPr>
              <p:cNvPr id="110" name="Oval 109">
                <a:extLst>
                  <a:ext uri="{FF2B5EF4-FFF2-40B4-BE49-F238E27FC236}">
                    <a16:creationId xmlns:a16="http://schemas.microsoft.com/office/drawing/2014/main" id="{92040D7B-2AF8-403D-80E4-1E650CE7801F}"/>
                  </a:ext>
                </a:extLst>
              </p:cNvPr>
              <p:cNvSpPr>
                <a:spLocks noChangeAspect="1"/>
              </p:cNvSpPr>
              <p:nvPr/>
            </p:nvSpPr>
            <p:spPr bwMode="gray">
              <a:xfrm>
                <a:off x="894939" y="4733348"/>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15" name="Rounded Rectangle 5">
                <a:extLst>
                  <a:ext uri="{FF2B5EF4-FFF2-40B4-BE49-F238E27FC236}">
                    <a16:creationId xmlns:a16="http://schemas.microsoft.com/office/drawing/2014/main" id="{460D8A40-61CC-4F1D-A421-84E457DE6AF4}"/>
                  </a:ext>
                </a:extLst>
              </p:cNvPr>
              <p:cNvSpPr/>
              <p:nvPr/>
            </p:nvSpPr>
            <p:spPr bwMode="gray">
              <a:xfrm>
                <a:off x="469900" y="4510439"/>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16" name="Rounded Rectangle 6">
                <a:extLst>
                  <a:ext uri="{FF2B5EF4-FFF2-40B4-BE49-F238E27FC236}">
                    <a16:creationId xmlns:a16="http://schemas.microsoft.com/office/drawing/2014/main" id="{1250977F-E1A8-4F1B-B304-B0F3C4562DA1}"/>
                  </a:ext>
                </a:extLst>
              </p:cNvPr>
              <p:cNvSpPr/>
              <p:nvPr/>
            </p:nvSpPr>
            <p:spPr bwMode="gray">
              <a:xfrm>
                <a:off x="496303" y="4510439"/>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23" name="Oval 122">
                <a:extLst>
                  <a:ext uri="{FF2B5EF4-FFF2-40B4-BE49-F238E27FC236}">
                    <a16:creationId xmlns:a16="http://schemas.microsoft.com/office/drawing/2014/main" id="{1469A596-EEBD-4B29-86E5-151296E0A3E2}"/>
                  </a:ext>
                </a:extLst>
              </p:cNvPr>
              <p:cNvSpPr/>
              <p:nvPr/>
            </p:nvSpPr>
            <p:spPr bwMode="gray">
              <a:xfrm>
                <a:off x="1163072" y="4734380"/>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24" name="Oval 123">
                <a:extLst>
                  <a:ext uri="{FF2B5EF4-FFF2-40B4-BE49-F238E27FC236}">
                    <a16:creationId xmlns:a16="http://schemas.microsoft.com/office/drawing/2014/main" id="{7CEF6966-05B4-4E1F-9E77-94909C977FAF}"/>
                  </a:ext>
                </a:extLst>
              </p:cNvPr>
              <p:cNvSpPr/>
              <p:nvPr/>
            </p:nvSpPr>
            <p:spPr bwMode="gray">
              <a:xfrm>
                <a:off x="1303547" y="4734380"/>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25" name="Straight Connector 124">
                <a:extLst>
                  <a:ext uri="{FF2B5EF4-FFF2-40B4-BE49-F238E27FC236}">
                    <a16:creationId xmlns:a16="http://schemas.microsoft.com/office/drawing/2014/main" id="{74300DAF-5348-4BEB-A9B5-DF8AE85E5DC9}"/>
                  </a:ext>
                </a:extLst>
              </p:cNvPr>
              <p:cNvCxnSpPr>
                <a:cxnSpLocks/>
              </p:cNvCxnSpPr>
              <p:nvPr/>
            </p:nvCxnSpPr>
            <p:spPr>
              <a:xfrm>
                <a:off x="1204223" y="4775615"/>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33" name="Group 294">
                <a:extLst>
                  <a:ext uri="{FF2B5EF4-FFF2-40B4-BE49-F238E27FC236}">
                    <a16:creationId xmlns:a16="http://schemas.microsoft.com/office/drawing/2014/main" id="{6BFCADE2-A0EE-4615-A3C1-D0C2E300BDC5}"/>
                  </a:ext>
                </a:extLst>
              </p:cNvPr>
              <p:cNvGrpSpPr>
                <a:grpSpLocks noChangeAspect="1"/>
              </p:cNvGrpSpPr>
              <p:nvPr/>
            </p:nvGrpSpPr>
            <p:grpSpPr bwMode="auto">
              <a:xfrm>
                <a:off x="634176" y="4592822"/>
                <a:ext cx="367631" cy="367631"/>
                <a:chOff x="799" y="1118"/>
                <a:chExt cx="340" cy="340"/>
              </a:xfrm>
              <a:solidFill>
                <a:schemeClr val="bg2">
                  <a:lumMod val="25000"/>
                </a:schemeClr>
              </a:solidFill>
            </p:grpSpPr>
            <p:sp>
              <p:nvSpPr>
                <p:cNvPr id="134" name="Freeform 295">
                  <a:extLst>
                    <a:ext uri="{FF2B5EF4-FFF2-40B4-BE49-F238E27FC236}">
                      <a16:creationId xmlns:a16="http://schemas.microsoft.com/office/drawing/2014/main" id="{000E74E4-9380-4B93-BB19-2FD045F95042}"/>
                    </a:ext>
                  </a:extLst>
                </p:cNvPr>
                <p:cNvSpPr>
                  <a:spLocks noEditPoints="1"/>
                </p:cNvSpPr>
                <p:nvPr/>
              </p:nvSpPr>
              <p:spPr bwMode="auto">
                <a:xfrm>
                  <a:off x="799" y="111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6 w 512"/>
                    <a:gd name="T11" fmla="*/ 341 h 512"/>
                    <a:gd name="T12" fmla="*/ 405 w 512"/>
                    <a:gd name="T13" fmla="*/ 352 h 512"/>
                    <a:gd name="T14" fmla="*/ 266 w 512"/>
                    <a:gd name="T15" fmla="*/ 352 h 512"/>
                    <a:gd name="T16" fmla="*/ 266 w 512"/>
                    <a:gd name="T17" fmla="*/ 373 h 512"/>
                    <a:gd name="T18" fmla="*/ 309 w 512"/>
                    <a:gd name="T19" fmla="*/ 373 h 512"/>
                    <a:gd name="T20" fmla="*/ 320 w 512"/>
                    <a:gd name="T21" fmla="*/ 384 h 512"/>
                    <a:gd name="T22" fmla="*/ 309 w 512"/>
                    <a:gd name="T23" fmla="*/ 394 h 512"/>
                    <a:gd name="T24" fmla="*/ 202 w 512"/>
                    <a:gd name="T25" fmla="*/ 394 h 512"/>
                    <a:gd name="T26" fmla="*/ 192 w 512"/>
                    <a:gd name="T27" fmla="*/ 384 h 512"/>
                    <a:gd name="T28" fmla="*/ 202 w 512"/>
                    <a:gd name="T29" fmla="*/ 373 h 512"/>
                    <a:gd name="T30" fmla="*/ 245 w 512"/>
                    <a:gd name="T31" fmla="*/ 373 h 512"/>
                    <a:gd name="T32" fmla="*/ 245 w 512"/>
                    <a:gd name="T33" fmla="*/ 352 h 512"/>
                    <a:gd name="T34" fmla="*/ 106 w 512"/>
                    <a:gd name="T35" fmla="*/ 352 h 512"/>
                    <a:gd name="T36" fmla="*/ 96 w 512"/>
                    <a:gd name="T37" fmla="*/ 341 h 512"/>
                    <a:gd name="T38" fmla="*/ 96 w 512"/>
                    <a:gd name="T39" fmla="*/ 149 h 512"/>
                    <a:gd name="T40" fmla="*/ 106 w 512"/>
                    <a:gd name="T41" fmla="*/ 138 h 512"/>
                    <a:gd name="T42" fmla="*/ 405 w 512"/>
                    <a:gd name="T43" fmla="*/ 138 h 512"/>
                    <a:gd name="T44" fmla="*/ 416 w 512"/>
                    <a:gd name="T45" fmla="*/ 149 h 512"/>
                    <a:gd name="T46" fmla="*/ 416 w 512"/>
                    <a:gd name="T47" fmla="*/ 34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41"/>
                      </a:moveTo>
                      <a:cubicBezTo>
                        <a:pt x="416" y="347"/>
                        <a:pt x="411" y="352"/>
                        <a:pt x="405" y="352"/>
                      </a:cubicBezTo>
                      <a:cubicBezTo>
                        <a:pt x="266" y="352"/>
                        <a:pt x="266" y="352"/>
                        <a:pt x="266" y="352"/>
                      </a:cubicBezTo>
                      <a:cubicBezTo>
                        <a:pt x="266" y="373"/>
                        <a:pt x="266" y="373"/>
                        <a:pt x="266" y="373"/>
                      </a:cubicBezTo>
                      <a:cubicBezTo>
                        <a:pt x="309" y="373"/>
                        <a:pt x="309" y="373"/>
                        <a:pt x="309" y="373"/>
                      </a:cubicBezTo>
                      <a:cubicBezTo>
                        <a:pt x="315" y="373"/>
                        <a:pt x="320" y="378"/>
                        <a:pt x="320" y="384"/>
                      </a:cubicBezTo>
                      <a:cubicBezTo>
                        <a:pt x="320" y="390"/>
                        <a:pt x="315" y="394"/>
                        <a:pt x="309" y="394"/>
                      </a:cubicBezTo>
                      <a:cubicBezTo>
                        <a:pt x="202" y="394"/>
                        <a:pt x="202" y="394"/>
                        <a:pt x="202" y="394"/>
                      </a:cubicBezTo>
                      <a:cubicBezTo>
                        <a:pt x="196" y="394"/>
                        <a:pt x="192" y="390"/>
                        <a:pt x="192" y="384"/>
                      </a:cubicBezTo>
                      <a:cubicBezTo>
                        <a:pt x="192" y="378"/>
                        <a:pt x="196" y="373"/>
                        <a:pt x="202" y="373"/>
                      </a:cubicBezTo>
                      <a:cubicBezTo>
                        <a:pt x="245" y="373"/>
                        <a:pt x="245" y="373"/>
                        <a:pt x="245" y="373"/>
                      </a:cubicBezTo>
                      <a:cubicBezTo>
                        <a:pt x="245" y="352"/>
                        <a:pt x="245" y="352"/>
                        <a:pt x="245" y="352"/>
                      </a:cubicBezTo>
                      <a:cubicBezTo>
                        <a:pt x="106" y="352"/>
                        <a:pt x="106" y="352"/>
                        <a:pt x="106" y="352"/>
                      </a:cubicBezTo>
                      <a:cubicBezTo>
                        <a:pt x="100" y="352"/>
                        <a:pt x="96" y="347"/>
                        <a:pt x="96" y="341"/>
                      </a:cubicBezTo>
                      <a:cubicBezTo>
                        <a:pt x="96" y="149"/>
                        <a:pt x="96" y="149"/>
                        <a:pt x="96" y="149"/>
                      </a:cubicBezTo>
                      <a:cubicBezTo>
                        <a:pt x="96" y="143"/>
                        <a:pt x="100" y="138"/>
                        <a:pt x="106" y="138"/>
                      </a:cubicBezTo>
                      <a:cubicBezTo>
                        <a:pt x="405" y="138"/>
                        <a:pt x="405" y="138"/>
                        <a:pt x="405" y="138"/>
                      </a:cubicBezTo>
                      <a:cubicBezTo>
                        <a:pt x="411" y="138"/>
                        <a:pt x="416" y="143"/>
                        <a:pt x="416" y="149"/>
                      </a:cubicBezTo>
                      <a:lnTo>
                        <a:pt x="416" y="341"/>
                      </a:lnTo>
                      <a:close/>
                    </a:path>
                  </a:pathLst>
                </a:custGeom>
                <a:solidFill>
                  <a:schemeClr val="accent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5" name="Rectangle 296">
                  <a:extLst>
                    <a:ext uri="{FF2B5EF4-FFF2-40B4-BE49-F238E27FC236}">
                      <a16:creationId xmlns:a16="http://schemas.microsoft.com/office/drawing/2014/main" id="{226AF532-A9E8-4358-B111-D9F21AD15D77}"/>
                    </a:ext>
                  </a:extLst>
                </p:cNvPr>
                <p:cNvSpPr>
                  <a:spLocks noChangeArrowheads="1"/>
                </p:cNvSpPr>
                <p:nvPr/>
              </p:nvSpPr>
              <p:spPr bwMode="auto">
                <a:xfrm>
                  <a:off x="877" y="1224"/>
                  <a:ext cx="184" cy="113"/>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grpSp>
          <p:nvGrpSpPr>
            <p:cNvPr id="10" name="Group 9">
              <a:extLst>
                <a:ext uri="{FF2B5EF4-FFF2-40B4-BE49-F238E27FC236}">
                  <a16:creationId xmlns:a16="http://schemas.microsoft.com/office/drawing/2014/main" id="{EA465786-6354-4E35-9F0B-1088D404DE71}"/>
                </a:ext>
              </a:extLst>
            </p:cNvPr>
            <p:cNvGrpSpPr/>
            <p:nvPr/>
          </p:nvGrpSpPr>
          <p:grpSpPr>
            <a:xfrm>
              <a:off x="469900" y="5110980"/>
              <a:ext cx="5902742" cy="532606"/>
              <a:chOff x="469900" y="5110980"/>
              <a:chExt cx="5902742" cy="532606"/>
            </a:xfrm>
          </p:grpSpPr>
          <p:sp>
            <p:nvSpPr>
              <p:cNvPr id="127" name="Rounded Rectangle 2">
                <a:extLst>
                  <a:ext uri="{FF2B5EF4-FFF2-40B4-BE49-F238E27FC236}">
                    <a16:creationId xmlns:a16="http://schemas.microsoft.com/office/drawing/2014/main" id="{B734AE9B-3C9C-4F7E-A4EB-D0DD1ADB5ADD}"/>
                  </a:ext>
                </a:extLst>
              </p:cNvPr>
              <p:cNvSpPr/>
              <p:nvPr/>
            </p:nvSpPr>
            <p:spPr bwMode="gray">
              <a:xfrm>
                <a:off x="1343442" y="5110980"/>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28" name="Rounded Rectangle 3">
                <a:extLst>
                  <a:ext uri="{FF2B5EF4-FFF2-40B4-BE49-F238E27FC236}">
                    <a16:creationId xmlns:a16="http://schemas.microsoft.com/office/drawing/2014/main" id="{899EC8ED-CA8B-45E5-9ADC-64C77729B926}"/>
                  </a:ext>
                </a:extLst>
              </p:cNvPr>
              <p:cNvSpPr/>
              <p:nvPr/>
            </p:nvSpPr>
            <p:spPr bwMode="gray">
              <a:xfrm>
                <a:off x="1452592" y="5110980"/>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Phased approach to trainings – design and delivery of trainings on the basis of assessed maturity of M/Ds and States/UTs</a:t>
                </a:r>
              </a:p>
            </p:txBody>
          </p:sp>
          <p:sp>
            <p:nvSpPr>
              <p:cNvPr id="129" name="Oval 128">
                <a:extLst>
                  <a:ext uri="{FF2B5EF4-FFF2-40B4-BE49-F238E27FC236}">
                    <a16:creationId xmlns:a16="http://schemas.microsoft.com/office/drawing/2014/main" id="{8B40BF7F-6E5F-4005-990F-144BF8ED3388}"/>
                  </a:ext>
                </a:extLst>
              </p:cNvPr>
              <p:cNvSpPr>
                <a:spLocks noChangeAspect="1"/>
              </p:cNvSpPr>
              <p:nvPr/>
            </p:nvSpPr>
            <p:spPr bwMode="gray">
              <a:xfrm>
                <a:off x="894939" y="5335016"/>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0" name="Rounded Rectangle 5">
                <a:extLst>
                  <a:ext uri="{FF2B5EF4-FFF2-40B4-BE49-F238E27FC236}">
                    <a16:creationId xmlns:a16="http://schemas.microsoft.com/office/drawing/2014/main" id="{FFB34E89-AB32-431F-84BC-E84B0EABED13}"/>
                  </a:ext>
                </a:extLst>
              </p:cNvPr>
              <p:cNvSpPr/>
              <p:nvPr/>
            </p:nvSpPr>
            <p:spPr bwMode="gray">
              <a:xfrm>
                <a:off x="469900" y="5112107"/>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2" name="Rounded Rectangle 6">
                <a:extLst>
                  <a:ext uri="{FF2B5EF4-FFF2-40B4-BE49-F238E27FC236}">
                    <a16:creationId xmlns:a16="http://schemas.microsoft.com/office/drawing/2014/main" id="{4B776FD7-8858-40DD-856B-2B91CD52271E}"/>
                  </a:ext>
                </a:extLst>
              </p:cNvPr>
              <p:cNvSpPr/>
              <p:nvPr/>
            </p:nvSpPr>
            <p:spPr bwMode="gray">
              <a:xfrm>
                <a:off x="496303" y="5112107"/>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9" name="Oval 138">
                <a:extLst>
                  <a:ext uri="{FF2B5EF4-FFF2-40B4-BE49-F238E27FC236}">
                    <a16:creationId xmlns:a16="http://schemas.microsoft.com/office/drawing/2014/main" id="{A52A3B41-F925-41F1-AF75-9E9BECE3AFD9}"/>
                  </a:ext>
                </a:extLst>
              </p:cNvPr>
              <p:cNvSpPr/>
              <p:nvPr/>
            </p:nvSpPr>
            <p:spPr bwMode="gray">
              <a:xfrm>
                <a:off x="1163072" y="533604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40" name="Oval 139">
                <a:extLst>
                  <a:ext uri="{FF2B5EF4-FFF2-40B4-BE49-F238E27FC236}">
                    <a16:creationId xmlns:a16="http://schemas.microsoft.com/office/drawing/2014/main" id="{A558845B-9859-49A2-B55E-643B86D847C5}"/>
                  </a:ext>
                </a:extLst>
              </p:cNvPr>
              <p:cNvSpPr/>
              <p:nvPr/>
            </p:nvSpPr>
            <p:spPr bwMode="gray">
              <a:xfrm>
                <a:off x="1303547" y="533604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44" name="Straight Connector 143">
                <a:extLst>
                  <a:ext uri="{FF2B5EF4-FFF2-40B4-BE49-F238E27FC236}">
                    <a16:creationId xmlns:a16="http://schemas.microsoft.com/office/drawing/2014/main" id="{7D8354C2-AAD6-4EAB-B050-14A41D22DA3D}"/>
                  </a:ext>
                </a:extLst>
              </p:cNvPr>
              <p:cNvCxnSpPr>
                <a:cxnSpLocks/>
              </p:cNvCxnSpPr>
              <p:nvPr/>
            </p:nvCxnSpPr>
            <p:spPr>
              <a:xfrm>
                <a:off x="1204223" y="5377283"/>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37" name="Freeform 223">
                <a:extLst>
                  <a:ext uri="{FF2B5EF4-FFF2-40B4-BE49-F238E27FC236}">
                    <a16:creationId xmlns:a16="http://schemas.microsoft.com/office/drawing/2014/main" id="{F36022B0-33C4-49AA-9A62-DE8E548E0A3E}"/>
                  </a:ext>
                </a:extLst>
              </p:cNvPr>
              <p:cNvSpPr>
                <a:spLocks noChangeAspect="1" noEditPoints="1"/>
              </p:cNvSpPr>
              <p:nvPr/>
            </p:nvSpPr>
            <p:spPr bwMode="auto">
              <a:xfrm>
                <a:off x="633402" y="5191128"/>
                <a:ext cx="369676" cy="369676"/>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39 w 512"/>
                  <a:gd name="T11" fmla="*/ 267 h 512"/>
                  <a:gd name="T12" fmla="*/ 128 w 512"/>
                  <a:gd name="T13" fmla="*/ 256 h 512"/>
                  <a:gd name="T14" fmla="*/ 256 w 512"/>
                  <a:gd name="T15" fmla="*/ 128 h 512"/>
                  <a:gd name="T16" fmla="*/ 331 w 512"/>
                  <a:gd name="T17" fmla="*/ 153 h 512"/>
                  <a:gd name="T18" fmla="*/ 331 w 512"/>
                  <a:gd name="T19" fmla="*/ 128 h 512"/>
                  <a:gd name="T20" fmla="*/ 341 w 512"/>
                  <a:gd name="T21" fmla="*/ 118 h 512"/>
                  <a:gd name="T22" fmla="*/ 352 w 512"/>
                  <a:gd name="T23" fmla="*/ 128 h 512"/>
                  <a:gd name="T24" fmla="*/ 352 w 512"/>
                  <a:gd name="T25" fmla="*/ 182 h 512"/>
                  <a:gd name="T26" fmla="*/ 341 w 512"/>
                  <a:gd name="T27" fmla="*/ 192 h 512"/>
                  <a:gd name="T28" fmla="*/ 288 w 512"/>
                  <a:gd name="T29" fmla="*/ 192 h 512"/>
                  <a:gd name="T30" fmla="*/ 277 w 512"/>
                  <a:gd name="T31" fmla="*/ 182 h 512"/>
                  <a:gd name="T32" fmla="*/ 288 w 512"/>
                  <a:gd name="T33" fmla="*/ 171 h 512"/>
                  <a:gd name="T34" fmla="*/ 320 w 512"/>
                  <a:gd name="T35" fmla="*/ 171 h 512"/>
                  <a:gd name="T36" fmla="*/ 256 w 512"/>
                  <a:gd name="T37" fmla="*/ 150 h 512"/>
                  <a:gd name="T38" fmla="*/ 149 w 512"/>
                  <a:gd name="T39" fmla="*/ 256 h 512"/>
                  <a:gd name="T40" fmla="*/ 139 w 512"/>
                  <a:gd name="T41" fmla="*/ 267 h 512"/>
                  <a:gd name="T42" fmla="*/ 256 w 512"/>
                  <a:gd name="T43" fmla="*/ 384 h 512"/>
                  <a:gd name="T44" fmla="*/ 181 w 512"/>
                  <a:gd name="T45" fmla="*/ 360 h 512"/>
                  <a:gd name="T46" fmla="*/ 181 w 512"/>
                  <a:gd name="T47" fmla="*/ 384 h 512"/>
                  <a:gd name="T48" fmla="*/ 171 w 512"/>
                  <a:gd name="T49" fmla="*/ 395 h 512"/>
                  <a:gd name="T50" fmla="*/ 160 w 512"/>
                  <a:gd name="T51" fmla="*/ 384 h 512"/>
                  <a:gd name="T52" fmla="*/ 160 w 512"/>
                  <a:gd name="T53" fmla="*/ 331 h 512"/>
                  <a:gd name="T54" fmla="*/ 171 w 512"/>
                  <a:gd name="T55" fmla="*/ 320 h 512"/>
                  <a:gd name="T56" fmla="*/ 224 w 512"/>
                  <a:gd name="T57" fmla="*/ 320 h 512"/>
                  <a:gd name="T58" fmla="*/ 235 w 512"/>
                  <a:gd name="T59" fmla="*/ 331 h 512"/>
                  <a:gd name="T60" fmla="*/ 224 w 512"/>
                  <a:gd name="T61" fmla="*/ 342 h 512"/>
                  <a:gd name="T62" fmla="*/ 192 w 512"/>
                  <a:gd name="T63" fmla="*/ 342 h 512"/>
                  <a:gd name="T64" fmla="*/ 256 w 512"/>
                  <a:gd name="T65" fmla="*/ 363 h 512"/>
                  <a:gd name="T66" fmla="*/ 363 w 512"/>
                  <a:gd name="T67" fmla="*/ 256 h 512"/>
                  <a:gd name="T68" fmla="*/ 373 w 512"/>
                  <a:gd name="T69" fmla="*/ 246 h 512"/>
                  <a:gd name="T70" fmla="*/ 384 w 512"/>
                  <a:gd name="T71" fmla="*/ 256 h 512"/>
                  <a:gd name="T72" fmla="*/ 256 w 512"/>
                  <a:gd name="T73"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139" y="267"/>
                    </a:moveTo>
                    <a:cubicBezTo>
                      <a:pt x="133" y="267"/>
                      <a:pt x="128" y="262"/>
                      <a:pt x="128" y="256"/>
                    </a:cubicBezTo>
                    <a:cubicBezTo>
                      <a:pt x="128" y="186"/>
                      <a:pt x="185" y="128"/>
                      <a:pt x="256" y="128"/>
                    </a:cubicBezTo>
                    <a:cubicBezTo>
                      <a:pt x="283" y="128"/>
                      <a:pt x="309" y="137"/>
                      <a:pt x="331" y="153"/>
                    </a:cubicBezTo>
                    <a:cubicBezTo>
                      <a:pt x="331" y="128"/>
                      <a:pt x="331" y="128"/>
                      <a:pt x="331" y="128"/>
                    </a:cubicBezTo>
                    <a:cubicBezTo>
                      <a:pt x="331" y="122"/>
                      <a:pt x="335" y="118"/>
                      <a:pt x="341" y="118"/>
                    </a:cubicBezTo>
                    <a:cubicBezTo>
                      <a:pt x="347" y="118"/>
                      <a:pt x="352" y="122"/>
                      <a:pt x="352" y="128"/>
                    </a:cubicBezTo>
                    <a:cubicBezTo>
                      <a:pt x="352" y="182"/>
                      <a:pt x="352" y="182"/>
                      <a:pt x="352" y="182"/>
                    </a:cubicBezTo>
                    <a:cubicBezTo>
                      <a:pt x="352" y="188"/>
                      <a:pt x="347" y="192"/>
                      <a:pt x="341" y="192"/>
                    </a:cubicBezTo>
                    <a:cubicBezTo>
                      <a:pt x="288" y="192"/>
                      <a:pt x="288" y="192"/>
                      <a:pt x="288" y="192"/>
                    </a:cubicBezTo>
                    <a:cubicBezTo>
                      <a:pt x="282" y="192"/>
                      <a:pt x="277" y="188"/>
                      <a:pt x="277" y="182"/>
                    </a:cubicBezTo>
                    <a:cubicBezTo>
                      <a:pt x="277" y="176"/>
                      <a:pt x="282" y="171"/>
                      <a:pt x="288" y="171"/>
                    </a:cubicBezTo>
                    <a:cubicBezTo>
                      <a:pt x="320" y="171"/>
                      <a:pt x="320" y="171"/>
                      <a:pt x="320" y="171"/>
                    </a:cubicBezTo>
                    <a:cubicBezTo>
                      <a:pt x="302" y="157"/>
                      <a:pt x="279" y="150"/>
                      <a:pt x="256" y="150"/>
                    </a:cubicBezTo>
                    <a:cubicBezTo>
                      <a:pt x="197" y="150"/>
                      <a:pt x="149" y="198"/>
                      <a:pt x="149" y="256"/>
                    </a:cubicBezTo>
                    <a:cubicBezTo>
                      <a:pt x="149" y="262"/>
                      <a:pt x="145" y="267"/>
                      <a:pt x="139" y="267"/>
                    </a:cubicBezTo>
                    <a:close/>
                    <a:moveTo>
                      <a:pt x="256" y="384"/>
                    </a:moveTo>
                    <a:cubicBezTo>
                      <a:pt x="229" y="384"/>
                      <a:pt x="203" y="376"/>
                      <a:pt x="181" y="360"/>
                    </a:cubicBezTo>
                    <a:cubicBezTo>
                      <a:pt x="181" y="384"/>
                      <a:pt x="181" y="384"/>
                      <a:pt x="181" y="384"/>
                    </a:cubicBezTo>
                    <a:cubicBezTo>
                      <a:pt x="181" y="390"/>
                      <a:pt x="177" y="395"/>
                      <a:pt x="171" y="395"/>
                    </a:cubicBezTo>
                    <a:cubicBezTo>
                      <a:pt x="165" y="395"/>
                      <a:pt x="160" y="390"/>
                      <a:pt x="160" y="384"/>
                    </a:cubicBezTo>
                    <a:cubicBezTo>
                      <a:pt x="160" y="331"/>
                      <a:pt x="160" y="331"/>
                      <a:pt x="160" y="331"/>
                    </a:cubicBezTo>
                    <a:cubicBezTo>
                      <a:pt x="160" y="325"/>
                      <a:pt x="165" y="320"/>
                      <a:pt x="171" y="320"/>
                    </a:cubicBezTo>
                    <a:cubicBezTo>
                      <a:pt x="224" y="320"/>
                      <a:pt x="224" y="320"/>
                      <a:pt x="224" y="320"/>
                    </a:cubicBezTo>
                    <a:cubicBezTo>
                      <a:pt x="230" y="320"/>
                      <a:pt x="235" y="325"/>
                      <a:pt x="235" y="331"/>
                    </a:cubicBezTo>
                    <a:cubicBezTo>
                      <a:pt x="235" y="337"/>
                      <a:pt x="230" y="342"/>
                      <a:pt x="224" y="342"/>
                    </a:cubicBezTo>
                    <a:cubicBezTo>
                      <a:pt x="192" y="342"/>
                      <a:pt x="192" y="342"/>
                      <a:pt x="192" y="342"/>
                    </a:cubicBezTo>
                    <a:cubicBezTo>
                      <a:pt x="210" y="355"/>
                      <a:pt x="233" y="363"/>
                      <a:pt x="256" y="363"/>
                    </a:cubicBezTo>
                    <a:cubicBezTo>
                      <a:pt x="315" y="363"/>
                      <a:pt x="363" y="315"/>
                      <a:pt x="363" y="256"/>
                    </a:cubicBezTo>
                    <a:cubicBezTo>
                      <a:pt x="363" y="250"/>
                      <a:pt x="367" y="246"/>
                      <a:pt x="373" y="246"/>
                    </a:cubicBezTo>
                    <a:cubicBezTo>
                      <a:pt x="379" y="246"/>
                      <a:pt x="384" y="250"/>
                      <a:pt x="384" y="256"/>
                    </a:cubicBezTo>
                    <a:cubicBezTo>
                      <a:pt x="384" y="327"/>
                      <a:pt x="327" y="384"/>
                      <a:pt x="256" y="38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11" name="Group 10">
              <a:extLst>
                <a:ext uri="{FF2B5EF4-FFF2-40B4-BE49-F238E27FC236}">
                  <a16:creationId xmlns:a16="http://schemas.microsoft.com/office/drawing/2014/main" id="{00B07AAA-26A0-4293-A594-739197E7862D}"/>
                </a:ext>
              </a:extLst>
            </p:cNvPr>
            <p:cNvGrpSpPr/>
            <p:nvPr/>
          </p:nvGrpSpPr>
          <p:grpSpPr>
            <a:xfrm>
              <a:off x="469900" y="5712646"/>
              <a:ext cx="5902742" cy="532606"/>
              <a:chOff x="469900" y="5712646"/>
              <a:chExt cx="5902742" cy="532606"/>
            </a:xfrm>
          </p:grpSpPr>
          <p:sp>
            <p:nvSpPr>
              <p:cNvPr id="147" name="Rounded Rectangle 2">
                <a:extLst>
                  <a:ext uri="{FF2B5EF4-FFF2-40B4-BE49-F238E27FC236}">
                    <a16:creationId xmlns:a16="http://schemas.microsoft.com/office/drawing/2014/main" id="{DF6A836D-1FF5-4307-8E91-B4A10836BE77}"/>
                  </a:ext>
                </a:extLst>
              </p:cNvPr>
              <p:cNvSpPr/>
              <p:nvPr/>
            </p:nvSpPr>
            <p:spPr bwMode="gray">
              <a:xfrm>
                <a:off x="1343442" y="5712646"/>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48" name="Rounded Rectangle 3">
                <a:extLst>
                  <a:ext uri="{FF2B5EF4-FFF2-40B4-BE49-F238E27FC236}">
                    <a16:creationId xmlns:a16="http://schemas.microsoft.com/office/drawing/2014/main" id="{1EF12940-98F9-4F56-8F9B-8358D3DF0817}"/>
                  </a:ext>
                </a:extLst>
              </p:cNvPr>
              <p:cNvSpPr/>
              <p:nvPr/>
            </p:nvSpPr>
            <p:spPr bwMode="gray">
              <a:xfrm>
                <a:off x="1452592" y="5712646"/>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Arranging virtual learning sessions and lessons learnt from case studies/best practices </a:t>
                </a:r>
              </a:p>
            </p:txBody>
          </p:sp>
          <p:sp>
            <p:nvSpPr>
              <p:cNvPr id="149" name="Oval 148">
                <a:extLst>
                  <a:ext uri="{FF2B5EF4-FFF2-40B4-BE49-F238E27FC236}">
                    <a16:creationId xmlns:a16="http://schemas.microsoft.com/office/drawing/2014/main" id="{FE9FDA15-ACD2-4BE5-B872-B961DEC9828D}"/>
                  </a:ext>
                </a:extLst>
              </p:cNvPr>
              <p:cNvSpPr>
                <a:spLocks noChangeAspect="1"/>
              </p:cNvSpPr>
              <p:nvPr/>
            </p:nvSpPr>
            <p:spPr bwMode="gray">
              <a:xfrm>
                <a:off x="894939" y="5936682"/>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0" name="Rounded Rectangle 5">
                <a:extLst>
                  <a:ext uri="{FF2B5EF4-FFF2-40B4-BE49-F238E27FC236}">
                    <a16:creationId xmlns:a16="http://schemas.microsoft.com/office/drawing/2014/main" id="{7EF0CE70-1F62-40FB-8365-30E0B628DE57}"/>
                  </a:ext>
                </a:extLst>
              </p:cNvPr>
              <p:cNvSpPr/>
              <p:nvPr/>
            </p:nvSpPr>
            <p:spPr bwMode="gray">
              <a:xfrm>
                <a:off x="469900" y="5713773"/>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1" name="Rounded Rectangle 6">
                <a:extLst>
                  <a:ext uri="{FF2B5EF4-FFF2-40B4-BE49-F238E27FC236}">
                    <a16:creationId xmlns:a16="http://schemas.microsoft.com/office/drawing/2014/main" id="{37366666-CEB0-4DE3-B6E9-86D518C2B222}"/>
                  </a:ext>
                </a:extLst>
              </p:cNvPr>
              <p:cNvSpPr/>
              <p:nvPr/>
            </p:nvSpPr>
            <p:spPr bwMode="gray">
              <a:xfrm>
                <a:off x="496303" y="5713773"/>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8" name="Oval 157">
                <a:extLst>
                  <a:ext uri="{FF2B5EF4-FFF2-40B4-BE49-F238E27FC236}">
                    <a16:creationId xmlns:a16="http://schemas.microsoft.com/office/drawing/2014/main" id="{D8999878-59DE-4971-ADA5-3C005B913486}"/>
                  </a:ext>
                </a:extLst>
              </p:cNvPr>
              <p:cNvSpPr/>
              <p:nvPr/>
            </p:nvSpPr>
            <p:spPr bwMode="gray">
              <a:xfrm>
                <a:off x="1163072" y="593771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59" name="Oval 158">
                <a:extLst>
                  <a:ext uri="{FF2B5EF4-FFF2-40B4-BE49-F238E27FC236}">
                    <a16:creationId xmlns:a16="http://schemas.microsoft.com/office/drawing/2014/main" id="{609904DF-A975-4AAF-AF4D-B77D16A85C41}"/>
                  </a:ext>
                </a:extLst>
              </p:cNvPr>
              <p:cNvSpPr/>
              <p:nvPr/>
            </p:nvSpPr>
            <p:spPr bwMode="gray">
              <a:xfrm>
                <a:off x="1303547" y="593771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60" name="Straight Connector 159">
                <a:extLst>
                  <a:ext uri="{FF2B5EF4-FFF2-40B4-BE49-F238E27FC236}">
                    <a16:creationId xmlns:a16="http://schemas.microsoft.com/office/drawing/2014/main" id="{7D2CCA44-B5ED-46A6-AA42-E3B28FF5F40A}"/>
                  </a:ext>
                </a:extLst>
              </p:cNvPr>
              <p:cNvCxnSpPr>
                <a:cxnSpLocks/>
              </p:cNvCxnSpPr>
              <p:nvPr/>
            </p:nvCxnSpPr>
            <p:spPr>
              <a:xfrm>
                <a:off x="1204223" y="5978949"/>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41" name="Freeform 346">
                <a:extLst>
                  <a:ext uri="{FF2B5EF4-FFF2-40B4-BE49-F238E27FC236}">
                    <a16:creationId xmlns:a16="http://schemas.microsoft.com/office/drawing/2014/main" id="{618C7600-A691-48F9-8FD1-47251E2D173F}"/>
                  </a:ext>
                </a:extLst>
              </p:cNvPr>
              <p:cNvSpPr>
                <a:spLocks noChangeAspect="1" noEditPoints="1"/>
              </p:cNvSpPr>
              <p:nvPr/>
            </p:nvSpPr>
            <p:spPr bwMode="auto">
              <a:xfrm>
                <a:off x="636437" y="5795829"/>
                <a:ext cx="367631" cy="367631"/>
              </a:xfrm>
              <a:custGeom>
                <a:avLst/>
                <a:gdLst>
                  <a:gd name="T0" fmla="*/ 277 w 512"/>
                  <a:gd name="T1" fmla="*/ 394 h 512"/>
                  <a:gd name="T2" fmla="*/ 149 w 512"/>
                  <a:gd name="T3" fmla="*/ 202 h 512"/>
                  <a:gd name="T4" fmla="*/ 170 w 512"/>
                  <a:gd name="T5" fmla="*/ 224 h 512"/>
                  <a:gd name="T6" fmla="*/ 266 w 512"/>
                  <a:gd name="T7" fmla="*/ 234 h 512"/>
                  <a:gd name="T8" fmla="*/ 170 w 512"/>
                  <a:gd name="T9" fmla="*/ 245 h 512"/>
                  <a:gd name="T10" fmla="*/ 170 w 512"/>
                  <a:gd name="T11" fmla="*/ 224 h 512"/>
                  <a:gd name="T12" fmla="*/ 256 w 512"/>
                  <a:gd name="T13" fmla="*/ 266 h 512"/>
                  <a:gd name="T14" fmla="*/ 256 w 512"/>
                  <a:gd name="T15" fmla="*/ 288 h 512"/>
                  <a:gd name="T16" fmla="*/ 160 w 512"/>
                  <a:gd name="T17" fmla="*/ 277 h 512"/>
                  <a:gd name="T18" fmla="*/ 170 w 512"/>
                  <a:gd name="T19" fmla="*/ 309 h 512"/>
                  <a:gd name="T20" fmla="*/ 266 w 512"/>
                  <a:gd name="T21" fmla="*/ 320 h 512"/>
                  <a:gd name="T22" fmla="*/ 170 w 512"/>
                  <a:gd name="T23" fmla="*/ 330 h 512"/>
                  <a:gd name="T24" fmla="*/ 170 w 512"/>
                  <a:gd name="T25" fmla="*/ 309 h 512"/>
                  <a:gd name="T26" fmla="*/ 256 w 512"/>
                  <a:gd name="T27" fmla="*/ 352 h 512"/>
                  <a:gd name="T28" fmla="*/ 256 w 512"/>
                  <a:gd name="T29" fmla="*/ 373 h 512"/>
                  <a:gd name="T30" fmla="*/ 160 w 512"/>
                  <a:gd name="T31" fmla="*/ 362 h 512"/>
                  <a:gd name="T32" fmla="*/ 256 w 512"/>
                  <a:gd name="T33" fmla="*/ 0 h 512"/>
                  <a:gd name="T34" fmla="*/ 256 w 512"/>
                  <a:gd name="T35" fmla="*/ 512 h 512"/>
                  <a:gd name="T36" fmla="*/ 256 w 512"/>
                  <a:gd name="T37" fmla="*/ 0 h 512"/>
                  <a:gd name="T38" fmla="*/ 288 w 512"/>
                  <a:gd name="T39" fmla="*/ 416 h 512"/>
                  <a:gd name="T40" fmla="*/ 128 w 512"/>
                  <a:gd name="T41" fmla="*/ 405 h 512"/>
                  <a:gd name="T42" fmla="*/ 138 w 512"/>
                  <a:gd name="T43" fmla="*/ 181 h 512"/>
                  <a:gd name="T44" fmla="*/ 298 w 512"/>
                  <a:gd name="T45" fmla="*/ 192 h 512"/>
                  <a:gd name="T46" fmla="*/ 341 w 512"/>
                  <a:gd name="T47" fmla="*/ 362 h 512"/>
                  <a:gd name="T48" fmla="*/ 320 w 512"/>
                  <a:gd name="T49" fmla="*/ 362 h 512"/>
                  <a:gd name="T50" fmla="*/ 181 w 512"/>
                  <a:gd name="T51" fmla="*/ 160 h 512"/>
                  <a:gd name="T52" fmla="*/ 181 w 512"/>
                  <a:gd name="T53" fmla="*/ 138 h 512"/>
                  <a:gd name="T54" fmla="*/ 341 w 512"/>
                  <a:gd name="T55" fmla="*/ 149 h 512"/>
                  <a:gd name="T56" fmla="*/ 384 w 512"/>
                  <a:gd name="T57" fmla="*/ 320 h 512"/>
                  <a:gd name="T58" fmla="*/ 362 w 512"/>
                  <a:gd name="T59" fmla="*/ 320 h 512"/>
                  <a:gd name="T60" fmla="*/ 224 w 512"/>
                  <a:gd name="T61" fmla="*/ 117 h 512"/>
                  <a:gd name="T62" fmla="*/ 224 w 512"/>
                  <a:gd name="T63" fmla="*/ 96 h 512"/>
                  <a:gd name="T64" fmla="*/ 384 w 512"/>
                  <a:gd name="T65" fmla="*/ 10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149" y="394"/>
                    </a:moveTo>
                    <a:cubicBezTo>
                      <a:pt x="277" y="394"/>
                      <a:pt x="277" y="394"/>
                      <a:pt x="277" y="394"/>
                    </a:cubicBezTo>
                    <a:cubicBezTo>
                      <a:pt x="277" y="202"/>
                      <a:pt x="277" y="202"/>
                      <a:pt x="277" y="202"/>
                    </a:cubicBezTo>
                    <a:cubicBezTo>
                      <a:pt x="149" y="202"/>
                      <a:pt x="149" y="202"/>
                      <a:pt x="149" y="202"/>
                    </a:cubicBezTo>
                    <a:lnTo>
                      <a:pt x="149" y="394"/>
                    </a:lnTo>
                    <a:close/>
                    <a:moveTo>
                      <a:pt x="170" y="224"/>
                    </a:moveTo>
                    <a:cubicBezTo>
                      <a:pt x="256" y="224"/>
                      <a:pt x="256" y="224"/>
                      <a:pt x="256" y="224"/>
                    </a:cubicBezTo>
                    <a:cubicBezTo>
                      <a:pt x="262" y="224"/>
                      <a:pt x="266" y="228"/>
                      <a:pt x="266" y="234"/>
                    </a:cubicBezTo>
                    <a:cubicBezTo>
                      <a:pt x="266" y="240"/>
                      <a:pt x="262" y="245"/>
                      <a:pt x="256" y="245"/>
                    </a:cubicBezTo>
                    <a:cubicBezTo>
                      <a:pt x="170" y="245"/>
                      <a:pt x="170" y="245"/>
                      <a:pt x="170" y="245"/>
                    </a:cubicBezTo>
                    <a:cubicBezTo>
                      <a:pt x="164" y="245"/>
                      <a:pt x="160" y="240"/>
                      <a:pt x="160" y="234"/>
                    </a:cubicBezTo>
                    <a:cubicBezTo>
                      <a:pt x="160" y="228"/>
                      <a:pt x="164" y="224"/>
                      <a:pt x="170" y="224"/>
                    </a:cubicBezTo>
                    <a:close/>
                    <a:moveTo>
                      <a:pt x="170" y="266"/>
                    </a:moveTo>
                    <a:cubicBezTo>
                      <a:pt x="256" y="266"/>
                      <a:pt x="256" y="266"/>
                      <a:pt x="256" y="266"/>
                    </a:cubicBezTo>
                    <a:cubicBezTo>
                      <a:pt x="262" y="266"/>
                      <a:pt x="266" y="271"/>
                      <a:pt x="266" y="277"/>
                    </a:cubicBezTo>
                    <a:cubicBezTo>
                      <a:pt x="266" y="283"/>
                      <a:pt x="262" y="288"/>
                      <a:pt x="256" y="288"/>
                    </a:cubicBezTo>
                    <a:cubicBezTo>
                      <a:pt x="170" y="288"/>
                      <a:pt x="170" y="288"/>
                      <a:pt x="170" y="288"/>
                    </a:cubicBezTo>
                    <a:cubicBezTo>
                      <a:pt x="164" y="288"/>
                      <a:pt x="160" y="283"/>
                      <a:pt x="160" y="277"/>
                    </a:cubicBezTo>
                    <a:cubicBezTo>
                      <a:pt x="160" y="271"/>
                      <a:pt x="164" y="266"/>
                      <a:pt x="170" y="266"/>
                    </a:cubicBezTo>
                    <a:close/>
                    <a:moveTo>
                      <a:pt x="170" y="309"/>
                    </a:moveTo>
                    <a:cubicBezTo>
                      <a:pt x="256" y="309"/>
                      <a:pt x="256" y="309"/>
                      <a:pt x="256" y="309"/>
                    </a:cubicBezTo>
                    <a:cubicBezTo>
                      <a:pt x="262" y="309"/>
                      <a:pt x="266" y="314"/>
                      <a:pt x="266" y="320"/>
                    </a:cubicBezTo>
                    <a:cubicBezTo>
                      <a:pt x="266" y="326"/>
                      <a:pt x="262" y="330"/>
                      <a:pt x="256" y="330"/>
                    </a:cubicBezTo>
                    <a:cubicBezTo>
                      <a:pt x="170" y="330"/>
                      <a:pt x="170" y="330"/>
                      <a:pt x="170" y="330"/>
                    </a:cubicBezTo>
                    <a:cubicBezTo>
                      <a:pt x="164" y="330"/>
                      <a:pt x="160" y="326"/>
                      <a:pt x="160" y="320"/>
                    </a:cubicBezTo>
                    <a:cubicBezTo>
                      <a:pt x="160" y="314"/>
                      <a:pt x="164" y="309"/>
                      <a:pt x="170" y="309"/>
                    </a:cubicBezTo>
                    <a:close/>
                    <a:moveTo>
                      <a:pt x="170" y="352"/>
                    </a:moveTo>
                    <a:cubicBezTo>
                      <a:pt x="256" y="352"/>
                      <a:pt x="256" y="352"/>
                      <a:pt x="256" y="352"/>
                    </a:cubicBezTo>
                    <a:cubicBezTo>
                      <a:pt x="262" y="352"/>
                      <a:pt x="266" y="356"/>
                      <a:pt x="266" y="362"/>
                    </a:cubicBezTo>
                    <a:cubicBezTo>
                      <a:pt x="266" y="368"/>
                      <a:pt x="262" y="373"/>
                      <a:pt x="256" y="373"/>
                    </a:cubicBezTo>
                    <a:cubicBezTo>
                      <a:pt x="170" y="373"/>
                      <a:pt x="170" y="373"/>
                      <a:pt x="170" y="373"/>
                    </a:cubicBezTo>
                    <a:cubicBezTo>
                      <a:pt x="164" y="373"/>
                      <a:pt x="160" y="368"/>
                      <a:pt x="160" y="362"/>
                    </a:cubicBezTo>
                    <a:cubicBezTo>
                      <a:pt x="160" y="356"/>
                      <a:pt x="164" y="352"/>
                      <a:pt x="170" y="352"/>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98" y="405"/>
                    </a:moveTo>
                    <a:cubicBezTo>
                      <a:pt x="298" y="411"/>
                      <a:pt x="294" y="416"/>
                      <a:pt x="288" y="416"/>
                    </a:cubicBezTo>
                    <a:cubicBezTo>
                      <a:pt x="138" y="416"/>
                      <a:pt x="138" y="416"/>
                      <a:pt x="138" y="416"/>
                    </a:cubicBezTo>
                    <a:cubicBezTo>
                      <a:pt x="132" y="416"/>
                      <a:pt x="128" y="411"/>
                      <a:pt x="128" y="405"/>
                    </a:cubicBezTo>
                    <a:cubicBezTo>
                      <a:pt x="128" y="192"/>
                      <a:pt x="128" y="192"/>
                      <a:pt x="128" y="192"/>
                    </a:cubicBezTo>
                    <a:cubicBezTo>
                      <a:pt x="128" y="186"/>
                      <a:pt x="132" y="181"/>
                      <a:pt x="138" y="181"/>
                    </a:cubicBezTo>
                    <a:cubicBezTo>
                      <a:pt x="288" y="181"/>
                      <a:pt x="288" y="181"/>
                      <a:pt x="288" y="181"/>
                    </a:cubicBezTo>
                    <a:cubicBezTo>
                      <a:pt x="294" y="181"/>
                      <a:pt x="298" y="186"/>
                      <a:pt x="298" y="192"/>
                    </a:cubicBezTo>
                    <a:lnTo>
                      <a:pt x="298" y="405"/>
                    </a:lnTo>
                    <a:close/>
                    <a:moveTo>
                      <a:pt x="341" y="362"/>
                    </a:moveTo>
                    <a:cubicBezTo>
                      <a:pt x="341" y="368"/>
                      <a:pt x="336" y="373"/>
                      <a:pt x="330" y="373"/>
                    </a:cubicBezTo>
                    <a:cubicBezTo>
                      <a:pt x="324" y="373"/>
                      <a:pt x="320" y="368"/>
                      <a:pt x="320" y="362"/>
                    </a:cubicBezTo>
                    <a:cubicBezTo>
                      <a:pt x="320" y="160"/>
                      <a:pt x="320" y="160"/>
                      <a:pt x="320" y="160"/>
                    </a:cubicBezTo>
                    <a:cubicBezTo>
                      <a:pt x="181" y="160"/>
                      <a:pt x="181" y="160"/>
                      <a:pt x="181" y="160"/>
                    </a:cubicBezTo>
                    <a:cubicBezTo>
                      <a:pt x="175" y="160"/>
                      <a:pt x="170" y="155"/>
                      <a:pt x="170" y="149"/>
                    </a:cubicBezTo>
                    <a:cubicBezTo>
                      <a:pt x="170" y="143"/>
                      <a:pt x="175" y="138"/>
                      <a:pt x="181" y="138"/>
                    </a:cubicBezTo>
                    <a:cubicBezTo>
                      <a:pt x="330" y="138"/>
                      <a:pt x="330" y="138"/>
                      <a:pt x="330" y="138"/>
                    </a:cubicBezTo>
                    <a:cubicBezTo>
                      <a:pt x="336" y="138"/>
                      <a:pt x="341" y="143"/>
                      <a:pt x="341" y="149"/>
                    </a:cubicBezTo>
                    <a:lnTo>
                      <a:pt x="341" y="362"/>
                    </a:lnTo>
                    <a:close/>
                    <a:moveTo>
                      <a:pt x="384" y="320"/>
                    </a:moveTo>
                    <a:cubicBezTo>
                      <a:pt x="384" y="326"/>
                      <a:pt x="379" y="330"/>
                      <a:pt x="373" y="330"/>
                    </a:cubicBezTo>
                    <a:cubicBezTo>
                      <a:pt x="367" y="330"/>
                      <a:pt x="362" y="326"/>
                      <a:pt x="362" y="320"/>
                    </a:cubicBezTo>
                    <a:cubicBezTo>
                      <a:pt x="362" y="117"/>
                      <a:pt x="362" y="117"/>
                      <a:pt x="362" y="117"/>
                    </a:cubicBezTo>
                    <a:cubicBezTo>
                      <a:pt x="224" y="117"/>
                      <a:pt x="224" y="117"/>
                      <a:pt x="224" y="117"/>
                    </a:cubicBezTo>
                    <a:cubicBezTo>
                      <a:pt x="218" y="117"/>
                      <a:pt x="213" y="112"/>
                      <a:pt x="213" y="106"/>
                    </a:cubicBezTo>
                    <a:cubicBezTo>
                      <a:pt x="213" y="100"/>
                      <a:pt x="218" y="96"/>
                      <a:pt x="224" y="96"/>
                    </a:cubicBezTo>
                    <a:cubicBezTo>
                      <a:pt x="373" y="96"/>
                      <a:pt x="373" y="96"/>
                      <a:pt x="373" y="96"/>
                    </a:cubicBezTo>
                    <a:cubicBezTo>
                      <a:pt x="379" y="96"/>
                      <a:pt x="384" y="100"/>
                      <a:pt x="384" y="106"/>
                    </a:cubicBezTo>
                    <a:lnTo>
                      <a:pt x="384" y="32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sp>
        <p:nvSpPr>
          <p:cNvPr id="143" name="Freeform 183">
            <a:extLst>
              <a:ext uri="{FF2B5EF4-FFF2-40B4-BE49-F238E27FC236}">
                <a16:creationId xmlns:a16="http://schemas.microsoft.com/office/drawing/2014/main" id="{0C25BE3A-5020-4713-B96D-BF05537D2D46}"/>
              </a:ext>
            </a:extLst>
          </p:cNvPr>
          <p:cNvSpPr>
            <a:spLocks noChangeAspect="1" noEditPoints="1"/>
          </p:cNvSpPr>
          <p:nvPr/>
        </p:nvSpPr>
        <p:spPr bwMode="auto">
          <a:xfrm>
            <a:off x="11118215" y="227660"/>
            <a:ext cx="594360" cy="59436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2 w 512"/>
              <a:gd name="T11" fmla="*/ 374 h 512"/>
              <a:gd name="T12" fmla="*/ 347 w 512"/>
              <a:gd name="T13" fmla="*/ 382 h 512"/>
              <a:gd name="T14" fmla="*/ 341 w 512"/>
              <a:gd name="T15" fmla="*/ 384 h 512"/>
              <a:gd name="T16" fmla="*/ 337 w 512"/>
              <a:gd name="T17" fmla="*/ 383 h 512"/>
              <a:gd name="T18" fmla="*/ 252 w 512"/>
              <a:gd name="T19" fmla="*/ 348 h 512"/>
              <a:gd name="T20" fmla="*/ 222 w 512"/>
              <a:gd name="T21" fmla="*/ 390 h 512"/>
              <a:gd name="T22" fmla="*/ 222 w 512"/>
              <a:gd name="T23" fmla="*/ 390 h 512"/>
              <a:gd name="T24" fmla="*/ 213 w 512"/>
              <a:gd name="T25" fmla="*/ 394 h 512"/>
              <a:gd name="T26" fmla="*/ 212 w 512"/>
              <a:gd name="T27" fmla="*/ 394 h 512"/>
              <a:gd name="T28" fmla="*/ 203 w 512"/>
              <a:gd name="T29" fmla="*/ 387 h 512"/>
              <a:gd name="T30" fmla="*/ 184 w 512"/>
              <a:gd name="T31" fmla="*/ 320 h 512"/>
              <a:gd name="T32" fmla="*/ 102 w 512"/>
              <a:gd name="T33" fmla="*/ 287 h 512"/>
              <a:gd name="T34" fmla="*/ 96 w 512"/>
              <a:gd name="T35" fmla="*/ 278 h 512"/>
              <a:gd name="T36" fmla="*/ 101 w 512"/>
              <a:gd name="T37" fmla="*/ 268 h 512"/>
              <a:gd name="T38" fmla="*/ 357 w 512"/>
              <a:gd name="T39" fmla="*/ 118 h 512"/>
              <a:gd name="T40" fmla="*/ 368 w 512"/>
              <a:gd name="T41" fmla="*/ 119 h 512"/>
              <a:gd name="T42" fmla="*/ 373 w 512"/>
              <a:gd name="T43" fmla="*/ 129 h 512"/>
              <a:gd name="T44" fmla="*/ 352 w 512"/>
              <a:gd name="T45" fmla="*/ 374 h 512"/>
              <a:gd name="T46" fmla="*/ 304 w 512"/>
              <a:gd name="T47" fmla="*/ 174 h 512"/>
              <a:gd name="T48" fmla="*/ 187 w 512"/>
              <a:gd name="T49" fmla="*/ 298 h 512"/>
              <a:gd name="T50" fmla="*/ 130 w 512"/>
              <a:gd name="T51" fmla="*/ 275 h 512"/>
              <a:gd name="T52" fmla="*/ 304 w 512"/>
              <a:gd name="T53" fmla="*/ 174 h 512"/>
              <a:gd name="T54" fmla="*/ 294 w 512"/>
              <a:gd name="T55" fmla="*/ 216 h 512"/>
              <a:gd name="T56" fmla="*/ 225 w 512"/>
              <a:gd name="T57" fmla="*/ 325 h 512"/>
              <a:gd name="T58" fmla="*/ 224 w 512"/>
              <a:gd name="T59" fmla="*/ 326 h 512"/>
              <a:gd name="T60" fmla="*/ 215 w 512"/>
              <a:gd name="T61" fmla="*/ 351 h 512"/>
              <a:gd name="T62" fmla="*/ 204 w 512"/>
              <a:gd name="T63" fmla="*/ 312 h 512"/>
              <a:gd name="T64" fmla="*/ 294 w 512"/>
              <a:gd name="T65" fmla="*/ 216 h 512"/>
              <a:gd name="T66" fmla="*/ 251 w 512"/>
              <a:gd name="T67" fmla="*/ 325 h 512"/>
              <a:gd name="T68" fmla="*/ 348 w 512"/>
              <a:gd name="T69" fmla="*/ 170 h 512"/>
              <a:gd name="T70" fmla="*/ 332 w 512"/>
              <a:gd name="T71" fmla="*/ 358 h 512"/>
              <a:gd name="T72" fmla="*/ 251 w 512"/>
              <a:gd name="T73" fmla="*/ 32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52" y="374"/>
                </a:moveTo>
                <a:cubicBezTo>
                  <a:pt x="351" y="377"/>
                  <a:pt x="349" y="380"/>
                  <a:pt x="347" y="382"/>
                </a:cubicBezTo>
                <a:cubicBezTo>
                  <a:pt x="345" y="383"/>
                  <a:pt x="343" y="384"/>
                  <a:pt x="341" y="384"/>
                </a:cubicBezTo>
                <a:cubicBezTo>
                  <a:pt x="340" y="384"/>
                  <a:pt x="338" y="383"/>
                  <a:pt x="337" y="383"/>
                </a:cubicBezTo>
                <a:cubicBezTo>
                  <a:pt x="252" y="348"/>
                  <a:pt x="252" y="348"/>
                  <a:pt x="252" y="348"/>
                </a:cubicBezTo>
                <a:cubicBezTo>
                  <a:pt x="222" y="390"/>
                  <a:pt x="222" y="390"/>
                  <a:pt x="222" y="390"/>
                </a:cubicBezTo>
                <a:cubicBezTo>
                  <a:pt x="222" y="390"/>
                  <a:pt x="222" y="390"/>
                  <a:pt x="222" y="390"/>
                </a:cubicBezTo>
                <a:cubicBezTo>
                  <a:pt x="220" y="393"/>
                  <a:pt x="216" y="394"/>
                  <a:pt x="213" y="394"/>
                </a:cubicBezTo>
                <a:cubicBezTo>
                  <a:pt x="213" y="394"/>
                  <a:pt x="213" y="394"/>
                  <a:pt x="212" y="394"/>
                </a:cubicBezTo>
                <a:cubicBezTo>
                  <a:pt x="208" y="394"/>
                  <a:pt x="204" y="391"/>
                  <a:pt x="203" y="387"/>
                </a:cubicBezTo>
                <a:cubicBezTo>
                  <a:pt x="184" y="320"/>
                  <a:pt x="184" y="320"/>
                  <a:pt x="184" y="320"/>
                </a:cubicBezTo>
                <a:cubicBezTo>
                  <a:pt x="102" y="287"/>
                  <a:pt x="102" y="287"/>
                  <a:pt x="102" y="287"/>
                </a:cubicBezTo>
                <a:cubicBezTo>
                  <a:pt x="99" y="285"/>
                  <a:pt x="96" y="282"/>
                  <a:pt x="96" y="278"/>
                </a:cubicBezTo>
                <a:cubicBezTo>
                  <a:pt x="95" y="274"/>
                  <a:pt x="97" y="270"/>
                  <a:pt x="101" y="268"/>
                </a:cubicBezTo>
                <a:cubicBezTo>
                  <a:pt x="357" y="118"/>
                  <a:pt x="357" y="118"/>
                  <a:pt x="357" y="118"/>
                </a:cubicBezTo>
                <a:cubicBezTo>
                  <a:pt x="360" y="116"/>
                  <a:pt x="365" y="117"/>
                  <a:pt x="368" y="119"/>
                </a:cubicBezTo>
                <a:cubicBezTo>
                  <a:pt x="371" y="121"/>
                  <a:pt x="373" y="125"/>
                  <a:pt x="373" y="129"/>
                </a:cubicBezTo>
                <a:lnTo>
                  <a:pt x="352" y="374"/>
                </a:lnTo>
                <a:close/>
                <a:moveTo>
                  <a:pt x="304" y="174"/>
                </a:moveTo>
                <a:cubicBezTo>
                  <a:pt x="187" y="298"/>
                  <a:pt x="187" y="298"/>
                  <a:pt x="187" y="298"/>
                </a:cubicBezTo>
                <a:cubicBezTo>
                  <a:pt x="130" y="275"/>
                  <a:pt x="130" y="275"/>
                  <a:pt x="130" y="275"/>
                </a:cubicBezTo>
                <a:lnTo>
                  <a:pt x="304" y="174"/>
                </a:lnTo>
                <a:close/>
                <a:moveTo>
                  <a:pt x="294" y="216"/>
                </a:moveTo>
                <a:cubicBezTo>
                  <a:pt x="225" y="325"/>
                  <a:pt x="225" y="325"/>
                  <a:pt x="225" y="325"/>
                </a:cubicBezTo>
                <a:cubicBezTo>
                  <a:pt x="225" y="325"/>
                  <a:pt x="225" y="326"/>
                  <a:pt x="224" y="326"/>
                </a:cubicBezTo>
                <a:cubicBezTo>
                  <a:pt x="215" y="351"/>
                  <a:pt x="215" y="351"/>
                  <a:pt x="215" y="351"/>
                </a:cubicBezTo>
                <a:cubicBezTo>
                  <a:pt x="204" y="312"/>
                  <a:pt x="204" y="312"/>
                  <a:pt x="204" y="312"/>
                </a:cubicBezTo>
                <a:lnTo>
                  <a:pt x="294" y="216"/>
                </a:lnTo>
                <a:close/>
                <a:moveTo>
                  <a:pt x="251" y="325"/>
                </a:moveTo>
                <a:cubicBezTo>
                  <a:pt x="348" y="170"/>
                  <a:pt x="348" y="170"/>
                  <a:pt x="348" y="170"/>
                </a:cubicBezTo>
                <a:cubicBezTo>
                  <a:pt x="332" y="358"/>
                  <a:pt x="332" y="358"/>
                  <a:pt x="332" y="358"/>
                </a:cubicBezTo>
                <a:lnTo>
                  <a:pt x="251" y="32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2" name="Rectangle 121">
            <a:extLst>
              <a:ext uri="{FF2B5EF4-FFF2-40B4-BE49-F238E27FC236}">
                <a16:creationId xmlns:a16="http://schemas.microsoft.com/office/drawing/2014/main" id="{C84007EA-6F1A-4F94-AF43-43465BFA3803}"/>
              </a:ext>
            </a:extLst>
          </p:cNvPr>
          <p:cNvSpPr/>
          <p:nvPr/>
        </p:nvSpPr>
        <p:spPr bwMode="gray">
          <a:xfrm>
            <a:off x="6570951" y="1678359"/>
            <a:ext cx="5621049"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Deliverables</a:t>
            </a:r>
          </a:p>
        </p:txBody>
      </p:sp>
      <p:sp>
        <p:nvSpPr>
          <p:cNvPr id="126" name="Rectangle 125">
            <a:extLst>
              <a:ext uri="{FF2B5EF4-FFF2-40B4-BE49-F238E27FC236}">
                <a16:creationId xmlns:a16="http://schemas.microsoft.com/office/drawing/2014/main" id="{23D385E9-34FC-435F-BB27-BF85F0F67E61}"/>
              </a:ext>
            </a:extLst>
          </p:cNvPr>
          <p:cNvSpPr/>
          <p:nvPr/>
        </p:nvSpPr>
        <p:spPr bwMode="gray">
          <a:xfrm>
            <a:off x="6570951" y="4648577"/>
            <a:ext cx="5621049" cy="365760"/>
          </a:xfrm>
          <a:prstGeom prst="rect">
            <a:avLst/>
          </a:prstGeom>
          <a:solidFill>
            <a:schemeClr val="accent6">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Critical success factors</a:t>
            </a:r>
          </a:p>
        </p:txBody>
      </p:sp>
      <p:sp>
        <p:nvSpPr>
          <p:cNvPr id="131" name="Rectangle 130">
            <a:extLst>
              <a:ext uri="{FF2B5EF4-FFF2-40B4-BE49-F238E27FC236}">
                <a16:creationId xmlns:a16="http://schemas.microsoft.com/office/drawing/2014/main" id="{8516E22B-2338-4BA9-BCEE-40AACE60DF85}"/>
              </a:ext>
            </a:extLst>
          </p:cNvPr>
          <p:cNvSpPr/>
          <p:nvPr/>
        </p:nvSpPr>
        <p:spPr bwMode="gray">
          <a:xfrm>
            <a:off x="0" y="1678359"/>
            <a:ext cx="6370320"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Key tasks and considerations</a:t>
            </a:r>
          </a:p>
        </p:txBody>
      </p:sp>
      <p:grpSp>
        <p:nvGrpSpPr>
          <p:cNvPr id="12" name="Group 11">
            <a:extLst>
              <a:ext uri="{FF2B5EF4-FFF2-40B4-BE49-F238E27FC236}">
                <a16:creationId xmlns:a16="http://schemas.microsoft.com/office/drawing/2014/main" id="{7D2E0CB0-276D-45DB-BEB2-4163E533586F}"/>
              </a:ext>
            </a:extLst>
          </p:cNvPr>
          <p:cNvGrpSpPr/>
          <p:nvPr/>
        </p:nvGrpSpPr>
        <p:grpSpPr>
          <a:xfrm>
            <a:off x="6706272" y="2123465"/>
            <a:ext cx="5044606" cy="2275770"/>
            <a:chOff x="6706272" y="2123465"/>
            <a:chExt cx="5044606" cy="2275770"/>
          </a:xfrm>
        </p:grpSpPr>
        <p:sp>
          <p:nvSpPr>
            <p:cNvPr id="138" name="Rectangle 137">
              <a:extLst>
                <a:ext uri="{FF2B5EF4-FFF2-40B4-BE49-F238E27FC236}">
                  <a16:creationId xmlns:a16="http://schemas.microsoft.com/office/drawing/2014/main" id="{E8082323-7F27-40BB-B9D7-8AE8FEACA473}"/>
                </a:ext>
              </a:extLst>
            </p:cNvPr>
            <p:cNvSpPr/>
            <p:nvPr/>
          </p:nvSpPr>
          <p:spPr>
            <a:xfrm>
              <a:off x="7624524" y="2123465"/>
              <a:ext cx="137160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tx2"/>
                  </a:solidFill>
                </a:rPr>
                <a:t>Training Materials, Conduct</a:t>
              </a:r>
              <a:br>
                <a:rPr lang="en-US" sz="1000" b="1" dirty="0">
                  <a:solidFill>
                    <a:schemeClr val="tx2"/>
                  </a:solidFill>
                </a:rPr>
              </a:br>
              <a:r>
                <a:rPr lang="en-US" sz="1000" b="1" dirty="0">
                  <a:solidFill>
                    <a:schemeClr val="tx2"/>
                  </a:solidFill>
                </a:rPr>
                <a:t>of Trainings, </a:t>
              </a:r>
            </a:p>
          </p:txBody>
        </p:sp>
        <p:sp>
          <p:nvSpPr>
            <p:cNvPr id="142" name="Rectangle 141">
              <a:extLst>
                <a:ext uri="{FF2B5EF4-FFF2-40B4-BE49-F238E27FC236}">
                  <a16:creationId xmlns:a16="http://schemas.microsoft.com/office/drawing/2014/main" id="{309D68CE-CACF-4E99-8668-6EB94A41F9BC}"/>
                </a:ext>
              </a:extLst>
            </p:cNvPr>
            <p:cNvSpPr/>
            <p:nvPr/>
          </p:nvSpPr>
          <p:spPr>
            <a:xfrm>
              <a:off x="9461028" y="2277353"/>
              <a:ext cx="1371600" cy="307777"/>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accent5"/>
                  </a:solidFill>
                </a:rPr>
                <a:t>Institutional Collaborations, Training</a:t>
              </a:r>
            </a:p>
          </p:txBody>
        </p:sp>
        <p:sp>
          <p:nvSpPr>
            <p:cNvPr id="145" name="Rectangle 144">
              <a:extLst>
                <a:ext uri="{FF2B5EF4-FFF2-40B4-BE49-F238E27FC236}">
                  <a16:creationId xmlns:a16="http://schemas.microsoft.com/office/drawing/2014/main" id="{B09270AD-AACD-492E-9DBF-915780FDB23D}"/>
                </a:ext>
              </a:extLst>
            </p:cNvPr>
            <p:cNvSpPr/>
            <p:nvPr/>
          </p:nvSpPr>
          <p:spPr>
            <a:xfrm>
              <a:off x="6706272" y="3937570"/>
              <a:ext cx="1531578"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accent3">
                      <a:lumMod val="75000"/>
                    </a:schemeClr>
                  </a:solidFill>
                </a:rPr>
                <a:t>Final OOMF v.2 Toolkit - Policy, Manuals, Process, Methodology, Framework</a:t>
              </a:r>
            </a:p>
          </p:txBody>
        </p:sp>
        <p:sp>
          <p:nvSpPr>
            <p:cNvPr id="146" name="Rectangle 145">
              <a:extLst>
                <a:ext uri="{FF2B5EF4-FFF2-40B4-BE49-F238E27FC236}">
                  <a16:creationId xmlns:a16="http://schemas.microsoft.com/office/drawing/2014/main" id="{16E0B229-6225-48FA-8B67-1712D89C0C84}"/>
                </a:ext>
              </a:extLst>
            </p:cNvPr>
            <p:cNvSpPr/>
            <p:nvPr/>
          </p:nvSpPr>
          <p:spPr>
            <a:xfrm>
              <a:off x="8542776" y="3937570"/>
              <a:ext cx="137160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rgbClr val="81B524"/>
                  </a:solidFill>
                </a:rPr>
                <a:t>Development &amp; Deployment of OOMF Dashboard 2.0</a:t>
              </a:r>
            </a:p>
          </p:txBody>
        </p:sp>
        <p:sp>
          <p:nvSpPr>
            <p:cNvPr id="152" name="Rectangle 151">
              <a:extLst>
                <a:ext uri="{FF2B5EF4-FFF2-40B4-BE49-F238E27FC236}">
                  <a16:creationId xmlns:a16="http://schemas.microsoft.com/office/drawing/2014/main" id="{350171F1-981F-42AF-9E94-4156CB0000BA}"/>
                </a:ext>
              </a:extLst>
            </p:cNvPr>
            <p:cNvSpPr/>
            <p:nvPr/>
          </p:nvSpPr>
          <p:spPr>
            <a:xfrm>
              <a:off x="10379278" y="3937570"/>
              <a:ext cx="137160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accent4"/>
                  </a:solidFill>
                </a:rPr>
                <a:t>Sustained Advocacy Roadmap &amp; Advocacy Materials</a:t>
              </a:r>
            </a:p>
          </p:txBody>
        </p:sp>
        <p:grpSp>
          <p:nvGrpSpPr>
            <p:cNvPr id="153" name="Group 152">
              <a:extLst>
                <a:ext uri="{FF2B5EF4-FFF2-40B4-BE49-F238E27FC236}">
                  <a16:creationId xmlns:a16="http://schemas.microsoft.com/office/drawing/2014/main" id="{B044D00D-2F80-4690-A28E-EE727528CF63}"/>
                </a:ext>
              </a:extLst>
            </p:cNvPr>
            <p:cNvGrpSpPr/>
            <p:nvPr/>
          </p:nvGrpSpPr>
          <p:grpSpPr>
            <a:xfrm flipH="1">
              <a:off x="8456081" y="3063676"/>
              <a:ext cx="706730" cy="420599"/>
              <a:chOff x="2588631" y="2250677"/>
              <a:chExt cx="1146833" cy="682521"/>
            </a:xfrm>
          </p:grpSpPr>
          <p:sp>
            <p:nvSpPr>
              <p:cNvPr id="202" name="Freeform 57">
                <a:extLst>
                  <a:ext uri="{FF2B5EF4-FFF2-40B4-BE49-F238E27FC236}">
                    <a16:creationId xmlns:a16="http://schemas.microsoft.com/office/drawing/2014/main" id="{DB882ECE-D876-4C86-90AB-AB57D4BE5710}"/>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tx2">
                  <a:lumMod val="75000"/>
                </a:schemeClr>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203" name="Freeform 58">
                <a:extLst>
                  <a:ext uri="{FF2B5EF4-FFF2-40B4-BE49-F238E27FC236}">
                    <a16:creationId xmlns:a16="http://schemas.microsoft.com/office/drawing/2014/main" id="{F07CF705-4B7B-4D2B-A169-D57392726CBE}"/>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tx2"/>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grpSp>
          <p:nvGrpSpPr>
            <p:cNvPr id="154" name="Group 153">
              <a:extLst>
                <a:ext uri="{FF2B5EF4-FFF2-40B4-BE49-F238E27FC236}">
                  <a16:creationId xmlns:a16="http://schemas.microsoft.com/office/drawing/2014/main" id="{0848A2CB-FCB3-44F7-8952-A0887AF20D1D}"/>
                </a:ext>
              </a:extLst>
            </p:cNvPr>
            <p:cNvGrpSpPr/>
            <p:nvPr/>
          </p:nvGrpSpPr>
          <p:grpSpPr>
            <a:xfrm>
              <a:off x="7513524" y="3063676"/>
              <a:ext cx="706730" cy="420599"/>
              <a:chOff x="2588631" y="2250677"/>
              <a:chExt cx="1146833" cy="682521"/>
            </a:xfrm>
          </p:grpSpPr>
          <p:sp>
            <p:nvSpPr>
              <p:cNvPr id="200" name="Freeform 55">
                <a:extLst>
                  <a:ext uri="{FF2B5EF4-FFF2-40B4-BE49-F238E27FC236}">
                    <a16:creationId xmlns:a16="http://schemas.microsoft.com/office/drawing/2014/main" id="{136629A7-FB26-4C1B-B873-BBE87D1A2AF2}"/>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3">
                  <a:lumMod val="50000"/>
                </a:schemeClr>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201" name="Freeform 56">
                <a:extLst>
                  <a:ext uri="{FF2B5EF4-FFF2-40B4-BE49-F238E27FC236}">
                    <a16:creationId xmlns:a16="http://schemas.microsoft.com/office/drawing/2014/main" id="{D2E16BA2-C9E4-429A-9EBA-6E0B0C2EB213}"/>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3">
                  <a:lumMod val="75000"/>
                </a:schemeClr>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sp>
          <p:nvSpPr>
            <p:cNvPr id="155" name="Oval 154">
              <a:extLst>
                <a:ext uri="{FF2B5EF4-FFF2-40B4-BE49-F238E27FC236}">
                  <a16:creationId xmlns:a16="http://schemas.microsoft.com/office/drawing/2014/main" id="{672AD0A3-23ED-44E0-B177-FEEFA758321E}"/>
                </a:ext>
              </a:extLst>
            </p:cNvPr>
            <p:cNvSpPr/>
            <p:nvPr/>
          </p:nvSpPr>
          <p:spPr bwMode="gray">
            <a:xfrm>
              <a:off x="7080909" y="3206981"/>
              <a:ext cx="644495" cy="644494"/>
            </a:xfrm>
            <a:prstGeom prst="ellipse">
              <a:avLst/>
            </a:prstGeom>
            <a:solidFill>
              <a:schemeClr val="accent3">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6" name="Oval 155">
              <a:extLst>
                <a:ext uri="{FF2B5EF4-FFF2-40B4-BE49-F238E27FC236}">
                  <a16:creationId xmlns:a16="http://schemas.microsoft.com/office/drawing/2014/main" id="{A9E51D2B-C72F-4929-A58B-232014D9A9D4}"/>
                </a:ext>
              </a:extLst>
            </p:cNvPr>
            <p:cNvSpPr/>
            <p:nvPr/>
          </p:nvSpPr>
          <p:spPr bwMode="gray">
            <a:xfrm>
              <a:off x="7143459" y="3269532"/>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7" name="Oval 156">
              <a:extLst>
                <a:ext uri="{FF2B5EF4-FFF2-40B4-BE49-F238E27FC236}">
                  <a16:creationId xmlns:a16="http://schemas.microsoft.com/office/drawing/2014/main" id="{771033F1-111D-4BD3-B3F5-EE8E937427EE}"/>
                </a:ext>
              </a:extLst>
            </p:cNvPr>
            <p:cNvSpPr/>
            <p:nvPr/>
          </p:nvSpPr>
          <p:spPr bwMode="gray">
            <a:xfrm>
              <a:off x="8015321" y="2699123"/>
              <a:ext cx="644495" cy="644494"/>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1" name="Oval 160">
              <a:extLst>
                <a:ext uri="{FF2B5EF4-FFF2-40B4-BE49-F238E27FC236}">
                  <a16:creationId xmlns:a16="http://schemas.microsoft.com/office/drawing/2014/main" id="{0A1AE54D-54A1-4F96-8721-F3FBFA5EB360}"/>
                </a:ext>
              </a:extLst>
            </p:cNvPr>
            <p:cNvSpPr/>
            <p:nvPr/>
          </p:nvSpPr>
          <p:spPr bwMode="gray">
            <a:xfrm>
              <a:off x="8077872" y="2761674"/>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62" name="Group 161">
              <a:extLst>
                <a:ext uri="{FF2B5EF4-FFF2-40B4-BE49-F238E27FC236}">
                  <a16:creationId xmlns:a16="http://schemas.microsoft.com/office/drawing/2014/main" id="{2E35DEC9-4B00-4001-936F-A700C856CE36}"/>
                </a:ext>
              </a:extLst>
            </p:cNvPr>
            <p:cNvGrpSpPr/>
            <p:nvPr/>
          </p:nvGrpSpPr>
          <p:grpSpPr>
            <a:xfrm flipH="1">
              <a:off x="10324907" y="3063676"/>
              <a:ext cx="706730" cy="420599"/>
              <a:chOff x="2588631" y="2250677"/>
              <a:chExt cx="1146833" cy="682521"/>
            </a:xfrm>
          </p:grpSpPr>
          <p:sp>
            <p:nvSpPr>
              <p:cNvPr id="198" name="Freeform 53">
                <a:extLst>
                  <a:ext uri="{FF2B5EF4-FFF2-40B4-BE49-F238E27FC236}">
                    <a16:creationId xmlns:a16="http://schemas.microsoft.com/office/drawing/2014/main" id="{33FA38B0-98C7-4AED-80CE-EAB64FD143D3}"/>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rgbClr val="008B9A"/>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199" name="Freeform 54">
                <a:extLst>
                  <a:ext uri="{FF2B5EF4-FFF2-40B4-BE49-F238E27FC236}">
                    <a16:creationId xmlns:a16="http://schemas.microsoft.com/office/drawing/2014/main" id="{F8BB7E23-5E08-428D-8C2E-0977F960AAA0}"/>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5"/>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grpSp>
          <p:nvGrpSpPr>
            <p:cNvPr id="163" name="Group 162">
              <a:extLst>
                <a:ext uri="{FF2B5EF4-FFF2-40B4-BE49-F238E27FC236}">
                  <a16:creationId xmlns:a16="http://schemas.microsoft.com/office/drawing/2014/main" id="{F8F59576-2501-4E9F-B1E6-8266C5B15BB6}"/>
                </a:ext>
              </a:extLst>
            </p:cNvPr>
            <p:cNvGrpSpPr/>
            <p:nvPr/>
          </p:nvGrpSpPr>
          <p:grpSpPr>
            <a:xfrm>
              <a:off x="9382349" y="3063676"/>
              <a:ext cx="706730" cy="420599"/>
              <a:chOff x="2588631" y="2250677"/>
              <a:chExt cx="1146833" cy="682521"/>
            </a:xfrm>
          </p:grpSpPr>
          <p:sp>
            <p:nvSpPr>
              <p:cNvPr id="196" name="Freeform 51">
                <a:extLst>
                  <a:ext uri="{FF2B5EF4-FFF2-40B4-BE49-F238E27FC236}">
                    <a16:creationId xmlns:a16="http://schemas.microsoft.com/office/drawing/2014/main" id="{7E7C466F-0169-44FB-B967-24202BD02FFF}"/>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rgbClr val="7DAF23"/>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197" name="Freeform 52">
                <a:extLst>
                  <a:ext uri="{FF2B5EF4-FFF2-40B4-BE49-F238E27FC236}">
                    <a16:creationId xmlns:a16="http://schemas.microsoft.com/office/drawing/2014/main" id="{6882D529-445D-4E53-B49E-28C7384C8585}"/>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1"/>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sp>
          <p:nvSpPr>
            <p:cNvPr id="164" name="Oval 163">
              <a:extLst>
                <a:ext uri="{FF2B5EF4-FFF2-40B4-BE49-F238E27FC236}">
                  <a16:creationId xmlns:a16="http://schemas.microsoft.com/office/drawing/2014/main" id="{865FB98D-9D2A-4383-A57D-457B312775A1}"/>
                </a:ext>
              </a:extLst>
            </p:cNvPr>
            <p:cNvSpPr/>
            <p:nvPr/>
          </p:nvSpPr>
          <p:spPr bwMode="gray">
            <a:xfrm>
              <a:off x="8949735" y="3206981"/>
              <a:ext cx="644495" cy="644494"/>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5" name="Oval 164">
              <a:extLst>
                <a:ext uri="{FF2B5EF4-FFF2-40B4-BE49-F238E27FC236}">
                  <a16:creationId xmlns:a16="http://schemas.microsoft.com/office/drawing/2014/main" id="{482AD3E7-CF1A-4B9D-84FE-FD30A3AA68D7}"/>
                </a:ext>
              </a:extLst>
            </p:cNvPr>
            <p:cNvSpPr/>
            <p:nvPr/>
          </p:nvSpPr>
          <p:spPr bwMode="gray">
            <a:xfrm>
              <a:off x="9012285" y="3269532"/>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6" name="Oval 165">
              <a:extLst>
                <a:ext uri="{FF2B5EF4-FFF2-40B4-BE49-F238E27FC236}">
                  <a16:creationId xmlns:a16="http://schemas.microsoft.com/office/drawing/2014/main" id="{55185FE5-139E-4A52-8A6B-C698B2A13C16}"/>
                </a:ext>
              </a:extLst>
            </p:cNvPr>
            <p:cNvSpPr/>
            <p:nvPr/>
          </p:nvSpPr>
          <p:spPr bwMode="gray">
            <a:xfrm>
              <a:off x="9884147" y="2699123"/>
              <a:ext cx="644495" cy="644494"/>
            </a:xfrm>
            <a:prstGeom prst="ellipse">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7" name="Oval 166">
              <a:extLst>
                <a:ext uri="{FF2B5EF4-FFF2-40B4-BE49-F238E27FC236}">
                  <a16:creationId xmlns:a16="http://schemas.microsoft.com/office/drawing/2014/main" id="{073CD20D-F128-4685-A488-B8D2FB57F163}"/>
                </a:ext>
              </a:extLst>
            </p:cNvPr>
            <p:cNvSpPr/>
            <p:nvPr/>
          </p:nvSpPr>
          <p:spPr bwMode="gray">
            <a:xfrm>
              <a:off x="9946698" y="2761674"/>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8" name="Oval 167">
              <a:extLst>
                <a:ext uri="{FF2B5EF4-FFF2-40B4-BE49-F238E27FC236}">
                  <a16:creationId xmlns:a16="http://schemas.microsoft.com/office/drawing/2014/main" id="{58C624D0-50D4-4E86-AF82-C1049141A267}"/>
                </a:ext>
              </a:extLst>
            </p:cNvPr>
            <p:cNvSpPr/>
            <p:nvPr/>
          </p:nvSpPr>
          <p:spPr bwMode="gray">
            <a:xfrm>
              <a:off x="10817404" y="3206981"/>
              <a:ext cx="644495" cy="644494"/>
            </a:xfrm>
            <a:prstGeom prst="ellipse">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1" name="Oval 170">
              <a:extLst>
                <a:ext uri="{FF2B5EF4-FFF2-40B4-BE49-F238E27FC236}">
                  <a16:creationId xmlns:a16="http://schemas.microsoft.com/office/drawing/2014/main" id="{D693FF4F-4048-417A-99E2-23C460FA27B2}"/>
                </a:ext>
              </a:extLst>
            </p:cNvPr>
            <p:cNvSpPr/>
            <p:nvPr/>
          </p:nvSpPr>
          <p:spPr bwMode="gray">
            <a:xfrm>
              <a:off x="10879955" y="3269532"/>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1" name="Freeform 580">
              <a:extLst>
                <a:ext uri="{FF2B5EF4-FFF2-40B4-BE49-F238E27FC236}">
                  <a16:creationId xmlns:a16="http://schemas.microsoft.com/office/drawing/2014/main" id="{02D32C7F-826A-4477-BB4C-A011F0CAFB92}"/>
                </a:ext>
              </a:extLst>
            </p:cNvPr>
            <p:cNvSpPr>
              <a:spLocks noChangeAspect="1" noEditPoints="1"/>
            </p:cNvSpPr>
            <p:nvPr/>
          </p:nvSpPr>
          <p:spPr bwMode="auto">
            <a:xfrm>
              <a:off x="7211288" y="3337923"/>
              <a:ext cx="383736" cy="382611"/>
            </a:xfrm>
            <a:custGeom>
              <a:avLst/>
              <a:gdLst>
                <a:gd name="T0" fmla="*/ 288 w 512"/>
                <a:gd name="T1" fmla="*/ 266 h 512"/>
                <a:gd name="T2" fmla="*/ 373 w 512"/>
                <a:gd name="T3" fmla="*/ 266 h 512"/>
                <a:gd name="T4" fmla="*/ 373 w 512"/>
                <a:gd name="T5" fmla="*/ 352 h 512"/>
                <a:gd name="T6" fmla="*/ 138 w 512"/>
                <a:gd name="T7" fmla="*/ 352 h 512"/>
                <a:gd name="T8" fmla="*/ 138 w 512"/>
                <a:gd name="T9" fmla="*/ 266 h 512"/>
                <a:gd name="T10" fmla="*/ 224 w 512"/>
                <a:gd name="T11" fmla="*/ 266 h 512"/>
                <a:gd name="T12" fmla="*/ 224 w 512"/>
                <a:gd name="T13" fmla="*/ 277 h 512"/>
                <a:gd name="T14" fmla="*/ 234 w 512"/>
                <a:gd name="T15" fmla="*/ 288 h 512"/>
                <a:gd name="T16" fmla="*/ 277 w 512"/>
                <a:gd name="T17" fmla="*/ 288 h 512"/>
                <a:gd name="T18" fmla="*/ 288 w 512"/>
                <a:gd name="T19" fmla="*/ 277 h 512"/>
                <a:gd name="T20" fmla="*/ 288 w 512"/>
                <a:gd name="T21" fmla="*/ 266 h 512"/>
                <a:gd name="T22" fmla="*/ 245 w 512"/>
                <a:gd name="T23" fmla="*/ 245 h 512"/>
                <a:gd name="T24" fmla="*/ 245 w 512"/>
                <a:gd name="T25" fmla="*/ 266 h 512"/>
                <a:gd name="T26" fmla="*/ 266 w 512"/>
                <a:gd name="T27" fmla="*/ 266 h 512"/>
                <a:gd name="T28" fmla="*/ 266 w 512"/>
                <a:gd name="T29" fmla="*/ 245 h 512"/>
                <a:gd name="T30" fmla="*/ 245 w 512"/>
                <a:gd name="T31" fmla="*/ 245 h 512"/>
                <a:gd name="T32" fmla="*/ 288 w 512"/>
                <a:gd name="T33" fmla="*/ 160 h 512"/>
                <a:gd name="T34" fmla="*/ 224 w 512"/>
                <a:gd name="T35" fmla="*/ 160 h 512"/>
                <a:gd name="T36" fmla="*/ 202 w 512"/>
                <a:gd name="T37" fmla="*/ 181 h 512"/>
                <a:gd name="T38" fmla="*/ 309 w 512"/>
                <a:gd name="T39" fmla="*/ 181 h 512"/>
                <a:gd name="T40" fmla="*/ 288 w 512"/>
                <a:gd name="T41" fmla="*/ 160 h 512"/>
                <a:gd name="T42" fmla="*/ 512 w 512"/>
                <a:gd name="T43" fmla="*/ 256 h 512"/>
                <a:gd name="T44" fmla="*/ 256 w 512"/>
                <a:gd name="T45" fmla="*/ 512 h 512"/>
                <a:gd name="T46" fmla="*/ 0 w 512"/>
                <a:gd name="T47" fmla="*/ 256 h 512"/>
                <a:gd name="T48" fmla="*/ 256 w 512"/>
                <a:gd name="T49" fmla="*/ 0 h 512"/>
                <a:gd name="T50" fmla="*/ 512 w 512"/>
                <a:gd name="T51" fmla="*/ 256 h 512"/>
                <a:gd name="T52" fmla="*/ 416 w 512"/>
                <a:gd name="T53" fmla="*/ 192 h 512"/>
                <a:gd name="T54" fmla="*/ 405 w 512"/>
                <a:gd name="T55" fmla="*/ 181 h 512"/>
                <a:gd name="T56" fmla="*/ 330 w 512"/>
                <a:gd name="T57" fmla="*/ 181 h 512"/>
                <a:gd name="T58" fmla="*/ 288 w 512"/>
                <a:gd name="T59" fmla="*/ 138 h 512"/>
                <a:gd name="T60" fmla="*/ 224 w 512"/>
                <a:gd name="T61" fmla="*/ 138 h 512"/>
                <a:gd name="T62" fmla="*/ 181 w 512"/>
                <a:gd name="T63" fmla="*/ 181 h 512"/>
                <a:gd name="T64" fmla="*/ 106 w 512"/>
                <a:gd name="T65" fmla="*/ 181 h 512"/>
                <a:gd name="T66" fmla="*/ 96 w 512"/>
                <a:gd name="T67" fmla="*/ 192 h 512"/>
                <a:gd name="T68" fmla="*/ 96 w 512"/>
                <a:gd name="T69" fmla="*/ 256 h 512"/>
                <a:gd name="T70" fmla="*/ 106 w 512"/>
                <a:gd name="T71" fmla="*/ 266 h 512"/>
                <a:gd name="T72" fmla="*/ 117 w 512"/>
                <a:gd name="T73" fmla="*/ 266 h 512"/>
                <a:gd name="T74" fmla="*/ 117 w 512"/>
                <a:gd name="T75" fmla="*/ 362 h 512"/>
                <a:gd name="T76" fmla="*/ 128 w 512"/>
                <a:gd name="T77" fmla="*/ 373 h 512"/>
                <a:gd name="T78" fmla="*/ 384 w 512"/>
                <a:gd name="T79" fmla="*/ 373 h 512"/>
                <a:gd name="T80" fmla="*/ 394 w 512"/>
                <a:gd name="T81" fmla="*/ 362 h 512"/>
                <a:gd name="T82" fmla="*/ 394 w 512"/>
                <a:gd name="T83" fmla="*/ 266 h 512"/>
                <a:gd name="T84" fmla="*/ 405 w 512"/>
                <a:gd name="T85" fmla="*/ 266 h 512"/>
                <a:gd name="T86" fmla="*/ 416 w 512"/>
                <a:gd name="T87" fmla="*/ 256 h 512"/>
                <a:gd name="T88" fmla="*/ 416 w 512"/>
                <a:gd name="T89" fmla="*/ 192 h 512"/>
                <a:gd name="T90" fmla="*/ 117 w 512"/>
                <a:gd name="T91" fmla="*/ 245 h 512"/>
                <a:gd name="T92" fmla="*/ 224 w 512"/>
                <a:gd name="T93" fmla="*/ 245 h 512"/>
                <a:gd name="T94" fmla="*/ 224 w 512"/>
                <a:gd name="T95" fmla="*/ 234 h 512"/>
                <a:gd name="T96" fmla="*/ 234 w 512"/>
                <a:gd name="T97" fmla="*/ 224 h 512"/>
                <a:gd name="T98" fmla="*/ 277 w 512"/>
                <a:gd name="T99" fmla="*/ 224 h 512"/>
                <a:gd name="T100" fmla="*/ 288 w 512"/>
                <a:gd name="T101" fmla="*/ 234 h 512"/>
                <a:gd name="T102" fmla="*/ 288 w 512"/>
                <a:gd name="T103" fmla="*/ 245 h 512"/>
                <a:gd name="T104" fmla="*/ 394 w 512"/>
                <a:gd name="T105" fmla="*/ 245 h 512"/>
                <a:gd name="T106" fmla="*/ 394 w 512"/>
                <a:gd name="T107" fmla="*/ 202 h 512"/>
                <a:gd name="T108" fmla="*/ 117 w 512"/>
                <a:gd name="T109" fmla="*/ 202 h 512"/>
                <a:gd name="T110" fmla="*/ 117 w 512"/>
                <a:gd name="T111" fmla="*/ 24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2" h="512">
                  <a:moveTo>
                    <a:pt x="288" y="266"/>
                  </a:moveTo>
                  <a:cubicBezTo>
                    <a:pt x="373" y="266"/>
                    <a:pt x="373" y="266"/>
                    <a:pt x="373" y="266"/>
                  </a:cubicBezTo>
                  <a:cubicBezTo>
                    <a:pt x="373" y="352"/>
                    <a:pt x="373" y="352"/>
                    <a:pt x="373" y="352"/>
                  </a:cubicBezTo>
                  <a:cubicBezTo>
                    <a:pt x="138" y="352"/>
                    <a:pt x="138" y="352"/>
                    <a:pt x="138" y="352"/>
                  </a:cubicBezTo>
                  <a:cubicBezTo>
                    <a:pt x="138" y="266"/>
                    <a:pt x="138" y="266"/>
                    <a:pt x="138" y="266"/>
                  </a:cubicBezTo>
                  <a:cubicBezTo>
                    <a:pt x="224" y="266"/>
                    <a:pt x="224" y="266"/>
                    <a:pt x="224" y="266"/>
                  </a:cubicBezTo>
                  <a:cubicBezTo>
                    <a:pt x="224" y="277"/>
                    <a:pt x="224" y="277"/>
                    <a:pt x="224" y="277"/>
                  </a:cubicBezTo>
                  <a:cubicBezTo>
                    <a:pt x="224" y="283"/>
                    <a:pt x="228" y="288"/>
                    <a:pt x="234" y="288"/>
                  </a:cubicBezTo>
                  <a:cubicBezTo>
                    <a:pt x="277" y="288"/>
                    <a:pt x="277" y="288"/>
                    <a:pt x="277" y="288"/>
                  </a:cubicBezTo>
                  <a:cubicBezTo>
                    <a:pt x="283" y="288"/>
                    <a:pt x="288" y="283"/>
                    <a:pt x="288" y="277"/>
                  </a:cubicBezTo>
                  <a:lnTo>
                    <a:pt x="288" y="266"/>
                  </a:lnTo>
                  <a:close/>
                  <a:moveTo>
                    <a:pt x="245" y="245"/>
                  </a:moveTo>
                  <a:cubicBezTo>
                    <a:pt x="245" y="266"/>
                    <a:pt x="245" y="266"/>
                    <a:pt x="245" y="266"/>
                  </a:cubicBezTo>
                  <a:cubicBezTo>
                    <a:pt x="266" y="266"/>
                    <a:pt x="266" y="266"/>
                    <a:pt x="266" y="266"/>
                  </a:cubicBezTo>
                  <a:cubicBezTo>
                    <a:pt x="266" y="245"/>
                    <a:pt x="266" y="245"/>
                    <a:pt x="266" y="245"/>
                  </a:cubicBezTo>
                  <a:lnTo>
                    <a:pt x="245" y="245"/>
                  </a:lnTo>
                  <a:close/>
                  <a:moveTo>
                    <a:pt x="288" y="160"/>
                  </a:moveTo>
                  <a:cubicBezTo>
                    <a:pt x="224" y="160"/>
                    <a:pt x="224" y="160"/>
                    <a:pt x="224" y="160"/>
                  </a:cubicBezTo>
                  <a:cubicBezTo>
                    <a:pt x="212" y="160"/>
                    <a:pt x="202" y="169"/>
                    <a:pt x="202" y="181"/>
                  </a:cubicBezTo>
                  <a:cubicBezTo>
                    <a:pt x="309" y="181"/>
                    <a:pt x="309" y="181"/>
                    <a:pt x="309" y="181"/>
                  </a:cubicBezTo>
                  <a:cubicBezTo>
                    <a:pt x="309" y="169"/>
                    <a:pt x="299" y="160"/>
                    <a:pt x="288"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92"/>
                  </a:moveTo>
                  <a:cubicBezTo>
                    <a:pt x="416" y="186"/>
                    <a:pt x="411" y="181"/>
                    <a:pt x="405" y="181"/>
                  </a:cubicBezTo>
                  <a:cubicBezTo>
                    <a:pt x="330" y="181"/>
                    <a:pt x="330" y="181"/>
                    <a:pt x="330" y="181"/>
                  </a:cubicBezTo>
                  <a:cubicBezTo>
                    <a:pt x="330" y="157"/>
                    <a:pt x="311" y="138"/>
                    <a:pt x="288" y="138"/>
                  </a:cubicBezTo>
                  <a:cubicBezTo>
                    <a:pt x="224" y="138"/>
                    <a:pt x="224" y="138"/>
                    <a:pt x="224" y="138"/>
                  </a:cubicBezTo>
                  <a:cubicBezTo>
                    <a:pt x="200" y="138"/>
                    <a:pt x="181" y="157"/>
                    <a:pt x="181" y="181"/>
                  </a:cubicBezTo>
                  <a:cubicBezTo>
                    <a:pt x="106" y="181"/>
                    <a:pt x="106" y="181"/>
                    <a:pt x="106" y="181"/>
                  </a:cubicBezTo>
                  <a:cubicBezTo>
                    <a:pt x="100" y="181"/>
                    <a:pt x="96" y="186"/>
                    <a:pt x="96" y="192"/>
                  </a:cubicBezTo>
                  <a:cubicBezTo>
                    <a:pt x="96" y="256"/>
                    <a:pt x="96" y="256"/>
                    <a:pt x="96" y="256"/>
                  </a:cubicBezTo>
                  <a:cubicBezTo>
                    <a:pt x="96" y="262"/>
                    <a:pt x="100" y="266"/>
                    <a:pt x="106" y="266"/>
                  </a:cubicBezTo>
                  <a:cubicBezTo>
                    <a:pt x="117" y="266"/>
                    <a:pt x="117" y="266"/>
                    <a:pt x="117" y="266"/>
                  </a:cubicBezTo>
                  <a:cubicBezTo>
                    <a:pt x="117" y="362"/>
                    <a:pt x="117" y="362"/>
                    <a:pt x="117" y="362"/>
                  </a:cubicBezTo>
                  <a:cubicBezTo>
                    <a:pt x="117" y="368"/>
                    <a:pt x="122" y="373"/>
                    <a:pt x="128" y="373"/>
                  </a:cubicBezTo>
                  <a:cubicBezTo>
                    <a:pt x="384" y="373"/>
                    <a:pt x="384" y="373"/>
                    <a:pt x="384" y="373"/>
                  </a:cubicBezTo>
                  <a:cubicBezTo>
                    <a:pt x="390" y="373"/>
                    <a:pt x="394" y="368"/>
                    <a:pt x="394" y="362"/>
                  </a:cubicBezTo>
                  <a:cubicBezTo>
                    <a:pt x="394" y="266"/>
                    <a:pt x="394" y="266"/>
                    <a:pt x="394" y="266"/>
                  </a:cubicBezTo>
                  <a:cubicBezTo>
                    <a:pt x="405" y="266"/>
                    <a:pt x="405" y="266"/>
                    <a:pt x="405" y="266"/>
                  </a:cubicBezTo>
                  <a:cubicBezTo>
                    <a:pt x="411" y="266"/>
                    <a:pt x="416" y="262"/>
                    <a:pt x="416" y="256"/>
                  </a:cubicBezTo>
                  <a:lnTo>
                    <a:pt x="416" y="192"/>
                  </a:lnTo>
                  <a:close/>
                  <a:moveTo>
                    <a:pt x="117" y="245"/>
                  </a:moveTo>
                  <a:cubicBezTo>
                    <a:pt x="224" y="245"/>
                    <a:pt x="224" y="245"/>
                    <a:pt x="224" y="245"/>
                  </a:cubicBezTo>
                  <a:cubicBezTo>
                    <a:pt x="224" y="234"/>
                    <a:pt x="224" y="234"/>
                    <a:pt x="224" y="234"/>
                  </a:cubicBezTo>
                  <a:cubicBezTo>
                    <a:pt x="224" y="228"/>
                    <a:pt x="228" y="224"/>
                    <a:pt x="234" y="224"/>
                  </a:cubicBezTo>
                  <a:cubicBezTo>
                    <a:pt x="277" y="224"/>
                    <a:pt x="277" y="224"/>
                    <a:pt x="277" y="224"/>
                  </a:cubicBezTo>
                  <a:cubicBezTo>
                    <a:pt x="283" y="224"/>
                    <a:pt x="288" y="228"/>
                    <a:pt x="288" y="234"/>
                  </a:cubicBezTo>
                  <a:cubicBezTo>
                    <a:pt x="288" y="245"/>
                    <a:pt x="288" y="245"/>
                    <a:pt x="288" y="245"/>
                  </a:cubicBezTo>
                  <a:cubicBezTo>
                    <a:pt x="394" y="245"/>
                    <a:pt x="394" y="245"/>
                    <a:pt x="394" y="245"/>
                  </a:cubicBezTo>
                  <a:cubicBezTo>
                    <a:pt x="394" y="202"/>
                    <a:pt x="394" y="202"/>
                    <a:pt x="394" y="202"/>
                  </a:cubicBezTo>
                  <a:cubicBezTo>
                    <a:pt x="117" y="202"/>
                    <a:pt x="117" y="202"/>
                    <a:pt x="117" y="202"/>
                  </a:cubicBezTo>
                  <a:lnTo>
                    <a:pt x="117" y="245"/>
                  </a:lnTo>
                  <a:close/>
                </a:path>
              </a:pathLst>
            </a:custGeom>
            <a:solidFill>
              <a:srgbClr val="1C630A"/>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92" name="Freeform 768">
              <a:extLst>
                <a:ext uri="{FF2B5EF4-FFF2-40B4-BE49-F238E27FC236}">
                  <a16:creationId xmlns:a16="http://schemas.microsoft.com/office/drawing/2014/main" id="{9A1BACA8-3A5E-4F0A-950E-FC1238BB031F}"/>
                </a:ext>
              </a:extLst>
            </p:cNvPr>
            <p:cNvSpPr>
              <a:spLocks noChangeAspect="1" noEditPoints="1"/>
            </p:cNvSpPr>
            <p:nvPr/>
          </p:nvSpPr>
          <p:spPr bwMode="auto">
            <a:xfrm>
              <a:off x="8147627" y="2831429"/>
              <a:ext cx="379884" cy="379884"/>
            </a:xfrm>
            <a:custGeom>
              <a:avLst/>
              <a:gdLst>
                <a:gd name="T0" fmla="*/ 117 w 512"/>
                <a:gd name="T1" fmla="*/ 167 h 512"/>
                <a:gd name="T2" fmla="*/ 170 w 512"/>
                <a:gd name="T3" fmla="*/ 144 h 512"/>
                <a:gd name="T4" fmla="*/ 170 w 512"/>
                <a:gd name="T5" fmla="*/ 323 h 512"/>
                <a:gd name="T6" fmla="*/ 117 w 512"/>
                <a:gd name="T7" fmla="*/ 346 h 512"/>
                <a:gd name="T8" fmla="*/ 117 w 512"/>
                <a:gd name="T9" fmla="*/ 167 h 512"/>
                <a:gd name="T10" fmla="*/ 266 w 512"/>
                <a:gd name="T11" fmla="*/ 346 h 512"/>
                <a:gd name="T12" fmla="*/ 320 w 512"/>
                <a:gd name="T13" fmla="*/ 323 h 512"/>
                <a:gd name="T14" fmla="*/ 320 w 512"/>
                <a:gd name="T15" fmla="*/ 144 h 512"/>
                <a:gd name="T16" fmla="*/ 266 w 512"/>
                <a:gd name="T17" fmla="*/ 167 h 512"/>
                <a:gd name="T18" fmla="*/ 266 w 512"/>
                <a:gd name="T19" fmla="*/ 346 h 512"/>
                <a:gd name="T20" fmla="*/ 192 w 512"/>
                <a:gd name="T21" fmla="*/ 323 h 512"/>
                <a:gd name="T22" fmla="*/ 245 w 512"/>
                <a:gd name="T23" fmla="*/ 346 h 512"/>
                <a:gd name="T24" fmla="*/ 245 w 512"/>
                <a:gd name="T25" fmla="*/ 167 h 512"/>
                <a:gd name="T26" fmla="*/ 192 w 512"/>
                <a:gd name="T27" fmla="*/ 144 h 512"/>
                <a:gd name="T28" fmla="*/ 192 w 512"/>
                <a:gd name="T29" fmla="*/ 323 h 512"/>
                <a:gd name="T30" fmla="*/ 341 w 512"/>
                <a:gd name="T31" fmla="*/ 323 h 512"/>
                <a:gd name="T32" fmla="*/ 394 w 512"/>
                <a:gd name="T33" fmla="*/ 346 h 512"/>
                <a:gd name="T34" fmla="*/ 394 w 512"/>
                <a:gd name="T35" fmla="*/ 167 h 512"/>
                <a:gd name="T36" fmla="*/ 341 w 512"/>
                <a:gd name="T37" fmla="*/ 144 h 512"/>
                <a:gd name="T38" fmla="*/ 341 w 512"/>
                <a:gd name="T39" fmla="*/ 323 h 512"/>
                <a:gd name="T40" fmla="*/ 512 w 512"/>
                <a:gd name="T41" fmla="*/ 256 h 512"/>
                <a:gd name="T42" fmla="*/ 256 w 512"/>
                <a:gd name="T43" fmla="*/ 512 h 512"/>
                <a:gd name="T44" fmla="*/ 0 w 512"/>
                <a:gd name="T45" fmla="*/ 256 h 512"/>
                <a:gd name="T46" fmla="*/ 256 w 512"/>
                <a:gd name="T47" fmla="*/ 0 h 512"/>
                <a:gd name="T48" fmla="*/ 512 w 512"/>
                <a:gd name="T49" fmla="*/ 256 h 512"/>
                <a:gd name="T50" fmla="*/ 416 w 512"/>
                <a:gd name="T51" fmla="*/ 160 h 512"/>
                <a:gd name="T52" fmla="*/ 409 w 512"/>
                <a:gd name="T53" fmla="*/ 150 h 512"/>
                <a:gd name="T54" fmla="*/ 335 w 512"/>
                <a:gd name="T55" fmla="*/ 118 h 512"/>
                <a:gd name="T56" fmla="*/ 326 w 512"/>
                <a:gd name="T57" fmla="*/ 118 h 512"/>
                <a:gd name="T58" fmla="*/ 256 w 512"/>
                <a:gd name="T59" fmla="*/ 148 h 512"/>
                <a:gd name="T60" fmla="*/ 185 w 512"/>
                <a:gd name="T61" fmla="*/ 118 h 512"/>
                <a:gd name="T62" fmla="*/ 177 w 512"/>
                <a:gd name="T63" fmla="*/ 118 h 512"/>
                <a:gd name="T64" fmla="*/ 102 w 512"/>
                <a:gd name="T65" fmla="*/ 150 h 512"/>
                <a:gd name="T66" fmla="*/ 96 w 512"/>
                <a:gd name="T67" fmla="*/ 160 h 512"/>
                <a:gd name="T68" fmla="*/ 96 w 512"/>
                <a:gd name="T69" fmla="*/ 362 h 512"/>
                <a:gd name="T70" fmla="*/ 100 w 512"/>
                <a:gd name="T71" fmla="*/ 371 h 512"/>
                <a:gd name="T72" fmla="*/ 111 w 512"/>
                <a:gd name="T73" fmla="*/ 372 h 512"/>
                <a:gd name="T74" fmla="*/ 181 w 512"/>
                <a:gd name="T75" fmla="*/ 342 h 512"/>
                <a:gd name="T76" fmla="*/ 251 w 512"/>
                <a:gd name="T77" fmla="*/ 372 h 512"/>
                <a:gd name="T78" fmla="*/ 260 w 512"/>
                <a:gd name="T79" fmla="*/ 372 h 512"/>
                <a:gd name="T80" fmla="*/ 330 w 512"/>
                <a:gd name="T81" fmla="*/ 342 h 512"/>
                <a:gd name="T82" fmla="*/ 401 w 512"/>
                <a:gd name="T83" fmla="*/ 372 h 512"/>
                <a:gd name="T84" fmla="*/ 405 w 512"/>
                <a:gd name="T85" fmla="*/ 373 h 512"/>
                <a:gd name="T86" fmla="*/ 411 w 512"/>
                <a:gd name="T87" fmla="*/ 371 h 512"/>
                <a:gd name="T88" fmla="*/ 416 w 512"/>
                <a:gd name="T89" fmla="*/ 362 h 512"/>
                <a:gd name="T90" fmla="*/ 416 w 512"/>
                <a:gd name="T91"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512">
                  <a:moveTo>
                    <a:pt x="117" y="167"/>
                  </a:moveTo>
                  <a:cubicBezTo>
                    <a:pt x="170" y="144"/>
                    <a:pt x="170" y="144"/>
                    <a:pt x="170" y="144"/>
                  </a:cubicBezTo>
                  <a:cubicBezTo>
                    <a:pt x="170" y="323"/>
                    <a:pt x="170" y="323"/>
                    <a:pt x="170" y="323"/>
                  </a:cubicBezTo>
                  <a:cubicBezTo>
                    <a:pt x="117" y="346"/>
                    <a:pt x="117" y="346"/>
                    <a:pt x="117" y="346"/>
                  </a:cubicBezTo>
                  <a:lnTo>
                    <a:pt x="117" y="167"/>
                  </a:lnTo>
                  <a:close/>
                  <a:moveTo>
                    <a:pt x="266" y="346"/>
                  </a:moveTo>
                  <a:cubicBezTo>
                    <a:pt x="320" y="323"/>
                    <a:pt x="320" y="323"/>
                    <a:pt x="320" y="323"/>
                  </a:cubicBezTo>
                  <a:cubicBezTo>
                    <a:pt x="320" y="144"/>
                    <a:pt x="320" y="144"/>
                    <a:pt x="320" y="144"/>
                  </a:cubicBezTo>
                  <a:cubicBezTo>
                    <a:pt x="266" y="167"/>
                    <a:pt x="266" y="167"/>
                    <a:pt x="266" y="167"/>
                  </a:cubicBezTo>
                  <a:lnTo>
                    <a:pt x="266" y="346"/>
                  </a:lnTo>
                  <a:close/>
                  <a:moveTo>
                    <a:pt x="192" y="323"/>
                  </a:moveTo>
                  <a:cubicBezTo>
                    <a:pt x="245" y="346"/>
                    <a:pt x="245" y="346"/>
                    <a:pt x="245" y="346"/>
                  </a:cubicBezTo>
                  <a:cubicBezTo>
                    <a:pt x="245" y="167"/>
                    <a:pt x="245" y="167"/>
                    <a:pt x="245" y="167"/>
                  </a:cubicBezTo>
                  <a:cubicBezTo>
                    <a:pt x="192" y="144"/>
                    <a:pt x="192" y="144"/>
                    <a:pt x="192" y="144"/>
                  </a:cubicBezTo>
                  <a:lnTo>
                    <a:pt x="192" y="323"/>
                  </a:lnTo>
                  <a:close/>
                  <a:moveTo>
                    <a:pt x="341" y="323"/>
                  </a:moveTo>
                  <a:cubicBezTo>
                    <a:pt x="394" y="346"/>
                    <a:pt x="394" y="346"/>
                    <a:pt x="394" y="346"/>
                  </a:cubicBezTo>
                  <a:cubicBezTo>
                    <a:pt x="394" y="167"/>
                    <a:pt x="394" y="167"/>
                    <a:pt x="394" y="167"/>
                  </a:cubicBezTo>
                  <a:cubicBezTo>
                    <a:pt x="341" y="144"/>
                    <a:pt x="341" y="144"/>
                    <a:pt x="341" y="144"/>
                  </a:cubicBezTo>
                  <a:lnTo>
                    <a:pt x="341" y="32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60"/>
                  </a:moveTo>
                  <a:cubicBezTo>
                    <a:pt x="416" y="155"/>
                    <a:pt x="413" y="152"/>
                    <a:pt x="409" y="150"/>
                  </a:cubicBezTo>
                  <a:cubicBezTo>
                    <a:pt x="335" y="118"/>
                    <a:pt x="335" y="118"/>
                    <a:pt x="335" y="118"/>
                  </a:cubicBezTo>
                  <a:cubicBezTo>
                    <a:pt x="332" y="117"/>
                    <a:pt x="329" y="117"/>
                    <a:pt x="326" y="118"/>
                  </a:cubicBezTo>
                  <a:cubicBezTo>
                    <a:pt x="256" y="148"/>
                    <a:pt x="256" y="148"/>
                    <a:pt x="256" y="148"/>
                  </a:cubicBezTo>
                  <a:cubicBezTo>
                    <a:pt x="185" y="118"/>
                    <a:pt x="185" y="118"/>
                    <a:pt x="185" y="118"/>
                  </a:cubicBezTo>
                  <a:cubicBezTo>
                    <a:pt x="183" y="117"/>
                    <a:pt x="179" y="117"/>
                    <a:pt x="177" y="118"/>
                  </a:cubicBezTo>
                  <a:cubicBezTo>
                    <a:pt x="102" y="150"/>
                    <a:pt x="102" y="150"/>
                    <a:pt x="102" y="150"/>
                  </a:cubicBezTo>
                  <a:cubicBezTo>
                    <a:pt x="98" y="152"/>
                    <a:pt x="96" y="155"/>
                    <a:pt x="96" y="160"/>
                  </a:cubicBezTo>
                  <a:cubicBezTo>
                    <a:pt x="96" y="362"/>
                    <a:pt x="96" y="362"/>
                    <a:pt x="96" y="362"/>
                  </a:cubicBezTo>
                  <a:cubicBezTo>
                    <a:pt x="96" y="366"/>
                    <a:pt x="97" y="369"/>
                    <a:pt x="100" y="371"/>
                  </a:cubicBezTo>
                  <a:cubicBezTo>
                    <a:pt x="103" y="373"/>
                    <a:pt x="107" y="374"/>
                    <a:pt x="111" y="372"/>
                  </a:cubicBezTo>
                  <a:cubicBezTo>
                    <a:pt x="181" y="342"/>
                    <a:pt x="181" y="342"/>
                    <a:pt x="181" y="342"/>
                  </a:cubicBezTo>
                  <a:cubicBezTo>
                    <a:pt x="251" y="372"/>
                    <a:pt x="251" y="372"/>
                    <a:pt x="251" y="372"/>
                  </a:cubicBezTo>
                  <a:cubicBezTo>
                    <a:pt x="254" y="373"/>
                    <a:pt x="257" y="373"/>
                    <a:pt x="260" y="372"/>
                  </a:cubicBezTo>
                  <a:cubicBezTo>
                    <a:pt x="330" y="342"/>
                    <a:pt x="330" y="342"/>
                    <a:pt x="330" y="342"/>
                  </a:cubicBezTo>
                  <a:cubicBezTo>
                    <a:pt x="401" y="372"/>
                    <a:pt x="401" y="372"/>
                    <a:pt x="401" y="372"/>
                  </a:cubicBezTo>
                  <a:cubicBezTo>
                    <a:pt x="402" y="373"/>
                    <a:pt x="404" y="373"/>
                    <a:pt x="405" y="373"/>
                  </a:cubicBezTo>
                  <a:cubicBezTo>
                    <a:pt x="407" y="373"/>
                    <a:pt x="409" y="372"/>
                    <a:pt x="411" y="371"/>
                  </a:cubicBezTo>
                  <a:cubicBezTo>
                    <a:pt x="414" y="369"/>
                    <a:pt x="416" y="366"/>
                    <a:pt x="416" y="362"/>
                  </a:cubicBezTo>
                  <a:lnTo>
                    <a:pt x="416" y="160"/>
                  </a:lnTo>
                  <a:close/>
                </a:path>
              </a:pathLst>
            </a:custGeom>
            <a:solidFill>
              <a:srgbClr val="4F5256"/>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93" name="Freeform 768">
              <a:extLst>
                <a:ext uri="{FF2B5EF4-FFF2-40B4-BE49-F238E27FC236}">
                  <a16:creationId xmlns:a16="http://schemas.microsoft.com/office/drawing/2014/main" id="{91C452F7-7EC7-4710-B96D-A530AA22A606}"/>
                </a:ext>
              </a:extLst>
            </p:cNvPr>
            <p:cNvSpPr>
              <a:spLocks noChangeAspect="1" noEditPoints="1"/>
            </p:cNvSpPr>
            <p:nvPr/>
          </p:nvSpPr>
          <p:spPr bwMode="auto">
            <a:xfrm>
              <a:off x="10016453" y="2831429"/>
              <a:ext cx="379884" cy="379884"/>
            </a:xfrm>
            <a:custGeom>
              <a:avLst/>
              <a:gdLst>
                <a:gd name="T0" fmla="*/ 117 w 512"/>
                <a:gd name="T1" fmla="*/ 167 h 512"/>
                <a:gd name="T2" fmla="*/ 170 w 512"/>
                <a:gd name="T3" fmla="*/ 144 h 512"/>
                <a:gd name="T4" fmla="*/ 170 w 512"/>
                <a:gd name="T5" fmla="*/ 323 h 512"/>
                <a:gd name="T6" fmla="*/ 117 w 512"/>
                <a:gd name="T7" fmla="*/ 346 h 512"/>
                <a:gd name="T8" fmla="*/ 117 w 512"/>
                <a:gd name="T9" fmla="*/ 167 h 512"/>
                <a:gd name="T10" fmla="*/ 266 w 512"/>
                <a:gd name="T11" fmla="*/ 346 h 512"/>
                <a:gd name="T12" fmla="*/ 320 w 512"/>
                <a:gd name="T13" fmla="*/ 323 h 512"/>
                <a:gd name="T14" fmla="*/ 320 w 512"/>
                <a:gd name="T15" fmla="*/ 144 h 512"/>
                <a:gd name="T16" fmla="*/ 266 w 512"/>
                <a:gd name="T17" fmla="*/ 167 h 512"/>
                <a:gd name="T18" fmla="*/ 266 w 512"/>
                <a:gd name="T19" fmla="*/ 346 h 512"/>
                <a:gd name="T20" fmla="*/ 192 w 512"/>
                <a:gd name="T21" fmla="*/ 323 h 512"/>
                <a:gd name="T22" fmla="*/ 245 w 512"/>
                <a:gd name="T23" fmla="*/ 346 h 512"/>
                <a:gd name="T24" fmla="*/ 245 w 512"/>
                <a:gd name="T25" fmla="*/ 167 h 512"/>
                <a:gd name="T26" fmla="*/ 192 w 512"/>
                <a:gd name="T27" fmla="*/ 144 h 512"/>
                <a:gd name="T28" fmla="*/ 192 w 512"/>
                <a:gd name="T29" fmla="*/ 323 h 512"/>
                <a:gd name="T30" fmla="*/ 341 w 512"/>
                <a:gd name="T31" fmla="*/ 323 h 512"/>
                <a:gd name="T32" fmla="*/ 394 w 512"/>
                <a:gd name="T33" fmla="*/ 346 h 512"/>
                <a:gd name="T34" fmla="*/ 394 w 512"/>
                <a:gd name="T35" fmla="*/ 167 h 512"/>
                <a:gd name="T36" fmla="*/ 341 w 512"/>
                <a:gd name="T37" fmla="*/ 144 h 512"/>
                <a:gd name="T38" fmla="*/ 341 w 512"/>
                <a:gd name="T39" fmla="*/ 323 h 512"/>
                <a:gd name="T40" fmla="*/ 512 w 512"/>
                <a:gd name="T41" fmla="*/ 256 h 512"/>
                <a:gd name="T42" fmla="*/ 256 w 512"/>
                <a:gd name="T43" fmla="*/ 512 h 512"/>
                <a:gd name="T44" fmla="*/ 0 w 512"/>
                <a:gd name="T45" fmla="*/ 256 h 512"/>
                <a:gd name="T46" fmla="*/ 256 w 512"/>
                <a:gd name="T47" fmla="*/ 0 h 512"/>
                <a:gd name="T48" fmla="*/ 512 w 512"/>
                <a:gd name="T49" fmla="*/ 256 h 512"/>
                <a:gd name="T50" fmla="*/ 416 w 512"/>
                <a:gd name="T51" fmla="*/ 160 h 512"/>
                <a:gd name="T52" fmla="*/ 409 w 512"/>
                <a:gd name="T53" fmla="*/ 150 h 512"/>
                <a:gd name="T54" fmla="*/ 335 w 512"/>
                <a:gd name="T55" fmla="*/ 118 h 512"/>
                <a:gd name="T56" fmla="*/ 326 w 512"/>
                <a:gd name="T57" fmla="*/ 118 h 512"/>
                <a:gd name="T58" fmla="*/ 256 w 512"/>
                <a:gd name="T59" fmla="*/ 148 h 512"/>
                <a:gd name="T60" fmla="*/ 185 w 512"/>
                <a:gd name="T61" fmla="*/ 118 h 512"/>
                <a:gd name="T62" fmla="*/ 177 w 512"/>
                <a:gd name="T63" fmla="*/ 118 h 512"/>
                <a:gd name="T64" fmla="*/ 102 w 512"/>
                <a:gd name="T65" fmla="*/ 150 h 512"/>
                <a:gd name="T66" fmla="*/ 96 w 512"/>
                <a:gd name="T67" fmla="*/ 160 h 512"/>
                <a:gd name="T68" fmla="*/ 96 w 512"/>
                <a:gd name="T69" fmla="*/ 362 h 512"/>
                <a:gd name="T70" fmla="*/ 100 w 512"/>
                <a:gd name="T71" fmla="*/ 371 h 512"/>
                <a:gd name="T72" fmla="*/ 111 w 512"/>
                <a:gd name="T73" fmla="*/ 372 h 512"/>
                <a:gd name="T74" fmla="*/ 181 w 512"/>
                <a:gd name="T75" fmla="*/ 342 h 512"/>
                <a:gd name="T76" fmla="*/ 251 w 512"/>
                <a:gd name="T77" fmla="*/ 372 h 512"/>
                <a:gd name="T78" fmla="*/ 260 w 512"/>
                <a:gd name="T79" fmla="*/ 372 h 512"/>
                <a:gd name="T80" fmla="*/ 330 w 512"/>
                <a:gd name="T81" fmla="*/ 342 h 512"/>
                <a:gd name="T82" fmla="*/ 401 w 512"/>
                <a:gd name="T83" fmla="*/ 372 h 512"/>
                <a:gd name="T84" fmla="*/ 405 w 512"/>
                <a:gd name="T85" fmla="*/ 373 h 512"/>
                <a:gd name="T86" fmla="*/ 411 w 512"/>
                <a:gd name="T87" fmla="*/ 371 h 512"/>
                <a:gd name="T88" fmla="*/ 416 w 512"/>
                <a:gd name="T89" fmla="*/ 362 h 512"/>
                <a:gd name="T90" fmla="*/ 416 w 512"/>
                <a:gd name="T91"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512">
                  <a:moveTo>
                    <a:pt x="117" y="167"/>
                  </a:moveTo>
                  <a:cubicBezTo>
                    <a:pt x="170" y="144"/>
                    <a:pt x="170" y="144"/>
                    <a:pt x="170" y="144"/>
                  </a:cubicBezTo>
                  <a:cubicBezTo>
                    <a:pt x="170" y="323"/>
                    <a:pt x="170" y="323"/>
                    <a:pt x="170" y="323"/>
                  </a:cubicBezTo>
                  <a:cubicBezTo>
                    <a:pt x="117" y="346"/>
                    <a:pt x="117" y="346"/>
                    <a:pt x="117" y="346"/>
                  </a:cubicBezTo>
                  <a:lnTo>
                    <a:pt x="117" y="167"/>
                  </a:lnTo>
                  <a:close/>
                  <a:moveTo>
                    <a:pt x="266" y="346"/>
                  </a:moveTo>
                  <a:cubicBezTo>
                    <a:pt x="320" y="323"/>
                    <a:pt x="320" y="323"/>
                    <a:pt x="320" y="323"/>
                  </a:cubicBezTo>
                  <a:cubicBezTo>
                    <a:pt x="320" y="144"/>
                    <a:pt x="320" y="144"/>
                    <a:pt x="320" y="144"/>
                  </a:cubicBezTo>
                  <a:cubicBezTo>
                    <a:pt x="266" y="167"/>
                    <a:pt x="266" y="167"/>
                    <a:pt x="266" y="167"/>
                  </a:cubicBezTo>
                  <a:lnTo>
                    <a:pt x="266" y="346"/>
                  </a:lnTo>
                  <a:close/>
                  <a:moveTo>
                    <a:pt x="192" y="323"/>
                  </a:moveTo>
                  <a:cubicBezTo>
                    <a:pt x="245" y="346"/>
                    <a:pt x="245" y="346"/>
                    <a:pt x="245" y="346"/>
                  </a:cubicBezTo>
                  <a:cubicBezTo>
                    <a:pt x="245" y="167"/>
                    <a:pt x="245" y="167"/>
                    <a:pt x="245" y="167"/>
                  </a:cubicBezTo>
                  <a:cubicBezTo>
                    <a:pt x="192" y="144"/>
                    <a:pt x="192" y="144"/>
                    <a:pt x="192" y="144"/>
                  </a:cubicBezTo>
                  <a:lnTo>
                    <a:pt x="192" y="323"/>
                  </a:lnTo>
                  <a:close/>
                  <a:moveTo>
                    <a:pt x="341" y="323"/>
                  </a:moveTo>
                  <a:cubicBezTo>
                    <a:pt x="394" y="346"/>
                    <a:pt x="394" y="346"/>
                    <a:pt x="394" y="346"/>
                  </a:cubicBezTo>
                  <a:cubicBezTo>
                    <a:pt x="394" y="167"/>
                    <a:pt x="394" y="167"/>
                    <a:pt x="394" y="167"/>
                  </a:cubicBezTo>
                  <a:cubicBezTo>
                    <a:pt x="341" y="144"/>
                    <a:pt x="341" y="144"/>
                    <a:pt x="341" y="144"/>
                  </a:cubicBezTo>
                  <a:lnTo>
                    <a:pt x="341" y="32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60"/>
                  </a:moveTo>
                  <a:cubicBezTo>
                    <a:pt x="416" y="155"/>
                    <a:pt x="413" y="152"/>
                    <a:pt x="409" y="150"/>
                  </a:cubicBezTo>
                  <a:cubicBezTo>
                    <a:pt x="335" y="118"/>
                    <a:pt x="335" y="118"/>
                    <a:pt x="335" y="118"/>
                  </a:cubicBezTo>
                  <a:cubicBezTo>
                    <a:pt x="332" y="117"/>
                    <a:pt x="329" y="117"/>
                    <a:pt x="326" y="118"/>
                  </a:cubicBezTo>
                  <a:cubicBezTo>
                    <a:pt x="256" y="148"/>
                    <a:pt x="256" y="148"/>
                    <a:pt x="256" y="148"/>
                  </a:cubicBezTo>
                  <a:cubicBezTo>
                    <a:pt x="185" y="118"/>
                    <a:pt x="185" y="118"/>
                    <a:pt x="185" y="118"/>
                  </a:cubicBezTo>
                  <a:cubicBezTo>
                    <a:pt x="183" y="117"/>
                    <a:pt x="179" y="117"/>
                    <a:pt x="177" y="118"/>
                  </a:cubicBezTo>
                  <a:cubicBezTo>
                    <a:pt x="102" y="150"/>
                    <a:pt x="102" y="150"/>
                    <a:pt x="102" y="150"/>
                  </a:cubicBezTo>
                  <a:cubicBezTo>
                    <a:pt x="98" y="152"/>
                    <a:pt x="96" y="155"/>
                    <a:pt x="96" y="160"/>
                  </a:cubicBezTo>
                  <a:cubicBezTo>
                    <a:pt x="96" y="362"/>
                    <a:pt x="96" y="362"/>
                    <a:pt x="96" y="362"/>
                  </a:cubicBezTo>
                  <a:cubicBezTo>
                    <a:pt x="96" y="366"/>
                    <a:pt x="97" y="369"/>
                    <a:pt x="100" y="371"/>
                  </a:cubicBezTo>
                  <a:cubicBezTo>
                    <a:pt x="103" y="373"/>
                    <a:pt x="107" y="374"/>
                    <a:pt x="111" y="372"/>
                  </a:cubicBezTo>
                  <a:cubicBezTo>
                    <a:pt x="181" y="342"/>
                    <a:pt x="181" y="342"/>
                    <a:pt x="181" y="342"/>
                  </a:cubicBezTo>
                  <a:cubicBezTo>
                    <a:pt x="251" y="372"/>
                    <a:pt x="251" y="372"/>
                    <a:pt x="251" y="372"/>
                  </a:cubicBezTo>
                  <a:cubicBezTo>
                    <a:pt x="254" y="373"/>
                    <a:pt x="257" y="373"/>
                    <a:pt x="260" y="372"/>
                  </a:cubicBezTo>
                  <a:cubicBezTo>
                    <a:pt x="330" y="342"/>
                    <a:pt x="330" y="342"/>
                    <a:pt x="330" y="342"/>
                  </a:cubicBezTo>
                  <a:cubicBezTo>
                    <a:pt x="401" y="372"/>
                    <a:pt x="401" y="372"/>
                    <a:pt x="401" y="372"/>
                  </a:cubicBezTo>
                  <a:cubicBezTo>
                    <a:pt x="402" y="373"/>
                    <a:pt x="404" y="373"/>
                    <a:pt x="405" y="373"/>
                  </a:cubicBezTo>
                  <a:cubicBezTo>
                    <a:pt x="407" y="373"/>
                    <a:pt x="409" y="372"/>
                    <a:pt x="411" y="371"/>
                  </a:cubicBezTo>
                  <a:cubicBezTo>
                    <a:pt x="414" y="369"/>
                    <a:pt x="416" y="366"/>
                    <a:pt x="416" y="362"/>
                  </a:cubicBezTo>
                  <a:lnTo>
                    <a:pt x="416" y="160"/>
                  </a:lnTo>
                  <a:close/>
                </a:path>
              </a:pathLst>
            </a:custGeom>
            <a:solidFill>
              <a:srgbClr val="0D7F8B"/>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94" name="Freeform 611">
              <a:extLst>
                <a:ext uri="{FF2B5EF4-FFF2-40B4-BE49-F238E27FC236}">
                  <a16:creationId xmlns:a16="http://schemas.microsoft.com/office/drawing/2014/main" id="{F402E5D3-604D-4790-9568-65B11E8A161F}"/>
                </a:ext>
              </a:extLst>
            </p:cNvPr>
            <p:cNvSpPr>
              <a:spLocks noChangeAspect="1" noEditPoints="1"/>
            </p:cNvSpPr>
            <p:nvPr/>
          </p:nvSpPr>
          <p:spPr bwMode="auto">
            <a:xfrm>
              <a:off x="10949710" y="3339287"/>
              <a:ext cx="379884" cy="37988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49 w 512"/>
                <a:gd name="T11" fmla="*/ 362 h 512"/>
                <a:gd name="T12" fmla="*/ 128 w 512"/>
                <a:gd name="T13" fmla="*/ 362 h 512"/>
                <a:gd name="T14" fmla="*/ 117 w 512"/>
                <a:gd name="T15" fmla="*/ 352 h 512"/>
                <a:gd name="T16" fmla="*/ 128 w 512"/>
                <a:gd name="T17" fmla="*/ 341 h 512"/>
                <a:gd name="T18" fmla="*/ 149 w 512"/>
                <a:gd name="T19" fmla="*/ 341 h 512"/>
                <a:gd name="T20" fmla="*/ 160 w 512"/>
                <a:gd name="T21" fmla="*/ 352 h 512"/>
                <a:gd name="T22" fmla="*/ 149 w 512"/>
                <a:gd name="T23" fmla="*/ 362 h 512"/>
                <a:gd name="T24" fmla="*/ 149 w 512"/>
                <a:gd name="T25" fmla="*/ 298 h 512"/>
                <a:gd name="T26" fmla="*/ 128 w 512"/>
                <a:gd name="T27" fmla="*/ 298 h 512"/>
                <a:gd name="T28" fmla="*/ 117 w 512"/>
                <a:gd name="T29" fmla="*/ 288 h 512"/>
                <a:gd name="T30" fmla="*/ 128 w 512"/>
                <a:gd name="T31" fmla="*/ 277 h 512"/>
                <a:gd name="T32" fmla="*/ 149 w 512"/>
                <a:gd name="T33" fmla="*/ 277 h 512"/>
                <a:gd name="T34" fmla="*/ 160 w 512"/>
                <a:gd name="T35" fmla="*/ 288 h 512"/>
                <a:gd name="T36" fmla="*/ 149 w 512"/>
                <a:gd name="T37" fmla="*/ 298 h 512"/>
                <a:gd name="T38" fmla="*/ 149 w 512"/>
                <a:gd name="T39" fmla="*/ 234 h 512"/>
                <a:gd name="T40" fmla="*/ 128 w 512"/>
                <a:gd name="T41" fmla="*/ 234 h 512"/>
                <a:gd name="T42" fmla="*/ 117 w 512"/>
                <a:gd name="T43" fmla="*/ 224 h 512"/>
                <a:gd name="T44" fmla="*/ 128 w 512"/>
                <a:gd name="T45" fmla="*/ 213 h 512"/>
                <a:gd name="T46" fmla="*/ 149 w 512"/>
                <a:gd name="T47" fmla="*/ 213 h 512"/>
                <a:gd name="T48" fmla="*/ 160 w 512"/>
                <a:gd name="T49" fmla="*/ 224 h 512"/>
                <a:gd name="T50" fmla="*/ 149 w 512"/>
                <a:gd name="T51" fmla="*/ 234 h 512"/>
                <a:gd name="T52" fmla="*/ 149 w 512"/>
                <a:gd name="T53" fmla="*/ 170 h 512"/>
                <a:gd name="T54" fmla="*/ 128 w 512"/>
                <a:gd name="T55" fmla="*/ 170 h 512"/>
                <a:gd name="T56" fmla="*/ 117 w 512"/>
                <a:gd name="T57" fmla="*/ 160 h 512"/>
                <a:gd name="T58" fmla="*/ 128 w 512"/>
                <a:gd name="T59" fmla="*/ 149 h 512"/>
                <a:gd name="T60" fmla="*/ 149 w 512"/>
                <a:gd name="T61" fmla="*/ 149 h 512"/>
                <a:gd name="T62" fmla="*/ 160 w 512"/>
                <a:gd name="T63" fmla="*/ 160 h 512"/>
                <a:gd name="T64" fmla="*/ 149 w 512"/>
                <a:gd name="T65" fmla="*/ 170 h 512"/>
                <a:gd name="T66" fmla="*/ 384 w 512"/>
                <a:gd name="T67" fmla="*/ 362 h 512"/>
                <a:gd name="T68" fmla="*/ 202 w 512"/>
                <a:gd name="T69" fmla="*/ 362 h 512"/>
                <a:gd name="T70" fmla="*/ 192 w 512"/>
                <a:gd name="T71" fmla="*/ 352 h 512"/>
                <a:gd name="T72" fmla="*/ 202 w 512"/>
                <a:gd name="T73" fmla="*/ 341 h 512"/>
                <a:gd name="T74" fmla="*/ 384 w 512"/>
                <a:gd name="T75" fmla="*/ 341 h 512"/>
                <a:gd name="T76" fmla="*/ 394 w 512"/>
                <a:gd name="T77" fmla="*/ 352 h 512"/>
                <a:gd name="T78" fmla="*/ 384 w 512"/>
                <a:gd name="T79" fmla="*/ 362 h 512"/>
                <a:gd name="T80" fmla="*/ 384 w 512"/>
                <a:gd name="T81" fmla="*/ 298 h 512"/>
                <a:gd name="T82" fmla="*/ 202 w 512"/>
                <a:gd name="T83" fmla="*/ 298 h 512"/>
                <a:gd name="T84" fmla="*/ 192 w 512"/>
                <a:gd name="T85" fmla="*/ 288 h 512"/>
                <a:gd name="T86" fmla="*/ 202 w 512"/>
                <a:gd name="T87" fmla="*/ 277 h 512"/>
                <a:gd name="T88" fmla="*/ 384 w 512"/>
                <a:gd name="T89" fmla="*/ 277 h 512"/>
                <a:gd name="T90" fmla="*/ 394 w 512"/>
                <a:gd name="T91" fmla="*/ 288 h 512"/>
                <a:gd name="T92" fmla="*/ 384 w 512"/>
                <a:gd name="T93" fmla="*/ 298 h 512"/>
                <a:gd name="T94" fmla="*/ 384 w 512"/>
                <a:gd name="T95" fmla="*/ 234 h 512"/>
                <a:gd name="T96" fmla="*/ 202 w 512"/>
                <a:gd name="T97" fmla="*/ 234 h 512"/>
                <a:gd name="T98" fmla="*/ 192 w 512"/>
                <a:gd name="T99" fmla="*/ 224 h 512"/>
                <a:gd name="T100" fmla="*/ 202 w 512"/>
                <a:gd name="T101" fmla="*/ 213 h 512"/>
                <a:gd name="T102" fmla="*/ 384 w 512"/>
                <a:gd name="T103" fmla="*/ 213 h 512"/>
                <a:gd name="T104" fmla="*/ 394 w 512"/>
                <a:gd name="T105" fmla="*/ 224 h 512"/>
                <a:gd name="T106" fmla="*/ 384 w 512"/>
                <a:gd name="T107" fmla="*/ 234 h 512"/>
                <a:gd name="T108" fmla="*/ 384 w 512"/>
                <a:gd name="T109" fmla="*/ 170 h 512"/>
                <a:gd name="T110" fmla="*/ 202 w 512"/>
                <a:gd name="T111" fmla="*/ 170 h 512"/>
                <a:gd name="T112" fmla="*/ 192 w 512"/>
                <a:gd name="T113" fmla="*/ 160 h 512"/>
                <a:gd name="T114" fmla="*/ 202 w 512"/>
                <a:gd name="T115" fmla="*/ 149 h 512"/>
                <a:gd name="T116" fmla="*/ 384 w 512"/>
                <a:gd name="T117" fmla="*/ 149 h 512"/>
                <a:gd name="T118" fmla="*/ 394 w 512"/>
                <a:gd name="T119" fmla="*/ 160 h 512"/>
                <a:gd name="T120" fmla="*/ 384 w 512"/>
                <a:gd name="T12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49" y="362"/>
                  </a:moveTo>
                  <a:cubicBezTo>
                    <a:pt x="128" y="362"/>
                    <a:pt x="128" y="362"/>
                    <a:pt x="128" y="362"/>
                  </a:cubicBezTo>
                  <a:cubicBezTo>
                    <a:pt x="122" y="362"/>
                    <a:pt x="117" y="358"/>
                    <a:pt x="117" y="352"/>
                  </a:cubicBezTo>
                  <a:cubicBezTo>
                    <a:pt x="117" y="346"/>
                    <a:pt x="122" y="341"/>
                    <a:pt x="128" y="341"/>
                  </a:cubicBezTo>
                  <a:cubicBezTo>
                    <a:pt x="149" y="341"/>
                    <a:pt x="149" y="341"/>
                    <a:pt x="149" y="341"/>
                  </a:cubicBezTo>
                  <a:cubicBezTo>
                    <a:pt x="155" y="341"/>
                    <a:pt x="160" y="346"/>
                    <a:pt x="160" y="352"/>
                  </a:cubicBezTo>
                  <a:cubicBezTo>
                    <a:pt x="160" y="358"/>
                    <a:pt x="155" y="362"/>
                    <a:pt x="149" y="362"/>
                  </a:cubicBezTo>
                  <a:close/>
                  <a:moveTo>
                    <a:pt x="149" y="298"/>
                  </a:moveTo>
                  <a:cubicBezTo>
                    <a:pt x="128" y="298"/>
                    <a:pt x="128" y="298"/>
                    <a:pt x="128" y="298"/>
                  </a:cubicBezTo>
                  <a:cubicBezTo>
                    <a:pt x="122" y="298"/>
                    <a:pt x="117" y="294"/>
                    <a:pt x="117" y="288"/>
                  </a:cubicBezTo>
                  <a:cubicBezTo>
                    <a:pt x="117" y="282"/>
                    <a:pt x="122" y="277"/>
                    <a:pt x="128" y="277"/>
                  </a:cubicBezTo>
                  <a:cubicBezTo>
                    <a:pt x="149" y="277"/>
                    <a:pt x="149" y="277"/>
                    <a:pt x="149" y="277"/>
                  </a:cubicBezTo>
                  <a:cubicBezTo>
                    <a:pt x="155" y="277"/>
                    <a:pt x="160" y="282"/>
                    <a:pt x="160" y="288"/>
                  </a:cubicBezTo>
                  <a:cubicBezTo>
                    <a:pt x="160" y="294"/>
                    <a:pt x="155" y="298"/>
                    <a:pt x="149" y="298"/>
                  </a:cubicBezTo>
                  <a:close/>
                  <a:moveTo>
                    <a:pt x="149" y="234"/>
                  </a:moveTo>
                  <a:cubicBezTo>
                    <a:pt x="128" y="234"/>
                    <a:pt x="128" y="234"/>
                    <a:pt x="128" y="234"/>
                  </a:cubicBezTo>
                  <a:cubicBezTo>
                    <a:pt x="122" y="234"/>
                    <a:pt x="117" y="230"/>
                    <a:pt x="117" y="224"/>
                  </a:cubicBezTo>
                  <a:cubicBezTo>
                    <a:pt x="117" y="218"/>
                    <a:pt x="122" y="213"/>
                    <a:pt x="128" y="213"/>
                  </a:cubicBezTo>
                  <a:cubicBezTo>
                    <a:pt x="149" y="213"/>
                    <a:pt x="149" y="213"/>
                    <a:pt x="149" y="213"/>
                  </a:cubicBezTo>
                  <a:cubicBezTo>
                    <a:pt x="155" y="213"/>
                    <a:pt x="160" y="218"/>
                    <a:pt x="160" y="224"/>
                  </a:cubicBezTo>
                  <a:cubicBezTo>
                    <a:pt x="160" y="230"/>
                    <a:pt x="155" y="234"/>
                    <a:pt x="149" y="234"/>
                  </a:cubicBezTo>
                  <a:close/>
                  <a:moveTo>
                    <a:pt x="149" y="170"/>
                  </a:moveTo>
                  <a:cubicBezTo>
                    <a:pt x="128" y="170"/>
                    <a:pt x="128" y="170"/>
                    <a:pt x="128" y="170"/>
                  </a:cubicBezTo>
                  <a:cubicBezTo>
                    <a:pt x="122" y="170"/>
                    <a:pt x="117" y="166"/>
                    <a:pt x="117" y="160"/>
                  </a:cubicBezTo>
                  <a:cubicBezTo>
                    <a:pt x="117" y="154"/>
                    <a:pt x="122" y="149"/>
                    <a:pt x="128" y="149"/>
                  </a:cubicBezTo>
                  <a:cubicBezTo>
                    <a:pt x="149" y="149"/>
                    <a:pt x="149" y="149"/>
                    <a:pt x="149" y="149"/>
                  </a:cubicBezTo>
                  <a:cubicBezTo>
                    <a:pt x="155" y="149"/>
                    <a:pt x="160" y="154"/>
                    <a:pt x="160" y="160"/>
                  </a:cubicBezTo>
                  <a:cubicBezTo>
                    <a:pt x="160" y="166"/>
                    <a:pt x="155" y="170"/>
                    <a:pt x="149" y="170"/>
                  </a:cubicBezTo>
                  <a:close/>
                  <a:moveTo>
                    <a:pt x="384" y="362"/>
                  </a:moveTo>
                  <a:cubicBezTo>
                    <a:pt x="202" y="362"/>
                    <a:pt x="202" y="362"/>
                    <a:pt x="202" y="362"/>
                  </a:cubicBezTo>
                  <a:cubicBezTo>
                    <a:pt x="196" y="362"/>
                    <a:pt x="192" y="358"/>
                    <a:pt x="192" y="352"/>
                  </a:cubicBezTo>
                  <a:cubicBezTo>
                    <a:pt x="192" y="346"/>
                    <a:pt x="196" y="341"/>
                    <a:pt x="202" y="341"/>
                  </a:cubicBezTo>
                  <a:cubicBezTo>
                    <a:pt x="384" y="341"/>
                    <a:pt x="384" y="341"/>
                    <a:pt x="384" y="341"/>
                  </a:cubicBezTo>
                  <a:cubicBezTo>
                    <a:pt x="390" y="341"/>
                    <a:pt x="394" y="346"/>
                    <a:pt x="394" y="352"/>
                  </a:cubicBezTo>
                  <a:cubicBezTo>
                    <a:pt x="394" y="358"/>
                    <a:pt x="390" y="362"/>
                    <a:pt x="384" y="362"/>
                  </a:cubicBezTo>
                  <a:close/>
                  <a:moveTo>
                    <a:pt x="384" y="298"/>
                  </a:moveTo>
                  <a:cubicBezTo>
                    <a:pt x="202" y="298"/>
                    <a:pt x="202" y="298"/>
                    <a:pt x="202" y="298"/>
                  </a:cubicBezTo>
                  <a:cubicBezTo>
                    <a:pt x="196" y="298"/>
                    <a:pt x="192" y="294"/>
                    <a:pt x="192" y="288"/>
                  </a:cubicBezTo>
                  <a:cubicBezTo>
                    <a:pt x="192" y="282"/>
                    <a:pt x="196" y="277"/>
                    <a:pt x="202" y="277"/>
                  </a:cubicBezTo>
                  <a:cubicBezTo>
                    <a:pt x="384" y="277"/>
                    <a:pt x="384" y="277"/>
                    <a:pt x="384" y="277"/>
                  </a:cubicBezTo>
                  <a:cubicBezTo>
                    <a:pt x="390" y="277"/>
                    <a:pt x="394" y="282"/>
                    <a:pt x="394" y="288"/>
                  </a:cubicBezTo>
                  <a:cubicBezTo>
                    <a:pt x="394" y="294"/>
                    <a:pt x="390" y="298"/>
                    <a:pt x="384" y="298"/>
                  </a:cubicBezTo>
                  <a:close/>
                  <a:moveTo>
                    <a:pt x="384" y="234"/>
                  </a:moveTo>
                  <a:cubicBezTo>
                    <a:pt x="202" y="234"/>
                    <a:pt x="202" y="234"/>
                    <a:pt x="202" y="234"/>
                  </a:cubicBezTo>
                  <a:cubicBezTo>
                    <a:pt x="196" y="234"/>
                    <a:pt x="192" y="230"/>
                    <a:pt x="192" y="224"/>
                  </a:cubicBezTo>
                  <a:cubicBezTo>
                    <a:pt x="192" y="218"/>
                    <a:pt x="196" y="213"/>
                    <a:pt x="202" y="213"/>
                  </a:cubicBezTo>
                  <a:cubicBezTo>
                    <a:pt x="384" y="213"/>
                    <a:pt x="384" y="213"/>
                    <a:pt x="384" y="213"/>
                  </a:cubicBezTo>
                  <a:cubicBezTo>
                    <a:pt x="390" y="213"/>
                    <a:pt x="394" y="218"/>
                    <a:pt x="394" y="224"/>
                  </a:cubicBezTo>
                  <a:cubicBezTo>
                    <a:pt x="394" y="230"/>
                    <a:pt x="390" y="234"/>
                    <a:pt x="384" y="234"/>
                  </a:cubicBezTo>
                  <a:close/>
                  <a:moveTo>
                    <a:pt x="384" y="170"/>
                  </a:moveTo>
                  <a:cubicBezTo>
                    <a:pt x="202" y="170"/>
                    <a:pt x="202" y="170"/>
                    <a:pt x="202" y="170"/>
                  </a:cubicBezTo>
                  <a:cubicBezTo>
                    <a:pt x="196" y="170"/>
                    <a:pt x="192" y="166"/>
                    <a:pt x="192" y="160"/>
                  </a:cubicBezTo>
                  <a:cubicBezTo>
                    <a:pt x="192" y="154"/>
                    <a:pt x="196" y="149"/>
                    <a:pt x="202" y="149"/>
                  </a:cubicBezTo>
                  <a:cubicBezTo>
                    <a:pt x="384" y="149"/>
                    <a:pt x="384" y="149"/>
                    <a:pt x="384" y="149"/>
                  </a:cubicBezTo>
                  <a:cubicBezTo>
                    <a:pt x="390" y="149"/>
                    <a:pt x="394" y="154"/>
                    <a:pt x="394" y="160"/>
                  </a:cubicBezTo>
                  <a:cubicBezTo>
                    <a:pt x="394" y="166"/>
                    <a:pt x="390" y="170"/>
                    <a:pt x="384" y="170"/>
                  </a:cubicBezTo>
                  <a:close/>
                </a:path>
              </a:pathLst>
            </a:custGeom>
            <a:solidFill>
              <a:srgbClr val="046736"/>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05" name="Freeform 10">
              <a:extLst>
                <a:ext uri="{FF2B5EF4-FFF2-40B4-BE49-F238E27FC236}">
                  <a16:creationId xmlns:a16="http://schemas.microsoft.com/office/drawing/2014/main" id="{4814E298-B8DA-41C1-A8F8-62977D3F495D}"/>
                </a:ext>
              </a:extLst>
            </p:cNvPr>
            <p:cNvSpPr>
              <a:spLocks noEditPoints="1"/>
            </p:cNvSpPr>
            <p:nvPr/>
          </p:nvSpPr>
          <p:spPr bwMode="auto">
            <a:xfrm>
              <a:off x="9079958" y="3337205"/>
              <a:ext cx="384048" cy="384048"/>
            </a:xfrm>
            <a:custGeom>
              <a:avLst/>
              <a:gdLst>
                <a:gd name="T0" fmla="*/ 632 w 754"/>
                <a:gd name="T1" fmla="*/ 553 h 754"/>
                <a:gd name="T2" fmla="*/ 427 w 754"/>
                <a:gd name="T3" fmla="*/ 532 h 754"/>
                <a:gd name="T4" fmla="*/ 334 w 754"/>
                <a:gd name="T5" fmla="*/ 502 h 754"/>
                <a:gd name="T6" fmla="*/ 583 w 754"/>
                <a:gd name="T7" fmla="*/ 474 h 754"/>
                <a:gd name="T8" fmla="*/ 533 w 754"/>
                <a:gd name="T9" fmla="*/ 424 h 754"/>
                <a:gd name="T10" fmla="*/ 501 w 754"/>
                <a:gd name="T11" fmla="*/ 451 h 754"/>
                <a:gd name="T12" fmla="*/ 390 w 754"/>
                <a:gd name="T13" fmla="*/ 402 h 754"/>
                <a:gd name="T14" fmla="*/ 394 w 754"/>
                <a:gd name="T15" fmla="*/ 407 h 754"/>
                <a:gd name="T16" fmla="*/ 372 w 754"/>
                <a:gd name="T17" fmla="*/ 365 h 754"/>
                <a:gd name="T18" fmla="*/ 513 w 754"/>
                <a:gd name="T19" fmla="*/ 312 h 754"/>
                <a:gd name="T20" fmla="*/ 374 w 754"/>
                <a:gd name="T21" fmla="*/ 324 h 754"/>
                <a:gd name="T22" fmla="*/ 380 w 754"/>
                <a:gd name="T23" fmla="*/ 369 h 754"/>
                <a:gd name="T24" fmla="*/ 384 w 754"/>
                <a:gd name="T25" fmla="*/ 406 h 754"/>
                <a:gd name="T26" fmla="*/ 447 w 754"/>
                <a:gd name="T27" fmla="*/ 437 h 754"/>
                <a:gd name="T28" fmla="*/ 500 w 754"/>
                <a:gd name="T29" fmla="*/ 396 h 754"/>
                <a:gd name="T30" fmla="*/ 522 w 754"/>
                <a:gd name="T31" fmla="*/ 324 h 754"/>
                <a:gd name="T32" fmla="*/ 397 w 754"/>
                <a:gd name="T33" fmla="*/ 324 h 754"/>
                <a:gd name="T34" fmla="*/ 391 w 754"/>
                <a:gd name="T35" fmla="*/ 302 h 754"/>
                <a:gd name="T36" fmla="*/ 392 w 754"/>
                <a:gd name="T37" fmla="*/ 371 h 754"/>
                <a:gd name="T38" fmla="*/ 456 w 754"/>
                <a:gd name="T39" fmla="*/ 402 h 754"/>
                <a:gd name="T40" fmla="*/ 463 w 754"/>
                <a:gd name="T41" fmla="*/ 403 h 754"/>
                <a:gd name="T42" fmla="*/ 446 w 754"/>
                <a:gd name="T43" fmla="*/ 396 h 754"/>
                <a:gd name="T44" fmla="*/ 441 w 754"/>
                <a:gd name="T45" fmla="*/ 406 h 754"/>
                <a:gd name="T46" fmla="*/ 451 w 754"/>
                <a:gd name="T47" fmla="*/ 371 h 754"/>
                <a:gd name="T48" fmla="*/ 438 w 754"/>
                <a:gd name="T49" fmla="*/ 355 h 754"/>
                <a:gd name="T50" fmla="*/ 427 w 754"/>
                <a:gd name="T51" fmla="*/ 407 h 754"/>
                <a:gd name="T52" fmla="*/ 418 w 754"/>
                <a:gd name="T53" fmla="*/ 313 h 754"/>
                <a:gd name="T54" fmla="*/ 416 w 754"/>
                <a:gd name="T55" fmla="*/ 304 h 754"/>
                <a:gd name="T56" fmla="*/ 410 w 754"/>
                <a:gd name="T57" fmla="*/ 349 h 754"/>
                <a:gd name="T58" fmla="*/ 418 w 754"/>
                <a:gd name="T59" fmla="*/ 407 h 754"/>
                <a:gd name="T60" fmla="*/ 416 w 754"/>
                <a:gd name="T61" fmla="*/ 399 h 754"/>
                <a:gd name="T62" fmla="*/ 426 w 754"/>
                <a:gd name="T63" fmla="*/ 310 h 754"/>
                <a:gd name="T64" fmla="*/ 436 w 754"/>
                <a:gd name="T65" fmla="*/ 360 h 754"/>
                <a:gd name="T66" fmla="*/ 428 w 754"/>
                <a:gd name="T67" fmla="*/ 349 h 754"/>
                <a:gd name="T68" fmla="*/ 440 w 754"/>
                <a:gd name="T69" fmla="*/ 321 h 754"/>
                <a:gd name="T70" fmla="*/ 472 w 754"/>
                <a:gd name="T71" fmla="*/ 313 h 754"/>
                <a:gd name="T72" fmla="*/ 470 w 754"/>
                <a:gd name="T73" fmla="*/ 304 h 754"/>
                <a:gd name="T74" fmla="*/ 456 w 754"/>
                <a:gd name="T75" fmla="*/ 360 h 754"/>
                <a:gd name="T76" fmla="*/ 481 w 754"/>
                <a:gd name="T77" fmla="*/ 324 h 754"/>
                <a:gd name="T78" fmla="*/ 487 w 754"/>
                <a:gd name="T79" fmla="*/ 302 h 754"/>
                <a:gd name="T80" fmla="*/ 476 w 754"/>
                <a:gd name="T81" fmla="*/ 368 h 754"/>
                <a:gd name="T82" fmla="*/ 490 w 754"/>
                <a:gd name="T83" fmla="*/ 407 h 754"/>
                <a:gd name="T84" fmla="*/ 488 w 754"/>
                <a:gd name="T85" fmla="*/ 399 h 754"/>
                <a:gd name="T86" fmla="*/ 498 w 754"/>
                <a:gd name="T87" fmla="*/ 310 h 754"/>
                <a:gd name="T88" fmla="*/ 505 w 754"/>
                <a:gd name="T89" fmla="*/ 371 h 754"/>
                <a:gd name="T90" fmla="*/ 492 w 754"/>
                <a:gd name="T91" fmla="*/ 355 h 754"/>
                <a:gd name="T92" fmla="*/ 518 w 754"/>
                <a:gd name="T93" fmla="*/ 349 h 754"/>
                <a:gd name="T94" fmla="*/ 512 w 754"/>
                <a:gd name="T95" fmla="*/ 351 h 754"/>
                <a:gd name="T96" fmla="*/ 520 w 754"/>
                <a:gd name="T97" fmla="*/ 365 h 754"/>
                <a:gd name="T98" fmla="*/ 484 w 754"/>
                <a:gd name="T99" fmla="*/ 402 h 754"/>
                <a:gd name="T100" fmla="*/ 484 w 754"/>
                <a:gd name="T101" fmla="*/ 365 h 754"/>
                <a:gd name="T102" fmla="*/ 480 w 754"/>
                <a:gd name="T103" fmla="*/ 365 h 754"/>
                <a:gd name="T104" fmla="*/ 464 w 754"/>
                <a:gd name="T105" fmla="*/ 353 h 754"/>
                <a:gd name="T106" fmla="*/ 466 w 754"/>
                <a:gd name="T107" fmla="*/ 318 h 754"/>
                <a:gd name="T108" fmla="*/ 464 w 754"/>
                <a:gd name="T109" fmla="*/ 319 h 754"/>
                <a:gd name="T110" fmla="*/ 444 w 754"/>
                <a:gd name="T111" fmla="*/ 308 h 754"/>
                <a:gd name="T112" fmla="*/ 430 w 754"/>
                <a:gd name="T113" fmla="*/ 360 h 754"/>
                <a:gd name="T114" fmla="*/ 429 w 754"/>
                <a:gd name="T115" fmla="*/ 365 h 754"/>
                <a:gd name="T116" fmla="*/ 408 w 754"/>
                <a:gd name="T117" fmla="*/ 407 h 754"/>
                <a:gd name="T118" fmla="*/ 411 w 754"/>
                <a:gd name="T119" fmla="*/ 308 h 754"/>
                <a:gd name="T120" fmla="*/ 393 w 754"/>
                <a:gd name="T121" fmla="*/ 365 h 754"/>
                <a:gd name="T122" fmla="*/ 390 w 754"/>
                <a:gd name="T123" fmla="*/ 365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4" h="754">
                  <a:moveTo>
                    <a:pt x="754" y="377"/>
                  </a:moveTo>
                  <a:lnTo>
                    <a:pt x="754" y="377"/>
                  </a:lnTo>
                  <a:cubicBezTo>
                    <a:pt x="754" y="169"/>
                    <a:pt x="585" y="0"/>
                    <a:pt x="377" y="0"/>
                  </a:cubicBezTo>
                  <a:cubicBezTo>
                    <a:pt x="169" y="0"/>
                    <a:pt x="0" y="169"/>
                    <a:pt x="0" y="377"/>
                  </a:cubicBezTo>
                  <a:cubicBezTo>
                    <a:pt x="0" y="585"/>
                    <a:pt x="169" y="754"/>
                    <a:pt x="377" y="754"/>
                  </a:cubicBezTo>
                  <a:cubicBezTo>
                    <a:pt x="585" y="754"/>
                    <a:pt x="754" y="585"/>
                    <a:pt x="754" y="377"/>
                  </a:cubicBezTo>
                  <a:close/>
                  <a:moveTo>
                    <a:pt x="632" y="553"/>
                  </a:moveTo>
                  <a:lnTo>
                    <a:pt x="632" y="553"/>
                  </a:lnTo>
                  <a:cubicBezTo>
                    <a:pt x="628" y="557"/>
                    <a:pt x="622" y="559"/>
                    <a:pt x="617" y="559"/>
                  </a:cubicBezTo>
                  <a:cubicBezTo>
                    <a:pt x="611" y="559"/>
                    <a:pt x="606" y="557"/>
                    <a:pt x="602" y="553"/>
                  </a:cubicBezTo>
                  <a:lnTo>
                    <a:pt x="551" y="502"/>
                  </a:lnTo>
                  <a:lnTo>
                    <a:pt x="364" y="502"/>
                  </a:lnTo>
                  <a:lnTo>
                    <a:pt x="364" y="532"/>
                  </a:lnTo>
                  <a:lnTo>
                    <a:pt x="427" y="532"/>
                  </a:lnTo>
                  <a:cubicBezTo>
                    <a:pt x="436" y="532"/>
                    <a:pt x="443" y="539"/>
                    <a:pt x="443" y="548"/>
                  </a:cubicBezTo>
                  <a:cubicBezTo>
                    <a:pt x="443" y="557"/>
                    <a:pt x="436" y="562"/>
                    <a:pt x="427" y="562"/>
                  </a:cubicBezTo>
                  <a:lnTo>
                    <a:pt x="271" y="562"/>
                  </a:lnTo>
                  <a:cubicBezTo>
                    <a:pt x="262" y="562"/>
                    <a:pt x="256" y="557"/>
                    <a:pt x="256" y="548"/>
                  </a:cubicBezTo>
                  <a:cubicBezTo>
                    <a:pt x="256" y="539"/>
                    <a:pt x="262" y="532"/>
                    <a:pt x="271" y="532"/>
                  </a:cubicBezTo>
                  <a:lnTo>
                    <a:pt x="334" y="532"/>
                  </a:lnTo>
                  <a:lnTo>
                    <a:pt x="334" y="502"/>
                  </a:lnTo>
                  <a:lnTo>
                    <a:pt x="131" y="502"/>
                  </a:lnTo>
                  <a:cubicBezTo>
                    <a:pt x="122" y="502"/>
                    <a:pt x="116" y="494"/>
                    <a:pt x="116" y="486"/>
                  </a:cubicBezTo>
                  <a:lnTo>
                    <a:pt x="116" y="207"/>
                  </a:lnTo>
                  <a:cubicBezTo>
                    <a:pt x="116" y="198"/>
                    <a:pt x="122" y="191"/>
                    <a:pt x="131" y="191"/>
                  </a:cubicBezTo>
                  <a:lnTo>
                    <a:pt x="567" y="191"/>
                  </a:lnTo>
                  <a:cubicBezTo>
                    <a:pt x="576" y="191"/>
                    <a:pt x="583" y="198"/>
                    <a:pt x="583" y="207"/>
                  </a:cubicBezTo>
                  <a:lnTo>
                    <a:pt x="583" y="474"/>
                  </a:lnTo>
                  <a:lnTo>
                    <a:pt x="632" y="522"/>
                  </a:lnTo>
                  <a:cubicBezTo>
                    <a:pt x="640" y="531"/>
                    <a:pt x="640" y="544"/>
                    <a:pt x="632" y="553"/>
                  </a:cubicBezTo>
                  <a:close/>
                  <a:moveTo>
                    <a:pt x="533" y="424"/>
                  </a:moveTo>
                  <a:lnTo>
                    <a:pt x="533" y="424"/>
                  </a:lnTo>
                  <a:lnTo>
                    <a:pt x="551" y="441"/>
                  </a:lnTo>
                  <a:lnTo>
                    <a:pt x="551" y="391"/>
                  </a:lnTo>
                  <a:cubicBezTo>
                    <a:pt x="547" y="403"/>
                    <a:pt x="541" y="414"/>
                    <a:pt x="533" y="424"/>
                  </a:cubicBezTo>
                  <a:close/>
                  <a:moveTo>
                    <a:pt x="551" y="321"/>
                  </a:moveTo>
                  <a:lnTo>
                    <a:pt x="551" y="321"/>
                  </a:lnTo>
                  <a:lnTo>
                    <a:pt x="551" y="223"/>
                  </a:lnTo>
                  <a:lnTo>
                    <a:pt x="147" y="223"/>
                  </a:lnTo>
                  <a:lnTo>
                    <a:pt x="147" y="470"/>
                  </a:lnTo>
                  <a:lnTo>
                    <a:pt x="519" y="470"/>
                  </a:lnTo>
                  <a:lnTo>
                    <a:pt x="501" y="451"/>
                  </a:lnTo>
                  <a:cubicBezTo>
                    <a:pt x="485" y="460"/>
                    <a:pt x="467" y="465"/>
                    <a:pt x="447" y="465"/>
                  </a:cubicBezTo>
                  <a:cubicBezTo>
                    <a:pt x="387" y="465"/>
                    <a:pt x="338" y="416"/>
                    <a:pt x="338" y="355"/>
                  </a:cubicBezTo>
                  <a:cubicBezTo>
                    <a:pt x="338" y="295"/>
                    <a:pt x="387" y="246"/>
                    <a:pt x="447" y="246"/>
                  </a:cubicBezTo>
                  <a:cubicBezTo>
                    <a:pt x="496" y="246"/>
                    <a:pt x="537" y="278"/>
                    <a:pt x="551" y="321"/>
                  </a:cubicBezTo>
                  <a:close/>
                  <a:moveTo>
                    <a:pt x="392" y="401"/>
                  </a:moveTo>
                  <a:lnTo>
                    <a:pt x="392" y="401"/>
                  </a:lnTo>
                  <a:cubicBezTo>
                    <a:pt x="391" y="401"/>
                    <a:pt x="390" y="401"/>
                    <a:pt x="390" y="402"/>
                  </a:cubicBezTo>
                  <a:cubicBezTo>
                    <a:pt x="390" y="403"/>
                    <a:pt x="390" y="405"/>
                    <a:pt x="390" y="407"/>
                  </a:cubicBezTo>
                  <a:cubicBezTo>
                    <a:pt x="390" y="410"/>
                    <a:pt x="390" y="412"/>
                    <a:pt x="390" y="412"/>
                  </a:cubicBezTo>
                  <a:cubicBezTo>
                    <a:pt x="390" y="413"/>
                    <a:pt x="390" y="413"/>
                    <a:pt x="390" y="413"/>
                  </a:cubicBezTo>
                  <a:cubicBezTo>
                    <a:pt x="391" y="413"/>
                    <a:pt x="391" y="413"/>
                    <a:pt x="391" y="414"/>
                  </a:cubicBezTo>
                  <a:cubicBezTo>
                    <a:pt x="391" y="414"/>
                    <a:pt x="392" y="414"/>
                    <a:pt x="392" y="414"/>
                  </a:cubicBezTo>
                  <a:cubicBezTo>
                    <a:pt x="392" y="414"/>
                    <a:pt x="393" y="413"/>
                    <a:pt x="393" y="412"/>
                  </a:cubicBezTo>
                  <a:cubicBezTo>
                    <a:pt x="394" y="411"/>
                    <a:pt x="394" y="410"/>
                    <a:pt x="394" y="407"/>
                  </a:cubicBezTo>
                  <a:cubicBezTo>
                    <a:pt x="394" y="405"/>
                    <a:pt x="394" y="403"/>
                    <a:pt x="393" y="402"/>
                  </a:cubicBezTo>
                  <a:cubicBezTo>
                    <a:pt x="393" y="401"/>
                    <a:pt x="392" y="401"/>
                    <a:pt x="392" y="401"/>
                  </a:cubicBezTo>
                  <a:close/>
                  <a:moveTo>
                    <a:pt x="374" y="353"/>
                  </a:moveTo>
                  <a:lnTo>
                    <a:pt x="374" y="353"/>
                  </a:lnTo>
                  <a:cubicBezTo>
                    <a:pt x="373" y="353"/>
                    <a:pt x="372" y="354"/>
                    <a:pt x="372" y="355"/>
                  </a:cubicBezTo>
                  <a:cubicBezTo>
                    <a:pt x="372" y="356"/>
                    <a:pt x="372" y="358"/>
                    <a:pt x="372" y="360"/>
                  </a:cubicBezTo>
                  <a:cubicBezTo>
                    <a:pt x="372" y="363"/>
                    <a:pt x="372" y="364"/>
                    <a:pt x="372" y="365"/>
                  </a:cubicBezTo>
                  <a:cubicBezTo>
                    <a:pt x="372" y="366"/>
                    <a:pt x="373" y="367"/>
                    <a:pt x="374" y="367"/>
                  </a:cubicBezTo>
                  <a:cubicBezTo>
                    <a:pt x="374" y="367"/>
                    <a:pt x="375" y="366"/>
                    <a:pt x="375" y="365"/>
                  </a:cubicBezTo>
                  <a:cubicBezTo>
                    <a:pt x="376" y="364"/>
                    <a:pt x="376" y="362"/>
                    <a:pt x="376" y="360"/>
                  </a:cubicBezTo>
                  <a:cubicBezTo>
                    <a:pt x="376" y="358"/>
                    <a:pt x="376" y="356"/>
                    <a:pt x="375" y="355"/>
                  </a:cubicBezTo>
                  <a:cubicBezTo>
                    <a:pt x="375" y="354"/>
                    <a:pt x="374" y="353"/>
                    <a:pt x="374" y="353"/>
                  </a:cubicBezTo>
                  <a:close/>
                  <a:moveTo>
                    <a:pt x="513" y="312"/>
                  </a:moveTo>
                  <a:lnTo>
                    <a:pt x="513" y="312"/>
                  </a:lnTo>
                  <a:lnTo>
                    <a:pt x="510" y="308"/>
                  </a:lnTo>
                  <a:lnTo>
                    <a:pt x="512" y="307"/>
                  </a:lnTo>
                  <a:cubicBezTo>
                    <a:pt x="497" y="287"/>
                    <a:pt x="474" y="274"/>
                    <a:pt x="447" y="274"/>
                  </a:cubicBezTo>
                  <a:cubicBezTo>
                    <a:pt x="420" y="274"/>
                    <a:pt x="396" y="288"/>
                    <a:pt x="381" y="309"/>
                  </a:cubicBezTo>
                  <a:cubicBezTo>
                    <a:pt x="381" y="310"/>
                    <a:pt x="382" y="311"/>
                    <a:pt x="382" y="313"/>
                  </a:cubicBezTo>
                  <a:cubicBezTo>
                    <a:pt x="382" y="317"/>
                    <a:pt x="381" y="319"/>
                    <a:pt x="380" y="321"/>
                  </a:cubicBezTo>
                  <a:cubicBezTo>
                    <a:pt x="378" y="323"/>
                    <a:pt x="376" y="324"/>
                    <a:pt x="374" y="324"/>
                  </a:cubicBezTo>
                  <a:cubicBezTo>
                    <a:pt x="373" y="324"/>
                    <a:pt x="373" y="324"/>
                    <a:pt x="373" y="324"/>
                  </a:cubicBezTo>
                  <a:cubicBezTo>
                    <a:pt x="369" y="333"/>
                    <a:pt x="367" y="343"/>
                    <a:pt x="366" y="354"/>
                  </a:cubicBezTo>
                  <a:cubicBezTo>
                    <a:pt x="367" y="353"/>
                    <a:pt x="367" y="352"/>
                    <a:pt x="368" y="351"/>
                  </a:cubicBezTo>
                  <a:cubicBezTo>
                    <a:pt x="369" y="350"/>
                    <a:pt x="371" y="349"/>
                    <a:pt x="374" y="349"/>
                  </a:cubicBezTo>
                  <a:cubicBezTo>
                    <a:pt x="376" y="349"/>
                    <a:pt x="378" y="350"/>
                    <a:pt x="380" y="352"/>
                  </a:cubicBezTo>
                  <a:cubicBezTo>
                    <a:pt x="381" y="353"/>
                    <a:pt x="382" y="356"/>
                    <a:pt x="382" y="360"/>
                  </a:cubicBezTo>
                  <a:cubicBezTo>
                    <a:pt x="382" y="364"/>
                    <a:pt x="381" y="367"/>
                    <a:pt x="380" y="369"/>
                  </a:cubicBezTo>
                  <a:cubicBezTo>
                    <a:pt x="378" y="370"/>
                    <a:pt x="376" y="371"/>
                    <a:pt x="374" y="371"/>
                  </a:cubicBezTo>
                  <a:cubicBezTo>
                    <a:pt x="371" y="371"/>
                    <a:pt x="369" y="370"/>
                    <a:pt x="368" y="368"/>
                  </a:cubicBezTo>
                  <a:cubicBezTo>
                    <a:pt x="368" y="368"/>
                    <a:pt x="367" y="368"/>
                    <a:pt x="367" y="368"/>
                  </a:cubicBezTo>
                  <a:cubicBezTo>
                    <a:pt x="369" y="379"/>
                    <a:pt x="373" y="388"/>
                    <a:pt x="378" y="397"/>
                  </a:cubicBezTo>
                  <a:cubicBezTo>
                    <a:pt x="379" y="398"/>
                    <a:pt x="379" y="398"/>
                    <a:pt x="380" y="399"/>
                  </a:cubicBezTo>
                  <a:cubicBezTo>
                    <a:pt x="380" y="400"/>
                    <a:pt x="381" y="401"/>
                    <a:pt x="381" y="402"/>
                  </a:cubicBezTo>
                  <a:cubicBezTo>
                    <a:pt x="382" y="403"/>
                    <a:pt x="383" y="404"/>
                    <a:pt x="384" y="406"/>
                  </a:cubicBezTo>
                  <a:cubicBezTo>
                    <a:pt x="384" y="403"/>
                    <a:pt x="385" y="400"/>
                    <a:pt x="386" y="399"/>
                  </a:cubicBezTo>
                  <a:cubicBezTo>
                    <a:pt x="387" y="397"/>
                    <a:pt x="389" y="396"/>
                    <a:pt x="392" y="396"/>
                  </a:cubicBezTo>
                  <a:cubicBezTo>
                    <a:pt x="394" y="396"/>
                    <a:pt x="396" y="397"/>
                    <a:pt x="398" y="399"/>
                  </a:cubicBezTo>
                  <a:cubicBezTo>
                    <a:pt x="399" y="401"/>
                    <a:pt x="400" y="404"/>
                    <a:pt x="400" y="407"/>
                  </a:cubicBezTo>
                  <a:cubicBezTo>
                    <a:pt x="400" y="411"/>
                    <a:pt x="399" y="414"/>
                    <a:pt x="398" y="416"/>
                  </a:cubicBezTo>
                  <a:cubicBezTo>
                    <a:pt x="397" y="417"/>
                    <a:pt x="396" y="417"/>
                    <a:pt x="396" y="418"/>
                  </a:cubicBezTo>
                  <a:cubicBezTo>
                    <a:pt x="410" y="429"/>
                    <a:pt x="428" y="437"/>
                    <a:pt x="447" y="437"/>
                  </a:cubicBezTo>
                  <a:cubicBezTo>
                    <a:pt x="467" y="437"/>
                    <a:pt x="485" y="430"/>
                    <a:pt x="499" y="418"/>
                  </a:cubicBezTo>
                  <a:lnTo>
                    <a:pt x="499" y="407"/>
                  </a:lnTo>
                  <a:cubicBezTo>
                    <a:pt x="499" y="405"/>
                    <a:pt x="499" y="404"/>
                    <a:pt x="499" y="403"/>
                  </a:cubicBezTo>
                  <a:cubicBezTo>
                    <a:pt x="499" y="403"/>
                    <a:pt x="498" y="404"/>
                    <a:pt x="498" y="404"/>
                  </a:cubicBezTo>
                  <a:lnTo>
                    <a:pt x="495" y="406"/>
                  </a:lnTo>
                  <a:lnTo>
                    <a:pt x="492" y="402"/>
                  </a:lnTo>
                  <a:lnTo>
                    <a:pt x="500" y="396"/>
                  </a:lnTo>
                  <a:lnTo>
                    <a:pt x="505" y="396"/>
                  </a:lnTo>
                  <a:lnTo>
                    <a:pt x="505" y="412"/>
                  </a:lnTo>
                  <a:cubicBezTo>
                    <a:pt x="507" y="411"/>
                    <a:pt x="509" y="409"/>
                    <a:pt x="510" y="407"/>
                  </a:cubicBezTo>
                  <a:cubicBezTo>
                    <a:pt x="510" y="403"/>
                    <a:pt x="511" y="400"/>
                    <a:pt x="512" y="399"/>
                  </a:cubicBezTo>
                  <a:cubicBezTo>
                    <a:pt x="513" y="397"/>
                    <a:pt x="515" y="396"/>
                    <a:pt x="518" y="396"/>
                  </a:cubicBezTo>
                  <a:cubicBezTo>
                    <a:pt x="525" y="384"/>
                    <a:pt x="529" y="370"/>
                    <a:pt x="529" y="355"/>
                  </a:cubicBezTo>
                  <a:cubicBezTo>
                    <a:pt x="529" y="344"/>
                    <a:pt x="526" y="333"/>
                    <a:pt x="522" y="324"/>
                  </a:cubicBezTo>
                  <a:lnTo>
                    <a:pt x="517" y="324"/>
                  </a:lnTo>
                  <a:lnTo>
                    <a:pt x="517" y="314"/>
                  </a:lnTo>
                  <a:cubicBezTo>
                    <a:pt x="516" y="313"/>
                    <a:pt x="516" y="312"/>
                    <a:pt x="515" y="310"/>
                  </a:cubicBezTo>
                  <a:lnTo>
                    <a:pt x="513" y="312"/>
                  </a:lnTo>
                  <a:lnTo>
                    <a:pt x="513" y="312"/>
                  </a:lnTo>
                  <a:close/>
                  <a:moveTo>
                    <a:pt x="397" y="324"/>
                  </a:moveTo>
                  <a:lnTo>
                    <a:pt x="397" y="324"/>
                  </a:lnTo>
                  <a:lnTo>
                    <a:pt x="391" y="324"/>
                  </a:lnTo>
                  <a:lnTo>
                    <a:pt x="391" y="312"/>
                  </a:lnTo>
                  <a:cubicBezTo>
                    <a:pt x="391" y="311"/>
                    <a:pt x="391" y="309"/>
                    <a:pt x="391" y="308"/>
                  </a:cubicBezTo>
                  <a:cubicBezTo>
                    <a:pt x="391" y="309"/>
                    <a:pt x="390" y="309"/>
                    <a:pt x="390" y="310"/>
                  </a:cubicBezTo>
                  <a:lnTo>
                    <a:pt x="387" y="312"/>
                  </a:lnTo>
                  <a:lnTo>
                    <a:pt x="384" y="308"/>
                  </a:lnTo>
                  <a:lnTo>
                    <a:pt x="391" y="302"/>
                  </a:lnTo>
                  <a:lnTo>
                    <a:pt x="397" y="302"/>
                  </a:lnTo>
                  <a:lnTo>
                    <a:pt x="397" y="324"/>
                  </a:lnTo>
                  <a:lnTo>
                    <a:pt x="397" y="324"/>
                  </a:lnTo>
                  <a:close/>
                  <a:moveTo>
                    <a:pt x="400" y="360"/>
                  </a:moveTo>
                  <a:lnTo>
                    <a:pt x="400" y="360"/>
                  </a:lnTo>
                  <a:cubicBezTo>
                    <a:pt x="400" y="364"/>
                    <a:pt x="399" y="367"/>
                    <a:pt x="398" y="369"/>
                  </a:cubicBezTo>
                  <a:cubicBezTo>
                    <a:pt x="396" y="370"/>
                    <a:pt x="394" y="371"/>
                    <a:pt x="392" y="371"/>
                  </a:cubicBezTo>
                  <a:cubicBezTo>
                    <a:pt x="389" y="371"/>
                    <a:pt x="387" y="370"/>
                    <a:pt x="386" y="368"/>
                  </a:cubicBezTo>
                  <a:cubicBezTo>
                    <a:pt x="384" y="367"/>
                    <a:pt x="384" y="364"/>
                    <a:pt x="384" y="360"/>
                  </a:cubicBezTo>
                  <a:cubicBezTo>
                    <a:pt x="384" y="356"/>
                    <a:pt x="384" y="353"/>
                    <a:pt x="386" y="351"/>
                  </a:cubicBezTo>
                  <a:cubicBezTo>
                    <a:pt x="387" y="350"/>
                    <a:pt x="389" y="349"/>
                    <a:pt x="392" y="349"/>
                  </a:cubicBezTo>
                  <a:cubicBezTo>
                    <a:pt x="394" y="349"/>
                    <a:pt x="396" y="350"/>
                    <a:pt x="398" y="352"/>
                  </a:cubicBezTo>
                  <a:cubicBezTo>
                    <a:pt x="399" y="353"/>
                    <a:pt x="400" y="356"/>
                    <a:pt x="400" y="360"/>
                  </a:cubicBezTo>
                  <a:close/>
                  <a:moveTo>
                    <a:pt x="456" y="402"/>
                  </a:moveTo>
                  <a:lnTo>
                    <a:pt x="456" y="402"/>
                  </a:lnTo>
                  <a:lnTo>
                    <a:pt x="464" y="396"/>
                  </a:lnTo>
                  <a:lnTo>
                    <a:pt x="469" y="396"/>
                  </a:lnTo>
                  <a:lnTo>
                    <a:pt x="469" y="418"/>
                  </a:lnTo>
                  <a:lnTo>
                    <a:pt x="463" y="418"/>
                  </a:lnTo>
                  <a:lnTo>
                    <a:pt x="463" y="407"/>
                  </a:lnTo>
                  <a:cubicBezTo>
                    <a:pt x="463" y="405"/>
                    <a:pt x="463" y="404"/>
                    <a:pt x="463" y="403"/>
                  </a:cubicBezTo>
                  <a:cubicBezTo>
                    <a:pt x="463" y="403"/>
                    <a:pt x="462" y="404"/>
                    <a:pt x="462" y="404"/>
                  </a:cubicBezTo>
                  <a:lnTo>
                    <a:pt x="459" y="406"/>
                  </a:lnTo>
                  <a:lnTo>
                    <a:pt x="456" y="402"/>
                  </a:lnTo>
                  <a:lnTo>
                    <a:pt x="456" y="402"/>
                  </a:lnTo>
                  <a:close/>
                  <a:moveTo>
                    <a:pt x="438" y="402"/>
                  </a:moveTo>
                  <a:lnTo>
                    <a:pt x="438" y="402"/>
                  </a:lnTo>
                  <a:lnTo>
                    <a:pt x="446" y="396"/>
                  </a:lnTo>
                  <a:lnTo>
                    <a:pt x="451" y="396"/>
                  </a:lnTo>
                  <a:lnTo>
                    <a:pt x="451" y="418"/>
                  </a:lnTo>
                  <a:lnTo>
                    <a:pt x="445" y="418"/>
                  </a:lnTo>
                  <a:lnTo>
                    <a:pt x="445" y="407"/>
                  </a:lnTo>
                  <a:cubicBezTo>
                    <a:pt x="445" y="405"/>
                    <a:pt x="445" y="404"/>
                    <a:pt x="445" y="403"/>
                  </a:cubicBezTo>
                  <a:cubicBezTo>
                    <a:pt x="445" y="403"/>
                    <a:pt x="444" y="404"/>
                    <a:pt x="444" y="404"/>
                  </a:cubicBezTo>
                  <a:lnTo>
                    <a:pt x="441" y="406"/>
                  </a:lnTo>
                  <a:lnTo>
                    <a:pt x="438" y="402"/>
                  </a:lnTo>
                  <a:lnTo>
                    <a:pt x="438" y="402"/>
                  </a:lnTo>
                  <a:close/>
                  <a:moveTo>
                    <a:pt x="438" y="355"/>
                  </a:moveTo>
                  <a:lnTo>
                    <a:pt x="438" y="355"/>
                  </a:lnTo>
                  <a:lnTo>
                    <a:pt x="446" y="349"/>
                  </a:lnTo>
                  <a:lnTo>
                    <a:pt x="451" y="349"/>
                  </a:lnTo>
                  <a:lnTo>
                    <a:pt x="451" y="371"/>
                  </a:lnTo>
                  <a:lnTo>
                    <a:pt x="445" y="371"/>
                  </a:lnTo>
                  <a:lnTo>
                    <a:pt x="445" y="359"/>
                  </a:lnTo>
                  <a:cubicBezTo>
                    <a:pt x="445" y="358"/>
                    <a:pt x="445" y="357"/>
                    <a:pt x="445" y="355"/>
                  </a:cubicBezTo>
                  <a:cubicBezTo>
                    <a:pt x="445" y="356"/>
                    <a:pt x="444" y="356"/>
                    <a:pt x="444" y="357"/>
                  </a:cubicBezTo>
                  <a:lnTo>
                    <a:pt x="441" y="359"/>
                  </a:lnTo>
                  <a:lnTo>
                    <a:pt x="438" y="355"/>
                  </a:lnTo>
                  <a:lnTo>
                    <a:pt x="438" y="355"/>
                  </a:lnTo>
                  <a:close/>
                  <a:moveTo>
                    <a:pt x="420" y="402"/>
                  </a:moveTo>
                  <a:lnTo>
                    <a:pt x="420" y="402"/>
                  </a:lnTo>
                  <a:lnTo>
                    <a:pt x="428" y="396"/>
                  </a:lnTo>
                  <a:lnTo>
                    <a:pt x="433" y="396"/>
                  </a:lnTo>
                  <a:lnTo>
                    <a:pt x="433" y="418"/>
                  </a:lnTo>
                  <a:lnTo>
                    <a:pt x="427" y="418"/>
                  </a:lnTo>
                  <a:lnTo>
                    <a:pt x="427" y="407"/>
                  </a:lnTo>
                  <a:cubicBezTo>
                    <a:pt x="427" y="405"/>
                    <a:pt x="427" y="404"/>
                    <a:pt x="427" y="403"/>
                  </a:cubicBezTo>
                  <a:cubicBezTo>
                    <a:pt x="427" y="403"/>
                    <a:pt x="426" y="404"/>
                    <a:pt x="426" y="404"/>
                  </a:cubicBezTo>
                  <a:lnTo>
                    <a:pt x="423" y="406"/>
                  </a:lnTo>
                  <a:lnTo>
                    <a:pt x="420" y="402"/>
                  </a:lnTo>
                  <a:lnTo>
                    <a:pt x="420" y="402"/>
                  </a:lnTo>
                  <a:close/>
                  <a:moveTo>
                    <a:pt x="418" y="313"/>
                  </a:moveTo>
                  <a:lnTo>
                    <a:pt x="418" y="313"/>
                  </a:lnTo>
                  <a:cubicBezTo>
                    <a:pt x="418" y="317"/>
                    <a:pt x="417" y="319"/>
                    <a:pt x="416" y="321"/>
                  </a:cubicBezTo>
                  <a:cubicBezTo>
                    <a:pt x="414" y="323"/>
                    <a:pt x="412" y="324"/>
                    <a:pt x="410" y="324"/>
                  </a:cubicBezTo>
                  <a:cubicBezTo>
                    <a:pt x="407" y="324"/>
                    <a:pt x="405" y="323"/>
                    <a:pt x="404" y="321"/>
                  </a:cubicBezTo>
                  <a:cubicBezTo>
                    <a:pt x="402" y="319"/>
                    <a:pt x="402" y="316"/>
                    <a:pt x="402" y="313"/>
                  </a:cubicBezTo>
                  <a:cubicBezTo>
                    <a:pt x="402" y="309"/>
                    <a:pt x="402" y="306"/>
                    <a:pt x="404" y="304"/>
                  </a:cubicBezTo>
                  <a:cubicBezTo>
                    <a:pt x="405" y="302"/>
                    <a:pt x="407" y="301"/>
                    <a:pt x="410" y="301"/>
                  </a:cubicBezTo>
                  <a:cubicBezTo>
                    <a:pt x="412" y="301"/>
                    <a:pt x="414" y="302"/>
                    <a:pt x="416" y="304"/>
                  </a:cubicBezTo>
                  <a:cubicBezTo>
                    <a:pt x="417" y="306"/>
                    <a:pt x="418" y="309"/>
                    <a:pt x="418" y="313"/>
                  </a:cubicBezTo>
                  <a:close/>
                  <a:moveTo>
                    <a:pt x="409" y="355"/>
                  </a:moveTo>
                  <a:lnTo>
                    <a:pt x="409" y="355"/>
                  </a:lnTo>
                  <a:cubicBezTo>
                    <a:pt x="409" y="356"/>
                    <a:pt x="408" y="356"/>
                    <a:pt x="408" y="357"/>
                  </a:cubicBezTo>
                  <a:lnTo>
                    <a:pt x="405" y="359"/>
                  </a:lnTo>
                  <a:lnTo>
                    <a:pt x="402" y="355"/>
                  </a:lnTo>
                  <a:lnTo>
                    <a:pt x="410" y="349"/>
                  </a:lnTo>
                  <a:lnTo>
                    <a:pt x="415" y="349"/>
                  </a:lnTo>
                  <a:lnTo>
                    <a:pt x="415" y="371"/>
                  </a:lnTo>
                  <a:lnTo>
                    <a:pt x="409" y="371"/>
                  </a:lnTo>
                  <a:lnTo>
                    <a:pt x="409" y="359"/>
                  </a:lnTo>
                  <a:cubicBezTo>
                    <a:pt x="409" y="358"/>
                    <a:pt x="409" y="357"/>
                    <a:pt x="409" y="355"/>
                  </a:cubicBezTo>
                  <a:close/>
                  <a:moveTo>
                    <a:pt x="418" y="407"/>
                  </a:moveTo>
                  <a:lnTo>
                    <a:pt x="418" y="407"/>
                  </a:lnTo>
                  <a:cubicBezTo>
                    <a:pt x="418" y="411"/>
                    <a:pt x="417" y="414"/>
                    <a:pt x="416" y="416"/>
                  </a:cubicBezTo>
                  <a:cubicBezTo>
                    <a:pt x="414" y="418"/>
                    <a:pt x="412" y="419"/>
                    <a:pt x="410" y="419"/>
                  </a:cubicBezTo>
                  <a:cubicBezTo>
                    <a:pt x="407" y="419"/>
                    <a:pt x="405" y="418"/>
                    <a:pt x="404" y="416"/>
                  </a:cubicBezTo>
                  <a:cubicBezTo>
                    <a:pt x="402" y="414"/>
                    <a:pt x="402" y="411"/>
                    <a:pt x="402" y="407"/>
                  </a:cubicBezTo>
                  <a:cubicBezTo>
                    <a:pt x="402" y="403"/>
                    <a:pt x="402" y="401"/>
                    <a:pt x="404" y="399"/>
                  </a:cubicBezTo>
                  <a:cubicBezTo>
                    <a:pt x="405" y="397"/>
                    <a:pt x="407" y="396"/>
                    <a:pt x="410" y="396"/>
                  </a:cubicBezTo>
                  <a:cubicBezTo>
                    <a:pt x="412" y="396"/>
                    <a:pt x="414" y="397"/>
                    <a:pt x="416" y="399"/>
                  </a:cubicBezTo>
                  <a:cubicBezTo>
                    <a:pt x="417" y="401"/>
                    <a:pt x="418" y="404"/>
                    <a:pt x="418" y="407"/>
                  </a:cubicBezTo>
                  <a:close/>
                  <a:moveTo>
                    <a:pt x="433" y="324"/>
                  </a:moveTo>
                  <a:lnTo>
                    <a:pt x="433" y="324"/>
                  </a:lnTo>
                  <a:lnTo>
                    <a:pt x="427" y="324"/>
                  </a:lnTo>
                  <a:lnTo>
                    <a:pt x="427" y="312"/>
                  </a:lnTo>
                  <a:cubicBezTo>
                    <a:pt x="427" y="311"/>
                    <a:pt x="427" y="309"/>
                    <a:pt x="427" y="308"/>
                  </a:cubicBezTo>
                  <a:cubicBezTo>
                    <a:pt x="427" y="309"/>
                    <a:pt x="426" y="309"/>
                    <a:pt x="426" y="310"/>
                  </a:cubicBezTo>
                  <a:lnTo>
                    <a:pt x="423" y="312"/>
                  </a:lnTo>
                  <a:lnTo>
                    <a:pt x="420" y="308"/>
                  </a:lnTo>
                  <a:lnTo>
                    <a:pt x="428" y="302"/>
                  </a:lnTo>
                  <a:lnTo>
                    <a:pt x="433" y="302"/>
                  </a:lnTo>
                  <a:lnTo>
                    <a:pt x="433" y="324"/>
                  </a:lnTo>
                  <a:lnTo>
                    <a:pt x="433" y="324"/>
                  </a:lnTo>
                  <a:close/>
                  <a:moveTo>
                    <a:pt x="436" y="360"/>
                  </a:moveTo>
                  <a:lnTo>
                    <a:pt x="436" y="360"/>
                  </a:lnTo>
                  <a:cubicBezTo>
                    <a:pt x="436" y="364"/>
                    <a:pt x="435" y="367"/>
                    <a:pt x="434" y="369"/>
                  </a:cubicBezTo>
                  <a:cubicBezTo>
                    <a:pt x="432" y="370"/>
                    <a:pt x="431" y="371"/>
                    <a:pt x="428" y="371"/>
                  </a:cubicBezTo>
                  <a:cubicBezTo>
                    <a:pt x="425" y="371"/>
                    <a:pt x="423" y="370"/>
                    <a:pt x="422" y="368"/>
                  </a:cubicBezTo>
                  <a:cubicBezTo>
                    <a:pt x="421" y="367"/>
                    <a:pt x="420" y="364"/>
                    <a:pt x="420" y="360"/>
                  </a:cubicBezTo>
                  <a:cubicBezTo>
                    <a:pt x="420" y="356"/>
                    <a:pt x="421" y="353"/>
                    <a:pt x="422" y="351"/>
                  </a:cubicBezTo>
                  <a:cubicBezTo>
                    <a:pt x="423" y="350"/>
                    <a:pt x="425" y="349"/>
                    <a:pt x="428" y="349"/>
                  </a:cubicBezTo>
                  <a:cubicBezTo>
                    <a:pt x="430" y="349"/>
                    <a:pt x="432" y="350"/>
                    <a:pt x="434" y="352"/>
                  </a:cubicBezTo>
                  <a:cubicBezTo>
                    <a:pt x="435" y="353"/>
                    <a:pt x="436" y="356"/>
                    <a:pt x="436" y="360"/>
                  </a:cubicBezTo>
                  <a:close/>
                  <a:moveTo>
                    <a:pt x="454" y="313"/>
                  </a:moveTo>
                  <a:lnTo>
                    <a:pt x="454" y="313"/>
                  </a:lnTo>
                  <a:cubicBezTo>
                    <a:pt x="454" y="317"/>
                    <a:pt x="453" y="319"/>
                    <a:pt x="452" y="321"/>
                  </a:cubicBezTo>
                  <a:cubicBezTo>
                    <a:pt x="451" y="323"/>
                    <a:pt x="449" y="324"/>
                    <a:pt x="446" y="324"/>
                  </a:cubicBezTo>
                  <a:cubicBezTo>
                    <a:pt x="443" y="324"/>
                    <a:pt x="441" y="323"/>
                    <a:pt x="440" y="321"/>
                  </a:cubicBezTo>
                  <a:cubicBezTo>
                    <a:pt x="439" y="319"/>
                    <a:pt x="438" y="316"/>
                    <a:pt x="438" y="313"/>
                  </a:cubicBezTo>
                  <a:cubicBezTo>
                    <a:pt x="438" y="309"/>
                    <a:pt x="439" y="306"/>
                    <a:pt x="440" y="304"/>
                  </a:cubicBezTo>
                  <a:cubicBezTo>
                    <a:pt x="441" y="302"/>
                    <a:pt x="443" y="301"/>
                    <a:pt x="446" y="301"/>
                  </a:cubicBezTo>
                  <a:cubicBezTo>
                    <a:pt x="448" y="301"/>
                    <a:pt x="450" y="302"/>
                    <a:pt x="452" y="304"/>
                  </a:cubicBezTo>
                  <a:cubicBezTo>
                    <a:pt x="453" y="306"/>
                    <a:pt x="454" y="309"/>
                    <a:pt x="454" y="313"/>
                  </a:cubicBezTo>
                  <a:close/>
                  <a:moveTo>
                    <a:pt x="472" y="313"/>
                  </a:moveTo>
                  <a:lnTo>
                    <a:pt x="472" y="313"/>
                  </a:lnTo>
                  <a:cubicBezTo>
                    <a:pt x="472" y="317"/>
                    <a:pt x="471" y="319"/>
                    <a:pt x="470" y="321"/>
                  </a:cubicBezTo>
                  <a:cubicBezTo>
                    <a:pt x="469" y="323"/>
                    <a:pt x="467" y="324"/>
                    <a:pt x="464" y="324"/>
                  </a:cubicBezTo>
                  <a:cubicBezTo>
                    <a:pt x="461" y="324"/>
                    <a:pt x="459" y="323"/>
                    <a:pt x="458" y="321"/>
                  </a:cubicBezTo>
                  <a:cubicBezTo>
                    <a:pt x="457" y="319"/>
                    <a:pt x="456" y="316"/>
                    <a:pt x="456" y="313"/>
                  </a:cubicBezTo>
                  <a:cubicBezTo>
                    <a:pt x="456" y="309"/>
                    <a:pt x="457" y="306"/>
                    <a:pt x="458" y="304"/>
                  </a:cubicBezTo>
                  <a:cubicBezTo>
                    <a:pt x="459" y="302"/>
                    <a:pt x="461" y="301"/>
                    <a:pt x="464" y="301"/>
                  </a:cubicBezTo>
                  <a:cubicBezTo>
                    <a:pt x="467" y="301"/>
                    <a:pt x="469" y="302"/>
                    <a:pt x="470" y="304"/>
                  </a:cubicBezTo>
                  <a:cubicBezTo>
                    <a:pt x="471" y="306"/>
                    <a:pt x="472" y="309"/>
                    <a:pt x="472" y="313"/>
                  </a:cubicBezTo>
                  <a:close/>
                  <a:moveTo>
                    <a:pt x="472" y="360"/>
                  </a:moveTo>
                  <a:lnTo>
                    <a:pt x="472" y="360"/>
                  </a:lnTo>
                  <a:cubicBezTo>
                    <a:pt x="472" y="364"/>
                    <a:pt x="471" y="367"/>
                    <a:pt x="470" y="369"/>
                  </a:cubicBezTo>
                  <a:cubicBezTo>
                    <a:pt x="469" y="370"/>
                    <a:pt x="467" y="371"/>
                    <a:pt x="464" y="371"/>
                  </a:cubicBezTo>
                  <a:cubicBezTo>
                    <a:pt x="461" y="371"/>
                    <a:pt x="459" y="370"/>
                    <a:pt x="458" y="368"/>
                  </a:cubicBezTo>
                  <a:cubicBezTo>
                    <a:pt x="457" y="367"/>
                    <a:pt x="456" y="364"/>
                    <a:pt x="456" y="360"/>
                  </a:cubicBezTo>
                  <a:cubicBezTo>
                    <a:pt x="456" y="356"/>
                    <a:pt x="457" y="353"/>
                    <a:pt x="458" y="351"/>
                  </a:cubicBezTo>
                  <a:cubicBezTo>
                    <a:pt x="459" y="350"/>
                    <a:pt x="461" y="349"/>
                    <a:pt x="464" y="349"/>
                  </a:cubicBezTo>
                  <a:cubicBezTo>
                    <a:pt x="467" y="349"/>
                    <a:pt x="469" y="350"/>
                    <a:pt x="470" y="352"/>
                  </a:cubicBezTo>
                  <a:cubicBezTo>
                    <a:pt x="471" y="353"/>
                    <a:pt x="472" y="356"/>
                    <a:pt x="472" y="360"/>
                  </a:cubicBezTo>
                  <a:close/>
                  <a:moveTo>
                    <a:pt x="487" y="324"/>
                  </a:moveTo>
                  <a:lnTo>
                    <a:pt x="487" y="324"/>
                  </a:lnTo>
                  <a:lnTo>
                    <a:pt x="481" y="324"/>
                  </a:lnTo>
                  <a:lnTo>
                    <a:pt x="481" y="312"/>
                  </a:lnTo>
                  <a:cubicBezTo>
                    <a:pt x="481" y="311"/>
                    <a:pt x="481" y="309"/>
                    <a:pt x="481" y="308"/>
                  </a:cubicBezTo>
                  <a:cubicBezTo>
                    <a:pt x="481" y="309"/>
                    <a:pt x="480" y="309"/>
                    <a:pt x="480" y="310"/>
                  </a:cubicBezTo>
                  <a:lnTo>
                    <a:pt x="477" y="312"/>
                  </a:lnTo>
                  <a:lnTo>
                    <a:pt x="474" y="308"/>
                  </a:lnTo>
                  <a:lnTo>
                    <a:pt x="482" y="302"/>
                  </a:lnTo>
                  <a:lnTo>
                    <a:pt x="487" y="302"/>
                  </a:lnTo>
                  <a:lnTo>
                    <a:pt x="487" y="324"/>
                  </a:lnTo>
                  <a:lnTo>
                    <a:pt x="487" y="324"/>
                  </a:lnTo>
                  <a:close/>
                  <a:moveTo>
                    <a:pt x="490" y="360"/>
                  </a:moveTo>
                  <a:lnTo>
                    <a:pt x="490" y="360"/>
                  </a:lnTo>
                  <a:cubicBezTo>
                    <a:pt x="490" y="364"/>
                    <a:pt x="489" y="367"/>
                    <a:pt x="488" y="369"/>
                  </a:cubicBezTo>
                  <a:cubicBezTo>
                    <a:pt x="487" y="370"/>
                    <a:pt x="485" y="371"/>
                    <a:pt x="482" y="371"/>
                  </a:cubicBezTo>
                  <a:cubicBezTo>
                    <a:pt x="479" y="371"/>
                    <a:pt x="477" y="370"/>
                    <a:pt x="476" y="368"/>
                  </a:cubicBezTo>
                  <a:cubicBezTo>
                    <a:pt x="475" y="367"/>
                    <a:pt x="474" y="364"/>
                    <a:pt x="474" y="360"/>
                  </a:cubicBezTo>
                  <a:cubicBezTo>
                    <a:pt x="474" y="356"/>
                    <a:pt x="475" y="353"/>
                    <a:pt x="476" y="351"/>
                  </a:cubicBezTo>
                  <a:cubicBezTo>
                    <a:pt x="477" y="350"/>
                    <a:pt x="479" y="349"/>
                    <a:pt x="482" y="349"/>
                  </a:cubicBezTo>
                  <a:cubicBezTo>
                    <a:pt x="485" y="349"/>
                    <a:pt x="487" y="350"/>
                    <a:pt x="488" y="352"/>
                  </a:cubicBezTo>
                  <a:cubicBezTo>
                    <a:pt x="489" y="353"/>
                    <a:pt x="490" y="356"/>
                    <a:pt x="490" y="360"/>
                  </a:cubicBezTo>
                  <a:close/>
                  <a:moveTo>
                    <a:pt x="490" y="407"/>
                  </a:moveTo>
                  <a:lnTo>
                    <a:pt x="490" y="407"/>
                  </a:lnTo>
                  <a:cubicBezTo>
                    <a:pt x="490" y="411"/>
                    <a:pt x="489" y="414"/>
                    <a:pt x="488" y="416"/>
                  </a:cubicBezTo>
                  <a:cubicBezTo>
                    <a:pt x="487" y="418"/>
                    <a:pt x="485" y="419"/>
                    <a:pt x="482" y="419"/>
                  </a:cubicBezTo>
                  <a:cubicBezTo>
                    <a:pt x="479" y="419"/>
                    <a:pt x="477" y="418"/>
                    <a:pt x="476" y="416"/>
                  </a:cubicBezTo>
                  <a:cubicBezTo>
                    <a:pt x="475" y="414"/>
                    <a:pt x="474" y="411"/>
                    <a:pt x="474" y="407"/>
                  </a:cubicBezTo>
                  <a:cubicBezTo>
                    <a:pt x="474" y="403"/>
                    <a:pt x="475" y="401"/>
                    <a:pt x="476" y="399"/>
                  </a:cubicBezTo>
                  <a:cubicBezTo>
                    <a:pt x="477" y="397"/>
                    <a:pt x="479" y="396"/>
                    <a:pt x="482" y="396"/>
                  </a:cubicBezTo>
                  <a:cubicBezTo>
                    <a:pt x="485" y="396"/>
                    <a:pt x="487" y="397"/>
                    <a:pt x="488" y="399"/>
                  </a:cubicBezTo>
                  <a:cubicBezTo>
                    <a:pt x="489" y="401"/>
                    <a:pt x="490" y="404"/>
                    <a:pt x="490" y="407"/>
                  </a:cubicBezTo>
                  <a:close/>
                  <a:moveTo>
                    <a:pt x="505" y="324"/>
                  </a:moveTo>
                  <a:lnTo>
                    <a:pt x="505" y="324"/>
                  </a:lnTo>
                  <a:lnTo>
                    <a:pt x="499" y="324"/>
                  </a:lnTo>
                  <a:lnTo>
                    <a:pt x="499" y="312"/>
                  </a:lnTo>
                  <a:cubicBezTo>
                    <a:pt x="499" y="311"/>
                    <a:pt x="499" y="309"/>
                    <a:pt x="499" y="308"/>
                  </a:cubicBezTo>
                  <a:cubicBezTo>
                    <a:pt x="499" y="309"/>
                    <a:pt x="498" y="309"/>
                    <a:pt x="498" y="310"/>
                  </a:cubicBezTo>
                  <a:lnTo>
                    <a:pt x="495" y="312"/>
                  </a:lnTo>
                  <a:lnTo>
                    <a:pt x="492" y="308"/>
                  </a:lnTo>
                  <a:lnTo>
                    <a:pt x="500" y="302"/>
                  </a:lnTo>
                  <a:lnTo>
                    <a:pt x="505" y="302"/>
                  </a:lnTo>
                  <a:lnTo>
                    <a:pt x="505" y="324"/>
                  </a:lnTo>
                  <a:lnTo>
                    <a:pt x="505" y="324"/>
                  </a:lnTo>
                  <a:close/>
                  <a:moveTo>
                    <a:pt x="505" y="371"/>
                  </a:moveTo>
                  <a:lnTo>
                    <a:pt x="505" y="371"/>
                  </a:lnTo>
                  <a:lnTo>
                    <a:pt x="499" y="371"/>
                  </a:lnTo>
                  <a:lnTo>
                    <a:pt x="499" y="359"/>
                  </a:lnTo>
                  <a:cubicBezTo>
                    <a:pt x="499" y="358"/>
                    <a:pt x="499" y="357"/>
                    <a:pt x="499" y="355"/>
                  </a:cubicBezTo>
                  <a:cubicBezTo>
                    <a:pt x="499" y="356"/>
                    <a:pt x="498" y="356"/>
                    <a:pt x="498" y="357"/>
                  </a:cubicBezTo>
                  <a:lnTo>
                    <a:pt x="495" y="359"/>
                  </a:lnTo>
                  <a:lnTo>
                    <a:pt x="492" y="355"/>
                  </a:lnTo>
                  <a:lnTo>
                    <a:pt x="500" y="349"/>
                  </a:lnTo>
                  <a:lnTo>
                    <a:pt x="505" y="349"/>
                  </a:lnTo>
                  <a:lnTo>
                    <a:pt x="505" y="371"/>
                  </a:lnTo>
                  <a:lnTo>
                    <a:pt x="505" y="371"/>
                  </a:lnTo>
                  <a:close/>
                  <a:moveTo>
                    <a:pt x="512" y="351"/>
                  </a:moveTo>
                  <a:lnTo>
                    <a:pt x="512" y="351"/>
                  </a:lnTo>
                  <a:cubicBezTo>
                    <a:pt x="513" y="350"/>
                    <a:pt x="515" y="349"/>
                    <a:pt x="518" y="349"/>
                  </a:cubicBezTo>
                  <a:cubicBezTo>
                    <a:pt x="521" y="349"/>
                    <a:pt x="523" y="350"/>
                    <a:pt x="524" y="352"/>
                  </a:cubicBezTo>
                  <a:cubicBezTo>
                    <a:pt x="525" y="353"/>
                    <a:pt x="526" y="356"/>
                    <a:pt x="526" y="360"/>
                  </a:cubicBezTo>
                  <a:cubicBezTo>
                    <a:pt x="526" y="364"/>
                    <a:pt x="525" y="367"/>
                    <a:pt x="524" y="369"/>
                  </a:cubicBezTo>
                  <a:cubicBezTo>
                    <a:pt x="523" y="370"/>
                    <a:pt x="521" y="371"/>
                    <a:pt x="518" y="371"/>
                  </a:cubicBezTo>
                  <a:cubicBezTo>
                    <a:pt x="515" y="371"/>
                    <a:pt x="514" y="370"/>
                    <a:pt x="512" y="368"/>
                  </a:cubicBezTo>
                  <a:cubicBezTo>
                    <a:pt x="511" y="367"/>
                    <a:pt x="510" y="364"/>
                    <a:pt x="510" y="360"/>
                  </a:cubicBezTo>
                  <a:cubicBezTo>
                    <a:pt x="510" y="356"/>
                    <a:pt x="511" y="353"/>
                    <a:pt x="512" y="351"/>
                  </a:cubicBezTo>
                  <a:close/>
                  <a:moveTo>
                    <a:pt x="518" y="353"/>
                  </a:moveTo>
                  <a:lnTo>
                    <a:pt x="518" y="353"/>
                  </a:lnTo>
                  <a:cubicBezTo>
                    <a:pt x="517" y="353"/>
                    <a:pt x="517" y="354"/>
                    <a:pt x="517" y="355"/>
                  </a:cubicBezTo>
                  <a:cubicBezTo>
                    <a:pt x="516" y="356"/>
                    <a:pt x="516" y="358"/>
                    <a:pt x="516" y="360"/>
                  </a:cubicBezTo>
                  <a:cubicBezTo>
                    <a:pt x="516" y="363"/>
                    <a:pt x="516" y="364"/>
                    <a:pt x="517" y="365"/>
                  </a:cubicBezTo>
                  <a:cubicBezTo>
                    <a:pt x="517" y="366"/>
                    <a:pt x="517" y="367"/>
                    <a:pt x="518" y="367"/>
                  </a:cubicBezTo>
                  <a:cubicBezTo>
                    <a:pt x="519" y="367"/>
                    <a:pt x="519" y="366"/>
                    <a:pt x="520" y="365"/>
                  </a:cubicBezTo>
                  <a:cubicBezTo>
                    <a:pt x="520" y="364"/>
                    <a:pt x="520" y="362"/>
                    <a:pt x="520" y="360"/>
                  </a:cubicBezTo>
                  <a:cubicBezTo>
                    <a:pt x="520" y="358"/>
                    <a:pt x="520" y="356"/>
                    <a:pt x="520" y="355"/>
                  </a:cubicBezTo>
                  <a:cubicBezTo>
                    <a:pt x="519" y="354"/>
                    <a:pt x="519" y="353"/>
                    <a:pt x="518" y="353"/>
                  </a:cubicBezTo>
                  <a:close/>
                  <a:moveTo>
                    <a:pt x="484" y="412"/>
                  </a:moveTo>
                  <a:lnTo>
                    <a:pt x="484" y="412"/>
                  </a:lnTo>
                  <a:cubicBezTo>
                    <a:pt x="484" y="411"/>
                    <a:pt x="484" y="410"/>
                    <a:pt x="484" y="407"/>
                  </a:cubicBezTo>
                  <a:cubicBezTo>
                    <a:pt x="484" y="405"/>
                    <a:pt x="484" y="403"/>
                    <a:pt x="484" y="402"/>
                  </a:cubicBezTo>
                  <a:cubicBezTo>
                    <a:pt x="483" y="401"/>
                    <a:pt x="483" y="401"/>
                    <a:pt x="482" y="401"/>
                  </a:cubicBezTo>
                  <a:cubicBezTo>
                    <a:pt x="481" y="401"/>
                    <a:pt x="481" y="401"/>
                    <a:pt x="480" y="402"/>
                  </a:cubicBezTo>
                  <a:cubicBezTo>
                    <a:pt x="480" y="403"/>
                    <a:pt x="480" y="405"/>
                    <a:pt x="480" y="407"/>
                  </a:cubicBezTo>
                  <a:cubicBezTo>
                    <a:pt x="480" y="410"/>
                    <a:pt x="480" y="412"/>
                    <a:pt x="480" y="412"/>
                  </a:cubicBezTo>
                  <a:cubicBezTo>
                    <a:pt x="481" y="413"/>
                    <a:pt x="481" y="414"/>
                    <a:pt x="482" y="414"/>
                  </a:cubicBezTo>
                  <a:cubicBezTo>
                    <a:pt x="483" y="414"/>
                    <a:pt x="483" y="413"/>
                    <a:pt x="484" y="412"/>
                  </a:cubicBezTo>
                  <a:close/>
                  <a:moveTo>
                    <a:pt x="484" y="365"/>
                  </a:moveTo>
                  <a:lnTo>
                    <a:pt x="484" y="365"/>
                  </a:lnTo>
                  <a:cubicBezTo>
                    <a:pt x="484" y="364"/>
                    <a:pt x="484" y="362"/>
                    <a:pt x="484" y="360"/>
                  </a:cubicBezTo>
                  <a:cubicBezTo>
                    <a:pt x="484" y="358"/>
                    <a:pt x="484" y="356"/>
                    <a:pt x="484" y="355"/>
                  </a:cubicBezTo>
                  <a:cubicBezTo>
                    <a:pt x="483" y="354"/>
                    <a:pt x="483" y="353"/>
                    <a:pt x="482" y="353"/>
                  </a:cubicBezTo>
                  <a:cubicBezTo>
                    <a:pt x="481" y="353"/>
                    <a:pt x="481" y="354"/>
                    <a:pt x="480" y="355"/>
                  </a:cubicBezTo>
                  <a:cubicBezTo>
                    <a:pt x="480" y="356"/>
                    <a:pt x="480" y="358"/>
                    <a:pt x="480" y="360"/>
                  </a:cubicBezTo>
                  <a:cubicBezTo>
                    <a:pt x="480" y="363"/>
                    <a:pt x="480" y="364"/>
                    <a:pt x="480" y="365"/>
                  </a:cubicBezTo>
                  <a:cubicBezTo>
                    <a:pt x="481" y="366"/>
                    <a:pt x="481" y="367"/>
                    <a:pt x="482" y="367"/>
                  </a:cubicBezTo>
                  <a:cubicBezTo>
                    <a:pt x="483" y="367"/>
                    <a:pt x="483" y="366"/>
                    <a:pt x="484" y="365"/>
                  </a:cubicBezTo>
                  <a:close/>
                  <a:moveTo>
                    <a:pt x="466" y="365"/>
                  </a:moveTo>
                  <a:lnTo>
                    <a:pt x="466" y="365"/>
                  </a:lnTo>
                  <a:cubicBezTo>
                    <a:pt x="466" y="364"/>
                    <a:pt x="466" y="362"/>
                    <a:pt x="466" y="360"/>
                  </a:cubicBezTo>
                  <a:cubicBezTo>
                    <a:pt x="466" y="358"/>
                    <a:pt x="466" y="356"/>
                    <a:pt x="466" y="355"/>
                  </a:cubicBezTo>
                  <a:cubicBezTo>
                    <a:pt x="465" y="354"/>
                    <a:pt x="465" y="353"/>
                    <a:pt x="464" y="353"/>
                  </a:cubicBezTo>
                  <a:cubicBezTo>
                    <a:pt x="463" y="353"/>
                    <a:pt x="463" y="354"/>
                    <a:pt x="462" y="355"/>
                  </a:cubicBezTo>
                  <a:cubicBezTo>
                    <a:pt x="462" y="356"/>
                    <a:pt x="462" y="358"/>
                    <a:pt x="462" y="360"/>
                  </a:cubicBezTo>
                  <a:cubicBezTo>
                    <a:pt x="462" y="363"/>
                    <a:pt x="462" y="364"/>
                    <a:pt x="462" y="365"/>
                  </a:cubicBezTo>
                  <a:cubicBezTo>
                    <a:pt x="463" y="366"/>
                    <a:pt x="463" y="367"/>
                    <a:pt x="464" y="367"/>
                  </a:cubicBezTo>
                  <a:cubicBezTo>
                    <a:pt x="465" y="367"/>
                    <a:pt x="465" y="366"/>
                    <a:pt x="466" y="365"/>
                  </a:cubicBezTo>
                  <a:close/>
                  <a:moveTo>
                    <a:pt x="466" y="318"/>
                  </a:moveTo>
                  <a:lnTo>
                    <a:pt x="466" y="318"/>
                  </a:lnTo>
                  <a:cubicBezTo>
                    <a:pt x="466" y="317"/>
                    <a:pt x="466" y="315"/>
                    <a:pt x="466" y="313"/>
                  </a:cubicBezTo>
                  <a:cubicBezTo>
                    <a:pt x="466" y="310"/>
                    <a:pt x="466" y="309"/>
                    <a:pt x="466" y="308"/>
                  </a:cubicBezTo>
                  <a:cubicBezTo>
                    <a:pt x="465" y="307"/>
                    <a:pt x="465" y="306"/>
                    <a:pt x="464" y="306"/>
                  </a:cubicBezTo>
                  <a:cubicBezTo>
                    <a:pt x="463" y="306"/>
                    <a:pt x="463" y="307"/>
                    <a:pt x="462" y="308"/>
                  </a:cubicBezTo>
                  <a:cubicBezTo>
                    <a:pt x="462" y="308"/>
                    <a:pt x="462" y="310"/>
                    <a:pt x="462" y="313"/>
                  </a:cubicBezTo>
                  <a:cubicBezTo>
                    <a:pt x="462" y="315"/>
                    <a:pt x="462" y="317"/>
                    <a:pt x="462" y="318"/>
                  </a:cubicBezTo>
                  <a:cubicBezTo>
                    <a:pt x="463" y="319"/>
                    <a:pt x="463" y="319"/>
                    <a:pt x="464" y="319"/>
                  </a:cubicBezTo>
                  <a:cubicBezTo>
                    <a:pt x="465" y="319"/>
                    <a:pt x="465" y="319"/>
                    <a:pt x="466" y="318"/>
                  </a:cubicBezTo>
                  <a:close/>
                  <a:moveTo>
                    <a:pt x="447" y="318"/>
                  </a:moveTo>
                  <a:lnTo>
                    <a:pt x="447" y="318"/>
                  </a:lnTo>
                  <a:cubicBezTo>
                    <a:pt x="448" y="317"/>
                    <a:pt x="448" y="315"/>
                    <a:pt x="448" y="313"/>
                  </a:cubicBezTo>
                  <a:cubicBezTo>
                    <a:pt x="448" y="310"/>
                    <a:pt x="448" y="309"/>
                    <a:pt x="447" y="308"/>
                  </a:cubicBezTo>
                  <a:cubicBezTo>
                    <a:pt x="447" y="307"/>
                    <a:pt x="447" y="306"/>
                    <a:pt x="446" y="306"/>
                  </a:cubicBezTo>
                  <a:cubicBezTo>
                    <a:pt x="445" y="306"/>
                    <a:pt x="445" y="307"/>
                    <a:pt x="444" y="308"/>
                  </a:cubicBezTo>
                  <a:cubicBezTo>
                    <a:pt x="444" y="308"/>
                    <a:pt x="444" y="310"/>
                    <a:pt x="444" y="313"/>
                  </a:cubicBezTo>
                  <a:cubicBezTo>
                    <a:pt x="444" y="315"/>
                    <a:pt x="444" y="317"/>
                    <a:pt x="444" y="318"/>
                  </a:cubicBezTo>
                  <a:cubicBezTo>
                    <a:pt x="445" y="319"/>
                    <a:pt x="445" y="319"/>
                    <a:pt x="446" y="319"/>
                  </a:cubicBezTo>
                  <a:cubicBezTo>
                    <a:pt x="447" y="319"/>
                    <a:pt x="447" y="319"/>
                    <a:pt x="447" y="318"/>
                  </a:cubicBezTo>
                  <a:close/>
                  <a:moveTo>
                    <a:pt x="429" y="365"/>
                  </a:moveTo>
                  <a:lnTo>
                    <a:pt x="429" y="365"/>
                  </a:lnTo>
                  <a:cubicBezTo>
                    <a:pt x="430" y="364"/>
                    <a:pt x="430" y="362"/>
                    <a:pt x="430" y="360"/>
                  </a:cubicBezTo>
                  <a:cubicBezTo>
                    <a:pt x="430" y="358"/>
                    <a:pt x="430" y="356"/>
                    <a:pt x="429" y="355"/>
                  </a:cubicBezTo>
                  <a:cubicBezTo>
                    <a:pt x="429" y="354"/>
                    <a:pt x="429" y="353"/>
                    <a:pt x="428" y="353"/>
                  </a:cubicBezTo>
                  <a:cubicBezTo>
                    <a:pt x="427" y="353"/>
                    <a:pt x="427" y="354"/>
                    <a:pt x="426" y="355"/>
                  </a:cubicBezTo>
                  <a:cubicBezTo>
                    <a:pt x="426" y="356"/>
                    <a:pt x="426" y="358"/>
                    <a:pt x="426" y="360"/>
                  </a:cubicBezTo>
                  <a:cubicBezTo>
                    <a:pt x="426" y="363"/>
                    <a:pt x="426" y="364"/>
                    <a:pt x="426" y="365"/>
                  </a:cubicBezTo>
                  <a:cubicBezTo>
                    <a:pt x="427" y="366"/>
                    <a:pt x="427" y="367"/>
                    <a:pt x="428" y="367"/>
                  </a:cubicBezTo>
                  <a:cubicBezTo>
                    <a:pt x="429" y="367"/>
                    <a:pt x="429" y="366"/>
                    <a:pt x="429" y="365"/>
                  </a:cubicBezTo>
                  <a:close/>
                  <a:moveTo>
                    <a:pt x="411" y="412"/>
                  </a:moveTo>
                  <a:lnTo>
                    <a:pt x="411" y="412"/>
                  </a:lnTo>
                  <a:cubicBezTo>
                    <a:pt x="412" y="411"/>
                    <a:pt x="412" y="410"/>
                    <a:pt x="412" y="407"/>
                  </a:cubicBezTo>
                  <a:cubicBezTo>
                    <a:pt x="412" y="405"/>
                    <a:pt x="412" y="403"/>
                    <a:pt x="411" y="402"/>
                  </a:cubicBezTo>
                  <a:cubicBezTo>
                    <a:pt x="411" y="401"/>
                    <a:pt x="410" y="401"/>
                    <a:pt x="410" y="401"/>
                  </a:cubicBezTo>
                  <a:cubicBezTo>
                    <a:pt x="409" y="401"/>
                    <a:pt x="409" y="401"/>
                    <a:pt x="408" y="402"/>
                  </a:cubicBezTo>
                  <a:cubicBezTo>
                    <a:pt x="408" y="403"/>
                    <a:pt x="408" y="405"/>
                    <a:pt x="408" y="407"/>
                  </a:cubicBezTo>
                  <a:cubicBezTo>
                    <a:pt x="408" y="410"/>
                    <a:pt x="408" y="412"/>
                    <a:pt x="408" y="412"/>
                  </a:cubicBezTo>
                  <a:cubicBezTo>
                    <a:pt x="409" y="413"/>
                    <a:pt x="409" y="414"/>
                    <a:pt x="410" y="414"/>
                  </a:cubicBezTo>
                  <a:cubicBezTo>
                    <a:pt x="410" y="414"/>
                    <a:pt x="411" y="413"/>
                    <a:pt x="411" y="412"/>
                  </a:cubicBezTo>
                  <a:close/>
                  <a:moveTo>
                    <a:pt x="411" y="318"/>
                  </a:moveTo>
                  <a:lnTo>
                    <a:pt x="411" y="318"/>
                  </a:lnTo>
                  <a:cubicBezTo>
                    <a:pt x="412" y="317"/>
                    <a:pt x="412" y="315"/>
                    <a:pt x="412" y="313"/>
                  </a:cubicBezTo>
                  <a:cubicBezTo>
                    <a:pt x="412" y="310"/>
                    <a:pt x="412" y="309"/>
                    <a:pt x="411" y="308"/>
                  </a:cubicBezTo>
                  <a:cubicBezTo>
                    <a:pt x="411" y="307"/>
                    <a:pt x="410" y="306"/>
                    <a:pt x="410" y="306"/>
                  </a:cubicBezTo>
                  <a:cubicBezTo>
                    <a:pt x="409" y="306"/>
                    <a:pt x="409" y="307"/>
                    <a:pt x="408" y="308"/>
                  </a:cubicBezTo>
                  <a:cubicBezTo>
                    <a:pt x="408" y="308"/>
                    <a:pt x="408" y="310"/>
                    <a:pt x="408" y="313"/>
                  </a:cubicBezTo>
                  <a:cubicBezTo>
                    <a:pt x="408" y="315"/>
                    <a:pt x="408" y="317"/>
                    <a:pt x="408" y="318"/>
                  </a:cubicBezTo>
                  <a:cubicBezTo>
                    <a:pt x="409" y="319"/>
                    <a:pt x="409" y="319"/>
                    <a:pt x="410" y="319"/>
                  </a:cubicBezTo>
                  <a:cubicBezTo>
                    <a:pt x="410" y="319"/>
                    <a:pt x="411" y="319"/>
                    <a:pt x="411" y="318"/>
                  </a:cubicBezTo>
                  <a:close/>
                  <a:moveTo>
                    <a:pt x="393" y="365"/>
                  </a:moveTo>
                  <a:lnTo>
                    <a:pt x="393" y="365"/>
                  </a:lnTo>
                  <a:cubicBezTo>
                    <a:pt x="394" y="364"/>
                    <a:pt x="394" y="362"/>
                    <a:pt x="394" y="360"/>
                  </a:cubicBezTo>
                  <a:cubicBezTo>
                    <a:pt x="394" y="358"/>
                    <a:pt x="394" y="356"/>
                    <a:pt x="393" y="355"/>
                  </a:cubicBezTo>
                  <a:cubicBezTo>
                    <a:pt x="393" y="354"/>
                    <a:pt x="392" y="353"/>
                    <a:pt x="392" y="353"/>
                  </a:cubicBezTo>
                  <a:cubicBezTo>
                    <a:pt x="391" y="353"/>
                    <a:pt x="390" y="354"/>
                    <a:pt x="390" y="355"/>
                  </a:cubicBezTo>
                  <a:cubicBezTo>
                    <a:pt x="390" y="356"/>
                    <a:pt x="390" y="358"/>
                    <a:pt x="390" y="360"/>
                  </a:cubicBezTo>
                  <a:cubicBezTo>
                    <a:pt x="390" y="363"/>
                    <a:pt x="390" y="364"/>
                    <a:pt x="390" y="365"/>
                  </a:cubicBezTo>
                  <a:cubicBezTo>
                    <a:pt x="390" y="366"/>
                    <a:pt x="391" y="367"/>
                    <a:pt x="392" y="367"/>
                  </a:cubicBezTo>
                  <a:cubicBezTo>
                    <a:pt x="392" y="367"/>
                    <a:pt x="393" y="366"/>
                    <a:pt x="393" y="365"/>
                  </a:cubicBezTo>
                  <a:close/>
                </a:path>
              </a:pathLst>
            </a:custGeom>
            <a:solidFill>
              <a:srgbClr val="83B82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06" name="TextBox 205">
            <a:extLst>
              <a:ext uri="{FF2B5EF4-FFF2-40B4-BE49-F238E27FC236}">
                <a16:creationId xmlns:a16="http://schemas.microsoft.com/office/drawing/2014/main" id="{6E1F756D-4582-4E5A-8E05-0E6C4204A624}"/>
              </a:ext>
            </a:extLst>
          </p:cNvPr>
          <p:cNvSpPr txBox="1"/>
          <p:nvPr/>
        </p:nvSpPr>
        <p:spPr>
          <a:xfrm>
            <a:off x="6570952" y="5156435"/>
            <a:ext cx="5146936" cy="707886"/>
          </a:xfrm>
          <a:prstGeom prst="rect">
            <a:avLst/>
          </a:prstGeom>
          <a:noFill/>
        </p:spPr>
        <p:txBody>
          <a:bodyPr wrap="square" lIns="0" tIns="0" rIns="0" bIns="0" rtlCol="0">
            <a:spAutoFit/>
          </a:bodyPr>
          <a:lstStyle/>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Effective communication with M/Ds and States </a:t>
            </a:r>
          </a:p>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Strict adherence to Dashboard development timelines</a:t>
            </a:r>
          </a:p>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Counterpart team continuity</a:t>
            </a:r>
          </a:p>
        </p:txBody>
      </p:sp>
      <p:sp>
        <p:nvSpPr>
          <p:cNvPr id="136" name="Arrow: Right 135">
            <a:hlinkClick r:id="rId2" action="ppaction://hlinksldjump"/>
            <a:extLst>
              <a:ext uri="{FF2B5EF4-FFF2-40B4-BE49-F238E27FC236}">
                <a16:creationId xmlns:a16="http://schemas.microsoft.com/office/drawing/2014/main" id="{84A07AE0-F0B3-48B9-87A5-9E5637397B77}"/>
              </a:ext>
            </a:extLst>
          </p:cNvPr>
          <p:cNvSpPr/>
          <p:nvPr/>
        </p:nvSpPr>
        <p:spPr bwMode="gray">
          <a:xfrm rot="10800000">
            <a:off x="11750878" y="1158240"/>
            <a:ext cx="310493" cy="365760"/>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400822416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IN" dirty="0"/>
              <a:t>RUN – Scale</a:t>
            </a:r>
          </a:p>
        </p:txBody>
      </p:sp>
      <p:sp>
        <p:nvSpPr>
          <p:cNvPr id="3" name="Rectangle 2">
            <a:extLst>
              <a:ext uri="{FF2B5EF4-FFF2-40B4-BE49-F238E27FC236}">
                <a16:creationId xmlns:a16="http://schemas.microsoft.com/office/drawing/2014/main" id="{F8562C33-73A6-413B-9451-A4CB3DB15DE7}"/>
              </a:ext>
            </a:extLst>
          </p:cNvPr>
          <p:cNvSpPr/>
          <p:nvPr/>
        </p:nvSpPr>
        <p:spPr>
          <a:xfrm>
            <a:off x="478155" y="1011610"/>
            <a:ext cx="11234419" cy="276999"/>
          </a:xfrm>
          <a:prstGeom prst="rect">
            <a:avLst/>
          </a:prstGeom>
        </p:spPr>
        <p:txBody>
          <a:bodyPr wrap="square" lIns="0" tIns="0" rIns="0" bIns="0">
            <a:spAutoFit/>
          </a:bodyPr>
          <a:lstStyle/>
          <a:p>
            <a:r>
              <a:rPr lang="en-US" dirty="0">
                <a:cs typeface="Open Sans" panose="020B0606030504020204" pitchFamily="34" charset="0"/>
              </a:rPr>
              <a:t>Significant advocacy &amp; training programs at M/Ds &amp; States/UT level for institutionalization of OOMF v2.0</a:t>
            </a:r>
            <a:endParaRPr lang="en-IN" dirty="0"/>
          </a:p>
        </p:txBody>
      </p:sp>
      <p:grpSp>
        <p:nvGrpSpPr>
          <p:cNvPr id="14" name="Group 13">
            <a:extLst>
              <a:ext uri="{FF2B5EF4-FFF2-40B4-BE49-F238E27FC236}">
                <a16:creationId xmlns:a16="http://schemas.microsoft.com/office/drawing/2014/main" id="{26279FE5-3547-4E2D-B8A2-5EE07506BFDF}"/>
              </a:ext>
            </a:extLst>
          </p:cNvPr>
          <p:cNvGrpSpPr/>
          <p:nvPr/>
        </p:nvGrpSpPr>
        <p:grpSpPr>
          <a:xfrm>
            <a:off x="469900" y="2102640"/>
            <a:ext cx="5902742" cy="4142612"/>
            <a:chOff x="469900" y="2102640"/>
            <a:chExt cx="5902742" cy="4142612"/>
          </a:xfrm>
        </p:grpSpPr>
        <p:grpSp>
          <p:nvGrpSpPr>
            <p:cNvPr id="5" name="Group 4">
              <a:extLst>
                <a:ext uri="{FF2B5EF4-FFF2-40B4-BE49-F238E27FC236}">
                  <a16:creationId xmlns:a16="http://schemas.microsoft.com/office/drawing/2014/main" id="{E4A4BC9B-E256-4D4F-B47E-97A9660DCF42}"/>
                </a:ext>
              </a:extLst>
            </p:cNvPr>
            <p:cNvGrpSpPr/>
            <p:nvPr/>
          </p:nvGrpSpPr>
          <p:grpSpPr>
            <a:xfrm>
              <a:off x="469900" y="2102640"/>
              <a:ext cx="5902742" cy="532606"/>
              <a:chOff x="469900" y="2102640"/>
              <a:chExt cx="5902742" cy="532606"/>
            </a:xfrm>
          </p:grpSpPr>
          <p:sp>
            <p:nvSpPr>
              <p:cNvPr id="34" name="Rounded Rectangle 2">
                <a:extLst>
                  <a:ext uri="{FF2B5EF4-FFF2-40B4-BE49-F238E27FC236}">
                    <a16:creationId xmlns:a16="http://schemas.microsoft.com/office/drawing/2014/main" id="{2CB4F22B-2314-470F-A0B5-F8378E1F1E19}"/>
                  </a:ext>
                </a:extLst>
              </p:cNvPr>
              <p:cNvSpPr/>
              <p:nvPr/>
            </p:nvSpPr>
            <p:spPr bwMode="gray">
              <a:xfrm>
                <a:off x="1343442" y="2102640"/>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35" name="Rounded Rectangle 3">
                <a:extLst>
                  <a:ext uri="{FF2B5EF4-FFF2-40B4-BE49-F238E27FC236}">
                    <a16:creationId xmlns:a16="http://schemas.microsoft.com/office/drawing/2014/main" id="{2A1C7DB0-B36D-466C-8C6A-98EA48765170}"/>
                  </a:ext>
                </a:extLst>
              </p:cNvPr>
              <p:cNvSpPr/>
              <p:nvPr/>
            </p:nvSpPr>
            <p:spPr bwMode="gray">
              <a:xfrm>
                <a:off x="1452592" y="2102640"/>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Conduct trainings for M/Ds officials and for each of the states’ Planning &amp; Finance Dept. officials coupled with Feedback mechanism – Training of Trainers</a:t>
                </a:r>
              </a:p>
            </p:txBody>
          </p:sp>
          <p:sp>
            <p:nvSpPr>
              <p:cNvPr id="41" name="Oval 40">
                <a:extLst>
                  <a:ext uri="{FF2B5EF4-FFF2-40B4-BE49-F238E27FC236}">
                    <a16:creationId xmlns:a16="http://schemas.microsoft.com/office/drawing/2014/main" id="{189FC768-2D03-4126-BF9A-1D84CD363865}"/>
                  </a:ext>
                </a:extLst>
              </p:cNvPr>
              <p:cNvSpPr>
                <a:spLocks noChangeAspect="1"/>
              </p:cNvSpPr>
              <p:nvPr/>
            </p:nvSpPr>
            <p:spPr bwMode="gray">
              <a:xfrm>
                <a:off x="894939" y="2326676"/>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42" name="Rounded Rectangle 5">
                <a:extLst>
                  <a:ext uri="{FF2B5EF4-FFF2-40B4-BE49-F238E27FC236}">
                    <a16:creationId xmlns:a16="http://schemas.microsoft.com/office/drawing/2014/main" id="{93EC0A15-7599-4FCF-A40F-582725E6A521}"/>
                  </a:ext>
                </a:extLst>
              </p:cNvPr>
              <p:cNvSpPr/>
              <p:nvPr/>
            </p:nvSpPr>
            <p:spPr bwMode="gray">
              <a:xfrm>
                <a:off x="469900" y="2103767"/>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43" name="Rounded Rectangle 6">
                <a:extLst>
                  <a:ext uri="{FF2B5EF4-FFF2-40B4-BE49-F238E27FC236}">
                    <a16:creationId xmlns:a16="http://schemas.microsoft.com/office/drawing/2014/main" id="{5C39F59B-5E98-4200-B113-CE06C87B5F9B}"/>
                  </a:ext>
                </a:extLst>
              </p:cNvPr>
              <p:cNvSpPr/>
              <p:nvPr/>
            </p:nvSpPr>
            <p:spPr bwMode="gray">
              <a:xfrm>
                <a:off x="496303" y="2103767"/>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0" name="Oval 49">
                <a:extLst>
                  <a:ext uri="{FF2B5EF4-FFF2-40B4-BE49-F238E27FC236}">
                    <a16:creationId xmlns:a16="http://schemas.microsoft.com/office/drawing/2014/main" id="{F3FFD41F-337D-4AB2-A82C-A2FF693A8003}"/>
                  </a:ext>
                </a:extLst>
              </p:cNvPr>
              <p:cNvSpPr/>
              <p:nvPr/>
            </p:nvSpPr>
            <p:spPr bwMode="gray">
              <a:xfrm>
                <a:off x="1163072" y="232770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51" name="Oval 50">
                <a:extLst>
                  <a:ext uri="{FF2B5EF4-FFF2-40B4-BE49-F238E27FC236}">
                    <a16:creationId xmlns:a16="http://schemas.microsoft.com/office/drawing/2014/main" id="{0DB1B482-F5CA-4855-809C-17D765514543}"/>
                  </a:ext>
                </a:extLst>
              </p:cNvPr>
              <p:cNvSpPr/>
              <p:nvPr/>
            </p:nvSpPr>
            <p:spPr bwMode="gray">
              <a:xfrm>
                <a:off x="1303547" y="232770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52" name="Straight Connector 51">
                <a:extLst>
                  <a:ext uri="{FF2B5EF4-FFF2-40B4-BE49-F238E27FC236}">
                    <a16:creationId xmlns:a16="http://schemas.microsoft.com/office/drawing/2014/main" id="{845F8985-3245-45F8-837E-068EE4B134D4}"/>
                  </a:ext>
                </a:extLst>
              </p:cNvPr>
              <p:cNvCxnSpPr>
                <a:cxnSpLocks/>
              </p:cNvCxnSpPr>
              <p:nvPr/>
            </p:nvCxnSpPr>
            <p:spPr>
              <a:xfrm>
                <a:off x="1204223" y="2368943"/>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31" name="Freeform 867">
                <a:extLst>
                  <a:ext uri="{FF2B5EF4-FFF2-40B4-BE49-F238E27FC236}">
                    <a16:creationId xmlns:a16="http://schemas.microsoft.com/office/drawing/2014/main" id="{D993F3C9-F800-4973-8E02-DDE5E11B031D}"/>
                  </a:ext>
                </a:extLst>
              </p:cNvPr>
              <p:cNvSpPr>
                <a:spLocks noChangeAspect="1" noEditPoints="1"/>
              </p:cNvSpPr>
              <p:nvPr/>
            </p:nvSpPr>
            <p:spPr bwMode="auto">
              <a:xfrm>
                <a:off x="635047" y="2184433"/>
                <a:ext cx="368713" cy="368713"/>
              </a:xfrm>
              <a:custGeom>
                <a:avLst/>
                <a:gdLst>
                  <a:gd name="T0" fmla="*/ 138 w 512"/>
                  <a:gd name="T1" fmla="*/ 138 h 512"/>
                  <a:gd name="T2" fmla="*/ 373 w 512"/>
                  <a:gd name="T3" fmla="*/ 138 h 512"/>
                  <a:gd name="T4" fmla="*/ 373 w 512"/>
                  <a:gd name="T5" fmla="*/ 309 h 512"/>
                  <a:gd name="T6" fmla="*/ 138 w 512"/>
                  <a:gd name="T7" fmla="*/ 309 h 512"/>
                  <a:gd name="T8" fmla="*/ 138 w 512"/>
                  <a:gd name="T9" fmla="*/ 138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94 w 512"/>
                  <a:gd name="T21" fmla="*/ 128 h 512"/>
                  <a:gd name="T22" fmla="*/ 384 w 512"/>
                  <a:gd name="T23" fmla="*/ 117 h 512"/>
                  <a:gd name="T24" fmla="*/ 266 w 512"/>
                  <a:gd name="T25" fmla="*/ 117 h 512"/>
                  <a:gd name="T26" fmla="*/ 256 w 512"/>
                  <a:gd name="T27" fmla="*/ 106 h 512"/>
                  <a:gd name="T28" fmla="*/ 245 w 512"/>
                  <a:gd name="T29" fmla="*/ 117 h 512"/>
                  <a:gd name="T30" fmla="*/ 128 w 512"/>
                  <a:gd name="T31" fmla="*/ 117 h 512"/>
                  <a:gd name="T32" fmla="*/ 117 w 512"/>
                  <a:gd name="T33" fmla="*/ 128 h 512"/>
                  <a:gd name="T34" fmla="*/ 117 w 512"/>
                  <a:gd name="T35" fmla="*/ 320 h 512"/>
                  <a:gd name="T36" fmla="*/ 128 w 512"/>
                  <a:gd name="T37" fmla="*/ 330 h 512"/>
                  <a:gd name="T38" fmla="*/ 198 w 512"/>
                  <a:gd name="T39" fmla="*/ 330 h 512"/>
                  <a:gd name="T40" fmla="*/ 171 w 512"/>
                  <a:gd name="T41" fmla="*/ 401 h 512"/>
                  <a:gd name="T42" fmla="*/ 177 w 512"/>
                  <a:gd name="T43" fmla="*/ 415 h 512"/>
                  <a:gd name="T44" fmla="*/ 181 w 512"/>
                  <a:gd name="T45" fmla="*/ 416 h 512"/>
                  <a:gd name="T46" fmla="*/ 191 w 512"/>
                  <a:gd name="T47" fmla="*/ 409 h 512"/>
                  <a:gd name="T48" fmla="*/ 220 w 512"/>
                  <a:gd name="T49" fmla="*/ 330 h 512"/>
                  <a:gd name="T50" fmla="*/ 245 w 512"/>
                  <a:gd name="T51" fmla="*/ 330 h 512"/>
                  <a:gd name="T52" fmla="*/ 245 w 512"/>
                  <a:gd name="T53" fmla="*/ 373 h 512"/>
                  <a:gd name="T54" fmla="*/ 256 w 512"/>
                  <a:gd name="T55" fmla="*/ 384 h 512"/>
                  <a:gd name="T56" fmla="*/ 266 w 512"/>
                  <a:gd name="T57" fmla="*/ 373 h 512"/>
                  <a:gd name="T58" fmla="*/ 266 w 512"/>
                  <a:gd name="T59" fmla="*/ 330 h 512"/>
                  <a:gd name="T60" fmla="*/ 291 w 512"/>
                  <a:gd name="T61" fmla="*/ 330 h 512"/>
                  <a:gd name="T62" fmla="*/ 320 w 512"/>
                  <a:gd name="T63" fmla="*/ 409 h 512"/>
                  <a:gd name="T64" fmla="*/ 330 w 512"/>
                  <a:gd name="T65" fmla="*/ 416 h 512"/>
                  <a:gd name="T66" fmla="*/ 334 w 512"/>
                  <a:gd name="T67" fmla="*/ 415 h 512"/>
                  <a:gd name="T68" fmla="*/ 340 w 512"/>
                  <a:gd name="T69" fmla="*/ 401 h 512"/>
                  <a:gd name="T70" fmla="*/ 314 w 512"/>
                  <a:gd name="T71" fmla="*/ 330 h 512"/>
                  <a:gd name="T72" fmla="*/ 384 w 512"/>
                  <a:gd name="T73" fmla="*/ 330 h 512"/>
                  <a:gd name="T74" fmla="*/ 394 w 512"/>
                  <a:gd name="T75" fmla="*/ 320 h 512"/>
                  <a:gd name="T76" fmla="*/ 394 w 512"/>
                  <a:gd name="T77"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12" h="512">
                    <a:moveTo>
                      <a:pt x="138" y="138"/>
                    </a:moveTo>
                    <a:cubicBezTo>
                      <a:pt x="373" y="138"/>
                      <a:pt x="373" y="138"/>
                      <a:pt x="373" y="138"/>
                    </a:cubicBezTo>
                    <a:cubicBezTo>
                      <a:pt x="373" y="309"/>
                      <a:pt x="373" y="309"/>
                      <a:pt x="373" y="309"/>
                    </a:cubicBezTo>
                    <a:cubicBezTo>
                      <a:pt x="138" y="309"/>
                      <a:pt x="138" y="309"/>
                      <a:pt x="138" y="309"/>
                    </a:cubicBezTo>
                    <a:lnTo>
                      <a:pt x="138" y="13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4" y="128"/>
                    </a:moveTo>
                    <a:cubicBezTo>
                      <a:pt x="394" y="122"/>
                      <a:pt x="390" y="117"/>
                      <a:pt x="384" y="117"/>
                    </a:cubicBezTo>
                    <a:cubicBezTo>
                      <a:pt x="266" y="117"/>
                      <a:pt x="266" y="117"/>
                      <a:pt x="266" y="117"/>
                    </a:cubicBezTo>
                    <a:cubicBezTo>
                      <a:pt x="266" y="111"/>
                      <a:pt x="262" y="106"/>
                      <a:pt x="256" y="106"/>
                    </a:cubicBezTo>
                    <a:cubicBezTo>
                      <a:pt x="250" y="106"/>
                      <a:pt x="245" y="111"/>
                      <a:pt x="245" y="117"/>
                    </a:cubicBezTo>
                    <a:cubicBezTo>
                      <a:pt x="128" y="117"/>
                      <a:pt x="128" y="117"/>
                      <a:pt x="128" y="117"/>
                    </a:cubicBezTo>
                    <a:cubicBezTo>
                      <a:pt x="122" y="117"/>
                      <a:pt x="117" y="122"/>
                      <a:pt x="117" y="128"/>
                    </a:cubicBezTo>
                    <a:cubicBezTo>
                      <a:pt x="117" y="320"/>
                      <a:pt x="117" y="320"/>
                      <a:pt x="117" y="320"/>
                    </a:cubicBezTo>
                    <a:cubicBezTo>
                      <a:pt x="117" y="326"/>
                      <a:pt x="122" y="330"/>
                      <a:pt x="128" y="330"/>
                    </a:cubicBezTo>
                    <a:cubicBezTo>
                      <a:pt x="198" y="330"/>
                      <a:pt x="198" y="330"/>
                      <a:pt x="198" y="330"/>
                    </a:cubicBezTo>
                    <a:cubicBezTo>
                      <a:pt x="171" y="401"/>
                      <a:pt x="171" y="401"/>
                      <a:pt x="171" y="401"/>
                    </a:cubicBezTo>
                    <a:cubicBezTo>
                      <a:pt x="169" y="407"/>
                      <a:pt x="172" y="413"/>
                      <a:pt x="177" y="415"/>
                    </a:cubicBezTo>
                    <a:cubicBezTo>
                      <a:pt x="178" y="415"/>
                      <a:pt x="180" y="416"/>
                      <a:pt x="181" y="416"/>
                    </a:cubicBezTo>
                    <a:cubicBezTo>
                      <a:pt x="185" y="416"/>
                      <a:pt x="189" y="413"/>
                      <a:pt x="191" y="409"/>
                    </a:cubicBezTo>
                    <a:cubicBezTo>
                      <a:pt x="220" y="330"/>
                      <a:pt x="220" y="330"/>
                      <a:pt x="220" y="330"/>
                    </a:cubicBezTo>
                    <a:cubicBezTo>
                      <a:pt x="245" y="330"/>
                      <a:pt x="245" y="330"/>
                      <a:pt x="245" y="330"/>
                    </a:cubicBezTo>
                    <a:cubicBezTo>
                      <a:pt x="245" y="373"/>
                      <a:pt x="245" y="373"/>
                      <a:pt x="245" y="373"/>
                    </a:cubicBezTo>
                    <a:cubicBezTo>
                      <a:pt x="245" y="379"/>
                      <a:pt x="250" y="384"/>
                      <a:pt x="256" y="384"/>
                    </a:cubicBezTo>
                    <a:cubicBezTo>
                      <a:pt x="262" y="384"/>
                      <a:pt x="266" y="379"/>
                      <a:pt x="266" y="373"/>
                    </a:cubicBezTo>
                    <a:cubicBezTo>
                      <a:pt x="266" y="330"/>
                      <a:pt x="266" y="330"/>
                      <a:pt x="266" y="330"/>
                    </a:cubicBezTo>
                    <a:cubicBezTo>
                      <a:pt x="291" y="330"/>
                      <a:pt x="291" y="330"/>
                      <a:pt x="291" y="330"/>
                    </a:cubicBezTo>
                    <a:cubicBezTo>
                      <a:pt x="320" y="409"/>
                      <a:pt x="320" y="409"/>
                      <a:pt x="320" y="409"/>
                    </a:cubicBezTo>
                    <a:cubicBezTo>
                      <a:pt x="322" y="413"/>
                      <a:pt x="326" y="416"/>
                      <a:pt x="330" y="416"/>
                    </a:cubicBezTo>
                    <a:cubicBezTo>
                      <a:pt x="332" y="416"/>
                      <a:pt x="333" y="415"/>
                      <a:pt x="334" y="415"/>
                    </a:cubicBezTo>
                    <a:cubicBezTo>
                      <a:pt x="340" y="413"/>
                      <a:pt x="342" y="407"/>
                      <a:pt x="340" y="401"/>
                    </a:cubicBezTo>
                    <a:cubicBezTo>
                      <a:pt x="314" y="330"/>
                      <a:pt x="314" y="330"/>
                      <a:pt x="314" y="330"/>
                    </a:cubicBezTo>
                    <a:cubicBezTo>
                      <a:pt x="384" y="330"/>
                      <a:pt x="384" y="330"/>
                      <a:pt x="384" y="330"/>
                    </a:cubicBezTo>
                    <a:cubicBezTo>
                      <a:pt x="390" y="330"/>
                      <a:pt x="394" y="326"/>
                      <a:pt x="394" y="320"/>
                    </a:cubicBezTo>
                    <a:lnTo>
                      <a:pt x="394" y="12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6" name="Group 5">
              <a:extLst>
                <a:ext uri="{FF2B5EF4-FFF2-40B4-BE49-F238E27FC236}">
                  <a16:creationId xmlns:a16="http://schemas.microsoft.com/office/drawing/2014/main" id="{508627AC-4A69-46FA-95B6-152FC0BBD497}"/>
                </a:ext>
              </a:extLst>
            </p:cNvPr>
            <p:cNvGrpSpPr/>
            <p:nvPr/>
          </p:nvGrpSpPr>
          <p:grpSpPr>
            <a:xfrm>
              <a:off x="469900" y="2704308"/>
              <a:ext cx="5902742" cy="532606"/>
              <a:chOff x="469900" y="2704308"/>
              <a:chExt cx="5902742" cy="532606"/>
            </a:xfrm>
          </p:grpSpPr>
          <p:sp>
            <p:nvSpPr>
              <p:cNvPr id="54" name="Rounded Rectangle 2">
                <a:extLst>
                  <a:ext uri="{FF2B5EF4-FFF2-40B4-BE49-F238E27FC236}">
                    <a16:creationId xmlns:a16="http://schemas.microsoft.com/office/drawing/2014/main" id="{2C1CA2DF-F3DE-41D3-84F6-8175D5052A47}"/>
                  </a:ext>
                </a:extLst>
              </p:cNvPr>
              <p:cNvSpPr/>
              <p:nvPr/>
            </p:nvSpPr>
            <p:spPr bwMode="gray">
              <a:xfrm>
                <a:off x="1343442" y="2704308"/>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5" name="Rounded Rectangle 3">
                <a:extLst>
                  <a:ext uri="{FF2B5EF4-FFF2-40B4-BE49-F238E27FC236}">
                    <a16:creationId xmlns:a16="http://schemas.microsoft.com/office/drawing/2014/main" id="{C7753E84-CBB3-4DA9-A18A-2A72C61770C5}"/>
                  </a:ext>
                </a:extLst>
              </p:cNvPr>
              <p:cNvSpPr/>
              <p:nvPr/>
            </p:nvSpPr>
            <p:spPr bwMode="gray">
              <a:xfrm>
                <a:off x="1452592" y="2704308"/>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Coherent mapping of programs &amp; activities</a:t>
                </a:r>
              </a:p>
            </p:txBody>
          </p:sp>
          <p:sp>
            <p:nvSpPr>
              <p:cNvPr id="56" name="Oval 55">
                <a:extLst>
                  <a:ext uri="{FF2B5EF4-FFF2-40B4-BE49-F238E27FC236}">
                    <a16:creationId xmlns:a16="http://schemas.microsoft.com/office/drawing/2014/main" id="{AE6114E4-B0EA-47A2-AA00-8748620603D2}"/>
                  </a:ext>
                </a:extLst>
              </p:cNvPr>
              <p:cNvSpPr>
                <a:spLocks noChangeAspect="1"/>
              </p:cNvSpPr>
              <p:nvPr/>
            </p:nvSpPr>
            <p:spPr bwMode="gray">
              <a:xfrm>
                <a:off x="894939" y="2928344"/>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7" name="Rounded Rectangle 5">
                <a:extLst>
                  <a:ext uri="{FF2B5EF4-FFF2-40B4-BE49-F238E27FC236}">
                    <a16:creationId xmlns:a16="http://schemas.microsoft.com/office/drawing/2014/main" id="{DD242AC8-34FD-4EC5-B808-B119F7E7A36D}"/>
                  </a:ext>
                </a:extLst>
              </p:cNvPr>
              <p:cNvSpPr/>
              <p:nvPr/>
            </p:nvSpPr>
            <p:spPr bwMode="gray">
              <a:xfrm>
                <a:off x="469900" y="2705435"/>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58" name="Rounded Rectangle 6">
                <a:extLst>
                  <a:ext uri="{FF2B5EF4-FFF2-40B4-BE49-F238E27FC236}">
                    <a16:creationId xmlns:a16="http://schemas.microsoft.com/office/drawing/2014/main" id="{3D811864-1987-4B3D-8108-3B5D3A90C0B1}"/>
                  </a:ext>
                </a:extLst>
              </p:cNvPr>
              <p:cNvSpPr/>
              <p:nvPr/>
            </p:nvSpPr>
            <p:spPr bwMode="gray">
              <a:xfrm>
                <a:off x="496303" y="2705435"/>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65" name="Oval 64">
                <a:extLst>
                  <a:ext uri="{FF2B5EF4-FFF2-40B4-BE49-F238E27FC236}">
                    <a16:creationId xmlns:a16="http://schemas.microsoft.com/office/drawing/2014/main" id="{A5064692-9103-41B7-868C-5868FD832C31}"/>
                  </a:ext>
                </a:extLst>
              </p:cNvPr>
              <p:cNvSpPr/>
              <p:nvPr/>
            </p:nvSpPr>
            <p:spPr bwMode="gray">
              <a:xfrm>
                <a:off x="1163072" y="2929376"/>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66" name="Oval 65">
                <a:extLst>
                  <a:ext uri="{FF2B5EF4-FFF2-40B4-BE49-F238E27FC236}">
                    <a16:creationId xmlns:a16="http://schemas.microsoft.com/office/drawing/2014/main" id="{95A7CA67-2229-4407-9F35-299582A29AF1}"/>
                  </a:ext>
                </a:extLst>
              </p:cNvPr>
              <p:cNvSpPr/>
              <p:nvPr/>
            </p:nvSpPr>
            <p:spPr bwMode="gray">
              <a:xfrm>
                <a:off x="1303547" y="2929376"/>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68" name="Straight Connector 67">
                <a:extLst>
                  <a:ext uri="{FF2B5EF4-FFF2-40B4-BE49-F238E27FC236}">
                    <a16:creationId xmlns:a16="http://schemas.microsoft.com/office/drawing/2014/main" id="{3A9194C8-7C1F-4D7B-913D-453C1ACE46D3}"/>
                  </a:ext>
                </a:extLst>
              </p:cNvPr>
              <p:cNvCxnSpPr>
                <a:cxnSpLocks/>
              </p:cNvCxnSpPr>
              <p:nvPr/>
            </p:nvCxnSpPr>
            <p:spPr>
              <a:xfrm>
                <a:off x="1204223" y="2970611"/>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38" name="Freeform 772">
                <a:extLst>
                  <a:ext uri="{FF2B5EF4-FFF2-40B4-BE49-F238E27FC236}">
                    <a16:creationId xmlns:a16="http://schemas.microsoft.com/office/drawing/2014/main" id="{5329E861-549C-4B76-B93A-2FC07C2A35DE}"/>
                  </a:ext>
                </a:extLst>
              </p:cNvPr>
              <p:cNvSpPr>
                <a:spLocks noChangeAspect="1" noEditPoints="1"/>
              </p:cNvSpPr>
              <p:nvPr/>
            </p:nvSpPr>
            <p:spPr bwMode="auto">
              <a:xfrm>
                <a:off x="635742" y="2786796"/>
                <a:ext cx="367041" cy="368121"/>
              </a:xfrm>
              <a:custGeom>
                <a:avLst/>
                <a:gdLst>
                  <a:gd name="T0" fmla="*/ 256 w 512"/>
                  <a:gd name="T1" fmla="*/ 138 h 512"/>
                  <a:gd name="T2" fmla="*/ 208 w 512"/>
                  <a:gd name="T3" fmla="*/ 186 h 512"/>
                  <a:gd name="T4" fmla="*/ 256 w 512"/>
                  <a:gd name="T5" fmla="*/ 234 h 512"/>
                  <a:gd name="T6" fmla="*/ 304 w 512"/>
                  <a:gd name="T7" fmla="*/ 186 h 512"/>
                  <a:gd name="T8" fmla="*/ 256 w 512"/>
                  <a:gd name="T9" fmla="*/ 138 h 512"/>
                  <a:gd name="T10" fmla="*/ 256 w 512"/>
                  <a:gd name="T11" fmla="*/ 176 h 512"/>
                  <a:gd name="T12" fmla="*/ 245 w 512"/>
                  <a:gd name="T13" fmla="*/ 186 h 512"/>
                  <a:gd name="T14" fmla="*/ 234 w 512"/>
                  <a:gd name="T15" fmla="*/ 197 h 512"/>
                  <a:gd name="T16" fmla="*/ 224 w 512"/>
                  <a:gd name="T17" fmla="*/ 186 h 512"/>
                  <a:gd name="T18" fmla="*/ 256 w 512"/>
                  <a:gd name="T19" fmla="*/ 154 h 512"/>
                  <a:gd name="T20" fmla="*/ 266 w 512"/>
                  <a:gd name="T21" fmla="*/ 165 h 512"/>
                  <a:gd name="T22" fmla="*/ 256 w 512"/>
                  <a:gd name="T23" fmla="*/ 176 h 512"/>
                  <a:gd name="T24" fmla="*/ 256 w 512"/>
                  <a:gd name="T25" fmla="*/ 0 h 512"/>
                  <a:gd name="T26" fmla="*/ 0 w 512"/>
                  <a:gd name="T27" fmla="*/ 256 h 512"/>
                  <a:gd name="T28" fmla="*/ 256 w 512"/>
                  <a:gd name="T29" fmla="*/ 512 h 512"/>
                  <a:gd name="T30" fmla="*/ 512 w 512"/>
                  <a:gd name="T31" fmla="*/ 256 h 512"/>
                  <a:gd name="T32" fmla="*/ 256 w 512"/>
                  <a:gd name="T33" fmla="*/ 0 h 512"/>
                  <a:gd name="T34" fmla="*/ 266 w 512"/>
                  <a:gd name="T35" fmla="*/ 255 h 512"/>
                  <a:gd name="T36" fmla="*/ 266 w 512"/>
                  <a:gd name="T37" fmla="*/ 384 h 512"/>
                  <a:gd name="T38" fmla="*/ 256 w 512"/>
                  <a:gd name="T39" fmla="*/ 394 h 512"/>
                  <a:gd name="T40" fmla="*/ 245 w 512"/>
                  <a:gd name="T41" fmla="*/ 384 h 512"/>
                  <a:gd name="T42" fmla="*/ 245 w 512"/>
                  <a:gd name="T43" fmla="*/ 255 h 512"/>
                  <a:gd name="T44" fmla="*/ 186 w 512"/>
                  <a:gd name="T45" fmla="*/ 186 h 512"/>
                  <a:gd name="T46" fmla="*/ 256 w 512"/>
                  <a:gd name="T47" fmla="*/ 117 h 512"/>
                  <a:gd name="T48" fmla="*/ 325 w 512"/>
                  <a:gd name="T49" fmla="*/ 186 h 512"/>
                  <a:gd name="T50" fmla="*/ 266 w 512"/>
                  <a:gd name="T51" fmla="*/ 25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2" h="512">
                    <a:moveTo>
                      <a:pt x="256" y="138"/>
                    </a:moveTo>
                    <a:cubicBezTo>
                      <a:pt x="229" y="138"/>
                      <a:pt x="208" y="160"/>
                      <a:pt x="208" y="186"/>
                    </a:cubicBezTo>
                    <a:cubicBezTo>
                      <a:pt x="208" y="213"/>
                      <a:pt x="229" y="234"/>
                      <a:pt x="256" y="234"/>
                    </a:cubicBezTo>
                    <a:cubicBezTo>
                      <a:pt x="282" y="234"/>
                      <a:pt x="304" y="213"/>
                      <a:pt x="304" y="186"/>
                    </a:cubicBezTo>
                    <a:cubicBezTo>
                      <a:pt x="304" y="160"/>
                      <a:pt x="282" y="138"/>
                      <a:pt x="256" y="138"/>
                    </a:cubicBezTo>
                    <a:close/>
                    <a:moveTo>
                      <a:pt x="256" y="176"/>
                    </a:moveTo>
                    <a:cubicBezTo>
                      <a:pt x="250" y="176"/>
                      <a:pt x="245" y="180"/>
                      <a:pt x="245" y="186"/>
                    </a:cubicBezTo>
                    <a:cubicBezTo>
                      <a:pt x="245" y="192"/>
                      <a:pt x="240" y="197"/>
                      <a:pt x="234" y="197"/>
                    </a:cubicBezTo>
                    <a:cubicBezTo>
                      <a:pt x="228" y="197"/>
                      <a:pt x="224" y="192"/>
                      <a:pt x="224" y="186"/>
                    </a:cubicBezTo>
                    <a:cubicBezTo>
                      <a:pt x="224" y="169"/>
                      <a:pt x="238" y="154"/>
                      <a:pt x="256" y="154"/>
                    </a:cubicBezTo>
                    <a:cubicBezTo>
                      <a:pt x="262" y="154"/>
                      <a:pt x="266" y="159"/>
                      <a:pt x="266" y="165"/>
                    </a:cubicBezTo>
                    <a:cubicBezTo>
                      <a:pt x="266" y="171"/>
                      <a:pt x="262" y="176"/>
                      <a:pt x="256" y="17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66" y="255"/>
                    </a:moveTo>
                    <a:cubicBezTo>
                      <a:pt x="266" y="384"/>
                      <a:pt x="266" y="384"/>
                      <a:pt x="266" y="384"/>
                    </a:cubicBezTo>
                    <a:cubicBezTo>
                      <a:pt x="266" y="390"/>
                      <a:pt x="262" y="394"/>
                      <a:pt x="256" y="394"/>
                    </a:cubicBezTo>
                    <a:cubicBezTo>
                      <a:pt x="250" y="394"/>
                      <a:pt x="245" y="390"/>
                      <a:pt x="245" y="384"/>
                    </a:cubicBezTo>
                    <a:cubicBezTo>
                      <a:pt x="245" y="255"/>
                      <a:pt x="245" y="255"/>
                      <a:pt x="245" y="255"/>
                    </a:cubicBezTo>
                    <a:cubicBezTo>
                      <a:pt x="212" y="250"/>
                      <a:pt x="186" y="221"/>
                      <a:pt x="186" y="186"/>
                    </a:cubicBezTo>
                    <a:cubicBezTo>
                      <a:pt x="186" y="148"/>
                      <a:pt x="217" y="117"/>
                      <a:pt x="256" y="117"/>
                    </a:cubicBezTo>
                    <a:cubicBezTo>
                      <a:pt x="294" y="117"/>
                      <a:pt x="325" y="148"/>
                      <a:pt x="325" y="186"/>
                    </a:cubicBezTo>
                    <a:cubicBezTo>
                      <a:pt x="325" y="221"/>
                      <a:pt x="300" y="250"/>
                      <a:pt x="266" y="25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7" name="Group 6">
              <a:extLst>
                <a:ext uri="{FF2B5EF4-FFF2-40B4-BE49-F238E27FC236}">
                  <a16:creationId xmlns:a16="http://schemas.microsoft.com/office/drawing/2014/main" id="{C40172FA-507F-40C9-BE33-ADFE8922AC1F}"/>
                </a:ext>
              </a:extLst>
            </p:cNvPr>
            <p:cNvGrpSpPr/>
            <p:nvPr/>
          </p:nvGrpSpPr>
          <p:grpSpPr>
            <a:xfrm>
              <a:off x="469900" y="3305976"/>
              <a:ext cx="5902742" cy="532606"/>
              <a:chOff x="469900" y="3305976"/>
              <a:chExt cx="5902742" cy="532606"/>
            </a:xfrm>
          </p:grpSpPr>
          <p:sp>
            <p:nvSpPr>
              <p:cNvPr id="70" name="Rounded Rectangle 2">
                <a:extLst>
                  <a:ext uri="{FF2B5EF4-FFF2-40B4-BE49-F238E27FC236}">
                    <a16:creationId xmlns:a16="http://schemas.microsoft.com/office/drawing/2014/main" id="{452D644F-B068-4824-BC3D-FC31BB160BB4}"/>
                  </a:ext>
                </a:extLst>
              </p:cNvPr>
              <p:cNvSpPr/>
              <p:nvPr/>
            </p:nvSpPr>
            <p:spPr bwMode="gray">
              <a:xfrm>
                <a:off x="1343442" y="3305976"/>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1" name="Rounded Rectangle 3">
                <a:extLst>
                  <a:ext uri="{FF2B5EF4-FFF2-40B4-BE49-F238E27FC236}">
                    <a16:creationId xmlns:a16="http://schemas.microsoft.com/office/drawing/2014/main" id="{F06ED2E1-247C-4323-9A3E-51D7CD272DEF}"/>
                  </a:ext>
                </a:extLst>
              </p:cNvPr>
              <p:cNvSpPr/>
              <p:nvPr/>
            </p:nvSpPr>
            <p:spPr bwMode="gray">
              <a:xfrm>
                <a:off x="1452592" y="3305976"/>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Building effective M&amp;E environment &amp; internalizing use of performance data in internal program reviews</a:t>
                </a:r>
              </a:p>
            </p:txBody>
          </p:sp>
          <p:sp>
            <p:nvSpPr>
              <p:cNvPr id="72" name="Oval 71">
                <a:extLst>
                  <a:ext uri="{FF2B5EF4-FFF2-40B4-BE49-F238E27FC236}">
                    <a16:creationId xmlns:a16="http://schemas.microsoft.com/office/drawing/2014/main" id="{1064E2CE-703D-4D45-AD46-1E3384967235}"/>
                  </a:ext>
                </a:extLst>
              </p:cNvPr>
              <p:cNvSpPr>
                <a:spLocks noChangeAspect="1"/>
              </p:cNvSpPr>
              <p:nvPr/>
            </p:nvSpPr>
            <p:spPr bwMode="gray">
              <a:xfrm>
                <a:off x="894939" y="3530012"/>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3" name="Rounded Rectangle 5">
                <a:extLst>
                  <a:ext uri="{FF2B5EF4-FFF2-40B4-BE49-F238E27FC236}">
                    <a16:creationId xmlns:a16="http://schemas.microsoft.com/office/drawing/2014/main" id="{660369F2-41E7-4003-8FEC-A7D2A22C1EC3}"/>
                  </a:ext>
                </a:extLst>
              </p:cNvPr>
              <p:cNvSpPr/>
              <p:nvPr/>
            </p:nvSpPr>
            <p:spPr bwMode="gray">
              <a:xfrm>
                <a:off x="469900" y="3307103"/>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74" name="Rounded Rectangle 6">
                <a:extLst>
                  <a:ext uri="{FF2B5EF4-FFF2-40B4-BE49-F238E27FC236}">
                    <a16:creationId xmlns:a16="http://schemas.microsoft.com/office/drawing/2014/main" id="{C0BE7672-0F45-4CB3-8A05-C9F8DC18DDA7}"/>
                  </a:ext>
                </a:extLst>
              </p:cNvPr>
              <p:cNvSpPr/>
              <p:nvPr/>
            </p:nvSpPr>
            <p:spPr bwMode="gray">
              <a:xfrm>
                <a:off x="496303" y="3307103"/>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1" name="Oval 80">
                <a:extLst>
                  <a:ext uri="{FF2B5EF4-FFF2-40B4-BE49-F238E27FC236}">
                    <a16:creationId xmlns:a16="http://schemas.microsoft.com/office/drawing/2014/main" id="{76771CCB-1026-4006-9821-47F3464CF1BC}"/>
                  </a:ext>
                </a:extLst>
              </p:cNvPr>
              <p:cNvSpPr/>
              <p:nvPr/>
            </p:nvSpPr>
            <p:spPr bwMode="gray">
              <a:xfrm>
                <a:off x="1163072" y="353104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82" name="Oval 81">
                <a:extLst>
                  <a:ext uri="{FF2B5EF4-FFF2-40B4-BE49-F238E27FC236}">
                    <a16:creationId xmlns:a16="http://schemas.microsoft.com/office/drawing/2014/main" id="{EF39745F-6E2B-44D9-835D-3E554C0E2951}"/>
                  </a:ext>
                </a:extLst>
              </p:cNvPr>
              <p:cNvSpPr/>
              <p:nvPr/>
            </p:nvSpPr>
            <p:spPr bwMode="gray">
              <a:xfrm>
                <a:off x="1303547" y="353104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83" name="Straight Connector 82">
                <a:extLst>
                  <a:ext uri="{FF2B5EF4-FFF2-40B4-BE49-F238E27FC236}">
                    <a16:creationId xmlns:a16="http://schemas.microsoft.com/office/drawing/2014/main" id="{ED68985C-BFEF-4A2F-8D8D-1F600C6EDB03}"/>
                  </a:ext>
                </a:extLst>
              </p:cNvPr>
              <p:cNvCxnSpPr>
                <a:cxnSpLocks/>
              </p:cNvCxnSpPr>
              <p:nvPr/>
            </p:nvCxnSpPr>
            <p:spPr>
              <a:xfrm>
                <a:off x="1204223" y="3572279"/>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45" name="Freeform 5">
                <a:extLst>
                  <a:ext uri="{FF2B5EF4-FFF2-40B4-BE49-F238E27FC236}">
                    <a16:creationId xmlns:a16="http://schemas.microsoft.com/office/drawing/2014/main" id="{858850D0-14B3-4D2A-989C-266C53977D53}"/>
                  </a:ext>
                </a:extLst>
              </p:cNvPr>
              <p:cNvSpPr>
                <a:spLocks noEditPoints="1"/>
              </p:cNvSpPr>
              <p:nvPr/>
            </p:nvSpPr>
            <p:spPr bwMode="auto">
              <a:xfrm>
                <a:off x="638313" y="3389399"/>
                <a:ext cx="365760" cy="365760"/>
              </a:xfrm>
              <a:custGeom>
                <a:avLst/>
                <a:gdLst>
                  <a:gd name="T0" fmla="*/ 791 w 791"/>
                  <a:gd name="T1" fmla="*/ 396 h 792"/>
                  <a:gd name="T2" fmla="*/ 0 w 791"/>
                  <a:gd name="T3" fmla="*/ 396 h 792"/>
                  <a:gd name="T4" fmla="*/ 791 w 791"/>
                  <a:gd name="T5" fmla="*/ 396 h 792"/>
                  <a:gd name="T6" fmla="*/ 514 w 791"/>
                  <a:gd name="T7" fmla="*/ 399 h 792"/>
                  <a:gd name="T8" fmla="*/ 482 w 791"/>
                  <a:gd name="T9" fmla="*/ 286 h 792"/>
                  <a:gd name="T10" fmla="*/ 376 w 791"/>
                  <a:gd name="T11" fmla="*/ 252 h 792"/>
                  <a:gd name="T12" fmla="*/ 238 w 791"/>
                  <a:gd name="T13" fmla="*/ 176 h 792"/>
                  <a:gd name="T14" fmla="*/ 352 w 791"/>
                  <a:gd name="T15" fmla="*/ 528 h 792"/>
                  <a:gd name="T16" fmla="*/ 227 w 791"/>
                  <a:gd name="T17" fmla="*/ 560 h 792"/>
                  <a:gd name="T18" fmla="*/ 207 w 791"/>
                  <a:gd name="T19" fmla="*/ 165 h 792"/>
                  <a:gd name="T20" fmla="*/ 410 w 791"/>
                  <a:gd name="T21" fmla="*/ 145 h 792"/>
                  <a:gd name="T22" fmla="*/ 514 w 791"/>
                  <a:gd name="T23" fmla="*/ 399 h 792"/>
                  <a:gd name="T24" fmla="*/ 455 w 791"/>
                  <a:gd name="T25" fmla="*/ 380 h 792"/>
                  <a:gd name="T26" fmla="*/ 442 w 791"/>
                  <a:gd name="T27" fmla="*/ 394 h 792"/>
                  <a:gd name="T28" fmla="*/ 262 w 791"/>
                  <a:gd name="T29" fmla="*/ 380 h 792"/>
                  <a:gd name="T30" fmla="*/ 442 w 791"/>
                  <a:gd name="T31" fmla="*/ 366 h 792"/>
                  <a:gd name="T32" fmla="*/ 442 w 791"/>
                  <a:gd name="T33" fmla="*/ 338 h 792"/>
                  <a:gd name="T34" fmla="*/ 276 w 791"/>
                  <a:gd name="T35" fmla="*/ 338 h 792"/>
                  <a:gd name="T36" fmla="*/ 276 w 791"/>
                  <a:gd name="T37" fmla="*/ 311 h 792"/>
                  <a:gd name="T38" fmla="*/ 455 w 791"/>
                  <a:gd name="T39" fmla="*/ 325 h 792"/>
                  <a:gd name="T40" fmla="*/ 388 w 791"/>
                  <a:gd name="T41" fmla="*/ 423 h 792"/>
                  <a:gd name="T42" fmla="*/ 367 w 791"/>
                  <a:gd name="T43" fmla="*/ 450 h 792"/>
                  <a:gd name="T44" fmla="*/ 262 w 791"/>
                  <a:gd name="T45" fmla="*/ 437 h 792"/>
                  <a:gd name="T46" fmla="*/ 388 w 791"/>
                  <a:gd name="T47" fmla="*/ 423 h 792"/>
                  <a:gd name="T48" fmla="*/ 276 w 791"/>
                  <a:gd name="T49" fmla="*/ 477 h 792"/>
                  <a:gd name="T50" fmla="*/ 355 w 791"/>
                  <a:gd name="T51" fmla="*/ 477 h 792"/>
                  <a:gd name="T52" fmla="*/ 276 w 791"/>
                  <a:gd name="T53" fmla="*/ 504 h 792"/>
                  <a:gd name="T54" fmla="*/ 276 w 791"/>
                  <a:gd name="T55" fmla="*/ 477 h 792"/>
                  <a:gd name="T56" fmla="*/ 616 w 791"/>
                  <a:gd name="T57" fmla="*/ 657 h 792"/>
                  <a:gd name="T58" fmla="*/ 536 w 791"/>
                  <a:gd name="T59" fmla="*/ 595 h 792"/>
                  <a:gd name="T60" fmla="*/ 470 w 791"/>
                  <a:gd name="T61" fmla="*/ 617 h 792"/>
                  <a:gd name="T62" fmla="*/ 470 w 791"/>
                  <a:gd name="T63" fmla="*/ 404 h 792"/>
                  <a:gd name="T64" fmla="*/ 558 w 791"/>
                  <a:gd name="T65" fmla="*/ 571 h 792"/>
                  <a:gd name="T66" fmla="*/ 616 w 791"/>
                  <a:gd name="T67" fmla="*/ 638 h 792"/>
                  <a:gd name="T68" fmla="*/ 552 w 791"/>
                  <a:gd name="T69" fmla="*/ 513 h 792"/>
                  <a:gd name="T70" fmla="*/ 470 w 791"/>
                  <a:gd name="T71" fmla="*/ 432 h 792"/>
                  <a:gd name="T72" fmla="*/ 470 w 791"/>
                  <a:gd name="T73" fmla="*/ 595 h 792"/>
                  <a:gd name="T74" fmla="*/ 455 w 791"/>
                  <a:gd name="T75" fmla="*/ 494 h 792"/>
                  <a:gd name="T76" fmla="*/ 442 w 791"/>
                  <a:gd name="T77" fmla="*/ 507 h 792"/>
                  <a:gd name="T78" fmla="*/ 411 w 791"/>
                  <a:gd name="T79" fmla="*/ 480 h 792"/>
                  <a:gd name="T80" fmla="*/ 455 w 791"/>
                  <a:gd name="T81" fmla="*/ 494 h 792"/>
                  <a:gd name="T82" fmla="*/ 514 w 791"/>
                  <a:gd name="T83" fmla="*/ 542 h 792"/>
                  <a:gd name="T84" fmla="*/ 423 w 791"/>
                  <a:gd name="T85" fmla="*/ 563 h 792"/>
                  <a:gd name="T86" fmla="*/ 482 w 791"/>
                  <a:gd name="T87" fmla="*/ 531 h 792"/>
                  <a:gd name="T88" fmla="*/ 514 w 791"/>
                  <a:gd name="T89" fmla="*/ 462 h 792"/>
                  <a:gd name="T90" fmla="*/ 514 w 791"/>
                  <a:gd name="T91" fmla="*/ 542 h 792"/>
                  <a:gd name="T92" fmla="*/ 410 w 791"/>
                  <a:gd name="T93" fmla="*/ 261 h 792"/>
                  <a:gd name="T94" fmla="*/ 403 w 791"/>
                  <a:gd name="T95" fmla="*/ 185 h 792"/>
                  <a:gd name="T96" fmla="*/ 410 w 791"/>
                  <a:gd name="T97" fmla="*/ 26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1" h="792">
                    <a:moveTo>
                      <a:pt x="791" y="396"/>
                    </a:moveTo>
                    <a:lnTo>
                      <a:pt x="791" y="396"/>
                    </a:lnTo>
                    <a:cubicBezTo>
                      <a:pt x="791" y="178"/>
                      <a:pt x="614" y="0"/>
                      <a:pt x="395" y="0"/>
                    </a:cubicBezTo>
                    <a:cubicBezTo>
                      <a:pt x="177" y="0"/>
                      <a:pt x="0" y="178"/>
                      <a:pt x="0" y="396"/>
                    </a:cubicBezTo>
                    <a:cubicBezTo>
                      <a:pt x="0" y="615"/>
                      <a:pt x="177" y="792"/>
                      <a:pt x="395" y="792"/>
                    </a:cubicBezTo>
                    <a:cubicBezTo>
                      <a:pt x="614" y="792"/>
                      <a:pt x="791" y="615"/>
                      <a:pt x="791" y="396"/>
                    </a:cubicBezTo>
                    <a:close/>
                    <a:moveTo>
                      <a:pt x="514" y="399"/>
                    </a:moveTo>
                    <a:lnTo>
                      <a:pt x="514" y="399"/>
                    </a:lnTo>
                    <a:cubicBezTo>
                      <a:pt x="504" y="395"/>
                      <a:pt x="493" y="393"/>
                      <a:pt x="482" y="392"/>
                    </a:cubicBezTo>
                    <a:lnTo>
                      <a:pt x="482" y="286"/>
                    </a:lnTo>
                    <a:lnTo>
                      <a:pt x="410" y="286"/>
                    </a:lnTo>
                    <a:cubicBezTo>
                      <a:pt x="391" y="286"/>
                      <a:pt x="376" y="270"/>
                      <a:pt x="376" y="252"/>
                    </a:cubicBezTo>
                    <a:lnTo>
                      <a:pt x="376" y="176"/>
                    </a:lnTo>
                    <a:lnTo>
                      <a:pt x="238" y="176"/>
                    </a:lnTo>
                    <a:lnTo>
                      <a:pt x="238" y="528"/>
                    </a:lnTo>
                    <a:lnTo>
                      <a:pt x="352" y="528"/>
                    </a:lnTo>
                    <a:cubicBezTo>
                      <a:pt x="353" y="540"/>
                      <a:pt x="356" y="550"/>
                      <a:pt x="361" y="560"/>
                    </a:cubicBezTo>
                    <a:lnTo>
                      <a:pt x="227" y="560"/>
                    </a:lnTo>
                    <a:cubicBezTo>
                      <a:pt x="216" y="560"/>
                      <a:pt x="207" y="551"/>
                      <a:pt x="207" y="540"/>
                    </a:cubicBezTo>
                    <a:lnTo>
                      <a:pt x="207" y="165"/>
                    </a:lnTo>
                    <a:cubicBezTo>
                      <a:pt x="207" y="154"/>
                      <a:pt x="216" y="145"/>
                      <a:pt x="227" y="145"/>
                    </a:cubicBezTo>
                    <a:lnTo>
                      <a:pt x="410" y="145"/>
                    </a:lnTo>
                    <a:lnTo>
                      <a:pt x="514" y="249"/>
                    </a:lnTo>
                    <a:lnTo>
                      <a:pt x="514" y="399"/>
                    </a:lnTo>
                    <a:lnTo>
                      <a:pt x="514" y="399"/>
                    </a:lnTo>
                    <a:close/>
                    <a:moveTo>
                      <a:pt x="455" y="380"/>
                    </a:moveTo>
                    <a:lnTo>
                      <a:pt x="455" y="380"/>
                    </a:lnTo>
                    <a:cubicBezTo>
                      <a:pt x="455" y="387"/>
                      <a:pt x="449" y="394"/>
                      <a:pt x="442" y="394"/>
                    </a:cubicBezTo>
                    <a:lnTo>
                      <a:pt x="276" y="394"/>
                    </a:lnTo>
                    <a:cubicBezTo>
                      <a:pt x="268" y="394"/>
                      <a:pt x="262" y="387"/>
                      <a:pt x="262" y="380"/>
                    </a:cubicBezTo>
                    <a:cubicBezTo>
                      <a:pt x="262" y="372"/>
                      <a:pt x="268" y="366"/>
                      <a:pt x="276" y="366"/>
                    </a:cubicBezTo>
                    <a:lnTo>
                      <a:pt x="442" y="366"/>
                    </a:lnTo>
                    <a:cubicBezTo>
                      <a:pt x="449" y="366"/>
                      <a:pt x="455" y="372"/>
                      <a:pt x="455" y="380"/>
                    </a:cubicBezTo>
                    <a:close/>
                    <a:moveTo>
                      <a:pt x="442" y="338"/>
                    </a:moveTo>
                    <a:lnTo>
                      <a:pt x="442" y="338"/>
                    </a:lnTo>
                    <a:lnTo>
                      <a:pt x="276" y="338"/>
                    </a:lnTo>
                    <a:cubicBezTo>
                      <a:pt x="268" y="338"/>
                      <a:pt x="262" y="332"/>
                      <a:pt x="262" y="325"/>
                    </a:cubicBezTo>
                    <a:cubicBezTo>
                      <a:pt x="262" y="317"/>
                      <a:pt x="268" y="311"/>
                      <a:pt x="276" y="311"/>
                    </a:cubicBezTo>
                    <a:lnTo>
                      <a:pt x="442" y="311"/>
                    </a:lnTo>
                    <a:cubicBezTo>
                      <a:pt x="449" y="311"/>
                      <a:pt x="455" y="317"/>
                      <a:pt x="455" y="325"/>
                    </a:cubicBezTo>
                    <a:cubicBezTo>
                      <a:pt x="455" y="332"/>
                      <a:pt x="449" y="338"/>
                      <a:pt x="442" y="338"/>
                    </a:cubicBezTo>
                    <a:close/>
                    <a:moveTo>
                      <a:pt x="388" y="423"/>
                    </a:moveTo>
                    <a:lnTo>
                      <a:pt x="388" y="423"/>
                    </a:lnTo>
                    <a:cubicBezTo>
                      <a:pt x="380" y="431"/>
                      <a:pt x="373" y="440"/>
                      <a:pt x="367" y="450"/>
                    </a:cubicBezTo>
                    <a:lnTo>
                      <a:pt x="276" y="450"/>
                    </a:lnTo>
                    <a:cubicBezTo>
                      <a:pt x="268" y="450"/>
                      <a:pt x="262" y="444"/>
                      <a:pt x="262" y="437"/>
                    </a:cubicBezTo>
                    <a:cubicBezTo>
                      <a:pt x="262" y="429"/>
                      <a:pt x="268" y="423"/>
                      <a:pt x="276" y="423"/>
                    </a:cubicBezTo>
                    <a:lnTo>
                      <a:pt x="388" y="423"/>
                    </a:lnTo>
                    <a:lnTo>
                      <a:pt x="388" y="423"/>
                    </a:lnTo>
                    <a:close/>
                    <a:moveTo>
                      <a:pt x="276" y="477"/>
                    </a:moveTo>
                    <a:lnTo>
                      <a:pt x="276" y="477"/>
                    </a:lnTo>
                    <a:lnTo>
                      <a:pt x="355" y="477"/>
                    </a:lnTo>
                    <a:cubicBezTo>
                      <a:pt x="353" y="486"/>
                      <a:pt x="351" y="495"/>
                      <a:pt x="350" y="504"/>
                    </a:cubicBezTo>
                    <a:lnTo>
                      <a:pt x="276" y="504"/>
                    </a:lnTo>
                    <a:cubicBezTo>
                      <a:pt x="268" y="504"/>
                      <a:pt x="262" y="498"/>
                      <a:pt x="262" y="491"/>
                    </a:cubicBezTo>
                    <a:cubicBezTo>
                      <a:pt x="262" y="483"/>
                      <a:pt x="268" y="477"/>
                      <a:pt x="276" y="477"/>
                    </a:cubicBezTo>
                    <a:close/>
                    <a:moveTo>
                      <a:pt x="616" y="657"/>
                    </a:moveTo>
                    <a:lnTo>
                      <a:pt x="616" y="657"/>
                    </a:lnTo>
                    <a:cubicBezTo>
                      <a:pt x="611" y="662"/>
                      <a:pt x="602" y="662"/>
                      <a:pt x="597" y="657"/>
                    </a:cubicBezTo>
                    <a:lnTo>
                      <a:pt x="536" y="595"/>
                    </a:lnTo>
                    <a:lnTo>
                      <a:pt x="531" y="598"/>
                    </a:lnTo>
                    <a:cubicBezTo>
                      <a:pt x="513" y="611"/>
                      <a:pt x="492" y="617"/>
                      <a:pt x="470" y="617"/>
                    </a:cubicBezTo>
                    <a:cubicBezTo>
                      <a:pt x="411" y="617"/>
                      <a:pt x="363" y="570"/>
                      <a:pt x="363" y="511"/>
                    </a:cubicBezTo>
                    <a:cubicBezTo>
                      <a:pt x="363" y="452"/>
                      <a:pt x="411" y="404"/>
                      <a:pt x="470" y="404"/>
                    </a:cubicBezTo>
                    <a:cubicBezTo>
                      <a:pt x="529" y="404"/>
                      <a:pt x="577" y="452"/>
                      <a:pt x="577" y="511"/>
                    </a:cubicBezTo>
                    <a:cubicBezTo>
                      <a:pt x="577" y="532"/>
                      <a:pt x="570" y="553"/>
                      <a:pt x="558" y="571"/>
                    </a:cubicBezTo>
                    <a:lnTo>
                      <a:pt x="555" y="575"/>
                    </a:lnTo>
                    <a:lnTo>
                      <a:pt x="616" y="638"/>
                    </a:lnTo>
                    <a:cubicBezTo>
                      <a:pt x="621" y="643"/>
                      <a:pt x="621" y="652"/>
                      <a:pt x="616" y="657"/>
                    </a:cubicBezTo>
                    <a:close/>
                    <a:moveTo>
                      <a:pt x="552" y="513"/>
                    </a:moveTo>
                    <a:lnTo>
                      <a:pt x="552" y="513"/>
                    </a:lnTo>
                    <a:cubicBezTo>
                      <a:pt x="552" y="468"/>
                      <a:pt x="515" y="432"/>
                      <a:pt x="470" y="432"/>
                    </a:cubicBezTo>
                    <a:cubicBezTo>
                      <a:pt x="425" y="432"/>
                      <a:pt x="388" y="468"/>
                      <a:pt x="388" y="513"/>
                    </a:cubicBezTo>
                    <a:cubicBezTo>
                      <a:pt x="388" y="559"/>
                      <a:pt x="425" y="595"/>
                      <a:pt x="470" y="595"/>
                    </a:cubicBezTo>
                    <a:cubicBezTo>
                      <a:pt x="515" y="595"/>
                      <a:pt x="552" y="559"/>
                      <a:pt x="552" y="513"/>
                    </a:cubicBezTo>
                    <a:close/>
                    <a:moveTo>
                      <a:pt x="455" y="494"/>
                    </a:moveTo>
                    <a:lnTo>
                      <a:pt x="455" y="494"/>
                    </a:lnTo>
                    <a:cubicBezTo>
                      <a:pt x="455" y="501"/>
                      <a:pt x="449" y="507"/>
                      <a:pt x="442" y="507"/>
                    </a:cubicBezTo>
                    <a:lnTo>
                      <a:pt x="403" y="507"/>
                    </a:lnTo>
                    <a:cubicBezTo>
                      <a:pt x="403" y="497"/>
                      <a:pt x="406" y="488"/>
                      <a:pt x="411" y="480"/>
                    </a:cubicBezTo>
                    <a:lnTo>
                      <a:pt x="442" y="480"/>
                    </a:lnTo>
                    <a:cubicBezTo>
                      <a:pt x="449" y="480"/>
                      <a:pt x="455" y="486"/>
                      <a:pt x="455" y="494"/>
                    </a:cubicBezTo>
                    <a:close/>
                    <a:moveTo>
                      <a:pt x="514" y="542"/>
                    </a:moveTo>
                    <a:lnTo>
                      <a:pt x="514" y="542"/>
                    </a:lnTo>
                    <a:cubicBezTo>
                      <a:pt x="514" y="554"/>
                      <a:pt x="505" y="563"/>
                      <a:pt x="494" y="563"/>
                    </a:cubicBezTo>
                    <a:lnTo>
                      <a:pt x="423" y="563"/>
                    </a:lnTo>
                    <a:cubicBezTo>
                      <a:pt x="414" y="554"/>
                      <a:pt x="408" y="543"/>
                      <a:pt x="405" y="531"/>
                    </a:cubicBezTo>
                    <a:lnTo>
                      <a:pt x="482" y="531"/>
                    </a:lnTo>
                    <a:lnTo>
                      <a:pt x="482" y="446"/>
                    </a:lnTo>
                    <a:cubicBezTo>
                      <a:pt x="494" y="449"/>
                      <a:pt x="505" y="454"/>
                      <a:pt x="514" y="462"/>
                    </a:cubicBezTo>
                    <a:lnTo>
                      <a:pt x="514" y="542"/>
                    </a:lnTo>
                    <a:lnTo>
                      <a:pt x="514" y="542"/>
                    </a:lnTo>
                    <a:close/>
                    <a:moveTo>
                      <a:pt x="410" y="261"/>
                    </a:moveTo>
                    <a:lnTo>
                      <a:pt x="410" y="261"/>
                    </a:lnTo>
                    <a:lnTo>
                      <a:pt x="479" y="261"/>
                    </a:lnTo>
                    <a:lnTo>
                      <a:pt x="403" y="185"/>
                    </a:lnTo>
                    <a:lnTo>
                      <a:pt x="403" y="254"/>
                    </a:lnTo>
                    <a:cubicBezTo>
                      <a:pt x="403" y="258"/>
                      <a:pt x="406" y="261"/>
                      <a:pt x="410" y="261"/>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8" name="Group 7">
              <a:extLst>
                <a:ext uri="{FF2B5EF4-FFF2-40B4-BE49-F238E27FC236}">
                  <a16:creationId xmlns:a16="http://schemas.microsoft.com/office/drawing/2014/main" id="{4203B182-673D-4B59-95BC-AFDDB9BB175A}"/>
                </a:ext>
              </a:extLst>
            </p:cNvPr>
            <p:cNvGrpSpPr/>
            <p:nvPr/>
          </p:nvGrpSpPr>
          <p:grpSpPr>
            <a:xfrm>
              <a:off x="469900" y="3907644"/>
              <a:ext cx="5902742" cy="532606"/>
              <a:chOff x="469900" y="3907644"/>
              <a:chExt cx="5902742" cy="532606"/>
            </a:xfrm>
          </p:grpSpPr>
          <p:sp>
            <p:nvSpPr>
              <p:cNvPr id="85" name="Rounded Rectangle 2">
                <a:extLst>
                  <a:ext uri="{FF2B5EF4-FFF2-40B4-BE49-F238E27FC236}">
                    <a16:creationId xmlns:a16="http://schemas.microsoft.com/office/drawing/2014/main" id="{6E427DD1-2169-43F5-A6B2-B53F036CAB80}"/>
                  </a:ext>
                </a:extLst>
              </p:cNvPr>
              <p:cNvSpPr/>
              <p:nvPr/>
            </p:nvSpPr>
            <p:spPr bwMode="gray">
              <a:xfrm>
                <a:off x="1343442" y="3907644"/>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6" name="Rounded Rectangle 3">
                <a:extLst>
                  <a:ext uri="{FF2B5EF4-FFF2-40B4-BE49-F238E27FC236}">
                    <a16:creationId xmlns:a16="http://schemas.microsoft.com/office/drawing/2014/main" id="{1B6977C4-F249-4F64-8C6C-E224E53894A0}"/>
                  </a:ext>
                </a:extLst>
              </p:cNvPr>
              <p:cNvSpPr/>
              <p:nvPr/>
            </p:nvSpPr>
            <p:spPr bwMode="gray">
              <a:xfrm>
                <a:off x="1452592" y="3907644"/>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Update contextualized training materials</a:t>
                </a:r>
              </a:p>
            </p:txBody>
          </p:sp>
          <p:sp>
            <p:nvSpPr>
              <p:cNvPr id="87" name="Oval 86">
                <a:extLst>
                  <a:ext uri="{FF2B5EF4-FFF2-40B4-BE49-F238E27FC236}">
                    <a16:creationId xmlns:a16="http://schemas.microsoft.com/office/drawing/2014/main" id="{3B50832C-2759-4970-B86F-FB54564DD33E}"/>
                  </a:ext>
                </a:extLst>
              </p:cNvPr>
              <p:cNvSpPr>
                <a:spLocks noChangeAspect="1"/>
              </p:cNvSpPr>
              <p:nvPr/>
            </p:nvSpPr>
            <p:spPr bwMode="gray">
              <a:xfrm>
                <a:off x="894939" y="4131680"/>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8" name="Rounded Rectangle 5">
                <a:extLst>
                  <a:ext uri="{FF2B5EF4-FFF2-40B4-BE49-F238E27FC236}">
                    <a16:creationId xmlns:a16="http://schemas.microsoft.com/office/drawing/2014/main" id="{77A62585-AE05-4A46-AFDF-8582FDB2766E}"/>
                  </a:ext>
                </a:extLst>
              </p:cNvPr>
              <p:cNvSpPr/>
              <p:nvPr/>
            </p:nvSpPr>
            <p:spPr bwMode="gray">
              <a:xfrm>
                <a:off x="469900" y="3908771"/>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9" name="Rounded Rectangle 6">
                <a:extLst>
                  <a:ext uri="{FF2B5EF4-FFF2-40B4-BE49-F238E27FC236}">
                    <a16:creationId xmlns:a16="http://schemas.microsoft.com/office/drawing/2014/main" id="{07ECEBF9-8C3A-4458-99F4-2882C508C165}"/>
                  </a:ext>
                </a:extLst>
              </p:cNvPr>
              <p:cNvSpPr/>
              <p:nvPr/>
            </p:nvSpPr>
            <p:spPr bwMode="gray">
              <a:xfrm>
                <a:off x="496303" y="3908771"/>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96" name="Oval 95">
                <a:extLst>
                  <a:ext uri="{FF2B5EF4-FFF2-40B4-BE49-F238E27FC236}">
                    <a16:creationId xmlns:a16="http://schemas.microsoft.com/office/drawing/2014/main" id="{FF7FC15B-054C-4033-8536-FD1AE94ABE2C}"/>
                  </a:ext>
                </a:extLst>
              </p:cNvPr>
              <p:cNvSpPr/>
              <p:nvPr/>
            </p:nvSpPr>
            <p:spPr bwMode="gray">
              <a:xfrm>
                <a:off x="1163072" y="4132712"/>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97" name="Oval 96">
                <a:extLst>
                  <a:ext uri="{FF2B5EF4-FFF2-40B4-BE49-F238E27FC236}">
                    <a16:creationId xmlns:a16="http://schemas.microsoft.com/office/drawing/2014/main" id="{5B8218B7-2BCE-47DF-917A-79D148E70B17}"/>
                  </a:ext>
                </a:extLst>
              </p:cNvPr>
              <p:cNvSpPr/>
              <p:nvPr/>
            </p:nvSpPr>
            <p:spPr bwMode="gray">
              <a:xfrm>
                <a:off x="1303547" y="4132712"/>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98" name="Straight Connector 97">
                <a:extLst>
                  <a:ext uri="{FF2B5EF4-FFF2-40B4-BE49-F238E27FC236}">
                    <a16:creationId xmlns:a16="http://schemas.microsoft.com/office/drawing/2014/main" id="{084D32DB-E599-49C6-8F51-5F8ADC7550ED}"/>
                  </a:ext>
                </a:extLst>
              </p:cNvPr>
              <p:cNvCxnSpPr>
                <a:cxnSpLocks/>
              </p:cNvCxnSpPr>
              <p:nvPr/>
            </p:nvCxnSpPr>
            <p:spPr>
              <a:xfrm>
                <a:off x="1204223" y="4173947"/>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52" name="Freeform 223">
                <a:extLst>
                  <a:ext uri="{FF2B5EF4-FFF2-40B4-BE49-F238E27FC236}">
                    <a16:creationId xmlns:a16="http://schemas.microsoft.com/office/drawing/2014/main" id="{26BE297D-6BEF-44E9-AEE7-EA874BB2C25A}"/>
                  </a:ext>
                </a:extLst>
              </p:cNvPr>
              <p:cNvSpPr>
                <a:spLocks noChangeAspect="1" noEditPoints="1"/>
              </p:cNvSpPr>
              <p:nvPr/>
            </p:nvSpPr>
            <p:spPr bwMode="auto">
              <a:xfrm>
                <a:off x="632391" y="3989956"/>
                <a:ext cx="369676" cy="369676"/>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39 w 512"/>
                  <a:gd name="T11" fmla="*/ 267 h 512"/>
                  <a:gd name="T12" fmla="*/ 128 w 512"/>
                  <a:gd name="T13" fmla="*/ 256 h 512"/>
                  <a:gd name="T14" fmla="*/ 256 w 512"/>
                  <a:gd name="T15" fmla="*/ 128 h 512"/>
                  <a:gd name="T16" fmla="*/ 331 w 512"/>
                  <a:gd name="T17" fmla="*/ 153 h 512"/>
                  <a:gd name="T18" fmla="*/ 331 w 512"/>
                  <a:gd name="T19" fmla="*/ 128 h 512"/>
                  <a:gd name="T20" fmla="*/ 341 w 512"/>
                  <a:gd name="T21" fmla="*/ 118 h 512"/>
                  <a:gd name="T22" fmla="*/ 352 w 512"/>
                  <a:gd name="T23" fmla="*/ 128 h 512"/>
                  <a:gd name="T24" fmla="*/ 352 w 512"/>
                  <a:gd name="T25" fmla="*/ 182 h 512"/>
                  <a:gd name="T26" fmla="*/ 341 w 512"/>
                  <a:gd name="T27" fmla="*/ 192 h 512"/>
                  <a:gd name="T28" fmla="*/ 288 w 512"/>
                  <a:gd name="T29" fmla="*/ 192 h 512"/>
                  <a:gd name="T30" fmla="*/ 277 w 512"/>
                  <a:gd name="T31" fmla="*/ 182 h 512"/>
                  <a:gd name="T32" fmla="*/ 288 w 512"/>
                  <a:gd name="T33" fmla="*/ 171 h 512"/>
                  <a:gd name="T34" fmla="*/ 320 w 512"/>
                  <a:gd name="T35" fmla="*/ 171 h 512"/>
                  <a:gd name="T36" fmla="*/ 256 w 512"/>
                  <a:gd name="T37" fmla="*/ 150 h 512"/>
                  <a:gd name="T38" fmla="*/ 149 w 512"/>
                  <a:gd name="T39" fmla="*/ 256 h 512"/>
                  <a:gd name="T40" fmla="*/ 139 w 512"/>
                  <a:gd name="T41" fmla="*/ 267 h 512"/>
                  <a:gd name="T42" fmla="*/ 256 w 512"/>
                  <a:gd name="T43" fmla="*/ 384 h 512"/>
                  <a:gd name="T44" fmla="*/ 181 w 512"/>
                  <a:gd name="T45" fmla="*/ 360 h 512"/>
                  <a:gd name="T46" fmla="*/ 181 w 512"/>
                  <a:gd name="T47" fmla="*/ 384 h 512"/>
                  <a:gd name="T48" fmla="*/ 171 w 512"/>
                  <a:gd name="T49" fmla="*/ 395 h 512"/>
                  <a:gd name="T50" fmla="*/ 160 w 512"/>
                  <a:gd name="T51" fmla="*/ 384 h 512"/>
                  <a:gd name="T52" fmla="*/ 160 w 512"/>
                  <a:gd name="T53" fmla="*/ 331 h 512"/>
                  <a:gd name="T54" fmla="*/ 171 w 512"/>
                  <a:gd name="T55" fmla="*/ 320 h 512"/>
                  <a:gd name="T56" fmla="*/ 224 w 512"/>
                  <a:gd name="T57" fmla="*/ 320 h 512"/>
                  <a:gd name="T58" fmla="*/ 235 w 512"/>
                  <a:gd name="T59" fmla="*/ 331 h 512"/>
                  <a:gd name="T60" fmla="*/ 224 w 512"/>
                  <a:gd name="T61" fmla="*/ 342 h 512"/>
                  <a:gd name="T62" fmla="*/ 192 w 512"/>
                  <a:gd name="T63" fmla="*/ 342 h 512"/>
                  <a:gd name="T64" fmla="*/ 256 w 512"/>
                  <a:gd name="T65" fmla="*/ 363 h 512"/>
                  <a:gd name="T66" fmla="*/ 363 w 512"/>
                  <a:gd name="T67" fmla="*/ 256 h 512"/>
                  <a:gd name="T68" fmla="*/ 373 w 512"/>
                  <a:gd name="T69" fmla="*/ 246 h 512"/>
                  <a:gd name="T70" fmla="*/ 384 w 512"/>
                  <a:gd name="T71" fmla="*/ 256 h 512"/>
                  <a:gd name="T72" fmla="*/ 256 w 512"/>
                  <a:gd name="T73"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139" y="267"/>
                    </a:moveTo>
                    <a:cubicBezTo>
                      <a:pt x="133" y="267"/>
                      <a:pt x="128" y="262"/>
                      <a:pt x="128" y="256"/>
                    </a:cubicBezTo>
                    <a:cubicBezTo>
                      <a:pt x="128" y="186"/>
                      <a:pt x="185" y="128"/>
                      <a:pt x="256" y="128"/>
                    </a:cubicBezTo>
                    <a:cubicBezTo>
                      <a:pt x="283" y="128"/>
                      <a:pt x="309" y="137"/>
                      <a:pt x="331" y="153"/>
                    </a:cubicBezTo>
                    <a:cubicBezTo>
                      <a:pt x="331" y="128"/>
                      <a:pt x="331" y="128"/>
                      <a:pt x="331" y="128"/>
                    </a:cubicBezTo>
                    <a:cubicBezTo>
                      <a:pt x="331" y="122"/>
                      <a:pt x="335" y="118"/>
                      <a:pt x="341" y="118"/>
                    </a:cubicBezTo>
                    <a:cubicBezTo>
                      <a:pt x="347" y="118"/>
                      <a:pt x="352" y="122"/>
                      <a:pt x="352" y="128"/>
                    </a:cubicBezTo>
                    <a:cubicBezTo>
                      <a:pt x="352" y="182"/>
                      <a:pt x="352" y="182"/>
                      <a:pt x="352" y="182"/>
                    </a:cubicBezTo>
                    <a:cubicBezTo>
                      <a:pt x="352" y="188"/>
                      <a:pt x="347" y="192"/>
                      <a:pt x="341" y="192"/>
                    </a:cubicBezTo>
                    <a:cubicBezTo>
                      <a:pt x="288" y="192"/>
                      <a:pt x="288" y="192"/>
                      <a:pt x="288" y="192"/>
                    </a:cubicBezTo>
                    <a:cubicBezTo>
                      <a:pt x="282" y="192"/>
                      <a:pt x="277" y="188"/>
                      <a:pt x="277" y="182"/>
                    </a:cubicBezTo>
                    <a:cubicBezTo>
                      <a:pt x="277" y="176"/>
                      <a:pt x="282" y="171"/>
                      <a:pt x="288" y="171"/>
                    </a:cubicBezTo>
                    <a:cubicBezTo>
                      <a:pt x="320" y="171"/>
                      <a:pt x="320" y="171"/>
                      <a:pt x="320" y="171"/>
                    </a:cubicBezTo>
                    <a:cubicBezTo>
                      <a:pt x="302" y="157"/>
                      <a:pt x="279" y="150"/>
                      <a:pt x="256" y="150"/>
                    </a:cubicBezTo>
                    <a:cubicBezTo>
                      <a:pt x="197" y="150"/>
                      <a:pt x="149" y="198"/>
                      <a:pt x="149" y="256"/>
                    </a:cubicBezTo>
                    <a:cubicBezTo>
                      <a:pt x="149" y="262"/>
                      <a:pt x="145" y="267"/>
                      <a:pt x="139" y="267"/>
                    </a:cubicBezTo>
                    <a:close/>
                    <a:moveTo>
                      <a:pt x="256" y="384"/>
                    </a:moveTo>
                    <a:cubicBezTo>
                      <a:pt x="229" y="384"/>
                      <a:pt x="203" y="376"/>
                      <a:pt x="181" y="360"/>
                    </a:cubicBezTo>
                    <a:cubicBezTo>
                      <a:pt x="181" y="384"/>
                      <a:pt x="181" y="384"/>
                      <a:pt x="181" y="384"/>
                    </a:cubicBezTo>
                    <a:cubicBezTo>
                      <a:pt x="181" y="390"/>
                      <a:pt x="177" y="395"/>
                      <a:pt x="171" y="395"/>
                    </a:cubicBezTo>
                    <a:cubicBezTo>
                      <a:pt x="165" y="395"/>
                      <a:pt x="160" y="390"/>
                      <a:pt x="160" y="384"/>
                    </a:cubicBezTo>
                    <a:cubicBezTo>
                      <a:pt x="160" y="331"/>
                      <a:pt x="160" y="331"/>
                      <a:pt x="160" y="331"/>
                    </a:cubicBezTo>
                    <a:cubicBezTo>
                      <a:pt x="160" y="325"/>
                      <a:pt x="165" y="320"/>
                      <a:pt x="171" y="320"/>
                    </a:cubicBezTo>
                    <a:cubicBezTo>
                      <a:pt x="224" y="320"/>
                      <a:pt x="224" y="320"/>
                      <a:pt x="224" y="320"/>
                    </a:cubicBezTo>
                    <a:cubicBezTo>
                      <a:pt x="230" y="320"/>
                      <a:pt x="235" y="325"/>
                      <a:pt x="235" y="331"/>
                    </a:cubicBezTo>
                    <a:cubicBezTo>
                      <a:pt x="235" y="337"/>
                      <a:pt x="230" y="342"/>
                      <a:pt x="224" y="342"/>
                    </a:cubicBezTo>
                    <a:cubicBezTo>
                      <a:pt x="192" y="342"/>
                      <a:pt x="192" y="342"/>
                      <a:pt x="192" y="342"/>
                    </a:cubicBezTo>
                    <a:cubicBezTo>
                      <a:pt x="210" y="355"/>
                      <a:pt x="233" y="363"/>
                      <a:pt x="256" y="363"/>
                    </a:cubicBezTo>
                    <a:cubicBezTo>
                      <a:pt x="315" y="363"/>
                      <a:pt x="363" y="315"/>
                      <a:pt x="363" y="256"/>
                    </a:cubicBezTo>
                    <a:cubicBezTo>
                      <a:pt x="363" y="250"/>
                      <a:pt x="367" y="246"/>
                      <a:pt x="373" y="246"/>
                    </a:cubicBezTo>
                    <a:cubicBezTo>
                      <a:pt x="379" y="246"/>
                      <a:pt x="384" y="250"/>
                      <a:pt x="384" y="256"/>
                    </a:cubicBezTo>
                    <a:cubicBezTo>
                      <a:pt x="384" y="327"/>
                      <a:pt x="327" y="384"/>
                      <a:pt x="256" y="38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9" name="Group 8">
              <a:extLst>
                <a:ext uri="{FF2B5EF4-FFF2-40B4-BE49-F238E27FC236}">
                  <a16:creationId xmlns:a16="http://schemas.microsoft.com/office/drawing/2014/main" id="{32C11253-5C14-4960-BB39-227531B1B59C}"/>
                </a:ext>
              </a:extLst>
            </p:cNvPr>
            <p:cNvGrpSpPr/>
            <p:nvPr/>
          </p:nvGrpSpPr>
          <p:grpSpPr>
            <a:xfrm>
              <a:off x="469900" y="4509312"/>
              <a:ext cx="5902742" cy="532606"/>
              <a:chOff x="469900" y="4509312"/>
              <a:chExt cx="5902742" cy="532606"/>
            </a:xfrm>
          </p:grpSpPr>
          <p:sp>
            <p:nvSpPr>
              <p:cNvPr id="100" name="Rounded Rectangle 2">
                <a:extLst>
                  <a:ext uri="{FF2B5EF4-FFF2-40B4-BE49-F238E27FC236}">
                    <a16:creationId xmlns:a16="http://schemas.microsoft.com/office/drawing/2014/main" id="{F5F15FF1-21FA-4F54-A7E9-7393E07FB41A}"/>
                  </a:ext>
                </a:extLst>
              </p:cNvPr>
              <p:cNvSpPr/>
              <p:nvPr/>
            </p:nvSpPr>
            <p:spPr bwMode="gray">
              <a:xfrm>
                <a:off x="1343442" y="4509312"/>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08" name="Rounded Rectangle 3">
                <a:extLst>
                  <a:ext uri="{FF2B5EF4-FFF2-40B4-BE49-F238E27FC236}">
                    <a16:creationId xmlns:a16="http://schemas.microsoft.com/office/drawing/2014/main" id="{7857DD39-227E-4445-A4FB-E035EE64AB47}"/>
                  </a:ext>
                </a:extLst>
              </p:cNvPr>
              <p:cNvSpPr/>
              <p:nvPr/>
            </p:nvSpPr>
            <p:spPr bwMode="gray">
              <a:xfrm>
                <a:off x="1452592" y="4509312"/>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Regional workshops for sharing success stories</a:t>
                </a:r>
              </a:p>
            </p:txBody>
          </p:sp>
          <p:sp>
            <p:nvSpPr>
              <p:cNvPr id="110" name="Oval 109">
                <a:extLst>
                  <a:ext uri="{FF2B5EF4-FFF2-40B4-BE49-F238E27FC236}">
                    <a16:creationId xmlns:a16="http://schemas.microsoft.com/office/drawing/2014/main" id="{92040D7B-2AF8-403D-80E4-1E650CE7801F}"/>
                  </a:ext>
                </a:extLst>
              </p:cNvPr>
              <p:cNvSpPr>
                <a:spLocks noChangeAspect="1"/>
              </p:cNvSpPr>
              <p:nvPr/>
            </p:nvSpPr>
            <p:spPr bwMode="gray">
              <a:xfrm>
                <a:off x="894939" y="4733348"/>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15" name="Rounded Rectangle 5">
                <a:extLst>
                  <a:ext uri="{FF2B5EF4-FFF2-40B4-BE49-F238E27FC236}">
                    <a16:creationId xmlns:a16="http://schemas.microsoft.com/office/drawing/2014/main" id="{460D8A40-61CC-4F1D-A421-84E457DE6AF4}"/>
                  </a:ext>
                </a:extLst>
              </p:cNvPr>
              <p:cNvSpPr/>
              <p:nvPr/>
            </p:nvSpPr>
            <p:spPr bwMode="gray">
              <a:xfrm>
                <a:off x="469900" y="4510439"/>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16" name="Rounded Rectangle 6">
                <a:extLst>
                  <a:ext uri="{FF2B5EF4-FFF2-40B4-BE49-F238E27FC236}">
                    <a16:creationId xmlns:a16="http://schemas.microsoft.com/office/drawing/2014/main" id="{1250977F-E1A8-4F1B-B304-B0F3C4562DA1}"/>
                  </a:ext>
                </a:extLst>
              </p:cNvPr>
              <p:cNvSpPr/>
              <p:nvPr/>
            </p:nvSpPr>
            <p:spPr bwMode="gray">
              <a:xfrm>
                <a:off x="496303" y="4510439"/>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23" name="Oval 122">
                <a:extLst>
                  <a:ext uri="{FF2B5EF4-FFF2-40B4-BE49-F238E27FC236}">
                    <a16:creationId xmlns:a16="http://schemas.microsoft.com/office/drawing/2014/main" id="{1469A596-EEBD-4B29-86E5-151296E0A3E2}"/>
                  </a:ext>
                </a:extLst>
              </p:cNvPr>
              <p:cNvSpPr/>
              <p:nvPr/>
            </p:nvSpPr>
            <p:spPr bwMode="gray">
              <a:xfrm>
                <a:off x="1163072" y="4734380"/>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24" name="Oval 123">
                <a:extLst>
                  <a:ext uri="{FF2B5EF4-FFF2-40B4-BE49-F238E27FC236}">
                    <a16:creationId xmlns:a16="http://schemas.microsoft.com/office/drawing/2014/main" id="{7CEF6966-05B4-4E1F-9E77-94909C977FAF}"/>
                  </a:ext>
                </a:extLst>
              </p:cNvPr>
              <p:cNvSpPr/>
              <p:nvPr/>
            </p:nvSpPr>
            <p:spPr bwMode="gray">
              <a:xfrm>
                <a:off x="1303547" y="4734380"/>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25" name="Straight Connector 124">
                <a:extLst>
                  <a:ext uri="{FF2B5EF4-FFF2-40B4-BE49-F238E27FC236}">
                    <a16:creationId xmlns:a16="http://schemas.microsoft.com/office/drawing/2014/main" id="{74300DAF-5348-4BEB-A9B5-DF8AE85E5DC9}"/>
                  </a:ext>
                </a:extLst>
              </p:cNvPr>
              <p:cNvCxnSpPr>
                <a:cxnSpLocks/>
              </p:cNvCxnSpPr>
              <p:nvPr/>
            </p:nvCxnSpPr>
            <p:spPr>
              <a:xfrm>
                <a:off x="1204223" y="4775615"/>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54" name="Freeform 813">
                <a:extLst>
                  <a:ext uri="{FF2B5EF4-FFF2-40B4-BE49-F238E27FC236}">
                    <a16:creationId xmlns:a16="http://schemas.microsoft.com/office/drawing/2014/main" id="{411DC39E-A95E-404C-9774-47FE052CDDE9}"/>
                  </a:ext>
                </a:extLst>
              </p:cNvPr>
              <p:cNvSpPr>
                <a:spLocks noChangeAspect="1" noEditPoints="1"/>
              </p:cNvSpPr>
              <p:nvPr/>
            </p:nvSpPr>
            <p:spPr bwMode="auto">
              <a:xfrm>
                <a:off x="634176" y="4593412"/>
                <a:ext cx="367041" cy="367041"/>
              </a:xfrm>
              <a:custGeom>
                <a:avLst/>
                <a:gdLst>
                  <a:gd name="T0" fmla="*/ 352 w 512"/>
                  <a:gd name="T1" fmla="*/ 245 h 512"/>
                  <a:gd name="T2" fmla="*/ 288 w 512"/>
                  <a:gd name="T3" fmla="*/ 245 h 512"/>
                  <a:gd name="T4" fmla="*/ 288 w 512"/>
                  <a:gd name="T5" fmla="*/ 202 h 512"/>
                  <a:gd name="T6" fmla="*/ 352 w 512"/>
                  <a:gd name="T7" fmla="*/ 202 h 512"/>
                  <a:gd name="T8" fmla="*/ 352 w 512"/>
                  <a:gd name="T9" fmla="*/ 245 h 512"/>
                  <a:gd name="T10" fmla="*/ 224 w 512"/>
                  <a:gd name="T11" fmla="*/ 202 h 512"/>
                  <a:gd name="T12" fmla="*/ 160 w 512"/>
                  <a:gd name="T13" fmla="*/ 202 h 512"/>
                  <a:gd name="T14" fmla="*/ 160 w 512"/>
                  <a:gd name="T15" fmla="*/ 245 h 512"/>
                  <a:gd name="T16" fmla="*/ 224 w 512"/>
                  <a:gd name="T17" fmla="*/ 245 h 512"/>
                  <a:gd name="T18" fmla="*/ 224 w 512"/>
                  <a:gd name="T19" fmla="*/ 202 h 512"/>
                  <a:gd name="T20" fmla="*/ 320 w 512"/>
                  <a:gd name="T21" fmla="*/ 138 h 512"/>
                  <a:gd name="T22" fmla="*/ 330 w 512"/>
                  <a:gd name="T23" fmla="*/ 128 h 512"/>
                  <a:gd name="T24" fmla="*/ 320 w 512"/>
                  <a:gd name="T25" fmla="*/ 117 h 512"/>
                  <a:gd name="T26" fmla="*/ 309 w 512"/>
                  <a:gd name="T27" fmla="*/ 128 h 512"/>
                  <a:gd name="T28" fmla="*/ 320 w 512"/>
                  <a:gd name="T29" fmla="*/ 138 h 512"/>
                  <a:gd name="T30" fmla="*/ 192 w 512"/>
                  <a:gd name="T31" fmla="*/ 138 h 512"/>
                  <a:gd name="T32" fmla="*/ 202 w 512"/>
                  <a:gd name="T33" fmla="*/ 128 h 512"/>
                  <a:gd name="T34" fmla="*/ 192 w 512"/>
                  <a:gd name="T35" fmla="*/ 117 h 512"/>
                  <a:gd name="T36" fmla="*/ 181 w 512"/>
                  <a:gd name="T37" fmla="*/ 128 h 512"/>
                  <a:gd name="T38" fmla="*/ 192 w 512"/>
                  <a:gd name="T39" fmla="*/ 138 h 512"/>
                  <a:gd name="T40" fmla="*/ 512 w 512"/>
                  <a:gd name="T41" fmla="*/ 256 h 512"/>
                  <a:gd name="T42" fmla="*/ 256 w 512"/>
                  <a:gd name="T43" fmla="*/ 512 h 512"/>
                  <a:gd name="T44" fmla="*/ 0 w 512"/>
                  <a:gd name="T45" fmla="*/ 256 h 512"/>
                  <a:gd name="T46" fmla="*/ 256 w 512"/>
                  <a:gd name="T47" fmla="*/ 0 h 512"/>
                  <a:gd name="T48" fmla="*/ 512 w 512"/>
                  <a:gd name="T49" fmla="*/ 256 h 512"/>
                  <a:gd name="T50" fmla="*/ 288 w 512"/>
                  <a:gd name="T51" fmla="*/ 128 h 512"/>
                  <a:gd name="T52" fmla="*/ 320 w 512"/>
                  <a:gd name="T53" fmla="*/ 160 h 512"/>
                  <a:gd name="T54" fmla="*/ 352 w 512"/>
                  <a:gd name="T55" fmla="*/ 128 h 512"/>
                  <a:gd name="T56" fmla="*/ 320 w 512"/>
                  <a:gd name="T57" fmla="*/ 96 h 512"/>
                  <a:gd name="T58" fmla="*/ 288 w 512"/>
                  <a:gd name="T59" fmla="*/ 128 h 512"/>
                  <a:gd name="T60" fmla="*/ 160 w 512"/>
                  <a:gd name="T61" fmla="*/ 128 h 512"/>
                  <a:gd name="T62" fmla="*/ 192 w 512"/>
                  <a:gd name="T63" fmla="*/ 160 h 512"/>
                  <a:gd name="T64" fmla="*/ 224 w 512"/>
                  <a:gd name="T65" fmla="*/ 128 h 512"/>
                  <a:gd name="T66" fmla="*/ 192 w 512"/>
                  <a:gd name="T67" fmla="*/ 96 h 512"/>
                  <a:gd name="T68" fmla="*/ 160 w 512"/>
                  <a:gd name="T69" fmla="*/ 128 h 512"/>
                  <a:gd name="T70" fmla="*/ 405 w 512"/>
                  <a:gd name="T71" fmla="*/ 256 h 512"/>
                  <a:gd name="T72" fmla="*/ 394 w 512"/>
                  <a:gd name="T73" fmla="*/ 245 h 512"/>
                  <a:gd name="T74" fmla="*/ 373 w 512"/>
                  <a:gd name="T75" fmla="*/ 245 h 512"/>
                  <a:gd name="T76" fmla="*/ 373 w 512"/>
                  <a:gd name="T77" fmla="*/ 192 h 512"/>
                  <a:gd name="T78" fmla="*/ 362 w 512"/>
                  <a:gd name="T79" fmla="*/ 181 h 512"/>
                  <a:gd name="T80" fmla="*/ 277 w 512"/>
                  <a:gd name="T81" fmla="*/ 181 h 512"/>
                  <a:gd name="T82" fmla="*/ 266 w 512"/>
                  <a:gd name="T83" fmla="*/ 192 h 512"/>
                  <a:gd name="T84" fmla="*/ 266 w 512"/>
                  <a:gd name="T85" fmla="*/ 245 h 512"/>
                  <a:gd name="T86" fmla="*/ 245 w 512"/>
                  <a:gd name="T87" fmla="*/ 245 h 512"/>
                  <a:gd name="T88" fmla="*/ 245 w 512"/>
                  <a:gd name="T89" fmla="*/ 192 h 512"/>
                  <a:gd name="T90" fmla="*/ 234 w 512"/>
                  <a:gd name="T91" fmla="*/ 181 h 512"/>
                  <a:gd name="T92" fmla="*/ 149 w 512"/>
                  <a:gd name="T93" fmla="*/ 181 h 512"/>
                  <a:gd name="T94" fmla="*/ 138 w 512"/>
                  <a:gd name="T95" fmla="*/ 192 h 512"/>
                  <a:gd name="T96" fmla="*/ 138 w 512"/>
                  <a:gd name="T97" fmla="*/ 245 h 512"/>
                  <a:gd name="T98" fmla="*/ 117 w 512"/>
                  <a:gd name="T99" fmla="*/ 245 h 512"/>
                  <a:gd name="T100" fmla="*/ 106 w 512"/>
                  <a:gd name="T101" fmla="*/ 256 h 512"/>
                  <a:gd name="T102" fmla="*/ 117 w 512"/>
                  <a:gd name="T103" fmla="*/ 266 h 512"/>
                  <a:gd name="T104" fmla="*/ 117 w 512"/>
                  <a:gd name="T105" fmla="*/ 384 h 512"/>
                  <a:gd name="T106" fmla="*/ 128 w 512"/>
                  <a:gd name="T107" fmla="*/ 394 h 512"/>
                  <a:gd name="T108" fmla="*/ 384 w 512"/>
                  <a:gd name="T109" fmla="*/ 394 h 512"/>
                  <a:gd name="T110" fmla="*/ 394 w 512"/>
                  <a:gd name="T111" fmla="*/ 384 h 512"/>
                  <a:gd name="T112" fmla="*/ 394 w 512"/>
                  <a:gd name="T113" fmla="*/ 266 h 512"/>
                  <a:gd name="T114" fmla="*/ 405 w 512"/>
                  <a:gd name="T115" fmla="*/ 256 h 512"/>
                  <a:gd name="T116" fmla="*/ 138 w 512"/>
                  <a:gd name="T117" fmla="*/ 373 h 512"/>
                  <a:gd name="T118" fmla="*/ 373 w 512"/>
                  <a:gd name="T119" fmla="*/ 373 h 512"/>
                  <a:gd name="T120" fmla="*/ 373 w 512"/>
                  <a:gd name="T121" fmla="*/ 266 h 512"/>
                  <a:gd name="T122" fmla="*/ 138 w 512"/>
                  <a:gd name="T123" fmla="*/ 266 h 512"/>
                  <a:gd name="T124" fmla="*/ 138 w 512"/>
                  <a:gd name="T125" fmla="*/ 37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12" h="512">
                    <a:moveTo>
                      <a:pt x="352" y="245"/>
                    </a:moveTo>
                    <a:cubicBezTo>
                      <a:pt x="288" y="245"/>
                      <a:pt x="288" y="245"/>
                      <a:pt x="288" y="245"/>
                    </a:cubicBezTo>
                    <a:cubicBezTo>
                      <a:pt x="288" y="202"/>
                      <a:pt x="288" y="202"/>
                      <a:pt x="288" y="202"/>
                    </a:cubicBezTo>
                    <a:cubicBezTo>
                      <a:pt x="352" y="202"/>
                      <a:pt x="352" y="202"/>
                      <a:pt x="352" y="202"/>
                    </a:cubicBezTo>
                    <a:lnTo>
                      <a:pt x="352" y="245"/>
                    </a:lnTo>
                    <a:close/>
                    <a:moveTo>
                      <a:pt x="224" y="202"/>
                    </a:moveTo>
                    <a:cubicBezTo>
                      <a:pt x="160" y="202"/>
                      <a:pt x="160" y="202"/>
                      <a:pt x="160" y="202"/>
                    </a:cubicBezTo>
                    <a:cubicBezTo>
                      <a:pt x="160" y="245"/>
                      <a:pt x="160" y="245"/>
                      <a:pt x="160" y="245"/>
                    </a:cubicBezTo>
                    <a:cubicBezTo>
                      <a:pt x="224" y="245"/>
                      <a:pt x="224" y="245"/>
                      <a:pt x="224" y="245"/>
                    </a:cubicBezTo>
                    <a:lnTo>
                      <a:pt x="224" y="202"/>
                    </a:lnTo>
                    <a:close/>
                    <a:moveTo>
                      <a:pt x="320" y="138"/>
                    </a:moveTo>
                    <a:cubicBezTo>
                      <a:pt x="326" y="138"/>
                      <a:pt x="330" y="134"/>
                      <a:pt x="330" y="128"/>
                    </a:cubicBezTo>
                    <a:cubicBezTo>
                      <a:pt x="330" y="122"/>
                      <a:pt x="326" y="117"/>
                      <a:pt x="320" y="117"/>
                    </a:cubicBezTo>
                    <a:cubicBezTo>
                      <a:pt x="314" y="117"/>
                      <a:pt x="309" y="122"/>
                      <a:pt x="309" y="128"/>
                    </a:cubicBezTo>
                    <a:cubicBezTo>
                      <a:pt x="309" y="134"/>
                      <a:pt x="314" y="138"/>
                      <a:pt x="320" y="138"/>
                    </a:cubicBezTo>
                    <a:close/>
                    <a:moveTo>
                      <a:pt x="192" y="138"/>
                    </a:moveTo>
                    <a:cubicBezTo>
                      <a:pt x="198" y="138"/>
                      <a:pt x="202" y="134"/>
                      <a:pt x="202" y="128"/>
                    </a:cubicBezTo>
                    <a:cubicBezTo>
                      <a:pt x="202" y="122"/>
                      <a:pt x="198" y="117"/>
                      <a:pt x="192" y="117"/>
                    </a:cubicBezTo>
                    <a:cubicBezTo>
                      <a:pt x="186" y="117"/>
                      <a:pt x="181" y="122"/>
                      <a:pt x="181" y="128"/>
                    </a:cubicBezTo>
                    <a:cubicBezTo>
                      <a:pt x="181" y="134"/>
                      <a:pt x="186" y="138"/>
                      <a:pt x="192"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88" y="128"/>
                    </a:moveTo>
                    <a:cubicBezTo>
                      <a:pt x="288" y="145"/>
                      <a:pt x="302" y="160"/>
                      <a:pt x="320" y="160"/>
                    </a:cubicBezTo>
                    <a:cubicBezTo>
                      <a:pt x="337" y="160"/>
                      <a:pt x="352" y="145"/>
                      <a:pt x="352" y="128"/>
                    </a:cubicBezTo>
                    <a:cubicBezTo>
                      <a:pt x="352" y="110"/>
                      <a:pt x="337" y="96"/>
                      <a:pt x="320" y="96"/>
                    </a:cubicBezTo>
                    <a:cubicBezTo>
                      <a:pt x="302" y="96"/>
                      <a:pt x="288" y="110"/>
                      <a:pt x="288" y="128"/>
                    </a:cubicBezTo>
                    <a:close/>
                    <a:moveTo>
                      <a:pt x="160" y="128"/>
                    </a:moveTo>
                    <a:cubicBezTo>
                      <a:pt x="160" y="145"/>
                      <a:pt x="174" y="160"/>
                      <a:pt x="192" y="160"/>
                    </a:cubicBezTo>
                    <a:cubicBezTo>
                      <a:pt x="209" y="160"/>
                      <a:pt x="224" y="145"/>
                      <a:pt x="224" y="128"/>
                    </a:cubicBezTo>
                    <a:cubicBezTo>
                      <a:pt x="224" y="110"/>
                      <a:pt x="209" y="96"/>
                      <a:pt x="192" y="96"/>
                    </a:cubicBezTo>
                    <a:cubicBezTo>
                      <a:pt x="174" y="96"/>
                      <a:pt x="160" y="110"/>
                      <a:pt x="160" y="128"/>
                    </a:cubicBezTo>
                    <a:close/>
                    <a:moveTo>
                      <a:pt x="405" y="256"/>
                    </a:moveTo>
                    <a:cubicBezTo>
                      <a:pt x="405" y="250"/>
                      <a:pt x="400" y="245"/>
                      <a:pt x="394" y="245"/>
                    </a:cubicBezTo>
                    <a:cubicBezTo>
                      <a:pt x="373" y="245"/>
                      <a:pt x="373" y="245"/>
                      <a:pt x="373" y="245"/>
                    </a:cubicBezTo>
                    <a:cubicBezTo>
                      <a:pt x="373" y="192"/>
                      <a:pt x="373" y="192"/>
                      <a:pt x="373" y="192"/>
                    </a:cubicBezTo>
                    <a:cubicBezTo>
                      <a:pt x="373" y="186"/>
                      <a:pt x="368" y="181"/>
                      <a:pt x="362" y="181"/>
                    </a:cubicBezTo>
                    <a:cubicBezTo>
                      <a:pt x="277" y="181"/>
                      <a:pt x="277" y="181"/>
                      <a:pt x="277" y="181"/>
                    </a:cubicBezTo>
                    <a:cubicBezTo>
                      <a:pt x="271" y="181"/>
                      <a:pt x="266" y="186"/>
                      <a:pt x="266" y="192"/>
                    </a:cubicBezTo>
                    <a:cubicBezTo>
                      <a:pt x="266" y="245"/>
                      <a:pt x="266" y="245"/>
                      <a:pt x="266" y="245"/>
                    </a:cubicBezTo>
                    <a:cubicBezTo>
                      <a:pt x="245" y="245"/>
                      <a:pt x="245" y="245"/>
                      <a:pt x="245" y="245"/>
                    </a:cubicBezTo>
                    <a:cubicBezTo>
                      <a:pt x="245" y="192"/>
                      <a:pt x="245" y="192"/>
                      <a:pt x="245" y="192"/>
                    </a:cubicBezTo>
                    <a:cubicBezTo>
                      <a:pt x="245" y="186"/>
                      <a:pt x="240" y="181"/>
                      <a:pt x="234" y="181"/>
                    </a:cubicBezTo>
                    <a:cubicBezTo>
                      <a:pt x="149" y="181"/>
                      <a:pt x="149" y="181"/>
                      <a:pt x="149" y="181"/>
                    </a:cubicBezTo>
                    <a:cubicBezTo>
                      <a:pt x="143" y="181"/>
                      <a:pt x="138" y="186"/>
                      <a:pt x="138" y="192"/>
                    </a:cubicBezTo>
                    <a:cubicBezTo>
                      <a:pt x="138" y="245"/>
                      <a:pt x="138" y="245"/>
                      <a:pt x="138" y="245"/>
                    </a:cubicBezTo>
                    <a:cubicBezTo>
                      <a:pt x="117" y="245"/>
                      <a:pt x="117" y="245"/>
                      <a:pt x="117" y="245"/>
                    </a:cubicBezTo>
                    <a:cubicBezTo>
                      <a:pt x="111" y="245"/>
                      <a:pt x="106" y="250"/>
                      <a:pt x="106" y="256"/>
                    </a:cubicBezTo>
                    <a:cubicBezTo>
                      <a:pt x="106" y="262"/>
                      <a:pt x="112" y="266"/>
                      <a:pt x="117" y="266"/>
                    </a:cubicBezTo>
                    <a:cubicBezTo>
                      <a:pt x="117" y="384"/>
                      <a:pt x="117" y="384"/>
                      <a:pt x="117" y="384"/>
                    </a:cubicBezTo>
                    <a:cubicBezTo>
                      <a:pt x="117" y="390"/>
                      <a:pt x="122" y="394"/>
                      <a:pt x="128" y="394"/>
                    </a:cubicBezTo>
                    <a:cubicBezTo>
                      <a:pt x="384" y="394"/>
                      <a:pt x="384" y="394"/>
                      <a:pt x="384" y="394"/>
                    </a:cubicBezTo>
                    <a:cubicBezTo>
                      <a:pt x="390" y="394"/>
                      <a:pt x="394" y="390"/>
                      <a:pt x="394" y="384"/>
                    </a:cubicBezTo>
                    <a:cubicBezTo>
                      <a:pt x="394" y="266"/>
                      <a:pt x="394" y="266"/>
                      <a:pt x="394" y="266"/>
                    </a:cubicBezTo>
                    <a:cubicBezTo>
                      <a:pt x="400" y="266"/>
                      <a:pt x="405" y="262"/>
                      <a:pt x="405" y="256"/>
                    </a:cubicBezTo>
                    <a:close/>
                    <a:moveTo>
                      <a:pt x="138" y="373"/>
                    </a:moveTo>
                    <a:cubicBezTo>
                      <a:pt x="373" y="373"/>
                      <a:pt x="373" y="373"/>
                      <a:pt x="373" y="373"/>
                    </a:cubicBezTo>
                    <a:cubicBezTo>
                      <a:pt x="373" y="266"/>
                      <a:pt x="373" y="266"/>
                      <a:pt x="373" y="266"/>
                    </a:cubicBezTo>
                    <a:cubicBezTo>
                      <a:pt x="138" y="266"/>
                      <a:pt x="138" y="266"/>
                      <a:pt x="138" y="266"/>
                    </a:cubicBezTo>
                    <a:lnTo>
                      <a:pt x="138" y="373"/>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10" name="Group 9">
              <a:extLst>
                <a:ext uri="{FF2B5EF4-FFF2-40B4-BE49-F238E27FC236}">
                  <a16:creationId xmlns:a16="http://schemas.microsoft.com/office/drawing/2014/main" id="{176210F4-1663-4056-9C6E-FF57E811BA02}"/>
                </a:ext>
              </a:extLst>
            </p:cNvPr>
            <p:cNvGrpSpPr/>
            <p:nvPr/>
          </p:nvGrpSpPr>
          <p:grpSpPr>
            <a:xfrm>
              <a:off x="469900" y="5110980"/>
              <a:ext cx="5902742" cy="532606"/>
              <a:chOff x="469900" y="5110980"/>
              <a:chExt cx="5902742" cy="532606"/>
            </a:xfrm>
          </p:grpSpPr>
          <p:sp>
            <p:nvSpPr>
              <p:cNvPr id="127" name="Rounded Rectangle 2">
                <a:extLst>
                  <a:ext uri="{FF2B5EF4-FFF2-40B4-BE49-F238E27FC236}">
                    <a16:creationId xmlns:a16="http://schemas.microsoft.com/office/drawing/2014/main" id="{B734AE9B-3C9C-4F7E-A4EB-D0DD1ADB5ADD}"/>
                  </a:ext>
                </a:extLst>
              </p:cNvPr>
              <p:cNvSpPr/>
              <p:nvPr/>
            </p:nvSpPr>
            <p:spPr bwMode="gray">
              <a:xfrm>
                <a:off x="1343442" y="5110980"/>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28" name="Rounded Rectangle 3">
                <a:extLst>
                  <a:ext uri="{FF2B5EF4-FFF2-40B4-BE49-F238E27FC236}">
                    <a16:creationId xmlns:a16="http://schemas.microsoft.com/office/drawing/2014/main" id="{899EC8ED-CA8B-45E5-9ADC-64C77729B926}"/>
                  </a:ext>
                </a:extLst>
              </p:cNvPr>
              <p:cNvSpPr/>
              <p:nvPr/>
            </p:nvSpPr>
            <p:spPr bwMode="gray">
              <a:xfrm>
                <a:off x="1452592" y="5110980"/>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Update advocacy materials</a:t>
                </a:r>
              </a:p>
            </p:txBody>
          </p:sp>
          <p:sp>
            <p:nvSpPr>
              <p:cNvPr id="129" name="Oval 128">
                <a:extLst>
                  <a:ext uri="{FF2B5EF4-FFF2-40B4-BE49-F238E27FC236}">
                    <a16:creationId xmlns:a16="http://schemas.microsoft.com/office/drawing/2014/main" id="{8B40BF7F-6E5F-4005-990F-144BF8ED3388}"/>
                  </a:ext>
                </a:extLst>
              </p:cNvPr>
              <p:cNvSpPr>
                <a:spLocks noChangeAspect="1"/>
              </p:cNvSpPr>
              <p:nvPr/>
            </p:nvSpPr>
            <p:spPr bwMode="gray">
              <a:xfrm>
                <a:off x="894939" y="5335016"/>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0" name="Rounded Rectangle 5">
                <a:extLst>
                  <a:ext uri="{FF2B5EF4-FFF2-40B4-BE49-F238E27FC236}">
                    <a16:creationId xmlns:a16="http://schemas.microsoft.com/office/drawing/2014/main" id="{FFB34E89-AB32-431F-84BC-E84B0EABED13}"/>
                  </a:ext>
                </a:extLst>
              </p:cNvPr>
              <p:cNvSpPr/>
              <p:nvPr/>
            </p:nvSpPr>
            <p:spPr bwMode="gray">
              <a:xfrm>
                <a:off x="469900" y="5112107"/>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2" name="Rounded Rectangle 6">
                <a:extLst>
                  <a:ext uri="{FF2B5EF4-FFF2-40B4-BE49-F238E27FC236}">
                    <a16:creationId xmlns:a16="http://schemas.microsoft.com/office/drawing/2014/main" id="{4B776FD7-8858-40DD-856B-2B91CD52271E}"/>
                  </a:ext>
                </a:extLst>
              </p:cNvPr>
              <p:cNvSpPr/>
              <p:nvPr/>
            </p:nvSpPr>
            <p:spPr bwMode="gray">
              <a:xfrm>
                <a:off x="496303" y="5112107"/>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39" name="Oval 138">
                <a:extLst>
                  <a:ext uri="{FF2B5EF4-FFF2-40B4-BE49-F238E27FC236}">
                    <a16:creationId xmlns:a16="http://schemas.microsoft.com/office/drawing/2014/main" id="{A52A3B41-F925-41F1-AF75-9E9BECE3AFD9}"/>
                  </a:ext>
                </a:extLst>
              </p:cNvPr>
              <p:cNvSpPr/>
              <p:nvPr/>
            </p:nvSpPr>
            <p:spPr bwMode="gray">
              <a:xfrm>
                <a:off x="1163072" y="533604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40" name="Oval 139">
                <a:extLst>
                  <a:ext uri="{FF2B5EF4-FFF2-40B4-BE49-F238E27FC236}">
                    <a16:creationId xmlns:a16="http://schemas.microsoft.com/office/drawing/2014/main" id="{A558845B-9859-49A2-B55E-643B86D847C5}"/>
                  </a:ext>
                </a:extLst>
              </p:cNvPr>
              <p:cNvSpPr/>
              <p:nvPr/>
            </p:nvSpPr>
            <p:spPr bwMode="gray">
              <a:xfrm>
                <a:off x="1303547" y="5336048"/>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44" name="Straight Connector 143">
                <a:extLst>
                  <a:ext uri="{FF2B5EF4-FFF2-40B4-BE49-F238E27FC236}">
                    <a16:creationId xmlns:a16="http://schemas.microsoft.com/office/drawing/2014/main" id="{7D8354C2-AAD6-4EAB-B050-14A41D22DA3D}"/>
                  </a:ext>
                </a:extLst>
              </p:cNvPr>
              <p:cNvCxnSpPr>
                <a:cxnSpLocks/>
              </p:cNvCxnSpPr>
              <p:nvPr/>
            </p:nvCxnSpPr>
            <p:spPr>
              <a:xfrm>
                <a:off x="1204223" y="5377283"/>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56" name="Freeform 976">
                <a:extLst>
                  <a:ext uri="{FF2B5EF4-FFF2-40B4-BE49-F238E27FC236}">
                    <a16:creationId xmlns:a16="http://schemas.microsoft.com/office/drawing/2014/main" id="{6C3B2555-BCF7-4AEE-BEA2-C680451C8FDC}"/>
                  </a:ext>
                </a:extLst>
              </p:cNvPr>
              <p:cNvSpPr>
                <a:spLocks noChangeAspect="1" noEditPoints="1"/>
              </p:cNvSpPr>
              <p:nvPr/>
            </p:nvSpPr>
            <p:spPr bwMode="auto">
              <a:xfrm>
                <a:off x="633402" y="5193173"/>
                <a:ext cx="367632" cy="36763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373 h 512"/>
                  <a:gd name="T12" fmla="*/ 128 w 512"/>
                  <a:gd name="T13" fmla="*/ 373 h 512"/>
                  <a:gd name="T14" fmla="*/ 117 w 512"/>
                  <a:gd name="T15" fmla="*/ 362 h 512"/>
                  <a:gd name="T16" fmla="*/ 128 w 512"/>
                  <a:gd name="T17" fmla="*/ 352 h 512"/>
                  <a:gd name="T18" fmla="*/ 256 w 512"/>
                  <a:gd name="T19" fmla="*/ 352 h 512"/>
                  <a:gd name="T20" fmla="*/ 266 w 512"/>
                  <a:gd name="T21" fmla="*/ 362 h 512"/>
                  <a:gd name="T22" fmla="*/ 256 w 512"/>
                  <a:gd name="T23" fmla="*/ 373 h 512"/>
                  <a:gd name="T24" fmla="*/ 391 w 512"/>
                  <a:gd name="T25" fmla="*/ 370 h 512"/>
                  <a:gd name="T26" fmla="*/ 384 w 512"/>
                  <a:gd name="T27" fmla="*/ 373 h 512"/>
                  <a:gd name="T28" fmla="*/ 376 w 512"/>
                  <a:gd name="T29" fmla="*/ 370 h 512"/>
                  <a:gd name="T30" fmla="*/ 279 w 512"/>
                  <a:gd name="T31" fmla="*/ 272 h 512"/>
                  <a:gd name="T32" fmla="*/ 242 w 512"/>
                  <a:gd name="T33" fmla="*/ 310 h 512"/>
                  <a:gd name="T34" fmla="*/ 242 w 512"/>
                  <a:gd name="T35" fmla="*/ 310 h 512"/>
                  <a:gd name="T36" fmla="*/ 242 w 512"/>
                  <a:gd name="T37" fmla="*/ 325 h 512"/>
                  <a:gd name="T38" fmla="*/ 234 w 512"/>
                  <a:gd name="T39" fmla="*/ 328 h 512"/>
                  <a:gd name="T40" fmla="*/ 227 w 512"/>
                  <a:gd name="T41" fmla="*/ 325 h 512"/>
                  <a:gd name="T42" fmla="*/ 151 w 512"/>
                  <a:gd name="T43" fmla="*/ 250 h 512"/>
                  <a:gd name="T44" fmla="*/ 151 w 512"/>
                  <a:gd name="T45" fmla="*/ 235 h 512"/>
                  <a:gd name="T46" fmla="*/ 166 w 512"/>
                  <a:gd name="T47" fmla="*/ 235 h 512"/>
                  <a:gd name="T48" fmla="*/ 257 w 512"/>
                  <a:gd name="T49" fmla="*/ 144 h 512"/>
                  <a:gd name="T50" fmla="*/ 257 w 512"/>
                  <a:gd name="T51" fmla="*/ 129 h 512"/>
                  <a:gd name="T52" fmla="*/ 272 w 512"/>
                  <a:gd name="T53" fmla="*/ 129 h 512"/>
                  <a:gd name="T54" fmla="*/ 347 w 512"/>
                  <a:gd name="T55" fmla="*/ 204 h 512"/>
                  <a:gd name="T56" fmla="*/ 347 w 512"/>
                  <a:gd name="T57" fmla="*/ 220 h 512"/>
                  <a:gd name="T58" fmla="*/ 340 w 512"/>
                  <a:gd name="T59" fmla="*/ 223 h 512"/>
                  <a:gd name="T60" fmla="*/ 332 w 512"/>
                  <a:gd name="T61" fmla="*/ 220 h 512"/>
                  <a:gd name="T62" fmla="*/ 295 w 512"/>
                  <a:gd name="T63" fmla="*/ 257 h 512"/>
                  <a:gd name="T64" fmla="*/ 295 w 512"/>
                  <a:gd name="T65" fmla="*/ 257 h 512"/>
                  <a:gd name="T66" fmla="*/ 391 w 512"/>
                  <a:gd name="T67" fmla="*/ 355 h 512"/>
                  <a:gd name="T68" fmla="*/ 391 w 512"/>
                  <a:gd name="T69" fmla="*/ 370 h 512"/>
                  <a:gd name="T70" fmla="*/ 317 w 512"/>
                  <a:gd name="T71" fmla="*/ 204 h 512"/>
                  <a:gd name="T72" fmla="*/ 227 w 512"/>
                  <a:gd name="T73" fmla="*/ 295 h 512"/>
                  <a:gd name="T74" fmla="*/ 181 w 512"/>
                  <a:gd name="T75" fmla="*/ 250 h 512"/>
                  <a:gd name="T76" fmla="*/ 272 w 512"/>
                  <a:gd name="T77" fmla="*/ 159 h 512"/>
                  <a:gd name="T78" fmla="*/ 317 w 512"/>
                  <a:gd name="T79" fmla="*/ 20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373"/>
                    </a:moveTo>
                    <a:cubicBezTo>
                      <a:pt x="128" y="373"/>
                      <a:pt x="128" y="373"/>
                      <a:pt x="128" y="373"/>
                    </a:cubicBezTo>
                    <a:cubicBezTo>
                      <a:pt x="122" y="373"/>
                      <a:pt x="117" y="368"/>
                      <a:pt x="117" y="362"/>
                    </a:cubicBezTo>
                    <a:cubicBezTo>
                      <a:pt x="117" y="356"/>
                      <a:pt x="122" y="352"/>
                      <a:pt x="128" y="352"/>
                    </a:cubicBezTo>
                    <a:cubicBezTo>
                      <a:pt x="256" y="352"/>
                      <a:pt x="256" y="352"/>
                      <a:pt x="256" y="352"/>
                    </a:cubicBezTo>
                    <a:cubicBezTo>
                      <a:pt x="262" y="352"/>
                      <a:pt x="266" y="356"/>
                      <a:pt x="266" y="362"/>
                    </a:cubicBezTo>
                    <a:cubicBezTo>
                      <a:pt x="266" y="368"/>
                      <a:pt x="262" y="373"/>
                      <a:pt x="256" y="373"/>
                    </a:cubicBezTo>
                    <a:close/>
                    <a:moveTo>
                      <a:pt x="391" y="370"/>
                    </a:moveTo>
                    <a:cubicBezTo>
                      <a:pt x="389" y="372"/>
                      <a:pt x="386" y="373"/>
                      <a:pt x="384" y="373"/>
                    </a:cubicBezTo>
                    <a:cubicBezTo>
                      <a:pt x="381" y="373"/>
                      <a:pt x="378" y="372"/>
                      <a:pt x="376" y="370"/>
                    </a:cubicBezTo>
                    <a:cubicBezTo>
                      <a:pt x="279" y="272"/>
                      <a:pt x="279" y="272"/>
                      <a:pt x="279" y="272"/>
                    </a:cubicBezTo>
                    <a:cubicBezTo>
                      <a:pt x="242" y="310"/>
                      <a:pt x="242" y="310"/>
                      <a:pt x="242" y="310"/>
                    </a:cubicBezTo>
                    <a:cubicBezTo>
                      <a:pt x="242" y="310"/>
                      <a:pt x="242" y="310"/>
                      <a:pt x="242" y="310"/>
                    </a:cubicBezTo>
                    <a:cubicBezTo>
                      <a:pt x="246" y="314"/>
                      <a:pt x="246" y="321"/>
                      <a:pt x="242" y="325"/>
                    </a:cubicBezTo>
                    <a:cubicBezTo>
                      <a:pt x="240" y="327"/>
                      <a:pt x="237" y="328"/>
                      <a:pt x="234" y="328"/>
                    </a:cubicBezTo>
                    <a:cubicBezTo>
                      <a:pt x="231" y="328"/>
                      <a:pt x="229" y="327"/>
                      <a:pt x="227" y="325"/>
                    </a:cubicBezTo>
                    <a:cubicBezTo>
                      <a:pt x="151" y="250"/>
                      <a:pt x="151" y="250"/>
                      <a:pt x="151" y="250"/>
                    </a:cubicBezTo>
                    <a:cubicBezTo>
                      <a:pt x="147" y="246"/>
                      <a:pt x="147" y="239"/>
                      <a:pt x="151" y="235"/>
                    </a:cubicBezTo>
                    <a:cubicBezTo>
                      <a:pt x="155" y="230"/>
                      <a:pt x="162" y="230"/>
                      <a:pt x="166" y="235"/>
                    </a:cubicBezTo>
                    <a:cubicBezTo>
                      <a:pt x="257" y="144"/>
                      <a:pt x="257" y="144"/>
                      <a:pt x="257" y="144"/>
                    </a:cubicBezTo>
                    <a:cubicBezTo>
                      <a:pt x="253" y="140"/>
                      <a:pt x="253" y="133"/>
                      <a:pt x="257" y="129"/>
                    </a:cubicBezTo>
                    <a:cubicBezTo>
                      <a:pt x="261" y="125"/>
                      <a:pt x="268" y="125"/>
                      <a:pt x="272" y="129"/>
                    </a:cubicBezTo>
                    <a:cubicBezTo>
                      <a:pt x="347" y="204"/>
                      <a:pt x="347" y="204"/>
                      <a:pt x="347" y="204"/>
                    </a:cubicBezTo>
                    <a:cubicBezTo>
                      <a:pt x="352" y="209"/>
                      <a:pt x="352" y="215"/>
                      <a:pt x="347" y="220"/>
                    </a:cubicBezTo>
                    <a:cubicBezTo>
                      <a:pt x="345" y="222"/>
                      <a:pt x="343" y="223"/>
                      <a:pt x="340" y="223"/>
                    </a:cubicBezTo>
                    <a:cubicBezTo>
                      <a:pt x="337" y="223"/>
                      <a:pt x="334" y="222"/>
                      <a:pt x="332" y="220"/>
                    </a:cubicBezTo>
                    <a:cubicBezTo>
                      <a:pt x="295" y="257"/>
                      <a:pt x="295" y="257"/>
                      <a:pt x="295" y="257"/>
                    </a:cubicBezTo>
                    <a:cubicBezTo>
                      <a:pt x="295" y="257"/>
                      <a:pt x="295" y="257"/>
                      <a:pt x="295" y="257"/>
                    </a:cubicBezTo>
                    <a:cubicBezTo>
                      <a:pt x="391" y="355"/>
                      <a:pt x="391" y="355"/>
                      <a:pt x="391" y="355"/>
                    </a:cubicBezTo>
                    <a:cubicBezTo>
                      <a:pt x="395" y="359"/>
                      <a:pt x="395" y="366"/>
                      <a:pt x="391" y="370"/>
                    </a:cubicBezTo>
                    <a:close/>
                    <a:moveTo>
                      <a:pt x="317" y="204"/>
                    </a:moveTo>
                    <a:cubicBezTo>
                      <a:pt x="227" y="295"/>
                      <a:pt x="227" y="295"/>
                      <a:pt x="227" y="295"/>
                    </a:cubicBezTo>
                    <a:cubicBezTo>
                      <a:pt x="181" y="250"/>
                      <a:pt x="181" y="250"/>
                      <a:pt x="181" y="250"/>
                    </a:cubicBezTo>
                    <a:cubicBezTo>
                      <a:pt x="272" y="159"/>
                      <a:pt x="272" y="159"/>
                      <a:pt x="272" y="159"/>
                    </a:cubicBezTo>
                    <a:lnTo>
                      <a:pt x="317" y="20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11" name="Group 10">
              <a:extLst>
                <a:ext uri="{FF2B5EF4-FFF2-40B4-BE49-F238E27FC236}">
                  <a16:creationId xmlns:a16="http://schemas.microsoft.com/office/drawing/2014/main" id="{95111FC2-360D-4884-B42D-552CF21E9D03}"/>
                </a:ext>
              </a:extLst>
            </p:cNvPr>
            <p:cNvGrpSpPr/>
            <p:nvPr/>
          </p:nvGrpSpPr>
          <p:grpSpPr>
            <a:xfrm>
              <a:off x="469900" y="5712646"/>
              <a:ext cx="5902742" cy="532606"/>
              <a:chOff x="469900" y="5712646"/>
              <a:chExt cx="5902742" cy="532606"/>
            </a:xfrm>
          </p:grpSpPr>
          <p:sp>
            <p:nvSpPr>
              <p:cNvPr id="147" name="Rounded Rectangle 2">
                <a:extLst>
                  <a:ext uri="{FF2B5EF4-FFF2-40B4-BE49-F238E27FC236}">
                    <a16:creationId xmlns:a16="http://schemas.microsoft.com/office/drawing/2014/main" id="{DF6A836D-1FF5-4307-8E91-B4A10836BE77}"/>
                  </a:ext>
                </a:extLst>
              </p:cNvPr>
              <p:cNvSpPr/>
              <p:nvPr/>
            </p:nvSpPr>
            <p:spPr bwMode="gray">
              <a:xfrm>
                <a:off x="1343442" y="5712646"/>
                <a:ext cx="5029200" cy="532606"/>
              </a:xfrm>
              <a:prstGeom prst="roundRect">
                <a:avLst>
                  <a:gd name="adj" fmla="val 501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48" name="Rounded Rectangle 3">
                <a:extLst>
                  <a:ext uri="{FF2B5EF4-FFF2-40B4-BE49-F238E27FC236}">
                    <a16:creationId xmlns:a16="http://schemas.microsoft.com/office/drawing/2014/main" id="{1EF12940-98F9-4F56-8F9B-8358D3DF0817}"/>
                  </a:ext>
                </a:extLst>
              </p:cNvPr>
              <p:cNvSpPr/>
              <p:nvPr/>
            </p:nvSpPr>
            <p:spPr bwMode="gray">
              <a:xfrm>
                <a:off x="1452592" y="5712646"/>
                <a:ext cx="4818888" cy="532606"/>
              </a:xfrm>
              <a:prstGeom prst="roundRect">
                <a:avLst>
                  <a:gd name="adj" fmla="val 3569"/>
                </a:avLst>
              </a:prstGeom>
              <a:solidFill>
                <a:schemeClr val="bg1">
                  <a:lumMod val="95000"/>
                </a:schemeClr>
              </a:solidFill>
              <a:ln w="19050" algn="ctr">
                <a:noFill/>
                <a:miter lim="800000"/>
                <a:headEnd/>
                <a:tailEnd/>
              </a:ln>
            </p:spPr>
            <p:txBody>
              <a:bodyPr wrap="square" lIns="88900" tIns="88900" rIns="88900" bIns="88900" rtlCol="0" anchor="ctr"/>
              <a:lstStyle/>
              <a:p>
                <a:pPr>
                  <a:spcBef>
                    <a:spcPts val="200"/>
                  </a:spcBef>
                  <a:spcAft>
                    <a:spcPts val="300"/>
                  </a:spcAft>
                  <a:buFont typeface="Wingdings 2" pitchFamily="18" charset="2"/>
                  <a:buNone/>
                </a:pPr>
                <a:r>
                  <a:rPr lang="en-US" sz="1200" dirty="0"/>
                  <a:t>Continuous knowledge transfers through online &amp; offline mode</a:t>
                </a:r>
              </a:p>
            </p:txBody>
          </p:sp>
          <p:sp>
            <p:nvSpPr>
              <p:cNvPr id="149" name="Oval 148">
                <a:extLst>
                  <a:ext uri="{FF2B5EF4-FFF2-40B4-BE49-F238E27FC236}">
                    <a16:creationId xmlns:a16="http://schemas.microsoft.com/office/drawing/2014/main" id="{FE9FDA15-ACD2-4BE5-B872-B961DEC9828D}"/>
                  </a:ext>
                </a:extLst>
              </p:cNvPr>
              <p:cNvSpPr>
                <a:spLocks noChangeAspect="1"/>
              </p:cNvSpPr>
              <p:nvPr/>
            </p:nvSpPr>
            <p:spPr bwMode="gray">
              <a:xfrm>
                <a:off x="894939" y="5936682"/>
                <a:ext cx="113341" cy="84534"/>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0" name="Rounded Rectangle 5">
                <a:extLst>
                  <a:ext uri="{FF2B5EF4-FFF2-40B4-BE49-F238E27FC236}">
                    <a16:creationId xmlns:a16="http://schemas.microsoft.com/office/drawing/2014/main" id="{7EF0CE70-1F62-40FB-8365-30E0B628DE57}"/>
                  </a:ext>
                </a:extLst>
              </p:cNvPr>
              <p:cNvSpPr/>
              <p:nvPr/>
            </p:nvSpPr>
            <p:spPr bwMode="gray">
              <a:xfrm>
                <a:off x="469900" y="5713773"/>
                <a:ext cx="734323" cy="530352"/>
              </a:xfrm>
              <a:prstGeom prst="roundRect">
                <a:avLst>
                  <a:gd name="adj" fmla="val 6073"/>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1" name="Rounded Rectangle 6">
                <a:extLst>
                  <a:ext uri="{FF2B5EF4-FFF2-40B4-BE49-F238E27FC236}">
                    <a16:creationId xmlns:a16="http://schemas.microsoft.com/office/drawing/2014/main" id="{37366666-CEB0-4DE3-B6E9-86D518C2B222}"/>
                  </a:ext>
                </a:extLst>
              </p:cNvPr>
              <p:cNvSpPr/>
              <p:nvPr/>
            </p:nvSpPr>
            <p:spPr bwMode="gray">
              <a:xfrm>
                <a:off x="496303" y="5713773"/>
                <a:ext cx="646508" cy="530352"/>
              </a:xfrm>
              <a:prstGeom prst="roundRect">
                <a:avLst>
                  <a:gd name="adj" fmla="val 3248"/>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58" name="Oval 157">
                <a:extLst>
                  <a:ext uri="{FF2B5EF4-FFF2-40B4-BE49-F238E27FC236}">
                    <a16:creationId xmlns:a16="http://schemas.microsoft.com/office/drawing/2014/main" id="{D8999878-59DE-4971-ADA5-3C005B913486}"/>
                  </a:ext>
                </a:extLst>
              </p:cNvPr>
              <p:cNvSpPr/>
              <p:nvPr/>
            </p:nvSpPr>
            <p:spPr bwMode="gray">
              <a:xfrm>
                <a:off x="1163072" y="593771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sp>
            <p:nvSpPr>
              <p:cNvPr id="159" name="Oval 158">
                <a:extLst>
                  <a:ext uri="{FF2B5EF4-FFF2-40B4-BE49-F238E27FC236}">
                    <a16:creationId xmlns:a16="http://schemas.microsoft.com/office/drawing/2014/main" id="{609904DF-A975-4AAF-AF4D-B77D16A85C41}"/>
                  </a:ext>
                </a:extLst>
              </p:cNvPr>
              <p:cNvSpPr/>
              <p:nvPr/>
            </p:nvSpPr>
            <p:spPr bwMode="gray">
              <a:xfrm>
                <a:off x="1303547" y="5937714"/>
                <a:ext cx="81922" cy="8247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cxnSp>
            <p:nvCxnSpPr>
              <p:cNvPr id="160" name="Straight Connector 159">
                <a:extLst>
                  <a:ext uri="{FF2B5EF4-FFF2-40B4-BE49-F238E27FC236}">
                    <a16:creationId xmlns:a16="http://schemas.microsoft.com/office/drawing/2014/main" id="{7D2CCA44-B5ED-46A6-AA42-E3B28FF5F40A}"/>
                  </a:ext>
                </a:extLst>
              </p:cNvPr>
              <p:cNvCxnSpPr>
                <a:cxnSpLocks/>
              </p:cNvCxnSpPr>
              <p:nvPr/>
            </p:nvCxnSpPr>
            <p:spPr>
              <a:xfrm>
                <a:off x="1204223" y="5978949"/>
                <a:ext cx="139219" cy="0"/>
              </a:xfrm>
              <a:prstGeom prst="line">
                <a:avLst/>
              </a:prstGeom>
              <a:ln w="6350">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61" name="Freeform 538">
                <a:extLst>
                  <a:ext uri="{FF2B5EF4-FFF2-40B4-BE49-F238E27FC236}">
                    <a16:creationId xmlns:a16="http://schemas.microsoft.com/office/drawing/2014/main" id="{A48867EA-8654-446C-AB57-072F7F860A2C}"/>
                  </a:ext>
                </a:extLst>
              </p:cNvPr>
              <p:cNvSpPr>
                <a:spLocks noChangeAspect="1" noEditPoints="1"/>
              </p:cNvSpPr>
              <p:nvPr/>
            </p:nvSpPr>
            <p:spPr bwMode="auto">
              <a:xfrm>
                <a:off x="637027" y="5796419"/>
                <a:ext cx="367041" cy="367041"/>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grpSp>
      <p:sp>
        <p:nvSpPr>
          <p:cNvPr id="163" name="Freeform 36">
            <a:extLst>
              <a:ext uri="{FF2B5EF4-FFF2-40B4-BE49-F238E27FC236}">
                <a16:creationId xmlns:a16="http://schemas.microsoft.com/office/drawing/2014/main" id="{6950508C-BD60-49BF-838A-A5AB27E3E37E}"/>
              </a:ext>
            </a:extLst>
          </p:cNvPr>
          <p:cNvSpPr>
            <a:spLocks noChangeAspect="1" noEditPoints="1"/>
          </p:cNvSpPr>
          <p:nvPr/>
        </p:nvSpPr>
        <p:spPr bwMode="auto">
          <a:xfrm>
            <a:off x="11118215" y="227660"/>
            <a:ext cx="594360" cy="594360"/>
          </a:xfrm>
          <a:custGeom>
            <a:avLst/>
            <a:gdLst>
              <a:gd name="T0" fmla="*/ 324 w 512"/>
              <a:gd name="T1" fmla="*/ 194 h 512"/>
              <a:gd name="T2" fmla="*/ 330 w 512"/>
              <a:gd name="T3" fmla="*/ 167 h 512"/>
              <a:gd name="T4" fmla="*/ 400 w 512"/>
              <a:gd name="T5" fmla="*/ 182 h 512"/>
              <a:gd name="T6" fmla="*/ 386 w 512"/>
              <a:gd name="T7" fmla="*/ 223 h 512"/>
              <a:gd name="T8" fmla="*/ 351 w 512"/>
              <a:gd name="T9" fmla="*/ 247 h 512"/>
              <a:gd name="T10" fmla="*/ 312 w 512"/>
              <a:gd name="T11" fmla="*/ 243 h 512"/>
              <a:gd name="T12" fmla="*/ 278 w 512"/>
              <a:gd name="T13" fmla="*/ 222 h 512"/>
              <a:gd name="T14" fmla="*/ 264 w 512"/>
              <a:gd name="T15" fmla="*/ 183 h 512"/>
              <a:gd name="T16" fmla="*/ 275 w 512"/>
              <a:gd name="T17" fmla="*/ 144 h 512"/>
              <a:gd name="T18" fmla="*/ 308 w 512"/>
              <a:gd name="T19" fmla="*/ 119 h 512"/>
              <a:gd name="T20" fmla="*/ 331 w 512"/>
              <a:gd name="T21" fmla="*/ 128 h 512"/>
              <a:gd name="T22" fmla="*/ 364 w 512"/>
              <a:gd name="T23" fmla="*/ 136 h 512"/>
              <a:gd name="T24" fmla="*/ 384 w 512"/>
              <a:gd name="T25" fmla="*/ 164 h 512"/>
              <a:gd name="T26" fmla="*/ 320 w 512"/>
              <a:gd name="T27" fmla="*/ 147 h 512"/>
              <a:gd name="T28" fmla="*/ 330 w 512"/>
              <a:gd name="T29" fmla="*/ 217 h 512"/>
              <a:gd name="T30" fmla="*/ 512 w 512"/>
              <a:gd name="T31" fmla="*/ 256 h 512"/>
              <a:gd name="T32" fmla="*/ 512 w 512"/>
              <a:gd name="T33" fmla="*/ 256 h 512"/>
              <a:gd name="T34" fmla="*/ 268 w 512"/>
              <a:gd name="T35" fmla="*/ 290 h 512"/>
              <a:gd name="T36" fmla="*/ 236 w 512"/>
              <a:gd name="T37" fmla="*/ 251 h 512"/>
              <a:gd name="T38" fmla="*/ 187 w 512"/>
              <a:gd name="T39" fmla="*/ 238 h 512"/>
              <a:gd name="T40" fmla="*/ 140 w 512"/>
              <a:gd name="T41" fmla="*/ 256 h 512"/>
              <a:gd name="T42" fmla="*/ 113 w 512"/>
              <a:gd name="T43" fmla="*/ 299 h 512"/>
              <a:gd name="T44" fmla="*/ 115 w 512"/>
              <a:gd name="T45" fmla="*/ 350 h 512"/>
              <a:gd name="T46" fmla="*/ 147 w 512"/>
              <a:gd name="T47" fmla="*/ 388 h 512"/>
              <a:gd name="T48" fmla="*/ 196 w 512"/>
              <a:gd name="T49" fmla="*/ 401 h 512"/>
              <a:gd name="T50" fmla="*/ 237 w 512"/>
              <a:gd name="T51" fmla="*/ 383 h 512"/>
              <a:gd name="T52" fmla="*/ 266 w 512"/>
              <a:gd name="T53" fmla="*/ 345 h 512"/>
              <a:gd name="T54" fmla="*/ 410 w 512"/>
              <a:gd name="T55" fmla="*/ 163 h 512"/>
              <a:gd name="T56" fmla="*/ 384 w 512"/>
              <a:gd name="T57" fmla="*/ 119 h 512"/>
              <a:gd name="T58" fmla="*/ 337 w 512"/>
              <a:gd name="T59" fmla="*/ 99 h 512"/>
              <a:gd name="T60" fmla="*/ 288 w 512"/>
              <a:gd name="T61" fmla="*/ 111 h 512"/>
              <a:gd name="T62" fmla="*/ 255 w 512"/>
              <a:gd name="T63" fmla="*/ 149 h 512"/>
              <a:gd name="T64" fmla="*/ 251 w 512"/>
              <a:gd name="T65" fmla="*/ 199 h 512"/>
              <a:gd name="T66" fmla="*/ 277 w 512"/>
              <a:gd name="T67" fmla="*/ 243 h 512"/>
              <a:gd name="T68" fmla="*/ 323 w 512"/>
              <a:gd name="T69" fmla="*/ 263 h 512"/>
              <a:gd name="T70" fmla="*/ 358 w 512"/>
              <a:gd name="T71" fmla="*/ 270 h 512"/>
              <a:gd name="T72" fmla="*/ 405 w 512"/>
              <a:gd name="T73" fmla="*/ 237 h 512"/>
              <a:gd name="T74" fmla="*/ 423 w 512"/>
              <a:gd name="T75" fmla="*/ 182 h 512"/>
              <a:gd name="T76" fmla="*/ 179 w 512"/>
              <a:gd name="T77" fmla="*/ 313 h 512"/>
              <a:gd name="T78" fmla="*/ 204 w 512"/>
              <a:gd name="T79" fmla="*/ 326 h 512"/>
              <a:gd name="T80" fmla="*/ 262 w 512"/>
              <a:gd name="T81" fmla="*/ 321 h 512"/>
              <a:gd name="T82" fmla="*/ 248 w 512"/>
              <a:gd name="T83" fmla="*/ 361 h 512"/>
              <a:gd name="T84" fmla="*/ 212 w 512"/>
              <a:gd name="T85" fmla="*/ 386 h 512"/>
              <a:gd name="T86" fmla="*/ 173 w 512"/>
              <a:gd name="T87" fmla="*/ 382 h 512"/>
              <a:gd name="T88" fmla="*/ 139 w 512"/>
              <a:gd name="T89" fmla="*/ 360 h 512"/>
              <a:gd name="T90" fmla="*/ 125 w 512"/>
              <a:gd name="T91" fmla="*/ 321 h 512"/>
              <a:gd name="T92" fmla="*/ 137 w 512"/>
              <a:gd name="T93" fmla="*/ 282 h 512"/>
              <a:gd name="T94" fmla="*/ 169 w 512"/>
              <a:gd name="T95" fmla="*/ 258 h 512"/>
              <a:gd name="T96" fmla="*/ 193 w 512"/>
              <a:gd name="T97" fmla="*/ 266 h 512"/>
              <a:gd name="T98" fmla="*/ 226 w 512"/>
              <a:gd name="T99" fmla="*/ 274 h 512"/>
              <a:gd name="T100" fmla="*/ 246 w 512"/>
              <a:gd name="T101" fmla="*/ 303 h 512"/>
              <a:gd name="T102" fmla="*/ 181 w 512"/>
              <a:gd name="T103" fmla="*/ 286 h 512"/>
              <a:gd name="T104" fmla="*/ 192 w 512"/>
              <a:gd name="T105" fmla="*/ 35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344" y="177"/>
                </a:moveTo>
                <a:cubicBezTo>
                  <a:pt x="345" y="180"/>
                  <a:pt x="345" y="184"/>
                  <a:pt x="343" y="188"/>
                </a:cubicBezTo>
                <a:cubicBezTo>
                  <a:pt x="341" y="191"/>
                  <a:pt x="338" y="193"/>
                  <a:pt x="335" y="195"/>
                </a:cubicBezTo>
                <a:cubicBezTo>
                  <a:pt x="331" y="196"/>
                  <a:pt x="327" y="195"/>
                  <a:pt x="324" y="194"/>
                </a:cubicBezTo>
                <a:cubicBezTo>
                  <a:pt x="320" y="192"/>
                  <a:pt x="318" y="189"/>
                  <a:pt x="317" y="185"/>
                </a:cubicBezTo>
                <a:cubicBezTo>
                  <a:pt x="316" y="182"/>
                  <a:pt x="316" y="178"/>
                  <a:pt x="318" y="174"/>
                </a:cubicBezTo>
                <a:cubicBezTo>
                  <a:pt x="320" y="171"/>
                  <a:pt x="322" y="169"/>
                  <a:pt x="326" y="167"/>
                </a:cubicBezTo>
                <a:cubicBezTo>
                  <a:pt x="328" y="167"/>
                  <a:pt x="329" y="167"/>
                  <a:pt x="330" y="167"/>
                </a:cubicBezTo>
                <a:cubicBezTo>
                  <a:pt x="333" y="167"/>
                  <a:pt x="335" y="167"/>
                  <a:pt x="337" y="168"/>
                </a:cubicBezTo>
                <a:cubicBezTo>
                  <a:pt x="340" y="170"/>
                  <a:pt x="343" y="173"/>
                  <a:pt x="344" y="177"/>
                </a:cubicBezTo>
                <a:close/>
                <a:moveTo>
                  <a:pt x="397" y="179"/>
                </a:moveTo>
                <a:cubicBezTo>
                  <a:pt x="398" y="180"/>
                  <a:pt x="399" y="181"/>
                  <a:pt x="400" y="182"/>
                </a:cubicBezTo>
                <a:cubicBezTo>
                  <a:pt x="399" y="183"/>
                  <a:pt x="398" y="184"/>
                  <a:pt x="397" y="185"/>
                </a:cubicBezTo>
                <a:cubicBezTo>
                  <a:pt x="392" y="189"/>
                  <a:pt x="386" y="193"/>
                  <a:pt x="384" y="199"/>
                </a:cubicBezTo>
                <a:cubicBezTo>
                  <a:pt x="382" y="206"/>
                  <a:pt x="384" y="212"/>
                  <a:pt x="385" y="218"/>
                </a:cubicBezTo>
                <a:cubicBezTo>
                  <a:pt x="386" y="220"/>
                  <a:pt x="386" y="221"/>
                  <a:pt x="386" y="223"/>
                </a:cubicBezTo>
                <a:cubicBezTo>
                  <a:pt x="385" y="223"/>
                  <a:pt x="383" y="223"/>
                  <a:pt x="382" y="223"/>
                </a:cubicBezTo>
                <a:cubicBezTo>
                  <a:pt x="376" y="223"/>
                  <a:pt x="369" y="223"/>
                  <a:pt x="363" y="227"/>
                </a:cubicBezTo>
                <a:cubicBezTo>
                  <a:pt x="357" y="231"/>
                  <a:pt x="355" y="237"/>
                  <a:pt x="353" y="243"/>
                </a:cubicBezTo>
                <a:cubicBezTo>
                  <a:pt x="352" y="244"/>
                  <a:pt x="352" y="246"/>
                  <a:pt x="351" y="247"/>
                </a:cubicBezTo>
                <a:cubicBezTo>
                  <a:pt x="350" y="246"/>
                  <a:pt x="348" y="244"/>
                  <a:pt x="347" y="244"/>
                </a:cubicBezTo>
                <a:cubicBezTo>
                  <a:pt x="342" y="240"/>
                  <a:pt x="336" y="234"/>
                  <a:pt x="330" y="234"/>
                </a:cubicBezTo>
                <a:cubicBezTo>
                  <a:pt x="329" y="234"/>
                  <a:pt x="329" y="234"/>
                  <a:pt x="329" y="234"/>
                </a:cubicBezTo>
                <a:cubicBezTo>
                  <a:pt x="322" y="234"/>
                  <a:pt x="317" y="240"/>
                  <a:pt x="312" y="243"/>
                </a:cubicBezTo>
                <a:cubicBezTo>
                  <a:pt x="311" y="244"/>
                  <a:pt x="309" y="246"/>
                  <a:pt x="308" y="247"/>
                </a:cubicBezTo>
                <a:cubicBezTo>
                  <a:pt x="307" y="246"/>
                  <a:pt x="307" y="244"/>
                  <a:pt x="306" y="243"/>
                </a:cubicBezTo>
                <a:cubicBezTo>
                  <a:pt x="304" y="237"/>
                  <a:pt x="302" y="230"/>
                  <a:pt x="296" y="226"/>
                </a:cubicBezTo>
                <a:cubicBezTo>
                  <a:pt x="291" y="222"/>
                  <a:pt x="284" y="222"/>
                  <a:pt x="278" y="222"/>
                </a:cubicBezTo>
                <a:cubicBezTo>
                  <a:pt x="277" y="222"/>
                  <a:pt x="275" y="222"/>
                  <a:pt x="273" y="221"/>
                </a:cubicBezTo>
                <a:cubicBezTo>
                  <a:pt x="274" y="220"/>
                  <a:pt x="274" y="218"/>
                  <a:pt x="274" y="217"/>
                </a:cubicBezTo>
                <a:cubicBezTo>
                  <a:pt x="276" y="211"/>
                  <a:pt x="278" y="204"/>
                  <a:pt x="276" y="198"/>
                </a:cubicBezTo>
                <a:cubicBezTo>
                  <a:pt x="274" y="191"/>
                  <a:pt x="269" y="187"/>
                  <a:pt x="264" y="183"/>
                </a:cubicBezTo>
                <a:cubicBezTo>
                  <a:pt x="263" y="182"/>
                  <a:pt x="261" y="181"/>
                  <a:pt x="260" y="180"/>
                </a:cubicBezTo>
                <a:cubicBezTo>
                  <a:pt x="262" y="179"/>
                  <a:pt x="263" y="178"/>
                  <a:pt x="264" y="177"/>
                </a:cubicBezTo>
                <a:cubicBezTo>
                  <a:pt x="269" y="173"/>
                  <a:pt x="275" y="169"/>
                  <a:pt x="277" y="163"/>
                </a:cubicBezTo>
                <a:cubicBezTo>
                  <a:pt x="279" y="156"/>
                  <a:pt x="277" y="150"/>
                  <a:pt x="275" y="144"/>
                </a:cubicBezTo>
                <a:cubicBezTo>
                  <a:pt x="275" y="142"/>
                  <a:pt x="275" y="141"/>
                  <a:pt x="274" y="139"/>
                </a:cubicBezTo>
                <a:cubicBezTo>
                  <a:pt x="276" y="139"/>
                  <a:pt x="278" y="139"/>
                  <a:pt x="279" y="139"/>
                </a:cubicBezTo>
                <a:cubicBezTo>
                  <a:pt x="285" y="139"/>
                  <a:pt x="292" y="139"/>
                  <a:pt x="298" y="135"/>
                </a:cubicBezTo>
                <a:cubicBezTo>
                  <a:pt x="303" y="131"/>
                  <a:pt x="306" y="125"/>
                  <a:pt x="308" y="119"/>
                </a:cubicBezTo>
                <a:cubicBezTo>
                  <a:pt x="308" y="118"/>
                  <a:pt x="309" y="116"/>
                  <a:pt x="310" y="115"/>
                </a:cubicBezTo>
                <a:cubicBezTo>
                  <a:pt x="311" y="116"/>
                  <a:pt x="313" y="118"/>
                  <a:pt x="314" y="118"/>
                </a:cubicBezTo>
                <a:cubicBezTo>
                  <a:pt x="319" y="122"/>
                  <a:pt x="324" y="128"/>
                  <a:pt x="331" y="128"/>
                </a:cubicBezTo>
                <a:cubicBezTo>
                  <a:pt x="331" y="128"/>
                  <a:pt x="331" y="128"/>
                  <a:pt x="331" y="128"/>
                </a:cubicBezTo>
                <a:cubicBezTo>
                  <a:pt x="338" y="128"/>
                  <a:pt x="344" y="122"/>
                  <a:pt x="349" y="119"/>
                </a:cubicBezTo>
                <a:cubicBezTo>
                  <a:pt x="350" y="118"/>
                  <a:pt x="352" y="116"/>
                  <a:pt x="353" y="115"/>
                </a:cubicBezTo>
                <a:cubicBezTo>
                  <a:pt x="353" y="116"/>
                  <a:pt x="354" y="118"/>
                  <a:pt x="354" y="119"/>
                </a:cubicBezTo>
                <a:cubicBezTo>
                  <a:pt x="356" y="125"/>
                  <a:pt x="359" y="132"/>
                  <a:pt x="364" y="136"/>
                </a:cubicBezTo>
                <a:cubicBezTo>
                  <a:pt x="370" y="140"/>
                  <a:pt x="377" y="140"/>
                  <a:pt x="383" y="140"/>
                </a:cubicBezTo>
                <a:cubicBezTo>
                  <a:pt x="384" y="140"/>
                  <a:pt x="386" y="140"/>
                  <a:pt x="387" y="141"/>
                </a:cubicBezTo>
                <a:cubicBezTo>
                  <a:pt x="387" y="142"/>
                  <a:pt x="387" y="144"/>
                  <a:pt x="386" y="145"/>
                </a:cubicBezTo>
                <a:cubicBezTo>
                  <a:pt x="384" y="151"/>
                  <a:pt x="382" y="158"/>
                  <a:pt x="384" y="164"/>
                </a:cubicBezTo>
                <a:cubicBezTo>
                  <a:pt x="386" y="171"/>
                  <a:pt x="392" y="175"/>
                  <a:pt x="397" y="179"/>
                </a:cubicBezTo>
                <a:close/>
                <a:moveTo>
                  <a:pt x="364" y="170"/>
                </a:moveTo>
                <a:cubicBezTo>
                  <a:pt x="361" y="161"/>
                  <a:pt x="355" y="154"/>
                  <a:pt x="347" y="150"/>
                </a:cubicBezTo>
                <a:cubicBezTo>
                  <a:pt x="338" y="145"/>
                  <a:pt x="329" y="144"/>
                  <a:pt x="320" y="147"/>
                </a:cubicBezTo>
                <a:cubicBezTo>
                  <a:pt x="311" y="150"/>
                  <a:pt x="303" y="156"/>
                  <a:pt x="299" y="164"/>
                </a:cubicBezTo>
                <a:cubicBezTo>
                  <a:pt x="294" y="173"/>
                  <a:pt x="294" y="182"/>
                  <a:pt x="296" y="192"/>
                </a:cubicBezTo>
                <a:cubicBezTo>
                  <a:pt x="299" y="201"/>
                  <a:pt x="305" y="208"/>
                  <a:pt x="314" y="212"/>
                </a:cubicBezTo>
                <a:cubicBezTo>
                  <a:pt x="319" y="215"/>
                  <a:pt x="325" y="217"/>
                  <a:pt x="330" y="217"/>
                </a:cubicBezTo>
                <a:cubicBezTo>
                  <a:pt x="334" y="217"/>
                  <a:pt x="337" y="216"/>
                  <a:pt x="341" y="215"/>
                </a:cubicBezTo>
                <a:cubicBezTo>
                  <a:pt x="350" y="212"/>
                  <a:pt x="357" y="206"/>
                  <a:pt x="362" y="198"/>
                </a:cubicBezTo>
                <a:cubicBezTo>
                  <a:pt x="366" y="189"/>
                  <a:pt x="367" y="180"/>
                  <a:pt x="364" y="17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84" y="321"/>
                </a:moveTo>
                <a:cubicBezTo>
                  <a:pt x="285" y="312"/>
                  <a:pt x="277" y="306"/>
                  <a:pt x="271" y="301"/>
                </a:cubicBezTo>
                <a:cubicBezTo>
                  <a:pt x="270" y="300"/>
                  <a:pt x="267" y="298"/>
                  <a:pt x="266" y="297"/>
                </a:cubicBezTo>
                <a:cubicBezTo>
                  <a:pt x="266" y="295"/>
                  <a:pt x="267" y="292"/>
                  <a:pt x="268" y="290"/>
                </a:cubicBezTo>
                <a:cubicBezTo>
                  <a:pt x="270" y="283"/>
                  <a:pt x="273" y="274"/>
                  <a:pt x="267" y="266"/>
                </a:cubicBezTo>
                <a:cubicBezTo>
                  <a:pt x="262" y="258"/>
                  <a:pt x="252" y="258"/>
                  <a:pt x="245" y="258"/>
                </a:cubicBezTo>
                <a:cubicBezTo>
                  <a:pt x="243" y="258"/>
                  <a:pt x="240" y="257"/>
                  <a:pt x="238" y="257"/>
                </a:cubicBezTo>
                <a:cubicBezTo>
                  <a:pt x="238" y="256"/>
                  <a:pt x="237" y="253"/>
                  <a:pt x="236" y="251"/>
                </a:cubicBezTo>
                <a:cubicBezTo>
                  <a:pt x="234" y="244"/>
                  <a:pt x="231" y="235"/>
                  <a:pt x="222" y="232"/>
                </a:cubicBezTo>
                <a:cubicBezTo>
                  <a:pt x="213" y="229"/>
                  <a:pt x="204" y="234"/>
                  <a:pt x="199" y="238"/>
                </a:cubicBezTo>
                <a:cubicBezTo>
                  <a:pt x="197" y="239"/>
                  <a:pt x="194" y="241"/>
                  <a:pt x="193" y="242"/>
                </a:cubicBezTo>
                <a:cubicBezTo>
                  <a:pt x="191" y="241"/>
                  <a:pt x="189" y="239"/>
                  <a:pt x="187" y="238"/>
                </a:cubicBezTo>
                <a:cubicBezTo>
                  <a:pt x="182" y="234"/>
                  <a:pt x="173" y="228"/>
                  <a:pt x="164" y="231"/>
                </a:cubicBezTo>
                <a:cubicBezTo>
                  <a:pt x="155" y="234"/>
                  <a:pt x="152" y="243"/>
                  <a:pt x="149" y="250"/>
                </a:cubicBezTo>
                <a:cubicBezTo>
                  <a:pt x="148" y="252"/>
                  <a:pt x="147" y="255"/>
                  <a:pt x="147" y="256"/>
                </a:cubicBezTo>
                <a:cubicBezTo>
                  <a:pt x="145" y="256"/>
                  <a:pt x="142" y="256"/>
                  <a:pt x="140" y="256"/>
                </a:cubicBezTo>
                <a:cubicBezTo>
                  <a:pt x="133" y="256"/>
                  <a:pt x="123" y="257"/>
                  <a:pt x="117" y="264"/>
                </a:cubicBezTo>
                <a:cubicBezTo>
                  <a:pt x="112" y="272"/>
                  <a:pt x="114" y="281"/>
                  <a:pt x="116" y="288"/>
                </a:cubicBezTo>
                <a:cubicBezTo>
                  <a:pt x="117" y="290"/>
                  <a:pt x="118" y="293"/>
                  <a:pt x="118" y="295"/>
                </a:cubicBezTo>
                <a:cubicBezTo>
                  <a:pt x="117" y="296"/>
                  <a:pt x="114" y="298"/>
                  <a:pt x="113" y="299"/>
                </a:cubicBezTo>
                <a:cubicBezTo>
                  <a:pt x="107" y="303"/>
                  <a:pt x="99" y="309"/>
                  <a:pt x="99" y="318"/>
                </a:cubicBezTo>
                <a:cubicBezTo>
                  <a:pt x="99" y="328"/>
                  <a:pt x="106" y="334"/>
                  <a:pt x="112" y="338"/>
                </a:cubicBezTo>
                <a:cubicBezTo>
                  <a:pt x="114" y="340"/>
                  <a:pt x="117" y="342"/>
                  <a:pt x="117" y="342"/>
                </a:cubicBezTo>
                <a:cubicBezTo>
                  <a:pt x="117" y="344"/>
                  <a:pt x="116" y="347"/>
                  <a:pt x="115" y="350"/>
                </a:cubicBezTo>
                <a:cubicBezTo>
                  <a:pt x="113" y="357"/>
                  <a:pt x="110" y="366"/>
                  <a:pt x="116" y="373"/>
                </a:cubicBezTo>
                <a:cubicBezTo>
                  <a:pt x="121" y="381"/>
                  <a:pt x="131" y="381"/>
                  <a:pt x="138" y="382"/>
                </a:cubicBezTo>
                <a:cubicBezTo>
                  <a:pt x="140" y="382"/>
                  <a:pt x="143" y="382"/>
                  <a:pt x="145" y="382"/>
                </a:cubicBezTo>
                <a:cubicBezTo>
                  <a:pt x="146" y="384"/>
                  <a:pt x="147" y="387"/>
                  <a:pt x="147" y="388"/>
                </a:cubicBezTo>
                <a:cubicBezTo>
                  <a:pt x="150" y="395"/>
                  <a:pt x="153" y="404"/>
                  <a:pt x="162" y="408"/>
                </a:cubicBezTo>
                <a:cubicBezTo>
                  <a:pt x="171" y="411"/>
                  <a:pt x="179" y="405"/>
                  <a:pt x="185" y="401"/>
                </a:cubicBezTo>
                <a:cubicBezTo>
                  <a:pt x="186" y="400"/>
                  <a:pt x="189" y="398"/>
                  <a:pt x="191" y="398"/>
                </a:cubicBezTo>
                <a:cubicBezTo>
                  <a:pt x="192" y="398"/>
                  <a:pt x="194" y="400"/>
                  <a:pt x="196" y="401"/>
                </a:cubicBezTo>
                <a:cubicBezTo>
                  <a:pt x="201" y="405"/>
                  <a:pt x="207" y="409"/>
                  <a:pt x="214" y="409"/>
                </a:cubicBezTo>
                <a:cubicBezTo>
                  <a:pt x="216" y="409"/>
                  <a:pt x="217" y="409"/>
                  <a:pt x="219" y="408"/>
                </a:cubicBezTo>
                <a:cubicBezTo>
                  <a:pt x="228" y="405"/>
                  <a:pt x="232" y="396"/>
                  <a:pt x="234" y="389"/>
                </a:cubicBezTo>
                <a:cubicBezTo>
                  <a:pt x="235" y="387"/>
                  <a:pt x="236" y="385"/>
                  <a:pt x="237" y="383"/>
                </a:cubicBezTo>
                <a:cubicBezTo>
                  <a:pt x="238" y="383"/>
                  <a:pt x="241" y="383"/>
                  <a:pt x="244" y="383"/>
                </a:cubicBezTo>
                <a:cubicBezTo>
                  <a:pt x="251" y="383"/>
                  <a:pt x="260" y="383"/>
                  <a:pt x="266" y="375"/>
                </a:cubicBezTo>
                <a:cubicBezTo>
                  <a:pt x="272" y="368"/>
                  <a:pt x="269" y="358"/>
                  <a:pt x="267" y="351"/>
                </a:cubicBezTo>
                <a:cubicBezTo>
                  <a:pt x="267" y="349"/>
                  <a:pt x="266" y="346"/>
                  <a:pt x="266" y="345"/>
                </a:cubicBezTo>
                <a:cubicBezTo>
                  <a:pt x="267" y="344"/>
                  <a:pt x="269" y="342"/>
                  <a:pt x="271" y="341"/>
                </a:cubicBezTo>
                <a:cubicBezTo>
                  <a:pt x="276" y="336"/>
                  <a:pt x="284" y="331"/>
                  <a:pt x="284" y="321"/>
                </a:cubicBezTo>
                <a:close/>
                <a:moveTo>
                  <a:pt x="423" y="182"/>
                </a:moveTo>
                <a:cubicBezTo>
                  <a:pt x="423" y="173"/>
                  <a:pt x="416" y="167"/>
                  <a:pt x="410" y="163"/>
                </a:cubicBezTo>
                <a:cubicBezTo>
                  <a:pt x="408" y="161"/>
                  <a:pt x="406" y="159"/>
                  <a:pt x="405" y="158"/>
                </a:cubicBezTo>
                <a:cubicBezTo>
                  <a:pt x="405" y="156"/>
                  <a:pt x="406" y="153"/>
                  <a:pt x="407" y="151"/>
                </a:cubicBezTo>
                <a:cubicBezTo>
                  <a:pt x="409" y="144"/>
                  <a:pt x="412" y="135"/>
                  <a:pt x="406" y="127"/>
                </a:cubicBezTo>
                <a:cubicBezTo>
                  <a:pt x="401" y="120"/>
                  <a:pt x="391" y="119"/>
                  <a:pt x="384" y="119"/>
                </a:cubicBezTo>
                <a:cubicBezTo>
                  <a:pt x="382" y="119"/>
                  <a:pt x="379" y="119"/>
                  <a:pt x="377" y="118"/>
                </a:cubicBezTo>
                <a:cubicBezTo>
                  <a:pt x="376" y="117"/>
                  <a:pt x="375" y="114"/>
                  <a:pt x="375" y="112"/>
                </a:cubicBezTo>
                <a:cubicBezTo>
                  <a:pt x="372" y="105"/>
                  <a:pt x="369" y="96"/>
                  <a:pt x="360" y="93"/>
                </a:cubicBezTo>
                <a:cubicBezTo>
                  <a:pt x="351" y="90"/>
                  <a:pt x="343" y="95"/>
                  <a:pt x="337" y="99"/>
                </a:cubicBezTo>
                <a:cubicBezTo>
                  <a:pt x="336" y="101"/>
                  <a:pt x="333" y="102"/>
                  <a:pt x="331" y="103"/>
                </a:cubicBezTo>
                <a:cubicBezTo>
                  <a:pt x="330" y="102"/>
                  <a:pt x="328" y="101"/>
                  <a:pt x="326" y="99"/>
                </a:cubicBezTo>
                <a:cubicBezTo>
                  <a:pt x="320" y="95"/>
                  <a:pt x="312" y="89"/>
                  <a:pt x="303" y="92"/>
                </a:cubicBezTo>
                <a:cubicBezTo>
                  <a:pt x="294" y="95"/>
                  <a:pt x="290" y="105"/>
                  <a:pt x="288" y="111"/>
                </a:cubicBezTo>
                <a:cubicBezTo>
                  <a:pt x="287" y="113"/>
                  <a:pt x="286" y="116"/>
                  <a:pt x="285" y="117"/>
                </a:cubicBezTo>
                <a:cubicBezTo>
                  <a:pt x="284" y="118"/>
                  <a:pt x="281" y="118"/>
                  <a:pt x="279" y="118"/>
                </a:cubicBezTo>
                <a:cubicBezTo>
                  <a:pt x="271" y="118"/>
                  <a:pt x="262" y="118"/>
                  <a:pt x="256" y="125"/>
                </a:cubicBezTo>
                <a:cubicBezTo>
                  <a:pt x="250" y="133"/>
                  <a:pt x="253" y="142"/>
                  <a:pt x="255" y="149"/>
                </a:cubicBezTo>
                <a:cubicBezTo>
                  <a:pt x="255" y="151"/>
                  <a:pt x="256" y="154"/>
                  <a:pt x="256" y="156"/>
                </a:cubicBezTo>
                <a:cubicBezTo>
                  <a:pt x="255" y="157"/>
                  <a:pt x="253" y="159"/>
                  <a:pt x="251" y="160"/>
                </a:cubicBezTo>
                <a:cubicBezTo>
                  <a:pt x="246" y="164"/>
                  <a:pt x="238" y="170"/>
                  <a:pt x="238" y="180"/>
                </a:cubicBezTo>
                <a:cubicBezTo>
                  <a:pt x="237" y="189"/>
                  <a:pt x="245" y="195"/>
                  <a:pt x="251" y="199"/>
                </a:cubicBezTo>
                <a:cubicBezTo>
                  <a:pt x="252" y="201"/>
                  <a:pt x="255" y="203"/>
                  <a:pt x="256" y="204"/>
                </a:cubicBezTo>
                <a:cubicBezTo>
                  <a:pt x="256" y="205"/>
                  <a:pt x="255" y="209"/>
                  <a:pt x="254" y="211"/>
                </a:cubicBezTo>
                <a:cubicBezTo>
                  <a:pt x="252" y="218"/>
                  <a:pt x="249" y="227"/>
                  <a:pt x="255" y="235"/>
                </a:cubicBezTo>
                <a:cubicBezTo>
                  <a:pt x="260" y="242"/>
                  <a:pt x="270" y="243"/>
                  <a:pt x="277" y="243"/>
                </a:cubicBezTo>
                <a:cubicBezTo>
                  <a:pt x="279" y="243"/>
                  <a:pt x="282" y="243"/>
                  <a:pt x="284" y="244"/>
                </a:cubicBezTo>
                <a:cubicBezTo>
                  <a:pt x="284" y="245"/>
                  <a:pt x="285" y="248"/>
                  <a:pt x="286" y="250"/>
                </a:cubicBezTo>
                <a:cubicBezTo>
                  <a:pt x="288" y="257"/>
                  <a:pt x="291" y="266"/>
                  <a:pt x="300" y="269"/>
                </a:cubicBezTo>
                <a:cubicBezTo>
                  <a:pt x="309" y="272"/>
                  <a:pt x="317" y="267"/>
                  <a:pt x="323" y="263"/>
                </a:cubicBezTo>
                <a:cubicBezTo>
                  <a:pt x="325" y="261"/>
                  <a:pt x="328" y="260"/>
                  <a:pt x="329" y="259"/>
                </a:cubicBezTo>
                <a:cubicBezTo>
                  <a:pt x="331" y="260"/>
                  <a:pt x="333" y="261"/>
                  <a:pt x="335" y="263"/>
                </a:cubicBezTo>
                <a:cubicBezTo>
                  <a:pt x="339" y="266"/>
                  <a:pt x="346" y="270"/>
                  <a:pt x="353" y="270"/>
                </a:cubicBezTo>
                <a:cubicBezTo>
                  <a:pt x="354" y="270"/>
                  <a:pt x="356" y="270"/>
                  <a:pt x="358" y="270"/>
                </a:cubicBezTo>
                <a:cubicBezTo>
                  <a:pt x="367" y="267"/>
                  <a:pt x="370" y="257"/>
                  <a:pt x="373" y="251"/>
                </a:cubicBezTo>
                <a:cubicBezTo>
                  <a:pt x="374" y="249"/>
                  <a:pt x="375" y="246"/>
                  <a:pt x="375" y="245"/>
                </a:cubicBezTo>
                <a:cubicBezTo>
                  <a:pt x="377" y="244"/>
                  <a:pt x="380" y="244"/>
                  <a:pt x="382" y="244"/>
                </a:cubicBezTo>
                <a:cubicBezTo>
                  <a:pt x="389" y="244"/>
                  <a:pt x="399" y="244"/>
                  <a:pt x="405" y="237"/>
                </a:cubicBezTo>
                <a:cubicBezTo>
                  <a:pt x="410" y="229"/>
                  <a:pt x="408" y="220"/>
                  <a:pt x="406" y="213"/>
                </a:cubicBezTo>
                <a:cubicBezTo>
                  <a:pt x="405" y="211"/>
                  <a:pt x="404" y="208"/>
                  <a:pt x="404" y="206"/>
                </a:cubicBezTo>
                <a:cubicBezTo>
                  <a:pt x="405" y="205"/>
                  <a:pt x="408" y="203"/>
                  <a:pt x="409" y="202"/>
                </a:cubicBezTo>
                <a:cubicBezTo>
                  <a:pt x="415" y="198"/>
                  <a:pt x="423" y="192"/>
                  <a:pt x="423" y="182"/>
                </a:cubicBezTo>
                <a:close/>
                <a:moveTo>
                  <a:pt x="198" y="307"/>
                </a:moveTo>
                <a:cubicBezTo>
                  <a:pt x="196" y="306"/>
                  <a:pt x="194" y="305"/>
                  <a:pt x="192" y="305"/>
                </a:cubicBezTo>
                <a:cubicBezTo>
                  <a:pt x="190" y="305"/>
                  <a:pt x="189" y="306"/>
                  <a:pt x="187" y="306"/>
                </a:cubicBezTo>
                <a:cubicBezTo>
                  <a:pt x="184" y="307"/>
                  <a:pt x="181" y="310"/>
                  <a:pt x="179" y="313"/>
                </a:cubicBezTo>
                <a:cubicBezTo>
                  <a:pt x="177" y="316"/>
                  <a:pt x="177" y="320"/>
                  <a:pt x="178" y="324"/>
                </a:cubicBezTo>
                <a:cubicBezTo>
                  <a:pt x="179" y="328"/>
                  <a:pt x="182" y="330"/>
                  <a:pt x="185" y="332"/>
                </a:cubicBezTo>
                <a:cubicBezTo>
                  <a:pt x="188" y="334"/>
                  <a:pt x="192" y="334"/>
                  <a:pt x="196" y="333"/>
                </a:cubicBezTo>
                <a:cubicBezTo>
                  <a:pt x="200" y="332"/>
                  <a:pt x="202" y="330"/>
                  <a:pt x="204" y="326"/>
                </a:cubicBezTo>
                <a:cubicBezTo>
                  <a:pt x="206" y="323"/>
                  <a:pt x="206" y="319"/>
                  <a:pt x="205" y="315"/>
                </a:cubicBezTo>
                <a:cubicBezTo>
                  <a:pt x="204" y="312"/>
                  <a:pt x="202" y="309"/>
                  <a:pt x="198" y="307"/>
                </a:cubicBezTo>
                <a:close/>
                <a:moveTo>
                  <a:pt x="258" y="318"/>
                </a:moveTo>
                <a:cubicBezTo>
                  <a:pt x="259" y="319"/>
                  <a:pt x="261" y="320"/>
                  <a:pt x="262" y="321"/>
                </a:cubicBezTo>
                <a:cubicBezTo>
                  <a:pt x="260" y="322"/>
                  <a:pt x="259" y="323"/>
                  <a:pt x="258" y="324"/>
                </a:cubicBezTo>
                <a:cubicBezTo>
                  <a:pt x="253" y="327"/>
                  <a:pt x="247" y="331"/>
                  <a:pt x="245" y="338"/>
                </a:cubicBezTo>
                <a:cubicBezTo>
                  <a:pt x="243" y="344"/>
                  <a:pt x="245" y="351"/>
                  <a:pt x="247" y="357"/>
                </a:cubicBezTo>
                <a:cubicBezTo>
                  <a:pt x="247" y="358"/>
                  <a:pt x="247" y="360"/>
                  <a:pt x="248" y="361"/>
                </a:cubicBezTo>
                <a:cubicBezTo>
                  <a:pt x="246" y="362"/>
                  <a:pt x="244" y="362"/>
                  <a:pt x="243" y="362"/>
                </a:cubicBezTo>
                <a:cubicBezTo>
                  <a:pt x="237" y="362"/>
                  <a:pt x="230" y="362"/>
                  <a:pt x="224" y="366"/>
                </a:cubicBezTo>
                <a:cubicBezTo>
                  <a:pt x="219" y="370"/>
                  <a:pt x="216" y="376"/>
                  <a:pt x="214" y="382"/>
                </a:cubicBezTo>
                <a:cubicBezTo>
                  <a:pt x="214" y="383"/>
                  <a:pt x="213" y="384"/>
                  <a:pt x="212" y="386"/>
                </a:cubicBezTo>
                <a:cubicBezTo>
                  <a:pt x="211" y="385"/>
                  <a:pt x="209" y="383"/>
                  <a:pt x="208" y="382"/>
                </a:cubicBezTo>
                <a:cubicBezTo>
                  <a:pt x="203" y="379"/>
                  <a:pt x="198" y="373"/>
                  <a:pt x="191" y="373"/>
                </a:cubicBezTo>
                <a:cubicBezTo>
                  <a:pt x="191" y="373"/>
                  <a:pt x="191" y="373"/>
                  <a:pt x="191" y="373"/>
                </a:cubicBezTo>
                <a:cubicBezTo>
                  <a:pt x="184" y="373"/>
                  <a:pt x="178" y="378"/>
                  <a:pt x="173" y="382"/>
                </a:cubicBezTo>
                <a:cubicBezTo>
                  <a:pt x="172" y="383"/>
                  <a:pt x="170" y="385"/>
                  <a:pt x="169" y="386"/>
                </a:cubicBezTo>
                <a:cubicBezTo>
                  <a:pt x="169" y="385"/>
                  <a:pt x="168" y="383"/>
                  <a:pt x="168" y="382"/>
                </a:cubicBezTo>
                <a:cubicBezTo>
                  <a:pt x="166" y="376"/>
                  <a:pt x="163" y="369"/>
                  <a:pt x="158" y="365"/>
                </a:cubicBezTo>
                <a:cubicBezTo>
                  <a:pt x="152" y="361"/>
                  <a:pt x="145" y="361"/>
                  <a:pt x="139" y="360"/>
                </a:cubicBezTo>
                <a:cubicBezTo>
                  <a:pt x="138" y="360"/>
                  <a:pt x="136" y="360"/>
                  <a:pt x="135" y="360"/>
                </a:cubicBezTo>
                <a:cubicBezTo>
                  <a:pt x="135" y="359"/>
                  <a:pt x="135" y="357"/>
                  <a:pt x="136" y="356"/>
                </a:cubicBezTo>
                <a:cubicBezTo>
                  <a:pt x="138" y="350"/>
                  <a:pt x="140" y="343"/>
                  <a:pt x="138" y="336"/>
                </a:cubicBezTo>
                <a:cubicBezTo>
                  <a:pt x="136" y="330"/>
                  <a:pt x="130" y="325"/>
                  <a:pt x="125" y="321"/>
                </a:cubicBezTo>
                <a:cubicBezTo>
                  <a:pt x="124" y="321"/>
                  <a:pt x="123" y="320"/>
                  <a:pt x="122" y="319"/>
                </a:cubicBezTo>
                <a:cubicBezTo>
                  <a:pt x="123" y="318"/>
                  <a:pt x="124" y="317"/>
                  <a:pt x="125" y="316"/>
                </a:cubicBezTo>
                <a:cubicBezTo>
                  <a:pt x="130" y="312"/>
                  <a:pt x="136" y="308"/>
                  <a:pt x="138" y="302"/>
                </a:cubicBezTo>
                <a:cubicBezTo>
                  <a:pt x="140" y="295"/>
                  <a:pt x="138" y="288"/>
                  <a:pt x="137" y="282"/>
                </a:cubicBezTo>
                <a:cubicBezTo>
                  <a:pt x="136" y="281"/>
                  <a:pt x="136" y="279"/>
                  <a:pt x="136" y="278"/>
                </a:cubicBezTo>
                <a:cubicBezTo>
                  <a:pt x="137" y="278"/>
                  <a:pt x="139" y="278"/>
                  <a:pt x="140" y="278"/>
                </a:cubicBezTo>
                <a:cubicBezTo>
                  <a:pt x="146" y="278"/>
                  <a:pt x="153" y="278"/>
                  <a:pt x="159" y="274"/>
                </a:cubicBezTo>
                <a:cubicBezTo>
                  <a:pt x="165" y="270"/>
                  <a:pt x="167" y="263"/>
                  <a:pt x="169" y="258"/>
                </a:cubicBezTo>
                <a:cubicBezTo>
                  <a:pt x="170" y="256"/>
                  <a:pt x="170" y="255"/>
                  <a:pt x="171" y="253"/>
                </a:cubicBezTo>
                <a:cubicBezTo>
                  <a:pt x="172" y="254"/>
                  <a:pt x="174" y="256"/>
                  <a:pt x="175" y="257"/>
                </a:cubicBezTo>
                <a:cubicBezTo>
                  <a:pt x="180" y="261"/>
                  <a:pt x="186" y="266"/>
                  <a:pt x="192" y="266"/>
                </a:cubicBezTo>
                <a:cubicBezTo>
                  <a:pt x="193" y="266"/>
                  <a:pt x="193" y="266"/>
                  <a:pt x="193" y="266"/>
                </a:cubicBezTo>
                <a:cubicBezTo>
                  <a:pt x="200" y="266"/>
                  <a:pt x="205" y="261"/>
                  <a:pt x="210" y="257"/>
                </a:cubicBezTo>
                <a:cubicBezTo>
                  <a:pt x="211" y="257"/>
                  <a:pt x="213" y="254"/>
                  <a:pt x="214" y="253"/>
                </a:cubicBezTo>
                <a:cubicBezTo>
                  <a:pt x="215" y="255"/>
                  <a:pt x="215" y="257"/>
                  <a:pt x="216" y="258"/>
                </a:cubicBezTo>
                <a:cubicBezTo>
                  <a:pt x="218" y="264"/>
                  <a:pt x="220" y="270"/>
                  <a:pt x="226" y="274"/>
                </a:cubicBezTo>
                <a:cubicBezTo>
                  <a:pt x="231" y="278"/>
                  <a:pt x="238" y="279"/>
                  <a:pt x="244" y="279"/>
                </a:cubicBezTo>
                <a:cubicBezTo>
                  <a:pt x="245" y="279"/>
                  <a:pt x="247" y="279"/>
                  <a:pt x="249" y="279"/>
                </a:cubicBezTo>
                <a:cubicBezTo>
                  <a:pt x="248" y="281"/>
                  <a:pt x="248" y="282"/>
                  <a:pt x="248" y="283"/>
                </a:cubicBezTo>
                <a:cubicBezTo>
                  <a:pt x="246" y="289"/>
                  <a:pt x="244" y="296"/>
                  <a:pt x="246" y="303"/>
                </a:cubicBezTo>
                <a:cubicBezTo>
                  <a:pt x="248" y="310"/>
                  <a:pt x="253" y="314"/>
                  <a:pt x="258" y="318"/>
                </a:cubicBezTo>
                <a:close/>
                <a:moveTo>
                  <a:pt x="226" y="309"/>
                </a:moveTo>
                <a:cubicBezTo>
                  <a:pt x="223" y="300"/>
                  <a:pt x="217" y="293"/>
                  <a:pt x="208" y="288"/>
                </a:cubicBezTo>
                <a:cubicBezTo>
                  <a:pt x="200" y="284"/>
                  <a:pt x="190" y="283"/>
                  <a:pt x="181" y="286"/>
                </a:cubicBezTo>
                <a:cubicBezTo>
                  <a:pt x="172" y="289"/>
                  <a:pt x="165" y="295"/>
                  <a:pt x="160" y="303"/>
                </a:cubicBezTo>
                <a:cubicBezTo>
                  <a:pt x="156" y="312"/>
                  <a:pt x="155" y="321"/>
                  <a:pt x="158" y="330"/>
                </a:cubicBezTo>
                <a:cubicBezTo>
                  <a:pt x="161" y="339"/>
                  <a:pt x="167" y="347"/>
                  <a:pt x="175" y="351"/>
                </a:cubicBezTo>
                <a:cubicBezTo>
                  <a:pt x="180" y="354"/>
                  <a:pt x="186" y="355"/>
                  <a:pt x="192" y="355"/>
                </a:cubicBezTo>
                <a:cubicBezTo>
                  <a:pt x="195" y="355"/>
                  <a:pt x="199" y="355"/>
                  <a:pt x="202" y="354"/>
                </a:cubicBezTo>
                <a:cubicBezTo>
                  <a:pt x="211" y="351"/>
                  <a:pt x="219" y="345"/>
                  <a:pt x="223" y="336"/>
                </a:cubicBezTo>
                <a:cubicBezTo>
                  <a:pt x="228" y="328"/>
                  <a:pt x="228" y="318"/>
                  <a:pt x="226" y="30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1" name="Rectangle 100">
            <a:extLst>
              <a:ext uri="{FF2B5EF4-FFF2-40B4-BE49-F238E27FC236}">
                <a16:creationId xmlns:a16="http://schemas.microsoft.com/office/drawing/2014/main" id="{BFBE9F51-C8D8-40BB-ADC9-CBE98D0DCBD4}"/>
              </a:ext>
            </a:extLst>
          </p:cNvPr>
          <p:cNvSpPr/>
          <p:nvPr/>
        </p:nvSpPr>
        <p:spPr bwMode="gray">
          <a:xfrm>
            <a:off x="6570951" y="1678359"/>
            <a:ext cx="5621049"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Deliverables</a:t>
            </a:r>
          </a:p>
        </p:txBody>
      </p:sp>
      <p:sp>
        <p:nvSpPr>
          <p:cNvPr id="102" name="Rectangle 101">
            <a:extLst>
              <a:ext uri="{FF2B5EF4-FFF2-40B4-BE49-F238E27FC236}">
                <a16:creationId xmlns:a16="http://schemas.microsoft.com/office/drawing/2014/main" id="{84890848-2935-44AB-AEA9-4274D9D62E07}"/>
              </a:ext>
            </a:extLst>
          </p:cNvPr>
          <p:cNvSpPr/>
          <p:nvPr/>
        </p:nvSpPr>
        <p:spPr bwMode="gray">
          <a:xfrm>
            <a:off x="6570951" y="4648577"/>
            <a:ext cx="5621049" cy="365760"/>
          </a:xfrm>
          <a:prstGeom prst="rect">
            <a:avLst/>
          </a:prstGeom>
          <a:solidFill>
            <a:schemeClr val="accent6">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Critical success factors</a:t>
            </a:r>
          </a:p>
        </p:txBody>
      </p:sp>
      <p:sp>
        <p:nvSpPr>
          <p:cNvPr id="103" name="Rectangle 102">
            <a:extLst>
              <a:ext uri="{FF2B5EF4-FFF2-40B4-BE49-F238E27FC236}">
                <a16:creationId xmlns:a16="http://schemas.microsoft.com/office/drawing/2014/main" id="{E183DD8A-D5EB-423A-8EB0-EDDBB5C7FE14}"/>
              </a:ext>
            </a:extLst>
          </p:cNvPr>
          <p:cNvSpPr/>
          <p:nvPr/>
        </p:nvSpPr>
        <p:spPr bwMode="gray">
          <a:xfrm>
            <a:off x="0" y="1678359"/>
            <a:ext cx="6370320" cy="365760"/>
          </a:xfrm>
          <a:prstGeom prst="rect">
            <a:avLst/>
          </a:prstGeom>
          <a:solidFill>
            <a:schemeClr val="accent5">
              <a:lumMod val="75000"/>
            </a:schemeClr>
          </a:solidFill>
          <a:ln w="3175" algn="ctr">
            <a:solidFill>
              <a:schemeClr val="accent5">
                <a:lumMod val="75000"/>
              </a:schemeClr>
            </a:solidFill>
            <a:miter lim="800000"/>
            <a:headEnd/>
            <a:tailEnd/>
          </a:ln>
        </p:spPr>
        <p:txBody>
          <a:bodyPr wrap="square" lIns="502920" tIns="88900" rIns="88900" bIns="88900" rtlCol="0" anchor="ctr"/>
          <a:lstStyle/>
          <a:p>
            <a:pPr>
              <a:lnSpc>
                <a:spcPct val="106000"/>
              </a:lnSpc>
              <a:buFont typeface="Wingdings 2" pitchFamily="18" charset="2"/>
              <a:buNone/>
            </a:pPr>
            <a:r>
              <a:rPr lang="en-US" sz="1400" b="1" dirty="0">
                <a:solidFill>
                  <a:schemeClr val="bg1"/>
                </a:solidFill>
              </a:rPr>
              <a:t>Key tasks and considerations</a:t>
            </a:r>
          </a:p>
        </p:txBody>
      </p:sp>
      <p:grpSp>
        <p:nvGrpSpPr>
          <p:cNvPr id="174" name="Group 173">
            <a:extLst>
              <a:ext uri="{FF2B5EF4-FFF2-40B4-BE49-F238E27FC236}">
                <a16:creationId xmlns:a16="http://schemas.microsoft.com/office/drawing/2014/main" id="{19FE0BAB-2DEF-45F2-BF0D-93F62B4A35DF}"/>
              </a:ext>
            </a:extLst>
          </p:cNvPr>
          <p:cNvGrpSpPr/>
          <p:nvPr/>
        </p:nvGrpSpPr>
        <p:grpSpPr>
          <a:xfrm>
            <a:off x="7480838" y="2115479"/>
            <a:ext cx="3576754" cy="2283756"/>
            <a:chOff x="7175717" y="2115479"/>
            <a:chExt cx="3576754" cy="2283756"/>
          </a:xfrm>
        </p:grpSpPr>
        <p:sp>
          <p:nvSpPr>
            <p:cNvPr id="175" name="Rectangle 174">
              <a:extLst>
                <a:ext uri="{FF2B5EF4-FFF2-40B4-BE49-F238E27FC236}">
                  <a16:creationId xmlns:a16="http://schemas.microsoft.com/office/drawing/2014/main" id="{86053DE6-F703-44AA-9BA9-1827B069C714}"/>
                </a:ext>
              </a:extLst>
            </p:cNvPr>
            <p:cNvSpPr/>
            <p:nvPr/>
          </p:nvSpPr>
          <p:spPr>
            <a:xfrm>
              <a:off x="7175717" y="2423256"/>
              <a:ext cx="1645920" cy="153888"/>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tx2"/>
                  </a:solidFill>
                </a:rPr>
                <a:t>Periodic Advocacy Materials </a:t>
              </a:r>
            </a:p>
          </p:txBody>
        </p:sp>
        <p:sp>
          <p:nvSpPr>
            <p:cNvPr id="178" name="Rectangle 177">
              <a:extLst>
                <a:ext uri="{FF2B5EF4-FFF2-40B4-BE49-F238E27FC236}">
                  <a16:creationId xmlns:a16="http://schemas.microsoft.com/office/drawing/2014/main" id="{B332EBEA-06D1-43E3-9442-BCBCEEFC258F}"/>
                </a:ext>
              </a:extLst>
            </p:cNvPr>
            <p:cNvSpPr/>
            <p:nvPr/>
          </p:nvSpPr>
          <p:spPr>
            <a:xfrm>
              <a:off x="9106551" y="2115479"/>
              <a:ext cx="164592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chemeClr val="accent5"/>
                  </a:solidFill>
                </a:rPr>
                <a:t>Training Materials, Conduct of Trainings, Internalization of OOMF in decision making</a:t>
              </a:r>
            </a:p>
          </p:txBody>
        </p:sp>
        <p:sp>
          <p:nvSpPr>
            <p:cNvPr id="184" name="Rectangle 183">
              <a:extLst>
                <a:ext uri="{FF2B5EF4-FFF2-40B4-BE49-F238E27FC236}">
                  <a16:creationId xmlns:a16="http://schemas.microsoft.com/office/drawing/2014/main" id="{D0EF1473-B476-489B-B1A7-568BB07C0B6D}"/>
                </a:ext>
              </a:extLst>
            </p:cNvPr>
            <p:cNvSpPr/>
            <p:nvPr/>
          </p:nvSpPr>
          <p:spPr>
            <a:xfrm>
              <a:off x="8141134" y="3937570"/>
              <a:ext cx="1645920" cy="461665"/>
            </a:xfrm>
            <a:prstGeom prst="rect">
              <a:avLst/>
            </a:prstGeom>
          </p:spPr>
          <p:txBody>
            <a:bodyPr wrap="square" lIns="0" tIns="0" rIns="0" bIns="0">
              <a:spAutoFit/>
            </a:bodyPr>
            <a:lstStyle/>
            <a:p>
              <a:pPr algn="ctr" defTabSz="1219170">
                <a:spcBef>
                  <a:spcPts val="200"/>
                </a:spcBef>
                <a:spcAft>
                  <a:spcPts val="200"/>
                </a:spcAft>
              </a:pPr>
              <a:r>
                <a:rPr lang="en-US" sz="1000" b="1" dirty="0">
                  <a:solidFill>
                    <a:srgbClr val="74A220"/>
                  </a:solidFill>
                </a:rPr>
                <a:t>Training Materials, Conduct of Trainings, Strengthening M&amp;E environment</a:t>
              </a:r>
            </a:p>
          </p:txBody>
        </p:sp>
        <p:grpSp>
          <p:nvGrpSpPr>
            <p:cNvPr id="185" name="Group 184">
              <a:extLst>
                <a:ext uri="{FF2B5EF4-FFF2-40B4-BE49-F238E27FC236}">
                  <a16:creationId xmlns:a16="http://schemas.microsoft.com/office/drawing/2014/main" id="{AFF1331F-4BDB-41BD-9917-AA67346756D7}"/>
                </a:ext>
              </a:extLst>
            </p:cNvPr>
            <p:cNvGrpSpPr/>
            <p:nvPr/>
          </p:nvGrpSpPr>
          <p:grpSpPr>
            <a:xfrm flipH="1">
              <a:off x="8148770" y="3063676"/>
              <a:ext cx="706730" cy="420599"/>
              <a:chOff x="2588631" y="2250677"/>
              <a:chExt cx="1146833" cy="682521"/>
            </a:xfrm>
          </p:grpSpPr>
          <p:sp>
            <p:nvSpPr>
              <p:cNvPr id="201" name="Freeform 57">
                <a:extLst>
                  <a:ext uri="{FF2B5EF4-FFF2-40B4-BE49-F238E27FC236}">
                    <a16:creationId xmlns:a16="http://schemas.microsoft.com/office/drawing/2014/main" id="{15CEA328-07B2-4C78-8DF6-1521A6507061}"/>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tx2">
                  <a:lumMod val="75000"/>
                </a:schemeClr>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202" name="Freeform 58">
                <a:extLst>
                  <a:ext uri="{FF2B5EF4-FFF2-40B4-BE49-F238E27FC236}">
                    <a16:creationId xmlns:a16="http://schemas.microsoft.com/office/drawing/2014/main" id="{2BC54F05-DB64-469F-84B9-556A8CF4C082}"/>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tx2"/>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sp>
          <p:nvSpPr>
            <p:cNvPr id="188" name="Oval 187">
              <a:extLst>
                <a:ext uri="{FF2B5EF4-FFF2-40B4-BE49-F238E27FC236}">
                  <a16:creationId xmlns:a16="http://schemas.microsoft.com/office/drawing/2014/main" id="{8D5C1E1E-4EBE-4EE2-BB33-1D77004BD6B6}"/>
                </a:ext>
              </a:extLst>
            </p:cNvPr>
            <p:cNvSpPr/>
            <p:nvPr/>
          </p:nvSpPr>
          <p:spPr bwMode="gray">
            <a:xfrm>
              <a:off x="7708010" y="2699123"/>
              <a:ext cx="644495" cy="644494"/>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0" name="Oval 189">
              <a:extLst>
                <a:ext uri="{FF2B5EF4-FFF2-40B4-BE49-F238E27FC236}">
                  <a16:creationId xmlns:a16="http://schemas.microsoft.com/office/drawing/2014/main" id="{32C7C634-5C7B-44CD-AFFC-EB66EF1E127F}"/>
                </a:ext>
              </a:extLst>
            </p:cNvPr>
            <p:cNvSpPr/>
            <p:nvPr/>
          </p:nvSpPr>
          <p:spPr bwMode="gray">
            <a:xfrm>
              <a:off x="7770561" y="2761674"/>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91" name="Group 190">
              <a:extLst>
                <a:ext uri="{FF2B5EF4-FFF2-40B4-BE49-F238E27FC236}">
                  <a16:creationId xmlns:a16="http://schemas.microsoft.com/office/drawing/2014/main" id="{E7FCF01E-6820-4217-B794-B005FD7C8F66}"/>
                </a:ext>
              </a:extLst>
            </p:cNvPr>
            <p:cNvGrpSpPr/>
            <p:nvPr/>
          </p:nvGrpSpPr>
          <p:grpSpPr>
            <a:xfrm>
              <a:off x="9075038" y="3063676"/>
              <a:ext cx="706730" cy="420599"/>
              <a:chOff x="2588631" y="2250677"/>
              <a:chExt cx="1146833" cy="682521"/>
            </a:xfrm>
          </p:grpSpPr>
          <p:sp>
            <p:nvSpPr>
              <p:cNvPr id="199" name="Freeform 51">
                <a:extLst>
                  <a:ext uri="{FF2B5EF4-FFF2-40B4-BE49-F238E27FC236}">
                    <a16:creationId xmlns:a16="http://schemas.microsoft.com/office/drawing/2014/main" id="{60CA7835-5196-4802-A4E7-6E7BA201027D}"/>
                  </a:ext>
                </a:extLst>
              </p:cNvPr>
              <p:cNvSpPr/>
              <p:nvPr/>
            </p:nvSpPr>
            <p:spPr bwMode="gray">
              <a:xfrm rot="19915122">
                <a:off x="2757575" y="2567328"/>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rgbClr val="7DAF23"/>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sp>
            <p:nvSpPr>
              <p:cNvPr id="200" name="Freeform 52">
                <a:extLst>
                  <a:ext uri="{FF2B5EF4-FFF2-40B4-BE49-F238E27FC236}">
                    <a16:creationId xmlns:a16="http://schemas.microsoft.com/office/drawing/2014/main" id="{FBE80F65-E64D-40E9-921D-801B3092E171}"/>
                  </a:ext>
                </a:extLst>
              </p:cNvPr>
              <p:cNvSpPr/>
              <p:nvPr/>
            </p:nvSpPr>
            <p:spPr bwMode="gray">
              <a:xfrm rot="19915122" flipV="1">
                <a:off x="2588631" y="2250677"/>
                <a:ext cx="977889" cy="365870"/>
              </a:xfrm>
              <a:custGeom>
                <a:avLst/>
                <a:gdLst>
                  <a:gd name="connsiteX0" fmla="*/ 0 w 1271296"/>
                  <a:gd name="connsiteY0" fmla="*/ 0 h 470792"/>
                  <a:gd name="connsiteX1" fmla="*/ 1271296 w 1271296"/>
                  <a:gd name="connsiteY1" fmla="*/ 0 h 470792"/>
                  <a:gd name="connsiteX2" fmla="*/ 1271296 w 1271296"/>
                  <a:gd name="connsiteY2" fmla="*/ 470792 h 470792"/>
                  <a:gd name="connsiteX3" fmla="*/ 0 w 1271296"/>
                  <a:gd name="connsiteY3" fmla="*/ 470792 h 470792"/>
                </a:gdLst>
                <a:ahLst/>
                <a:cxnLst>
                  <a:cxn ang="0">
                    <a:pos x="connsiteX0" y="connsiteY0"/>
                  </a:cxn>
                  <a:cxn ang="0">
                    <a:pos x="connsiteX1" y="connsiteY1"/>
                  </a:cxn>
                  <a:cxn ang="0">
                    <a:pos x="connsiteX2" y="connsiteY2"/>
                  </a:cxn>
                  <a:cxn ang="0">
                    <a:pos x="connsiteX3" y="connsiteY3"/>
                  </a:cxn>
                </a:cxnLst>
                <a:rect l="l" t="t" r="r" b="b"/>
                <a:pathLst>
                  <a:path w="1271296" h="470792">
                    <a:moveTo>
                      <a:pt x="0" y="0"/>
                    </a:moveTo>
                    <a:lnTo>
                      <a:pt x="1271296" y="0"/>
                    </a:lnTo>
                    <a:lnTo>
                      <a:pt x="1271296" y="470792"/>
                    </a:lnTo>
                    <a:cubicBezTo>
                      <a:pt x="903271" y="270361"/>
                      <a:pt x="463820" y="160156"/>
                      <a:pt x="0" y="470792"/>
                    </a:cubicBezTo>
                    <a:close/>
                  </a:path>
                </a:pathLst>
              </a:custGeom>
              <a:solidFill>
                <a:schemeClr val="accent1"/>
              </a:solidFill>
              <a:ln w="19050" algn="ctr">
                <a:noFill/>
                <a:miter lim="800000"/>
                <a:headEnd/>
                <a:tailEnd/>
              </a:ln>
            </p:spPr>
            <p:txBody>
              <a:bodyPr wrap="square" lIns="88900" tIns="88900" rIns="88900" bIns="88900" rtlCol="0" anchor="ctr">
                <a:noAutofit/>
              </a:bodyPr>
              <a:lstStyle/>
              <a:p>
                <a:pPr algn="ctr">
                  <a:lnSpc>
                    <a:spcPct val="106000"/>
                  </a:lnSpc>
                  <a:buFont typeface="Wingdings 2" pitchFamily="18" charset="2"/>
                  <a:buNone/>
                </a:pPr>
                <a:endParaRPr lang="en-US" sz="1600" b="1" dirty="0">
                  <a:solidFill>
                    <a:schemeClr val="bg1"/>
                  </a:solidFill>
                </a:endParaRPr>
              </a:p>
            </p:txBody>
          </p:sp>
        </p:grpSp>
        <p:sp>
          <p:nvSpPr>
            <p:cNvPr id="192" name="Oval 191">
              <a:extLst>
                <a:ext uri="{FF2B5EF4-FFF2-40B4-BE49-F238E27FC236}">
                  <a16:creationId xmlns:a16="http://schemas.microsoft.com/office/drawing/2014/main" id="{F1FE168E-07FF-48A3-B821-EB6C1626299F}"/>
                </a:ext>
              </a:extLst>
            </p:cNvPr>
            <p:cNvSpPr/>
            <p:nvPr/>
          </p:nvSpPr>
          <p:spPr bwMode="gray">
            <a:xfrm>
              <a:off x="8642424" y="3206981"/>
              <a:ext cx="644495" cy="644494"/>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3" name="Oval 192">
              <a:extLst>
                <a:ext uri="{FF2B5EF4-FFF2-40B4-BE49-F238E27FC236}">
                  <a16:creationId xmlns:a16="http://schemas.microsoft.com/office/drawing/2014/main" id="{FDC2C66E-471D-4611-86C3-B0113635D128}"/>
                </a:ext>
              </a:extLst>
            </p:cNvPr>
            <p:cNvSpPr/>
            <p:nvPr/>
          </p:nvSpPr>
          <p:spPr bwMode="gray">
            <a:xfrm>
              <a:off x="8704974" y="3269532"/>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4" name="Oval 193">
              <a:extLst>
                <a:ext uri="{FF2B5EF4-FFF2-40B4-BE49-F238E27FC236}">
                  <a16:creationId xmlns:a16="http://schemas.microsoft.com/office/drawing/2014/main" id="{C1427972-B46C-4C5F-B67A-7163F50CCB98}"/>
                </a:ext>
              </a:extLst>
            </p:cNvPr>
            <p:cNvSpPr/>
            <p:nvPr/>
          </p:nvSpPr>
          <p:spPr bwMode="gray">
            <a:xfrm>
              <a:off x="9576836" y="2699123"/>
              <a:ext cx="644495" cy="644494"/>
            </a:xfrm>
            <a:prstGeom prst="ellipse">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5" name="Oval 194">
              <a:extLst>
                <a:ext uri="{FF2B5EF4-FFF2-40B4-BE49-F238E27FC236}">
                  <a16:creationId xmlns:a16="http://schemas.microsoft.com/office/drawing/2014/main" id="{CE07A6D2-52FC-4961-A261-D03C51F2485E}"/>
                </a:ext>
              </a:extLst>
            </p:cNvPr>
            <p:cNvSpPr/>
            <p:nvPr/>
          </p:nvSpPr>
          <p:spPr bwMode="gray">
            <a:xfrm>
              <a:off x="9639387" y="2761674"/>
              <a:ext cx="519395" cy="519394"/>
            </a:xfrm>
            <a:prstGeom prst="ellipse">
              <a:avLst/>
            </a:prstGeom>
            <a:solidFill>
              <a:schemeClr val="bg1"/>
            </a:solidFill>
            <a:ln w="19050" algn="ctr">
              <a:noFill/>
              <a:miter lim="800000"/>
              <a:headEnd/>
              <a:tailEnd/>
            </a:ln>
            <a:effectLst>
              <a:outerShdw blurRad="114300" dist="50800" dir="2700000" algn="tl" rotWithShape="0">
                <a:prstClr val="black">
                  <a:alpha val="44000"/>
                </a:prstClr>
              </a:outerShdw>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6" name="Freeform 976">
              <a:extLst>
                <a:ext uri="{FF2B5EF4-FFF2-40B4-BE49-F238E27FC236}">
                  <a16:creationId xmlns:a16="http://schemas.microsoft.com/office/drawing/2014/main" id="{1B7E9C09-FF13-4A5D-8D4F-C7176311B15C}"/>
                </a:ext>
              </a:extLst>
            </p:cNvPr>
            <p:cNvSpPr>
              <a:spLocks noChangeAspect="1" noEditPoints="1"/>
            </p:cNvSpPr>
            <p:nvPr/>
          </p:nvSpPr>
          <p:spPr bwMode="auto">
            <a:xfrm>
              <a:off x="7838234" y="2829347"/>
              <a:ext cx="384049" cy="384048"/>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373 h 512"/>
                <a:gd name="T12" fmla="*/ 128 w 512"/>
                <a:gd name="T13" fmla="*/ 373 h 512"/>
                <a:gd name="T14" fmla="*/ 117 w 512"/>
                <a:gd name="T15" fmla="*/ 362 h 512"/>
                <a:gd name="T16" fmla="*/ 128 w 512"/>
                <a:gd name="T17" fmla="*/ 352 h 512"/>
                <a:gd name="T18" fmla="*/ 256 w 512"/>
                <a:gd name="T19" fmla="*/ 352 h 512"/>
                <a:gd name="T20" fmla="*/ 266 w 512"/>
                <a:gd name="T21" fmla="*/ 362 h 512"/>
                <a:gd name="T22" fmla="*/ 256 w 512"/>
                <a:gd name="T23" fmla="*/ 373 h 512"/>
                <a:gd name="T24" fmla="*/ 391 w 512"/>
                <a:gd name="T25" fmla="*/ 370 h 512"/>
                <a:gd name="T26" fmla="*/ 384 w 512"/>
                <a:gd name="T27" fmla="*/ 373 h 512"/>
                <a:gd name="T28" fmla="*/ 376 w 512"/>
                <a:gd name="T29" fmla="*/ 370 h 512"/>
                <a:gd name="T30" fmla="*/ 279 w 512"/>
                <a:gd name="T31" fmla="*/ 272 h 512"/>
                <a:gd name="T32" fmla="*/ 242 w 512"/>
                <a:gd name="T33" fmla="*/ 310 h 512"/>
                <a:gd name="T34" fmla="*/ 242 w 512"/>
                <a:gd name="T35" fmla="*/ 310 h 512"/>
                <a:gd name="T36" fmla="*/ 242 w 512"/>
                <a:gd name="T37" fmla="*/ 325 h 512"/>
                <a:gd name="T38" fmla="*/ 234 w 512"/>
                <a:gd name="T39" fmla="*/ 328 h 512"/>
                <a:gd name="T40" fmla="*/ 227 w 512"/>
                <a:gd name="T41" fmla="*/ 325 h 512"/>
                <a:gd name="T42" fmla="*/ 151 w 512"/>
                <a:gd name="T43" fmla="*/ 250 h 512"/>
                <a:gd name="T44" fmla="*/ 151 w 512"/>
                <a:gd name="T45" fmla="*/ 235 h 512"/>
                <a:gd name="T46" fmla="*/ 166 w 512"/>
                <a:gd name="T47" fmla="*/ 235 h 512"/>
                <a:gd name="T48" fmla="*/ 257 w 512"/>
                <a:gd name="T49" fmla="*/ 144 h 512"/>
                <a:gd name="T50" fmla="*/ 257 w 512"/>
                <a:gd name="T51" fmla="*/ 129 h 512"/>
                <a:gd name="T52" fmla="*/ 272 w 512"/>
                <a:gd name="T53" fmla="*/ 129 h 512"/>
                <a:gd name="T54" fmla="*/ 347 w 512"/>
                <a:gd name="T55" fmla="*/ 204 h 512"/>
                <a:gd name="T56" fmla="*/ 347 w 512"/>
                <a:gd name="T57" fmla="*/ 220 h 512"/>
                <a:gd name="T58" fmla="*/ 340 w 512"/>
                <a:gd name="T59" fmla="*/ 223 h 512"/>
                <a:gd name="T60" fmla="*/ 332 w 512"/>
                <a:gd name="T61" fmla="*/ 220 h 512"/>
                <a:gd name="T62" fmla="*/ 295 w 512"/>
                <a:gd name="T63" fmla="*/ 257 h 512"/>
                <a:gd name="T64" fmla="*/ 295 w 512"/>
                <a:gd name="T65" fmla="*/ 257 h 512"/>
                <a:gd name="T66" fmla="*/ 391 w 512"/>
                <a:gd name="T67" fmla="*/ 355 h 512"/>
                <a:gd name="T68" fmla="*/ 391 w 512"/>
                <a:gd name="T69" fmla="*/ 370 h 512"/>
                <a:gd name="T70" fmla="*/ 317 w 512"/>
                <a:gd name="T71" fmla="*/ 204 h 512"/>
                <a:gd name="T72" fmla="*/ 227 w 512"/>
                <a:gd name="T73" fmla="*/ 295 h 512"/>
                <a:gd name="T74" fmla="*/ 181 w 512"/>
                <a:gd name="T75" fmla="*/ 250 h 512"/>
                <a:gd name="T76" fmla="*/ 272 w 512"/>
                <a:gd name="T77" fmla="*/ 159 h 512"/>
                <a:gd name="T78" fmla="*/ 317 w 512"/>
                <a:gd name="T79" fmla="*/ 20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373"/>
                  </a:moveTo>
                  <a:cubicBezTo>
                    <a:pt x="128" y="373"/>
                    <a:pt x="128" y="373"/>
                    <a:pt x="128" y="373"/>
                  </a:cubicBezTo>
                  <a:cubicBezTo>
                    <a:pt x="122" y="373"/>
                    <a:pt x="117" y="368"/>
                    <a:pt x="117" y="362"/>
                  </a:cubicBezTo>
                  <a:cubicBezTo>
                    <a:pt x="117" y="356"/>
                    <a:pt x="122" y="352"/>
                    <a:pt x="128" y="352"/>
                  </a:cubicBezTo>
                  <a:cubicBezTo>
                    <a:pt x="256" y="352"/>
                    <a:pt x="256" y="352"/>
                    <a:pt x="256" y="352"/>
                  </a:cubicBezTo>
                  <a:cubicBezTo>
                    <a:pt x="262" y="352"/>
                    <a:pt x="266" y="356"/>
                    <a:pt x="266" y="362"/>
                  </a:cubicBezTo>
                  <a:cubicBezTo>
                    <a:pt x="266" y="368"/>
                    <a:pt x="262" y="373"/>
                    <a:pt x="256" y="373"/>
                  </a:cubicBezTo>
                  <a:close/>
                  <a:moveTo>
                    <a:pt x="391" y="370"/>
                  </a:moveTo>
                  <a:cubicBezTo>
                    <a:pt x="389" y="372"/>
                    <a:pt x="386" y="373"/>
                    <a:pt x="384" y="373"/>
                  </a:cubicBezTo>
                  <a:cubicBezTo>
                    <a:pt x="381" y="373"/>
                    <a:pt x="378" y="372"/>
                    <a:pt x="376" y="370"/>
                  </a:cubicBezTo>
                  <a:cubicBezTo>
                    <a:pt x="279" y="272"/>
                    <a:pt x="279" y="272"/>
                    <a:pt x="279" y="272"/>
                  </a:cubicBezTo>
                  <a:cubicBezTo>
                    <a:pt x="242" y="310"/>
                    <a:pt x="242" y="310"/>
                    <a:pt x="242" y="310"/>
                  </a:cubicBezTo>
                  <a:cubicBezTo>
                    <a:pt x="242" y="310"/>
                    <a:pt x="242" y="310"/>
                    <a:pt x="242" y="310"/>
                  </a:cubicBezTo>
                  <a:cubicBezTo>
                    <a:pt x="246" y="314"/>
                    <a:pt x="246" y="321"/>
                    <a:pt x="242" y="325"/>
                  </a:cubicBezTo>
                  <a:cubicBezTo>
                    <a:pt x="240" y="327"/>
                    <a:pt x="237" y="328"/>
                    <a:pt x="234" y="328"/>
                  </a:cubicBezTo>
                  <a:cubicBezTo>
                    <a:pt x="231" y="328"/>
                    <a:pt x="229" y="327"/>
                    <a:pt x="227" y="325"/>
                  </a:cubicBezTo>
                  <a:cubicBezTo>
                    <a:pt x="151" y="250"/>
                    <a:pt x="151" y="250"/>
                    <a:pt x="151" y="250"/>
                  </a:cubicBezTo>
                  <a:cubicBezTo>
                    <a:pt x="147" y="246"/>
                    <a:pt x="147" y="239"/>
                    <a:pt x="151" y="235"/>
                  </a:cubicBezTo>
                  <a:cubicBezTo>
                    <a:pt x="155" y="230"/>
                    <a:pt x="162" y="230"/>
                    <a:pt x="166" y="235"/>
                  </a:cubicBezTo>
                  <a:cubicBezTo>
                    <a:pt x="257" y="144"/>
                    <a:pt x="257" y="144"/>
                    <a:pt x="257" y="144"/>
                  </a:cubicBezTo>
                  <a:cubicBezTo>
                    <a:pt x="253" y="140"/>
                    <a:pt x="253" y="133"/>
                    <a:pt x="257" y="129"/>
                  </a:cubicBezTo>
                  <a:cubicBezTo>
                    <a:pt x="261" y="125"/>
                    <a:pt x="268" y="125"/>
                    <a:pt x="272" y="129"/>
                  </a:cubicBezTo>
                  <a:cubicBezTo>
                    <a:pt x="347" y="204"/>
                    <a:pt x="347" y="204"/>
                    <a:pt x="347" y="204"/>
                  </a:cubicBezTo>
                  <a:cubicBezTo>
                    <a:pt x="352" y="209"/>
                    <a:pt x="352" y="215"/>
                    <a:pt x="347" y="220"/>
                  </a:cubicBezTo>
                  <a:cubicBezTo>
                    <a:pt x="345" y="222"/>
                    <a:pt x="343" y="223"/>
                    <a:pt x="340" y="223"/>
                  </a:cubicBezTo>
                  <a:cubicBezTo>
                    <a:pt x="337" y="223"/>
                    <a:pt x="334" y="222"/>
                    <a:pt x="332" y="220"/>
                  </a:cubicBezTo>
                  <a:cubicBezTo>
                    <a:pt x="295" y="257"/>
                    <a:pt x="295" y="257"/>
                    <a:pt x="295" y="257"/>
                  </a:cubicBezTo>
                  <a:cubicBezTo>
                    <a:pt x="295" y="257"/>
                    <a:pt x="295" y="257"/>
                    <a:pt x="295" y="257"/>
                  </a:cubicBezTo>
                  <a:cubicBezTo>
                    <a:pt x="391" y="355"/>
                    <a:pt x="391" y="355"/>
                    <a:pt x="391" y="355"/>
                  </a:cubicBezTo>
                  <a:cubicBezTo>
                    <a:pt x="395" y="359"/>
                    <a:pt x="395" y="366"/>
                    <a:pt x="391" y="370"/>
                  </a:cubicBezTo>
                  <a:close/>
                  <a:moveTo>
                    <a:pt x="317" y="204"/>
                  </a:moveTo>
                  <a:cubicBezTo>
                    <a:pt x="227" y="295"/>
                    <a:pt x="227" y="295"/>
                    <a:pt x="227" y="295"/>
                  </a:cubicBezTo>
                  <a:cubicBezTo>
                    <a:pt x="181" y="250"/>
                    <a:pt x="181" y="250"/>
                    <a:pt x="181" y="250"/>
                  </a:cubicBezTo>
                  <a:cubicBezTo>
                    <a:pt x="272" y="159"/>
                    <a:pt x="272" y="159"/>
                    <a:pt x="272" y="159"/>
                  </a:cubicBezTo>
                  <a:lnTo>
                    <a:pt x="317" y="204"/>
                  </a:lnTo>
                  <a:close/>
                </a:path>
              </a:pathLst>
            </a:custGeom>
            <a:solidFill>
              <a:srgbClr val="4F5256"/>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97" name="Freeform 346">
              <a:extLst>
                <a:ext uri="{FF2B5EF4-FFF2-40B4-BE49-F238E27FC236}">
                  <a16:creationId xmlns:a16="http://schemas.microsoft.com/office/drawing/2014/main" id="{15C018C0-E68D-493C-81FE-85C25B82B74B}"/>
                </a:ext>
              </a:extLst>
            </p:cNvPr>
            <p:cNvSpPr>
              <a:spLocks noChangeAspect="1" noEditPoints="1"/>
            </p:cNvSpPr>
            <p:nvPr/>
          </p:nvSpPr>
          <p:spPr bwMode="auto">
            <a:xfrm>
              <a:off x="8772647" y="3337205"/>
              <a:ext cx="384048" cy="384048"/>
            </a:xfrm>
            <a:custGeom>
              <a:avLst/>
              <a:gdLst>
                <a:gd name="T0" fmla="*/ 277 w 512"/>
                <a:gd name="T1" fmla="*/ 394 h 512"/>
                <a:gd name="T2" fmla="*/ 149 w 512"/>
                <a:gd name="T3" fmla="*/ 202 h 512"/>
                <a:gd name="T4" fmla="*/ 170 w 512"/>
                <a:gd name="T5" fmla="*/ 224 h 512"/>
                <a:gd name="T6" fmla="*/ 266 w 512"/>
                <a:gd name="T7" fmla="*/ 234 h 512"/>
                <a:gd name="T8" fmla="*/ 170 w 512"/>
                <a:gd name="T9" fmla="*/ 245 h 512"/>
                <a:gd name="T10" fmla="*/ 170 w 512"/>
                <a:gd name="T11" fmla="*/ 224 h 512"/>
                <a:gd name="T12" fmla="*/ 256 w 512"/>
                <a:gd name="T13" fmla="*/ 266 h 512"/>
                <a:gd name="T14" fmla="*/ 256 w 512"/>
                <a:gd name="T15" fmla="*/ 288 h 512"/>
                <a:gd name="T16" fmla="*/ 160 w 512"/>
                <a:gd name="T17" fmla="*/ 277 h 512"/>
                <a:gd name="T18" fmla="*/ 170 w 512"/>
                <a:gd name="T19" fmla="*/ 309 h 512"/>
                <a:gd name="T20" fmla="*/ 266 w 512"/>
                <a:gd name="T21" fmla="*/ 320 h 512"/>
                <a:gd name="T22" fmla="*/ 170 w 512"/>
                <a:gd name="T23" fmla="*/ 330 h 512"/>
                <a:gd name="T24" fmla="*/ 170 w 512"/>
                <a:gd name="T25" fmla="*/ 309 h 512"/>
                <a:gd name="T26" fmla="*/ 256 w 512"/>
                <a:gd name="T27" fmla="*/ 352 h 512"/>
                <a:gd name="T28" fmla="*/ 256 w 512"/>
                <a:gd name="T29" fmla="*/ 373 h 512"/>
                <a:gd name="T30" fmla="*/ 160 w 512"/>
                <a:gd name="T31" fmla="*/ 362 h 512"/>
                <a:gd name="T32" fmla="*/ 256 w 512"/>
                <a:gd name="T33" fmla="*/ 0 h 512"/>
                <a:gd name="T34" fmla="*/ 256 w 512"/>
                <a:gd name="T35" fmla="*/ 512 h 512"/>
                <a:gd name="T36" fmla="*/ 256 w 512"/>
                <a:gd name="T37" fmla="*/ 0 h 512"/>
                <a:gd name="T38" fmla="*/ 288 w 512"/>
                <a:gd name="T39" fmla="*/ 416 h 512"/>
                <a:gd name="T40" fmla="*/ 128 w 512"/>
                <a:gd name="T41" fmla="*/ 405 h 512"/>
                <a:gd name="T42" fmla="*/ 138 w 512"/>
                <a:gd name="T43" fmla="*/ 181 h 512"/>
                <a:gd name="T44" fmla="*/ 298 w 512"/>
                <a:gd name="T45" fmla="*/ 192 h 512"/>
                <a:gd name="T46" fmla="*/ 341 w 512"/>
                <a:gd name="T47" fmla="*/ 362 h 512"/>
                <a:gd name="T48" fmla="*/ 320 w 512"/>
                <a:gd name="T49" fmla="*/ 362 h 512"/>
                <a:gd name="T50" fmla="*/ 181 w 512"/>
                <a:gd name="T51" fmla="*/ 160 h 512"/>
                <a:gd name="T52" fmla="*/ 181 w 512"/>
                <a:gd name="T53" fmla="*/ 138 h 512"/>
                <a:gd name="T54" fmla="*/ 341 w 512"/>
                <a:gd name="T55" fmla="*/ 149 h 512"/>
                <a:gd name="T56" fmla="*/ 384 w 512"/>
                <a:gd name="T57" fmla="*/ 320 h 512"/>
                <a:gd name="T58" fmla="*/ 362 w 512"/>
                <a:gd name="T59" fmla="*/ 320 h 512"/>
                <a:gd name="T60" fmla="*/ 224 w 512"/>
                <a:gd name="T61" fmla="*/ 117 h 512"/>
                <a:gd name="T62" fmla="*/ 224 w 512"/>
                <a:gd name="T63" fmla="*/ 96 h 512"/>
                <a:gd name="T64" fmla="*/ 384 w 512"/>
                <a:gd name="T65" fmla="*/ 10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149" y="394"/>
                  </a:moveTo>
                  <a:cubicBezTo>
                    <a:pt x="277" y="394"/>
                    <a:pt x="277" y="394"/>
                    <a:pt x="277" y="394"/>
                  </a:cubicBezTo>
                  <a:cubicBezTo>
                    <a:pt x="277" y="202"/>
                    <a:pt x="277" y="202"/>
                    <a:pt x="277" y="202"/>
                  </a:cubicBezTo>
                  <a:cubicBezTo>
                    <a:pt x="149" y="202"/>
                    <a:pt x="149" y="202"/>
                    <a:pt x="149" y="202"/>
                  </a:cubicBezTo>
                  <a:lnTo>
                    <a:pt x="149" y="394"/>
                  </a:lnTo>
                  <a:close/>
                  <a:moveTo>
                    <a:pt x="170" y="224"/>
                  </a:moveTo>
                  <a:cubicBezTo>
                    <a:pt x="256" y="224"/>
                    <a:pt x="256" y="224"/>
                    <a:pt x="256" y="224"/>
                  </a:cubicBezTo>
                  <a:cubicBezTo>
                    <a:pt x="262" y="224"/>
                    <a:pt x="266" y="228"/>
                    <a:pt x="266" y="234"/>
                  </a:cubicBezTo>
                  <a:cubicBezTo>
                    <a:pt x="266" y="240"/>
                    <a:pt x="262" y="245"/>
                    <a:pt x="256" y="245"/>
                  </a:cubicBezTo>
                  <a:cubicBezTo>
                    <a:pt x="170" y="245"/>
                    <a:pt x="170" y="245"/>
                    <a:pt x="170" y="245"/>
                  </a:cubicBezTo>
                  <a:cubicBezTo>
                    <a:pt x="164" y="245"/>
                    <a:pt x="160" y="240"/>
                    <a:pt x="160" y="234"/>
                  </a:cubicBezTo>
                  <a:cubicBezTo>
                    <a:pt x="160" y="228"/>
                    <a:pt x="164" y="224"/>
                    <a:pt x="170" y="224"/>
                  </a:cubicBezTo>
                  <a:close/>
                  <a:moveTo>
                    <a:pt x="170" y="266"/>
                  </a:moveTo>
                  <a:cubicBezTo>
                    <a:pt x="256" y="266"/>
                    <a:pt x="256" y="266"/>
                    <a:pt x="256" y="266"/>
                  </a:cubicBezTo>
                  <a:cubicBezTo>
                    <a:pt x="262" y="266"/>
                    <a:pt x="266" y="271"/>
                    <a:pt x="266" y="277"/>
                  </a:cubicBezTo>
                  <a:cubicBezTo>
                    <a:pt x="266" y="283"/>
                    <a:pt x="262" y="288"/>
                    <a:pt x="256" y="288"/>
                  </a:cubicBezTo>
                  <a:cubicBezTo>
                    <a:pt x="170" y="288"/>
                    <a:pt x="170" y="288"/>
                    <a:pt x="170" y="288"/>
                  </a:cubicBezTo>
                  <a:cubicBezTo>
                    <a:pt x="164" y="288"/>
                    <a:pt x="160" y="283"/>
                    <a:pt x="160" y="277"/>
                  </a:cubicBezTo>
                  <a:cubicBezTo>
                    <a:pt x="160" y="271"/>
                    <a:pt x="164" y="266"/>
                    <a:pt x="170" y="266"/>
                  </a:cubicBezTo>
                  <a:close/>
                  <a:moveTo>
                    <a:pt x="170" y="309"/>
                  </a:moveTo>
                  <a:cubicBezTo>
                    <a:pt x="256" y="309"/>
                    <a:pt x="256" y="309"/>
                    <a:pt x="256" y="309"/>
                  </a:cubicBezTo>
                  <a:cubicBezTo>
                    <a:pt x="262" y="309"/>
                    <a:pt x="266" y="314"/>
                    <a:pt x="266" y="320"/>
                  </a:cubicBezTo>
                  <a:cubicBezTo>
                    <a:pt x="266" y="326"/>
                    <a:pt x="262" y="330"/>
                    <a:pt x="256" y="330"/>
                  </a:cubicBezTo>
                  <a:cubicBezTo>
                    <a:pt x="170" y="330"/>
                    <a:pt x="170" y="330"/>
                    <a:pt x="170" y="330"/>
                  </a:cubicBezTo>
                  <a:cubicBezTo>
                    <a:pt x="164" y="330"/>
                    <a:pt x="160" y="326"/>
                    <a:pt x="160" y="320"/>
                  </a:cubicBezTo>
                  <a:cubicBezTo>
                    <a:pt x="160" y="314"/>
                    <a:pt x="164" y="309"/>
                    <a:pt x="170" y="309"/>
                  </a:cubicBezTo>
                  <a:close/>
                  <a:moveTo>
                    <a:pt x="170" y="352"/>
                  </a:moveTo>
                  <a:cubicBezTo>
                    <a:pt x="256" y="352"/>
                    <a:pt x="256" y="352"/>
                    <a:pt x="256" y="352"/>
                  </a:cubicBezTo>
                  <a:cubicBezTo>
                    <a:pt x="262" y="352"/>
                    <a:pt x="266" y="356"/>
                    <a:pt x="266" y="362"/>
                  </a:cubicBezTo>
                  <a:cubicBezTo>
                    <a:pt x="266" y="368"/>
                    <a:pt x="262" y="373"/>
                    <a:pt x="256" y="373"/>
                  </a:cubicBezTo>
                  <a:cubicBezTo>
                    <a:pt x="170" y="373"/>
                    <a:pt x="170" y="373"/>
                    <a:pt x="170" y="373"/>
                  </a:cubicBezTo>
                  <a:cubicBezTo>
                    <a:pt x="164" y="373"/>
                    <a:pt x="160" y="368"/>
                    <a:pt x="160" y="362"/>
                  </a:cubicBezTo>
                  <a:cubicBezTo>
                    <a:pt x="160" y="356"/>
                    <a:pt x="164" y="352"/>
                    <a:pt x="170" y="352"/>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98" y="405"/>
                  </a:moveTo>
                  <a:cubicBezTo>
                    <a:pt x="298" y="411"/>
                    <a:pt x="294" y="416"/>
                    <a:pt x="288" y="416"/>
                  </a:cubicBezTo>
                  <a:cubicBezTo>
                    <a:pt x="138" y="416"/>
                    <a:pt x="138" y="416"/>
                    <a:pt x="138" y="416"/>
                  </a:cubicBezTo>
                  <a:cubicBezTo>
                    <a:pt x="132" y="416"/>
                    <a:pt x="128" y="411"/>
                    <a:pt x="128" y="405"/>
                  </a:cubicBezTo>
                  <a:cubicBezTo>
                    <a:pt x="128" y="192"/>
                    <a:pt x="128" y="192"/>
                    <a:pt x="128" y="192"/>
                  </a:cubicBezTo>
                  <a:cubicBezTo>
                    <a:pt x="128" y="186"/>
                    <a:pt x="132" y="181"/>
                    <a:pt x="138" y="181"/>
                  </a:cubicBezTo>
                  <a:cubicBezTo>
                    <a:pt x="288" y="181"/>
                    <a:pt x="288" y="181"/>
                    <a:pt x="288" y="181"/>
                  </a:cubicBezTo>
                  <a:cubicBezTo>
                    <a:pt x="294" y="181"/>
                    <a:pt x="298" y="186"/>
                    <a:pt x="298" y="192"/>
                  </a:cubicBezTo>
                  <a:lnTo>
                    <a:pt x="298" y="405"/>
                  </a:lnTo>
                  <a:close/>
                  <a:moveTo>
                    <a:pt x="341" y="362"/>
                  </a:moveTo>
                  <a:cubicBezTo>
                    <a:pt x="341" y="368"/>
                    <a:pt x="336" y="373"/>
                    <a:pt x="330" y="373"/>
                  </a:cubicBezTo>
                  <a:cubicBezTo>
                    <a:pt x="324" y="373"/>
                    <a:pt x="320" y="368"/>
                    <a:pt x="320" y="362"/>
                  </a:cubicBezTo>
                  <a:cubicBezTo>
                    <a:pt x="320" y="160"/>
                    <a:pt x="320" y="160"/>
                    <a:pt x="320" y="160"/>
                  </a:cubicBezTo>
                  <a:cubicBezTo>
                    <a:pt x="181" y="160"/>
                    <a:pt x="181" y="160"/>
                    <a:pt x="181" y="160"/>
                  </a:cubicBezTo>
                  <a:cubicBezTo>
                    <a:pt x="175" y="160"/>
                    <a:pt x="170" y="155"/>
                    <a:pt x="170" y="149"/>
                  </a:cubicBezTo>
                  <a:cubicBezTo>
                    <a:pt x="170" y="143"/>
                    <a:pt x="175" y="138"/>
                    <a:pt x="181" y="138"/>
                  </a:cubicBezTo>
                  <a:cubicBezTo>
                    <a:pt x="330" y="138"/>
                    <a:pt x="330" y="138"/>
                    <a:pt x="330" y="138"/>
                  </a:cubicBezTo>
                  <a:cubicBezTo>
                    <a:pt x="336" y="138"/>
                    <a:pt x="341" y="143"/>
                    <a:pt x="341" y="149"/>
                  </a:cubicBezTo>
                  <a:lnTo>
                    <a:pt x="341" y="362"/>
                  </a:lnTo>
                  <a:close/>
                  <a:moveTo>
                    <a:pt x="384" y="320"/>
                  </a:moveTo>
                  <a:cubicBezTo>
                    <a:pt x="384" y="326"/>
                    <a:pt x="379" y="330"/>
                    <a:pt x="373" y="330"/>
                  </a:cubicBezTo>
                  <a:cubicBezTo>
                    <a:pt x="367" y="330"/>
                    <a:pt x="362" y="326"/>
                    <a:pt x="362" y="320"/>
                  </a:cubicBezTo>
                  <a:cubicBezTo>
                    <a:pt x="362" y="117"/>
                    <a:pt x="362" y="117"/>
                    <a:pt x="362" y="117"/>
                  </a:cubicBezTo>
                  <a:cubicBezTo>
                    <a:pt x="224" y="117"/>
                    <a:pt x="224" y="117"/>
                    <a:pt x="224" y="117"/>
                  </a:cubicBezTo>
                  <a:cubicBezTo>
                    <a:pt x="218" y="117"/>
                    <a:pt x="213" y="112"/>
                    <a:pt x="213" y="106"/>
                  </a:cubicBezTo>
                  <a:cubicBezTo>
                    <a:pt x="213" y="100"/>
                    <a:pt x="218" y="96"/>
                    <a:pt x="224" y="96"/>
                  </a:cubicBezTo>
                  <a:cubicBezTo>
                    <a:pt x="373" y="96"/>
                    <a:pt x="373" y="96"/>
                    <a:pt x="373" y="96"/>
                  </a:cubicBezTo>
                  <a:cubicBezTo>
                    <a:pt x="379" y="96"/>
                    <a:pt x="384" y="100"/>
                    <a:pt x="384" y="106"/>
                  </a:cubicBezTo>
                  <a:lnTo>
                    <a:pt x="384" y="320"/>
                  </a:lnTo>
                  <a:close/>
                </a:path>
              </a:pathLst>
            </a:custGeom>
            <a:solidFill>
              <a:srgbClr val="83B824"/>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98" name="Freeform 867">
              <a:extLst>
                <a:ext uri="{FF2B5EF4-FFF2-40B4-BE49-F238E27FC236}">
                  <a16:creationId xmlns:a16="http://schemas.microsoft.com/office/drawing/2014/main" id="{33016CCE-A8B1-406A-94C5-C4A865811665}"/>
                </a:ext>
              </a:extLst>
            </p:cNvPr>
            <p:cNvSpPr>
              <a:spLocks noChangeAspect="1" noEditPoints="1"/>
            </p:cNvSpPr>
            <p:nvPr/>
          </p:nvSpPr>
          <p:spPr bwMode="auto">
            <a:xfrm>
              <a:off x="9707060" y="2829347"/>
              <a:ext cx="384048" cy="384048"/>
            </a:xfrm>
            <a:custGeom>
              <a:avLst/>
              <a:gdLst>
                <a:gd name="T0" fmla="*/ 138 w 512"/>
                <a:gd name="T1" fmla="*/ 138 h 512"/>
                <a:gd name="T2" fmla="*/ 373 w 512"/>
                <a:gd name="T3" fmla="*/ 138 h 512"/>
                <a:gd name="T4" fmla="*/ 373 w 512"/>
                <a:gd name="T5" fmla="*/ 309 h 512"/>
                <a:gd name="T6" fmla="*/ 138 w 512"/>
                <a:gd name="T7" fmla="*/ 309 h 512"/>
                <a:gd name="T8" fmla="*/ 138 w 512"/>
                <a:gd name="T9" fmla="*/ 138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94 w 512"/>
                <a:gd name="T21" fmla="*/ 128 h 512"/>
                <a:gd name="T22" fmla="*/ 384 w 512"/>
                <a:gd name="T23" fmla="*/ 117 h 512"/>
                <a:gd name="T24" fmla="*/ 266 w 512"/>
                <a:gd name="T25" fmla="*/ 117 h 512"/>
                <a:gd name="T26" fmla="*/ 256 w 512"/>
                <a:gd name="T27" fmla="*/ 106 h 512"/>
                <a:gd name="T28" fmla="*/ 245 w 512"/>
                <a:gd name="T29" fmla="*/ 117 h 512"/>
                <a:gd name="T30" fmla="*/ 128 w 512"/>
                <a:gd name="T31" fmla="*/ 117 h 512"/>
                <a:gd name="T32" fmla="*/ 117 w 512"/>
                <a:gd name="T33" fmla="*/ 128 h 512"/>
                <a:gd name="T34" fmla="*/ 117 w 512"/>
                <a:gd name="T35" fmla="*/ 320 h 512"/>
                <a:gd name="T36" fmla="*/ 128 w 512"/>
                <a:gd name="T37" fmla="*/ 330 h 512"/>
                <a:gd name="T38" fmla="*/ 198 w 512"/>
                <a:gd name="T39" fmla="*/ 330 h 512"/>
                <a:gd name="T40" fmla="*/ 171 w 512"/>
                <a:gd name="T41" fmla="*/ 401 h 512"/>
                <a:gd name="T42" fmla="*/ 177 w 512"/>
                <a:gd name="T43" fmla="*/ 415 h 512"/>
                <a:gd name="T44" fmla="*/ 181 w 512"/>
                <a:gd name="T45" fmla="*/ 416 h 512"/>
                <a:gd name="T46" fmla="*/ 191 w 512"/>
                <a:gd name="T47" fmla="*/ 409 h 512"/>
                <a:gd name="T48" fmla="*/ 220 w 512"/>
                <a:gd name="T49" fmla="*/ 330 h 512"/>
                <a:gd name="T50" fmla="*/ 245 w 512"/>
                <a:gd name="T51" fmla="*/ 330 h 512"/>
                <a:gd name="T52" fmla="*/ 245 w 512"/>
                <a:gd name="T53" fmla="*/ 373 h 512"/>
                <a:gd name="T54" fmla="*/ 256 w 512"/>
                <a:gd name="T55" fmla="*/ 384 h 512"/>
                <a:gd name="T56" fmla="*/ 266 w 512"/>
                <a:gd name="T57" fmla="*/ 373 h 512"/>
                <a:gd name="T58" fmla="*/ 266 w 512"/>
                <a:gd name="T59" fmla="*/ 330 h 512"/>
                <a:gd name="T60" fmla="*/ 291 w 512"/>
                <a:gd name="T61" fmla="*/ 330 h 512"/>
                <a:gd name="T62" fmla="*/ 320 w 512"/>
                <a:gd name="T63" fmla="*/ 409 h 512"/>
                <a:gd name="T64" fmla="*/ 330 w 512"/>
                <a:gd name="T65" fmla="*/ 416 h 512"/>
                <a:gd name="T66" fmla="*/ 334 w 512"/>
                <a:gd name="T67" fmla="*/ 415 h 512"/>
                <a:gd name="T68" fmla="*/ 340 w 512"/>
                <a:gd name="T69" fmla="*/ 401 h 512"/>
                <a:gd name="T70" fmla="*/ 314 w 512"/>
                <a:gd name="T71" fmla="*/ 330 h 512"/>
                <a:gd name="T72" fmla="*/ 384 w 512"/>
                <a:gd name="T73" fmla="*/ 330 h 512"/>
                <a:gd name="T74" fmla="*/ 394 w 512"/>
                <a:gd name="T75" fmla="*/ 320 h 512"/>
                <a:gd name="T76" fmla="*/ 394 w 512"/>
                <a:gd name="T77"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12" h="512">
                  <a:moveTo>
                    <a:pt x="138" y="138"/>
                  </a:moveTo>
                  <a:cubicBezTo>
                    <a:pt x="373" y="138"/>
                    <a:pt x="373" y="138"/>
                    <a:pt x="373" y="138"/>
                  </a:cubicBezTo>
                  <a:cubicBezTo>
                    <a:pt x="373" y="309"/>
                    <a:pt x="373" y="309"/>
                    <a:pt x="373" y="309"/>
                  </a:cubicBezTo>
                  <a:cubicBezTo>
                    <a:pt x="138" y="309"/>
                    <a:pt x="138" y="309"/>
                    <a:pt x="138" y="309"/>
                  </a:cubicBezTo>
                  <a:lnTo>
                    <a:pt x="138" y="13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4" y="128"/>
                  </a:moveTo>
                  <a:cubicBezTo>
                    <a:pt x="394" y="122"/>
                    <a:pt x="390" y="117"/>
                    <a:pt x="384" y="117"/>
                  </a:cubicBezTo>
                  <a:cubicBezTo>
                    <a:pt x="266" y="117"/>
                    <a:pt x="266" y="117"/>
                    <a:pt x="266" y="117"/>
                  </a:cubicBezTo>
                  <a:cubicBezTo>
                    <a:pt x="266" y="111"/>
                    <a:pt x="262" y="106"/>
                    <a:pt x="256" y="106"/>
                  </a:cubicBezTo>
                  <a:cubicBezTo>
                    <a:pt x="250" y="106"/>
                    <a:pt x="245" y="111"/>
                    <a:pt x="245" y="117"/>
                  </a:cubicBezTo>
                  <a:cubicBezTo>
                    <a:pt x="128" y="117"/>
                    <a:pt x="128" y="117"/>
                    <a:pt x="128" y="117"/>
                  </a:cubicBezTo>
                  <a:cubicBezTo>
                    <a:pt x="122" y="117"/>
                    <a:pt x="117" y="122"/>
                    <a:pt x="117" y="128"/>
                  </a:cubicBezTo>
                  <a:cubicBezTo>
                    <a:pt x="117" y="320"/>
                    <a:pt x="117" y="320"/>
                    <a:pt x="117" y="320"/>
                  </a:cubicBezTo>
                  <a:cubicBezTo>
                    <a:pt x="117" y="326"/>
                    <a:pt x="122" y="330"/>
                    <a:pt x="128" y="330"/>
                  </a:cubicBezTo>
                  <a:cubicBezTo>
                    <a:pt x="198" y="330"/>
                    <a:pt x="198" y="330"/>
                    <a:pt x="198" y="330"/>
                  </a:cubicBezTo>
                  <a:cubicBezTo>
                    <a:pt x="171" y="401"/>
                    <a:pt x="171" y="401"/>
                    <a:pt x="171" y="401"/>
                  </a:cubicBezTo>
                  <a:cubicBezTo>
                    <a:pt x="169" y="407"/>
                    <a:pt x="172" y="413"/>
                    <a:pt x="177" y="415"/>
                  </a:cubicBezTo>
                  <a:cubicBezTo>
                    <a:pt x="178" y="415"/>
                    <a:pt x="180" y="416"/>
                    <a:pt x="181" y="416"/>
                  </a:cubicBezTo>
                  <a:cubicBezTo>
                    <a:pt x="185" y="416"/>
                    <a:pt x="189" y="413"/>
                    <a:pt x="191" y="409"/>
                  </a:cubicBezTo>
                  <a:cubicBezTo>
                    <a:pt x="220" y="330"/>
                    <a:pt x="220" y="330"/>
                    <a:pt x="220" y="330"/>
                  </a:cubicBezTo>
                  <a:cubicBezTo>
                    <a:pt x="245" y="330"/>
                    <a:pt x="245" y="330"/>
                    <a:pt x="245" y="330"/>
                  </a:cubicBezTo>
                  <a:cubicBezTo>
                    <a:pt x="245" y="373"/>
                    <a:pt x="245" y="373"/>
                    <a:pt x="245" y="373"/>
                  </a:cubicBezTo>
                  <a:cubicBezTo>
                    <a:pt x="245" y="379"/>
                    <a:pt x="250" y="384"/>
                    <a:pt x="256" y="384"/>
                  </a:cubicBezTo>
                  <a:cubicBezTo>
                    <a:pt x="262" y="384"/>
                    <a:pt x="266" y="379"/>
                    <a:pt x="266" y="373"/>
                  </a:cubicBezTo>
                  <a:cubicBezTo>
                    <a:pt x="266" y="330"/>
                    <a:pt x="266" y="330"/>
                    <a:pt x="266" y="330"/>
                  </a:cubicBezTo>
                  <a:cubicBezTo>
                    <a:pt x="291" y="330"/>
                    <a:pt x="291" y="330"/>
                    <a:pt x="291" y="330"/>
                  </a:cubicBezTo>
                  <a:cubicBezTo>
                    <a:pt x="320" y="409"/>
                    <a:pt x="320" y="409"/>
                    <a:pt x="320" y="409"/>
                  </a:cubicBezTo>
                  <a:cubicBezTo>
                    <a:pt x="322" y="413"/>
                    <a:pt x="326" y="416"/>
                    <a:pt x="330" y="416"/>
                  </a:cubicBezTo>
                  <a:cubicBezTo>
                    <a:pt x="332" y="416"/>
                    <a:pt x="333" y="415"/>
                    <a:pt x="334" y="415"/>
                  </a:cubicBezTo>
                  <a:cubicBezTo>
                    <a:pt x="340" y="413"/>
                    <a:pt x="342" y="407"/>
                    <a:pt x="340" y="401"/>
                  </a:cubicBezTo>
                  <a:cubicBezTo>
                    <a:pt x="314" y="330"/>
                    <a:pt x="314" y="330"/>
                    <a:pt x="314" y="330"/>
                  </a:cubicBezTo>
                  <a:cubicBezTo>
                    <a:pt x="384" y="330"/>
                    <a:pt x="384" y="330"/>
                    <a:pt x="384" y="330"/>
                  </a:cubicBezTo>
                  <a:cubicBezTo>
                    <a:pt x="390" y="330"/>
                    <a:pt x="394" y="326"/>
                    <a:pt x="394" y="320"/>
                  </a:cubicBezTo>
                  <a:lnTo>
                    <a:pt x="394" y="128"/>
                  </a:lnTo>
                  <a:close/>
                </a:path>
              </a:pathLst>
            </a:custGeom>
            <a:solidFill>
              <a:srgbClr val="0D7F8B"/>
            </a:solidFill>
            <a:ln>
              <a:noFill/>
            </a:ln>
          </p:spPr>
          <p:txBody>
            <a:bodyPr vert="horz" wrap="square" lIns="91440" tIns="45720" rIns="91440" bIns="45720" numCol="1" anchor="t" anchorCtr="0" compatLnSpc="1">
              <a:prstTxWarp prst="textNoShape">
                <a:avLst/>
              </a:prstTxWarp>
            </a:bodyPr>
            <a:lstStyle/>
            <a:p>
              <a:endParaRPr lang="en-GB" dirty="0"/>
            </a:p>
          </p:txBody>
        </p:sp>
      </p:grpSp>
      <p:sp>
        <p:nvSpPr>
          <p:cNvPr id="203" name="TextBox 202">
            <a:extLst>
              <a:ext uri="{FF2B5EF4-FFF2-40B4-BE49-F238E27FC236}">
                <a16:creationId xmlns:a16="http://schemas.microsoft.com/office/drawing/2014/main" id="{36ACCE52-5302-4B0F-854D-5FC8D28DDB35}"/>
              </a:ext>
            </a:extLst>
          </p:cNvPr>
          <p:cNvSpPr txBox="1"/>
          <p:nvPr/>
        </p:nvSpPr>
        <p:spPr>
          <a:xfrm>
            <a:off x="6570952" y="5156435"/>
            <a:ext cx="5146936" cy="969496"/>
          </a:xfrm>
          <a:prstGeom prst="rect">
            <a:avLst/>
          </a:prstGeom>
          <a:noFill/>
        </p:spPr>
        <p:txBody>
          <a:bodyPr wrap="square" lIns="0" tIns="0" rIns="0" bIns="0" rtlCol="0">
            <a:spAutoFit/>
          </a:bodyPr>
          <a:lstStyle/>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Mainstreaming outcome based budgeting through policy &amp; administration</a:t>
            </a:r>
          </a:p>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Budget for M/Ds for FY 2022-23 &amp; 2023-24 must be performance informed</a:t>
            </a:r>
          </a:p>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Dedicated M&amp;E units in M/Ds and at States/UT</a:t>
            </a:r>
          </a:p>
          <a:p>
            <a:pPr marL="171450" indent="-171450" defTabSz="847054">
              <a:spcAft>
                <a:spcPts val="600"/>
              </a:spcAft>
              <a:buFont typeface="Arial" panose="020B0604020202020204" pitchFamily="34" charset="0"/>
              <a:buChar char="•"/>
              <a:defRPr/>
            </a:pPr>
            <a:r>
              <a:rPr lang="en-US" sz="1200" kern="0" dirty="0">
                <a:latin typeface="+mj-lt"/>
                <a:ea typeface="Verdana" panose="020B0604030504040204" pitchFamily="34" charset="0"/>
                <a:cs typeface="Calibri" panose="020F0502020204030204" pitchFamily="34" charset="0"/>
              </a:rPr>
              <a:t>Strong data analytics &amp; technology capabilities</a:t>
            </a:r>
          </a:p>
        </p:txBody>
      </p:sp>
      <p:sp>
        <p:nvSpPr>
          <p:cNvPr id="104" name="Arrow: Right 103">
            <a:hlinkClick r:id="rId2" action="ppaction://hlinksldjump"/>
            <a:extLst>
              <a:ext uri="{FF2B5EF4-FFF2-40B4-BE49-F238E27FC236}">
                <a16:creationId xmlns:a16="http://schemas.microsoft.com/office/drawing/2014/main" id="{561A830C-1B77-41C0-9814-44011CA5F341}"/>
              </a:ext>
            </a:extLst>
          </p:cNvPr>
          <p:cNvSpPr/>
          <p:nvPr/>
        </p:nvSpPr>
        <p:spPr bwMode="gray">
          <a:xfrm rot="10800000">
            <a:off x="11750878" y="1158240"/>
            <a:ext cx="310493" cy="365760"/>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422805055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IN" dirty="0"/>
              <a:t>Good Practices</a:t>
            </a:r>
          </a:p>
        </p:txBody>
      </p:sp>
      <p:sp>
        <p:nvSpPr>
          <p:cNvPr id="3" name="Rectangle 2">
            <a:extLst>
              <a:ext uri="{FF2B5EF4-FFF2-40B4-BE49-F238E27FC236}">
                <a16:creationId xmlns:a16="http://schemas.microsoft.com/office/drawing/2014/main" id="{F8562C33-73A6-413B-9451-A4CB3DB15DE7}"/>
              </a:ext>
            </a:extLst>
          </p:cNvPr>
          <p:cNvSpPr/>
          <p:nvPr/>
        </p:nvSpPr>
        <p:spPr>
          <a:xfrm>
            <a:off x="478155" y="1011610"/>
            <a:ext cx="11234419" cy="276999"/>
          </a:xfrm>
          <a:prstGeom prst="rect">
            <a:avLst/>
          </a:prstGeom>
        </p:spPr>
        <p:txBody>
          <a:bodyPr wrap="square" lIns="0" tIns="0" rIns="0" bIns="0">
            <a:spAutoFit/>
          </a:bodyPr>
          <a:lstStyle/>
          <a:p>
            <a:r>
              <a:rPr lang="en-US" dirty="0">
                <a:cs typeface="Open Sans" panose="020B0606030504020204" pitchFamily="34" charset="0"/>
              </a:rPr>
              <a:t>Outcome Based Budgeting (OBB) represents an evolutionary step in </a:t>
            </a:r>
            <a:r>
              <a:rPr lang="en-US" b="1" dirty="0">
                <a:cs typeface="Open Sans" panose="020B0606030504020204" pitchFamily="34" charset="0"/>
              </a:rPr>
              <a:t>Malaysia’s implementation of PBB</a:t>
            </a:r>
          </a:p>
        </p:txBody>
      </p:sp>
      <p:grpSp>
        <p:nvGrpSpPr>
          <p:cNvPr id="6" name="Group 5">
            <a:extLst>
              <a:ext uri="{FF2B5EF4-FFF2-40B4-BE49-F238E27FC236}">
                <a16:creationId xmlns:a16="http://schemas.microsoft.com/office/drawing/2014/main" id="{8218F939-35FB-40C2-B501-0F529162D810}"/>
              </a:ext>
            </a:extLst>
          </p:cNvPr>
          <p:cNvGrpSpPr/>
          <p:nvPr/>
        </p:nvGrpSpPr>
        <p:grpSpPr>
          <a:xfrm>
            <a:off x="478155" y="4578599"/>
            <a:ext cx="11242201" cy="1714321"/>
            <a:chOff x="478155" y="4470079"/>
            <a:chExt cx="11242201" cy="1822842"/>
          </a:xfrm>
        </p:grpSpPr>
        <p:sp>
          <p:nvSpPr>
            <p:cNvPr id="165" name="Rectangle 164">
              <a:extLst>
                <a:ext uri="{FF2B5EF4-FFF2-40B4-BE49-F238E27FC236}">
                  <a16:creationId xmlns:a16="http://schemas.microsoft.com/office/drawing/2014/main" id="{E4900B7F-4D71-4F4A-B0D9-A4EC023299E3}"/>
                </a:ext>
              </a:extLst>
            </p:cNvPr>
            <p:cNvSpPr/>
            <p:nvPr/>
          </p:nvSpPr>
          <p:spPr bwMode="gray">
            <a:xfrm>
              <a:off x="478155" y="4470079"/>
              <a:ext cx="5503545" cy="440048"/>
            </a:xfrm>
            <a:prstGeom prst="rect">
              <a:avLst/>
            </a:prstGeom>
            <a:solidFill>
              <a:schemeClr val="accent1">
                <a:lumMod val="75000"/>
                <a:alpha val="50000"/>
              </a:schemeClr>
            </a:solidFill>
            <a:ln w="19050" algn="ctr">
              <a:noFill/>
              <a:miter lim="800000"/>
              <a:headEnd/>
              <a:tailEnd/>
            </a:ln>
          </p:spPr>
          <p:txBody>
            <a:bodyPr wrap="square" lIns="108000" tIns="36000" rIns="72000" bIns="36000" rtlCol="0" anchor="ctr"/>
            <a:lstStyle/>
            <a:p>
              <a:pPr lvl="0" defTabSz="945677">
                <a:defRPr/>
              </a:pPr>
              <a:r>
                <a:rPr lang="en-US" sz="1200" dirty="0">
                  <a:latin typeface="+mj-lt"/>
                  <a:ea typeface="Verdana" panose="020B0604030504040204" pitchFamily="34" charset="0"/>
                  <a:cs typeface="Verdana" panose="020B0604030504040204" pitchFamily="34" charset="0"/>
                </a:rPr>
                <a:t>Lack of understanding of the concepts of performance budgeting</a:t>
              </a:r>
              <a:endParaRPr kumimoji="0" lang="en-IN" sz="1200" b="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166" name="Rectangle 165">
              <a:extLst>
                <a:ext uri="{FF2B5EF4-FFF2-40B4-BE49-F238E27FC236}">
                  <a16:creationId xmlns:a16="http://schemas.microsoft.com/office/drawing/2014/main" id="{1E03E8AA-A051-4A22-A0DA-EFBD8005753F}"/>
                </a:ext>
              </a:extLst>
            </p:cNvPr>
            <p:cNvSpPr/>
            <p:nvPr/>
          </p:nvSpPr>
          <p:spPr bwMode="gray">
            <a:xfrm>
              <a:off x="478155" y="4931010"/>
              <a:ext cx="5503545" cy="440048"/>
            </a:xfrm>
            <a:prstGeom prst="rect">
              <a:avLst/>
            </a:prstGeom>
            <a:solidFill>
              <a:schemeClr val="accent1">
                <a:lumMod val="60000"/>
                <a:lumOff val="40000"/>
                <a:alpha val="50000"/>
              </a:schemeClr>
            </a:solidFill>
            <a:ln w="19050" algn="ctr">
              <a:noFill/>
              <a:miter lim="800000"/>
              <a:headEnd/>
              <a:tailEnd/>
            </a:ln>
          </p:spPr>
          <p:txBody>
            <a:bodyPr wrap="square" lIns="108000" tIns="36000" rIns="72000" bIns="36000" rtlCol="0" anchor="ctr"/>
            <a:lstStyle/>
            <a:p>
              <a:pPr lvl="0" defTabSz="945677">
                <a:defRPr/>
              </a:pPr>
              <a:r>
                <a:rPr lang="en-US" sz="1200" dirty="0">
                  <a:latin typeface="+mj-lt"/>
                  <a:ea typeface="Verdana" panose="020B0604030504040204" pitchFamily="34" charset="0"/>
                  <a:cs typeface="Verdana" panose="020B0604030504040204" pitchFamily="34" charset="0"/>
                </a:rPr>
                <a:t>Poor quality of information in the results framework resulting in significant confusion</a:t>
              </a:r>
              <a:endParaRPr kumimoji="0" lang="en-IN" sz="1200" b="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167" name="Rectangle 166">
              <a:extLst>
                <a:ext uri="{FF2B5EF4-FFF2-40B4-BE49-F238E27FC236}">
                  <a16:creationId xmlns:a16="http://schemas.microsoft.com/office/drawing/2014/main" id="{E0EC0DB7-EA51-45DB-903E-38903C9DA1DC}"/>
                </a:ext>
              </a:extLst>
            </p:cNvPr>
            <p:cNvSpPr/>
            <p:nvPr/>
          </p:nvSpPr>
          <p:spPr bwMode="gray">
            <a:xfrm>
              <a:off x="478155" y="5852873"/>
              <a:ext cx="5503545" cy="440048"/>
            </a:xfrm>
            <a:prstGeom prst="rect">
              <a:avLst/>
            </a:prstGeom>
            <a:solidFill>
              <a:schemeClr val="accent1">
                <a:lumMod val="20000"/>
                <a:lumOff val="80000"/>
                <a:alpha val="50000"/>
              </a:schemeClr>
            </a:solidFill>
            <a:ln w="19050" algn="ctr">
              <a:noFill/>
              <a:miter lim="800000"/>
              <a:headEnd/>
              <a:tailEnd/>
            </a:ln>
          </p:spPr>
          <p:txBody>
            <a:bodyPr wrap="square" lIns="108000" tIns="36000" rIns="72000" bIns="36000" rtlCol="0" anchor="ctr"/>
            <a:lstStyle/>
            <a:p>
              <a:pPr lvl="0" defTabSz="945677">
                <a:defRPr/>
              </a:pPr>
              <a:r>
                <a:rPr lang="en-US" sz="1200" dirty="0">
                  <a:latin typeface="+mj-lt"/>
                  <a:ea typeface="Verdana" panose="020B0604030504040204" pitchFamily="34" charset="0"/>
                  <a:cs typeface="Verdana" panose="020B0604030504040204" pitchFamily="34" charset="0"/>
                </a:rPr>
                <a:t>Interpretation of performance information and generating policy responses</a:t>
              </a:r>
              <a:endParaRPr kumimoji="0" lang="en-IN" sz="1200" b="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168" name="Rectangle 167">
              <a:extLst>
                <a:ext uri="{FF2B5EF4-FFF2-40B4-BE49-F238E27FC236}">
                  <a16:creationId xmlns:a16="http://schemas.microsoft.com/office/drawing/2014/main" id="{578BEE57-0125-4796-BE93-B203E96A4828}"/>
                </a:ext>
              </a:extLst>
            </p:cNvPr>
            <p:cNvSpPr/>
            <p:nvPr/>
          </p:nvSpPr>
          <p:spPr bwMode="gray">
            <a:xfrm>
              <a:off x="6215665" y="4470079"/>
              <a:ext cx="5504688" cy="440048"/>
            </a:xfrm>
            <a:prstGeom prst="rect">
              <a:avLst/>
            </a:prstGeom>
            <a:solidFill>
              <a:schemeClr val="bg1">
                <a:lumMod val="65000"/>
                <a:alpha val="50000"/>
              </a:schemeClr>
            </a:solidFill>
            <a:ln w="19050" algn="ctr">
              <a:noFill/>
              <a:miter lim="800000"/>
              <a:headEnd/>
              <a:tailEnd/>
            </a:ln>
          </p:spPr>
          <p:txBody>
            <a:bodyPr wrap="square" lIns="108000" tIns="36000" rIns="72000" bIns="36000" rtlCol="0" anchor="ctr"/>
            <a:lstStyle/>
            <a:p>
              <a:pPr lvl="0" defTabSz="945677">
                <a:defRPr/>
              </a:pPr>
              <a:r>
                <a:rPr lang="en-US" sz="1200" dirty="0">
                  <a:latin typeface="+mj-lt"/>
                  <a:ea typeface="Verdana" panose="020B0604030504040204" pitchFamily="34" charset="0"/>
                  <a:cs typeface="Verdana" panose="020B0604030504040204" pitchFamily="34" charset="0"/>
                </a:rPr>
                <a:t>Inappropriate staff capacity in performance evaluation</a:t>
              </a:r>
              <a:endParaRPr kumimoji="0" lang="en-US" sz="1200" b="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171" name="Rectangle 170">
              <a:extLst>
                <a:ext uri="{FF2B5EF4-FFF2-40B4-BE49-F238E27FC236}">
                  <a16:creationId xmlns:a16="http://schemas.microsoft.com/office/drawing/2014/main" id="{4D9DE018-DA48-4AE5-9BC5-510FFFABBD36}"/>
                </a:ext>
              </a:extLst>
            </p:cNvPr>
            <p:cNvSpPr/>
            <p:nvPr/>
          </p:nvSpPr>
          <p:spPr bwMode="gray">
            <a:xfrm>
              <a:off x="6215668" y="4931010"/>
              <a:ext cx="5504688" cy="440048"/>
            </a:xfrm>
            <a:prstGeom prst="rect">
              <a:avLst/>
            </a:prstGeom>
            <a:solidFill>
              <a:schemeClr val="bg1">
                <a:lumMod val="75000"/>
                <a:alpha val="50000"/>
              </a:schemeClr>
            </a:solidFill>
            <a:ln w="19050" algn="ctr">
              <a:noFill/>
              <a:miter lim="800000"/>
              <a:headEnd/>
              <a:tailEnd/>
            </a:ln>
          </p:spPr>
          <p:txBody>
            <a:bodyPr wrap="square" lIns="108000" tIns="36000" rIns="72000" bIns="36000" rtlCol="0" anchor="ctr"/>
            <a:lstStyle/>
            <a:p>
              <a:pPr lvl="0" defTabSz="945677">
                <a:defRPr/>
              </a:pPr>
              <a:r>
                <a:rPr lang="en-US" sz="1200" dirty="0">
                  <a:latin typeface="+mj-lt"/>
                  <a:ea typeface="Verdana" panose="020B0604030504040204" pitchFamily="34" charset="0"/>
                  <a:cs typeface="Verdana" panose="020B0604030504040204" pitchFamily="34" charset="0"/>
                </a:rPr>
                <a:t>Asymmetry between Finance and line ministries in program knowledge </a:t>
              </a:r>
              <a:endParaRPr kumimoji="0" lang="en-US" sz="1200" b="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173" name="Rectangle 172">
              <a:extLst>
                <a:ext uri="{FF2B5EF4-FFF2-40B4-BE49-F238E27FC236}">
                  <a16:creationId xmlns:a16="http://schemas.microsoft.com/office/drawing/2014/main" id="{E3CD0B00-ADA5-4EBC-BE91-90B7BEAD4E7E}"/>
                </a:ext>
              </a:extLst>
            </p:cNvPr>
            <p:cNvSpPr/>
            <p:nvPr/>
          </p:nvSpPr>
          <p:spPr bwMode="gray">
            <a:xfrm>
              <a:off x="6215668" y="5852873"/>
              <a:ext cx="5504688" cy="440048"/>
            </a:xfrm>
            <a:prstGeom prst="rect">
              <a:avLst/>
            </a:prstGeom>
            <a:solidFill>
              <a:schemeClr val="bg1">
                <a:lumMod val="95000"/>
                <a:alpha val="50000"/>
              </a:schemeClr>
            </a:solidFill>
            <a:ln w="19050" algn="ctr">
              <a:noFill/>
              <a:miter lim="800000"/>
              <a:headEnd/>
              <a:tailEnd/>
            </a:ln>
          </p:spPr>
          <p:txBody>
            <a:bodyPr wrap="square" lIns="108000" tIns="36000" rIns="72000" bIns="36000" rtlCol="0" anchor="ctr"/>
            <a:lstStyle/>
            <a:p>
              <a:pPr lvl="0" defTabSz="945677">
                <a:defRPr/>
              </a:pPr>
              <a:r>
                <a:rPr lang="en-US" sz="1200" dirty="0">
                  <a:latin typeface="+mj-lt"/>
                  <a:ea typeface="Verdana" panose="020B0604030504040204" pitchFamily="34" charset="0"/>
                  <a:cs typeface="Verdana" panose="020B0604030504040204" pitchFamily="34" charset="0"/>
                </a:rPr>
                <a:t>Lack of demand for performance information due to absence of rewarding mechanism against good performance </a:t>
              </a:r>
              <a:endParaRPr kumimoji="0" lang="en-US" sz="1200" b="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174" name="Rectangle 173">
              <a:extLst>
                <a:ext uri="{FF2B5EF4-FFF2-40B4-BE49-F238E27FC236}">
                  <a16:creationId xmlns:a16="http://schemas.microsoft.com/office/drawing/2014/main" id="{EC379AC0-D0B5-4A22-87A7-1802AA92A658}"/>
                </a:ext>
              </a:extLst>
            </p:cNvPr>
            <p:cNvSpPr/>
            <p:nvPr/>
          </p:nvSpPr>
          <p:spPr bwMode="gray">
            <a:xfrm>
              <a:off x="478155" y="5391941"/>
              <a:ext cx="5510546" cy="440048"/>
            </a:xfrm>
            <a:prstGeom prst="rect">
              <a:avLst/>
            </a:prstGeom>
            <a:solidFill>
              <a:schemeClr val="accent1">
                <a:lumMod val="40000"/>
                <a:lumOff val="60000"/>
                <a:alpha val="50000"/>
              </a:schemeClr>
            </a:solidFill>
            <a:ln w="19050" algn="ctr">
              <a:noFill/>
              <a:miter lim="800000"/>
              <a:headEnd/>
              <a:tailEnd/>
            </a:ln>
          </p:spPr>
          <p:txBody>
            <a:bodyPr wrap="square" lIns="108000" tIns="36000" rIns="72000" bIns="36000" rtlCol="0" anchor="ctr"/>
            <a:lstStyle/>
            <a:p>
              <a:pPr lvl="0" defTabSz="945677">
                <a:defRPr/>
              </a:pPr>
              <a:r>
                <a:rPr lang="en-US" sz="1200" dirty="0">
                  <a:latin typeface="+mj-lt"/>
                  <a:ea typeface="Verdana" panose="020B0604030504040204" pitchFamily="34" charset="0"/>
                  <a:cs typeface="Verdana" panose="020B0604030504040204" pitchFamily="34" charset="0"/>
                </a:rPr>
                <a:t>Lack of demand for performance information due to absence of rewarding mechanism against good performance </a:t>
              </a:r>
              <a:endParaRPr kumimoji="0" lang="en-IN" sz="1200" b="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175" name="Rectangle 174">
              <a:extLst>
                <a:ext uri="{FF2B5EF4-FFF2-40B4-BE49-F238E27FC236}">
                  <a16:creationId xmlns:a16="http://schemas.microsoft.com/office/drawing/2014/main" id="{BC4EDCDC-0001-4568-8F94-07F96E87497E}"/>
                </a:ext>
              </a:extLst>
            </p:cNvPr>
            <p:cNvSpPr/>
            <p:nvPr/>
          </p:nvSpPr>
          <p:spPr bwMode="gray">
            <a:xfrm>
              <a:off x="6215665" y="5391941"/>
              <a:ext cx="5504688" cy="440048"/>
            </a:xfrm>
            <a:prstGeom prst="rect">
              <a:avLst/>
            </a:prstGeom>
            <a:solidFill>
              <a:schemeClr val="bg1">
                <a:lumMod val="85000"/>
                <a:alpha val="50000"/>
              </a:schemeClr>
            </a:solidFill>
            <a:ln w="19050" algn="ctr">
              <a:noFill/>
              <a:miter lim="800000"/>
              <a:headEnd/>
              <a:tailEnd/>
            </a:ln>
          </p:spPr>
          <p:txBody>
            <a:bodyPr wrap="square" lIns="108000" tIns="36000" rIns="72000" bIns="36000" rtlCol="0" anchor="ctr"/>
            <a:lstStyle/>
            <a:p>
              <a:pPr lvl="0" defTabSz="945677">
                <a:defRPr/>
              </a:pPr>
              <a:r>
                <a:rPr lang="en-US" sz="1200" dirty="0">
                  <a:latin typeface="+mj-lt"/>
                  <a:ea typeface="Verdana" panose="020B0604030504040204" pitchFamily="34" charset="0"/>
                  <a:cs typeface="Verdana" panose="020B0604030504040204" pitchFamily="34" charset="0"/>
                </a:rPr>
                <a:t>Identifying the right IT solution and translating business requirements into an IT system</a:t>
              </a:r>
              <a:endParaRPr kumimoji="0" lang="en-US" sz="1200" b="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grpSp>
      <p:sp>
        <p:nvSpPr>
          <p:cNvPr id="185" name="Freeform 375">
            <a:extLst>
              <a:ext uri="{FF2B5EF4-FFF2-40B4-BE49-F238E27FC236}">
                <a16:creationId xmlns:a16="http://schemas.microsoft.com/office/drawing/2014/main" id="{0266173E-BD64-4B28-83D9-182AFE17F52C}"/>
              </a:ext>
            </a:extLst>
          </p:cNvPr>
          <p:cNvSpPr>
            <a:spLocks noChangeAspect="1" noEditPoints="1"/>
          </p:cNvSpPr>
          <p:nvPr/>
        </p:nvSpPr>
        <p:spPr bwMode="auto">
          <a:xfrm>
            <a:off x="11118215" y="227660"/>
            <a:ext cx="594360" cy="594360"/>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45" name="Rectangle 44">
            <a:extLst>
              <a:ext uri="{FF2B5EF4-FFF2-40B4-BE49-F238E27FC236}">
                <a16:creationId xmlns:a16="http://schemas.microsoft.com/office/drawing/2014/main" id="{63B5E512-E771-46F1-8895-3E56020EB651}"/>
              </a:ext>
            </a:extLst>
          </p:cNvPr>
          <p:cNvSpPr/>
          <p:nvPr/>
        </p:nvSpPr>
        <p:spPr bwMode="gray">
          <a:xfrm>
            <a:off x="-1" y="4165943"/>
            <a:ext cx="12192001" cy="365760"/>
          </a:xfrm>
          <a:prstGeom prst="rect">
            <a:avLst/>
          </a:prstGeom>
          <a:solidFill>
            <a:schemeClr val="tx2">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Key challenges</a:t>
            </a:r>
          </a:p>
        </p:txBody>
      </p:sp>
      <p:grpSp>
        <p:nvGrpSpPr>
          <p:cNvPr id="16" name="Group 15">
            <a:extLst>
              <a:ext uri="{FF2B5EF4-FFF2-40B4-BE49-F238E27FC236}">
                <a16:creationId xmlns:a16="http://schemas.microsoft.com/office/drawing/2014/main" id="{0560025C-596C-415F-BAFB-A065FF100000}"/>
              </a:ext>
            </a:extLst>
          </p:cNvPr>
          <p:cNvGrpSpPr/>
          <p:nvPr/>
        </p:nvGrpSpPr>
        <p:grpSpPr>
          <a:xfrm>
            <a:off x="307931" y="1411625"/>
            <a:ext cx="11396745" cy="2771810"/>
            <a:chOff x="307931" y="1411625"/>
            <a:chExt cx="11396745" cy="2771810"/>
          </a:xfrm>
        </p:grpSpPr>
        <p:sp>
          <p:nvSpPr>
            <p:cNvPr id="12" name="Isosceles Triangle 11">
              <a:extLst>
                <a:ext uri="{FF2B5EF4-FFF2-40B4-BE49-F238E27FC236}">
                  <a16:creationId xmlns:a16="http://schemas.microsoft.com/office/drawing/2014/main" id="{96004515-8903-40BB-840D-BDA2009E4597}"/>
                </a:ext>
              </a:extLst>
            </p:cNvPr>
            <p:cNvSpPr/>
            <p:nvPr/>
          </p:nvSpPr>
          <p:spPr bwMode="gray">
            <a:xfrm rot="16200000">
              <a:off x="1252902" y="1183661"/>
              <a:ext cx="2638232" cy="3227305"/>
            </a:xfrm>
            <a:prstGeom prst="triangle">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02" name="Rectangle 101">
              <a:extLst>
                <a:ext uri="{FF2B5EF4-FFF2-40B4-BE49-F238E27FC236}">
                  <a16:creationId xmlns:a16="http://schemas.microsoft.com/office/drawing/2014/main" id="{863A6B77-9766-4C6F-A4FB-34A717645864}"/>
                </a:ext>
              </a:extLst>
            </p:cNvPr>
            <p:cNvSpPr/>
            <p:nvPr/>
          </p:nvSpPr>
          <p:spPr bwMode="gray">
            <a:xfrm>
              <a:off x="4278070" y="1919025"/>
              <a:ext cx="3666744" cy="685800"/>
            </a:xfrm>
            <a:prstGeom prst="rect">
              <a:avLst/>
            </a:prstGeom>
            <a:solidFill>
              <a:sysClr val="window" lastClr="FFFFFF"/>
            </a:solidFill>
            <a:ln w="12700" cap="flat" cmpd="sng" algn="ctr">
              <a:solidFill>
                <a:srgbClr val="0A626C"/>
              </a:solidFill>
              <a:prstDash val="solid"/>
              <a:headEnd/>
              <a:tailEnd/>
            </a:ln>
            <a:effectLst/>
          </p:spPr>
          <p:txBody>
            <a:bodyPr wrap="square" lIns="91440" tIns="88900" rIns="88900" bIns="88900" rtlCol="0" anchor="ctr"/>
            <a:lstStyle/>
            <a:p>
              <a:pPr lvl="0" defTabSz="1042873">
                <a:defRPr/>
              </a:pPr>
              <a:r>
                <a:rPr lang="en-US" sz="1200" kern="0" dirty="0">
                  <a:solidFill>
                    <a:prstClr val="black"/>
                  </a:solidFill>
                  <a:latin typeface="+mj-lt"/>
                  <a:ea typeface="Verdana" panose="020B0604030504040204" pitchFamily="34" charset="0"/>
                </a:rPr>
                <a:t>Design of </a:t>
              </a:r>
              <a:r>
                <a:rPr lang="en-US" sz="1200" b="1" kern="0" dirty="0">
                  <a:solidFill>
                    <a:prstClr val="black"/>
                  </a:solidFill>
                  <a:latin typeface="+mj-lt"/>
                  <a:ea typeface="Verdana" panose="020B0604030504040204" pitchFamily="34" charset="0"/>
                </a:rPr>
                <a:t>OBB logical framework</a:t>
              </a:r>
              <a:r>
                <a:rPr lang="en-US" sz="1200" kern="0" dirty="0">
                  <a:solidFill>
                    <a:prstClr val="black"/>
                  </a:solidFill>
                  <a:latin typeface="+mj-lt"/>
                  <a:ea typeface="Verdana" panose="020B0604030504040204" pitchFamily="34" charset="0"/>
                </a:rPr>
                <a:t> for identifying contribution of programs and a comprehensive </a:t>
              </a:r>
              <a:r>
                <a:rPr lang="en-US" sz="1200" b="1" kern="0" dirty="0">
                  <a:solidFill>
                    <a:prstClr val="black"/>
                  </a:solidFill>
                  <a:latin typeface="+mj-lt"/>
                  <a:ea typeface="Verdana" panose="020B0604030504040204" pitchFamily="34" charset="0"/>
                </a:rPr>
                <a:t>IT system </a:t>
              </a:r>
              <a:r>
                <a:rPr lang="en-US" sz="1200" kern="0" dirty="0">
                  <a:solidFill>
                    <a:prstClr val="black"/>
                  </a:solidFill>
                  <a:latin typeface="+mj-lt"/>
                  <a:ea typeface="Verdana" panose="020B0604030504040204" pitchFamily="34" charset="0"/>
                </a:rPr>
                <a:t>to support</a:t>
              </a:r>
              <a:endParaRPr kumimoji="0" lang="en-US" sz="1200" i="0" u="none" strike="noStrike" kern="0" cap="none" spc="0" normalizeH="0" baseline="0" noProof="0" dirty="0">
                <a:ln>
                  <a:noFill/>
                </a:ln>
                <a:solidFill>
                  <a:prstClr val="black"/>
                </a:solidFill>
                <a:effectLst/>
                <a:uLnTx/>
                <a:uFillTx/>
                <a:latin typeface="+mj-lt"/>
              </a:endParaRPr>
            </a:p>
          </p:txBody>
        </p:sp>
        <p:sp>
          <p:nvSpPr>
            <p:cNvPr id="103" name="Rectangle 102">
              <a:extLst>
                <a:ext uri="{FF2B5EF4-FFF2-40B4-BE49-F238E27FC236}">
                  <a16:creationId xmlns:a16="http://schemas.microsoft.com/office/drawing/2014/main" id="{98CBB6BC-ED30-40B9-B44B-ABBA60925081}"/>
                </a:ext>
              </a:extLst>
            </p:cNvPr>
            <p:cNvSpPr/>
            <p:nvPr/>
          </p:nvSpPr>
          <p:spPr bwMode="gray">
            <a:xfrm>
              <a:off x="4278070" y="2674828"/>
              <a:ext cx="3666744" cy="685800"/>
            </a:xfrm>
            <a:prstGeom prst="rect">
              <a:avLst/>
            </a:prstGeom>
            <a:solidFill>
              <a:sysClr val="window" lastClr="FFFFFF"/>
            </a:solidFill>
            <a:ln w="12700" cap="flat" cmpd="sng" algn="ctr">
              <a:solidFill>
                <a:srgbClr val="0A626C"/>
              </a:solidFill>
              <a:prstDash val="solid"/>
              <a:headEnd/>
              <a:tailEnd/>
            </a:ln>
            <a:effectLst/>
          </p:spPr>
          <p:txBody>
            <a:bodyPr wrap="square" lIns="91440" tIns="88900" rIns="88900" bIns="88900" rtlCol="0" anchor="ctr"/>
            <a:lstStyle/>
            <a:p>
              <a:pPr lvl="0" defTabSz="1042873">
                <a:defRPr/>
              </a:pPr>
              <a:r>
                <a:rPr lang="en-US" sz="1200" kern="0" dirty="0">
                  <a:solidFill>
                    <a:prstClr val="black"/>
                  </a:solidFill>
                  <a:latin typeface="+mj-lt"/>
                  <a:ea typeface="Verdana" panose="020B0604030504040204" pitchFamily="34" charset="0"/>
                </a:rPr>
                <a:t>MOF established a small </a:t>
              </a:r>
              <a:r>
                <a:rPr lang="en-US" sz="1200" b="1" kern="0" dirty="0">
                  <a:solidFill>
                    <a:prstClr val="black"/>
                  </a:solidFill>
                  <a:latin typeface="+mj-lt"/>
                  <a:ea typeface="Verdana" panose="020B0604030504040204" pitchFamily="34" charset="0"/>
                </a:rPr>
                <a:t>independent unit (OBB team) </a:t>
              </a:r>
              <a:r>
                <a:rPr lang="en-US" sz="1200" kern="0" dirty="0">
                  <a:solidFill>
                    <a:prstClr val="black"/>
                  </a:solidFill>
                  <a:latin typeface="+mj-lt"/>
                  <a:ea typeface="Verdana" panose="020B0604030504040204" pitchFamily="34" charset="0"/>
                </a:rPr>
                <a:t>to manage the design and implementation of the OBB system</a:t>
              </a:r>
              <a:endParaRPr kumimoji="0" lang="en-US" sz="1200" i="0" u="none" strike="noStrike" kern="0" cap="none" spc="0" normalizeH="0" baseline="0" noProof="0" dirty="0">
                <a:ln>
                  <a:noFill/>
                </a:ln>
                <a:solidFill>
                  <a:prstClr val="black"/>
                </a:solidFill>
                <a:effectLst/>
                <a:uLnTx/>
                <a:uFillTx/>
                <a:latin typeface="+mj-lt"/>
              </a:endParaRPr>
            </a:p>
          </p:txBody>
        </p:sp>
        <p:sp>
          <p:nvSpPr>
            <p:cNvPr id="104" name="Rectangle 103">
              <a:extLst>
                <a:ext uri="{FF2B5EF4-FFF2-40B4-BE49-F238E27FC236}">
                  <a16:creationId xmlns:a16="http://schemas.microsoft.com/office/drawing/2014/main" id="{576E6CB0-3784-4836-9120-35626D936B8F}"/>
                </a:ext>
              </a:extLst>
            </p:cNvPr>
            <p:cNvSpPr/>
            <p:nvPr/>
          </p:nvSpPr>
          <p:spPr bwMode="gray">
            <a:xfrm>
              <a:off x="4278070" y="3430630"/>
              <a:ext cx="3666744" cy="685800"/>
            </a:xfrm>
            <a:prstGeom prst="rect">
              <a:avLst/>
            </a:prstGeom>
            <a:solidFill>
              <a:sysClr val="window" lastClr="FFFFFF"/>
            </a:solidFill>
            <a:ln w="12700" cap="flat" cmpd="sng" algn="ctr">
              <a:solidFill>
                <a:srgbClr val="0A626C"/>
              </a:solidFill>
              <a:prstDash val="solid"/>
              <a:headEnd/>
              <a:tailEnd/>
            </a:ln>
            <a:effectLst/>
          </p:spPr>
          <p:txBody>
            <a:bodyPr wrap="square" lIns="91440" tIns="88900" rIns="88900" bIns="88900" rtlCol="0" anchor="ctr"/>
            <a:lstStyle/>
            <a:p>
              <a:pPr lvl="0" defTabSz="1042873">
                <a:defRPr/>
              </a:pPr>
              <a:r>
                <a:rPr lang="en-US" sz="1200" b="1" kern="0" dirty="0">
                  <a:solidFill>
                    <a:prstClr val="black"/>
                  </a:solidFill>
                  <a:latin typeface="+mj-lt"/>
                  <a:ea typeface="Verdana" panose="020B0604030504040204" pitchFamily="34" charset="0"/>
                </a:rPr>
                <a:t>Linkage </a:t>
              </a:r>
              <a:r>
                <a:rPr lang="en-US" sz="1200" kern="0" dirty="0">
                  <a:solidFill>
                    <a:prstClr val="black"/>
                  </a:solidFill>
                  <a:latin typeface="+mj-lt"/>
                  <a:ea typeface="Verdana" panose="020B0604030504040204" pitchFamily="34" charset="0"/>
                </a:rPr>
                <a:t>of programs and activities to National Development Goals starting 10th Malaysia Plan</a:t>
              </a:r>
              <a:br>
                <a:rPr lang="en-US" sz="1200" kern="0" dirty="0">
                  <a:solidFill>
                    <a:prstClr val="black"/>
                  </a:solidFill>
                  <a:latin typeface="+mj-lt"/>
                  <a:ea typeface="Verdana" panose="020B0604030504040204" pitchFamily="34" charset="0"/>
                </a:rPr>
              </a:br>
              <a:r>
                <a:rPr lang="en-US" sz="1200" kern="0" dirty="0">
                  <a:solidFill>
                    <a:prstClr val="black"/>
                  </a:solidFill>
                  <a:latin typeface="+mj-lt"/>
                  <a:ea typeface="Verdana" panose="020B0604030504040204" pitchFamily="34" charset="0"/>
                </a:rPr>
                <a:t>(2011-2015)</a:t>
              </a:r>
              <a:endParaRPr lang="en-US" sz="1200" kern="0" dirty="0">
                <a:solidFill>
                  <a:prstClr val="black"/>
                </a:solidFill>
                <a:latin typeface="+mj-lt"/>
              </a:endParaRPr>
            </a:p>
          </p:txBody>
        </p:sp>
        <p:grpSp>
          <p:nvGrpSpPr>
            <p:cNvPr id="15" name="Group 14">
              <a:extLst>
                <a:ext uri="{FF2B5EF4-FFF2-40B4-BE49-F238E27FC236}">
                  <a16:creationId xmlns:a16="http://schemas.microsoft.com/office/drawing/2014/main" id="{B286D7C0-43C3-4FC6-BB25-C58181787ABA}"/>
                </a:ext>
              </a:extLst>
            </p:cNvPr>
            <p:cNvGrpSpPr/>
            <p:nvPr/>
          </p:nvGrpSpPr>
          <p:grpSpPr>
            <a:xfrm>
              <a:off x="307931" y="1411625"/>
              <a:ext cx="2982649" cy="2771810"/>
              <a:chOff x="307931" y="1411625"/>
              <a:chExt cx="2982649" cy="2771810"/>
            </a:xfrm>
          </p:grpSpPr>
          <p:sp>
            <p:nvSpPr>
              <p:cNvPr id="7" name="Oval 6">
                <a:extLst>
                  <a:ext uri="{FF2B5EF4-FFF2-40B4-BE49-F238E27FC236}">
                    <a16:creationId xmlns:a16="http://schemas.microsoft.com/office/drawing/2014/main" id="{BFCD71AB-9C00-4620-884A-5531F63D387D}"/>
                  </a:ext>
                </a:extLst>
              </p:cNvPr>
              <p:cNvSpPr/>
              <p:nvPr/>
            </p:nvSpPr>
            <p:spPr bwMode="gray">
              <a:xfrm>
                <a:off x="413350" y="1411625"/>
                <a:ext cx="2771810" cy="277181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9" name="Oval 8">
                <a:extLst>
                  <a:ext uri="{FF2B5EF4-FFF2-40B4-BE49-F238E27FC236}">
                    <a16:creationId xmlns:a16="http://schemas.microsoft.com/office/drawing/2014/main" id="{81278DD0-B942-4EA5-B3E2-E67FFE28BDBF}"/>
                  </a:ext>
                </a:extLst>
              </p:cNvPr>
              <p:cNvSpPr/>
              <p:nvPr/>
            </p:nvSpPr>
            <p:spPr bwMode="gray">
              <a:xfrm>
                <a:off x="1219384" y="2217659"/>
                <a:ext cx="1159744" cy="1159744"/>
              </a:xfrm>
              <a:prstGeom prst="ellipse">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71" name="Freeform 8">
                <a:extLst>
                  <a:ext uri="{FF2B5EF4-FFF2-40B4-BE49-F238E27FC236}">
                    <a16:creationId xmlns:a16="http://schemas.microsoft.com/office/drawing/2014/main" id="{624062F6-CDA7-47CE-8B48-354E12986DB3}"/>
                  </a:ext>
                </a:extLst>
              </p:cNvPr>
              <p:cNvSpPr>
                <a:spLocks/>
              </p:cNvSpPr>
              <p:nvPr/>
            </p:nvSpPr>
            <p:spPr bwMode="auto">
              <a:xfrm>
                <a:off x="1853670" y="1478633"/>
                <a:ext cx="1044268" cy="968703"/>
              </a:xfrm>
              <a:custGeom>
                <a:avLst/>
                <a:gdLst>
                  <a:gd name="connsiteX0" fmla="*/ 47201 w 1608834"/>
                  <a:gd name="connsiteY0" fmla="*/ 0 h 1504504"/>
                  <a:gd name="connsiteX1" fmla="*/ 1608554 w 1608834"/>
                  <a:gd name="connsiteY1" fmla="*/ 1140939 h 1504504"/>
                  <a:gd name="connsiteX2" fmla="*/ 1585737 w 1608834"/>
                  <a:gd name="connsiteY2" fmla="*/ 1188211 h 1504504"/>
                  <a:gd name="connsiteX3" fmla="*/ 612083 w 1608834"/>
                  <a:gd name="connsiteY3" fmla="*/ 1504498 h 1504504"/>
                  <a:gd name="connsiteX4" fmla="*/ 587513 w 1608834"/>
                  <a:gd name="connsiteY4" fmla="*/ 1423404 h 1504504"/>
                  <a:gd name="connsiteX5" fmla="*/ 52742 w 1608834"/>
                  <a:gd name="connsiteY5" fmla="*/ 1110817 h 1504504"/>
                  <a:gd name="connsiteX6" fmla="*/ 0 w 1608834"/>
                  <a:gd name="connsiteY6" fmla="*/ 1020329 h 1504504"/>
                  <a:gd name="connsiteX7" fmla="*/ 0 w 1608834"/>
                  <a:gd name="connsiteY7" fmla="*/ 48504 h 1504504"/>
                  <a:gd name="connsiteX8" fmla="*/ 47201 w 1608834"/>
                  <a:gd name="connsiteY8" fmla="*/ 0 h 1504504"/>
                  <a:gd name="connsiteX0" fmla="*/ 47201 w 1608834"/>
                  <a:gd name="connsiteY0" fmla="*/ 0 h 1430790"/>
                  <a:gd name="connsiteX1" fmla="*/ 1608554 w 1608834"/>
                  <a:gd name="connsiteY1" fmla="*/ 1140939 h 1430790"/>
                  <a:gd name="connsiteX2" fmla="*/ 1585737 w 1608834"/>
                  <a:gd name="connsiteY2" fmla="*/ 1188211 h 1430790"/>
                  <a:gd name="connsiteX3" fmla="*/ 684279 w 1608834"/>
                  <a:gd name="connsiteY3" fmla="*/ 1415314 h 1430790"/>
                  <a:gd name="connsiteX4" fmla="*/ 587513 w 1608834"/>
                  <a:gd name="connsiteY4" fmla="*/ 1423404 h 1430790"/>
                  <a:gd name="connsiteX5" fmla="*/ 52742 w 1608834"/>
                  <a:gd name="connsiteY5" fmla="*/ 1110817 h 1430790"/>
                  <a:gd name="connsiteX6" fmla="*/ 0 w 1608834"/>
                  <a:gd name="connsiteY6" fmla="*/ 1020329 h 1430790"/>
                  <a:gd name="connsiteX7" fmla="*/ 0 w 1608834"/>
                  <a:gd name="connsiteY7" fmla="*/ 48504 h 1430790"/>
                  <a:gd name="connsiteX8" fmla="*/ 47201 w 1608834"/>
                  <a:gd name="connsiteY8" fmla="*/ 0 h 1430790"/>
                  <a:gd name="connsiteX0" fmla="*/ 47201 w 1589313"/>
                  <a:gd name="connsiteY0" fmla="*/ 0 h 1430790"/>
                  <a:gd name="connsiteX1" fmla="*/ 1553346 w 1589313"/>
                  <a:gd name="connsiteY1" fmla="*/ 873388 h 1430790"/>
                  <a:gd name="connsiteX2" fmla="*/ 1585737 w 1589313"/>
                  <a:gd name="connsiteY2" fmla="*/ 1188211 h 1430790"/>
                  <a:gd name="connsiteX3" fmla="*/ 684279 w 1589313"/>
                  <a:gd name="connsiteY3" fmla="*/ 1415314 h 1430790"/>
                  <a:gd name="connsiteX4" fmla="*/ 587513 w 1589313"/>
                  <a:gd name="connsiteY4" fmla="*/ 1423404 h 1430790"/>
                  <a:gd name="connsiteX5" fmla="*/ 52742 w 1589313"/>
                  <a:gd name="connsiteY5" fmla="*/ 1110817 h 1430790"/>
                  <a:gd name="connsiteX6" fmla="*/ 0 w 1589313"/>
                  <a:gd name="connsiteY6" fmla="*/ 1020329 h 1430790"/>
                  <a:gd name="connsiteX7" fmla="*/ 0 w 1589313"/>
                  <a:gd name="connsiteY7" fmla="*/ 48504 h 1430790"/>
                  <a:gd name="connsiteX8" fmla="*/ 47201 w 1589313"/>
                  <a:gd name="connsiteY8" fmla="*/ 0 h 1430790"/>
                  <a:gd name="connsiteX0" fmla="*/ 47201 w 1553470"/>
                  <a:gd name="connsiteY0" fmla="*/ 0 h 1430790"/>
                  <a:gd name="connsiteX1" fmla="*/ 1553346 w 1553470"/>
                  <a:gd name="connsiteY1" fmla="*/ 873388 h 1430790"/>
                  <a:gd name="connsiteX2" fmla="*/ 1517788 w 1553470"/>
                  <a:gd name="connsiteY2" fmla="*/ 946141 h 1430790"/>
                  <a:gd name="connsiteX3" fmla="*/ 684279 w 1553470"/>
                  <a:gd name="connsiteY3" fmla="*/ 1415314 h 1430790"/>
                  <a:gd name="connsiteX4" fmla="*/ 587513 w 1553470"/>
                  <a:gd name="connsiteY4" fmla="*/ 1423404 h 1430790"/>
                  <a:gd name="connsiteX5" fmla="*/ 52742 w 1553470"/>
                  <a:gd name="connsiteY5" fmla="*/ 1110817 h 1430790"/>
                  <a:gd name="connsiteX6" fmla="*/ 0 w 1553470"/>
                  <a:gd name="connsiteY6" fmla="*/ 1020329 h 1430790"/>
                  <a:gd name="connsiteX7" fmla="*/ 0 w 1553470"/>
                  <a:gd name="connsiteY7" fmla="*/ 48504 h 1430790"/>
                  <a:gd name="connsiteX8" fmla="*/ 47201 w 1553470"/>
                  <a:gd name="connsiteY8" fmla="*/ 0 h 1430790"/>
                  <a:gd name="connsiteX0" fmla="*/ 47201 w 1549253"/>
                  <a:gd name="connsiteY0" fmla="*/ 0 h 1430790"/>
                  <a:gd name="connsiteX1" fmla="*/ 1549100 w 1549253"/>
                  <a:gd name="connsiteY1" fmla="*/ 869141 h 1430790"/>
                  <a:gd name="connsiteX2" fmla="*/ 1517788 w 1549253"/>
                  <a:gd name="connsiteY2" fmla="*/ 946141 h 1430790"/>
                  <a:gd name="connsiteX3" fmla="*/ 684279 w 1549253"/>
                  <a:gd name="connsiteY3" fmla="*/ 1415314 h 1430790"/>
                  <a:gd name="connsiteX4" fmla="*/ 587513 w 1549253"/>
                  <a:gd name="connsiteY4" fmla="*/ 1423404 h 1430790"/>
                  <a:gd name="connsiteX5" fmla="*/ 52742 w 1549253"/>
                  <a:gd name="connsiteY5" fmla="*/ 1110817 h 1430790"/>
                  <a:gd name="connsiteX6" fmla="*/ 0 w 1549253"/>
                  <a:gd name="connsiteY6" fmla="*/ 1020329 h 1430790"/>
                  <a:gd name="connsiteX7" fmla="*/ 0 w 1549253"/>
                  <a:gd name="connsiteY7" fmla="*/ 48504 h 1430790"/>
                  <a:gd name="connsiteX8" fmla="*/ 47201 w 1549253"/>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3838"/>
                  <a:gd name="connsiteX1" fmla="*/ 1540606 w 1540886"/>
                  <a:gd name="connsiteY1" fmla="*/ 869141 h 1433838"/>
                  <a:gd name="connsiteX2" fmla="*/ 1517788 w 1540886"/>
                  <a:gd name="connsiteY2" fmla="*/ 946141 h 1433838"/>
                  <a:gd name="connsiteX3" fmla="*/ 684279 w 1540886"/>
                  <a:gd name="connsiteY3" fmla="*/ 1415314 h 1433838"/>
                  <a:gd name="connsiteX4" fmla="*/ 587513 w 1540886"/>
                  <a:gd name="connsiteY4" fmla="*/ 1423404 h 1433838"/>
                  <a:gd name="connsiteX5" fmla="*/ 52742 w 1540886"/>
                  <a:gd name="connsiteY5" fmla="*/ 1110817 h 1433838"/>
                  <a:gd name="connsiteX6" fmla="*/ 0 w 1540886"/>
                  <a:gd name="connsiteY6" fmla="*/ 1020329 h 1433838"/>
                  <a:gd name="connsiteX7" fmla="*/ 0 w 1540886"/>
                  <a:gd name="connsiteY7" fmla="*/ 48504 h 1433838"/>
                  <a:gd name="connsiteX8" fmla="*/ 47201 w 1540886"/>
                  <a:gd name="connsiteY8" fmla="*/ 0 h 1433838"/>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2227"/>
                  <a:gd name="connsiteY0" fmla="*/ 0 h 1435712"/>
                  <a:gd name="connsiteX1" fmla="*/ 1540606 w 1542227"/>
                  <a:gd name="connsiteY1" fmla="*/ 869141 h 1435712"/>
                  <a:gd name="connsiteX2" fmla="*/ 1517788 w 1542227"/>
                  <a:gd name="connsiteY2" fmla="*/ 946141 h 1435712"/>
                  <a:gd name="connsiteX3" fmla="*/ 684279 w 1542227"/>
                  <a:gd name="connsiteY3" fmla="*/ 1415314 h 1435712"/>
                  <a:gd name="connsiteX4" fmla="*/ 587513 w 1542227"/>
                  <a:gd name="connsiteY4" fmla="*/ 1423404 h 1435712"/>
                  <a:gd name="connsiteX5" fmla="*/ 52742 w 1542227"/>
                  <a:gd name="connsiteY5" fmla="*/ 1110817 h 1435712"/>
                  <a:gd name="connsiteX6" fmla="*/ 0 w 1542227"/>
                  <a:gd name="connsiteY6" fmla="*/ 1020329 h 1435712"/>
                  <a:gd name="connsiteX7" fmla="*/ 0 w 1542227"/>
                  <a:gd name="connsiteY7" fmla="*/ 48504 h 1435712"/>
                  <a:gd name="connsiteX8" fmla="*/ 47201 w 1542227"/>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0282"/>
                  <a:gd name="connsiteX1" fmla="*/ 1540606 w 1542411"/>
                  <a:gd name="connsiteY1" fmla="*/ 869141 h 1430282"/>
                  <a:gd name="connsiteX2" fmla="*/ 1517788 w 1542411"/>
                  <a:gd name="connsiteY2" fmla="*/ 946141 h 1430282"/>
                  <a:gd name="connsiteX3" fmla="*/ 684279 w 1542411"/>
                  <a:gd name="connsiteY3" fmla="*/ 1415314 h 1430282"/>
                  <a:gd name="connsiteX4" fmla="*/ 585390 w 1542411"/>
                  <a:gd name="connsiteY4" fmla="*/ 1414911 h 1430282"/>
                  <a:gd name="connsiteX5" fmla="*/ 52742 w 1542411"/>
                  <a:gd name="connsiteY5" fmla="*/ 1110817 h 1430282"/>
                  <a:gd name="connsiteX6" fmla="*/ 0 w 1542411"/>
                  <a:gd name="connsiteY6" fmla="*/ 1020329 h 1430282"/>
                  <a:gd name="connsiteX7" fmla="*/ 0 w 1542411"/>
                  <a:gd name="connsiteY7" fmla="*/ 48504 h 1430282"/>
                  <a:gd name="connsiteX8" fmla="*/ 47201 w 1542411"/>
                  <a:gd name="connsiteY8" fmla="*/ 0 h 1430282"/>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3202"/>
                  <a:gd name="connsiteY0" fmla="*/ 0 h 1431536"/>
                  <a:gd name="connsiteX1" fmla="*/ 1540606 w 1543202"/>
                  <a:gd name="connsiteY1" fmla="*/ 869141 h 1431536"/>
                  <a:gd name="connsiteX2" fmla="*/ 1517788 w 1543202"/>
                  <a:gd name="connsiteY2" fmla="*/ 946141 h 1431536"/>
                  <a:gd name="connsiteX3" fmla="*/ 684279 w 1543202"/>
                  <a:gd name="connsiteY3" fmla="*/ 1415314 h 1431536"/>
                  <a:gd name="connsiteX4" fmla="*/ 583267 w 1543202"/>
                  <a:gd name="connsiteY4" fmla="*/ 1417035 h 1431536"/>
                  <a:gd name="connsiteX5" fmla="*/ 52742 w 1543202"/>
                  <a:gd name="connsiteY5" fmla="*/ 1110817 h 1431536"/>
                  <a:gd name="connsiteX6" fmla="*/ 0 w 1543202"/>
                  <a:gd name="connsiteY6" fmla="*/ 1020329 h 1431536"/>
                  <a:gd name="connsiteX7" fmla="*/ 0 w 1543202"/>
                  <a:gd name="connsiteY7" fmla="*/ 48504 h 1431536"/>
                  <a:gd name="connsiteX8" fmla="*/ 47201 w 1543202"/>
                  <a:gd name="connsiteY8" fmla="*/ 0 h 14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202" h="1431536">
                    <a:moveTo>
                      <a:pt x="47201" y="0"/>
                    </a:moveTo>
                    <a:cubicBezTo>
                      <a:pt x="664672" y="71314"/>
                      <a:pt x="1074652" y="245403"/>
                      <a:pt x="1540606" y="869141"/>
                    </a:cubicBezTo>
                    <a:cubicBezTo>
                      <a:pt x="1546779" y="893358"/>
                      <a:pt x="1542993" y="927242"/>
                      <a:pt x="1517788" y="946141"/>
                    </a:cubicBezTo>
                    <a:lnTo>
                      <a:pt x="684279" y="1415314"/>
                    </a:lnTo>
                    <a:cubicBezTo>
                      <a:pt x="659035" y="1430938"/>
                      <a:pt x="617865" y="1441473"/>
                      <a:pt x="583267" y="1417035"/>
                    </a:cubicBezTo>
                    <a:cubicBezTo>
                      <a:pt x="444381" y="1243713"/>
                      <a:pt x="279841" y="1143471"/>
                      <a:pt x="52742" y="1110817"/>
                    </a:cubicBezTo>
                    <a:cubicBezTo>
                      <a:pt x="19624" y="1095860"/>
                      <a:pt x="196" y="1063473"/>
                      <a:pt x="0" y="1020329"/>
                    </a:cubicBezTo>
                    <a:lnTo>
                      <a:pt x="0" y="48504"/>
                    </a:lnTo>
                    <a:cubicBezTo>
                      <a:pt x="6561" y="22673"/>
                      <a:pt x="22730" y="5005"/>
                      <a:pt x="47201" y="0"/>
                    </a:cubicBezTo>
                    <a:close/>
                  </a:path>
                </a:pathLst>
              </a:custGeom>
              <a:solidFill>
                <a:schemeClr val="accent1"/>
              </a:solidFill>
              <a:ln w="1270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000">
                  <a:latin typeface="+mj-lt"/>
                </a:endParaRPr>
              </a:p>
            </p:txBody>
          </p:sp>
          <p:sp>
            <p:nvSpPr>
              <p:cNvPr id="72" name="Freeform 8">
                <a:extLst>
                  <a:ext uri="{FF2B5EF4-FFF2-40B4-BE49-F238E27FC236}">
                    <a16:creationId xmlns:a16="http://schemas.microsoft.com/office/drawing/2014/main" id="{8A339455-C17D-4A06-9F4D-243582C47DB3}"/>
                  </a:ext>
                </a:extLst>
              </p:cNvPr>
              <p:cNvSpPr>
                <a:spLocks/>
              </p:cNvSpPr>
              <p:nvPr/>
            </p:nvSpPr>
            <p:spPr bwMode="auto">
              <a:xfrm rot="3572672">
                <a:off x="2284095" y="2389747"/>
                <a:ext cx="1044267" cy="968703"/>
              </a:xfrm>
              <a:custGeom>
                <a:avLst/>
                <a:gdLst>
                  <a:gd name="connsiteX0" fmla="*/ 47201 w 1608834"/>
                  <a:gd name="connsiteY0" fmla="*/ 0 h 1504504"/>
                  <a:gd name="connsiteX1" fmla="*/ 1608554 w 1608834"/>
                  <a:gd name="connsiteY1" fmla="*/ 1140939 h 1504504"/>
                  <a:gd name="connsiteX2" fmla="*/ 1585737 w 1608834"/>
                  <a:gd name="connsiteY2" fmla="*/ 1188211 h 1504504"/>
                  <a:gd name="connsiteX3" fmla="*/ 612083 w 1608834"/>
                  <a:gd name="connsiteY3" fmla="*/ 1504498 h 1504504"/>
                  <a:gd name="connsiteX4" fmla="*/ 587513 w 1608834"/>
                  <a:gd name="connsiteY4" fmla="*/ 1423404 h 1504504"/>
                  <a:gd name="connsiteX5" fmla="*/ 52742 w 1608834"/>
                  <a:gd name="connsiteY5" fmla="*/ 1110817 h 1504504"/>
                  <a:gd name="connsiteX6" fmla="*/ 0 w 1608834"/>
                  <a:gd name="connsiteY6" fmla="*/ 1020329 h 1504504"/>
                  <a:gd name="connsiteX7" fmla="*/ 0 w 1608834"/>
                  <a:gd name="connsiteY7" fmla="*/ 48504 h 1504504"/>
                  <a:gd name="connsiteX8" fmla="*/ 47201 w 1608834"/>
                  <a:gd name="connsiteY8" fmla="*/ 0 h 1504504"/>
                  <a:gd name="connsiteX0" fmla="*/ 47201 w 1608834"/>
                  <a:gd name="connsiteY0" fmla="*/ 0 h 1430790"/>
                  <a:gd name="connsiteX1" fmla="*/ 1608554 w 1608834"/>
                  <a:gd name="connsiteY1" fmla="*/ 1140939 h 1430790"/>
                  <a:gd name="connsiteX2" fmla="*/ 1585737 w 1608834"/>
                  <a:gd name="connsiteY2" fmla="*/ 1188211 h 1430790"/>
                  <a:gd name="connsiteX3" fmla="*/ 684279 w 1608834"/>
                  <a:gd name="connsiteY3" fmla="*/ 1415314 h 1430790"/>
                  <a:gd name="connsiteX4" fmla="*/ 587513 w 1608834"/>
                  <a:gd name="connsiteY4" fmla="*/ 1423404 h 1430790"/>
                  <a:gd name="connsiteX5" fmla="*/ 52742 w 1608834"/>
                  <a:gd name="connsiteY5" fmla="*/ 1110817 h 1430790"/>
                  <a:gd name="connsiteX6" fmla="*/ 0 w 1608834"/>
                  <a:gd name="connsiteY6" fmla="*/ 1020329 h 1430790"/>
                  <a:gd name="connsiteX7" fmla="*/ 0 w 1608834"/>
                  <a:gd name="connsiteY7" fmla="*/ 48504 h 1430790"/>
                  <a:gd name="connsiteX8" fmla="*/ 47201 w 1608834"/>
                  <a:gd name="connsiteY8" fmla="*/ 0 h 1430790"/>
                  <a:gd name="connsiteX0" fmla="*/ 47201 w 1589313"/>
                  <a:gd name="connsiteY0" fmla="*/ 0 h 1430790"/>
                  <a:gd name="connsiteX1" fmla="*/ 1553346 w 1589313"/>
                  <a:gd name="connsiteY1" fmla="*/ 873388 h 1430790"/>
                  <a:gd name="connsiteX2" fmla="*/ 1585737 w 1589313"/>
                  <a:gd name="connsiteY2" fmla="*/ 1188211 h 1430790"/>
                  <a:gd name="connsiteX3" fmla="*/ 684279 w 1589313"/>
                  <a:gd name="connsiteY3" fmla="*/ 1415314 h 1430790"/>
                  <a:gd name="connsiteX4" fmla="*/ 587513 w 1589313"/>
                  <a:gd name="connsiteY4" fmla="*/ 1423404 h 1430790"/>
                  <a:gd name="connsiteX5" fmla="*/ 52742 w 1589313"/>
                  <a:gd name="connsiteY5" fmla="*/ 1110817 h 1430790"/>
                  <a:gd name="connsiteX6" fmla="*/ 0 w 1589313"/>
                  <a:gd name="connsiteY6" fmla="*/ 1020329 h 1430790"/>
                  <a:gd name="connsiteX7" fmla="*/ 0 w 1589313"/>
                  <a:gd name="connsiteY7" fmla="*/ 48504 h 1430790"/>
                  <a:gd name="connsiteX8" fmla="*/ 47201 w 1589313"/>
                  <a:gd name="connsiteY8" fmla="*/ 0 h 1430790"/>
                  <a:gd name="connsiteX0" fmla="*/ 47201 w 1553470"/>
                  <a:gd name="connsiteY0" fmla="*/ 0 h 1430790"/>
                  <a:gd name="connsiteX1" fmla="*/ 1553346 w 1553470"/>
                  <a:gd name="connsiteY1" fmla="*/ 873388 h 1430790"/>
                  <a:gd name="connsiteX2" fmla="*/ 1517788 w 1553470"/>
                  <a:gd name="connsiteY2" fmla="*/ 946141 h 1430790"/>
                  <a:gd name="connsiteX3" fmla="*/ 684279 w 1553470"/>
                  <a:gd name="connsiteY3" fmla="*/ 1415314 h 1430790"/>
                  <a:gd name="connsiteX4" fmla="*/ 587513 w 1553470"/>
                  <a:gd name="connsiteY4" fmla="*/ 1423404 h 1430790"/>
                  <a:gd name="connsiteX5" fmla="*/ 52742 w 1553470"/>
                  <a:gd name="connsiteY5" fmla="*/ 1110817 h 1430790"/>
                  <a:gd name="connsiteX6" fmla="*/ 0 w 1553470"/>
                  <a:gd name="connsiteY6" fmla="*/ 1020329 h 1430790"/>
                  <a:gd name="connsiteX7" fmla="*/ 0 w 1553470"/>
                  <a:gd name="connsiteY7" fmla="*/ 48504 h 1430790"/>
                  <a:gd name="connsiteX8" fmla="*/ 47201 w 1553470"/>
                  <a:gd name="connsiteY8" fmla="*/ 0 h 1430790"/>
                  <a:gd name="connsiteX0" fmla="*/ 47201 w 1549253"/>
                  <a:gd name="connsiteY0" fmla="*/ 0 h 1430790"/>
                  <a:gd name="connsiteX1" fmla="*/ 1549100 w 1549253"/>
                  <a:gd name="connsiteY1" fmla="*/ 869141 h 1430790"/>
                  <a:gd name="connsiteX2" fmla="*/ 1517788 w 1549253"/>
                  <a:gd name="connsiteY2" fmla="*/ 946141 h 1430790"/>
                  <a:gd name="connsiteX3" fmla="*/ 684279 w 1549253"/>
                  <a:gd name="connsiteY3" fmla="*/ 1415314 h 1430790"/>
                  <a:gd name="connsiteX4" fmla="*/ 587513 w 1549253"/>
                  <a:gd name="connsiteY4" fmla="*/ 1423404 h 1430790"/>
                  <a:gd name="connsiteX5" fmla="*/ 52742 w 1549253"/>
                  <a:gd name="connsiteY5" fmla="*/ 1110817 h 1430790"/>
                  <a:gd name="connsiteX6" fmla="*/ 0 w 1549253"/>
                  <a:gd name="connsiteY6" fmla="*/ 1020329 h 1430790"/>
                  <a:gd name="connsiteX7" fmla="*/ 0 w 1549253"/>
                  <a:gd name="connsiteY7" fmla="*/ 48504 h 1430790"/>
                  <a:gd name="connsiteX8" fmla="*/ 47201 w 1549253"/>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3838"/>
                  <a:gd name="connsiteX1" fmla="*/ 1540606 w 1540886"/>
                  <a:gd name="connsiteY1" fmla="*/ 869141 h 1433838"/>
                  <a:gd name="connsiteX2" fmla="*/ 1517788 w 1540886"/>
                  <a:gd name="connsiteY2" fmla="*/ 946141 h 1433838"/>
                  <a:gd name="connsiteX3" fmla="*/ 684279 w 1540886"/>
                  <a:gd name="connsiteY3" fmla="*/ 1415314 h 1433838"/>
                  <a:gd name="connsiteX4" fmla="*/ 587513 w 1540886"/>
                  <a:gd name="connsiteY4" fmla="*/ 1423404 h 1433838"/>
                  <a:gd name="connsiteX5" fmla="*/ 52742 w 1540886"/>
                  <a:gd name="connsiteY5" fmla="*/ 1110817 h 1433838"/>
                  <a:gd name="connsiteX6" fmla="*/ 0 w 1540886"/>
                  <a:gd name="connsiteY6" fmla="*/ 1020329 h 1433838"/>
                  <a:gd name="connsiteX7" fmla="*/ 0 w 1540886"/>
                  <a:gd name="connsiteY7" fmla="*/ 48504 h 1433838"/>
                  <a:gd name="connsiteX8" fmla="*/ 47201 w 1540886"/>
                  <a:gd name="connsiteY8" fmla="*/ 0 h 1433838"/>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2227"/>
                  <a:gd name="connsiteY0" fmla="*/ 0 h 1435712"/>
                  <a:gd name="connsiteX1" fmla="*/ 1540606 w 1542227"/>
                  <a:gd name="connsiteY1" fmla="*/ 869141 h 1435712"/>
                  <a:gd name="connsiteX2" fmla="*/ 1517788 w 1542227"/>
                  <a:gd name="connsiteY2" fmla="*/ 946141 h 1435712"/>
                  <a:gd name="connsiteX3" fmla="*/ 684279 w 1542227"/>
                  <a:gd name="connsiteY3" fmla="*/ 1415314 h 1435712"/>
                  <a:gd name="connsiteX4" fmla="*/ 587513 w 1542227"/>
                  <a:gd name="connsiteY4" fmla="*/ 1423404 h 1435712"/>
                  <a:gd name="connsiteX5" fmla="*/ 52742 w 1542227"/>
                  <a:gd name="connsiteY5" fmla="*/ 1110817 h 1435712"/>
                  <a:gd name="connsiteX6" fmla="*/ 0 w 1542227"/>
                  <a:gd name="connsiteY6" fmla="*/ 1020329 h 1435712"/>
                  <a:gd name="connsiteX7" fmla="*/ 0 w 1542227"/>
                  <a:gd name="connsiteY7" fmla="*/ 48504 h 1435712"/>
                  <a:gd name="connsiteX8" fmla="*/ 47201 w 1542227"/>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0282"/>
                  <a:gd name="connsiteX1" fmla="*/ 1540606 w 1542411"/>
                  <a:gd name="connsiteY1" fmla="*/ 869141 h 1430282"/>
                  <a:gd name="connsiteX2" fmla="*/ 1517788 w 1542411"/>
                  <a:gd name="connsiteY2" fmla="*/ 946141 h 1430282"/>
                  <a:gd name="connsiteX3" fmla="*/ 684279 w 1542411"/>
                  <a:gd name="connsiteY3" fmla="*/ 1415314 h 1430282"/>
                  <a:gd name="connsiteX4" fmla="*/ 585390 w 1542411"/>
                  <a:gd name="connsiteY4" fmla="*/ 1414911 h 1430282"/>
                  <a:gd name="connsiteX5" fmla="*/ 52742 w 1542411"/>
                  <a:gd name="connsiteY5" fmla="*/ 1110817 h 1430282"/>
                  <a:gd name="connsiteX6" fmla="*/ 0 w 1542411"/>
                  <a:gd name="connsiteY6" fmla="*/ 1020329 h 1430282"/>
                  <a:gd name="connsiteX7" fmla="*/ 0 w 1542411"/>
                  <a:gd name="connsiteY7" fmla="*/ 48504 h 1430282"/>
                  <a:gd name="connsiteX8" fmla="*/ 47201 w 1542411"/>
                  <a:gd name="connsiteY8" fmla="*/ 0 h 1430282"/>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3202"/>
                  <a:gd name="connsiteY0" fmla="*/ 0 h 1431536"/>
                  <a:gd name="connsiteX1" fmla="*/ 1540606 w 1543202"/>
                  <a:gd name="connsiteY1" fmla="*/ 869141 h 1431536"/>
                  <a:gd name="connsiteX2" fmla="*/ 1517788 w 1543202"/>
                  <a:gd name="connsiteY2" fmla="*/ 946141 h 1431536"/>
                  <a:gd name="connsiteX3" fmla="*/ 684279 w 1543202"/>
                  <a:gd name="connsiteY3" fmla="*/ 1415314 h 1431536"/>
                  <a:gd name="connsiteX4" fmla="*/ 583267 w 1543202"/>
                  <a:gd name="connsiteY4" fmla="*/ 1417035 h 1431536"/>
                  <a:gd name="connsiteX5" fmla="*/ 52742 w 1543202"/>
                  <a:gd name="connsiteY5" fmla="*/ 1110817 h 1431536"/>
                  <a:gd name="connsiteX6" fmla="*/ 0 w 1543202"/>
                  <a:gd name="connsiteY6" fmla="*/ 1020329 h 1431536"/>
                  <a:gd name="connsiteX7" fmla="*/ 0 w 1543202"/>
                  <a:gd name="connsiteY7" fmla="*/ 48504 h 1431536"/>
                  <a:gd name="connsiteX8" fmla="*/ 47201 w 1543202"/>
                  <a:gd name="connsiteY8" fmla="*/ 0 h 14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202" h="1431536">
                    <a:moveTo>
                      <a:pt x="47201" y="0"/>
                    </a:moveTo>
                    <a:cubicBezTo>
                      <a:pt x="664672" y="71314"/>
                      <a:pt x="1074652" y="245403"/>
                      <a:pt x="1540606" y="869141"/>
                    </a:cubicBezTo>
                    <a:cubicBezTo>
                      <a:pt x="1546779" y="893358"/>
                      <a:pt x="1542993" y="927242"/>
                      <a:pt x="1517788" y="946141"/>
                    </a:cubicBezTo>
                    <a:lnTo>
                      <a:pt x="684279" y="1415314"/>
                    </a:lnTo>
                    <a:cubicBezTo>
                      <a:pt x="659035" y="1430938"/>
                      <a:pt x="617865" y="1441473"/>
                      <a:pt x="583267" y="1417035"/>
                    </a:cubicBezTo>
                    <a:cubicBezTo>
                      <a:pt x="444381" y="1243713"/>
                      <a:pt x="279841" y="1143471"/>
                      <a:pt x="52742" y="1110817"/>
                    </a:cubicBezTo>
                    <a:cubicBezTo>
                      <a:pt x="19624" y="1095860"/>
                      <a:pt x="196" y="1063473"/>
                      <a:pt x="0" y="1020329"/>
                    </a:cubicBezTo>
                    <a:lnTo>
                      <a:pt x="0" y="48504"/>
                    </a:lnTo>
                    <a:cubicBezTo>
                      <a:pt x="6561" y="22673"/>
                      <a:pt x="22730" y="5005"/>
                      <a:pt x="47201" y="0"/>
                    </a:cubicBezTo>
                    <a:close/>
                  </a:path>
                </a:pathLst>
              </a:custGeom>
              <a:solidFill>
                <a:schemeClr val="accent3"/>
              </a:solidFill>
              <a:ln w="1270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000">
                  <a:latin typeface="+mj-lt"/>
                </a:endParaRPr>
              </a:p>
            </p:txBody>
          </p:sp>
          <p:sp>
            <p:nvSpPr>
              <p:cNvPr id="73" name="Freeform 8">
                <a:extLst>
                  <a:ext uri="{FF2B5EF4-FFF2-40B4-BE49-F238E27FC236}">
                    <a16:creationId xmlns:a16="http://schemas.microsoft.com/office/drawing/2014/main" id="{9C76F41A-B627-4B98-8E04-BBBDDA5E1665}"/>
                  </a:ext>
                </a:extLst>
              </p:cNvPr>
              <p:cNvSpPr>
                <a:spLocks/>
              </p:cNvSpPr>
              <p:nvPr/>
            </p:nvSpPr>
            <p:spPr bwMode="auto">
              <a:xfrm flipV="1">
                <a:off x="1853670" y="3147725"/>
                <a:ext cx="1044267" cy="968703"/>
              </a:xfrm>
              <a:custGeom>
                <a:avLst/>
                <a:gdLst>
                  <a:gd name="connsiteX0" fmla="*/ 47201 w 1608834"/>
                  <a:gd name="connsiteY0" fmla="*/ 0 h 1504504"/>
                  <a:gd name="connsiteX1" fmla="*/ 1608554 w 1608834"/>
                  <a:gd name="connsiteY1" fmla="*/ 1140939 h 1504504"/>
                  <a:gd name="connsiteX2" fmla="*/ 1585737 w 1608834"/>
                  <a:gd name="connsiteY2" fmla="*/ 1188211 h 1504504"/>
                  <a:gd name="connsiteX3" fmla="*/ 612083 w 1608834"/>
                  <a:gd name="connsiteY3" fmla="*/ 1504498 h 1504504"/>
                  <a:gd name="connsiteX4" fmla="*/ 587513 w 1608834"/>
                  <a:gd name="connsiteY4" fmla="*/ 1423404 h 1504504"/>
                  <a:gd name="connsiteX5" fmla="*/ 52742 w 1608834"/>
                  <a:gd name="connsiteY5" fmla="*/ 1110817 h 1504504"/>
                  <a:gd name="connsiteX6" fmla="*/ 0 w 1608834"/>
                  <a:gd name="connsiteY6" fmla="*/ 1020329 h 1504504"/>
                  <a:gd name="connsiteX7" fmla="*/ 0 w 1608834"/>
                  <a:gd name="connsiteY7" fmla="*/ 48504 h 1504504"/>
                  <a:gd name="connsiteX8" fmla="*/ 47201 w 1608834"/>
                  <a:gd name="connsiteY8" fmla="*/ 0 h 1504504"/>
                  <a:gd name="connsiteX0" fmla="*/ 47201 w 1608834"/>
                  <a:gd name="connsiteY0" fmla="*/ 0 h 1430790"/>
                  <a:gd name="connsiteX1" fmla="*/ 1608554 w 1608834"/>
                  <a:gd name="connsiteY1" fmla="*/ 1140939 h 1430790"/>
                  <a:gd name="connsiteX2" fmla="*/ 1585737 w 1608834"/>
                  <a:gd name="connsiteY2" fmla="*/ 1188211 h 1430790"/>
                  <a:gd name="connsiteX3" fmla="*/ 684279 w 1608834"/>
                  <a:gd name="connsiteY3" fmla="*/ 1415314 h 1430790"/>
                  <a:gd name="connsiteX4" fmla="*/ 587513 w 1608834"/>
                  <a:gd name="connsiteY4" fmla="*/ 1423404 h 1430790"/>
                  <a:gd name="connsiteX5" fmla="*/ 52742 w 1608834"/>
                  <a:gd name="connsiteY5" fmla="*/ 1110817 h 1430790"/>
                  <a:gd name="connsiteX6" fmla="*/ 0 w 1608834"/>
                  <a:gd name="connsiteY6" fmla="*/ 1020329 h 1430790"/>
                  <a:gd name="connsiteX7" fmla="*/ 0 w 1608834"/>
                  <a:gd name="connsiteY7" fmla="*/ 48504 h 1430790"/>
                  <a:gd name="connsiteX8" fmla="*/ 47201 w 1608834"/>
                  <a:gd name="connsiteY8" fmla="*/ 0 h 1430790"/>
                  <a:gd name="connsiteX0" fmla="*/ 47201 w 1589313"/>
                  <a:gd name="connsiteY0" fmla="*/ 0 h 1430790"/>
                  <a:gd name="connsiteX1" fmla="*/ 1553346 w 1589313"/>
                  <a:gd name="connsiteY1" fmla="*/ 873388 h 1430790"/>
                  <a:gd name="connsiteX2" fmla="*/ 1585737 w 1589313"/>
                  <a:gd name="connsiteY2" fmla="*/ 1188211 h 1430790"/>
                  <a:gd name="connsiteX3" fmla="*/ 684279 w 1589313"/>
                  <a:gd name="connsiteY3" fmla="*/ 1415314 h 1430790"/>
                  <a:gd name="connsiteX4" fmla="*/ 587513 w 1589313"/>
                  <a:gd name="connsiteY4" fmla="*/ 1423404 h 1430790"/>
                  <a:gd name="connsiteX5" fmla="*/ 52742 w 1589313"/>
                  <a:gd name="connsiteY5" fmla="*/ 1110817 h 1430790"/>
                  <a:gd name="connsiteX6" fmla="*/ 0 w 1589313"/>
                  <a:gd name="connsiteY6" fmla="*/ 1020329 h 1430790"/>
                  <a:gd name="connsiteX7" fmla="*/ 0 w 1589313"/>
                  <a:gd name="connsiteY7" fmla="*/ 48504 h 1430790"/>
                  <a:gd name="connsiteX8" fmla="*/ 47201 w 1589313"/>
                  <a:gd name="connsiteY8" fmla="*/ 0 h 1430790"/>
                  <a:gd name="connsiteX0" fmla="*/ 47201 w 1553470"/>
                  <a:gd name="connsiteY0" fmla="*/ 0 h 1430790"/>
                  <a:gd name="connsiteX1" fmla="*/ 1553346 w 1553470"/>
                  <a:gd name="connsiteY1" fmla="*/ 873388 h 1430790"/>
                  <a:gd name="connsiteX2" fmla="*/ 1517788 w 1553470"/>
                  <a:gd name="connsiteY2" fmla="*/ 946141 h 1430790"/>
                  <a:gd name="connsiteX3" fmla="*/ 684279 w 1553470"/>
                  <a:gd name="connsiteY3" fmla="*/ 1415314 h 1430790"/>
                  <a:gd name="connsiteX4" fmla="*/ 587513 w 1553470"/>
                  <a:gd name="connsiteY4" fmla="*/ 1423404 h 1430790"/>
                  <a:gd name="connsiteX5" fmla="*/ 52742 w 1553470"/>
                  <a:gd name="connsiteY5" fmla="*/ 1110817 h 1430790"/>
                  <a:gd name="connsiteX6" fmla="*/ 0 w 1553470"/>
                  <a:gd name="connsiteY6" fmla="*/ 1020329 h 1430790"/>
                  <a:gd name="connsiteX7" fmla="*/ 0 w 1553470"/>
                  <a:gd name="connsiteY7" fmla="*/ 48504 h 1430790"/>
                  <a:gd name="connsiteX8" fmla="*/ 47201 w 1553470"/>
                  <a:gd name="connsiteY8" fmla="*/ 0 h 1430790"/>
                  <a:gd name="connsiteX0" fmla="*/ 47201 w 1549253"/>
                  <a:gd name="connsiteY0" fmla="*/ 0 h 1430790"/>
                  <a:gd name="connsiteX1" fmla="*/ 1549100 w 1549253"/>
                  <a:gd name="connsiteY1" fmla="*/ 869141 h 1430790"/>
                  <a:gd name="connsiteX2" fmla="*/ 1517788 w 1549253"/>
                  <a:gd name="connsiteY2" fmla="*/ 946141 h 1430790"/>
                  <a:gd name="connsiteX3" fmla="*/ 684279 w 1549253"/>
                  <a:gd name="connsiteY3" fmla="*/ 1415314 h 1430790"/>
                  <a:gd name="connsiteX4" fmla="*/ 587513 w 1549253"/>
                  <a:gd name="connsiteY4" fmla="*/ 1423404 h 1430790"/>
                  <a:gd name="connsiteX5" fmla="*/ 52742 w 1549253"/>
                  <a:gd name="connsiteY5" fmla="*/ 1110817 h 1430790"/>
                  <a:gd name="connsiteX6" fmla="*/ 0 w 1549253"/>
                  <a:gd name="connsiteY6" fmla="*/ 1020329 h 1430790"/>
                  <a:gd name="connsiteX7" fmla="*/ 0 w 1549253"/>
                  <a:gd name="connsiteY7" fmla="*/ 48504 h 1430790"/>
                  <a:gd name="connsiteX8" fmla="*/ 47201 w 1549253"/>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3838"/>
                  <a:gd name="connsiteX1" fmla="*/ 1540606 w 1540886"/>
                  <a:gd name="connsiteY1" fmla="*/ 869141 h 1433838"/>
                  <a:gd name="connsiteX2" fmla="*/ 1517788 w 1540886"/>
                  <a:gd name="connsiteY2" fmla="*/ 946141 h 1433838"/>
                  <a:gd name="connsiteX3" fmla="*/ 684279 w 1540886"/>
                  <a:gd name="connsiteY3" fmla="*/ 1415314 h 1433838"/>
                  <a:gd name="connsiteX4" fmla="*/ 587513 w 1540886"/>
                  <a:gd name="connsiteY4" fmla="*/ 1423404 h 1433838"/>
                  <a:gd name="connsiteX5" fmla="*/ 52742 w 1540886"/>
                  <a:gd name="connsiteY5" fmla="*/ 1110817 h 1433838"/>
                  <a:gd name="connsiteX6" fmla="*/ 0 w 1540886"/>
                  <a:gd name="connsiteY6" fmla="*/ 1020329 h 1433838"/>
                  <a:gd name="connsiteX7" fmla="*/ 0 w 1540886"/>
                  <a:gd name="connsiteY7" fmla="*/ 48504 h 1433838"/>
                  <a:gd name="connsiteX8" fmla="*/ 47201 w 1540886"/>
                  <a:gd name="connsiteY8" fmla="*/ 0 h 1433838"/>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2227"/>
                  <a:gd name="connsiteY0" fmla="*/ 0 h 1435712"/>
                  <a:gd name="connsiteX1" fmla="*/ 1540606 w 1542227"/>
                  <a:gd name="connsiteY1" fmla="*/ 869141 h 1435712"/>
                  <a:gd name="connsiteX2" fmla="*/ 1517788 w 1542227"/>
                  <a:gd name="connsiteY2" fmla="*/ 946141 h 1435712"/>
                  <a:gd name="connsiteX3" fmla="*/ 684279 w 1542227"/>
                  <a:gd name="connsiteY3" fmla="*/ 1415314 h 1435712"/>
                  <a:gd name="connsiteX4" fmla="*/ 587513 w 1542227"/>
                  <a:gd name="connsiteY4" fmla="*/ 1423404 h 1435712"/>
                  <a:gd name="connsiteX5" fmla="*/ 52742 w 1542227"/>
                  <a:gd name="connsiteY5" fmla="*/ 1110817 h 1435712"/>
                  <a:gd name="connsiteX6" fmla="*/ 0 w 1542227"/>
                  <a:gd name="connsiteY6" fmla="*/ 1020329 h 1435712"/>
                  <a:gd name="connsiteX7" fmla="*/ 0 w 1542227"/>
                  <a:gd name="connsiteY7" fmla="*/ 48504 h 1435712"/>
                  <a:gd name="connsiteX8" fmla="*/ 47201 w 1542227"/>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0282"/>
                  <a:gd name="connsiteX1" fmla="*/ 1540606 w 1542411"/>
                  <a:gd name="connsiteY1" fmla="*/ 869141 h 1430282"/>
                  <a:gd name="connsiteX2" fmla="*/ 1517788 w 1542411"/>
                  <a:gd name="connsiteY2" fmla="*/ 946141 h 1430282"/>
                  <a:gd name="connsiteX3" fmla="*/ 684279 w 1542411"/>
                  <a:gd name="connsiteY3" fmla="*/ 1415314 h 1430282"/>
                  <a:gd name="connsiteX4" fmla="*/ 585390 w 1542411"/>
                  <a:gd name="connsiteY4" fmla="*/ 1414911 h 1430282"/>
                  <a:gd name="connsiteX5" fmla="*/ 52742 w 1542411"/>
                  <a:gd name="connsiteY5" fmla="*/ 1110817 h 1430282"/>
                  <a:gd name="connsiteX6" fmla="*/ 0 w 1542411"/>
                  <a:gd name="connsiteY6" fmla="*/ 1020329 h 1430282"/>
                  <a:gd name="connsiteX7" fmla="*/ 0 w 1542411"/>
                  <a:gd name="connsiteY7" fmla="*/ 48504 h 1430282"/>
                  <a:gd name="connsiteX8" fmla="*/ 47201 w 1542411"/>
                  <a:gd name="connsiteY8" fmla="*/ 0 h 1430282"/>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3202"/>
                  <a:gd name="connsiteY0" fmla="*/ 0 h 1431536"/>
                  <a:gd name="connsiteX1" fmla="*/ 1540606 w 1543202"/>
                  <a:gd name="connsiteY1" fmla="*/ 869141 h 1431536"/>
                  <a:gd name="connsiteX2" fmla="*/ 1517788 w 1543202"/>
                  <a:gd name="connsiteY2" fmla="*/ 946141 h 1431536"/>
                  <a:gd name="connsiteX3" fmla="*/ 684279 w 1543202"/>
                  <a:gd name="connsiteY3" fmla="*/ 1415314 h 1431536"/>
                  <a:gd name="connsiteX4" fmla="*/ 583267 w 1543202"/>
                  <a:gd name="connsiteY4" fmla="*/ 1417035 h 1431536"/>
                  <a:gd name="connsiteX5" fmla="*/ 52742 w 1543202"/>
                  <a:gd name="connsiteY5" fmla="*/ 1110817 h 1431536"/>
                  <a:gd name="connsiteX6" fmla="*/ 0 w 1543202"/>
                  <a:gd name="connsiteY6" fmla="*/ 1020329 h 1431536"/>
                  <a:gd name="connsiteX7" fmla="*/ 0 w 1543202"/>
                  <a:gd name="connsiteY7" fmla="*/ 48504 h 1431536"/>
                  <a:gd name="connsiteX8" fmla="*/ 47201 w 1543202"/>
                  <a:gd name="connsiteY8" fmla="*/ 0 h 14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202" h="1431536">
                    <a:moveTo>
                      <a:pt x="47201" y="0"/>
                    </a:moveTo>
                    <a:cubicBezTo>
                      <a:pt x="664672" y="71314"/>
                      <a:pt x="1074652" y="245403"/>
                      <a:pt x="1540606" y="869141"/>
                    </a:cubicBezTo>
                    <a:cubicBezTo>
                      <a:pt x="1546779" y="893358"/>
                      <a:pt x="1542993" y="927242"/>
                      <a:pt x="1517788" y="946141"/>
                    </a:cubicBezTo>
                    <a:lnTo>
                      <a:pt x="684279" y="1415314"/>
                    </a:lnTo>
                    <a:cubicBezTo>
                      <a:pt x="659035" y="1430938"/>
                      <a:pt x="617865" y="1441473"/>
                      <a:pt x="583267" y="1417035"/>
                    </a:cubicBezTo>
                    <a:cubicBezTo>
                      <a:pt x="444381" y="1243713"/>
                      <a:pt x="279841" y="1143471"/>
                      <a:pt x="52742" y="1110817"/>
                    </a:cubicBezTo>
                    <a:cubicBezTo>
                      <a:pt x="19624" y="1095860"/>
                      <a:pt x="196" y="1063473"/>
                      <a:pt x="0" y="1020329"/>
                    </a:cubicBezTo>
                    <a:lnTo>
                      <a:pt x="0" y="48504"/>
                    </a:lnTo>
                    <a:cubicBezTo>
                      <a:pt x="6561" y="22673"/>
                      <a:pt x="22730" y="5005"/>
                      <a:pt x="47201" y="0"/>
                    </a:cubicBezTo>
                    <a:close/>
                  </a:path>
                </a:pathLst>
              </a:custGeom>
              <a:solidFill>
                <a:schemeClr val="accent1">
                  <a:lumMod val="50000"/>
                </a:schemeClr>
              </a:solidFill>
              <a:ln w="1270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000">
                  <a:latin typeface="+mj-lt"/>
                </a:endParaRPr>
              </a:p>
            </p:txBody>
          </p:sp>
          <p:sp>
            <p:nvSpPr>
              <p:cNvPr id="74" name="Freeform 8">
                <a:extLst>
                  <a:ext uri="{FF2B5EF4-FFF2-40B4-BE49-F238E27FC236}">
                    <a16:creationId xmlns:a16="http://schemas.microsoft.com/office/drawing/2014/main" id="{F500C932-06F7-4AE9-B5E6-0B02755972CB}"/>
                  </a:ext>
                </a:extLst>
              </p:cNvPr>
              <p:cNvSpPr>
                <a:spLocks/>
              </p:cNvSpPr>
              <p:nvPr/>
            </p:nvSpPr>
            <p:spPr bwMode="auto">
              <a:xfrm flipH="1">
                <a:off x="704156" y="1478632"/>
                <a:ext cx="1044267" cy="968703"/>
              </a:xfrm>
              <a:custGeom>
                <a:avLst/>
                <a:gdLst>
                  <a:gd name="connsiteX0" fmla="*/ 47201 w 1608834"/>
                  <a:gd name="connsiteY0" fmla="*/ 0 h 1504504"/>
                  <a:gd name="connsiteX1" fmla="*/ 1608554 w 1608834"/>
                  <a:gd name="connsiteY1" fmla="*/ 1140939 h 1504504"/>
                  <a:gd name="connsiteX2" fmla="*/ 1585737 w 1608834"/>
                  <a:gd name="connsiteY2" fmla="*/ 1188211 h 1504504"/>
                  <a:gd name="connsiteX3" fmla="*/ 612083 w 1608834"/>
                  <a:gd name="connsiteY3" fmla="*/ 1504498 h 1504504"/>
                  <a:gd name="connsiteX4" fmla="*/ 587513 w 1608834"/>
                  <a:gd name="connsiteY4" fmla="*/ 1423404 h 1504504"/>
                  <a:gd name="connsiteX5" fmla="*/ 52742 w 1608834"/>
                  <a:gd name="connsiteY5" fmla="*/ 1110817 h 1504504"/>
                  <a:gd name="connsiteX6" fmla="*/ 0 w 1608834"/>
                  <a:gd name="connsiteY6" fmla="*/ 1020329 h 1504504"/>
                  <a:gd name="connsiteX7" fmla="*/ 0 w 1608834"/>
                  <a:gd name="connsiteY7" fmla="*/ 48504 h 1504504"/>
                  <a:gd name="connsiteX8" fmla="*/ 47201 w 1608834"/>
                  <a:gd name="connsiteY8" fmla="*/ 0 h 1504504"/>
                  <a:gd name="connsiteX0" fmla="*/ 47201 w 1608834"/>
                  <a:gd name="connsiteY0" fmla="*/ 0 h 1430790"/>
                  <a:gd name="connsiteX1" fmla="*/ 1608554 w 1608834"/>
                  <a:gd name="connsiteY1" fmla="*/ 1140939 h 1430790"/>
                  <a:gd name="connsiteX2" fmla="*/ 1585737 w 1608834"/>
                  <a:gd name="connsiteY2" fmla="*/ 1188211 h 1430790"/>
                  <a:gd name="connsiteX3" fmla="*/ 684279 w 1608834"/>
                  <a:gd name="connsiteY3" fmla="*/ 1415314 h 1430790"/>
                  <a:gd name="connsiteX4" fmla="*/ 587513 w 1608834"/>
                  <a:gd name="connsiteY4" fmla="*/ 1423404 h 1430790"/>
                  <a:gd name="connsiteX5" fmla="*/ 52742 w 1608834"/>
                  <a:gd name="connsiteY5" fmla="*/ 1110817 h 1430790"/>
                  <a:gd name="connsiteX6" fmla="*/ 0 w 1608834"/>
                  <a:gd name="connsiteY6" fmla="*/ 1020329 h 1430790"/>
                  <a:gd name="connsiteX7" fmla="*/ 0 w 1608834"/>
                  <a:gd name="connsiteY7" fmla="*/ 48504 h 1430790"/>
                  <a:gd name="connsiteX8" fmla="*/ 47201 w 1608834"/>
                  <a:gd name="connsiteY8" fmla="*/ 0 h 1430790"/>
                  <a:gd name="connsiteX0" fmla="*/ 47201 w 1589313"/>
                  <a:gd name="connsiteY0" fmla="*/ 0 h 1430790"/>
                  <a:gd name="connsiteX1" fmla="*/ 1553346 w 1589313"/>
                  <a:gd name="connsiteY1" fmla="*/ 873388 h 1430790"/>
                  <a:gd name="connsiteX2" fmla="*/ 1585737 w 1589313"/>
                  <a:gd name="connsiteY2" fmla="*/ 1188211 h 1430790"/>
                  <a:gd name="connsiteX3" fmla="*/ 684279 w 1589313"/>
                  <a:gd name="connsiteY3" fmla="*/ 1415314 h 1430790"/>
                  <a:gd name="connsiteX4" fmla="*/ 587513 w 1589313"/>
                  <a:gd name="connsiteY4" fmla="*/ 1423404 h 1430790"/>
                  <a:gd name="connsiteX5" fmla="*/ 52742 w 1589313"/>
                  <a:gd name="connsiteY5" fmla="*/ 1110817 h 1430790"/>
                  <a:gd name="connsiteX6" fmla="*/ 0 w 1589313"/>
                  <a:gd name="connsiteY6" fmla="*/ 1020329 h 1430790"/>
                  <a:gd name="connsiteX7" fmla="*/ 0 w 1589313"/>
                  <a:gd name="connsiteY7" fmla="*/ 48504 h 1430790"/>
                  <a:gd name="connsiteX8" fmla="*/ 47201 w 1589313"/>
                  <a:gd name="connsiteY8" fmla="*/ 0 h 1430790"/>
                  <a:gd name="connsiteX0" fmla="*/ 47201 w 1553470"/>
                  <a:gd name="connsiteY0" fmla="*/ 0 h 1430790"/>
                  <a:gd name="connsiteX1" fmla="*/ 1553346 w 1553470"/>
                  <a:gd name="connsiteY1" fmla="*/ 873388 h 1430790"/>
                  <a:gd name="connsiteX2" fmla="*/ 1517788 w 1553470"/>
                  <a:gd name="connsiteY2" fmla="*/ 946141 h 1430790"/>
                  <a:gd name="connsiteX3" fmla="*/ 684279 w 1553470"/>
                  <a:gd name="connsiteY3" fmla="*/ 1415314 h 1430790"/>
                  <a:gd name="connsiteX4" fmla="*/ 587513 w 1553470"/>
                  <a:gd name="connsiteY4" fmla="*/ 1423404 h 1430790"/>
                  <a:gd name="connsiteX5" fmla="*/ 52742 w 1553470"/>
                  <a:gd name="connsiteY5" fmla="*/ 1110817 h 1430790"/>
                  <a:gd name="connsiteX6" fmla="*/ 0 w 1553470"/>
                  <a:gd name="connsiteY6" fmla="*/ 1020329 h 1430790"/>
                  <a:gd name="connsiteX7" fmla="*/ 0 w 1553470"/>
                  <a:gd name="connsiteY7" fmla="*/ 48504 h 1430790"/>
                  <a:gd name="connsiteX8" fmla="*/ 47201 w 1553470"/>
                  <a:gd name="connsiteY8" fmla="*/ 0 h 1430790"/>
                  <a:gd name="connsiteX0" fmla="*/ 47201 w 1549253"/>
                  <a:gd name="connsiteY0" fmla="*/ 0 h 1430790"/>
                  <a:gd name="connsiteX1" fmla="*/ 1549100 w 1549253"/>
                  <a:gd name="connsiteY1" fmla="*/ 869141 h 1430790"/>
                  <a:gd name="connsiteX2" fmla="*/ 1517788 w 1549253"/>
                  <a:gd name="connsiteY2" fmla="*/ 946141 h 1430790"/>
                  <a:gd name="connsiteX3" fmla="*/ 684279 w 1549253"/>
                  <a:gd name="connsiteY3" fmla="*/ 1415314 h 1430790"/>
                  <a:gd name="connsiteX4" fmla="*/ 587513 w 1549253"/>
                  <a:gd name="connsiteY4" fmla="*/ 1423404 h 1430790"/>
                  <a:gd name="connsiteX5" fmla="*/ 52742 w 1549253"/>
                  <a:gd name="connsiteY5" fmla="*/ 1110817 h 1430790"/>
                  <a:gd name="connsiteX6" fmla="*/ 0 w 1549253"/>
                  <a:gd name="connsiteY6" fmla="*/ 1020329 h 1430790"/>
                  <a:gd name="connsiteX7" fmla="*/ 0 w 1549253"/>
                  <a:gd name="connsiteY7" fmla="*/ 48504 h 1430790"/>
                  <a:gd name="connsiteX8" fmla="*/ 47201 w 1549253"/>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3838"/>
                  <a:gd name="connsiteX1" fmla="*/ 1540606 w 1540886"/>
                  <a:gd name="connsiteY1" fmla="*/ 869141 h 1433838"/>
                  <a:gd name="connsiteX2" fmla="*/ 1517788 w 1540886"/>
                  <a:gd name="connsiteY2" fmla="*/ 946141 h 1433838"/>
                  <a:gd name="connsiteX3" fmla="*/ 684279 w 1540886"/>
                  <a:gd name="connsiteY3" fmla="*/ 1415314 h 1433838"/>
                  <a:gd name="connsiteX4" fmla="*/ 587513 w 1540886"/>
                  <a:gd name="connsiteY4" fmla="*/ 1423404 h 1433838"/>
                  <a:gd name="connsiteX5" fmla="*/ 52742 w 1540886"/>
                  <a:gd name="connsiteY5" fmla="*/ 1110817 h 1433838"/>
                  <a:gd name="connsiteX6" fmla="*/ 0 w 1540886"/>
                  <a:gd name="connsiteY6" fmla="*/ 1020329 h 1433838"/>
                  <a:gd name="connsiteX7" fmla="*/ 0 w 1540886"/>
                  <a:gd name="connsiteY7" fmla="*/ 48504 h 1433838"/>
                  <a:gd name="connsiteX8" fmla="*/ 47201 w 1540886"/>
                  <a:gd name="connsiteY8" fmla="*/ 0 h 1433838"/>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2227"/>
                  <a:gd name="connsiteY0" fmla="*/ 0 h 1435712"/>
                  <a:gd name="connsiteX1" fmla="*/ 1540606 w 1542227"/>
                  <a:gd name="connsiteY1" fmla="*/ 869141 h 1435712"/>
                  <a:gd name="connsiteX2" fmla="*/ 1517788 w 1542227"/>
                  <a:gd name="connsiteY2" fmla="*/ 946141 h 1435712"/>
                  <a:gd name="connsiteX3" fmla="*/ 684279 w 1542227"/>
                  <a:gd name="connsiteY3" fmla="*/ 1415314 h 1435712"/>
                  <a:gd name="connsiteX4" fmla="*/ 587513 w 1542227"/>
                  <a:gd name="connsiteY4" fmla="*/ 1423404 h 1435712"/>
                  <a:gd name="connsiteX5" fmla="*/ 52742 w 1542227"/>
                  <a:gd name="connsiteY5" fmla="*/ 1110817 h 1435712"/>
                  <a:gd name="connsiteX6" fmla="*/ 0 w 1542227"/>
                  <a:gd name="connsiteY6" fmla="*/ 1020329 h 1435712"/>
                  <a:gd name="connsiteX7" fmla="*/ 0 w 1542227"/>
                  <a:gd name="connsiteY7" fmla="*/ 48504 h 1435712"/>
                  <a:gd name="connsiteX8" fmla="*/ 47201 w 1542227"/>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0282"/>
                  <a:gd name="connsiteX1" fmla="*/ 1540606 w 1542411"/>
                  <a:gd name="connsiteY1" fmla="*/ 869141 h 1430282"/>
                  <a:gd name="connsiteX2" fmla="*/ 1517788 w 1542411"/>
                  <a:gd name="connsiteY2" fmla="*/ 946141 h 1430282"/>
                  <a:gd name="connsiteX3" fmla="*/ 684279 w 1542411"/>
                  <a:gd name="connsiteY3" fmla="*/ 1415314 h 1430282"/>
                  <a:gd name="connsiteX4" fmla="*/ 585390 w 1542411"/>
                  <a:gd name="connsiteY4" fmla="*/ 1414911 h 1430282"/>
                  <a:gd name="connsiteX5" fmla="*/ 52742 w 1542411"/>
                  <a:gd name="connsiteY5" fmla="*/ 1110817 h 1430282"/>
                  <a:gd name="connsiteX6" fmla="*/ 0 w 1542411"/>
                  <a:gd name="connsiteY6" fmla="*/ 1020329 h 1430282"/>
                  <a:gd name="connsiteX7" fmla="*/ 0 w 1542411"/>
                  <a:gd name="connsiteY7" fmla="*/ 48504 h 1430282"/>
                  <a:gd name="connsiteX8" fmla="*/ 47201 w 1542411"/>
                  <a:gd name="connsiteY8" fmla="*/ 0 h 1430282"/>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3202"/>
                  <a:gd name="connsiteY0" fmla="*/ 0 h 1431536"/>
                  <a:gd name="connsiteX1" fmla="*/ 1540606 w 1543202"/>
                  <a:gd name="connsiteY1" fmla="*/ 869141 h 1431536"/>
                  <a:gd name="connsiteX2" fmla="*/ 1517788 w 1543202"/>
                  <a:gd name="connsiteY2" fmla="*/ 946141 h 1431536"/>
                  <a:gd name="connsiteX3" fmla="*/ 684279 w 1543202"/>
                  <a:gd name="connsiteY3" fmla="*/ 1415314 h 1431536"/>
                  <a:gd name="connsiteX4" fmla="*/ 583267 w 1543202"/>
                  <a:gd name="connsiteY4" fmla="*/ 1417035 h 1431536"/>
                  <a:gd name="connsiteX5" fmla="*/ 52742 w 1543202"/>
                  <a:gd name="connsiteY5" fmla="*/ 1110817 h 1431536"/>
                  <a:gd name="connsiteX6" fmla="*/ 0 w 1543202"/>
                  <a:gd name="connsiteY6" fmla="*/ 1020329 h 1431536"/>
                  <a:gd name="connsiteX7" fmla="*/ 0 w 1543202"/>
                  <a:gd name="connsiteY7" fmla="*/ 48504 h 1431536"/>
                  <a:gd name="connsiteX8" fmla="*/ 47201 w 1543202"/>
                  <a:gd name="connsiteY8" fmla="*/ 0 h 14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202" h="1431536">
                    <a:moveTo>
                      <a:pt x="47201" y="0"/>
                    </a:moveTo>
                    <a:cubicBezTo>
                      <a:pt x="664672" y="71314"/>
                      <a:pt x="1074652" y="245403"/>
                      <a:pt x="1540606" y="869141"/>
                    </a:cubicBezTo>
                    <a:cubicBezTo>
                      <a:pt x="1546779" y="893358"/>
                      <a:pt x="1542993" y="927242"/>
                      <a:pt x="1517788" y="946141"/>
                    </a:cubicBezTo>
                    <a:lnTo>
                      <a:pt x="684279" y="1415314"/>
                    </a:lnTo>
                    <a:cubicBezTo>
                      <a:pt x="659035" y="1430938"/>
                      <a:pt x="617865" y="1441473"/>
                      <a:pt x="583267" y="1417035"/>
                    </a:cubicBezTo>
                    <a:cubicBezTo>
                      <a:pt x="444381" y="1243713"/>
                      <a:pt x="279841" y="1143471"/>
                      <a:pt x="52742" y="1110817"/>
                    </a:cubicBezTo>
                    <a:cubicBezTo>
                      <a:pt x="19624" y="1095860"/>
                      <a:pt x="196" y="1063473"/>
                      <a:pt x="0" y="1020329"/>
                    </a:cubicBezTo>
                    <a:lnTo>
                      <a:pt x="0" y="48504"/>
                    </a:lnTo>
                    <a:cubicBezTo>
                      <a:pt x="6561" y="22673"/>
                      <a:pt x="22730" y="5005"/>
                      <a:pt x="47201" y="0"/>
                    </a:cubicBezTo>
                    <a:close/>
                  </a:path>
                </a:pathLst>
              </a:custGeom>
              <a:solidFill>
                <a:schemeClr val="accent6"/>
              </a:solidFill>
              <a:ln w="1270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000">
                  <a:latin typeface="+mj-lt"/>
                </a:endParaRPr>
              </a:p>
            </p:txBody>
          </p:sp>
          <p:sp>
            <p:nvSpPr>
              <p:cNvPr id="75" name="Freeform 8">
                <a:extLst>
                  <a:ext uri="{FF2B5EF4-FFF2-40B4-BE49-F238E27FC236}">
                    <a16:creationId xmlns:a16="http://schemas.microsoft.com/office/drawing/2014/main" id="{4DFE065F-730A-4DD1-A8AF-58BA304747B0}"/>
                  </a:ext>
                </a:extLst>
              </p:cNvPr>
              <p:cNvSpPr>
                <a:spLocks/>
              </p:cNvSpPr>
              <p:nvPr/>
            </p:nvSpPr>
            <p:spPr bwMode="auto">
              <a:xfrm flipH="1" flipV="1">
                <a:off x="704156" y="3147725"/>
                <a:ext cx="1044267" cy="968703"/>
              </a:xfrm>
              <a:custGeom>
                <a:avLst/>
                <a:gdLst>
                  <a:gd name="connsiteX0" fmla="*/ 47201 w 1608834"/>
                  <a:gd name="connsiteY0" fmla="*/ 0 h 1504504"/>
                  <a:gd name="connsiteX1" fmla="*/ 1608554 w 1608834"/>
                  <a:gd name="connsiteY1" fmla="*/ 1140939 h 1504504"/>
                  <a:gd name="connsiteX2" fmla="*/ 1585737 w 1608834"/>
                  <a:gd name="connsiteY2" fmla="*/ 1188211 h 1504504"/>
                  <a:gd name="connsiteX3" fmla="*/ 612083 w 1608834"/>
                  <a:gd name="connsiteY3" fmla="*/ 1504498 h 1504504"/>
                  <a:gd name="connsiteX4" fmla="*/ 587513 w 1608834"/>
                  <a:gd name="connsiteY4" fmla="*/ 1423404 h 1504504"/>
                  <a:gd name="connsiteX5" fmla="*/ 52742 w 1608834"/>
                  <a:gd name="connsiteY5" fmla="*/ 1110817 h 1504504"/>
                  <a:gd name="connsiteX6" fmla="*/ 0 w 1608834"/>
                  <a:gd name="connsiteY6" fmla="*/ 1020329 h 1504504"/>
                  <a:gd name="connsiteX7" fmla="*/ 0 w 1608834"/>
                  <a:gd name="connsiteY7" fmla="*/ 48504 h 1504504"/>
                  <a:gd name="connsiteX8" fmla="*/ 47201 w 1608834"/>
                  <a:gd name="connsiteY8" fmla="*/ 0 h 1504504"/>
                  <a:gd name="connsiteX0" fmla="*/ 47201 w 1608834"/>
                  <a:gd name="connsiteY0" fmla="*/ 0 h 1430790"/>
                  <a:gd name="connsiteX1" fmla="*/ 1608554 w 1608834"/>
                  <a:gd name="connsiteY1" fmla="*/ 1140939 h 1430790"/>
                  <a:gd name="connsiteX2" fmla="*/ 1585737 w 1608834"/>
                  <a:gd name="connsiteY2" fmla="*/ 1188211 h 1430790"/>
                  <a:gd name="connsiteX3" fmla="*/ 684279 w 1608834"/>
                  <a:gd name="connsiteY3" fmla="*/ 1415314 h 1430790"/>
                  <a:gd name="connsiteX4" fmla="*/ 587513 w 1608834"/>
                  <a:gd name="connsiteY4" fmla="*/ 1423404 h 1430790"/>
                  <a:gd name="connsiteX5" fmla="*/ 52742 w 1608834"/>
                  <a:gd name="connsiteY5" fmla="*/ 1110817 h 1430790"/>
                  <a:gd name="connsiteX6" fmla="*/ 0 w 1608834"/>
                  <a:gd name="connsiteY6" fmla="*/ 1020329 h 1430790"/>
                  <a:gd name="connsiteX7" fmla="*/ 0 w 1608834"/>
                  <a:gd name="connsiteY7" fmla="*/ 48504 h 1430790"/>
                  <a:gd name="connsiteX8" fmla="*/ 47201 w 1608834"/>
                  <a:gd name="connsiteY8" fmla="*/ 0 h 1430790"/>
                  <a:gd name="connsiteX0" fmla="*/ 47201 w 1589313"/>
                  <a:gd name="connsiteY0" fmla="*/ 0 h 1430790"/>
                  <a:gd name="connsiteX1" fmla="*/ 1553346 w 1589313"/>
                  <a:gd name="connsiteY1" fmla="*/ 873388 h 1430790"/>
                  <a:gd name="connsiteX2" fmla="*/ 1585737 w 1589313"/>
                  <a:gd name="connsiteY2" fmla="*/ 1188211 h 1430790"/>
                  <a:gd name="connsiteX3" fmla="*/ 684279 w 1589313"/>
                  <a:gd name="connsiteY3" fmla="*/ 1415314 h 1430790"/>
                  <a:gd name="connsiteX4" fmla="*/ 587513 w 1589313"/>
                  <a:gd name="connsiteY4" fmla="*/ 1423404 h 1430790"/>
                  <a:gd name="connsiteX5" fmla="*/ 52742 w 1589313"/>
                  <a:gd name="connsiteY5" fmla="*/ 1110817 h 1430790"/>
                  <a:gd name="connsiteX6" fmla="*/ 0 w 1589313"/>
                  <a:gd name="connsiteY6" fmla="*/ 1020329 h 1430790"/>
                  <a:gd name="connsiteX7" fmla="*/ 0 w 1589313"/>
                  <a:gd name="connsiteY7" fmla="*/ 48504 h 1430790"/>
                  <a:gd name="connsiteX8" fmla="*/ 47201 w 1589313"/>
                  <a:gd name="connsiteY8" fmla="*/ 0 h 1430790"/>
                  <a:gd name="connsiteX0" fmla="*/ 47201 w 1553470"/>
                  <a:gd name="connsiteY0" fmla="*/ 0 h 1430790"/>
                  <a:gd name="connsiteX1" fmla="*/ 1553346 w 1553470"/>
                  <a:gd name="connsiteY1" fmla="*/ 873388 h 1430790"/>
                  <a:gd name="connsiteX2" fmla="*/ 1517788 w 1553470"/>
                  <a:gd name="connsiteY2" fmla="*/ 946141 h 1430790"/>
                  <a:gd name="connsiteX3" fmla="*/ 684279 w 1553470"/>
                  <a:gd name="connsiteY3" fmla="*/ 1415314 h 1430790"/>
                  <a:gd name="connsiteX4" fmla="*/ 587513 w 1553470"/>
                  <a:gd name="connsiteY4" fmla="*/ 1423404 h 1430790"/>
                  <a:gd name="connsiteX5" fmla="*/ 52742 w 1553470"/>
                  <a:gd name="connsiteY5" fmla="*/ 1110817 h 1430790"/>
                  <a:gd name="connsiteX6" fmla="*/ 0 w 1553470"/>
                  <a:gd name="connsiteY6" fmla="*/ 1020329 h 1430790"/>
                  <a:gd name="connsiteX7" fmla="*/ 0 w 1553470"/>
                  <a:gd name="connsiteY7" fmla="*/ 48504 h 1430790"/>
                  <a:gd name="connsiteX8" fmla="*/ 47201 w 1553470"/>
                  <a:gd name="connsiteY8" fmla="*/ 0 h 1430790"/>
                  <a:gd name="connsiteX0" fmla="*/ 47201 w 1549253"/>
                  <a:gd name="connsiteY0" fmla="*/ 0 h 1430790"/>
                  <a:gd name="connsiteX1" fmla="*/ 1549100 w 1549253"/>
                  <a:gd name="connsiteY1" fmla="*/ 869141 h 1430790"/>
                  <a:gd name="connsiteX2" fmla="*/ 1517788 w 1549253"/>
                  <a:gd name="connsiteY2" fmla="*/ 946141 h 1430790"/>
                  <a:gd name="connsiteX3" fmla="*/ 684279 w 1549253"/>
                  <a:gd name="connsiteY3" fmla="*/ 1415314 h 1430790"/>
                  <a:gd name="connsiteX4" fmla="*/ 587513 w 1549253"/>
                  <a:gd name="connsiteY4" fmla="*/ 1423404 h 1430790"/>
                  <a:gd name="connsiteX5" fmla="*/ 52742 w 1549253"/>
                  <a:gd name="connsiteY5" fmla="*/ 1110817 h 1430790"/>
                  <a:gd name="connsiteX6" fmla="*/ 0 w 1549253"/>
                  <a:gd name="connsiteY6" fmla="*/ 1020329 h 1430790"/>
                  <a:gd name="connsiteX7" fmla="*/ 0 w 1549253"/>
                  <a:gd name="connsiteY7" fmla="*/ 48504 h 1430790"/>
                  <a:gd name="connsiteX8" fmla="*/ 47201 w 1549253"/>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3838"/>
                  <a:gd name="connsiteX1" fmla="*/ 1540606 w 1540886"/>
                  <a:gd name="connsiteY1" fmla="*/ 869141 h 1433838"/>
                  <a:gd name="connsiteX2" fmla="*/ 1517788 w 1540886"/>
                  <a:gd name="connsiteY2" fmla="*/ 946141 h 1433838"/>
                  <a:gd name="connsiteX3" fmla="*/ 684279 w 1540886"/>
                  <a:gd name="connsiteY3" fmla="*/ 1415314 h 1433838"/>
                  <a:gd name="connsiteX4" fmla="*/ 587513 w 1540886"/>
                  <a:gd name="connsiteY4" fmla="*/ 1423404 h 1433838"/>
                  <a:gd name="connsiteX5" fmla="*/ 52742 w 1540886"/>
                  <a:gd name="connsiteY5" fmla="*/ 1110817 h 1433838"/>
                  <a:gd name="connsiteX6" fmla="*/ 0 w 1540886"/>
                  <a:gd name="connsiteY6" fmla="*/ 1020329 h 1433838"/>
                  <a:gd name="connsiteX7" fmla="*/ 0 w 1540886"/>
                  <a:gd name="connsiteY7" fmla="*/ 48504 h 1433838"/>
                  <a:gd name="connsiteX8" fmla="*/ 47201 w 1540886"/>
                  <a:gd name="connsiteY8" fmla="*/ 0 h 1433838"/>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2227"/>
                  <a:gd name="connsiteY0" fmla="*/ 0 h 1435712"/>
                  <a:gd name="connsiteX1" fmla="*/ 1540606 w 1542227"/>
                  <a:gd name="connsiteY1" fmla="*/ 869141 h 1435712"/>
                  <a:gd name="connsiteX2" fmla="*/ 1517788 w 1542227"/>
                  <a:gd name="connsiteY2" fmla="*/ 946141 h 1435712"/>
                  <a:gd name="connsiteX3" fmla="*/ 684279 w 1542227"/>
                  <a:gd name="connsiteY3" fmla="*/ 1415314 h 1435712"/>
                  <a:gd name="connsiteX4" fmla="*/ 587513 w 1542227"/>
                  <a:gd name="connsiteY4" fmla="*/ 1423404 h 1435712"/>
                  <a:gd name="connsiteX5" fmla="*/ 52742 w 1542227"/>
                  <a:gd name="connsiteY5" fmla="*/ 1110817 h 1435712"/>
                  <a:gd name="connsiteX6" fmla="*/ 0 w 1542227"/>
                  <a:gd name="connsiteY6" fmla="*/ 1020329 h 1435712"/>
                  <a:gd name="connsiteX7" fmla="*/ 0 w 1542227"/>
                  <a:gd name="connsiteY7" fmla="*/ 48504 h 1435712"/>
                  <a:gd name="connsiteX8" fmla="*/ 47201 w 1542227"/>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0282"/>
                  <a:gd name="connsiteX1" fmla="*/ 1540606 w 1542411"/>
                  <a:gd name="connsiteY1" fmla="*/ 869141 h 1430282"/>
                  <a:gd name="connsiteX2" fmla="*/ 1517788 w 1542411"/>
                  <a:gd name="connsiteY2" fmla="*/ 946141 h 1430282"/>
                  <a:gd name="connsiteX3" fmla="*/ 684279 w 1542411"/>
                  <a:gd name="connsiteY3" fmla="*/ 1415314 h 1430282"/>
                  <a:gd name="connsiteX4" fmla="*/ 585390 w 1542411"/>
                  <a:gd name="connsiteY4" fmla="*/ 1414911 h 1430282"/>
                  <a:gd name="connsiteX5" fmla="*/ 52742 w 1542411"/>
                  <a:gd name="connsiteY5" fmla="*/ 1110817 h 1430282"/>
                  <a:gd name="connsiteX6" fmla="*/ 0 w 1542411"/>
                  <a:gd name="connsiteY6" fmla="*/ 1020329 h 1430282"/>
                  <a:gd name="connsiteX7" fmla="*/ 0 w 1542411"/>
                  <a:gd name="connsiteY7" fmla="*/ 48504 h 1430282"/>
                  <a:gd name="connsiteX8" fmla="*/ 47201 w 1542411"/>
                  <a:gd name="connsiteY8" fmla="*/ 0 h 1430282"/>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3202"/>
                  <a:gd name="connsiteY0" fmla="*/ 0 h 1431536"/>
                  <a:gd name="connsiteX1" fmla="*/ 1540606 w 1543202"/>
                  <a:gd name="connsiteY1" fmla="*/ 869141 h 1431536"/>
                  <a:gd name="connsiteX2" fmla="*/ 1517788 w 1543202"/>
                  <a:gd name="connsiteY2" fmla="*/ 946141 h 1431536"/>
                  <a:gd name="connsiteX3" fmla="*/ 684279 w 1543202"/>
                  <a:gd name="connsiteY3" fmla="*/ 1415314 h 1431536"/>
                  <a:gd name="connsiteX4" fmla="*/ 583267 w 1543202"/>
                  <a:gd name="connsiteY4" fmla="*/ 1417035 h 1431536"/>
                  <a:gd name="connsiteX5" fmla="*/ 52742 w 1543202"/>
                  <a:gd name="connsiteY5" fmla="*/ 1110817 h 1431536"/>
                  <a:gd name="connsiteX6" fmla="*/ 0 w 1543202"/>
                  <a:gd name="connsiteY6" fmla="*/ 1020329 h 1431536"/>
                  <a:gd name="connsiteX7" fmla="*/ 0 w 1543202"/>
                  <a:gd name="connsiteY7" fmla="*/ 48504 h 1431536"/>
                  <a:gd name="connsiteX8" fmla="*/ 47201 w 1543202"/>
                  <a:gd name="connsiteY8" fmla="*/ 0 h 14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202" h="1431536">
                    <a:moveTo>
                      <a:pt x="47201" y="0"/>
                    </a:moveTo>
                    <a:cubicBezTo>
                      <a:pt x="664672" y="71314"/>
                      <a:pt x="1074652" y="245403"/>
                      <a:pt x="1540606" y="869141"/>
                    </a:cubicBezTo>
                    <a:cubicBezTo>
                      <a:pt x="1546779" y="893358"/>
                      <a:pt x="1542993" y="927242"/>
                      <a:pt x="1517788" y="946141"/>
                    </a:cubicBezTo>
                    <a:lnTo>
                      <a:pt x="684279" y="1415314"/>
                    </a:lnTo>
                    <a:cubicBezTo>
                      <a:pt x="659035" y="1430938"/>
                      <a:pt x="617865" y="1441473"/>
                      <a:pt x="583267" y="1417035"/>
                    </a:cubicBezTo>
                    <a:cubicBezTo>
                      <a:pt x="444381" y="1243713"/>
                      <a:pt x="279841" y="1143471"/>
                      <a:pt x="52742" y="1110817"/>
                    </a:cubicBezTo>
                    <a:cubicBezTo>
                      <a:pt x="19624" y="1095860"/>
                      <a:pt x="196" y="1063473"/>
                      <a:pt x="0" y="1020329"/>
                    </a:cubicBezTo>
                    <a:lnTo>
                      <a:pt x="0" y="48504"/>
                    </a:lnTo>
                    <a:cubicBezTo>
                      <a:pt x="6561" y="22673"/>
                      <a:pt x="22730" y="5005"/>
                      <a:pt x="47201" y="0"/>
                    </a:cubicBezTo>
                    <a:close/>
                  </a:path>
                </a:pathLst>
              </a:custGeom>
              <a:solidFill>
                <a:schemeClr val="accent5"/>
              </a:solidFill>
              <a:ln w="1270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mj-lt"/>
                </a:endParaRPr>
              </a:p>
            </p:txBody>
          </p:sp>
          <p:sp>
            <p:nvSpPr>
              <p:cNvPr id="76" name="Freeform 8">
                <a:extLst>
                  <a:ext uri="{FF2B5EF4-FFF2-40B4-BE49-F238E27FC236}">
                    <a16:creationId xmlns:a16="http://schemas.microsoft.com/office/drawing/2014/main" id="{BCF48852-9F74-43EB-AE5F-F5E89F2D8A6D}"/>
                  </a:ext>
                </a:extLst>
              </p:cNvPr>
              <p:cNvSpPr>
                <a:spLocks/>
              </p:cNvSpPr>
              <p:nvPr/>
            </p:nvSpPr>
            <p:spPr bwMode="auto">
              <a:xfrm rot="18027328" flipH="1">
                <a:off x="270149" y="2389747"/>
                <a:ext cx="1044267" cy="968703"/>
              </a:xfrm>
              <a:custGeom>
                <a:avLst/>
                <a:gdLst>
                  <a:gd name="connsiteX0" fmla="*/ 47201 w 1608834"/>
                  <a:gd name="connsiteY0" fmla="*/ 0 h 1504504"/>
                  <a:gd name="connsiteX1" fmla="*/ 1608554 w 1608834"/>
                  <a:gd name="connsiteY1" fmla="*/ 1140939 h 1504504"/>
                  <a:gd name="connsiteX2" fmla="*/ 1585737 w 1608834"/>
                  <a:gd name="connsiteY2" fmla="*/ 1188211 h 1504504"/>
                  <a:gd name="connsiteX3" fmla="*/ 612083 w 1608834"/>
                  <a:gd name="connsiteY3" fmla="*/ 1504498 h 1504504"/>
                  <a:gd name="connsiteX4" fmla="*/ 587513 w 1608834"/>
                  <a:gd name="connsiteY4" fmla="*/ 1423404 h 1504504"/>
                  <a:gd name="connsiteX5" fmla="*/ 52742 w 1608834"/>
                  <a:gd name="connsiteY5" fmla="*/ 1110817 h 1504504"/>
                  <a:gd name="connsiteX6" fmla="*/ 0 w 1608834"/>
                  <a:gd name="connsiteY6" fmla="*/ 1020329 h 1504504"/>
                  <a:gd name="connsiteX7" fmla="*/ 0 w 1608834"/>
                  <a:gd name="connsiteY7" fmla="*/ 48504 h 1504504"/>
                  <a:gd name="connsiteX8" fmla="*/ 47201 w 1608834"/>
                  <a:gd name="connsiteY8" fmla="*/ 0 h 1504504"/>
                  <a:gd name="connsiteX0" fmla="*/ 47201 w 1608834"/>
                  <a:gd name="connsiteY0" fmla="*/ 0 h 1430790"/>
                  <a:gd name="connsiteX1" fmla="*/ 1608554 w 1608834"/>
                  <a:gd name="connsiteY1" fmla="*/ 1140939 h 1430790"/>
                  <a:gd name="connsiteX2" fmla="*/ 1585737 w 1608834"/>
                  <a:gd name="connsiteY2" fmla="*/ 1188211 h 1430790"/>
                  <a:gd name="connsiteX3" fmla="*/ 684279 w 1608834"/>
                  <a:gd name="connsiteY3" fmla="*/ 1415314 h 1430790"/>
                  <a:gd name="connsiteX4" fmla="*/ 587513 w 1608834"/>
                  <a:gd name="connsiteY4" fmla="*/ 1423404 h 1430790"/>
                  <a:gd name="connsiteX5" fmla="*/ 52742 w 1608834"/>
                  <a:gd name="connsiteY5" fmla="*/ 1110817 h 1430790"/>
                  <a:gd name="connsiteX6" fmla="*/ 0 w 1608834"/>
                  <a:gd name="connsiteY6" fmla="*/ 1020329 h 1430790"/>
                  <a:gd name="connsiteX7" fmla="*/ 0 w 1608834"/>
                  <a:gd name="connsiteY7" fmla="*/ 48504 h 1430790"/>
                  <a:gd name="connsiteX8" fmla="*/ 47201 w 1608834"/>
                  <a:gd name="connsiteY8" fmla="*/ 0 h 1430790"/>
                  <a:gd name="connsiteX0" fmla="*/ 47201 w 1589313"/>
                  <a:gd name="connsiteY0" fmla="*/ 0 h 1430790"/>
                  <a:gd name="connsiteX1" fmla="*/ 1553346 w 1589313"/>
                  <a:gd name="connsiteY1" fmla="*/ 873388 h 1430790"/>
                  <a:gd name="connsiteX2" fmla="*/ 1585737 w 1589313"/>
                  <a:gd name="connsiteY2" fmla="*/ 1188211 h 1430790"/>
                  <a:gd name="connsiteX3" fmla="*/ 684279 w 1589313"/>
                  <a:gd name="connsiteY3" fmla="*/ 1415314 h 1430790"/>
                  <a:gd name="connsiteX4" fmla="*/ 587513 w 1589313"/>
                  <a:gd name="connsiteY4" fmla="*/ 1423404 h 1430790"/>
                  <a:gd name="connsiteX5" fmla="*/ 52742 w 1589313"/>
                  <a:gd name="connsiteY5" fmla="*/ 1110817 h 1430790"/>
                  <a:gd name="connsiteX6" fmla="*/ 0 w 1589313"/>
                  <a:gd name="connsiteY6" fmla="*/ 1020329 h 1430790"/>
                  <a:gd name="connsiteX7" fmla="*/ 0 w 1589313"/>
                  <a:gd name="connsiteY7" fmla="*/ 48504 h 1430790"/>
                  <a:gd name="connsiteX8" fmla="*/ 47201 w 1589313"/>
                  <a:gd name="connsiteY8" fmla="*/ 0 h 1430790"/>
                  <a:gd name="connsiteX0" fmla="*/ 47201 w 1553470"/>
                  <a:gd name="connsiteY0" fmla="*/ 0 h 1430790"/>
                  <a:gd name="connsiteX1" fmla="*/ 1553346 w 1553470"/>
                  <a:gd name="connsiteY1" fmla="*/ 873388 h 1430790"/>
                  <a:gd name="connsiteX2" fmla="*/ 1517788 w 1553470"/>
                  <a:gd name="connsiteY2" fmla="*/ 946141 h 1430790"/>
                  <a:gd name="connsiteX3" fmla="*/ 684279 w 1553470"/>
                  <a:gd name="connsiteY3" fmla="*/ 1415314 h 1430790"/>
                  <a:gd name="connsiteX4" fmla="*/ 587513 w 1553470"/>
                  <a:gd name="connsiteY4" fmla="*/ 1423404 h 1430790"/>
                  <a:gd name="connsiteX5" fmla="*/ 52742 w 1553470"/>
                  <a:gd name="connsiteY5" fmla="*/ 1110817 h 1430790"/>
                  <a:gd name="connsiteX6" fmla="*/ 0 w 1553470"/>
                  <a:gd name="connsiteY6" fmla="*/ 1020329 h 1430790"/>
                  <a:gd name="connsiteX7" fmla="*/ 0 w 1553470"/>
                  <a:gd name="connsiteY7" fmla="*/ 48504 h 1430790"/>
                  <a:gd name="connsiteX8" fmla="*/ 47201 w 1553470"/>
                  <a:gd name="connsiteY8" fmla="*/ 0 h 1430790"/>
                  <a:gd name="connsiteX0" fmla="*/ 47201 w 1549253"/>
                  <a:gd name="connsiteY0" fmla="*/ 0 h 1430790"/>
                  <a:gd name="connsiteX1" fmla="*/ 1549100 w 1549253"/>
                  <a:gd name="connsiteY1" fmla="*/ 869141 h 1430790"/>
                  <a:gd name="connsiteX2" fmla="*/ 1517788 w 1549253"/>
                  <a:gd name="connsiteY2" fmla="*/ 946141 h 1430790"/>
                  <a:gd name="connsiteX3" fmla="*/ 684279 w 1549253"/>
                  <a:gd name="connsiteY3" fmla="*/ 1415314 h 1430790"/>
                  <a:gd name="connsiteX4" fmla="*/ 587513 w 1549253"/>
                  <a:gd name="connsiteY4" fmla="*/ 1423404 h 1430790"/>
                  <a:gd name="connsiteX5" fmla="*/ 52742 w 1549253"/>
                  <a:gd name="connsiteY5" fmla="*/ 1110817 h 1430790"/>
                  <a:gd name="connsiteX6" fmla="*/ 0 w 1549253"/>
                  <a:gd name="connsiteY6" fmla="*/ 1020329 h 1430790"/>
                  <a:gd name="connsiteX7" fmla="*/ 0 w 1549253"/>
                  <a:gd name="connsiteY7" fmla="*/ 48504 h 1430790"/>
                  <a:gd name="connsiteX8" fmla="*/ 47201 w 1549253"/>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0790"/>
                  <a:gd name="connsiteX1" fmla="*/ 1540606 w 1540886"/>
                  <a:gd name="connsiteY1" fmla="*/ 869141 h 1430790"/>
                  <a:gd name="connsiteX2" fmla="*/ 1517788 w 1540886"/>
                  <a:gd name="connsiteY2" fmla="*/ 946141 h 1430790"/>
                  <a:gd name="connsiteX3" fmla="*/ 684279 w 1540886"/>
                  <a:gd name="connsiteY3" fmla="*/ 1415314 h 1430790"/>
                  <a:gd name="connsiteX4" fmla="*/ 587513 w 1540886"/>
                  <a:gd name="connsiteY4" fmla="*/ 1423404 h 1430790"/>
                  <a:gd name="connsiteX5" fmla="*/ 52742 w 1540886"/>
                  <a:gd name="connsiteY5" fmla="*/ 1110817 h 1430790"/>
                  <a:gd name="connsiteX6" fmla="*/ 0 w 1540886"/>
                  <a:gd name="connsiteY6" fmla="*/ 1020329 h 1430790"/>
                  <a:gd name="connsiteX7" fmla="*/ 0 w 1540886"/>
                  <a:gd name="connsiteY7" fmla="*/ 48504 h 1430790"/>
                  <a:gd name="connsiteX8" fmla="*/ 47201 w 1540886"/>
                  <a:gd name="connsiteY8" fmla="*/ 0 h 1430790"/>
                  <a:gd name="connsiteX0" fmla="*/ 47201 w 1540886"/>
                  <a:gd name="connsiteY0" fmla="*/ 0 h 1433838"/>
                  <a:gd name="connsiteX1" fmla="*/ 1540606 w 1540886"/>
                  <a:gd name="connsiteY1" fmla="*/ 869141 h 1433838"/>
                  <a:gd name="connsiteX2" fmla="*/ 1517788 w 1540886"/>
                  <a:gd name="connsiteY2" fmla="*/ 946141 h 1433838"/>
                  <a:gd name="connsiteX3" fmla="*/ 684279 w 1540886"/>
                  <a:gd name="connsiteY3" fmla="*/ 1415314 h 1433838"/>
                  <a:gd name="connsiteX4" fmla="*/ 587513 w 1540886"/>
                  <a:gd name="connsiteY4" fmla="*/ 1423404 h 1433838"/>
                  <a:gd name="connsiteX5" fmla="*/ 52742 w 1540886"/>
                  <a:gd name="connsiteY5" fmla="*/ 1110817 h 1433838"/>
                  <a:gd name="connsiteX6" fmla="*/ 0 w 1540886"/>
                  <a:gd name="connsiteY6" fmla="*/ 1020329 h 1433838"/>
                  <a:gd name="connsiteX7" fmla="*/ 0 w 1540886"/>
                  <a:gd name="connsiteY7" fmla="*/ 48504 h 1433838"/>
                  <a:gd name="connsiteX8" fmla="*/ 47201 w 1540886"/>
                  <a:gd name="connsiteY8" fmla="*/ 0 h 1433838"/>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0886"/>
                  <a:gd name="connsiteY0" fmla="*/ 0 h 1435712"/>
                  <a:gd name="connsiteX1" fmla="*/ 1540606 w 1540886"/>
                  <a:gd name="connsiteY1" fmla="*/ 869141 h 1435712"/>
                  <a:gd name="connsiteX2" fmla="*/ 1517788 w 1540886"/>
                  <a:gd name="connsiteY2" fmla="*/ 946141 h 1435712"/>
                  <a:gd name="connsiteX3" fmla="*/ 684279 w 1540886"/>
                  <a:gd name="connsiteY3" fmla="*/ 1415314 h 1435712"/>
                  <a:gd name="connsiteX4" fmla="*/ 587513 w 1540886"/>
                  <a:gd name="connsiteY4" fmla="*/ 1423404 h 1435712"/>
                  <a:gd name="connsiteX5" fmla="*/ 52742 w 1540886"/>
                  <a:gd name="connsiteY5" fmla="*/ 1110817 h 1435712"/>
                  <a:gd name="connsiteX6" fmla="*/ 0 w 1540886"/>
                  <a:gd name="connsiteY6" fmla="*/ 1020329 h 1435712"/>
                  <a:gd name="connsiteX7" fmla="*/ 0 w 1540886"/>
                  <a:gd name="connsiteY7" fmla="*/ 48504 h 1435712"/>
                  <a:gd name="connsiteX8" fmla="*/ 47201 w 1540886"/>
                  <a:gd name="connsiteY8" fmla="*/ 0 h 1435712"/>
                  <a:gd name="connsiteX0" fmla="*/ 47201 w 1542227"/>
                  <a:gd name="connsiteY0" fmla="*/ 0 h 1435712"/>
                  <a:gd name="connsiteX1" fmla="*/ 1540606 w 1542227"/>
                  <a:gd name="connsiteY1" fmla="*/ 869141 h 1435712"/>
                  <a:gd name="connsiteX2" fmla="*/ 1517788 w 1542227"/>
                  <a:gd name="connsiteY2" fmla="*/ 946141 h 1435712"/>
                  <a:gd name="connsiteX3" fmla="*/ 684279 w 1542227"/>
                  <a:gd name="connsiteY3" fmla="*/ 1415314 h 1435712"/>
                  <a:gd name="connsiteX4" fmla="*/ 587513 w 1542227"/>
                  <a:gd name="connsiteY4" fmla="*/ 1423404 h 1435712"/>
                  <a:gd name="connsiteX5" fmla="*/ 52742 w 1542227"/>
                  <a:gd name="connsiteY5" fmla="*/ 1110817 h 1435712"/>
                  <a:gd name="connsiteX6" fmla="*/ 0 w 1542227"/>
                  <a:gd name="connsiteY6" fmla="*/ 1020329 h 1435712"/>
                  <a:gd name="connsiteX7" fmla="*/ 0 w 1542227"/>
                  <a:gd name="connsiteY7" fmla="*/ 48504 h 1435712"/>
                  <a:gd name="connsiteX8" fmla="*/ 47201 w 1542227"/>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5712"/>
                  <a:gd name="connsiteX1" fmla="*/ 1540606 w 1542411"/>
                  <a:gd name="connsiteY1" fmla="*/ 869141 h 1435712"/>
                  <a:gd name="connsiteX2" fmla="*/ 1517788 w 1542411"/>
                  <a:gd name="connsiteY2" fmla="*/ 946141 h 1435712"/>
                  <a:gd name="connsiteX3" fmla="*/ 684279 w 1542411"/>
                  <a:gd name="connsiteY3" fmla="*/ 1415314 h 1435712"/>
                  <a:gd name="connsiteX4" fmla="*/ 587513 w 1542411"/>
                  <a:gd name="connsiteY4" fmla="*/ 1423404 h 1435712"/>
                  <a:gd name="connsiteX5" fmla="*/ 52742 w 1542411"/>
                  <a:gd name="connsiteY5" fmla="*/ 1110817 h 1435712"/>
                  <a:gd name="connsiteX6" fmla="*/ 0 w 1542411"/>
                  <a:gd name="connsiteY6" fmla="*/ 1020329 h 1435712"/>
                  <a:gd name="connsiteX7" fmla="*/ 0 w 1542411"/>
                  <a:gd name="connsiteY7" fmla="*/ 48504 h 1435712"/>
                  <a:gd name="connsiteX8" fmla="*/ 47201 w 1542411"/>
                  <a:gd name="connsiteY8" fmla="*/ 0 h 1435712"/>
                  <a:gd name="connsiteX0" fmla="*/ 47201 w 1542411"/>
                  <a:gd name="connsiteY0" fmla="*/ 0 h 1430282"/>
                  <a:gd name="connsiteX1" fmla="*/ 1540606 w 1542411"/>
                  <a:gd name="connsiteY1" fmla="*/ 869141 h 1430282"/>
                  <a:gd name="connsiteX2" fmla="*/ 1517788 w 1542411"/>
                  <a:gd name="connsiteY2" fmla="*/ 946141 h 1430282"/>
                  <a:gd name="connsiteX3" fmla="*/ 684279 w 1542411"/>
                  <a:gd name="connsiteY3" fmla="*/ 1415314 h 1430282"/>
                  <a:gd name="connsiteX4" fmla="*/ 585390 w 1542411"/>
                  <a:gd name="connsiteY4" fmla="*/ 1414911 h 1430282"/>
                  <a:gd name="connsiteX5" fmla="*/ 52742 w 1542411"/>
                  <a:gd name="connsiteY5" fmla="*/ 1110817 h 1430282"/>
                  <a:gd name="connsiteX6" fmla="*/ 0 w 1542411"/>
                  <a:gd name="connsiteY6" fmla="*/ 1020329 h 1430282"/>
                  <a:gd name="connsiteX7" fmla="*/ 0 w 1542411"/>
                  <a:gd name="connsiteY7" fmla="*/ 48504 h 1430282"/>
                  <a:gd name="connsiteX8" fmla="*/ 47201 w 1542411"/>
                  <a:gd name="connsiteY8" fmla="*/ 0 h 1430282"/>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2411"/>
                  <a:gd name="connsiteY0" fmla="*/ 0 h 1431536"/>
                  <a:gd name="connsiteX1" fmla="*/ 1540606 w 1542411"/>
                  <a:gd name="connsiteY1" fmla="*/ 869141 h 1431536"/>
                  <a:gd name="connsiteX2" fmla="*/ 1517788 w 1542411"/>
                  <a:gd name="connsiteY2" fmla="*/ 946141 h 1431536"/>
                  <a:gd name="connsiteX3" fmla="*/ 684279 w 1542411"/>
                  <a:gd name="connsiteY3" fmla="*/ 1415314 h 1431536"/>
                  <a:gd name="connsiteX4" fmla="*/ 583267 w 1542411"/>
                  <a:gd name="connsiteY4" fmla="*/ 1417035 h 1431536"/>
                  <a:gd name="connsiteX5" fmla="*/ 52742 w 1542411"/>
                  <a:gd name="connsiteY5" fmla="*/ 1110817 h 1431536"/>
                  <a:gd name="connsiteX6" fmla="*/ 0 w 1542411"/>
                  <a:gd name="connsiteY6" fmla="*/ 1020329 h 1431536"/>
                  <a:gd name="connsiteX7" fmla="*/ 0 w 1542411"/>
                  <a:gd name="connsiteY7" fmla="*/ 48504 h 1431536"/>
                  <a:gd name="connsiteX8" fmla="*/ 47201 w 1542411"/>
                  <a:gd name="connsiteY8" fmla="*/ 0 h 1431536"/>
                  <a:gd name="connsiteX0" fmla="*/ 47201 w 1543202"/>
                  <a:gd name="connsiteY0" fmla="*/ 0 h 1431536"/>
                  <a:gd name="connsiteX1" fmla="*/ 1540606 w 1543202"/>
                  <a:gd name="connsiteY1" fmla="*/ 869141 h 1431536"/>
                  <a:gd name="connsiteX2" fmla="*/ 1517788 w 1543202"/>
                  <a:gd name="connsiteY2" fmla="*/ 946141 h 1431536"/>
                  <a:gd name="connsiteX3" fmla="*/ 684279 w 1543202"/>
                  <a:gd name="connsiteY3" fmla="*/ 1415314 h 1431536"/>
                  <a:gd name="connsiteX4" fmla="*/ 583267 w 1543202"/>
                  <a:gd name="connsiteY4" fmla="*/ 1417035 h 1431536"/>
                  <a:gd name="connsiteX5" fmla="*/ 52742 w 1543202"/>
                  <a:gd name="connsiteY5" fmla="*/ 1110817 h 1431536"/>
                  <a:gd name="connsiteX6" fmla="*/ 0 w 1543202"/>
                  <a:gd name="connsiteY6" fmla="*/ 1020329 h 1431536"/>
                  <a:gd name="connsiteX7" fmla="*/ 0 w 1543202"/>
                  <a:gd name="connsiteY7" fmla="*/ 48504 h 1431536"/>
                  <a:gd name="connsiteX8" fmla="*/ 47201 w 1543202"/>
                  <a:gd name="connsiteY8" fmla="*/ 0 h 14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202" h="1431536">
                    <a:moveTo>
                      <a:pt x="47201" y="0"/>
                    </a:moveTo>
                    <a:cubicBezTo>
                      <a:pt x="664672" y="71314"/>
                      <a:pt x="1074652" y="245403"/>
                      <a:pt x="1540606" y="869141"/>
                    </a:cubicBezTo>
                    <a:cubicBezTo>
                      <a:pt x="1546779" y="893358"/>
                      <a:pt x="1542993" y="927242"/>
                      <a:pt x="1517788" y="946141"/>
                    </a:cubicBezTo>
                    <a:lnTo>
                      <a:pt x="684279" y="1415314"/>
                    </a:lnTo>
                    <a:cubicBezTo>
                      <a:pt x="659035" y="1430938"/>
                      <a:pt x="617865" y="1441473"/>
                      <a:pt x="583267" y="1417035"/>
                    </a:cubicBezTo>
                    <a:cubicBezTo>
                      <a:pt x="444381" y="1243713"/>
                      <a:pt x="279841" y="1143471"/>
                      <a:pt x="52742" y="1110817"/>
                    </a:cubicBezTo>
                    <a:cubicBezTo>
                      <a:pt x="19624" y="1095860"/>
                      <a:pt x="196" y="1063473"/>
                      <a:pt x="0" y="1020329"/>
                    </a:cubicBezTo>
                    <a:lnTo>
                      <a:pt x="0" y="48504"/>
                    </a:lnTo>
                    <a:cubicBezTo>
                      <a:pt x="6561" y="22673"/>
                      <a:pt x="22730" y="5005"/>
                      <a:pt x="47201" y="0"/>
                    </a:cubicBezTo>
                    <a:close/>
                  </a:path>
                </a:pathLst>
              </a:custGeom>
              <a:solidFill>
                <a:schemeClr val="accent4"/>
              </a:solidFill>
              <a:ln w="1270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mj-lt"/>
                </a:endParaRPr>
              </a:p>
            </p:txBody>
          </p:sp>
          <p:sp>
            <p:nvSpPr>
              <p:cNvPr id="50" name="TextBox 49">
                <a:extLst>
                  <a:ext uri="{FF2B5EF4-FFF2-40B4-BE49-F238E27FC236}">
                    <a16:creationId xmlns:a16="http://schemas.microsoft.com/office/drawing/2014/main" id="{07A95810-EA83-4AD1-B13A-2F8E7BAE17DE}"/>
                  </a:ext>
                </a:extLst>
              </p:cNvPr>
              <p:cNvSpPr txBox="1"/>
              <p:nvPr/>
            </p:nvSpPr>
            <p:spPr>
              <a:xfrm>
                <a:off x="1943897" y="1800019"/>
                <a:ext cx="636294" cy="292492"/>
              </a:xfrm>
              <a:prstGeom prst="rect">
                <a:avLst/>
              </a:prstGeom>
              <a:noFill/>
            </p:spPr>
            <p:txBody>
              <a:bodyPr wrap="square" lIns="0" tIns="0" rIns="0" bIns="0" rtlCol="0" anchor="ctr">
                <a:spAutoFit/>
              </a:bodyPr>
              <a:lstStyle/>
              <a:p>
                <a:pPr algn="ctr"/>
                <a:r>
                  <a:rPr lang="en-US" sz="900" b="1" dirty="0">
                    <a:solidFill>
                      <a:schemeClr val="bg1"/>
                    </a:solidFill>
                    <a:latin typeface="+mj-lt"/>
                    <a:cs typeface="Arial" pitchFamily="34" charset="0"/>
                  </a:rPr>
                  <a:t>Focus on outcomes</a:t>
                </a:r>
              </a:p>
            </p:txBody>
          </p:sp>
          <p:sp>
            <p:nvSpPr>
              <p:cNvPr id="52" name="TextBox 51">
                <a:extLst>
                  <a:ext uri="{FF2B5EF4-FFF2-40B4-BE49-F238E27FC236}">
                    <a16:creationId xmlns:a16="http://schemas.microsoft.com/office/drawing/2014/main" id="{88E5F7C9-B8D7-4E10-8511-BDC526A17874}"/>
                  </a:ext>
                </a:extLst>
              </p:cNvPr>
              <p:cNvSpPr txBox="1"/>
              <p:nvPr/>
            </p:nvSpPr>
            <p:spPr>
              <a:xfrm>
                <a:off x="2419411" y="2589033"/>
                <a:ext cx="636294" cy="438737"/>
              </a:xfrm>
              <a:prstGeom prst="rect">
                <a:avLst/>
              </a:prstGeom>
              <a:noFill/>
            </p:spPr>
            <p:txBody>
              <a:bodyPr wrap="square" lIns="0" tIns="0" rIns="0" bIns="0" rtlCol="0" anchor="ctr">
                <a:spAutoFit/>
              </a:bodyPr>
              <a:lstStyle/>
              <a:p>
                <a:pPr algn="ctr"/>
                <a:r>
                  <a:rPr lang="en-US" sz="900" b="1" dirty="0">
                    <a:solidFill>
                      <a:schemeClr val="bg1"/>
                    </a:solidFill>
                    <a:latin typeface="+mj-lt"/>
                    <a:cs typeface="Arial" pitchFamily="34" charset="0"/>
                  </a:rPr>
                  <a:t>Priorities aligned vertically</a:t>
                </a:r>
              </a:p>
            </p:txBody>
          </p:sp>
          <p:sp>
            <p:nvSpPr>
              <p:cNvPr id="54" name="TextBox 53">
                <a:extLst>
                  <a:ext uri="{FF2B5EF4-FFF2-40B4-BE49-F238E27FC236}">
                    <a16:creationId xmlns:a16="http://schemas.microsoft.com/office/drawing/2014/main" id="{01BFA362-5FE9-43DA-B3B4-87E8EB9DBD9B}"/>
                  </a:ext>
                </a:extLst>
              </p:cNvPr>
              <p:cNvSpPr txBox="1"/>
              <p:nvPr/>
            </p:nvSpPr>
            <p:spPr>
              <a:xfrm>
                <a:off x="1948649" y="3377402"/>
                <a:ext cx="636294" cy="584983"/>
              </a:xfrm>
              <a:prstGeom prst="rect">
                <a:avLst/>
              </a:prstGeom>
              <a:noFill/>
            </p:spPr>
            <p:txBody>
              <a:bodyPr wrap="square" lIns="0" tIns="0" rIns="0" bIns="0" rtlCol="0" anchor="ctr">
                <a:spAutoFit/>
              </a:bodyPr>
              <a:lstStyle/>
              <a:p>
                <a:pPr algn="ctr"/>
                <a:r>
                  <a:rPr lang="en-US" sz="900" b="1" dirty="0">
                    <a:solidFill>
                      <a:schemeClr val="bg1"/>
                    </a:solidFill>
                    <a:latin typeface="+mj-lt"/>
                    <a:cs typeface="Arial" pitchFamily="34" charset="0"/>
                  </a:rPr>
                  <a:t>Managing cross-cutting initiative</a:t>
                </a:r>
              </a:p>
            </p:txBody>
          </p:sp>
          <p:sp>
            <p:nvSpPr>
              <p:cNvPr id="56" name="TextBox 55">
                <a:extLst>
                  <a:ext uri="{FF2B5EF4-FFF2-40B4-BE49-F238E27FC236}">
                    <a16:creationId xmlns:a16="http://schemas.microsoft.com/office/drawing/2014/main" id="{B7793CCB-E9BD-4A36-A4BD-4FCCBDFB8EFB}"/>
                  </a:ext>
                </a:extLst>
              </p:cNvPr>
              <p:cNvSpPr txBox="1"/>
              <p:nvPr/>
            </p:nvSpPr>
            <p:spPr>
              <a:xfrm>
                <a:off x="963781" y="3523646"/>
                <a:ext cx="743821" cy="292492"/>
              </a:xfrm>
              <a:prstGeom prst="rect">
                <a:avLst/>
              </a:prstGeom>
              <a:noFill/>
              <a:effectLst/>
            </p:spPr>
            <p:txBody>
              <a:bodyPr wrap="square" lIns="0" tIns="0" rIns="0" bIns="0" rtlCol="0" anchor="ctr">
                <a:spAutoFit/>
              </a:bodyPr>
              <a:lstStyle/>
              <a:p>
                <a:pPr algn="ctr"/>
                <a:r>
                  <a:rPr lang="en-US" sz="900" b="1" dirty="0">
                    <a:solidFill>
                      <a:schemeClr val="bg1"/>
                    </a:solidFill>
                    <a:latin typeface="+mj-lt"/>
                    <a:cs typeface="Arial" pitchFamily="34" charset="0"/>
                  </a:rPr>
                  <a:t>Budget Coordination</a:t>
                </a:r>
              </a:p>
            </p:txBody>
          </p:sp>
          <p:sp>
            <p:nvSpPr>
              <p:cNvPr id="57" name="TextBox 56">
                <a:extLst>
                  <a:ext uri="{FF2B5EF4-FFF2-40B4-BE49-F238E27FC236}">
                    <a16:creationId xmlns:a16="http://schemas.microsoft.com/office/drawing/2014/main" id="{31FDCB33-DF46-4689-A06D-2D12BEED34E7}"/>
                  </a:ext>
                </a:extLst>
              </p:cNvPr>
              <p:cNvSpPr txBox="1"/>
              <p:nvPr/>
            </p:nvSpPr>
            <p:spPr>
              <a:xfrm>
                <a:off x="487518" y="2662156"/>
                <a:ext cx="750224" cy="292492"/>
              </a:xfrm>
              <a:prstGeom prst="rect">
                <a:avLst/>
              </a:prstGeom>
              <a:noFill/>
              <a:effectLst/>
            </p:spPr>
            <p:txBody>
              <a:bodyPr wrap="square" lIns="0" tIns="0" rIns="0" bIns="0" rtlCol="0" anchor="ctr">
                <a:spAutoFit/>
              </a:bodyPr>
              <a:lstStyle/>
              <a:p>
                <a:pPr algn="ctr"/>
                <a:r>
                  <a:rPr lang="en-US" sz="900" b="1" dirty="0">
                    <a:solidFill>
                      <a:schemeClr val="bg1"/>
                    </a:solidFill>
                    <a:latin typeface="+mj-lt"/>
                    <a:cs typeface="Arial" pitchFamily="34" charset="0"/>
                  </a:rPr>
                  <a:t>Authority and Accountability</a:t>
                </a:r>
              </a:p>
            </p:txBody>
          </p:sp>
          <p:sp>
            <p:nvSpPr>
              <p:cNvPr id="58" name="TextBox 57">
                <a:extLst>
                  <a:ext uri="{FF2B5EF4-FFF2-40B4-BE49-F238E27FC236}">
                    <a16:creationId xmlns:a16="http://schemas.microsoft.com/office/drawing/2014/main" id="{14AE33B2-8B25-4BA8-AE18-31510E3AB383}"/>
                  </a:ext>
                </a:extLst>
              </p:cNvPr>
              <p:cNvSpPr txBox="1"/>
              <p:nvPr/>
            </p:nvSpPr>
            <p:spPr>
              <a:xfrm>
                <a:off x="1033607" y="1726897"/>
                <a:ext cx="636294" cy="438737"/>
              </a:xfrm>
              <a:prstGeom prst="rect">
                <a:avLst/>
              </a:prstGeom>
              <a:noFill/>
            </p:spPr>
            <p:txBody>
              <a:bodyPr wrap="square" lIns="0" tIns="0" rIns="0" bIns="0" rtlCol="0" anchor="ctr">
                <a:spAutoFit/>
              </a:bodyPr>
              <a:lstStyle/>
              <a:p>
                <a:pPr algn="ctr"/>
                <a:r>
                  <a:rPr lang="en-US" sz="900" b="1" dirty="0">
                    <a:solidFill>
                      <a:schemeClr val="bg1"/>
                    </a:solidFill>
                    <a:latin typeface="+mj-lt"/>
                    <a:cs typeface="Arial" pitchFamily="34" charset="0"/>
                  </a:rPr>
                  <a:t>Systematic M&amp;E System</a:t>
                </a:r>
              </a:p>
            </p:txBody>
          </p:sp>
          <p:sp>
            <p:nvSpPr>
              <p:cNvPr id="61" name="TextBox 60">
                <a:extLst>
                  <a:ext uri="{FF2B5EF4-FFF2-40B4-BE49-F238E27FC236}">
                    <a16:creationId xmlns:a16="http://schemas.microsoft.com/office/drawing/2014/main" id="{E352AD0D-A384-4766-B9FE-27794650491D}"/>
                  </a:ext>
                </a:extLst>
              </p:cNvPr>
              <p:cNvSpPr txBox="1"/>
              <p:nvPr/>
            </p:nvSpPr>
            <p:spPr>
              <a:xfrm>
                <a:off x="1288462" y="2520531"/>
                <a:ext cx="1021588" cy="553998"/>
              </a:xfrm>
              <a:prstGeom prst="rect">
                <a:avLst/>
              </a:prstGeom>
              <a:noFill/>
            </p:spPr>
            <p:txBody>
              <a:bodyPr wrap="square" lIns="0" tIns="0" rIns="0" bIns="0" rtlCol="0" anchor="ctr">
                <a:spAutoFit/>
              </a:bodyPr>
              <a:lstStyle/>
              <a:p>
                <a:pPr algn="ctr"/>
                <a:r>
                  <a:rPr lang="en-US" sz="1200" b="1" dirty="0">
                    <a:latin typeface="+mj-lt"/>
                    <a:cs typeface="Arial" pitchFamily="34" charset="0"/>
                  </a:rPr>
                  <a:t>6 Transformation Levers</a:t>
                </a:r>
              </a:p>
            </p:txBody>
          </p:sp>
        </p:grpSp>
        <p:sp>
          <p:nvSpPr>
            <p:cNvPr id="90" name="Rectangle 89">
              <a:extLst>
                <a:ext uri="{FF2B5EF4-FFF2-40B4-BE49-F238E27FC236}">
                  <a16:creationId xmlns:a16="http://schemas.microsoft.com/office/drawing/2014/main" id="{D4585641-1460-4EC8-A19D-B8B4B07B9909}"/>
                </a:ext>
              </a:extLst>
            </p:cNvPr>
            <p:cNvSpPr/>
            <p:nvPr/>
          </p:nvSpPr>
          <p:spPr bwMode="gray">
            <a:xfrm>
              <a:off x="4278070" y="1483262"/>
              <a:ext cx="3666744" cy="365760"/>
            </a:xfrm>
            <a:prstGeom prst="rect">
              <a:avLst/>
            </a:prstGeom>
            <a:solidFill>
              <a:schemeClr val="accent5">
                <a:lumMod val="75000"/>
              </a:schemeClr>
            </a:solidFill>
            <a:ln w="12700" algn="ctr">
              <a:solidFill>
                <a:srgbClr val="0A626C"/>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Key Design Features</a:t>
              </a:r>
            </a:p>
          </p:txBody>
        </p:sp>
        <p:sp>
          <p:nvSpPr>
            <p:cNvPr id="91" name="Rectangle 90">
              <a:extLst>
                <a:ext uri="{FF2B5EF4-FFF2-40B4-BE49-F238E27FC236}">
                  <a16:creationId xmlns:a16="http://schemas.microsoft.com/office/drawing/2014/main" id="{8EF509E6-8B2D-4BF1-A69E-F5857BE85E00}"/>
                </a:ext>
              </a:extLst>
            </p:cNvPr>
            <p:cNvSpPr/>
            <p:nvPr/>
          </p:nvSpPr>
          <p:spPr bwMode="gray">
            <a:xfrm>
              <a:off x="8037214" y="1483262"/>
              <a:ext cx="3667462" cy="365760"/>
            </a:xfrm>
            <a:prstGeom prst="rect">
              <a:avLst/>
            </a:prstGeom>
            <a:solidFill>
              <a:schemeClr val="accent6"/>
            </a:solidFill>
            <a:ln w="12700" algn="ctr">
              <a:solidFill>
                <a:srgbClr val="007CB0"/>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b="1" dirty="0">
                  <a:solidFill>
                    <a:schemeClr val="bg1"/>
                  </a:solidFill>
                </a:rPr>
                <a:t>Capacity Building Learnings</a:t>
              </a:r>
            </a:p>
          </p:txBody>
        </p:sp>
        <p:sp>
          <p:nvSpPr>
            <p:cNvPr id="92" name="Rectangle 91">
              <a:extLst>
                <a:ext uri="{FF2B5EF4-FFF2-40B4-BE49-F238E27FC236}">
                  <a16:creationId xmlns:a16="http://schemas.microsoft.com/office/drawing/2014/main" id="{F0062E7C-170A-4008-B249-FF58DDA55E74}"/>
                </a:ext>
              </a:extLst>
            </p:cNvPr>
            <p:cNvSpPr/>
            <p:nvPr/>
          </p:nvSpPr>
          <p:spPr bwMode="gray">
            <a:xfrm>
              <a:off x="8037932" y="1919025"/>
              <a:ext cx="3666744" cy="685800"/>
            </a:xfrm>
            <a:prstGeom prst="rect">
              <a:avLst/>
            </a:prstGeom>
            <a:solidFill>
              <a:sysClr val="window" lastClr="FFFFFF"/>
            </a:solidFill>
            <a:ln w="12700" cap="flat" cmpd="sng" algn="ctr">
              <a:solidFill>
                <a:srgbClr val="007CB0"/>
              </a:solidFill>
              <a:prstDash val="solid"/>
              <a:headEnd/>
              <a:tailEnd/>
            </a:ln>
            <a:effectLst/>
          </p:spPr>
          <p:txBody>
            <a:bodyPr wrap="square" lIns="91440" tIns="88900" rIns="88900" bIns="88900" rtlCol="0" anchor="ctr"/>
            <a:lstStyle/>
            <a:p>
              <a:pPr lvl="0" defTabSz="945677">
                <a:lnSpc>
                  <a:spcPct val="106000"/>
                </a:lnSpc>
                <a:defRPr/>
              </a:pPr>
              <a:r>
                <a:rPr lang="en-US" sz="1200" kern="0" dirty="0"/>
                <a:t>Identification of resource leaders and desk officers for continuous training, training of trainers</a:t>
              </a:r>
            </a:p>
          </p:txBody>
        </p:sp>
        <p:sp>
          <p:nvSpPr>
            <p:cNvPr id="93" name="Rectangle 92">
              <a:extLst>
                <a:ext uri="{FF2B5EF4-FFF2-40B4-BE49-F238E27FC236}">
                  <a16:creationId xmlns:a16="http://schemas.microsoft.com/office/drawing/2014/main" id="{9E61A867-4F87-467A-AB3D-CEE639185337}"/>
                </a:ext>
              </a:extLst>
            </p:cNvPr>
            <p:cNvSpPr/>
            <p:nvPr/>
          </p:nvSpPr>
          <p:spPr bwMode="gray">
            <a:xfrm>
              <a:off x="8037932" y="2674828"/>
              <a:ext cx="3666744" cy="685800"/>
            </a:xfrm>
            <a:prstGeom prst="rect">
              <a:avLst/>
            </a:prstGeom>
            <a:solidFill>
              <a:sysClr val="window" lastClr="FFFFFF"/>
            </a:solidFill>
            <a:ln w="12700" cap="flat" cmpd="sng" algn="ctr">
              <a:solidFill>
                <a:srgbClr val="007CB0"/>
              </a:solidFill>
              <a:prstDash val="solid"/>
              <a:headEnd/>
              <a:tailEnd/>
            </a:ln>
            <a:effectLst/>
          </p:spPr>
          <p:txBody>
            <a:bodyPr wrap="square" lIns="91440" tIns="88900" rIns="88900" bIns="88900" rtlCol="0" anchor="ctr"/>
            <a:lstStyle/>
            <a:p>
              <a:pPr lvl="0" defTabSz="857540">
                <a:lnSpc>
                  <a:spcPct val="106000"/>
                </a:lnSpc>
                <a:defRPr/>
              </a:pPr>
              <a:r>
                <a:rPr lang="en-US" sz="1200" kern="0" dirty="0"/>
                <a:t>Extensive strategic programming workshops, capacity building</a:t>
              </a:r>
            </a:p>
          </p:txBody>
        </p:sp>
        <p:sp>
          <p:nvSpPr>
            <p:cNvPr id="94" name="Rectangle 93">
              <a:extLst>
                <a:ext uri="{FF2B5EF4-FFF2-40B4-BE49-F238E27FC236}">
                  <a16:creationId xmlns:a16="http://schemas.microsoft.com/office/drawing/2014/main" id="{BC74D4BD-3A01-4BA5-A5CB-539DC9676046}"/>
                </a:ext>
              </a:extLst>
            </p:cNvPr>
            <p:cNvSpPr/>
            <p:nvPr/>
          </p:nvSpPr>
          <p:spPr bwMode="gray">
            <a:xfrm>
              <a:off x="8037932" y="3430630"/>
              <a:ext cx="3666744" cy="685800"/>
            </a:xfrm>
            <a:prstGeom prst="rect">
              <a:avLst/>
            </a:prstGeom>
            <a:solidFill>
              <a:sysClr val="window" lastClr="FFFFFF"/>
            </a:solidFill>
            <a:ln w="12700" cap="flat" cmpd="sng" algn="ctr">
              <a:solidFill>
                <a:srgbClr val="007CB0"/>
              </a:solidFill>
              <a:prstDash val="solid"/>
              <a:headEnd/>
              <a:tailEnd/>
            </a:ln>
            <a:effectLst/>
          </p:spPr>
          <p:txBody>
            <a:bodyPr wrap="square" lIns="91440" tIns="88900" rIns="88900" bIns="88900" rtlCol="0" anchor="ctr"/>
            <a:lstStyle/>
            <a:p>
              <a:pPr lvl="0" defTabSz="857540">
                <a:lnSpc>
                  <a:spcPct val="106000"/>
                </a:lnSpc>
                <a:defRPr/>
              </a:pPr>
              <a:r>
                <a:rPr lang="en-US" sz="1200" kern="0" dirty="0"/>
                <a:t>Efficient change management, staff training, stakeholder outreach were all key components of the </a:t>
              </a:r>
              <a:r>
                <a:rPr lang="en-US" sz="1200" kern="0" dirty="0" err="1"/>
                <a:t>MoF’s</a:t>
              </a:r>
              <a:r>
                <a:rPr lang="en-US" sz="1200" kern="0" dirty="0"/>
                <a:t> strategy for OBB roll-out</a:t>
              </a:r>
            </a:p>
          </p:txBody>
        </p:sp>
      </p:grpSp>
    </p:spTree>
    <p:extLst>
      <p:ext uri="{BB962C8B-B14F-4D97-AF65-F5344CB8AC3E}">
        <p14:creationId xmlns:p14="http://schemas.microsoft.com/office/powerpoint/2010/main" val="168438310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IN" dirty="0"/>
              <a:t>Dashboard</a:t>
            </a:r>
          </a:p>
        </p:txBody>
      </p:sp>
      <p:sp>
        <p:nvSpPr>
          <p:cNvPr id="3" name="Rectangle 2">
            <a:extLst>
              <a:ext uri="{FF2B5EF4-FFF2-40B4-BE49-F238E27FC236}">
                <a16:creationId xmlns:a16="http://schemas.microsoft.com/office/drawing/2014/main" id="{F8562C33-73A6-413B-9451-A4CB3DB15DE7}"/>
              </a:ext>
            </a:extLst>
          </p:cNvPr>
          <p:cNvSpPr/>
          <p:nvPr/>
        </p:nvSpPr>
        <p:spPr>
          <a:xfrm>
            <a:off x="478155" y="1011610"/>
            <a:ext cx="11234419" cy="276999"/>
          </a:xfrm>
          <a:prstGeom prst="rect">
            <a:avLst/>
          </a:prstGeom>
        </p:spPr>
        <p:txBody>
          <a:bodyPr wrap="square" lIns="0" tIns="0" rIns="0" bIns="0">
            <a:spAutoFit/>
          </a:bodyPr>
          <a:lstStyle/>
          <a:p>
            <a:r>
              <a:rPr lang="en-US" dirty="0">
                <a:cs typeface="Open Sans" panose="020B0606030504020204" pitchFamily="34" charset="0"/>
              </a:rPr>
              <a:t>The Deloitte Approach</a:t>
            </a:r>
          </a:p>
        </p:txBody>
      </p:sp>
      <p:sp>
        <p:nvSpPr>
          <p:cNvPr id="58" name="Freeform 867">
            <a:extLst>
              <a:ext uri="{FF2B5EF4-FFF2-40B4-BE49-F238E27FC236}">
                <a16:creationId xmlns:a16="http://schemas.microsoft.com/office/drawing/2014/main" id="{9A7A24F5-FA4F-4E4E-A06C-3380B129E1BC}"/>
              </a:ext>
            </a:extLst>
          </p:cNvPr>
          <p:cNvSpPr>
            <a:spLocks noChangeAspect="1" noEditPoints="1"/>
          </p:cNvSpPr>
          <p:nvPr/>
        </p:nvSpPr>
        <p:spPr bwMode="auto">
          <a:xfrm>
            <a:off x="11118215" y="227660"/>
            <a:ext cx="594360" cy="594360"/>
          </a:xfrm>
          <a:custGeom>
            <a:avLst/>
            <a:gdLst>
              <a:gd name="T0" fmla="*/ 138 w 512"/>
              <a:gd name="T1" fmla="*/ 138 h 512"/>
              <a:gd name="T2" fmla="*/ 373 w 512"/>
              <a:gd name="T3" fmla="*/ 138 h 512"/>
              <a:gd name="T4" fmla="*/ 373 w 512"/>
              <a:gd name="T5" fmla="*/ 309 h 512"/>
              <a:gd name="T6" fmla="*/ 138 w 512"/>
              <a:gd name="T7" fmla="*/ 309 h 512"/>
              <a:gd name="T8" fmla="*/ 138 w 512"/>
              <a:gd name="T9" fmla="*/ 138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94 w 512"/>
              <a:gd name="T21" fmla="*/ 128 h 512"/>
              <a:gd name="T22" fmla="*/ 384 w 512"/>
              <a:gd name="T23" fmla="*/ 117 h 512"/>
              <a:gd name="T24" fmla="*/ 266 w 512"/>
              <a:gd name="T25" fmla="*/ 117 h 512"/>
              <a:gd name="T26" fmla="*/ 256 w 512"/>
              <a:gd name="T27" fmla="*/ 106 h 512"/>
              <a:gd name="T28" fmla="*/ 245 w 512"/>
              <a:gd name="T29" fmla="*/ 117 h 512"/>
              <a:gd name="T30" fmla="*/ 128 w 512"/>
              <a:gd name="T31" fmla="*/ 117 h 512"/>
              <a:gd name="T32" fmla="*/ 117 w 512"/>
              <a:gd name="T33" fmla="*/ 128 h 512"/>
              <a:gd name="T34" fmla="*/ 117 w 512"/>
              <a:gd name="T35" fmla="*/ 320 h 512"/>
              <a:gd name="T36" fmla="*/ 128 w 512"/>
              <a:gd name="T37" fmla="*/ 330 h 512"/>
              <a:gd name="T38" fmla="*/ 198 w 512"/>
              <a:gd name="T39" fmla="*/ 330 h 512"/>
              <a:gd name="T40" fmla="*/ 171 w 512"/>
              <a:gd name="T41" fmla="*/ 401 h 512"/>
              <a:gd name="T42" fmla="*/ 177 w 512"/>
              <a:gd name="T43" fmla="*/ 415 h 512"/>
              <a:gd name="T44" fmla="*/ 181 w 512"/>
              <a:gd name="T45" fmla="*/ 416 h 512"/>
              <a:gd name="T46" fmla="*/ 191 w 512"/>
              <a:gd name="T47" fmla="*/ 409 h 512"/>
              <a:gd name="T48" fmla="*/ 220 w 512"/>
              <a:gd name="T49" fmla="*/ 330 h 512"/>
              <a:gd name="T50" fmla="*/ 245 w 512"/>
              <a:gd name="T51" fmla="*/ 330 h 512"/>
              <a:gd name="T52" fmla="*/ 245 w 512"/>
              <a:gd name="T53" fmla="*/ 373 h 512"/>
              <a:gd name="T54" fmla="*/ 256 w 512"/>
              <a:gd name="T55" fmla="*/ 384 h 512"/>
              <a:gd name="T56" fmla="*/ 266 w 512"/>
              <a:gd name="T57" fmla="*/ 373 h 512"/>
              <a:gd name="T58" fmla="*/ 266 w 512"/>
              <a:gd name="T59" fmla="*/ 330 h 512"/>
              <a:gd name="T60" fmla="*/ 291 w 512"/>
              <a:gd name="T61" fmla="*/ 330 h 512"/>
              <a:gd name="T62" fmla="*/ 320 w 512"/>
              <a:gd name="T63" fmla="*/ 409 h 512"/>
              <a:gd name="T64" fmla="*/ 330 w 512"/>
              <a:gd name="T65" fmla="*/ 416 h 512"/>
              <a:gd name="T66" fmla="*/ 334 w 512"/>
              <a:gd name="T67" fmla="*/ 415 h 512"/>
              <a:gd name="T68" fmla="*/ 340 w 512"/>
              <a:gd name="T69" fmla="*/ 401 h 512"/>
              <a:gd name="T70" fmla="*/ 314 w 512"/>
              <a:gd name="T71" fmla="*/ 330 h 512"/>
              <a:gd name="T72" fmla="*/ 384 w 512"/>
              <a:gd name="T73" fmla="*/ 330 h 512"/>
              <a:gd name="T74" fmla="*/ 394 w 512"/>
              <a:gd name="T75" fmla="*/ 320 h 512"/>
              <a:gd name="T76" fmla="*/ 394 w 512"/>
              <a:gd name="T77"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12" h="512">
                <a:moveTo>
                  <a:pt x="138" y="138"/>
                </a:moveTo>
                <a:cubicBezTo>
                  <a:pt x="373" y="138"/>
                  <a:pt x="373" y="138"/>
                  <a:pt x="373" y="138"/>
                </a:cubicBezTo>
                <a:cubicBezTo>
                  <a:pt x="373" y="309"/>
                  <a:pt x="373" y="309"/>
                  <a:pt x="373" y="309"/>
                </a:cubicBezTo>
                <a:cubicBezTo>
                  <a:pt x="138" y="309"/>
                  <a:pt x="138" y="309"/>
                  <a:pt x="138" y="309"/>
                </a:cubicBezTo>
                <a:lnTo>
                  <a:pt x="138" y="13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4" y="128"/>
                </a:moveTo>
                <a:cubicBezTo>
                  <a:pt x="394" y="122"/>
                  <a:pt x="390" y="117"/>
                  <a:pt x="384" y="117"/>
                </a:cubicBezTo>
                <a:cubicBezTo>
                  <a:pt x="266" y="117"/>
                  <a:pt x="266" y="117"/>
                  <a:pt x="266" y="117"/>
                </a:cubicBezTo>
                <a:cubicBezTo>
                  <a:pt x="266" y="111"/>
                  <a:pt x="262" y="106"/>
                  <a:pt x="256" y="106"/>
                </a:cubicBezTo>
                <a:cubicBezTo>
                  <a:pt x="250" y="106"/>
                  <a:pt x="245" y="111"/>
                  <a:pt x="245" y="117"/>
                </a:cubicBezTo>
                <a:cubicBezTo>
                  <a:pt x="128" y="117"/>
                  <a:pt x="128" y="117"/>
                  <a:pt x="128" y="117"/>
                </a:cubicBezTo>
                <a:cubicBezTo>
                  <a:pt x="122" y="117"/>
                  <a:pt x="117" y="122"/>
                  <a:pt x="117" y="128"/>
                </a:cubicBezTo>
                <a:cubicBezTo>
                  <a:pt x="117" y="320"/>
                  <a:pt x="117" y="320"/>
                  <a:pt x="117" y="320"/>
                </a:cubicBezTo>
                <a:cubicBezTo>
                  <a:pt x="117" y="326"/>
                  <a:pt x="122" y="330"/>
                  <a:pt x="128" y="330"/>
                </a:cubicBezTo>
                <a:cubicBezTo>
                  <a:pt x="198" y="330"/>
                  <a:pt x="198" y="330"/>
                  <a:pt x="198" y="330"/>
                </a:cubicBezTo>
                <a:cubicBezTo>
                  <a:pt x="171" y="401"/>
                  <a:pt x="171" y="401"/>
                  <a:pt x="171" y="401"/>
                </a:cubicBezTo>
                <a:cubicBezTo>
                  <a:pt x="169" y="407"/>
                  <a:pt x="172" y="413"/>
                  <a:pt x="177" y="415"/>
                </a:cubicBezTo>
                <a:cubicBezTo>
                  <a:pt x="178" y="415"/>
                  <a:pt x="180" y="416"/>
                  <a:pt x="181" y="416"/>
                </a:cubicBezTo>
                <a:cubicBezTo>
                  <a:pt x="185" y="416"/>
                  <a:pt x="189" y="413"/>
                  <a:pt x="191" y="409"/>
                </a:cubicBezTo>
                <a:cubicBezTo>
                  <a:pt x="220" y="330"/>
                  <a:pt x="220" y="330"/>
                  <a:pt x="220" y="330"/>
                </a:cubicBezTo>
                <a:cubicBezTo>
                  <a:pt x="245" y="330"/>
                  <a:pt x="245" y="330"/>
                  <a:pt x="245" y="330"/>
                </a:cubicBezTo>
                <a:cubicBezTo>
                  <a:pt x="245" y="373"/>
                  <a:pt x="245" y="373"/>
                  <a:pt x="245" y="373"/>
                </a:cubicBezTo>
                <a:cubicBezTo>
                  <a:pt x="245" y="379"/>
                  <a:pt x="250" y="384"/>
                  <a:pt x="256" y="384"/>
                </a:cubicBezTo>
                <a:cubicBezTo>
                  <a:pt x="262" y="384"/>
                  <a:pt x="266" y="379"/>
                  <a:pt x="266" y="373"/>
                </a:cubicBezTo>
                <a:cubicBezTo>
                  <a:pt x="266" y="330"/>
                  <a:pt x="266" y="330"/>
                  <a:pt x="266" y="330"/>
                </a:cubicBezTo>
                <a:cubicBezTo>
                  <a:pt x="291" y="330"/>
                  <a:pt x="291" y="330"/>
                  <a:pt x="291" y="330"/>
                </a:cubicBezTo>
                <a:cubicBezTo>
                  <a:pt x="320" y="409"/>
                  <a:pt x="320" y="409"/>
                  <a:pt x="320" y="409"/>
                </a:cubicBezTo>
                <a:cubicBezTo>
                  <a:pt x="322" y="413"/>
                  <a:pt x="326" y="416"/>
                  <a:pt x="330" y="416"/>
                </a:cubicBezTo>
                <a:cubicBezTo>
                  <a:pt x="332" y="416"/>
                  <a:pt x="333" y="415"/>
                  <a:pt x="334" y="415"/>
                </a:cubicBezTo>
                <a:cubicBezTo>
                  <a:pt x="340" y="413"/>
                  <a:pt x="342" y="407"/>
                  <a:pt x="340" y="401"/>
                </a:cubicBezTo>
                <a:cubicBezTo>
                  <a:pt x="314" y="330"/>
                  <a:pt x="314" y="330"/>
                  <a:pt x="314" y="330"/>
                </a:cubicBezTo>
                <a:cubicBezTo>
                  <a:pt x="384" y="330"/>
                  <a:pt x="384" y="330"/>
                  <a:pt x="384" y="330"/>
                </a:cubicBezTo>
                <a:cubicBezTo>
                  <a:pt x="390" y="330"/>
                  <a:pt x="394" y="326"/>
                  <a:pt x="394" y="320"/>
                </a:cubicBezTo>
                <a:lnTo>
                  <a:pt x="394" y="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8" name="Rectangle 17">
            <a:extLst>
              <a:ext uri="{FF2B5EF4-FFF2-40B4-BE49-F238E27FC236}">
                <a16:creationId xmlns:a16="http://schemas.microsoft.com/office/drawing/2014/main" id="{8C77E4A3-DB9C-4F83-A450-A9979ECBA7C9}"/>
              </a:ext>
            </a:extLst>
          </p:cNvPr>
          <p:cNvSpPr/>
          <p:nvPr/>
        </p:nvSpPr>
        <p:spPr bwMode="auto">
          <a:xfrm>
            <a:off x="0" y="1558209"/>
            <a:ext cx="12192000" cy="789575"/>
          </a:xfrm>
          <a:prstGeom prst="rect">
            <a:avLst/>
          </a:prstGeom>
          <a:solidFill>
            <a:schemeClr val="bg1">
              <a:lumMod val="95000"/>
            </a:schemeClr>
          </a:solidFill>
          <a:ln w="3175" cap="flat" cmpd="sng" algn="ctr">
            <a:noFill/>
            <a:prstDash val="solid"/>
            <a:headEnd type="none" w="med" len="med"/>
            <a:tailEnd type="none" w="med" len="med"/>
          </a:ln>
          <a:effectLst/>
        </p:spPr>
        <p:txBody>
          <a:bodyPr vert="horz" wrap="square" lIns="91440" tIns="91440" rIns="91440" bIns="91440" numCol="1" rtlCol="0" anchor="ctr" anchorCtr="0" compatLnSpc="1">
            <a:prstTxWarp prst="textNoShape">
              <a:avLst/>
            </a:prstTxWarp>
            <a:spAutoFit/>
          </a:bodyPr>
          <a:lstStyle/>
          <a:p>
            <a:pPr algn="ctr" defTabSz="829178" fontAlgn="base">
              <a:lnSpc>
                <a:spcPts val="1632"/>
              </a:lnSpc>
              <a:spcBef>
                <a:spcPct val="50000"/>
              </a:spcBef>
              <a:spcAft>
                <a:spcPct val="0"/>
              </a:spcAft>
              <a:defRPr/>
            </a:pPr>
            <a:r>
              <a:rPr lang="en-US" sz="1200" b="1" kern="0" dirty="0">
                <a:solidFill>
                  <a:prstClr val="black"/>
                </a:solidFill>
                <a:latin typeface="+mj-lt"/>
              </a:rPr>
              <a:t>Our </a:t>
            </a:r>
            <a:r>
              <a:rPr lang="en-US" sz="1200" b="1" kern="0" dirty="0" err="1">
                <a:solidFill>
                  <a:schemeClr val="accent5"/>
                </a:solidFill>
                <a:latin typeface="+mj-lt"/>
              </a:rPr>
              <a:t>Dashbboard</a:t>
            </a:r>
            <a:r>
              <a:rPr lang="en-US" sz="1200" b="1" kern="0" dirty="0">
                <a:solidFill>
                  <a:schemeClr val="accent5"/>
                </a:solidFill>
                <a:latin typeface="+mj-lt"/>
              </a:rPr>
              <a:t> and reporting </a:t>
            </a:r>
            <a:r>
              <a:rPr lang="en-US" sz="1200" b="1" kern="0" dirty="0">
                <a:solidFill>
                  <a:prstClr val="black"/>
                </a:solidFill>
                <a:latin typeface="+mj-lt"/>
              </a:rPr>
              <a:t>solution addresses the key constraints of </a:t>
            </a:r>
            <a:r>
              <a:rPr lang="en-US" sz="1200" b="1" kern="0" dirty="0">
                <a:solidFill>
                  <a:schemeClr val="accent5"/>
                </a:solidFill>
                <a:latin typeface="+mj-lt"/>
              </a:rPr>
              <a:t>People, Process and Technology </a:t>
            </a:r>
            <a:r>
              <a:rPr lang="en-US" sz="1200" b="1" kern="0" dirty="0">
                <a:solidFill>
                  <a:prstClr val="black"/>
                </a:solidFill>
                <a:latin typeface="+mj-lt"/>
              </a:rPr>
              <a:t>to empower each decision maker to</a:t>
            </a:r>
            <a:br>
              <a:rPr lang="en-US" sz="1200" b="1" kern="0" dirty="0">
                <a:solidFill>
                  <a:prstClr val="black"/>
                </a:solidFill>
                <a:latin typeface="+mj-lt"/>
              </a:rPr>
            </a:br>
            <a:r>
              <a:rPr lang="en-US" sz="1200" b="1" kern="0" dirty="0">
                <a:solidFill>
                  <a:prstClr val="black"/>
                </a:solidFill>
                <a:latin typeface="+mj-lt"/>
              </a:rPr>
              <a:t> have an </a:t>
            </a:r>
            <a:r>
              <a:rPr lang="en-US" sz="1200" b="1" kern="0" dirty="0">
                <a:solidFill>
                  <a:schemeClr val="accent5"/>
                </a:solidFill>
                <a:latin typeface="+mj-lt"/>
              </a:rPr>
              <a:t>Enterprise Data Warehouse </a:t>
            </a:r>
            <a:r>
              <a:rPr lang="en-US" sz="1200" b="1" kern="0" dirty="0">
                <a:latin typeface="+mj-lt"/>
              </a:rPr>
              <a:t>to automate</a:t>
            </a:r>
            <a:r>
              <a:rPr lang="en-US" sz="1200" b="1" kern="0" dirty="0">
                <a:solidFill>
                  <a:schemeClr val="accent1"/>
                </a:solidFill>
                <a:latin typeface="+mj-lt"/>
              </a:rPr>
              <a:t> </a:t>
            </a:r>
            <a:r>
              <a:rPr lang="en-US" sz="1200" b="1" kern="0" dirty="0">
                <a:solidFill>
                  <a:schemeClr val="accent5"/>
                </a:solidFill>
                <a:latin typeface="+mj-lt"/>
              </a:rPr>
              <a:t>MIS</a:t>
            </a:r>
            <a:r>
              <a:rPr lang="en-US" sz="1200" b="1" kern="0" dirty="0">
                <a:solidFill>
                  <a:schemeClr val="accent1"/>
                </a:solidFill>
                <a:latin typeface="+mj-lt"/>
              </a:rPr>
              <a:t> </a:t>
            </a:r>
            <a:r>
              <a:rPr lang="en-US" sz="1200" b="1" kern="0" dirty="0">
                <a:solidFill>
                  <a:prstClr val="black"/>
                </a:solidFill>
                <a:latin typeface="+mj-lt"/>
              </a:rPr>
              <a:t>of their </a:t>
            </a:r>
            <a:r>
              <a:rPr lang="en-US" sz="1200" b="1" kern="0" dirty="0">
                <a:solidFill>
                  <a:schemeClr val="accent5"/>
                </a:solidFill>
                <a:latin typeface="+mj-lt"/>
              </a:rPr>
              <a:t>KPIs</a:t>
            </a:r>
            <a:r>
              <a:rPr lang="en-US" sz="1200" b="1" kern="0" dirty="0">
                <a:latin typeface="+mj-lt"/>
              </a:rPr>
              <a:t>, w</a:t>
            </a:r>
            <a:r>
              <a:rPr lang="en-US" sz="1200" b="1" kern="0" dirty="0">
                <a:solidFill>
                  <a:prstClr val="black"/>
                </a:solidFill>
                <a:latin typeface="+mj-lt"/>
              </a:rPr>
              <a:t>ith </a:t>
            </a:r>
            <a:r>
              <a:rPr lang="en-US" sz="1200" b="1" kern="0" dirty="0">
                <a:solidFill>
                  <a:schemeClr val="accent5"/>
                </a:solidFill>
                <a:latin typeface="+mj-lt"/>
              </a:rPr>
              <a:t>customized views</a:t>
            </a:r>
            <a:r>
              <a:rPr lang="en-US" sz="1200" b="1" kern="0" dirty="0">
                <a:solidFill>
                  <a:schemeClr val="accent1"/>
                </a:solidFill>
                <a:latin typeface="+mj-lt"/>
              </a:rPr>
              <a:t> </a:t>
            </a:r>
            <a:r>
              <a:rPr lang="en-US" sz="1200" b="1" kern="0" dirty="0">
                <a:solidFill>
                  <a:prstClr val="black"/>
                </a:solidFill>
                <a:latin typeface="+mj-lt"/>
              </a:rPr>
              <a:t>and the ability to </a:t>
            </a:r>
            <a:r>
              <a:rPr lang="en-US" sz="1200" b="1" kern="0" dirty="0">
                <a:solidFill>
                  <a:schemeClr val="accent5"/>
                </a:solidFill>
                <a:latin typeface="+mj-lt"/>
              </a:rPr>
              <a:t>deep-dive</a:t>
            </a:r>
            <a:r>
              <a:rPr lang="en-US" sz="1200" b="1" kern="0" dirty="0">
                <a:solidFill>
                  <a:schemeClr val="accent1"/>
                </a:solidFill>
                <a:latin typeface="+mj-lt"/>
              </a:rPr>
              <a:t> </a:t>
            </a:r>
            <a:r>
              <a:rPr lang="en-US" sz="1200" b="1" kern="0" dirty="0">
                <a:solidFill>
                  <a:prstClr val="black"/>
                </a:solidFill>
                <a:latin typeface="+mj-lt"/>
              </a:rPr>
              <a:t>into specific areas through drill down, providing </a:t>
            </a:r>
            <a:br>
              <a:rPr lang="en-US" sz="1200" b="1" kern="0" dirty="0">
                <a:solidFill>
                  <a:prstClr val="black"/>
                </a:solidFill>
                <a:latin typeface="+mj-lt"/>
              </a:rPr>
            </a:br>
            <a:r>
              <a:rPr lang="en-US" sz="1200" b="1" kern="0" dirty="0">
                <a:solidFill>
                  <a:prstClr val="black"/>
                </a:solidFill>
                <a:latin typeface="+mj-lt"/>
              </a:rPr>
              <a:t>end to end automation and that is available on </a:t>
            </a:r>
            <a:r>
              <a:rPr lang="en-US" sz="1200" b="1" kern="0" dirty="0">
                <a:solidFill>
                  <a:schemeClr val="accent5"/>
                </a:solidFill>
                <a:latin typeface="+mj-lt"/>
              </a:rPr>
              <a:t>mobiles</a:t>
            </a:r>
            <a:r>
              <a:rPr lang="en-US" sz="1200" b="1" kern="0" dirty="0">
                <a:solidFill>
                  <a:srgbClr val="C00000"/>
                </a:solidFill>
                <a:latin typeface="+mj-lt"/>
              </a:rPr>
              <a:t> </a:t>
            </a:r>
            <a:r>
              <a:rPr lang="en-US" sz="1200" b="1" kern="0" dirty="0">
                <a:solidFill>
                  <a:prstClr val="black"/>
                </a:solidFill>
                <a:latin typeface="+mj-lt"/>
              </a:rPr>
              <a:t>and</a:t>
            </a:r>
            <a:r>
              <a:rPr lang="en-US" sz="1200" b="1" kern="0" dirty="0">
                <a:solidFill>
                  <a:srgbClr val="C00000"/>
                </a:solidFill>
                <a:latin typeface="+mj-lt"/>
              </a:rPr>
              <a:t> </a:t>
            </a:r>
            <a:r>
              <a:rPr lang="en-US" sz="1200" b="1" kern="0" dirty="0">
                <a:solidFill>
                  <a:schemeClr val="accent5"/>
                </a:solidFill>
                <a:latin typeface="+mj-lt"/>
              </a:rPr>
              <a:t>desktops</a:t>
            </a:r>
            <a:r>
              <a:rPr lang="en-US" sz="1200" b="1" kern="0" dirty="0">
                <a:solidFill>
                  <a:srgbClr val="C00000"/>
                </a:solidFill>
                <a:latin typeface="+mj-lt"/>
              </a:rPr>
              <a:t> </a:t>
            </a:r>
            <a:r>
              <a:rPr lang="en-US" sz="1200" b="1" kern="0" dirty="0">
                <a:solidFill>
                  <a:prstClr val="black"/>
                </a:solidFill>
                <a:latin typeface="+mj-lt"/>
              </a:rPr>
              <a:t>for </a:t>
            </a:r>
            <a:r>
              <a:rPr lang="en-US" sz="1200" b="1" kern="0" dirty="0">
                <a:solidFill>
                  <a:schemeClr val="accent5"/>
                </a:solidFill>
                <a:latin typeface="+mj-lt"/>
              </a:rPr>
              <a:t>“Paperless reviews”</a:t>
            </a:r>
          </a:p>
        </p:txBody>
      </p:sp>
      <p:graphicFrame>
        <p:nvGraphicFramePr>
          <p:cNvPr id="23" name="Diagram 22">
            <a:extLst>
              <a:ext uri="{FF2B5EF4-FFF2-40B4-BE49-F238E27FC236}">
                <a16:creationId xmlns:a16="http://schemas.microsoft.com/office/drawing/2014/main" id="{79E27467-7C84-4491-A3C9-832EBFFB0E18}"/>
              </a:ext>
            </a:extLst>
          </p:cNvPr>
          <p:cNvGraphicFramePr/>
          <p:nvPr/>
        </p:nvGraphicFramePr>
        <p:xfrm>
          <a:off x="4733736" y="2972664"/>
          <a:ext cx="2694183" cy="2231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4" name="TextBox 23">
            <a:extLst>
              <a:ext uri="{FF2B5EF4-FFF2-40B4-BE49-F238E27FC236}">
                <a16:creationId xmlns:a16="http://schemas.microsoft.com/office/drawing/2014/main" id="{6EA38BE9-2365-47B3-9A57-A9521F387442}"/>
              </a:ext>
            </a:extLst>
          </p:cNvPr>
          <p:cNvSpPr txBox="1"/>
          <p:nvPr/>
        </p:nvSpPr>
        <p:spPr>
          <a:xfrm>
            <a:off x="4709227" y="2554320"/>
            <a:ext cx="2743200" cy="326036"/>
          </a:xfrm>
          <a:prstGeom prst="rect">
            <a:avLst/>
          </a:prstGeom>
          <a:noFill/>
        </p:spPr>
        <p:txBody>
          <a:bodyPr wrap="square" lIns="48967" tIns="48967" rIns="48967" bIns="48967" rtlCol="0" anchor="ctr">
            <a:noAutofit/>
          </a:bodyPr>
          <a:lstStyle/>
          <a:p>
            <a:pPr algn="ctr" defTabSz="829178"/>
            <a:r>
              <a:rPr lang="en-US" sz="1200" b="1" dirty="0">
                <a:solidFill>
                  <a:prstClr val="black"/>
                </a:solidFill>
                <a:latin typeface="+mj-lt"/>
              </a:rPr>
              <a:t>KPI FRAMEWORK &amp; INFORMATION LAYERING</a:t>
            </a:r>
          </a:p>
        </p:txBody>
      </p:sp>
      <p:sp>
        <p:nvSpPr>
          <p:cNvPr id="44" name="TextBox 43">
            <a:extLst>
              <a:ext uri="{FF2B5EF4-FFF2-40B4-BE49-F238E27FC236}">
                <a16:creationId xmlns:a16="http://schemas.microsoft.com/office/drawing/2014/main" id="{3714786D-B8F3-4667-B611-1DCDC8AB48AD}"/>
              </a:ext>
            </a:extLst>
          </p:cNvPr>
          <p:cNvSpPr txBox="1"/>
          <p:nvPr/>
        </p:nvSpPr>
        <p:spPr>
          <a:xfrm>
            <a:off x="901818" y="2554320"/>
            <a:ext cx="2743200" cy="326036"/>
          </a:xfrm>
          <a:prstGeom prst="rect">
            <a:avLst/>
          </a:prstGeom>
          <a:noFill/>
        </p:spPr>
        <p:txBody>
          <a:bodyPr wrap="square" lIns="48967" tIns="48967" rIns="48967" bIns="48967" rtlCol="0" anchor="ctr">
            <a:noAutofit/>
          </a:bodyPr>
          <a:lstStyle/>
          <a:p>
            <a:pPr algn="ctr" defTabSz="829178"/>
            <a:r>
              <a:rPr lang="en-US" sz="1200" b="1" dirty="0">
                <a:solidFill>
                  <a:prstClr val="black"/>
                </a:solidFill>
                <a:latin typeface="+mj-lt"/>
              </a:rPr>
              <a:t>CRITICAL BUSINESS DIMENSIONS</a:t>
            </a:r>
          </a:p>
        </p:txBody>
      </p:sp>
      <p:grpSp>
        <p:nvGrpSpPr>
          <p:cNvPr id="57" name="Group 7">
            <a:extLst>
              <a:ext uri="{FF2B5EF4-FFF2-40B4-BE49-F238E27FC236}">
                <a16:creationId xmlns:a16="http://schemas.microsoft.com/office/drawing/2014/main" id="{6F099141-F89B-4863-BC8A-4CA1DD2BB8F7}"/>
              </a:ext>
            </a:extLst>
          </p:cNvPr>
          <p:cNvGrpSpPr>
            <a:grpSpLocks/>
          </p:cNvGrpSpPr>
          <p:nvPr/>
        </p:nvGrpSpPr>
        <p:grpSpPr bwMode="auto">
          <a:xfrm>
            <a:off x="1097255" y="2972664"/>
            <a:ext cx="2352327" cy="2300387"/>
            <a:chOff x="643" y="1936"/>
            <a:chExt cx="1363" cy="1288"/>
          </a:xfrm>
        </p:grpSpPr>
        <p:sp>
          <p:nvSpPr>
            <p:cNvPr id="60" name="Rectangle 9">
              <a:extLst>
                <a:ext uri="{FF2B5EF4-FFF2-40B4-BE49-F238E27FC236}">
                  <a16:creationId xmlns:a16="http://schemas.microsoft.com/office/drawing/2014/main" id="{98119800-9C13-4E4A-AAEA-3314C02FFA8C}"/>
                </a:ext>
              </a:extLst>
            </p:cNvPr>
            <p:cNvSpPr>
              <a:spLocks noChangeArrowheads="1"/>
            </p:cNvSpPr>
            <p:nvPr/>
          </p:nvSpPr>
          <p:spPr bwMode="auto">
            <a:xfrm>
              <a:off x="643" y="2396"/>
              <a:ext cx="886" cy="248"/>
            </a:xfrm>
            <a:prstGeom prst="rect">
              <a:avLst/>
            </a:prstGeom>
            <a:solidFill>
              <a:schemeClr val="accent5">
                <a:lumMod val="20000"/>
                <a:lumOff val="80000"/>
              </a:schemeClr>
            </a:solidFill>
            <a:ln w="9525">
              <a:noFill/>
              <a:miter lim="800000"/>
              <a:headEnd/>
              <a:tailEnd/>
            </a:ln>
          </p:spPr>
          <p:txBody>
            <a:bodyPr wrap="none" anchor="ctr"/>
            <a:lstStyle/>
            <a:p>
              <a:pPr algn="ctr" defTabSz="829178">
                <a:defRPr/>
              </a:pPr>
              <a:r>
                <a:rPr lang="en-US" sz="900" kern="0" dirty="0">
                  <a:solidFill>
                    <a:prstClr val="black"/>
                  </a:solidFill>
                  <a:latin typeface="+mj-lt"/>
                  <a:cs typeface="Arial" pitchFamily="34" charset="0"/>
                </a:rPr>
                <a:t>People</a:t>
              </a:r>
            </a:p>
          </p:txBody>
        </p:sp>
        <p:sp>
          <p:nvSpPr>
            <p:cNvPr id="61" name="Rectangle 10">
              <a:extLst>
                <a:ext uri="{FF2B5EF4-FFF2-40B4-BE49-F238E27FC236}">
                  <a16:creationId xmlns:a16="http://schemas.microsoft.com/office/drawing/2014/main" id="{8475550D-22E4-426F-BBFA-54AF7018BD8C}"/>
                </a:ext>
              </a:extLst>
            </p:cNvPr>
            <p:cNvSpPr>
              <a:spLocks noChangeArrowheads="1"/>
            </p:cNvSpPr>
            <p:nvPr/>
          </p:nvSpPr>
          <p:spPr bwMode="auto">
            <a:xfrm>
              <a:off x="643" y="2681"/>
              <a:ext cx="886" cy="247"/>
            </a:xfrm>
            <a:prstGeom prst="rect">
              <a:avLst/>
            </a:prstGeom>
            <a:solidFill>
              <a:schemeClr val="accent5">
                <a:lumMod val="20000"/>
                <a:lumOff val="80000"/>
              </a:schemeClr>
            </a:solidFill>
            <a:ln w="9525" algn="ctr">
              <a:noFill/>
              <a:miter lim="800000"/>
              <a:headEnd/>
              <a:tailEnd/>
            </a:ln>
          </p:spPr>
          <p:txBody>
            <a:bodyPr wrap="none" anchor="ctr"/>
            <a:lstStyle/>
            <a:p>
              <a:pPr algn="ctr" defTabSz="829178">
                <a:defRPr/>
              </a:pPr>
              <a:r>
                <a:rPr lang="en-US" sz="900" kern="0" dirty="0">
                  <a:solidFill>
                    <a:prstClr val="black"/>
                  </a:solidFill>
                  <a:latin typeface="+mj-lt"/>
                  <a:cs typeface="Arial" pitchFamily="34" charset="0"/>
                </a:rPr>
                <a:t>Process</a:t>
              </a:r>
            </a:p>
          </p:txBody>
        </p:sp>
        <p:sp>
          <p:nvSpPr>
            <p:cNvPr id="62" name="Rectangle 11">
              <a:extLst>
                <a:ext uri="{FF2B5EF4-FFF2-40B4-BE49-F238E27FC236}">
                  <a16:creationId xmlns:a16="http://schemas.microsoft.com/office/drawing/2014/main" id="{B8BFE54B-19B9-4DAB-A01D-F10A3829D811}"/>
                </a:ext>
              </a:extLst>
            </p:cNvPr>
            <p:cNvSpPr>
              <a:spLocks noChangeArrowheads="1"/>
            </p:cNvSpPr>
            <p:nvPr/>
          </p:nvSpPr>
          <p:spPr bwMode="auto">
            <a:xfrm>
              <a:off x="643" y="2971"/>
              <a:ext cx="886" cy="247"/>
            </a:xfrm>
            <a:prstGeom prst="rect">
              <a:avLst/>
            </a:prstGeom>
            <a:solidFill>
              <a:schemeClr val="accent5">
                <a:lumMod val="20000"/>
                <a:lumOff val="80000"/>
              </a:schemeClr>
            </a:solidFill>
            <a:ln w="9525" algn="ctr">
              <a:noFill/>
              <a:miter lim="800000"/>
              <a:headEnd/>
              <a:tailEnd/>
            </a:ln>
          </p:spPr>
          <p:txBody>
            <a:bodyPr wrap="none" anchor="ctr"/>
            <a:lstStyle/>
            <a:p>
              <a:pPr algn="ctr" defTabSz="829178">
                <a:defRPr/>
              </a:pPr>
              <a:r>
                <a:rPr lang="en-US" sz="900" kern="0" dirty="0">
                  <a:solidFill>
                    <a:prstClr val="black"/>
                  </a:solidFill>
                  <a:latin typeface="+mj-lt"/>
                  <a:cs typeface="Arial" pitchFamily="34" charset="0"/>
                </a:rPr>
                <a:t>Technology</a:t>
              </a:r>
            </a:p>
          </p:txBody>
        </p:sp>
        <p:sp>
          <p:nvSpPr>
            <p:cNvPr id="63" name="AutoShape 12">
              <a:extLst>
                <a:ext uri="{FF2B5EF4-FFF2-40B4-BE49-F238E27FC236}">
                  <a16:creationId xmlns:a16="http://schemas.microsoft.com/office/drawing/2014/main" id="{3612F48F-E532-4EE5-830B-ED8DF412BCB1}"/>
                </a:ext>
              </a:extLst>
            </p:cNvPr>
            <p:cNvSpPr>
              <a:spLocks noChangeArrowheads="1"/>
            </p:cNvSpPr>
            <p:nvPr/>
          </p:nvSpPr>
          <p:spPr bwMode="auto">
            <a:xfrm>
              <a:off x="656" y="2235"/>
              <a:ext cx="1001" cy="125"/>
            </a:xfrm>
            <a:prstGeom prst="parallelogram">
              <a:avLst>
                <a:gd name="adj" fmla="val 100582"/>
              </a:avLst>
            </a:prstGeom>
            <a:solidFill>
              <a:schemeClr val="accent5">
                <a:lumMod val="20000"/>
                <a:lumOff val="80000"/>
              </a:schemeClr>
            </a:solidFill>
            <a:ln w="9525" algn="ctr">
              <a:noFill/>
              <a:miter lim="800000"/>
              <a:headEnd/>
              <a:tailEnd/>
            </a:ln>
          </p:spPr>
          <p:txBody>
            <a:bodyPr wrap="none" anchor="ctr"/>
            <a:lstStyle/>
            <a:p>
              <a:pPr algn="ctr" defTabSz="829178">
                <a:defRPr/>
              </a:pPr>
              <a:r>
                <a:rPr lang="en-US" sz="900" kern="0" dirty="0">
                  <a:solidFill>
                    <a:prstClr val="black"/>
                  </a:solidFill>
                  <a:latin typeface="+mj-lt"/>
                  <a:cs typeface="Arial" pitchFamily="34" charset="0"/>
                </a:rPr>
                <a:t>Strategy</a:t>
              </a:r>
            </a:p>
          </p:txBody>
        </p:sp>
        <p:sp>
          <p:nvSpPr>
            <p:cNvPr id="64" name="AutoShape 13">
              <a:extLst>
                <a:ext uri="{FF2B5EF4-FFF2-40B4-BE49-F238E27FC236}">
                  <a16:creationId xmlns:a16="http://schemas.microsoft.com/office/drawing/2014/main" id="{5FD54649-FDCE-4773-AA75-0D0AEBB1920E}"/>
                </a:ext>
              </a:extLst>
            </p:cNvPr>
            <p:cNvSpPr>
              <a:spLocks noChangeArrowheads="1"/>
            </p:cNvSpPr>
            <p:nvPr/>
          </p:nvSpPr>
          <p:spPr bwMode="auto">
            <a:xfrm rot="16200000" flipH="1">
              <a:off x="1459" y="2103"/>
              <a:ext cx="660" cy="421"/>
            </a:xfrm>
            <a:prstGeom prst="parallelogram">
              <a:avLst>
                <a:gd name="adj" fmla="val 100472"/>
              </a:avLst>
            </a:prstGeom>
            <a:solidFill>
              <a:schemeClr val="accent5">
                <a:lumMod val="20000"/>
                <a:lumOff val="80000"/>
              </a:schemeClr>
            </a:solidFill>
            <a:ln w="9525" algn="ctr">
              <a:noFill/>
              <a:miter lim="800000"/>
              <a:headEnd/>
              <a:tailEnd/>
            </a:ln>
          </p:spPr>
          <p:txBody>
            <a:bodyPr vert="eaVert" wrap="none" anchor="ctr"/>
            <a:lstStyle/>
            <a:p>
              <a:pPr algn="ctr" defTabSz="829178">
                <a:defRPr/>
              </a:pPr>
              <a:endParaRPr lang="en-GB" sz="900" kern="0" dirty="0">
                <a:solidFill>
                  <a:prstClr val="black"/>
                </a:solidFill>
                <a:latin typeface="+mj-lt"/>
                <a:cs typeface="Arial" pitchFamily="34" charset="0"/>
              </a:endParaRPr>
            </a:p>
          </p:txBody>
        </p:sp>
        <p:sp>
          <p:nvSpPr>
            <p:cNvPr id="65" name="AutoShape 14">
              <a:extLst>
                <a:ext uri="{FF2B5EF4-FFF2-40B4-BE49-F238E27FC236}">
                  <a16:creationId xmlns:a16="http://schemas.microsoft.com/office/drawing/2014/main" id="{6C2E77F4-5AC3-438D-B071-81901334EEA8}"/>
                </a:ext>
              </a:extLst>
            </p:cNvPr>
            <p:cNvSpPr>
              <a:spLocks noChangeArrowheads="1"/>
            </p:cNvSpPr>
            <p:nvPr/>
          </p:nvSpPr>
          <p:spPr bwMode="auto">
            <a:xfrm rot="16200000" flipH="1">
              <a:off x="1459" y="2387"/>
              <a:ext cx="660" cy="421"/>
            </a:xfrm>
            <a:prstGeom prst="parallelogram">
              <a:avLst>
                <a:gd name="adj" fmla="val 100472"/>
              </a:avLst>
            </a:prstGeom>
            <a:solidFill>
              <a:schemeClr val="accent5">
                <a:lumMod val="20000"/>
                <a:lumOff val="80000"/>
              </a:schemeClr>
            </a:solidFill>
            <a:ln w="9525" algn="ctr">
              <a:noFill/>
              <a:miter lim="800000"/>
              <a:headEnd/>
              <a:tailEnd/>
            </a:ln>
          </p:spPr>
          <p:txBody>
            <a:bodyPr vert="eaVert" wrap="none" anchor="ctr"/>
            <a:lstStyle/>
            <a:p>
              <a:pPr algn="ctr" defTabSz="829178">
                <a:defRPr/>
              </a:pPr>
              <a:endParaRPr lang="en-GB" sz="900" kern="0" dirty="0">
                <a:solidFill>
                  <a:prstClr val="black"/>
                </a:solidFill>
                <a:latin typeface="+mj-lt"/>
                <a:cs typeface="Arial" pitchFamily="34" charset="0"/>
              </a:endParaRPr>
            </a:p>
          </p:txBody>
        </p:sp>
        <p:sp>
          <p:nvSpPr>
            <p:cNvPr id="66" name="AutoShape 15">
              <a:extLst>
                <a:ext uri="{FF2B5EF4-FFF2-40B4-BE49-F238E27FC236}">
                  <a16:creationId xmlns:a16="http://schemas.microsoft.com/office/drawing/2014/main" id="{DE2471B3-FCA9-4A14-85A6-5D80B77F1BEB}"/>
                </a:ext>
              </a:extLst>
            </p:cNvPr>
            <p:cNvSpPr>
              <a:spLocks noChangeArrowheads="1"/>
            </p:cNvSpPr>
            <p:nvPr/>
          </p:nvSpPr>
          <p:spPr bwMode="auto">
            <a:xfrm>
              <a:off x="808" y="2085"/>
              <a:ext cx="1001" cy="125"/>
            </a:xfrm>
            <a:prstGeom prst="parallelogram">
              <a:avLst>
                <a:gd name="adj" fmla="val 100582"/>
              </a:avLst>
            </a:prstGeom>
            <a:solidFill>
              <a:schemeClr val="accent5">
                <a:lumMod val="20000"/>
                <a:lumOff val="80000"/>
              </a:schemeClr>
            </a:solidFill>
            <a:ln w="9525" algn="ctr">
              <a:noFill/>
              <a:miter lim="800000"/>
              <a:headEnd/>
              <a:tailEnd/>
            </a:ln>
          </p:spPr>
          <p:txBody>
            <a:bodyPr wrap="none" anchor="ctr"/>
            <a:lstStyle/>
            <a:p>
              <a:pPr algn="ctr" defTabSz="829178">
                <a:defRPr/>
              </a:pPr>
              <a:r>
                <a:rPr lang="en-US" sz="900" kern="0" dirty="0">
                  <a:solidFill>
                    <a:prstClr val="black"/>
                  </a:solidFill>
                  <a:latin typeface="+mj-lt"/>
                  <a:cs typeface="Arial" pitchFamily="34" charset="0"/>
                </a:rPr>
                <a:t>Support</a:t>
              </a:r>
            </a:p>
          </p:txBody>
        </p:sp>
        <p:sp>
          <p:nvSpPr>
            <p:cNvPr id="67" name="AutoShape 16">
              <a:extLst>
                <a:ext uri="{FF2B5EF4-FFF2-40B4-BE49-F238E27FC236}">
                  <a16:creationId xmlns:a16="http://schemas.microsoft.com/office/drawing/2014/main" id="{0AA470F4-4A3F-4700-A64F-7FF850B64219}"/>
                </a:ext>
              </a:extLst>
            </p:cNvPr>
            <p:cNvSpPr>
              <a:spLocks noChangeArrowheads="1"/>
            </p:cNvSpPr>
            <p:nvPr/>
          </p:nvSpPr>
          <p:spPr bwMode="auto">
            <a:xfrm>
              <a:off x="959" y="1936"/>
              <a:ext cx="1001" cy="125"/>
            </a:xfrm>
            <a:prstGeom prst="parallelogram">
              <a:avLst>
                <a:gd name="adj" fmla="val 100582"/>
              </a:avLst>
            </a:prstGeom>
            <a:solidFill>
              <a:schemeClr val="accent5">
                <a:lumMod val="20000"/>
                <a:lumOff val="80000"/>
              </a:schemeClr>
            </a:solidFill>
            <a:ln w="9525" algn="ctr">
              <a:noFill/>
              <a:miter lim="800000"/>
              <a:headEnd/>
              <a:tailEnd/>
            </a:ln>
          </p:spPr>
          <p:txBody>
            <a:bodyPr wrap="none" anchor="ctr"/>
            <a:lstStyle/>
            <a:p>
              <a:pPr algn="ctr" defTabSz="829178">
                <a:defRPr/>
              </a:pPr>
              <a:r>
                <a:rPr lang="en-US" sz="900" kern="0" dirty="0">
                  <a:solidFill>
                    <a:prstClr val="black"/>
                  </a:solidFill>
                  <a:latin typeface="+mj-lt"/>
                  <a:cs typeface="Arial" pitchFamily="34" charset="0"/>
                </a:rPr>
                <a:t>Supplier / Operations</a:t>
              </a:r>
            </a:p>
          </p:txBody>
        </p:sp>
        <p:sp>
          <p:nvSpPr>
            <p:cNvPr id="68" name="AutoShape 17">
              <a:extLst>
                <a:ext uri="{FF2B5EF4-FFF2-40B4-BE49-F238E27FC236}">
                  <a16:creationId xmlns:a16="http://schemas.microsoft.com/office/drawing/2014/main" id="{78161446-6513-471C-97C1-4F0495064BD6}"/>
                </a:ext>
              </a:extLst>
            </p:cNvPr>
            <p:cNvSpPr>
              <a:spLocks noChangeArrowheads="1"/>
            </p:cNvSpPr>
            <p:nvPr/>
          </p:nvSpPr>
          <p:spPr bwMode="auto">
            <a:xfrm rot="16200000" flipH="1">
              <a:off x="1459" y="2683"/>
              <a:ext cx="660" cy="421"/>
            </a:xfrm>
            <a:prstGeom prst="parallelogram">
              <a:avLst>
                <a:gd name="adj" fmla="val 100472"/>
              </a:avLst>
            </a:prstGeom>
            <a:solidFill>
              <a:schemeClr val="accent5">
                <a:lumMod val="20000"/>
                <a:lumOff val="80000"/>
              </a:schemeClr>
            </a:solidFill>
            <a:ln w="9525" algn="ctr">
              <a:noFill/>
              <a:miter lim="800000"/>
              <a:headEnd/>
              <a:tailEnd/>
            </a:ln>
          </p:spPr>
          <p:txBody>
            <a:bodyPr vert="eaVert" wrap="none" anchor="ctr"/>
            <a:lstStyle/>
            <a:p>
              <a:pPr algn="ctr" defTabSz="829178">
                <a:defRPr/>
              </a:pPr>
              <a:endParaRPr lang="en-GB" sz="900" kern="0" dirty="0">
                <a:solidFill>
                  <a:prstClr val="black"/>
                </a:solidFill>
                <a:latin typeface="+mj-lt"/>
                <a:cs typeface="Arial" pitchFamily="34" charset="0"/>
              </a:endParaRPr>
            </a:p>
          </p:txBody>
        </p:sp>
        <p:sp>
          <p:nvSpPr>
            <p:cNvPr id="69" name="Text Box 18">
              <a:extLst>
                <a:ext uri="{FF2B5EF4-FFF2-40B4-BE49-F238E27FC236}">
                  <a16:creationId xmlns:a16="http://schemas.microsoft.com/office/drawing/2014/main" id="{07A2FDC3-0D1A-4B83-8F2E-5A85420092E5}"/>
                </a:ext>
              </a:extLst>
            </p:cNvPr>
            <p:cNvSpPr txBox="1">
              <a:spLocks noChangeArrowheads="1"/>
            </p:cNvSpPr>
            <p:nvPr/>
          </p:nvSpPr>
          <p:spPr bwMode="auto">
            <a:xfrm rot="18889767">
              <a:off x="1578" y="2843"/>
              <a:ext cx="384" cy="134"/>
            </a:xfrm>
            <a:prstGeom prst="rect">
              <a:avLst/>
            </a:prstGeom>
            <a:noFill/>
            <a:ln w="9525">
              <a:noFill/>
              <a:miter lim="800000"/>
              <a:headEnd/>
              <a:tailEnd/>
            </a:ln>
          </p:spPr>
          <p:txBody>
            <a:bodyPr wrap="none">
              <a:spAutoFit/>
            </a:bodyPr>
            <a:lstStyle/>
            <a:p>
              <a:pPr algn="ctr" defTabSz="829178">
                <a:defRPr/>
              </a:pPr>
              <a:r>
                <a:rPr lang="en-US" sz="900" kern="0" dirty="0">
                  <a:solidFill>
                    <a:prstClr val="black"/>
                  </a:solidFill>
                  <a:latin typeface="+mj-lt"/>
                  <a:cs typeface="Arial" pitchFamily="34" charset="0"/>
                </a:rPr>
                <a:t>Customers</a:t>
              </a:r>
            </a:p>
          </p:txBody>
        </p:sp>
        <p:sp>
          <p:nvSpPr>
            <p:cNvPr id="70" name="Text Box 19">
              <a:extLst>
                <a:ext uri="{FF2B5EF4-FFF2-40B4-BE49-F238E27FC236}">
                  <a16:creationId xmlns:a16="http://schemas.microsoft.com/office/drawing/2014/main" id="{A1852E1A-3ED0-4BBB-B39F-B9627FAD4449}"/>
                </a:ext>
              </a:extLst>
            </p:cNvPr>
            <p:cNvSpPr txBox="1">
              <a:spLocks noChangeArrowheads="1"/>
            </p:cNvSpPr>
            <p:nvPr/>
          </p:nvSpPr>
          <p:spPr bwMode="auto">
            <a:xfrm rot="18890339">
              <a:off x="1566" y="2261"/>
              <a:ext cx="444" cy="134"/>
            </a:xfrm>
            <a:prstGeom prst="rect">
              <a:avLst/>
            </a:prstGeom>
            <a:noFill/>
            <a:ln w="9525">
              <a:noFill/>
              <a:miter lim="800000"/>
              <a:headEnd/>
              <a:tailEnd/>
            </a:ln>
          </p:spPr>
          <p:txBody>
            <a:bodyPr wrap="none">
              <a:spAutoFit/>
            </a:bodyPr>
            <a:lstStyle/>
            <a:p>
              <a:pPr algn="ctr" defTabSz="829178">
                <a:defRPr/>
              </a:pPr>
              <a:r>
                <a:rPr lang="en-US" sz="900" kern="0" dirty="0">
                  <a:solidFill>
                    <a:prstClr val="black"/>
                  </a:solidFill>
                  <a:latin typeface="+mj-lt"/>
                  <a:cs typeface="Arial" pitchFamily="34" charset="0"/>
                </a:rPr>
                <a:t>Stakeholders</a:t>
              </a:r>
            </a:p>
          </p:txBody>
        </p:sp>
        <p:sp>
          <p:nvSpPr>
            <p:cNvPr id="71" name="Text Box 20">
              <a:extLst>
                <a:ext uri="{FF2B5EF4-FFF2-40B4-BE49-F238E27FC236}">
                  <a16:creationId xmlns:a16="http://schemas.microsoft.com/office/drawing/2014/main" id="{BAC85D1D-88DE-4F15-BE4C-2E210E10E079}"/>
                </a:ext>
              </a:extLst>
            </p:cNvPr>
            <p:cNvSpPr txBox="1">
              <a:spLocks noChangeArrowheads="1"/>
            </p:cNvSpPr>
            <p:nvPr/>
          </p:nvSpPr>
          <p:spPr bwMode="auto">
            <a:xfrm rot="18908306">
              <a:off x="1545" y="2505"/>
              <a:ext cx="461" cy="207"/>
            </a:xfrm>
            <a:prstGeom prst="rect">
              <a:avLst/>
            </a:prstGeom>
            <a:noFill/>
            <a:ln w="9525">
              <a:noFill/>
              <a:miter lim="800000"/>
              <a:headEnd/>
              <a:tailEnd/>
            </a:ln>
          </p:spPr>
          <p:txBody>
            <a:bodyPr wrap="none">
              <a:spAutoFit/>
            </a:bodyPr>
            <a:lstStyle/>
            <a:p>
              <a:pPr algn="ctr" defTabSz="829178">
                <a:defRPr/>
              </a:pPr>
              <a:r>
                <a:rPr lang="en-US" sz="900" kern="0" dirty="0">
                  <a:solidFill>
                    <a:prstClr val="black"/>
                  </a:solidFill>
                  <a:latin typeface="+mj-lt"/>
                  <a:cs typeface="Arial" pitchFamily="34" charset="0"/>
                </a:rPr>
                <a:t>External </a:t>
              </a:r>
            </a:p>
            <a:p>
              <a:pPr algn="ctr" defTabSz="829178">
                <a:defRPr/>
              </a:pPr>
              <a:r>
                <a:rPr lang="en-US" sz="900" kern="0" dirty="0">
                  <a:solidFill>
                    <a:prstClr val="black"/>
                  </a:solidFill>
                  <a:latin typeface="+mj-lt"/>
                  <a:cs typeface="Arial" pitchFamily="34" charset="0"/>
                </a:rPr>
                <a:t>environment</a:t>
              </a:r>
            </a:p>
          </p:txBody>
        </p:sp>
      </p:grpSp>
      <p:sp>
        <p:nvSpPr>
          <p:cNvPr id="34" name="TextBox 33">
            <a:extLst>
              <a:ext uri="{FF2B5EF4-FFF2-40B4-BE49-F238E27FC236}">
                <a16:creationId xmlns:a16="http://schemas.microsoft.com/office/drawing/2014/main" id="{3E66CB4A-9494-409D-BEA3-BCBB8373D28E}"/>
              </a:ext>
            </a:extLst>
          </p:cNvPr>
          <p:cNvSpPr txBox="1"/>
          <p:nvPr/>
        </p:nvSpPr>
        <p:spPr>
          <a:xfrm>
            <a:off x="8515538" y="2554320"/>
            <a:ext cx="2743200" cy="326035"/>
          </a:xfrm>
          <a:prstGeom prst="rect">
            <a:avLst/>
          </a:prstGeom>
          <a:noFill/>
        </p:spPr>
        <p:txBody>
          <a:bodyPr wrap="square" lIns="48967" tIns="48967" rIns="48967" bIns="48967" rtlCol="0" anchor="ctr">
            <a:noAutofit/>
          </a:bodyPr>
          <a:lstStyle/>
          <a:p>
            <a:pPr algn="ctr" defTabSz="829178">
              <a:defRPr/>
            </a:pPr>
            <a:r>
              <a:rPr lang="en-US" sz="1200" b="1" kern="0" dirty="0">
                <a:solidFill>
                  <a:prstClr val="black"/>
                </a:solidFill>
                <a:latin typeface="+mj-lt"/>
              </a:rPr>
              <a:t>KPI AUTOMATION &amp; EDW CONCEPTUALIZATION</a:t>
            </a:r>
          </a:p>
        </p:txBody>
      </p:sp>
      <p:grpSp>
        <p:nvGrpSpPr>
          <p:cNvPr id="8" name="Group 7">
            <a:extLst>
              <a:ext uri="{FF2B5EF4-FFF2-40B4-BE49-F238E27FC236}">
                <a16:creationId xmlns:a16="http://schemas.microsoft.com/office/drawing/2014/main" id="{D57A7913-D057-4EC4-9D7A-F13BC58EA47B}"/>
              </a:ext>
            </a:extLst>
          </p:cNvPr>
          <p:cNvGrpSpPr/>
          <p:nvPr/>
        </p:nvGrpSpPr>
        <p:grpSpPr>
          <a:xfrm>
            <a:off x="8486287" y="2972664"/>
            <a:ext cx="2801703" cy="2390122"/>
            <a:chOff x="8486287" y="2907432"/>
            <a:chExt cx="2803896" cy="2391993"/>
          </a:xfrm>
        </p:grpSpPr>
        <p:grpSp>
          <p:nvGrpSpPr>
            <p:cNvPr id="35" name="Group 34">
              <a:extLst>
                <a:ext uri="{FF2B5EF4-FFF2-40B4-BE49-F238E27FC236}">
                  <a16:creationId xmlns:a16="http://schemas.microsoft.com/office/drawing/2014/main" id="{432256E0-40BB-42C4-A1E3-EF649CDBECAF}"/>
                </a:ext>
              </a:extLst>
            </p:cNvPr>
            <p:cNvGrpSpPr/>
            <p:nvPr/>
          </p:nvGrpSpPr>
          <p:grpSpPr>
            <a:xfrm>
              <a:off x="8486287" y="2907432"/>
              <a:ext cx="2803896" cy="2391993"/>
              <a:chOff x="6187735" y="2444937"/>
              <a:chExt cx="2824741" cy="2333664"/>
            </a:xfrm>
          </p:grpSpPr>
          <p:sp>
            <p:nvSpPr>
              <p:cNvPr id="36" name="TextBox 35">
                <a:extLst>
                  <a:ext uri="{FF2B5EF4-FFF2-40B4-BE49-F238E27FC236}">
                    <a16:creationId xmlns:a16="http://schemas.microsoft.com/office/drawing/2014/main" id="{1EF5BE57-4D07-456B-9109-569F72EFFC15}"/>
                  </a:ext>
                </a:extLst>
              </p:cNvPr>
              <p:cNvSpPr txBox="1"/>
              <p:nvPr/>
            </p:nvSpPr>
            <p:spPr>
              <a:xfrm>
                <a:off x="6420591" y="2914831"/>
                <a:ext cx="2309995" cy="318085"/>
              </a:xfrm>
              <a:prstGeom prst="rect">
                <a:avLst/>
              </a:prstGeom>
              <a:noFill/>
            </p:spPr>
            <p:txBody>
              <a:bodyPr wrap="square" lIns="48967" tIns="48967" rIns="48967" bIns="48967" rtlCol="0" anchor="ctr">
                <a:noAutofit/>
              </a:bodyPr>
              <a:lstStyle/>
              <a:p>
                <a:pPr defTabSz="829178">
                  <a:defRPr/>
                </a:pPr>
                <a:r>
                  <a:rPr lang="en-US" sz="997" b="1" kern="0" dirty="0">
                    <a:solidFill>
                      <a:prstClr val="black"/>
                    </a:solidFill>
                    <a:latin typeface="+mj-lt"/>
                  </a:rPr>
                  <a:t>REAL TIME  KPI DATA ANALYSIS</a:t>
                </a:r>
              </a:p>
            </p:txBody>
          </p:sp>
          <p:pic>
            <p:nvPicPr>
              <p:cNvPr id="37" name="Picture 8" descr="http://saudifalconsmagazine.com/wp-content/themes/ipromo-v109-s/images/ipad-frame-home.png">
                <a:extLst>
                  <a:ext uri="{FF2B5EF4-FFF2-40B4-BE49-F238E27FC236}">
                    <a16:creationId xmlns:a16="http://schemas.microsoft.com/office/drawing/2014/main" id="{8697F166-A253-415F-B93A-281F4A7F1FC8}"/>
                  </a:ext>
                </a:extLst>
              </p:cNvPr>
              <p:cNvPicPr>
                <a:picLocks noChangeAspect="1" noChangeArrowheads="1"/>
              </p:cNvPicPr>
              <p:nvPr/>
            </p:nvPicPr>
            <p:blipFill>
              <a:blip r:embed="rId7">
                <a:duotone>
                  <a:srgbClr val="DFE3E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187735" y="2444937"/>
                <a:ext cx="2824741" cy="2333664"/>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88F9630F-4772-4123-A2C0-A92EDD58D4EB}"/>
                  </a:ext>
                </a:extLst>
              </p:cNvPr>
              <p:cNvSpPr/>
              <p:nvPr/>
            </p:nvSpPr>
            <p:spPr>
              <a:xfrm>
                <a:off x="6338299" y="2570864"/>
                <a:ext cx="2540480" cy="2026188"/>
              </a:xfrm>
              <a:prstGeom prst="rect">
                <a:avLst/>
              </a:prstGeom>
              <a:solidFill>
                <a:sysClr val="window" lastClr="FFFFFF"/>
              </a:solidFill>
              <a:ln w="15875" cap="flat" cmpd="sng" algn="ctr">
                <a:noFill/>
                <a:prstDash val="solid"/>
              </a:ln>
              <a:effectLst/>
            </p:spPr>
            <p:txBody>
              <a:bodyPr lIns="48967" tIns="48967" rIns="48967" bIns="48967" rtlCol="0" anchor="ctr"/>
              <a:lstStyle/>
              <a:p>
                <a:pPr algn="ctr" defTabSz="829178">
                  <a:defRPr/>
                </a:pPr>
                <a:r>
                  <a:rPr lang="en-US" sz="725" kern="0" dirty="0">
                    <a:solidFill>
                      <a:srgbClr val="FFFFFF"/>
                    </a:solidFill>
                    <a:latin typeface="+mj-lt"/>
                    <a:cs typeface="Calibri" panose="020F0502020204030204" pitchFamily="34" charset="0"/>
                  </a:rPr>
                  <a:t> </a:t>
                </a:r>
              </a:p>
            </p:txBody>
          </p:sp>
          <p:sp>
            <p:nvSpPr>
              <p:cNvPr id="39" name="TextBox 38">
                <a:extLst>
                  <a:ext uri="{FF2B5EF4-FFF2-40B4-BE49-F238E27FC236}">
                    <a16:creationId xmlns:a16="http://schemas.microsoft.com/office/drawing/2014/main" id="{1DEE0F1A-920D-43A8-8F45-E3DE09AD6662}"/>
                  </a:ext>
                </a:extLst>
              </p:cNvPr>
              <p:cNvSpPr txBox="1"/>
              <p:nvPr/>
            </p:nvSpPr>
            <p:spPr>
              <a:xfrm>
                <a:off x="6435645" y="2604951"/>
                <a:ext cx="2345786" cy="501846"/>
              </a:xfrm>
              <a:prstGeom prst="rect">
                <a:avLst/>
              </a:prstGeom>
              <a:noFill/>
            </p:spPr>
            <p:txBody>
              <a:bodyPr wrap="square" lIns="48967" tIns="48967" rIns="48967" bIns="48967" rtlCol="0">
                <a:spAutoFit/>
              </a:bodyPr>
              <a:lstStyle/>
              <a:p>
                <a:pPr algn="ctr" defTabSz="829178">
                  <a:defRPr/>
                </a:pPr>
                <a:r>
                  <a:rPr lang="en-US" sz="900" b="1" kern="0" dirty="0">
                    <a:solidFill>
                      <a:prstClr val="black"/>
                    </a:solidFill>
                    <a:latin typeface="+mj-lt"/>
                    <a:cs typeface="Calibri" panose="020F0502020204030204" pitchFamily="34" charset="0"/>
                  </a:rPr>
                  <a:t>Automated KPI dashboards for effective decision making on business and operational matters under focus</a:t>
                </a:r>
              </a:p>
            </p:txBody>
          </p:sp>
          <p:sp>
            <p:nvSpPr>
              <p:cNvPr id="41" name="Snip Diagonal Corner Rectangle 106">
                <a:extLst>
                  <a:ext uri="{FF2B5EF4-FFF2-40B4-BE49-F238E27FC236}">
                    <a16:creationId xmlns:a16="http://schemas.microsoft.com/office/drawing/2014/main" id="{920450E2-E930-424D-9BF0-DF93A36C94F8}"/>
                  </a:ext>
                </a:extLst>
              </p:cNvPr>
              <p:cNvSpPr/>
              <p:nvPr/>
            </p:nvSpPr>
            <p:spPr>
              <a:xfrm>
                <a:off x="6773502" y="4125066"/>
                <a:ext cx="2011680" cy="411480"/>
              </a:xfrm>
              <a:prstGeom prst="snip2DiagRect">
                <a:avLst/>
              </a:prstGeom>
              <a:solidFill>
                <a:schemeClr val="accent1"/>
              </a:solidFill>
              <a:ln w="15875" cap="flat" cmpd="sng" algn="ctr">
                <a:noFill/>
                <a:prstDash val="solid"/>
              </a:ln>
              <a:effectLst/>
              <a:scene3d>
                <a:camera prst="orthographicFront">
                  <a:rot lat="0" lon="0" rev="0"/>
                </a:camera>
                <a:lightRig rig="glow" dir="t">
                  <a:rot lat="0" lon="0" rev="4800000"/>
                </a:lightRig>
              </a:scene3d>
              <a:sp3d prstMaterial="matte"/>
            </p:spPr>
            <p:txBody>
              <a:bodyPr rot="0" spcFirstLastPara="0" vertOverflow="overflow" horzOverflow="overflow" vert="horz" wrap="square" lIns="0" tIns="48967" rIns="0" bIns="48967" numCol="1" spcCol="0" rtlCol="0" fromWordArt="0" anchor="ctr" anchorCtr="0" forceAA="0" compatLnSpc="1">
                <a:prstTxWarp prst="textNoShape">
                  <a:avLst/>
                </a:prstTxWarp>
                <a:noAutofit/>
              </a:bodyPr>
              <a:lstStyle/>
              <a:p>
                <a:pPr defTabSz="829178">
                  <a:defRPr/>
                </a:pPr>
                <a:r>
                  <a:rPr lang="en-US" sz="725" b="1" kern="0" dirty="0">
                    <a:solidFill>
                      <a:prstClr val="white"/>
                    </a:solidFill>
                    <a:latin typeface="+mj-lt"/>
                  </a:rPr>
                  <a:t>ENTERPRISE DATA </a:t>
                </a:r>
              </a:p>
              <a:p>
                <a:pPr defTabSz="829178">
                  <a:defRPr/>
                </a:pPr>
                <a:r>
                  <a:rPr lang="en-US" sz="725" b="1" kern="0" dirty="0">
                    <a:solidFill>
                      <a:prstClr val="white"/>
                    </a:solidFill>
                    <a:latin typeface="+mj-lt"/>
                  </a:rPr>
                  <a:t>WAREHOUSE </a:t>
                </a:r>
              </a:p>
            </p:txBody>
          </p:sp>
          <p:sp>
            <p:nvSpPr>
              <p:cNvPr id="42" name="Snip Diagonal Corner Rectangle 107">
                <a:extLst>
                  <a:ext uri="{FF2B5EF4-FFF2-40B4-BE49-F238E27FC236}">
                    <a16:creationId xmlns:a16="http://schemas.microsoft.com/office/drawing/2014/main" id="{6D2C6E23-DE33-4CA1-9C3B-6FE6EB8CDA50}"/>
                  </a:ext>
                </a:extLst>
              </p:cNvPr>
              <p:cNvSpPr/>
              <p:nvPr/>
            </p:nvSpPr>
            <p:spPr>
              <a:xfrm>
                <a:off x="7038678" y="3686787"/>
                <a:ext cx="1746504" cy="411480"/>
              </a:xfrm>
              <a:prstGeom prst="snip2DiagRect">
                <a:avLst/>
              </a:prstGeom>
              <a:solidFill>
                <a:schemeClr val="accent4"/>
              </a:solidFill>
              <a:ln w="15875" cap="flat" cmpd="sng" algn="ctr">
                <a:noFill/>
                <a:prstDash val="solid"/>
              </a:ln>
              <a:effectLst/>
              <a:scene3d>
                <a:camera prst="orthographicFront">
                  <a:rot lat="0" lon="0" rev="0"/>
                </a:camera>
                <a:lightRig rig="glow" dir="t">
                  <a:rot lat="0" lon="0" rev="4800000"/>
                </a:lightRig>
              </a:scene3d>
              <a:sp3d prstMaterial="matte"/>
            </p:spPr>
            <p:txBody>
              <a:bodyPr rot="0" spcFirstLastPara="0" vertOverflow="overflow" horzOverflow="overflow" vert="horz" wrap="square" lIns="0" tIns="48967" rIns="0" bIns="48967" numCol="1" spcCol="0" rtlCol="0" fromWordArt="0" anchor="ctr" anchorCtr="0" forceAA="0" compatLnSpc="1">
                <a:prstTxWarp prst="textNoShape">
                  <a:avLst/>
                </a:prstTxWarp>
                <a:noAutofit/>
              </a:bodyPr>
              <a:lstStyle/>
              <a:p>
                <a:pPr defTabSz="829178">
                  <a:lnSpc>
                    <a:spcPts val="907"/>
                  </a:lnSpc>
                  <a:defRPr/>
                </a:pPr>
                <a:r>
                  <a:rPr lang="en-US" sz="725" b="1" kern="0" dirty="0">
                    <a:solidFill>
                      <a:prstClr val="white"/>
                    </a:solidFill>
                    <a:latin typeface="+mj-lt"/>
                    <a:cs typeface="Arial" pitchFamily="34" charset="0"/>
                  </a:rPr>
                  <a:t>  NOTIFICATION &amp; </a:t>
                </a:r>
              </a:p>
              <a:p>
                <a:pPr defTabSz="829178">
                  <a:lnSpc>
                    <a:spcPts val="907"/>
                  </a:lnSpc>
                  <a:defRPr/>
                </a:pPr>
                <a:r>
                  <a:rPr lang="en-US" sz="725" b="1" kern="0" dirty="0">
                    <a:solidFill>
                      <a:prstClr val="white"/>
                    </a:solidFill>
                    <a:latin typeface="+mj-lt"/>
                    <a:cs typeface="Arial" pitchFamily="34" charset="0"/>
                  </a:rPr>
                  <a:t>  EMAIL ALERTS</a:t>
                </a:r>
              </a:p>
            </p:txBody>
          </p:sp>
          <p:sp>
            <p:nvSpPr>
              <p:cNvPr id="43" name="Snip Diagonal Corner Rectangle 108">
                <a:extLst>
                  <a:ext uri="{FF2B5EF4-FFF2-40B4-BE49-F238E27FC236}">
                    <a16:creationId xmlns:a16="http://schemas.microsoft.com/office/drawing/2014/main" id="{F31FDF90-9BC8-4CF1-AD99-2162C547C13D}"/>
                  </a:ext>
                </a:extLst>
              </p:cNvPr>
              <p:cNvSpPr/>
              <p:nvPr/>
            </p:nvSpPr>
            <p:spPr>
              <a:xfrm>
                <a:off x="7312076" y="3248508"/>
                <a:ext cx="1473106" cy="411480"/>
              </a:xfrm>
              <a:prstGeom prst="snip2DiagRect">
                <a:avLst/>
              </a:prstGeom>
              <a:solidFill>
                <a:schemeClr val="tx2"/>
              </a:solidFill>
              <a:ln w="15875" cap="flat" cmpd="sng" algn="ctr">
                <a:noFill/>
                <a:prstDash val="solid"/>
              </a:ln>
              <a:effectLst/>
              <a:scene3d>
                <a:camera prst="orthographicFront">
                  <a:rot lat="0" lon="0" rev="0"/>
                </a:camera>
                <a:lightRig rig="glow" dir="t">
                  <a:rot lat="0" lon="0" rev="4800000"/>
                </a:lightRig>
              </a:scene3d>
              <a:sp3d prstMaterial="matte"/>
            </p:spPr>
            <p:txBody>
              <a:bodyPr rot="0" spcFirstLastPara="0" vertOverflow="overflow" horzOverflow="overflow" vert="horz" wrap="square" lIns="0" tIns="48967" rIns="0" bIns="48967" numCol="1" spcCol="0" rtlCol="0" fromWordArt="0" anchor="ctr" anchorCtr="0" forceAA="0" compatLnSpc="1">
                <a:prstTxWarp prst="textNoShape">
                  <a:avLst/>
                </a:prstTxWarp>
                <a:noAutofit/>
              </a:bodyPr>
              <a:lstStyle/>
              <a:p>
                <a:pPr defTabSz="829178">
                  <a:lnSpc>
                    <a:spcPts val="1542"/>
                  </a:lnSpc>
                  <a:defRPr/>
                </a:pPr>
                <a:r>
                  <a:rPr lang="en-US" sz="725" b="1" kern="0" dirty="0">
                    <a:solidFill>
                      <a:prstClr val="white"/>
                    </a:solidFill>
                    <a:latin typeface="+mj-lt"/>
                    <a:cs typeface="Arial" pitchFamily="34" charset="0"/>
                  </a:rPr>
                  <a:t> DASHBOARDS</a:t>
                </a:r>
              </a:p>
            </p:txBody>
          </p:sp>
        </p:grpSp>
        <p:pic>
          <p:nvPicPr>
            <p:cNvPr id="29" name="Picture 28">
              <a:extLst>
                <a:ext uri="{FF2B5EF4-FFF2-40B4-BE49-F238E27FC236}">
                  <a16:creationId xmlns:a16="http://schemas.microsoft.com/office/drawing/2014/main" id="{EC2AAAED-9110-43A4-8B14-615262D028B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0688" y="3804661"/>
              <a:ext cx="420422" cy="325600"/>
            </a:xfrm>
            <a:prstGeom prst="rect">
              <a:avLst/>
            </a:prstGeom>
          </p:spPr>
        </p:pic>
        <p:pic>
          <p:nvPicPr>
            <p:cNvPr id="30" name="Picture 29">
              <a:extLst>
                <a:ext uri="{FF2B5EF4-FFF2-40B4-BE49-F238E27FC236}">
                  <a16:creationId xmlns:a16="http://schemas.microsoft.com/office/drawing/2014/main" id="{D9FD56FC-CEBA-4BDE-9955-B386F064D927}"/>
                </a:ext>
              </a:extLst>
            </p:cNvPr>
            <p:cNvPicPr>
              <a:picLocks noChangeAspect="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395817" y="4242802"/>
              <a:ext cx="390290" cy="308938"/>
            </a:xfrm>
            <a:prstGeom prst="rect">
              <a:avLst/>
            </a:prstGeom>
          </p:spPr>
        </p:pic>
        <p:pic>
          <p:nvPicPr>
            <p:cNvPr id="31" name="Picture 30">
              <a:extLst>
                <a:ext uri="{FF2B5EF4-FFF2-40B4-BE49-F238E27FC236}">
                  <a16:creationId xmlns:a16="http://schemas.microsoft.com/office/drawing/2014/main" id="{59863627-0D58-4D37-A96B-288C8695833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442540" y="4660836"/>
              <a:ext cx="344908" cy="356157"/>
            </a:xfrm>
            <a:prstGeom prst="rect">
              <a:avLst/>
            </a:prstGeom>
          </p:spPr>
        </p:pic>
        <p:cxnSp>
          <p:nvCxnSpPr>
            <p:cNvPr id="32" name="Straight Arrow Connector 31">
              <a:extLst>
                <a:ext uri="{FF2B5EF4-FFF2-40B4-BE49-F238E27FC236}">
                  <a16:creationId xmlns:a16="http://schemas.microsoft.com/office/drawing/2014/main" id="{EA8E74BD-945F-4F5D-A3A9-918B577DAE08}"/>
                </a:ext>
              </a:extLst>
            </p:cNvPr>
            <p:cNvCxnSpPr/>
            <p:nvPr/>
          </p:nvCxnSpPr>
          <p:spPr>
            <a:xfrm flipV="1">
              <a:off x="8621526" y="3665774"/>
              <a:ext cx="628433" cy="1321649"/>
            </a:xfrm>
            <a:prstGeom prst="straightConnector1">
              <a:avLst/>
            </a:prstGeom>
            <a:noFill/>
            <a:ln w="15875" cap="flat" cmpd="sng" algn="ctr">
              <a:solidFill>
                <a:srgbClr val="27CED7"/>
              </a:solidFill>
              <a:prstDash val="lgDash"/>
              <a:tailEnd type="stealth"/>
            </a:ln>
            <a:effectLst/>
          </p:spPr>
        </p:cxnSp>
        <p:sp>
          <p:nvSpPr>
            <p:cNvPr id="33" name="TextBox 32">
              <a:extLst>
                <a:ext uri="{FF2B5EF4-FFF2-40B4-BE49-F238E27FC236}">
                  <a16:creationId xmlns:a16="http://schemas.microsoft.com/office/drawing/2014/main" id="{A1AAFA85-5CA9-4A29-B8FA-FF8505EE554C}"/>
                </a:ext>
              </a:extLst>
            </p:cNvPr>
            <p:cNvSpPr txBox="1"/>
            <p:nvPr/>
          </p:nvSpPr>
          <p:spPr>
            <a:xfrm rot="17793418">
              <a:off x="8309941" y="3890070"/>
              <a:ext cx="937255" cy="226913"/>
            </a:xfrm>
            <a:prstGeom prst="rect">
              <a:avLst/>
            </a:prstGeom>
            <a:noFill/>
          </p:spPr>
          <p:txBody>
            <a:bodyPr wrap="none" lIns="48967" tIns="48967" rIns="48967" bIns="48967" rtlCol="0">
              <a:noAutofit/>
            </a:bodyPr>
            <a:lstStyle/>
            <a:p>
              <a:pPr algn="ctr" defTabSz="829178"/>
              <a:r>
                <a:rPr lang="en-US" sz="900" i="1" dirty="0">
                  <a:solidFill>
                    <a:srgbClr val="C00000"/>
                  </a:solidFill>
                  <a:latin typeface="+mj-lt"/>
                  <a:cs typeface="Arial" pitchFamily="34" charset="0"/>
                </a:rPr>
                <a:t>3- layered </a:t>
              </a:r>
            </a:p>
            <a:p>
              <a:pPr algn="ctr" defTabSz="829178"/>
              <a:r>
                <a:rPr lang="en-US" sz="900" i="1" dirty="0">
                  <a:solidFill>
                    <a:srgbClr val="C00000"/>
                  </a:solidFill>
                  <a:latin typeface="+mj-lt"/>
                  <a:cs typeface="Arial" pitchFamily="34" charset="0"/>
                </a:rPr>
                <a:t>functioning</a:t>
              </a:r>
              <a:r>
                <a:rPr lang="en-US" sz="900" i="1" dirty="0">
                  <a:solidFill>
                    <a:prstClr val="black"/>
                  </a:solidFill>
                  <a:latin typeface="+mj-lt"/>
                  <a:cs typeface="Arial" pitchFamily="34" charset="0"/>
                </a:rPr>
                <a:t> </a:t>
              </a:r>
            </a:p>
          </p:txBody>
        </p:sp>
      </p:grpSp>
      <p:sp>
        <p:nvSpPr>
          <p:cNvPr id="72" name="Rectangle 71">
            <a:extLst>
              <a:ext uri="{FF2B5EF4-FFF2-40B4-BE49-F238E27FC236}">
                <a16:creationId xmlns:a16="http://schemas.microsoft.com/office/drawing/2014/main" id="{C2FA3DD6-616D-456F-8503-E5FB9E7FF59B}"/>
              </a:ext>
            </a:extLst>
          </p:cNvPr>
          <p:cNvSpPr/>
          <p:nvPr/>
        </p:nvSpPr>
        <p:spPr bwMode="gray">
          <a:xfrm>
            <a:off x="-1" y="5437643"/>
            <a:ext cx="12192001" cy="365760"/>
          </a:xfrm>
          <a:prstGeom prst="rect">
            <a:avLst/>
          </a:prstGeom>
          <a:solidFill>
            <a:schemeClr val="tx2">
              <a:lumMod val="75000"/>
            </a:schemeClr>
          </a:solidFill>
          <a:ln w="3175" algn="ctr">
            <a:solidFill>
              <a:schemeClr val="accent5">
                <a:lumMod val="75000"/>
              </a:schemeClr>
            </a:solid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dirty="0">
                <a:solidFill>
                  <a:schemeClr val="bg1"/>
                </a:solidFill>
              </a:rPr>
              <a:t>Our solution overcomes all the challenges that are encountered in setting up of Dashboard and reporting solution because of:</a:t>
            </a:r>
          </a:p>
        </p:txBody>
      </p:sp>
      <p:grpSp>
        <p:nvGrpSpPr>
          <p:cNvPr id="10" name="Group 9">
            <a:extLst>
              <a:ext uri="{FF2B5EF4-FFF2-40B4-BE49-F238E27FC236}">
                <a16:creationId xmlns:a16="http://schemas.microsoft.com/office/drawing/2014/main" id="{EF9ACC86-449F-4536-8C5C-C71E923A5102}"/>
              </a:ext>
            </a:extLst>
          </p:cNvPr>
          <p:cNvGrpSpPr/>
          <p:nvPr/>
        </p:nvGrpSpPr>
        <p:grpSpPr>
          <a:xfrm>
            <a:off x="901818" y="5890942"/>
            <a:ext cx="10356920" cy="365760"/>
            <a:chOff x="901818" y="5838392"/>
            <a:chExt cx="10356920" cy="365760"/>
          </a:xfrm>
        </p:grpSpPr>
        <p:sp>
          <p:nvSpPr>
            <p:cNvPr id="73" name="Rectangle 72">
              <a:extLst>
                <a:ext uri="{FF2B5EF4-FFF2-40B4-BE49-F238E27FC236}">
                  <a16:creationId xmlns:a16="http://schemas.microsoft.com/office/drawing/2014/main" id="{905D2A91-6AAD-4C97-87DE-5BEF94928851}"/>
                </a:ext>
              </a:extLst>
            </p:cNvPr>
            <p:cNvSpPr/>
            <p:nvPr/>
          </p:nvSpPr>
          <p:spPr bwMode="gray">
            <a:xfrm>
              <a:off x="901818" y="5838392"/>
              <a:ext cx="2743200" cy="365760"/>
            </a:xfrm>
            <a:prstGeom prst="rect">
              <a:avLst/>
            </a:prstGeom>
            <a:solidFill>
              <a:schemeClr val="accent5"/>
            </a:solidFill>
            <a:ln w="3175"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dirty="0">
                  <a:solidFill>
                    <a:schemeClr val="bg1"/>
                  </a:solidFill>
                </a:rPr>
                <a:t>Right Approach</a:t>
              </a:r>
            </a:p>
          </p:txBody>
        </p:sp>
        <p:sp>
          <p:nvSpPr>
            <p:cNvPr id="74" name="Rectangle 73">
              <a:extLst>
                <a:ext uri="{FF2B5EF4-FFF2-40B4-BE49-F238E27FC236}">
                  <a16:creationId xmlns:a16="http://schemas.microsoft.com/office/drawing/2014/main" id="{5BC3933C-93B7-49CA-95C8-4EADD1CFA620}"/>
                </a:ext>
              </a:extLst>
            </p:cNvPr>
            <p:cNvSpPr/>
            <p:nvPr/>
          </p:nvSpPr>
          <p:spPr bwMode="gray">
            <a:xfrm>
              <a:off x="4708678" y="5838392"/>
              <a:ext cx="2743200" cy="365760"/>
            </a:xfrm>
            <a:prstGeom prst="rect">
              <a:avLst/>
            </a:prstGeom>
            <a:solidFill>
              <a:schemeClr val="accent2"/>
            </a:solidFill>
            <a:ln w="3175"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dirty="0">
                  <a:solidFill>
                    <a:schemeClr val="bg1"/>
                  </a:solidFill>
                </a:rPr>
                <a:t>Right Structure</a:t>
              </a:r>
            </a:p>
          </p:txBody>
        </p:sp>
        <p:sp>
          <p:nvSpPr>
            <p:cNvPr id="75" name="Rectangle 74">
              <a:extLst>
                <a:ext uri="{FF2B5EF4-FFF2-40B4-BE49-F238E27FC236}">
                  <a16:creationId xmlns:a16="http://schemas.microsoft.com/office/drawing/2014/main" id="{867EC7CA-42FC-4771-B8A6-615205C71AD0}"/>
                </a:ext>
              </a:extLst>
            </p:cNvPr>
            <p:cNvSpPr/>
            <p:nvPr/>
          </p:nvSpPr>
          <p:spPr bwMode="gray">
            <a:xfrm>
              <a:off x="8515538" y="5838392"/>
              <a:ext cx="2743200" cy="365760"/>
            </a:xfrm>
            <a:prstGeom prst="rect">
              <a:avLst/>
            </a:prstGeom>
            <a:solidFill>
              <a:srgbClr val="9B9FA1"/>
            </a:solidFill>
            <a:ln w="3175"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400" dirty="0">
                  <a:solidFill>
                    <a:schemeClr val="bg1"/>
                  </a:solidFill>
                </a:rPr>
                <a:t>Right Architecture</a:t>
              </a:r>
            </a:p>
          </p:txBody>
        </p:sp>
      </p:grpSp>
      <p:grpSp>
        <p:nvGrpSpPr>
          <p:cNvPr id="76" name="Group 75">
            <a:extLst>
              <a:ext uri="{FF2B5EF4-FFF2-40B4-BE49-F238E27FC236}">
                <a16:creationId xmlns:a16="http://schemas.microsoft.com/office/drawing/2014/main" id="{8AB7B3BA-0E27-4D10-9155-35952E8336C7}"/>
              </a:ext>
            </a:extLst>
          </p:cNvPr>
          <p:cNvGrpSpPr/>
          <p:nvPr/>
        </p:nvGrpSpPr>
        <p:grpSpPr>
          <a:xfrm>
            <a:off x="4060079" y="3117017"/>
            <a:ext cx="234087" cy="2011680"/>
            <a:chOff x="3565641" y="1678359"/>
            <a:chExt cx="234087" cy="2011680"/>
          </a:xfrm>
        </p:grpSpPr>
        <p:cxnSp>
          <p:nvCxnSpPr>
            <p:cNvPr id="77" name="Straight Connector 76">
              <a:extLst>
                <a:ext uri="{FF2B5EF4-FFF2-40B4-BE49-F238E27FC236}">
                  <a16:creationId xmlns:a16="http://schemas.microsoft.com/office/drawing/2014/main" id="{1B26E354-E18B-4C71-83A6-CE5D8AC40B4D}"/>
                </a:ext>
              </a:extLst>
            </p:cNvPr>
            <p:cNvCxnSpPr>
              <a:cxnSpLocks/>
            </p:cNvCxnSpPr>
            <p:nvPr/>
          </p:nvCxnSpPr>
          <p:spPr>
            <a:xfrm>
              <a:off x="3565641" y="1678359"/>
              <a:ext cx="0" cy="2011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78" name="Isosceles Triangle 77">
              <a:extLst>
                <a:ext uri="{FF2B5EF4-FFF2-40B4-BE49-F238E27FC236}">
                  <a16:creationId xmlns:a16="http://schemas.microsoft.com/office/drawing/2014/main" id="{DD2EA0C5-6533-4DCF-BAD8-63D14F206C65}"/>
                </a:ext>
              </a:extLst>
            </p:cNvPr>
            <p:cNvSpPr/>
            <p:nvPr/>
          </p:nvSpPr>
          <p:spPr bwMode="gray">
            <a:xfrm rot="5400000">
              <a:off x="3410215" y="2567156"/>
              <a:ext cx="544940" cy="234087"/>
            </a:xfrm>
            <a:prstGeom prst="triangle">
              <a:avLst/>
            </a:prstGeom>
            <a:solidFill>
              <a:schemeClr val="bg1">
                <a:lumMod val="50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nvGrpSpPr>
          <p:cNvPr id="79" name="Group 78">
            <a:extLst>
              <a:ext uri="{FF2B5EF4-FFF2-40B4-BE49-F238E27FC236}">
                <a16:creationId xmlns:a16="http://schemas.microsoft.com/office/drawing/2014/main" id="{D71E1D64-1203-426F-998D-F93A57299C89}"/>
              </a:ext>
            </a:extLst>
          </p:cNvPr>
          <p:cNvGrpSpPr/>
          <p:nvPr/>
        </p:nvGrpSpPr>
        <p:grpSpPr>
          <a:xfrm>
            <a:off x="7867488" y="3117017"/>
            <a:ext cx="234087" cy="2011680"/>
            <a:chOff x="3565641" y="1678359"/>
            <a:chExt cx="234087" cy="2011680"/>
          </a:xfrm>
        </p:grpSpPr>
        <p:cxnSp>
          <p:nvCxnSpPr>
            <p:cNvPr id="80" name="Straight Connector 79">
              <a:extLst>
                <a:ext uri="{FF2B5EF4-FFF2-40B4-BE49-F238E27FC236}">
                  <a16:creationId xmlns:a16="http://schemas.microsoft.com/office/drawing/2014/main" id="{A636BB18-B6CB-4C0F-8CDD-8DEA977F5879}"/>
                </a:ext>
              </a:extLst>
            </p:cNvPr>
            <p:cNvCxnSpPr>
              <a:cxnSpLocks/>
            </p:cNvCxnSpPr>
            <p:nvPr/>
          </p:nvCxnSpPr>
          <p:spPr>
            <a:xfrm>
              <a:off x="3565641" y="1678359"/>
              <a:ext cx="0" cy="2011680"/>
            </a:xfrm>
            <a:prstGeom prst="line">
              <a:avLst/>
            </a:prstGeom>
            <a:ln w="2222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81" name="Isosceles Triangle 80">
              <a:extLst>
                <a:ext uri="{FF2B5EF4-FFF2-40B4-BE49-F238E27FC236}">
                  <a16:creationId xmlns:a16="http://schemas.microsoft.com/office/drawing/2014/main" id="{4706D5BF-F832-4A47-A32F-89E4D55D7118}"/>
                </a:ext>
              </a:extLst>
            </p:cNvPr>
            <p:cNvSpPr/>
            <p:nvPr/>
          </p:nvSpPr>
          <p:spPr bwMode="gray">
            <a:xfrm rot="5400000">
              <a:off x="3410215" y="2567156"/>
              <a:ext cx="544940" cy="234087"/>
            </a:xfrm>
            <a:prstGeom prst="triangle">
              <a:avLst/>
            </a:prstGeom>
            <a:solidFill>
              <a:schemeClr val="bg1">
                <a:lumMod val="50000"/>
              </a:schemeClr>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spTree>
    <p:extLst>
      <p:ext uri="{BB962C8B-B14F-4D97-AF65-F5344CB8AC3E}">
        <p14:creationId xmlns:p14="http://schemas.microsoft.com/office/powerpoint/2010/main" val="247124252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E711-DBDB-4CDB-89FA-29BB4794D93D}"/>
              </a:ext>
            </a:extLst>
          </p:cNvPr>
          <p:cNvSpPr>
            <a:spLocks noGrp="1"/>
          </p:cNvSpPr>
          <p:nvPr>
            <p:ph type="title"/>
          </p:nvPr>
        </p:nvSpPr>
        <p:spPr/>
        <p:txBody>
          <a:bodyPr/>
          <a:lstStyle/>
          <a:p>
            <a:r>
              <a:rPr lang="en-US" dirty="0"/>
              <a:t>Communication plan and Knowledge transfer</a:t>
            </a:r>
            <a:endParaRPr lang="en-IN" dirty="0"/>
          </a:p>
        </p:txBody>
      </p:sp>
      <p:grpSp>
        <p:nvGrpSpPr>
          <p:cNvPr id="23" name="Group 22">
            <a:extLst>
              <a:ext uri="{FF2B5EF4-FFF2-40B4-BE49-F238E27FC236}">
                <a16:creationId xmlns:a16="http://schemas.microsoft.com/office/drawing/2014/main" id="{61C84889-42CC-4980-9BBF-A4E7FD75DA1E}"/>
              </a:ext>
            </a:extLst>
          </p:cNvPr>
          <p:cNvGrpSpPr/>
          <p:nvPr/>
        </p:nvGrpSpPr>
        <p:grpSpPr>
          <a:xfrm>
            <a:off x="6350000" y="1163016"/>
            <a:ext cx="5362575" cy="2150895"/>
            <a:chOff x="762000" y="1676400"/>
            <a:chExt cx="5032142" cy="4294368"/>
          </a:xfrm>
        </p:grpSpPr>
        <p:grpSp>
          <p:nvGrpSpPr>
            <p:cNvPr id="42" name="Group 41">
              <a:extLst>
                <a:ext uri="{FF2B5EF4-FFF2-40B4-BE49-F238E27FC236}">
                  <a16:creationId xmlns:a16="http://schemas.microsoft.com/office/drawing/2014/main" id="{50389AF7-445D-4E38-B078-8BB62B89E5F9}"/>
                </a:ext>
              </a:extLst>
            </p:cNvPr>
            <p:cNvGrpSpPr/>
            <p:nvPr/>
          </p:nvGrpSpPr>
          <p:grpSpPr>
            <a:xfrm>
              <a:off x="762000" y="1676400"/>
              <a:ext cx="5032142" cy="4294368"/>
              <a:chOff x="530458" y="1071192"/>
              <a:chExt cx="3996613" cy="3410660"/>
            </a:xfrm>
          </p:grpSpPr>
          <p:grpSp>
            <p:nvGrpSpPr>
              <p:cNvPr id="44" name="Group 3">
                <a:extLst>
                  <a:ext uri="{FF2B5EF4-FFF2-40B4-BE49-F238E27FC236}">
                    <a16:creationId xmlns:a16="http://schemas.microsoft.com/office/drawing/2014/main" id="{2BF8DF38-9A92-4DE9-A360-1F20B3750F78}"/>
                  </a:ext>
                </a:extLst>
              </p:cNvPr>
              <p:cNvGrpSpPr>
                <a:grpSpLocks/>
              </p:cNvGrpSpPr>
              <p:nvPr/>
            </p:nvGrpSpPr>
            <p:grpSpPr bwMode="auto">
              <a:xfrm>
                <a:off x="530458" y="1071192"/>
                <a:ext cx="3996613" cy="3410660"/>
                <a:chOff x="1489" y="1070"/>
                <a:chExt cx="3261" cy="2590"/>
              </a:xfrm>
            </p:grpSpPr>
            <p:sp>
              <p:nvSpPr>
                <p:cNvPr id="61" name="Freeform 4">
                  <a:extLst>
                    <a:ext uri="{FF2B5EF4-FFF2-40B4-BE49-F238E27FC236}">
                      <a16:creationId xmlns:a16="http://schemas.microsoft.com/office/drawing/2014/main" id="{642D579D-EDD8-4614-B2B6-D7F48D815F44}"/>
                    </a:ext>
                  </a:extLst>
                </p:cNvPr>
                <p:cNvSpPr>
                  <a:spLocks/>
                </p:cNvSpPr>
                <p:nvPr/>
              </p:nvSpPr>
              <p:spPr bwMode="auto">
                <a:xfrm>
                  <a:off x="3123" y="1070"/>
                  <a:ext cx="1627" cy="1584"/>
                </a:xfrm>
                <a:custGeom>
                  <a:avLst/>
                  <a:gdLst>
                    <a:gd name="T0" fmla="*/ 0 w 1627"/>
                    <a:gd name="T1" fmla="*/ 0 h 1584"/>
                    <a:gd name="T2" fmla="*/ 1627 w 1627"/>
                    <a:gd name="T3" fmla="*/ 1265 h 1584"/>
                    <a:gd name="T4" fmla="*/ 1480 w 1627"/>
                    <a:gd name="T5" fmla="*/ 1276 h 1584"/>
                    <a:gd name="T6" fmla="*/ 1476 w 1627"/>
                    <a:gd name="T7" fmla="*/ 1304 h 1584"/>
                    <a:gd name="T8" fmla="*/ 1483 w 1627"/>
                    <a:gd name="T9" fmla="*/ 1339 h 1584"/>
                    <a:gd name="T10" fmla="*/ 1494 w 1627"/>
                    <a:gd name="T11" fmla="*/ 1382 h 1584"/>
                    <a:gd name="T12" fmla="*/ 1502 w 1627"/>
                    <a:gd name="T13" fmla="*/ 1423 h 1584"/>
                    <a:gd name="T14" fmla="*/ 1499 w 1627"/>
                    <a:gd name="T15" fmla="*/ 1461 h 1584"/>
                    <a:gd name="T16" fmla="*/ 1487 w 1627"/>
                    <a:gd name="T17" fmla="*/ 1499 h 1584"/>
                    <a:gd name="T18" fmla="*/ 1461 w 1627"/>
                    <a:gd name="T19" fmla="*/ 1530 h 1584"/>
                    <a:gd name="T20" fmla="*/ 1431 w 1627"/>
                    <a:gd name="T21" fmla="*/ 1555 h 1584"/>
                    <a:gd name="T22" fmla="*/ 1394 w 1627"/>
                    <a:gd name="T23" fmla="*/ 1572 h 1584"/>
                    <a:gd name="T24" fmla="*/ 1348 w 1627"/>
                    <a:gd name="T25" fmla="*/ 1582 h 1584"/>
                    <a:gd name="T26" fmla="*/ 1307 w 1627"/>
                    <a:gd name="T27" fmla="*/ 1584 h 1584"/>
                    <a:gd name="T28" fmla="*/ 1271 w 1627"/>
                    <a:gd name="T29" fmla="*/ 1579 h 1584"/>
                    <a:gd name="T30" fmla="*/ 1235 w 1627"/>
                    <a:gd name="T31" fmla="*/ 1568 h 1584"/>
                    <a:gd name="T32" fmla="*/ 1205 w 1627"/>
                    <a:gd name="T33" fmla="*/ 1548 h 1584"/>
                    <a:gd name="T34" fmla="*/ 1177 w 1627"/>
                    <a:gd name="T35" fmla="*/ 1519 h 1584"/>
                    <a:gd name="T36" fmla="*/ 1154 w 1627"/>
                    <a:gd name="T37" fmla="*/ 1486 h 1584"/>
                    <a:gd name="T38" fmla="*/ 1142 w 1627"/>
                    <a:gd name="T39" fmla="*/ 1441 h 1584"/>
                    <a:gd name="T40" fmla="*/ 1147 w 1627"/>
                    <a:gd name="T41" fmla="*/ 1396 h 1584"/>
                    <a:gd name="T42" fmla="*/ 1159 w 1627"/>
                    <a:gd name="T43" fmla="*/ 1351 h 1584"/>
                    <a:gd name="T44" fmla="*/ 1168 w 1627"/>
                    <a:gd name="T45" fmla="*/ 1306 h 1584"/>
                    <a:gd name="T46" fmla="*/ 1167 w 1627"/>
                    <a:gd name="T47" fmla="*/ 1284 h 1584"/>
                    <a:gd name="T48" fmla="*/ 892 w 1627"/>
                    <a:gd name="T49" fmla="*/ 1273 h 1584"/>
                    <a:gd name="T50" fmla="*/ 895 w 1627"/>
                    <a:gd name="T51" fmla="*/ 1198 h 1584"/>
                    <a:gd name="T52" fmla="*/ 889 w 1627"/>
                    <a:gd name="T53" fmla="*/ 1149 h 1584"/>
                    <a:gd name="T54" fmla="*/ 878 w 1627"/>
                    <a:gd name="T55" fmla="*/ 1119 h 1584"/>
                    <a:gd name="T56" fmla="*/ 855 w 1627"/>
                    <a:gd name="T57" fmla="*/ 1095 h 1584"/>
                    <a:gd name="T58" fmla="*/ 824 w 1627"/>
                    <a:gd name="T59" fmla="*/ 1080 h 1584"/>
                    <a:gd name="T60" fmla="*/ 786 w 1627"/>
                    <a:gd name="T61" fmla="*/ 1075 h 1584"/>
                    <a:gd name="T62" fmla="*/ 731 w 1627"/>
                    <a:gd name="T63" fmla="*/ 1078 h 1584"/>
                    <a:gd name="T64" fmla="*/ 679 w 1627"/>
                    <a:gd name="T65" fmla="*/ 1082 h 1584"/>
                    <a:gd name="T66" fmla="*/ 625 w 1627"/>
                    <a:gd name="T67" fmla="*/ 1082 h 1584"/>
                    <a:gd name="T68" fmla="*/ 571 w 1627"/>
                    <a:gd name="T69" fmla="*/ 1073 h 1584"/>
                    <a:gd name="T70" fmla="*/ 530 w 1627"/>
                    <a:gd name="T71" fmla="*/ 1049 h 1584"/>
                    <a:gd name="T72" fmla="*/ 506 w 1627"/>
                    <a:gd name="T73" fmla="*/ 1016 h 1584"/>
                    <a:gd name="T74" fmla="*/ 496 w 1627"/>
                    <a:gd name="T75" fmla="*/ 972 h 1584"/>
                    <a:gd name="T76" fmla="*/ 498 w 1627"/>
                    <a:gd name="T77" fmla="*/ 923 h 1584"/>
                    <a:gd name="T78" fmla="*/ 491 w 1627"/>
                    <a:gd name="T79" fmla="*/ 878 h 1584"/>
                    <a:gd name="T80" fmla="*/ 480 w 1627"/>
                    <a:gd name="T81" fmla="*/ 849 h 1584"/>
                    <a:gd name="T82" fmla="*/ 463 w 1627"/>
                    <a:gd name="T83" fmla="*/ 831 h 1584"/>
                    <a:gd name="T84" fmla="*/ 423 w 1627"/>
                    <a:gd name="T85" fmla="*/ 813 h 1584"/>
                    <a:gd name="T86" fmla="*/ 371 w 1627"/>
                    <a:gd name="T87" fmla="*/ 799 h 1584"/>
                    <a:gd name="T88" fmla="*/ 313 w 1627"/>
                    <a:gd name="T89" fmla="*/ 789 h 1584"/>
                    <a:gd name="T90" fmla="*/ 269 w 1627"/>
                    <a:gd name="T91" fmla="*/ 775 h 1584"/>
                    <a:gd name="T92" fmla="*/ 231 w 1627"/>
                    <a:gd name="T93" fmla="*/ 753 h 1584"/>
                    <a:gd name="T94" fmla="*/ 200 w 1627"/>
                    <a:gd name="T95" fmla="*/ 724 h 1584"/>
                    <a:gd name="T96" fmla="*/ 180 w 1627"/>
                    <a:gd name="T97" fmla="*/ 687 h 1584"/>
                    <a:gd name="T98" fmla="*/ 177 w 1627"/>
                    <a:gd name="T99" fmla="*/ 646 h 1584"/>
                    <a:gd name="T100" fmla="*/ 189 w 1627"/>
                    <a:gd name="T101" fmla="*/ 601 h 1584"/>
                    <a:gd name="T102" fmla="*/ 199 w 1627"/>
                    <a:gd name="T103" fmla="*/ 550 h 1584"/>
                    <a:gd name="T104" fmla="*/ 207 w 1627"/>
                    <a:gd name="T105" fmla="*/ 502 h 1584"/>
                    <a:gd name="T106" fmla="*/ 199 w 1627"/>
                    <a:gd name="T107" fmla="*/ 454 h 1584"/>
                    <a:gd name="T108" fmla="*/ 179 w 1627"/>
                    <a:gd name="T109" fmla="*/ 410 h 1584"/>
                    <a:gd name="T110" fmla="*/ 159 w 1627"/>
                    <a:gd name="T111" fmla="*/ 384 h 1584"/>
                    <a:gd name="T112" fmla="*/ 134 w 1627"/>
                    <a:gd name="T113" fmla="*/ 360 h 1584"/>
                    <a:gd name="T114" fmla="*/ 104 w 1627"/>
                    <a:gd name="T115" fmla="*/ 343 h 1584"/>
                    <a:gd name="T116" fmla="*/ 66 w 1627"/>
                    <a:gd name="T117" fmla="*/ 331 h 1584"/>
                    <a:gd name="T118" fmla="*/ 21 w 1627"/>
                    <a:gd name="T119" fmla="*/ 330 h 15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27"/>
                    <a:gd name="T181" fmla="*/ 0 h 1584"/>
                    <a:gd name="T182" fmla="*/ 1627 w 1627"/>
                    <a:gd name="T183" fmla="*/ 1584 h 158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27" h="1584">
                      <a:moveTo>
                        <a:pt x="0" y="330"/>
                      </a:moveTo>
                      <a:lnTo>
                        <a:pt x="0" y="0"/>
                      </a:lnTo>
                      <a:lnTo>
                        <a:pt x="1626" y="0"/>
                      </a:lnTo>
                      <a:lnTo>
                        <a:pt x="1627" y="1265"/>
                      </a:lnTo>
                      <a:lnTo>
                        <a:pt x="1486" y="1265"/>
                      </a:lnTo>
                      <a:lnTo>
                        <a:pt x="1480" y="1276"/>
                      </a:lnTo>
                      <a:lnTo>
                        <a:pt x="1476" y="1291"/>
                      </a:lnTo>
                      <a:lnTo>
                        <a:pt x="1476" y="1304"/>
                      </a:lnTo>
                      <a:lnTo>
                        <a:pt x="1478" y="1320"/>
                      </a:lnTo>
                      <a:lnTo>
                        <a:pt x="1483" y="1339"/>
                      </a:lnTo>
                      <a:lnTo>
                        <a:pt x="1489" y="1365"/>
                      </a:lnTo>
                      <a:lnTo>
                        <a:pt x="1494" y="1382"/>
                      </a:lnTo>
                      <a:lnTo>
                        <a:pt x="1499" y="1403"/>
                      </a:lnTo>
                      <a:lnTo>
                        <a:pt x="1502" y="1423"/>
                      </a:lnTo>
                      <a:lnTo>
                        <a:pt x="1502" y="1442"/>
                      </a:lnTo>
                      <a:lnTo>
                        <a:pt x="1499" y="1461"/>
                      </a:lnTo>
                      <a:lnTo>
                        <a:pt x="1494" y="1481"/>
                      </a:lnTo>
                      <a:lnTo>
                        <a:pt x="1487" y="1499"/>
                      </a:lnTo>
                      <a:lnTo>
                        <a:pt x="1476" y="1513"/>
                      </a:lnTo>
                      <a:lnTo>
                        <a:pt x="1461" y="1530"/>
                      </a:lnTo>
                      <a:lnTo>
                        <a:pt x="1445" y="1543"/>
                      </a:lnTo>
                      <a:lnTo>
                        <a:pt x="1431" y="1555"/>
                      </a:lnTo>
                      <a:lnTo>
                        <a:pt x="1414" y="1565"/>
                      </a:lnTo>
                      <a:lnTo>
                        <a:pt x="1394" y="1572"/>
                      </a:lnTo>
                      <a:lnTo>
                        <a:pt x="1370" y="1579"/>
                      </a:lnTo>
                      <a:lnTo>
                        <a:pt x="1348" y="1582"/>
                      </a:lnTo>
                      <a:lnTo>
                        <a:pt x="1328" y="1584"/>
                      </a:lnTo>
                      <a:lnTo>
                        <a:pt x="1307" y="1584"/>
                      </a:lnTo>
                      <a:lnTo>
                        <a:pt x="1287" y="1582"/>
                      </a:lnTo>
                      <a:lnTo>
                        <a:pt x="1271" y="1579"/>
                      </a:lnTo>
                      <a:lnTo>
                        <a:pt x="1253" y="1574"/>
                      </a:lnTo>
                      <a:lnTo>
                        <a:pt x="1235" y="1568"/>
                      </a:lnTo>
                      <a:lnTo>
                        <a:pt x="1221" y="1560"/>
                      </a:lnTo>
                      <a:lnTo>
                        <a:pt x="1205" y="1548"/>
                      </a:lnTo>
                      <a:lnTo>
                        <a:pt x="1191" y="1534"/>
                      </a:lnTo>
                      <a:lnTo>
                        <a:pt x="1177" y="1519"/>
                      </a:lnTo>
                      <a:lnTo>
                        <a:pt x="1164" y="1503"/>
                      </a:lnTo>
                      <a:lnTo>
                        <a:pt x="1154" y="1486"/>
                      </a:lnTo>
                      <a:lnTo>
                        <a:pt x="1147" y="1465"/>
                      </a:lnTo>
                      <a:lnTo>
                        <a:pt x="1142" y="1441"/>
                      </a:lnTo>
                      <a:lnTo>
                        <a:pt x="1142" y="1418"/>
                      </a:lnTo>
                      <a:lnTo>
                        <a:pt x="1147" y="1396"/>
                      </a:lnTo>
                      <a:lnTo>
                        <a:pt x="1153" y="1373"/>
                      </a:lnTo>
                      <a:lnTo>
                        <a:pt x="1159" y="1351"/>
                      </a:lnTo>
                      <a:lnTo>
                        <a:pt x="1166" y="1325"/>
                      </a:lnTo>
                      <a:lnTo>
                        <a:pt x="1168" y="1306"/>
                      </a:lnTo>
                      <a:lnTo>
                        <a:pt x="1168" y="1294"/>
                      </a:lnTo>
                      <a:lnTo>
                        <a:pt x="1167" y="1284"/>
                      </a:lnTo>
                      <a:lnTo>
                        <a:pt x="1163" y="1273"/>
                      </a:lnTo>
                      <a:lnTo>
                        <a:pt x="892" y="1273"/>
                      </a:lnTo>
                      <a:lnTo>
                        <a:pt x="896" y="1225"/>
                      </a:lnTo>
                      <a:lnTo>
                        <a:pt x="895" y="1198"/>
                      </a:lnTo>
                      <a:lnTo>
                        <a:pt x="892" y="1173"/>
                      </a:lnTo>
                      <a:lnTo>
                        <a:pt x="889" y="1149"/>
                      </a:lnTo>
                      <a:lnTo>
                        <a:pt x="885" y="1133"/>
                      </a:lnTo>
                      <a:lnTo>
                        <a:pt x="878" y="1119"/>
                      </a:lnTo>
                      <a:lnTo>
                        <a:pt x="869" y="1106"/>
                      </a:lnTo>
                      <a:lnTo>
                        <a:pt x="855" y="1095"/>
                      </a:lnTo>
                      <a:lnTo>
                        <a:pt x="839" y="1085"/>
                      </a:lnTo>
                      <a:lnTo>
                        <a:pt x="824" y="1080"/>
                      </a:lnTo>
                      <a:lnTo>
                        <a:pt x="810" y="1077"/>
                      </a:lnTo>
                      <a:lnTo>
                        <a:pt x="786" y="1075"/>
                      </a:lnTo>
                      <a:lnTo>
                        <a:pt x="758" y="1075"/>
                      </a:lnTo>
                      <a:lnTo>
                        <a:pt x="731" y="1078"/>
                      </a:lnTo>
                      <a:lnTo>
                        <a:pt x="701" y="1080"/>
                      </a:lnTo>
                      <a:lnTo>
                        <a:pt x="679" y="1082"/>
                      </a:lnTo>
                      <a:lnTo>
                        <a:pt x="649" y="1084"/>
                      </a:lnTo>
                      <a:lnTo>
                        <a:pt x="625" y="1082"/>
                      </a:lnTo>
                      <a:lnTo>
                        <a:pt x="604" y="1080"/>
                      </a:lnTo>
                      <a:lnTo>
                        <a:pt x="571" y="1073"/>
                      </a:lnTo>
                      <a:lnTo>
                        <a:pt x="550" y="1063"/>
                      </a:lnTo>
                      <a:lnTo>
                        <a:pt x="530" y="1049"/>
                      </a:lnTo>
                      <a:lnTo>
                        <a:pt x="518" y="1033"/>
                      </a:lnTo>
                      <a:lnTo>
                        <a:pt x="506" y="1016"/>
                      </a:lnTo>
                      <a:lnTo>
                        <a:pt x="498" y="995"/>
                      </a:lnTo>
                      <a:lnTo>
                        <a:pt x="496" y="972"/>
                      </a:lnTo>
                      <a:lnTo>
                        <a:pt x="496" y="944"/>
                      </a:lnTo>
                      <a:lnTo>
                        <a:pt x="498" y="923"/>
                      </a:lnTo>
                      <a:lnTo>
                        <a:pt x="496" y="902"/>
                      </a:lnTo>
                      <a:lnTo>
                        <a:pt x="491" y="878"/>
                      </a:lnTo>
                      <a:lnTo>
                        <a:pt x="487" y="864"/>
                      </a:lnTo>
                      <a:lnTo>
                        <a:pt x="480" y="849"/>
                      </a:lnTo>
                      <a:lnTo>
                        <a:pt x="471" y="840"/>
                      </a:lnTo>
                      <a:lnTo>
                        <a:pt x="463" y="831"/>
                      </a:lnTo>
                      <a:lnTo>
                        <a:pt x="444" y="823"/>
                      </a:lnTo>
                      <a:lnTo>
                        <a:pt x="423" y="813"/>
                      </a:lnTo>
                      <a:lnTo>
                        <a:pt x="399" y="806"/>
                      </a:lnTo>
                      <a:lnTo>
                        <a:pt x="371" y="799"/>
                      </a:lnTo>
                      <a:lnTo>
                        <a:pt x="343" y="793"/>
                      </a:lnTo>
                      <a:lnTo>
                        <a:pt x="313" y="789"/>
                      </a:lnTo>
                      <a:lnTo>
                        <a:pt x="292" y="782"/>
                      </a:lnTo>
                      <a:lnTo>
                        <a:pt x="269" y="775"/>
                      </a:lnTo>
                      <a:lnTo>
                        <a:pt x="247" y="766"/>
                      </a:lnTo>
                      <a:lnTo>
                        <a:pt x="231" y="753"/>
                      </a:lnTo>
                      <a:lnTo>
                        <a:pt x="213" y="738"/>
                      </a:lnTo>
                      <a:lnTo>
                        <a:pt x="200" y="724"/>
                      </a:lnTo>
                      <a:lnTo>
                        <a:pt x="189" y="707"/>
                      </a:lnTo>
                      <a:lnTo>
                        <a:pt x="180" y="687"/>
                      </a:lnTo>
                      <a:lnTo>
                        <a:pt x="177" y="666"/>
                      </a:lnTo>
                      <a:lnTo>
                        <a:pt x="177" y="646"/>
                      </a:lnTo>
                      <a:lnTo>
                        <a:pt x="182" y="628"/>
                      </a:lnTo>
                      <a:lnTo>
                        <a:pt x="189" y="601"/>
                      </a:lnTo>
                      <a:lnTo>
                        <a:pt x="196" y="574"/>
                      </a:lnTo>
                      <a:lnTo>
                        <a:pt x="199" y="550"/>
                      </a:lnTo>
                      <a:lnTo>
                        <a:pt x="204" y="526"/>
                      </a:lnTo>
                      <a:lnTo>
                        <a:pt x="207" y="502"/>
                      </a:lnTo>
                      <a:lnTo>
                        <a:pt x="204" y="477"/>
                      </a:lnTo>
                      <a:lnTo>
                        <a:pt x="199" y="454"/>
                      </a:lnTo>
                      <a:lnTo>
                        <a:pt x="190" y="432"/>
                      </a:lnTo>
                      <a:lnTo>
                        <a:pt x="179" y="410"/>
                      </a:lnTo>
                      <a:lnTo>
                        <a:pt x="166" y="393"/>
                      </a:lnTo>
                      <a:lnTo>
                        <a:pt x="159" y="384"/>
                      </a:lnTo>
                      <a:lnTo>
                        <a:pt x="146" y="371"/>
                      </a:lnTo>
                      <a:lnTo>
                        <a:pt x="134" y="360"/>
                      </a:lnTo>
                      <a:lnTo>
                        <a:pt x="121" y="351"/>
                      </a:lnTo>
                      <a:lnTo>
                        <a:pt x="104" y="343"/>
                      </a:lnTo>
                      <a:lnTo>
                        <a:pt x="87" y="337"/>
                      </a:lnTo>
                      <a:lnTo>
                        <a:pt x="66" y="331"/>
                      </a:lnTo>
                      <a:lnTo>
                        <a:pt x="42" y="330"/>
                      </a:lnTo>
                      <a:lnTo>
                        <a:pt x="21" y="330"/>
                      </a:lnTo>
                      <a:lnTo>
                        <a:pt x="0" y="330"/>
                      </a:lnTo>
                      <a:close/>
                    </a:path>
                  </a:pathLst>
                </a:custGeom>
                <a:solidFill>
                  <a:schemeClr val="accent6">
                    <a:lumMod val="20000"/>
                    <a:lumOff val="80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mj-lt"/>
                    <a:ea typeface="+mn-ea"/>
                    <a:cs typeface="+mn-cs"/>
                  </a:endParaRPr>
                </a:p>
              </p:txBody>
            </p:sp>
            <p:sp>
              <p:nvSpPr>
                <p:cNvPr id="62" name="Freeform 62">
                  <a:extLst>
                    <a:ext uri="{FF2B5EF4-FFF2-40B4-BE49-F238E27FC236}">
                      <a16:creationId xmlns:a16="http://schemas.microsoft.com/office/drawing/2014/main" id="{925ECD51-8BF5-4B1B-AFCE-FA27A8E7B575}"/>
                    </a:ext>
                  </a:extLst>
                </p:cNvPr>
                <p:cNvSpPr>
                  <a:spLocks/>
                </p:cNvSpPr>
                <p:nvPr/>
              </p:nvSpPr>
              <p:spPr bwMode="auto">
                <a:xfrm>
                  <a:off x="3116" y="2333"/>
                  <a:ext cx="1634" cy="1327"/>
                </a:xfrm>
                <a:custGeom>
                  <a:avLst/>
                  <a:gdLst>
                    <a:gd name="T0" fmla="*/ 0 w 1634"/>
                    <a:gd name="T1" fmla="*/ 1327 h 1327"/>
                    <a:gd name="T2" fmla="*/ 1633 w 1634"/>
                    <a:gd name="T3" fmla="*/ 0 h 1327"/>
                    <a:gd name="T4" fmla="*/ 1480 w 1634"/>
                    <a:gd name="T5" fmla="*/ 26 h 1327"/>
                    <a:gd name="T6" fmla="*/ 1485 w 1634"/>
                    <a:gd name="T7" fmla="*/ 69 h 1327"/>
                    <a:gd name="T8" fmla="*/ 1501 w 1634"/>
                    <a:gd name="T9" fmla="*/ 129 h 1327"/>
                    <a:gd name="T10" fmla="*/ 1506 w 1634"/>
                    <a:gd name="T11" fmla="*/ 177 h 1327"/>
                    <a:gd name="T12" fmla="*/ 1496 w 1634"/>
                    <a:gd name="T13" fmla="*/ 226 h 1327"/>
                    <a:gd name="T14" fmla="*/ 1462 w 1634"/>
                    <a:gd name="T15" fmla="*/ 268 h 1327"/>
                    <a:gd name="T16" fmla="*/ 1420 w 1634"/>
                    <a:gd name="T17" fmla="*/ 299 h 1327"/>
                    <a:gd name="T18" fmla="*/ 1369 w 1634"/>
                    <a:gd name="T19" fmla="*/ 315 h 1327"/>
                    <a:gd name="T20" fmla="*/ 1295 w 1634"/>
                    <a:gd name="T21" fmla="*/ 314 h 1327"/>
                    <a:gd name="T22" fmla="*/ 1247 w 1634"/>
                    <a:gd name="T23" fmla="*/ 304 h 1327"/>
                    <a:gd name="T24" fmla="*/ 1199 w 1634"/>
                    <a:gd name="T25" fmla="*/ 270 h 1327"/>
                    <a:gd name="T26" fmla="*/ 1167 w 1634"/>
                    <a:gd name="T27" fmla="*/ 229 h 1327"/>
                    <a:gd name="T28" fmla="*/ 1153 w 1634"/>
                    <a:gd name="T29" fmla="*/ 185 h 1327"/>
                    <a:gd name="T30" fmla="*/ 1156 w 1634"/>
                    <a:gd name="T31" fmla="*/ 137 h 1327"/>
                    <a:gd name="T32" fmla="*/ 1167 w 1634"/>
                    <a:gd name="T33" fmla="*/ 93 h 1327"/>
                    <a:gd name="T34" fmla="*/ 1178 w 1634"/>
                    <a:gd name="T35" fmla="*/ 48 h 1327"/>
                    <a:gd name="T36" fmla="*/ 1173 w 1634"/>
                    <a:gd name="T37" fmla="*/ 6 h 1327"/>
                    <a:gd name="T38" fmla="*/ 902 w 1634"/>
                    <a:gd name="T39" fmla="*/ 52 h 1327"/>
                    <a:gd name="T40" fmla="*/ 897 w 1634"/>
                    <a:gd name="T41" fmla="*/ 112 h 1327"/>
                    <a:gd name="T42" fmla="*/ 894 w 1634"/>
                    <a:gd name="T43" fmla="*/ 161 h 1327"/>
                    <a:gd name="T44" fmla="*/ 882 w 1634"/>
                    <a:gd name="T45" fmla="*/ 203 h 1327"/>
                    <a:gd name="T46" fmla="*/ 858 w 1634"/>
                    <a:gd name="T47" fmla="*/ 232 h 1327"/>
                    <a:gd name="T48" fmla="*/ 824 w 1634"/>
                    <a:gd name="T49" fmla="*/ 247 h 1327"/>
                    <a:gd name="T50" fmla="*/ 786 w 1634"/>
                    <a:gd name="T51" fmla="*/ 251 h 1327"/>
                    <a:gd name="T52" fmla="*/ 739 w 1634"/>
                    <a:gd name="T53" fmla="*/ 249 h 1327"/>
                    <a:gd name="T54" fmla="*/ 697 w 1634"/>
                    <a:gd name="T55" fmla="*/ 246 h 1327"/>
                    <a:gd name="T56" fmla="*/ 643 w 1634"/>
                    <a:gd name="T57" fmla="*/ 243 h 1327"/>
                    <a:gd name="T58" fmla="*/ 595 w 1634"/>
                    <a:gd name="T59" fmla="*/ 249 h 1327"/>
                    <a:gd name="T60" fmla="*/ 551 w 1634"/>
                    <a:gd name="T61" fmla="*/ 266 h 1327"/>
                    <a:gd name="T62" fmla="*/ 519 w 1634"/>
                    <a:gd name="T63" fmla="*/ 295 h 1327"/>
                    <a:gd name="T64" fmla="*/ 501 w 1634"/>
                    <a:gd name="T65" fmla="*/ 332 h 1327"/>
                    <a:gd name="T66" fmla="*/ 501 w 1634"/>
                    <a:gd name="T67" fmla="*/ 374 h 1327"/>
                    <a:gd name="T68" fmla="*/ 501 w 1634"/>
                    <a:gd name="T69" fmla="*/ 421 h 1327"/>
                    <a:gd name="T70" fmla="*/ 491 w 1634"/>
                    <a:gd name="T71" fmla="*/ 459 h 1327"/>
                    <a:gd name="T72" fmla="*/ 471 w 1634"/>
                    <a:gd name="T73" fmla="*/ 490 h 1327"/>
                    <a:gd name="T74" fmla="*/ 430 w 1634"/>
                    <a:gd name="T75" fmla="*/ 511 h 1327"/>
                    <a:gd name="T76" fmla="*/ 386 w 1634"/>
                    <a:gd name="T77" fmla="*/ 524 h 1327"/>
                    <a:gd name="T78" fmla="*/ 334 w 1634"/>
                    <a:gd name="T79" fmla="*/ 535 h 1327"/>
                    <a:gd name="T80" fmla="*/ 287 w 1634"/>
                    <a:gd name="T81" fmla="*/ 547 h 1327"/>
                    <a:gd name="T82" fmla="*/ 248 w 1634"/>
                    <a:gd name="T83" fmla="*/ 562 h 1327"/>
                    <a:gd name="T84" fmla="*/ 218 w 1634"/>
                    <a:gd name="T85" fmla="*/ 585 h 1327"/>
                    <a:gd name="T86" fmla="*/ 193 w 1634"/>
                    <a:gd name="T87" fmla="*/ 620 h 1327"/>
                    <a:gd name="T88" fmla="*/ 180 w 1634"/>
                    <a:gd name="T89" fmla="*/ 664 h 1327"/>
                    <a:gd name="T90" fmla="*/ 186 w 1634"/>
                    <a:gd name="T91" fmla="*/ 709 h 1327"/>
                    <a:gd name="T92" fmla="*/ 200 w 1634"/>
                    <a:gd name="T93" fmla="*/ 765 h 1327"/>
                    <a:gd name="T94" fmla="*/ 208 w 1634"/>
                    <a:gd name="T95" fmla="*/ 813 h 1327"/>
                    <a:gd name="T96" fmla="*/ 206 w 1634"/>
                    <a:gd name="T97" fmla="*/ 860 h 1327"/>
                    <a:gd name="T98" fmla="*/ 193 w 1634"/>
                    <a:gd name="T99" fmla="*/ 902 h 1327"/>
                    <a:gd name="T100" fmla="*/ 173 w 1634"/>
                    <a:gd name="T101" fmla="*/ 945 h 1327"/>
                    <a:gd name="T102" fmla="*/ 141 w 1634"/>
                    <a:gd name="T103" fmla="*/ 991 h 1327"/>
                    <a:gd name="T104" fmla="*/ 108 w 1634"/>
                    <a:gd name="T105" fmla="*/ 1021 h 1327"/>
                    <a:gd name="T106" fmla="*/ 74 w 1634"/>
                    <a:gd name="T107" fmla="*/ 1039 h 1327"/>
                    <a:gd name="T108" fmla="*/ 23 w 1634"/>
                    <a:gd name="T109" fmla="*/ 1049 h 132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634"/>
                    <a:gd name="T166" fmla="*/ 0 h 1327"/>
                    <a:gd name="T167" fmla="*/ 1634 w 1634"/>
                    <a:gd name="T168" fmla="*/ 1327 h 132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634" h="1327">
                      <a:moveTo>
                        <a:pt x="0" y="1049"/>
                      </a:moveTo>
                      <a:lnTo>
                        <a:pt x="0" y="1327"/>
                      </a:lnTo>
                      <a:lnTo>
                        <a:pt x="1634" y="1327"/>
                      </a:lnTo>
                      <a:lnTo>
                        <a:pt x="1633" y="0"/>
                      </a:lnTo>
                      <a:lnTo>
                        <a:pt x="1487" y="0"/>
                      </a:lnTo>
                      <a:lnTo>
                        <a:pt x="1480" y="26"/>
                      </a:lnTo>
                      <a:lnTo>
                        <a:pt x="1480" y="44"/>
                      </a:lnTo>
                      <a:lnTo>
                        <a:pt x="1485" y="69"/>
                      </a:lnTo>
                      <a:lnTo>
                        <a:pt x="1493" y="96"/>
                      </a:lnTo>
                      <a:lnTo>
                        <a:pt x="1501" y="129"/>
                      </a:lnTo>
                      <a:lnTo>
                        <a:pt x="1506" y="154"/>
                      </a:lnTo>
                      <a:lnTo>
                        <a:pt x="1506" y="177"/>
                      </a:lnTo>
                      <a:lnTo>
                        <a:pt x="1503" y="202"/>
                      </a:lnTo>
                      <a:lnTo>
                        <a:pt x="1496" y="226"/>
                      </a:lnTo>
                      <a:lnTo>
                        <a:pt x="1480" y="249"/>
                      </a:lnTo>
                      <a:lnTo>
                        <a:pt x="1462" y="268"/>
                      </a:lnTo>
                      <a:lnTo>
                        <a:pt x="1442" y="287"/>
                      </a:lnTo>
                      <a:lnTo>
                        <a:pt x="1420" y="299"/>
                      </a:lnTo>
                      <a:lnTo>
                        <a:pt x="1393" y="309"/>
                      </a:lnTo>
                      <a:lnTo>
                        <a:pt x="1369" y="315"/>
                      </a:lnTo>
                      <a:lnTo>
                        <a:pt x="1335" y="316"/>
                      </a:lnTo>
                      <a:lnTo>
                        <a:pt x="1295" y="314"/>
                      </a:lnTo>
                      <a:lnTo>
                        <a:pt x="1270" y="309"/>
                      </a:lnTo>
                      <a:lnTo>
                        <a:pt x="1247" y="304"/>
                      </a:lnTo>
                      <a:lnTo>
                        <a:pt x="1226" y="291"/>
                      </a:lnTo>
                      <a:lnTo>
                        <a:pt x="1199" y="270"/>
                      </a:lnTo>
                      <a:lnTo>
                        <a:pt x="1182" y="250"/>
                      </a:lnTo>
                      <a:lnTo>
                        <a:pt x="1167" y="229"/>
                      </a:lnTo>
                      <a:lnTo>
                        <a:pt x="1158" y="206"/>
                      </a:lnTo>
                      <a:lnTo>
                        <a:pt x="1153" y="185"/>
                      </a:lnTo>
                      <a:lnTo>
                        <a:pt x="1153" y="161"/>
                      </a:lnTo>
                      <a:lnTo>
                        <a:pt x="1156" y="137"/>
                      </a:lnTo>
                      <a:lnTo>
                        <a:pt x="1161" y="115"/>
                      </a:lnTo>
                      <a:lnTo>
                        <a:pt x="1167" y="93"/>
                      </a:lnTo>
                      <a:lnTo>
                        <a:pt x="1174" y="71"/>
                      </a:lnTo>
                      <a:lnTo>
                        <a:pt x="1178" y="48"/>
                      </a:lnTo>
                      <a:lnTo>
                        <a:pt x="1178" y="28"/>
                      </a:lnTo>
                      <a:lnTo>
                        <a:pt x="1173" y="6"/>
                      </a:lnTo>
                      <a:lnTo>
                        <a:pt x="899" y="6"/>
                      </a:lnTo>
                      <a:lnTo>
                        <a:pt x="902" y="52"/>
                      </a:lnTo>
                      <a:lnTo>
                        <a:pt x="899" y="85"/>
                      </a:lnTo>
                      <a:lnTo>
                        <a:pt x="897" y="112"/>
                      </a:lnTo>
                      <a:lnTo>
                        <a:pt x="897" y="136"/>
                      </a:lnTo>
                      <a:lnTo>
                        <a:pt x="894" y="161"/>
                      </a:lnTo>
                      <a:lnTo>
                        <a:pt x="889" y="187"/>
                      </a:lnTo>
                      <a:lnTo>
                        <a:pt x="882" y="203"/>
                      </a:lnTo>
                      <a:lnTo>
                        <a:pt x="872" y="219"/>
                      </a:lnTo>
                      <a:lnTo>
                        <a:pt x="858" y="232"/>
                      </a:lnTo>
                      <a:lnTo>
                        <a:pt x="842" y="242"/>
                      </a:lnTo>
                      <a:lnTo>
                        <a:pt x="824" y="247"/>
                      </a:lnTo>
                      <a:lnTo>
                        <a:pt x="804" y="250"/>
                      </a:lnTo>
                      <a:lnTo>
                        <a:pt x="786" y="251"/>
                      </a:lnTo>
                      <a:lnTo>
                        <a:pt x="762" y="251"/>
                      </a:lnTo>
                      <a:lnTo>
                        <a:pt x="739" y="249"/>
                      </a:lnTo>
                      <a:lnTo>
                        <a:pt x="721" y="247"/>
                      </a:lnTo>
                      <a:lnTo>
                        <a:pt x="697" y="246"/>
                      </a:lnTo>
                      <a:lnTo>
                        <a:pt x="671" y="243"/>
                      </a:lnTo>
                      <a:lnTo>
                        <a:pt x="643" y="243"/>
                      </a:lnTo>
                      <a:lnTo>
                        <a:pt x="619" y="246"/>
                      </a:lnTo>
                      <a:lnTo>
                        <a:pt x="595" y="249"/>
                      </a:lnTo>
                      <a:lnTo>
                        <a:pt x="570" y="256"/>
                      </a:lnTo>
                      <a:lnTo>
                        <a:pt x="551" y="266"/>
                      </a:lnTo>
                      <a:lnTo>
                        <a:pt x="532" y="278"/>
                      </a:lnTo>
                      <a:lnTo>
                        <a:pt x="519" y="295"/>
                      </a:lnTo>
                      <a:lnTo>
                        <a:pt x="506" y="314"/>
                      </a:lnTo>
                      <a:lnTo>
                        <a:pt x="501" y="332"/>
                      </a:lnTo>
                      <a:lnTo>
                        <a:pt x="498" y="353"/>
                      </a:lnTo>
                      <a:lnTo>
                        <a:pt x="501" y="374"/>
                      </a:lnTo>
                      <a:lnTo>
                        <a:pt x="502" y="397"/>
                      </a:lnTo>
                      <a:lnTo>
                        <a:pt x="501" y="421"/>
                      </a:lnTo>
                      <a:lnTo>
                        <a:pt x="496" y="439"/>
                      </a:lnTo>
                      <a:lnTo>
                        <a:pt x="491" y="459"/>
                      </a:lnTo>
                      <a:lnTo>
                        <a:pt x="482" y="477"/>
                      </a:lnTo>
                      <a:lnTo>
                        <a:pt x="471" y="490"/>
                      </a:lnTo>
                      <a:lnTo>
                        <a:pt x="453" y="503"/>
                      </a:lnTo>
                      <a:lnTo>
                        <a:pt x="430" y="511"/>
                      </a:lnTo>
                      <a:lnTo>
                        <a:pt x="407" y="518"/>
                      </a:lnTo>
                      <a:lnTo>
                        <a:pt x="386" y="524"/>
                      </a:lnTo>
                      <a:lnTo>
                        <a:pt x="364" y="530"/>
                      </a:lnTo>
                      <a:lnTo>
                        <a:pt x="334" y="535"/>
                      </a:lnTo>
                      <a:lnTo>
                        <a:pt x="311" y="540"/>
                      </a:lnTo>
                      <a:lnTo>
                        <a:pt x="287" y="547"/>
                      </a:lnTo>
                      <a:lnTo>
                        <a:pt x="268" y="554"/>
                      </a:lnTo>
                      <a:lnTo>
                        <a:pt x="248" y="562"/>
                      </a:lnTo>
                      <a:lnTo>
                        <a:pt x="232" y="573"/>
                      </a:lnTo>
                      <a:lnTo>
                        <a:pt x="218" y="585"/>
                      </a:lnTo>
                      <a:lnTo>
                        <a:pt x="203" y="603"/>
                      </a:lnTo>
                      <a:lnTo>
                        <a:pt x="193" y="620"/>
                      </a:lnTo>
                      <a:lnTo>
                        <a:pt x="184" y="640"/>
                      </a:lnTo>
                      <a:lnTo>
                        <a:pt x="180" y="664"/>
                      </a:lnTo>
                      <a:lnTo>
                        <a:pt x="183" y="686"/>
                      </a:lnTo>
                      <a:lnTo>
                        <a:pt x="186" y="709"/>
                      </a:lnTo>
                      <a:lnTo>
                        <a:pt x="193" y="736"/>
                      </a:lnTo>
                      <a:lnTo>
                        <a:pt x="200" y="765"/>
                      </a:lnTo>
                      <a:lnTo>
                        <a:pt x="206" y="792"/>
                      </a:lnTo>
                      <a:lnTo>
                        <a:pt x="208" y="813"/>
                      </a:lnTo>
                      <a:lnTo>
                        <a:pt x="208" y="833"/>
                      </a:lnTo>
                      <a:lnTo>
                        <a:pt x="206" y="860"/>
                      </a:lnTo>
                      <a:lnTo>
                        <a:pt x="199" y="883"/>
                      </a:lnTo>
                      <a:lnTo>
                        <a:pt x="193" y="902"/>
                      </a:lnTo>
                      <a:lnTo>
                        <a:pt x="184" y="921"/>
                      </a:lnTo>
                      <a:lnTo>
                        <a:pt x="173" y="945"/>
                      </a:lnTo>
                      <a:lnTo>
                        <a:pt x="158" y="972"/>
                      </a:lnTo>
                      <a:lnTo>
                        <a:pt x="141" y="991"/>
                      </a:lnTo>
                      <a:lnTo>
                        <a:pt x="124" y="1007"/>
                      </a:lnTo>
                      <a:lnTo>
                        <a:pt x="108" y="1021"/>
                      </a:lnTo>
                      <a:lnTo>
                        <a:pt x="91" y="1032"/>
                      </a:lnTo>
                      <a:lnTo>
                        <a:pt x="74" y="1039"/>
                      </a:lnTo>
                      <a:lnTo>
                        <a:pt x="50" y="1045"/>
                      </a:lnTo>
                      <a:lnTo>
                        <a:pt x="23" y="1049"/>
                      </a:lnTo>
                      <a:lnTo>
                        <a:pt x="0" y="1049"/>
                      </a:lnTo>
                      <a:close/>
                    </a:path>
                  </a:pathLst>
                </a:custGeom>
                <a:solidFill>
                  <a:srgbClr val="9DD4CF"/>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mj-lt"/>
                    <a:ea typeface="+mn-ea"/>
                    <a:cs typeface="+mn-cs"/>
                  </a:endParaRPr>
                </a:p>
              </p:txBody>
            </p:sp>
            <p:sp>
              <p:nvSpPr>
                <p:cNvPr id="63" name="Freeform 63">
                  <a:extLst>
                    <a:ext uri="{FF2B5EF4-FFF2-40B4-BE49-F238E27FC236}">
                      <a16:creationId xmlns:a16="http://schemas.microsoft.com/office/drawing/2014/main" id="{3DFDBDFF-42DF-417D-97A1-A5838E759B66}"/>
                    </a:ext>
                  </a:extLst>
                </p:cNvPr>
                <p:cNvSpPr>
                  <a:spLocks/>
                </p:cNvSpPr>
                <p:nvPr/>
              </p:nvSpPr>
              <p:spPr bwMode="auto">
                <a:xfrm>
                  <a:off x="1489" y="2076"/>
                  <a:ext cx="1627" cy="1584"/>
                </a:xfrm>
                <a:custGeom>
                  <a:avLst/>
                  <a:gdLst>
                    <a:gd name="T0" fmla="*/ 1627 w 1628"/>
                    <a:gd name="T1" fmla="*/ 1584 h 1584"/>
                    <a:gd name="T2" fmla="*/ 0 w 1628"/>
                    <a:gd name="T3" fmla="*/ 319 h 1584"/>
                    <a:gd name="T4" fmla="*/ 147 w 1628"/>
                    <a:gd name="T5" fmla="*/ 308 h 1584"/>
                    <a:gd name="T6" fmla="*/ 151 w 1628"/>
                    <a:gd name="T7" fmla="*/ 280 h 1584"/>
                    <a:gd name="T8" fmla="*/ 144 w 1628"/>
                    <a:gd name="T9" fmla="*/ 244 h 1584"/>
                    <a:gd name="T10" fmla="*/ 133 w 1628"/>
                    <a:gd name="T11" fmla="*/ 202 h 1584"/>
                    <a:gd name="T12" fmla="*/ 126 w 1628"/>
                    <a:gd name="T13" fmla="*/ 161 h 1584"/>
                    <a:gd name="T14" fmla="*/ 127 w 1628"/>
                    <a:gd name="T15" fmla="*/ 123 h 1584"/>
                    <a:gd name="T16" fmla="*/ 140 w 1628"/>
                    <a:gd name="T17" fmla="*/ 85 h 1584"/>
                    <a:gd name="T18" fmla="*/ 166 w 1628"/>
                    <a:gd name="T19" fmla="*/ 54 h 1584"/>
                    <a:gd name="T20" fmla="*/ 196 w 1628"/>
                    <a:gd name="T21" fmla="*/ 28 h 1584"/>
                    <a:gd name="T22" fmla="*/ 233 w 1628"/>
                    <a:gd name="T23" fmla="*/ 10 h 1584"/>
                    <a:gd name="T24" fmla="*/ 279 w 1628"/>
                    <a:gd name="T25" fmla="*/ 2 h 1584"/>
                    <a:gd name="T26" fmla="*/ 320 w 1628"/>
                    <a:gd name="T27" fmla="*/ 0 h 1584"/>
                    <a:gd name="T28" fmla="*/ 356 w 1628"/>
                    <a:gd name="T29" fmla="*/ 4 h 1584"/>
                    <a:gd name="T30" fmla="*/ 392 w 1628"/>
                    <a:gd name="T31" fmla="*/ 16 h 1584"/>
                    <a:gd name="T32" fmla="*/ 422 w 1628"/>
                    <a:gd name="T33" fmla="*/ 36 h 1584"/>
                    <a:gd name="T34" fmla="*/ 450 w 1628"/>
                    <a:gd name="T35" fmla="*/ 65 h 1584"/>
                    <a:gd name="T36" fmla="*/ 473 w 1628"/>
                    <a:gd name="T37" fmla="*/ 98 h 1584"/>
                    <a:gd name="T38" fmla="*/ 485 w 1628"/>
                    <a:gd name="T39" fmla="*/ 143 h 1584"/>
                    <a:gd name="T40" fmla="*/ 480 w 1628"/>
                    <a:gd name="T41" fmla="*/ 188 h 1584"/>
                    <a:gd name="T42" fmla="*/ 469 w 1628"/>
                    <a:gd name="T43" fmla="*/ 233 h 1584"/>
                    <a:gd name="T44" fmla="*/ 457 w 1628"/>
                    <a:gd name="T45" fmla="*/ 278 h 1584"/>
                    <a:gd name="T46" fmla="*/ 460 w 1628"/>
                    <a:gd name="T47" fmla="*/ 300 h 1584"/>
                    <a:gd name="T48" fmla="*/ 734 w 1628"/>
                    <a:gd name="T49" fmla="*/ 311 h 1584"/>
                    <a:gd name="T50" fmla="*/ 727 w 1628"/>
                    <a:gd name="T51" fmla="*/ 394 h 1584"/>
                    <a:gd name="T52" fmla="*/ 730 w 1628"/>
                    <a:gd name="T53" fmla="*/ 444 h 1584"/>
                    <a:gd name="T54" fmla="*/ 737 w 1628"/>
                    <a:gd name="T55" fmla="*/ 494 h 1584"/>
                    <a:gd name="T56" fmla="*/ 755 w 1628"/>
                    <a:gd name="T57" fmla="*/ 525 h 1584"/>
                    <a:gd name="T58" fmla="*/ 785 w 1628"/>
                    <a:gd name="T59" fmla="*/ 548 h 1584"/>
                    <a:gd name="T60" fmla="*/ 820 w 1628"/>
                    <a:gd name="T61" fmla="*/ 558 h 1584"/>
                    <a:gd name="T62" fmla="*/ 863 w 1628"/>
                    <a:gd name="T63" fmla="*/ 559 h 1584"/>
                    <a:gd name="T64" fmla="*/ 904 w 1628"/>
                    <a:gd name="T65" fmla="*/ 555 h 1584"/>
                    <a:gd name="T66" fmla="*/ 955 w 1628"/>
                    <a:gd name="T67" fmla="*/ 549 h 1584"/>
                    <a:gd name="T68" fmla="*/ 1007 w 1628"/>
                    <a:gd name="T69" fmla="*/ 552 h 1584"/>
                    <a:gd name="T70" fmla="*/ 1055 w 1628"/>
                    <a:gd name="T71" fmla="*/ 565 h 1584"/>
                    <a:gd name="T72" fmla="*/ 1094 w 1628"/>
                    <a:gd name="T73" fmla="*/ 588 h 1584"/>
                    <a:gd name="T74" fmla="*/ 1118 w 1628"/>
                    <a:gd name="T75" fmla="*/ 621 h 1584"/>
                    <a:gd name="T76" fmla="*/ 1128 w 1628"/>
                    <a:gd name="T77" fmla="*/ 661 h 1584"/>
                    <a:gd name="T78" fmla="*/ 1124 w 1628"/>
                    <a:gd name="T79" fmla="*/ 706 h 1584"/>
                    <a:gd name="T80" fmla="*/ 1128 w 1628"/>
                    <a:gd name="T81" fmla="*/ 749 h 1584"/>
                    <a:gd name="T82" fmla="*/ 1144 w 1628"/>
                    <a:gd name="T83" fmla="*/ 785 h 1584"/>
                    <a:gd name="T84" fmla="*/ 1172 w 1628"/>
                    <a:gd name="T85" fmla="*/ 811 h 1584"/>
                    <a:gd name="T86" fmla="*/ 1219 w 1628"/>
                    <a:gd name="T87" fmla="*/ 826 h 1584"/>
                    <a:gd name="T88" fmla="*/ 1262 w 1628"/>
                    <a:gd name="T89" fmla="*/ 837 h 1584"/>
                    <a:gd name="T90" fmla="*/ 1315 w 1628"/>
                    <a:gd name="T91" fmla="*/ 847 h 1584"/>
                    <a:gd name="T92" fmla="*/ 1358 w 1628"/>
                    <a:gd name="T93" fmla="*/ 861 h 1584"/>
                    <a:gd name="T94" fmla="*/ 1394 w 1628"/>
                    <a:gd name="T95" fmla="*/ 881 h 1584"/>
                    <a:gd name="T96" fmla="*/ 1423 w 1628"/>
                    <a:gd name="T97" fmla="*/ 911 h 1584"/>
                    <a:gd name="T98" fmla="*/ 1442 w 1628"/>
                    <a:gd name="T99" fmla="*/ 946 h 1584"/>
                    <a:gd name="T100" fmla="*/ 1443 w 1628"/>
                    <a:gd name="T101" fmla="*/ 996 h 1584"/>
                    <a:gd name="T102" fmla="*/ 1433 w 1628"/>
                    <a:gd name="T103" fmla="*/ 1044 h 1584"/>
                    <a:gd name="T104" fmla="*/ 1419 w 1628"/>
                    <a:gd name="T105" fmla="*/ 1100 h 1584"/>
                    <a:gd name="T106" fmla="*/ 1416 w 1628"/>
                    <a:gd name="T107" fmla="*/ 1141 h 1584"/>
                    <a:gd name="T108" fmla="*/ 1426 w 1628"/>
                    <a:gd name="T109" fmla="*/ 1190 h 1584"/>
                    <a:gd name="T110" fmla="*/ 1444 w 1628"/>
                    <a:gd name="T111" fmla="*/ 1224 h 1584"/>
                    <a:gd name="T112" fmla="*/ 1474 w 1628"/>
                    <a:gd name="T113" fmla="*/ 1261 h 1584"/>
                    <a:gd name="T114" fmla="*/ 1514 w 1628"/>
                    <a:gd name="T115" fmla="*/ 1289 h 1584"/>
                    <a:gd name="T116" fmla="*/ 1555 w 1628"/>
                    <a:gd name="T117" fmla="*/ 1302 h 1584"/>
                    <a:gd name="T118" fmla="*/ 1601 w 1628"/>
                    <a:gd name="T119" fmla="*/ 1306 h 15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28"/>
                    <a:gd name="T181" fmla="*/ 0 h 1584"/>
                    <a:gd name="T182" fmla="*/ 1628 w 1628"/>
                    <a:gd name="T183" fmla="*/ 1584 h 158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28" h="1584">
                      <a:moveTo>
                        <a:pt x="1628" y="1305"/>
                      </a:moveTo>
                      <a:lnTo>
                        <a:pt x="1628" y="1584"/>
                      </a:lnTo>
                      <a:lnTo>
                        <a:pt x="1" y="1584"/>
                      </a:lnTo>
                      <a:lnTo>
                        <a:pt x="0" y="319"/>
                      </a:lnTo>
                      <a:lnTo>
                        <a:pt x="141" y="319"/>
                      </a:lnTo>
                      <a:lnTo>
                        <a:pt x="147" y="308"/>
                      </a:lnTo>
                      <a:lnTo>
                        <a:pt x="151" y="292"/>
                      </a:lnTo>
                      <a:lnTo>
                        <a:pt x="151" y="280"/>
                      </a:lnTo>
                      <a:lnTo>
                        <a:pt x="150" y="264"/>
                      </a:lnTo>
                      <a:lnTo>
                        <a:pt x="144" y="244"/>
                      </a:lnTo>
                      <a:lnTo>
                        <a:pt x="138" y="219"/>
                      </a:lnTo>
                      <a:lnTo>
                        <a:pt x="133" y="202"/>
                      </a:lnTo>
                      <a:lnTo>
                        <a:pt x="127" y="181"/>
                      </a:lnTo>
                      <a:lnTo>
                        <a:pt x="126" y="161"/>
                      </a:lnTo>
                      <a:lnTo>
                        <a:pt x="126" y="141"/>
                      </a:lnTo>
                      <a:lnTo>
                        <a:pt x="127" y="123"/>
                      </a:lnTo>
                      <a:lnTo>
                        <a:pt x="133" y="103"/>
                      </a:lnTo>
                      <a:lnTo>
                        <a:pt x="140" y="85"/>
                      </a:lnTo>
                      <a:lnTo>
                        <a:pt x="151" y="71"/>
                      </a:lnTo>
                      <a:lnTo>
                        <a:pt x="166" y="54"/>
                      </a:lnTo>
                      <a:lnTo>
                        <a:pt x="181" y="41"/>
                      </a:lnTo>
                      <a:lnTo>
                        <a:pt x="196" y="28"/>
                      </a:lnTo>
                      <a:lnTo>
                        <a:pt x="213" y="19"/>
                      </a:lnTo>
                      <a:lnTo>
                        <a:pt x="233" y="10"/>
                      </a:lnTo>
                      <a:lnTo>
                        <a:pt x="255" y="4"/>
                      </a:lnTo>
                      <a:lnTo>
                        <a:pt x="279" y="2"/>
                      </a:lnTo>
                      <a:lnTo>
                        <a:pt x="299" y="0"/>
                      </a:lnTo>
                      <a:lnTo>
                        <a:pt x="320" y="0"/>
                      </a:lnTo>
                      <a:lnTo>
                        <a:pt x="340" y="2"/>
                      </a:lnTo>
                      <a:lnTo>
                        <a:pt x="356" y="4"/>
                      </a:lnTo>
                      <a:lnTo>
                        <a:pt x="374" y="10"/>
                      </a:lnTo>
                      <a:lnTo>
                        <a:pt x="392" y="16"/>
                      </a:lnTo>
                      <a:lnTo>
                        <a:pt x="406" y="24"/>
                      </a:lnTo>
                      <a:lnTo>
                        <a:pt x="422" y="36"/>
                      </a:lnTo>
                      <a:lnTo>
                        <a:pt x="436" y="50"/>
                      </a:lnTo>
                      <a:lnTo>
                        <a:pt x="450" y="65"/>
                      </a:lnTo>
                      <a:lnTo>
                        <a:pt x="463" y="81"/>
                      </a:lnTo>
                      <a:lnTo>
                        <a:pt x="473" y="98"/>
                      </a:lnTo>
                      <a:lnTo>
                        <a:pt x="480" y="119"/>
                      </a:lnTo>
                      <a:lnTo>
                        <a:pt x="485" y="143"/>
                      </a:lnTo>
                      <a:lnTo>
                        <a:pt x="485" y="165"/>
                      </a:lnTo>
                      <a:lnTo>
                        <a:pt x="480" y="188"/>
                      </a:lnTo>
                      <a:lnTo>
                        <a:pt x="474" y="211"/>
                      </a:lnTo>
                      <a:lnTo>
                        <a:pt x="469" y="233"/>
                      </a:lnTo>
                      <a:lnTo>
                        <a:pt x="461" y="259"/>
                      </a:lnTo>
                      <a:lnTo>
                        <a:pt x="457" y="278"/>
                      </a:lnTo>
                      <a:lnTo>
                        <a:pt x="457" y="290"/>
                      </a:lnTo>
                      <a:lnTo>
                        <a:pt x="460" y="300"/>
                      </a:lnTo>
                      <a:lnTo>
                        <a:pt x="464" y="311"/>
                      </a:lnTo>
                      <a:lnTo>
                        <a:pt x="734" y="311"/>
                      </a:lnTo>
                      <a:lnTo>
                        <a:pt x="728" y="363"/>
                      </a:lnTo>
                      <a:lnTo>
                        <a:pt x="727" y="394"/>
                      </a:lnTo>
                      <a:lnTo>
                        <a:pt x="728" y="420"/>
                      </a:lnTo>
                      <a:lnTo>
                        <a:pt x="730" y="444"/>
                      </a:lnTo>
                      <a:lnTo>
                        <a:pt x="733" y="469"/>
                      </a:lnTo>
                      <a:lnTo>
                        <a:pt x="737" y="494"/>
                      </a:lnTo>
                      <a:lnTo>
                        <a:pt x="745" y="511"/>
                      </a:lnTo>
                      <a:lnTo>
                        <a:pt x="755" y="525"/>
                      </a:lnTo>
                      <a:lnTo>
                        <a:pt x="768" y="538"/>
                      </a:lnTo>
                      <a:lnTo>
                        <a:pt x="785" y="548"/>
                      </a:lnTo>
                      <a:lnTo>
                        <a:pt x="803" y="555"/>
                      </a:lnTo>
                      <a:lnTo>
                        <a:pt x="821" y="558"/>
                      </a:lnTo>
                      <a:lnTo>
                        <a:pt x="841" y="559"/>
                      </a:lnTo>
                      <a:lnTo>
                        <a:pt x="864" y="559"/>
                      </a:lnTo>
                      <a:lnTo>
                        <a:pt x="888" y="556"/>
                      </a:lnTo>
                      <a:lnTo>
                        <a:pt x="905" y="555"/>
                      </a:lnTo>
                      <a:lnTo>
                        <a:pt x="930" y="552"/>
                      </a:lnTo>
                      <a:lnTo>
                        <a:pt x="956" y="549"/>
                      </a:lnTo>
                      <a:lnTo>
                        <a:pt x="984" y="549"/>
                      </a:lnTo>
                      <a:lnTo>
                        <a:pt x="1008" y="552"/>
                      </a:lnTo>
                      <a:lnTo>
                        <a:pt x="1032" y="556"/>
                      </a:lnTo>
                      <a:lnTo>
                        <a:pt x="1056" y="565"/>
                      </a:lnTo>
                      <a:lnTo>
                        <a:pt x="1076" y="573"/>
                      </a:lnTo>
                      <a:lnTo>
                        <a:pt x="1095" y="588"/>
                      </a:lnTo>
                      <a:lnTo>
                        <a:pt x="1108" y="603"/>
                      </a:lnTo>
                      <a:lnTo>
                        <a:pt x="1119" y="621"/>
                      </a:lnTo>
                      <a:lnTo>
                        <a:pt x="1126" y="641"/>
                      </a:lnTo>
                      <a:lnTo>
                        <a:pt x="1129" y="661"/>
                      </a:lnTo>
                      <a:lnTo>
                        <a:pt x="1126" y="684"/>
                      </a:lnTo>
                      <a:lnTo>
                        <a:pt x="1125" y="706"/>
                      </a:lnTo>
                      <a:lnTo>
                        <a:pt x="1126" y="729"/>
                      </a:lnTo>
                      <a:lnTo>
                        <a:pt x="1129" y="749"/>
                      </a:lnTo>
                      <a:lnTo>
                        <a:pt x="1136" y="767"/>
                      </a:lnTo>
                      <a:lnTo>
                        <a:pt x="1145" y="785"/>
                      </a:lnTo>
                      <a:lnTo>
                        <a:pt x="1156" y="798"/>
                      </a:lnTo>
                      <a:lnTo>
                        <a:pt x="1173" y="811"/>
                      </a:lnTo>
                      <a:lnTo>
                        <a:pt x="1196" y="819"/>
                      </a:lnTo>
                      <a:lnTo>
                        <a:pt x="1220" y="826"/>
                      </a:lnTo>
                      <a:lnTo>
                        <a:pt x="1239" y="832"/>
                      </a:lnTo>
                      <a:lnTo>
                        <a:pt x="1263" y="837"/>
                      </a:lnTo>
                      <a:lnTo>
                        <a:pt x="1292" y="843"/>
                      </a:lnTo>
                      <a:lnTo>
                        <a:pt x="1316" y="847"/>
                      </a:lnTo>
                      <a:lnTo>
                        <a:pt x="1340" y="854"/>
                      </a:lnTo>
                      <a:lnTo>
                        <a:pt x="1359" y="861"/>
                      </a:lnTo>
                      <a:lnTo>
                        <a:pt x="1379" y="870"/>
                      </a:lnTo>
                      <a:lnTo>
                        <a:pt x="1395" y="881"/>
                      </a:lnTo>
                      <a:lnTo>
                        <a:pt x="1407" y="893"/>
                      </a:lnTo>
                      <a:lnTo>
                        <a:pt x="1424" y="911"/>
                      </a:lnTo>
                      <a:lnTo>
                        <a:pt x="1434" y="928"/>
                      </a:lnTo>
                      <a:lnTo>
                        <a:pt x="1443" y="946"/>
                      </a:lnTo>
                      <a:lnTo>
                        <a:pt x="1447" y="972"/>
                      </a:lnTo>
                      <a:lnTo>
                        <a:pt x="1444" y="996"/>
                      </a:lnTo>
                      <a:lnTo>
                        <a:pt x="1440" y="1017"/>
                      </a:lnTo>
                      <a:lnTo>
                        <a:pt x="1434" y="1044"/>
                      </a:lnTo>
                      <a:lnTo>
                        <a:pt x="1427" y="1073"/>
                      </a:lnTo>
                      <a:lnTo>
                        <a:pt x="1420" y="1100"/>
                      </a:lnTo>
                      <a:lnTo>
                        <a:pt x="1417" y="1123"/>
                      </a:lnTo>
                      <a:lnTo>
                        <a:pt x="1417" y="1141"/>
                      </a:lnTo>
                      <a:lnTo>
                        <a:pt x="1421" y="1168"/>
                      </a:lnTo>
                      <a:lnTo>
                        <a:pt x="1427" y="1190"/>
                      </a:lnTo>
                      <a:lnTo>
                        <a:pt x="1436" y="1207"/>
                      </a:lnTo>
                      <a:lnTo>
                        <a:pt x="1445" y="1224"/>
                      </a:lnTo>
                      <a:lnTo>
                        <a:pt x="1460" y="1243"/>
                      </a:lnTo>
                      <a:lnTo>
                        <a:pt x="1475" y="1261"/>
                      </a:lnTo>
                      <a:lnTo>
                        <a:pt x="1493" y="1277"/>
                      </a:lnTo>
                      <a:lnTo>
                        <a:pt x="1515" y="1289"/>
                      </a:lnTo>
                      <a:lnTo>
                        <a:pt x="1534" y="1296"/>
                      </a:lnTo>
                      <a:lnTo>
                        <a:pt x="1556" y="1302"/>
                      </a:lnTo>
                      <a:lnTo>
                        <a:pt x="1577" y="1305"/>
                      </a:lnTo>
                      <a:lnTo>
                        <a:pt x="1602" y="1306"/>
                      </a:lnTo>
                      <a:lnTo>
                        <a:pt x="1628" y="1305"/>
                      </a:lnTo>
                      <a:close/>
                    </a:path>
                  </a:pathLst>
                </a:custGeom>
                <a:solidFill>
                  <a:schemeClr val="accent4">
                    <a:lumMod val="20000"/>
                    <a:lumOff val="80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mj-lt"/>
                    <a:ea typeface="+mn-ea"/>
                    <a:cs typeface="+mn-cs"/>
                  </a:endParaRPr>
                </a:p>
              </p:txBody>
            </p:sp>
            <p:sp>
              <p:nvSpPr>
                <p:cNvPr id="64" name="Freeform 7">
                  <a:extLst>
                    <a:ext uri="{FF2B5EF4-FFF2-40B4-BE49-F238E27FC236}">
                      <a16:creationId xmlns:a16="http://schemas.microsoft.com/office/drawing/2014/main" id="{B8A8BAC4-4A59-49E7-953B-66A775F81E94}"/>
                    </a:ext>
                  </a:extLst>
                </p:cNvPr>
                <p:cNvSpPr>
                  <a:spLocks/>
                </p:cNvSpPr>
                <p:nvPr/>
              </p:nvSpPr>
              <p:spPr bwMode="auto">
                <a:xfrm>
                  <a:off x="1489" y="1070"/>
                  <a:ext cx="1634" cy="1327"/>
                </a:xfrm>
                <a:custGeom>
                  <a:avLst/>
                  <a:gdLst>
                    <a:gd name="T0" fmla="*/ 1630 w 1635"/>
                    <a:gd name="T1" fmla="*/ 0 h 1327"/>
                    <a:gd name="T2" fmla="*/ 1 w 1635"/>
                    <a:gd name="T3" fmla="*/ 1327 h 1327"/>
                    <a:gd name="T4" fmla="*/ 154 w 1635"/>
                    <a:gd name="T5" fmla="*/ 1301 h 1327"/>
                    <a:gd name="T6" fmla="*/ 150 w 1635"/>
                    <a:gd name="T7" fmla="*/ 1258 h 1327"/>
                    <a:gd name="T8" fmla="*/ 133 w 1635"/>
                    <a:gd name="T9" fmla="*/ 1198 h 1327"/>
                    <a:gd name="T10" fmla="*/ 127 w 1635"/>
                    <a:gd name="T11" fmla="*/ 1150 h 1327"/>
                    <a:gd name="T12" fmla="*/ 138 w 1635"/>
                    <a:gd name="T13" fmla="*/ 1101 h 1327"/>
                    <a:gd name="T14" fmla="*/ 172 w 1635"/>
                    <a:gd name="T15" fmla="*/ 1058 h 1327"/>
                    <a:gd name="T16" fmla="*/ 214 w 1635"/>
                    <a:gd name="T17" fmla="*/ 1027 h 1327"/>
                    <a:gd name="T18" fmla="*/ 265 w 1635"/>
                    <a:gd name="T19" fmla="*/ 1012 h 1327"/>
                    <a:gd name="T20" fmla="*/ 339 w 1635"/>
                    <a:gd name="T21" fmla="*/ 1013 h 1327"/>
                    <a:gd name="T22" fmla="*/ 387 w 1635"/>
                    <a:gd name="T23" fmla="*/ 1023 h 1327"/>
                    <a:gd name="T24" fmla="*/ 435 w 1635"/>
                    <a:gd name="T25" fmla="*/ 1057 h 1327"/>
                    <a:gd name="T26" fmla="*/ 467 w 1635"/>
                    <a:gd name="T27" fmla="*/ 1098 h 1327"/>
                    <a:gd name="T28" fmla="*/ 481 w 1635"/>
                    <a:gd name="T29" fmla="*/ 1142 h 1327"/>
                    <a:gd name="T30" fmla="*/ 478 w 1635"/>
                    <a:gd name="T31" fmla="*/ 1190 h 1327"/>
                    <a:gd name="T32" fmla="*/ 467 w 1635"/>
                    <a:gd name="T33" fmla="*/ 1234 h 1327"/>
                    <a:gd name="T34" fmla="*/ 456 w 1635"/>
                    <a:gd name="T35" fmla="*/ 1279 h 1327"/>
                    <a:gd name="T36" fmla="*/ 461 w 1635"/>
                    <a:gd name="T37" fmla="*/ 1321 h 1327"/>
                    <a:gd name="T38" fmla="*/ 733 w 1635"/>
                    <a:gd name="T39" fmla="*/ 1274 h 1327"/>
                    <a:gd name="T40" fmla="*/ 735 w 1635"/>
                    <a:gd name="T41" fmla="*/ 1215 h 1327"/>
                    <a:gd name="T42" fmla="*/ 740 w 1635"/>
                    <a:gd name="T43" fmla="*/ 1166 h 1327"/>
                    <a:gd name="T44" fmla="*/ 752 w 1635"/>
                    <a:gd name="T45" fmla="*/ 1123 h 1327"/>
                    <a:gd name="T46" fmla="*/ 776 w 1635"/>
                    <a:gd name="T47" fmla="*/ 1095 h 1327"/>
                    <a:gd name="T48" fmla="*/ 810 w 1635"/>
                    <a:gd name="T49" fmla="*/ 1080 h 1327"/>
                    <a:gd name="T50" fmla="*/ 843 w 1635"/>
                    <a:gd name="T51" fmla="*/ 1075 h 1327"/>
                    <a:gd name="T52" fmla="*/ 890 w 1635"/>
                    <a:gd name="T53" fmla="*/ 1077 h 1327"/>
                    <a:gd name="T54" fmla="*/ 932 w 1635"/>
                    <a:gd name="T55" fmla="*/ 1081 h 1327"/>
                    <a:gd name="T56" fmla="*/ 986 w 1635"/>
                    <a:gd name="T57" fmla="*/ 1084 h 1327"/>
                    <a:gd name="T58" fmla="*/ 1034 w 1635"/>
                    <a:gd name="T59" fmla="*/ 1077 h 1327"/>
                    <a:gd name="T60" fmla="*/ 1078 w 1635"/>
                    <a:gd name="T61" fmla="*/ 1061 h 1327"/>
                    <a:gd name="T62" fmla="*/ 1110 w 1635"/>
                    <a:gd name="T63" fmla="*/ 1032 h 1327"/>
                    <a:gd name="T64" fmla="*/ 1128 w 1635"/>
                    <a:gd name="T65" fmla="*/ 995 h 1327"/>
                    <a:gd name="T66" fmla="*/ 1128 w 1635"/>
                    <a:gd name="T67" fmla="*/ 953 h 1327"/>
                    <a:gd name="T68" fmla="*/ 1128 w 1635"/>
                    <a:gd name="T69" fmla="*/ 906 h 1327"/>
                    <a:gd name="T70" fmla="*/ 1138 w 1635"/>
                    <a:gd name="T71" fmla="*/ 868 h 1327"/>
                    <a:gd name="T72" fmla="*/ 1158 w 1635"/>
                    <a:gd name="T73" fmla="*/ 837 h 1327"/>
                    <a:gd name="T74" fmla="*/ 1199 w 1635"/>
                    <a:gd name="T75" fmla="*/ 816 h 1327"/>
                    <a:gd name="T76" fmla="*/ 1243 w 1635"/>
                    <a:gd name="T77" fmla="*/ 803 h 1327"/>
                    <a:gd name="T78" fmla="*/ 1295 w 1635"/>
                    <a:gd name="T79" fmla="*/ 792 h 1327"/>
                    <a:gd name="T80" fmla="*/ 1342 w 1635"/>
                    <a:gd name="T81" fmla="*/ 780 h 1327"/>
                    <a:gd name="T82" fmla="*/ 1381 w 1635"/>
                    <a:gd name="T83" fmla="*/ 765 h 1327"/>
                    <a:gd name="T84" fmla="*/ 1411 w 1635"/>
                    <a:gd name="T85" fmla="*/ 742 h 1327"/>
                    <a:gd name="T86" fmla="*/ 1436 w 1635"/>
                    <a:gd name="T87" fmla="*/ 707 h 1327"/>
                    <a:gd name="T88" fmla="*/ 1449 w 1635"/>
                    <a:gd name="T89" fmla="*/ 662 h 1327"/>
                    <a:gd name="T90" fmla="*/ 1443 w 1635"/>
                    <a:gd name="T91" fmla="*/ 618 h 1327"/>
                    <a:gd name="T92" fmla="*/ 1429 w 1635"/>
                    <a:gd name="T93" fmla="*/ 561 h 1327"/>
                    <a:gd name="T94" fmla="*/ 1421 w 1635"/>
                    <a:gd name="T95" fmla="*/ 513 h 1327"/>
                    <a:gd name="T96" fmla="*/ 1423 w 1635"/>
                    <a:gd name="T97" fmla="*/ 467 h 1327"/>
                    <a:gd name="T98" fmla="*/ 1438 w 1635"/>
                    <a:gd name="T99" fmla="*/ 427 h 1327"/>
                    <a:gd name="T100" fmla="*/ 1462 w 1635"/>
                    <a:gd name="T101" fmla="*/ 392 h 1327"/>
                    <a:gd name="T102" fmla="*/ 1497 w 1635"/>
                    <a:gd name="T103" fmla="*/ 358 h 1327"/>
                    <a:gd name="T104" fmla="*/ 1538 w 1635"/>
                    <a:gd name="T105" fmla="*/ 338 h 1327"/>
                    <a:gd name="T106" fmla="*/ 1579 w 1635"/>
                    <a:gd name="T107" fmla="*/ 330 h 1327"/>
                    <a:gd name="T108" fmla="*/ 1630 w 1635"/>
                    <a:gd name="T109" fmla="*/ 330 h 132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635"/>
                    <a:gd name="T166" fmla="*/ 0 h 1327"/>
                    <a:gd name="T167" fmla="*/ 1635 w 1635"/>
                    <a:gd name="T168" fmla="*/ 1327 h 132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635" h="1327">
                      <a:moveTo>
                        <a:pt x="1635" y="330"/>
                      </a:moveTo>
                      <a:lnTo>
                        <a:pt x="1635" y="0"/>
                      </a:lnTo>
                      <a:lnTo>
                        <a:pt x="0" y="0"/>
                      </a:lnTo>
                      <a:lnTo>
                        <a:pt x="1" y="1327"/>
                      </a:lnTo>
                      <a:lnTo>
                        <a:pt x="147" y="1327"/>
                      </a:lnTo>
                      <a:lnTo>
                        <a:pt x="154" y="1301"/>
                      </a:lnTo>
                      <a:lnTo>
                        <a:pt x="154" y="1283"/>
                      </a:lnTo>
                      <a:lnTo>
                        <a:pt x="150" y="1258"/>
                      </a:lnTo>
                      <a:lnTo>
                        <a:pt x="141" y="1231"/>
                      </a:lnTo>
                      <a:lnTo>
                        <a:pt x="133" y="1198"/>
                      </a:lnTo>
                      <a:lnTo>
                        <a:pt x="128" y="1173"/>
                      </a:lnTo>
                      <a:lnTo>
                        <a:pt x="127" y="1150"/>
                      </a:lnTo>
                      <a:lnTo>
                        <a:pt x="131" y="1125"/>
                      </a:lnTo>
                      <a:lnTo>
                        <a:pt x="138" y="1101"/>
                      </a:lnTo>
                      <a:lnTo>
                        <a:pt x="154" y="1077"/>
                      </a:lnTo>
                      <a:lnTo>
                        <a:pt x="172" y="1058"/>
                      </a:lnTo>
                      <a:lnTo>
                        <a:pt x="192" y="1040"/>
                      </a:lnTo>
                      <a:lnTo>
                        <a:pt x="214" y="1027"/>
                      </a:lnTo>
                      <a:lnTo>
                        <a:pt x="241" y="1016"/>
                      </a:lnTo>
                      <a:lnTo>
                        <a:pt x="265" y="1012"/>
                      </a:lnTo>
                      <a:lnTo>
                        <a:pt x="299" y="1010"/>
                      </a:lnTo>
                      <a:lnTo>
                        <a:pt x="339" y="1013"/>
                      </a:lnTo>
                      <a:lnTo>
                        <a:pt x="364" y="1016"/>
                      </a:lnTo>
                      <a:lnTo>
                        <a:pt x="387" y="1023"/>
                      </a:lnTo>
                      <a:lnTo>
                        <a:pt x="408" y="1036"/>
                      </a:lnTo>
                      <a:lnTo>
                        <a:pt x="435" y="1057"/>
                      </a:lnTo>
                      <a:lnTo>
                        <a:pt x="452" y="1077"/>
                      </a:lnTo>
                      <a:lnTo>
                        <a:pt x="467" y="1098"/>
                      </a:lnTo>
                      <a:lnTo>
                        <a:pt x="476" y="1121"/>
                      </a:lnTo>
                      <a:lnTo>
                        <a:pt x="481" y="1142"/>
                      </a:lnTo>
                      <a:lnTo>
                        <a:pt x="481" y="1166"/>
                      </a:lnTo>
                      <a:lnTo>
                        <a:pt x="478" y="1190"/>
                      </a:lnTo>
                      <a:lnTo>
                        <a:pt x="473" y="1212"/>
                      </a:lnTo>
                      <a:lnTo>
                        <a:pt x="467" y="1234"/>
                      </a:lnTo>
                      <a:lnTo>
                        <a:pt x="460" y="1256"/>
                      </a:lnTo>
                      <a:lnTo>
                        <a:pt x="456" y="1279"/>
                      </a:lnTo>
                      <a:lnTo>
                        <a:pt x="456" y="1298"/>
                      </a:lnTo>
                      <a:lnTo>
                        <a:pt x="461" y="1321"/>
                      </a:lnTo>
                      <a:lnTo>
                        <a:pt x="735" y="1321"/>
                      </a:lnTo>
                      <a:lnTo>
                        <a:pt x="733" y="1274"/>
                      </a:lnTo>
                      <a:lnTo>
                        <a:pt x="735" y="1241"/>
                      </a:lnTo>
                      <a:lnTo>
                        <a:pt x="735" y="1215"/>
                      </a:lnTo>
                      <a:lnTo>
                        <a:pt x="737" y="1191"/>
                      </a:lnTo>
                      <a:lnTo>
                        <a:pt x="740" y="1166"/>
                      </a:lnTo>
                      <a:lnTo>
                        <a:pt x="745" y="1140"/>
                      </a:lnTo>
                      <a:lnTo>
                        <a:pt x="752" y="1123"/>
                      </a:lnTo>
                      <a:lnTo>
                        <a:pt x="762" y="1108"/>
                      </a:lnTo>
                      <a:lnTo>
                        <a:pt x="776" y="1095"/>
                      </a:lnTo>
                      <a:lnTo>
                        <a:pt x="792" y="1085"/>
                      </a:lnTo>
                      <a:lnTo>
                        <a:pt x="810" y="1080"/>
                      </a:lnTo>
                      <a:lnTo>
                        <a:pt x="830" y="1077"/>
                      </a:lnTo>
                      <a:lnTo>
                        <a:pt x="848" y="1075"/>
                      </a:lnTo>
                      <a:lnTo>
                        <a:pt x="872" y="1075"/>
                      </a:lnTo>
                      <a:lnTo>
                        <a:pt x="895" y="1077"/>
                      </a:lnTo>
                      <a:lnTo>
                        <a:pt x="913" y="1080"/>
                      </a:lnTo>
                      <a:lnTo>
                        <a:pt x="937" y="1081"/>
                      </a:lnTo>
                      <a:lnTo>
                        <a:pt x="963" y="1084"/>
                      </a:lnTo>
                      <a:lnTo>
                        <a:pt x="991" y="1084"/>
                      </a:lnTo>
                      <a:lnTo>
                        <a:pt x="1015" y="1081"/>
                      </a:lnTo>
                      <a:lnTo>
                        <a:pt x="1039" y="1077"/>
                      </a:lnTo>
                      <a:lnTo>
                        <a:pt x="1064" y="1071"/>
                      </a:lnTo>
                      <a:lnTo>
                        <a:pt x="1083" y="1061"/>
                      </a:lnTo>
                      <a:lnTo>
                        <a:pt x="1102" y="1049"/>
                      </a:lnTo>
                      <a:lnTo>
                        <a:pt x="1115" y="1032"/>
                      </a:lnTo>
                      <a:lnTo>
                        <a:pt x="1128" y="1013"/>
                      </a:lnTo>
                      <a:lnTo>
                        <a:pt x="1133" y="995"/>
                      </a:lnTo>
                      <a:lnTo>
                        <a:pt x="1136" y="974"/>
                      </a:lnTo>
                      <a:lnTo>
                        <a:pt x="1133" y="953"/>
                      </a:lnTo>
                      <a:lnTo>
                        <a:pt x="1132" y="930"/>
                      </a:lnTo>
                      <a:lnTo>
                        <a:pt x="1133" y="906"/>
                      </a:lnTo>
                      <a:lnTo>
                        <a:pt x="1138" y="888"/>
                      </a:lnTo>
                      <a:lnTo>
                        <a:pt x="1143" y="868"/>
                      </a:lnTo>
                      <a:lnTo>
                        <a:pt x="1152" y="849"/>
                      </a:lnTo>
                      <a:lnTo>
                        <a:pt x="1163" y="837"/>
                      </a:lnTo>
                      <a:lnTo>
                        <a:pt x="1181" y="824"/>
                      </a:lnTo>
                      <a:lnTo>
                        <a:pt x="1204" y="816"/>
                      </a:lnTo>
                      <a:lnTo>
                        <a:pt x="1227" y="809"/>
                      </a:lnTo>
                      <a:lnTo>
                        <a:pt x="1248" y="803"/>
                      </a:lnTo>
                      <a:lnTo>
                        <a:pt x="1270" y="797"/>
                      </a:lnTo>
                      <a:lnTo>
                        <a:pt x="1300" y="792"/>
                      </a:lnTo>
                      <a:lnTo>
                        <a:pt x="1323" y="787"/>
                      </a:lnTo>
                      <a:lnTo>
                        <a:pt x="1347" y="780"/>
                      </a:lnTo>
                      <a:lnTo>
                        <a:pt x="1366" y="773"/>
                      </a:lnTo>
                      <a:lnTo>
                        <a:pt x="1386" y="765"/>
                      </a:lnTo>
                      <a:lnTo>
                        <a:pt x="1402" y="753"/>
                      </a:lnTo>
                      <a:lnTo>
                        <a:pt x="1416" y="742"/>
                      </a:lnTo>
                      <a:lnTo>
                        <a:pt x="1431" y="724"/>
                      </a:lnTo>
                      <a:lnTo>
                        <a:pt x="1441" y="707"/>
                      </a:lnTo>
                      <a:lnTo>
                        <a:pt x="1450" y="687"/>
                      </a:lnTo>
                      <a:lnTo>
                        <a:pt x="1454" y="662"/>
                      </a:lnTo>
                      <a:lnTo>
                        <a:pt x="1451" y="641"/>
                      </a:lnTo>
                      <a:lnTo>
                        <a:pt x="1448" y="618"/>
                      </a:lnTo>
                      <a:lnTo>
                        <a:pt x="1441" y="591"/>
                      </a:lnTo>
                      <a:lnTo>
                        <a:pt x="1434" y="561"/>
                      </a:lnTo>
                      <a:lnTo>
                        <a:pt x="1427" y="535"/>
                      </a:lnTo>
                      <a:lnTo>
                        <a:pt x="1426" y="513"/>
                      </a:lnTo>
                      <a:lnTo>
                        <a:pt x="1426" y="494"/>
                      </a:lnTo>
                      <a:lnTo>
                        <a:pt x="1428" y="467"/>
                      </a:lnTo>
                      <a:lnTo>
                        <a:pt x="1436" y="444"/>
                      </a:lnTo>
                      <a:lnTo>
                        <a:pt x="1443" y="427"/>
                      </a:lnTo>
                      <a:lnTo>
                        <a:pt x="1452" y="410"/>
                      </a:lnTo>
                      <a:lnTo>
                        <a:pt x="1467" y="392"/>
                      </a:lnTo>
                      <a:lnTo>
                        <a:pt x="1482" y="374"/>
                      </a:lnTo>
                      <a:lnTo>
                        <a:pt x="1502" y="358"/>
                      </a:lnTo>
                      <a:lnTo>
                        <a:pt x="1523" y="345"/>
                      </a:lnTo>
                      <a:lnTo>
                        <a:pt x="1543" y="338"/>
                      </a:lnTo>
                      <a:lnTo>
                        <a:pt x="1563" y="333"/>
                      </a:lnTo>
                      <a:lnTo>
                        <a:pt x="1584" y="330"/>
                      </a:lnTo>
                      <a:lnTo>
                        <a:pt x="1609" y="330"/>
                      </a:lnTo>
                      <a:lnTo>
                        <a:pt x="1635" y="330"/>
                      </a:lnTo>
                      <a:close/>
                    </a:path>
                  </a:pathLst>
                </a:custGeom>
                <a:solidFill>
                  <a:schemeClr val="accent1">
                    <a:lumMod val="20000"/>
                    <a:lumOff val="80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mj-lt"/>
                    <a:ea typeface="+mn-ea"/>
                    <a:cs typeface="+mn-cs"/>
                  </a:endParaRPr>
                </a:p>
              </p:txBody>
            </p:sp>
          </p:grpSp>
          <p:sp>
            <p:nvSpPr>
              <p:cNvPr id="57" name="Rectangle 56">
                <a:extLst>
                  <a:ext uri="{FF2B5EF4-FFF2-40B4-BE49-F238E27FC236}">
                    <a16:creationId xmlns:a16="http://schemas.microsoft.com/office/drawing/2014/main" id="{03CB588E-0BCE-40F5-98BE-1C9588F54661}"/>
                  </a:ext>
                </a:extLst>
              </p:cNvPr>
              <p:cNvSpPr/>
              <p:nvPr/>
            </p:nvSpPr>
            <p:spPr>
              <a:xfrm>
                <a:off x="623133" y="3039518"/>
                <a:ext cx="1352121" cy="1366509"/>
              </a:xfrm>
              <a:prstGeom prst="rect">
                <a:avLst/>
              </a:prstGeom>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rPr>
                  <a:t>Facilitate coordination to ensure effective implementation of training plan</a:t>
                </a:r>
                <a:endParaRPr kumimoji="0" lang="en-IN" sz="1400" b="1"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58" name="Rectangle 57">
                <a:extLst>
                  <a:ext uri="{FF2B5EF4-FFF2-40B4-BE49-F238E27FC236}">
                    <a16:creationId xmlns:a16="http://schemas.microsoft.com/office/drawing/2014/main" id="{D0181C92-B101-4393-ADF4-D7143A620821}"/>
                  </a:ext>
                </a:extLst>
              </p:cNvPr>
              <p:cNvSpPr/>
              <p:nvPr/>
            </p:nvSpPr>
            <p:spPr>
              <a:xfrm>
                <a:off x="2870057" y="1306152"/>
                <a:ext cx="1554480" cy="1024883"/>
              </a:xfrm>
              <a:prstGeom prst="rect">
                <a:avLst/>
              </a:prstGeom>
            </p:spPr>
            <p:txBody>
              <a:bodyPr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rPr>
                  <a:t>Support in Organization of Workshops/ Training Seminars </a:t>
                </a:r>
                <a:endParaRPr kumimoji="0" lang="en-IN" sz="1400" b="1"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59" name="Rectangle 58">
                <a:extLst>
                  <a:ext uri="{FF2B5EF4-FFF2-40B4-BE49-F238E27FC236}">
                    <a16:creationId xmlns:a16="http://schemas.microsoft.com/office/drawing/2014/main" id="{6EF5B8BB-4659-454F-8476-04733B229E1B}"/>
                  </a:ext>
                </a:extLst>
              </p:cNvPr>
              <p:cNvSpPr/>
              <p:nvPr/>
            </p:nvSpPr>
            <p:spPr>
              <a:xfrm>
                <a:off x="2928292" y="3260359"/>
                <a:ext cx="1496245" cy="1024883"/>
              </a:xfrm>
              <a:prstGeom prst="rect">
                <a:avLst/>
              </a:prstGeom>
            </p:spPr>
            <p:txBody>
              <a:bodyPr wrap="square" lIns="0" tIns="0" rIns="0" bIns="0" anchor="ctr" anchorCtr="0">
                <a:spAutoFit/>
              </a:bodyPr>
              <a:lstStyle/>
              <a:p>
                <a:pPr lvl="0" algn="r" defTabSz="914400">
                  <a:defRPr/>
                </a:pPr>
                <a:r>
                  <a:rPr kumimoji="0" lang="en-US" sz="1400" b="1"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rPr>
                  <a:t>Support in </a:t>
                </a:r>
                <a:r>
                  <a:rPr lang="en-US" sz="1400" b="1" dirty="0">
                    <a:latin typeface="+mj-lt"/>
                    <a:ea typeface="Verdana" panose="020B0604030504040204" pitchFamily="34" charset="0"/>
                    <a:cs typeface="Verdana" panose="020B0604030504040204" pitchFamily="34" charset="0"/>
                  </a:rPr>
                  <a:t>monitoring progress against </a:t>
                </a:r>
                <a:r>
                  <a:rPr kumimoji="0" lang="en-US" sz="1400" b="1"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rPr>
                  <a:t>implementation roadmap</a:t>
                </a:r>
                <a:endParaRPr kumimoji="0" lang="en-US" sz="1400" b="1" i="0" u="none" strike="noStrike" kern="1200" cap="none" spc="0" normalizeH="0" baseline="0" noProof="0" dirty="0">
                  <a:ln>
                    <a:noFill/>
                  </a:ln>
                  <a:effectLst/>
                  <a:uLnTx/>
                  <a:uFillTx/>
                  <a:latin typeface="+mj-lt"/>
                </a:endParaRPr>
              </a:p>
            </p:txBody>
          </p:sp>
          <p:sp>
            <p:nvSpPr>
              <p:cNvPr id="60" name="Rectangle 59">
                <a:extLst>
                  <a:ext uri="{FF2B5EF4-FFF2-40B4-BE49-F238E27FC236}">
                    <a16:creationId xmlns:a16="http://schemas.microsoft.com/office/drawing/2014/main" id="{C02BBD81-F160-4D31-B44B-776BA365A62D}"/>
                  </a:ext>
                </a:extLst>
              </p:cNvPr>
              <p:cNvSpPr/>
              <p:nvPr/>
            </p:nvSpPr>
            <p:spPr>
              <a:xfrm>
                <a:off x="530458" y="1090882"/>
                <a:ext cx="1794646" cy="117129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rPr>
                  <a:t>Technical support and handholding towards roll out of OOMF</a:t>
                </a:r>
                <a:endParaRPr kumimoji="0" lang="en-IN" sz="1400" b="1"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grpSp>
        <p:sp>
          <p:nvSpPr>
            <p:cNvPr id="43" name="TextBox 42">
              <a:extLst>
                <a:ext uri="{FF2B5EF4-FFF2-40B4-BE49-F238E27FC236}">
                  <a16:creationId xmlns:a16="http://schemas.microsoft.com/office/drawing/2014/main" id="{63E4DE77-9161-4FD9-9AD6-8B4A76033586}"/>
                </a:ext>
              </a:extLst>
            </p:cNvPr>
            <p:cNvSpPr txBox="1"/>
            <p:nvPr/>
          </p:nvSpPr>
          <p:spPr>
            <a:xfrm>
              <a:off x="2486546" y="3431008"/>
              <a:ext cx="1489114" cy="9882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Knowledge Transfer</a:t>
              </a:r>
              <a:endParaRPr kumimoji="0" lang="en-IN" sz="1400" b="1"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grpSp>
      <p:sp>
        <p:nvSpPr>
          <p:cNvPr id="74" name="Freeform 242">
            <a:extLst>
              <a:ext uri="{FF2B5EF4-FFF2-40B4-BE49-F238E27FC236}">
                <a16:creationId xmlns:a16="http://schemas.microsoft.com/office/drawing/2014/main" id="{998E30D7-2793-40F4-8109-D067F53C7301}"/>
              </a:ext>
            </a:extLst>
          </p:cNvPr>
          <p:cNvSpPr>
            <a:spLocks noChangeAspect="1" noEditPoints="1"/>
          </p:cNvSpPr>
          <p:nvPr/>
        </p:nvSpPr>
        <p:spPr bwMode="auto">
          <a:xfrm>
            <a:off x="11118215" y="227660"/>
            <a:ext cx="594360" cy="594360"/>
          </a:xfrm>
          <a:custGeom>
            <a:avLst/>
            <a:gdLst>
              <a:gd name="T0" fmla="*/ 117 w 512"/>
              <a:gd name="T1" fmla="*/ 160 h 512"/>
              <a:gd name="T2" fmla="*/ 266 w 512"/>
              <a:gd name="T3" fmla="*/ 160 h 512"/>
              <a:gd name="T4" fmla="*/ 266 w 512"/>
              <a:gd name="T5" fmla="*/ 245 h 512"/>
              <a:gd name="T6" fmla="*/ 181 w 512"/>
              <a:gd name="T7" fmla="*/ 245 h 512"/>
              <a:gd name="T8" fmla="*/ 173 w 512"/>
              <a:gd name="T9" fmla="*/ 248 h 512"/>
              <a:gd name="T10" fmla="*/ 149 w 512"/>
              <a:gd name="T11" fmla="*/ 273 h 512"/>
              <a:gd name="T12" fmla="*/ 149 w 512"/>
              <a:gd name="T13" fmla="*/ 256 h 512"/>
              <a:gd name="T14" fmla="*/ 138 w 512"/>
              <a:gd name="T15" fmla="*/ 245 h 512"/>
              <a:gd name="T16" fmla="*/ 117 w 512"/>
              <a:gd name="T17" fmla="*/ 245 h 512"/>
              <a:gd name="T18" fmla="*/ 117 w 512"/>
              <a:gd name="T19" fmla="*/ 160 h 512"/>
              <a:gd name="T20" fmla="*/ 512 w 512"/>
              <a:gd name="T21" fmla="*/ 256 h 512"/>
              <a:gd name="T22" fmla="*/ 256 w 512"/>
              <a:gd name="T23" fmla="*/ 512 h 512"/>
              <a:gd name="T24" fmla="*/ 0 w 512"/>
              <a:gd name="T25" fmla="*/ 256 h 512"/>
              <a:gd name="T26" fmla="*/ 256 w 512"/>
              <a:gd name="T27" fmla="*/ 0 h 512"/>
              <a:gd name="T28" fmla="*/ 512 w 512"/>
              <a:gd name="T29" fmla="*/ 256 h 512"/>
              <a:gd name="T30" fmla="*/ 185 w 512"/>
              <a:gd name="T31" fmla="*/ 266 h 512"/>
              <a:gd name="T32" fmla="*/ 277 w 512"/>
              <a:gd name="T33" fmla="*/ 266 h 512"/>
              <a:gd name="T34" fmla="*/ 288 w 512"/>
              <a:gd name="T35" fmla="*/ 256 h 512"/>
              <a:gd name="T36" fmla="*/ 288 w 512"/>
              <a:gd name="T37" fmla="*/ 149 h 512"/>
              <a:gd name="T38" fmla="*/ 277 w 512"/>
              <a:gd name="T39" fmla="*/ 138 h 512"/>
              <a:gd name="T40" fmla="*/ 106 w 512"/>
              <a:gd name="T41" fmla="*/ 138 h 512"/>
              <a:gd name="T42" fmla="*/ 96 w 512"/>
              <a:gd name="T43" fmla="*/ 149 h 512"/>
              <a:gd name="T44" fmla="*/ 96 w 512"/>
              <a:gd name="T45" fmla="*/ 256 h 512"/>
              <a:gd name="T46" fmla="*/ 106 w 512"/>
              <a:gd name="T47" fmla="*/ 266 h 512"/>
              <a:gd name="T48" fmla="*/ 128 w 512"/>
              <a:gd name="T49" fmla="*/ 266 h 512"/>
              <a:gd name="T50" fmla="*/ 128 w 512"/>
              <a:gd name="T51" fmla="*/ 298 h 512"/>
              <a:gd name="T52" fmla="*/ 134 w 512"/>
              <a:gd name="T53" fmla="*/ 308 h 512"/>
              <a:gd name="T54" fmla="*/ 138 w 512"/>
              <a:gd name="T55" fmla="*/ 309 h 512"/>
              <a:gd name="T56" fmla="*/ 146 w 512"/>
              <a:gd name="T57" fmla="*/ 306 h 512"/>
              <a:gd name="T58" fmla="*/ 185 w 512"/>
              <a:gd name="T59" fmla="*/ 266 h 512"/>
              <a:gd name="T60" fmla="*/ 416 w 512"/>
              <a:gd name="T61" fmla="*/ 234 h 512"/>
              <a:gd name="T62" fmla="*/ 405 w 512"/>
              <a:gd name="T63" fmla="*/ 224 h 512"/>
              <a:gd name="T64" fmla="*/ 320 w 512"/>
              <a:gd name="T65" fmla="*/ 224 h 512"/>
              <a:gd name="T66" fmla="*/ 309 w 512"/>
              <a:gd name="T67" fmla="*/ 234 h 512"/>
              <a:gd name="T68" fmla="*/ 320 w 512"/>
              <a:gd name="T69" fmla="*/ 245 h 512"/>
              <a:gd name="T70" fmla="*/ 394 w 512"/>
              <a:gd name="T71" fmla="*/ 245 h 512"/>
              <a:gd name="T72" fmla="*/ 394 w 512"/>
              <a:gd name="T73" fmla="*/ 352 h 512"/>
              <a:gd name="T74" fmla="*/ 362 w 512"/>
              <a:gd name="T75" fmla="*/ 352 h 512"/>
              <a:gd name="T76" fmla="*/ 352 w 512"/>
              <a:gd name="T77" fmla="*/ 362 h 512"/>
              <a:gd name="T78" fmla="*/ 352 w 512"/>
              <a:gd name="T79" fmla="*/ 379 h 512"/>
              <a:gd name="T80" fmla="*/ 327 w 512"/>
              <a:gd name="T81" fmla="*/ 355 h 512"/>
              <a:gd name="T82" fmla="*/ 320 w 512"/>
              <a:gd name="T83" fmla="*/ 352 h 512"/>
              <a:gd name="T84" fmla="*/ 245 w 512"/>
              <a:gd name="T85" fmla="*/ 352 h 512"/>
              <a:gd name="T86" fmla="*/ 245 w 512"/>
              <a:gd name="T87" fmla="*/ 298 h 512"/>
              <a:gd name="T88" fmla="*/ 234 w 512"/>
              <a:gd name="T89" fmla="*/ 288 h 512"/>
              <a:gd name="T90" fmla="*/ 224 w 512"/>
              <a:gd name="T91" fmla="*/ 298 h 512"/>
              <a:gd name="T92" fmla="*/ 224 w 512"/>
              <a:gd name="T93" fmla="*/ 362 h 512"/>
              <a:gd name="T94" fmla="*/ 234 w 512"/>
              <a:gd name="T95" fmla="*/ 373 h 512"/>
              <a:gd name="T96" fmla="*/ 315 w 512"/>
              <a:gd name="T97" fmla="*/ 373 h 512"/>
              <a:gd name="T98" fmla="*/ 355 w 512"/>
              <a:gd name="T99" fmla="*/ 413 h 512"/>
              <a:gd name="T100" fmla="*/ 362 w 512"/>
              <a:gd name="T101" fmla="*/ 416 h 512"/>
              <a:gd name="T102" fmla="*/ 366 w 512"/>
              <a:gd name="T103" fmla="*/ 415 h 512"/>
              <a:gd name="T104" fmla="*/ 373 w 512"/>
              <a:gd name="T105" fmla="*/ 405 h 512"/>
              <a:gd name="T106" fmla="*/ 373 w 512"/>
              <a:gd name="T107" fmla="*/ 373 h 512"/>
              <a:gd name="T108" fmla="*/ 405 w 512"/>
              <a:gd name="T109" fmla="*/ 373 h 512"/>
              <a:gd name="T110" fmla="*/ 416 w 512"/>
              <a:gd name="T111" fmla="*/ 362 h 512"/>
              <a:gd name="T112" fmla="*/ 416 w 512"/>
              <a:gd name="T113" fmla="*/ 23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117" y="160"/>
                </a:moveTo>
                <a:cubicBezTo>
                  <a:pt x="266" y="160"/>
                  <a:pt x="266" y="160"/>
                  <a:pt x="266" y="160"/>
                </a:cubicBezTo>
                <a:cubicBezTo>
                  <a:pt x="266" y="245"/>
                  <a:pt x="266" y="245"/>
                  <a:pt x="266" y="245"/>
                </a:cubicBezTo>
                <a:cubicBezTo>
                  <a:pt x="181" y="245"/>
                  <a:pt x="181" y="245"/>
                  <a:pt x="181" y="245"/>
                </a:cubicBezTo>
                <a:cubicBezTo>
                  <a:pt x="178" y="245"/>
                  <a:pt x="175" y="246"/>
                  <a:pt x="173" y="248"/>
                </a:cubicBezTo>
                <a:cubicBezTo>
                  <a:pt x="149" y="273"/>
                  <a:pt x="149" y="273"/>
                  <a:pt x="149" y="273"/>
                </a:cubicBezTo>
                <a:cubicBezTo>
                  <a:pt x="149" y="256"/>
                  <a:pt x="149" y="256"/>
                  <a:pt x="149" y="256"/>
                </a:cubicBezTo>
                <a:cubicBezTo>
                  <a:pt x="149" y="250"/>
                  <a:pt x="144" y="245"/>
                  <a:pt x="138" y="245"/>
                </a:cubicBezTo>
                <a:cubicBezTo>
                  <a:pt x="117" y="245"/>
                  <a:pt x="117" y="245"/>
                  <a:pt x="117" y="245"/>
                </a:cubicBezTo>
                <a:lnTo>
                  <a:pt x="117"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85" y="266"/>
                </a:moveTo>
                <a:cubicBezTo>
                  <a:pt x="277" y="266"/>
                  <a:pt x="277" y="266"/>
                  <a:pt x="277" y="266"/>
                </a:cubicBezTo>
                <a:cubicBezTo>
                  <a:pt x="283" y="266"/>
                  <a:pt x="288" y="262"/>
                  <a:pt x="288" y="256"/>
                </a:cubicBezTo>
                <a:cubicBezTo>
                  <a:pt x="288" y="149"/>
                  <a:pt x="288" y="149"/>
                  <a:pt x="288" y="149"/>
                </a:cubicBezTo>
                <a:cubicBezTo>
                  <a:pt x="288" y="143"/>
                  <a:pt x="283" y="138"/>
                  <a:pt x="277" y="138"/>
                </a:cubicBezTo>
                <a:cubicBezTo>
                  <a:pt x="106" y="138"/>
                  <a:pt x="106" y="138"/>
                  <a:pt x="106" y="138"/>
                </a:cubicBezTo>
                <a:cubicBezTo>
                  <a:pt x="100" y="138"/>
                  <a:pt x="96" y="143"/>
                  <a:pt x="96" y="149"/>
                </a:cubicBezTo>
                <a:cubicBezTo>
                  <a:pt x="96" y="256"/>
                  <a:pt x="96" y="256"/>
                  <a:pt x="96" y="256"/>
                </a:cubicBezTo>
                <a:cubicBezTo>
                  <a:pt x="96" y="262"/>
                  <a:pt x="100" y="266"/>
                  <a:pt x="106" y="266"/>
                </a:cubicBezTo>
                <a:cubicBezTo>
                  <a:pt x="128" y="266"/>
                  <a:pt x="128" y="266"/>
                  <a:pt x="128" y="266"/>
                </a:cubicBezTo>
                <a:cubicBezTo>
                  <a:pt x="128" y="298"/>
                  <a:pt x="128" y="298"/>
                  <a:pt x="128" y="298"/>
                </a:cubicBezTo>
                <a:cubicBezTo>
                  <a:pt x="128" y="303"/>
                  <a:pt x="130" y="307"/>
                  <a:pt x="134" y="308"/>
                </a:cubicBezTo>
                <a:cubicBezTo>
                  <a:pt x="136" y="309"/>
                  <a:pt x="137" y="309"/>
                  <a:pt x="138" y="309"/>
                </a:cubicBezTo>
                <a:cubicBezTo>
                  <a:pt x="141" y="309"/>
                  <a:pt x="144" y="308"/>
                  <a:pt x="146" y="306"/>
                </a:cubicBezTo>
                <a:lnTo>
                  <a:pt x="185" y="266"/>
                </a:lnTo>
                <a:close/>
                <a:moveTo>
                  <a:pt x="416" y="234"/>
                </a:moveTo>
                <a:cubicBezTo>
                  <a:pt x="416" y="228"/>
                  <a:pt x="411" y="224"/>
                  <a:pt x="405" y="224"/>
                </a:cubicBezTo>
                <a:cubicBezTo>
                  <a:pt x="320" y="224"/>
                  <a:pt x="320" y="224"/>
                  <a:pt x="320" y="224"/>
                </a:cubicBezTo>
                <a:cubicBezTo>
                  <a:pt x="314" y="224"/>
                  <a:pt x="309" y="228"/>
                  <a:pt x="309" y="234"/>
                </a:cubicBezTo>
                <a:cubicBezTo>
                  <a:pt x="309" y="240"/>
                  <a:pt x="314" y="245"/>
                  <a:pt x="320" y="245"/>
                </a:cubicBezTo>
                <a:cubicBezTo>
                  <a:pt x="394" y="245"/>
                  <a:pt x="394" y="245"/>
                  <a:pt x="394" y="245"/>
                </a:cubicBezTo>
                <a:cubicBezTo>
                  <a:pt x="394" y="352"/>
                  <a:pt x="394" y="352"/>
                  <a:pt x="394" y="352"/>
                </a:cubicBezTo>
                <a:cubicBezTo>
                  <a:pt x="362" y="352"/>
                  <a:pt x="362" y="352"/>
                  <a:pt x="362" y="352"/>
                </a:cubicBezTo>
                <a:cubicBezTo>
                  <a:pt x="356" y="352"/>
                  <a:pt x="352" y="356"/>
                  <a:pt x="352" y="362"/>
                </a:cubicBezTo>
                <a:cubicBezTo>
                  <a:pt x="352" y="379"/>
                  <a:pt x="352" y="379"/>
                  <a:pt x="352" y="379"/>
                </a:cubicBezTo>
                <a:cubicBezTo>
                  <a:pt x="327" y="355"/>
                  <a:pt x="327" y="355"/>
                  <a:pt x="327" y="355"/>
                </a:cubicBezTo>
                <a:cubicBezTo>
                  <a:pt x="325" y="353"/>
                  <a:pt x="322" y="352"/>
                  <a:pt x="320" y="352"/>
                </a:cubicBezTo>
                <a:cubicBezTo>
                  <a:pt x="245" y="352"/>
                  <a:pt x="245" y="352"/>
                  <a:pt x="245" y="352"/>
                </a:cubicBezTo>
                <a:cubicBezTo>
                  <a:pt x="245" y="298"/>
                  <a:pt x="245" y="298"/>
                  <a:pt x="245" y="298"/>
                </a:cubicBezTo>
                <a:cubicBezTo>
                  <a:pt x="245" y="292"/>
                  <a:pt x="240" y="288"/>
                  <a:pt x="234" y="288"/>
                </a:cubicBezTo>
                <a:cubicBezTo>
                  <a:pt x="228" y="288"/>
                  <a:pt x="224" y="292"/>
                  <a:pt x="224" y="298"/>
                </a:cubicBezTo>
                <a:cubicBezTo>
                  <a:pt x="224" y="362"/>
                  <a:pt x="224" y="362"/>
                  <a:pt x="224" y="362"/>
                </a:cubicBezTo>
                <a:cubicBezTo>
                  <a:pt x="224" y="368"/>
                  <a:pt x="228" y="373"/>
                  <a:pt x="234" y="373"/>
                </a:cubicBezTo>
                <a:cubicBezTo>
                  <a:pt x="315" y="373"/>
                  <a:pt x="315" y="373"/>
                  <a:pt x="315" y="373"/>
                </a:cubicBezTo>
                <a:cubicBezTo>
                  <a:pt x="355" y="413"/>
                  <a:pt x="355" y="413"/>
                  <a:pt x="355" y="413"/>
                </a:cubicBezTo>
                <a:cubicBezTo>
                  <a:pt x="357" y="415"/>
                  <a:pt x="360" y="416"/>
                  <a:pt x="362" y="416"/>
                </a:cubicBezTo>
                <a:cubicBezTo>
                  <a:pt x="364" y="416"/>
                  <a:pt x="365" y="415"/>
                  <a:pt x="366" y="415"/>
                </a:cubicBezTo>
                <a:cubicBezTo>
                  <a:pt x="370" y="413"/>
                  <a:pt x="373" y="409"/>
                  <a:pt x="373" y="405"/>
                </a:cubicBezTo>
                <a:cubicBezTo>
                  <a:pt x="373" y="373"/>
                  <a:pt x="373" y="373"/>
                  <a:pt x="373" y="373"/>
                </a:cubicBezTo>
                <a:cubicBezTo>
                  <a:pt x="405" y="373"/>
                  <a:pt x="405" y="373"/>
                  <a:pt x="405" y="373"/>
                </a:cubicBezTo>
                <a:cubicBezTo>
                  <a:pt x="411" y="373"/>
                  <a:pt x="416" y="368"/>
                  <a:pt x="416" y="362"/>
                </a:cubicBezTo>
                <a:lnTo>
                  <a:pt x="416" y="23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3" name="Group 2">
            <a:extLst>
              <a:ext uri="{FF2B5EF4-FFF2-40B4-BE49-F238E27FC236}">
                <a16:creationId xmlns:a16="http://schemas.microsoft.com/office/drawing/2014/main" id="{9F203AF5-BEE3-4789-ACB9-E4E49B505F2C}"/>
              </a:ext>
            </a:extLst>
          </p:cNvPr>
          <p:cNvGrpSpPr/>
          <p:nvPr/>
        </p:nvGrpSpPr>
        <p:grpSpPr>
          <a:xfrm>
            <a:off x="478155" y="2113166"/>
            <a:ext cx="5732145" cy="739641"/>
            <a:chOff x="478155" y="2068905"/>
            <a:chExt cx="5732145" cy="739641"/>
          </a:xfrm>
        </p:grpSpPr>
        <p:sp>
          <p:nvSpPr>
            <p:cNvPr id="49" name="Rectangle 48">
              <a:extLst>
                <a:ext uri="{FF2B5EF4-FFF2-40B4-BE49-F238E27FC236}">
                  <a16:creationId xmlns:a16="http://schemas.microsoft.com/office/drawing/2014/main" id="{6E226D2F-C95D-47FE-B8C5-E939B27ECB36}"/>
                </a:ext>
              </a:extLst>
            </p:cNvPr>
            <p:cNvSpPr/>
            <p:nvPr/>
          </p:nvSpPr>
          <p:spPr bwMode="auto">
            <a:xfrm>
              <a:off x="1092334" y="2176137"/>
              <a:ext cx="5117966" cy="632409"/>
            </a:xfrm>
            <a:prstGeom prst="rect">
              <a:avLst/>
            </a:prstGeom>
            <a:solidFill>
              <a:schemeClr val="bg1"/>
            </a:solidFill>
            <a:ln w="3175"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576263">
                <a:spcBef>
                  <a:spcPts val="0"/>
                </a:spcBef>
                <a:spcAft>
                  <a:spcPts val="0"/>
                </a:spcAft>
                <a:buSzPts val="1800"/>
              </a:pPr>
              <a:r>
                <a:rPr lang="en-US" sz="1200" dirty="0">
                  <a:cs typeface="Calibri" panose="020F0502020204030204" pitchFamily="34" charset="0"/>
                </a:rPr>
                <a:t>Identify key stakeholders that should participate on the workshop</a:t>
              </a:r>
            </a:p>
          </p:txBody>
        </p:sp>
        <p:sp>
          <p:nvSpPr>
            <p:cNvPr id="50" name="Rectangle 49">
              <a:extLst>
                <a:ext uri="{FF2B5EF4-FFF2-40B4-BE49-F238E27FC236}">
                  <a16:creationId xmlns:a16="http://schemas.microsoft.com/office/drawing/2014/main" id="{BBCF5634-FB23-4354-A5E2-EA13B1B0860A}"/>
                </a:ext>
              </a:extLst>
            </p:cNvPr>
            <p:cNvSpPr/>
            <p:nvPr/>
          </p:nvSpPr>
          <p:spPr bwMode="auto">
            <a:xfrm>
              <a:off x="478155" y="2068905"/>
              <a:ext cx="1104622" cy="632409"/>
            </a:xfrm>
            <a:prstGeom prst="rect">
              <a:avLst/>
            </a:prstGeom>
            <a:solidFill>
              <a:schemeClr val="accent1"/>
            </a:solidFill>
            <a:ln w="3175" cap="flat" cmpd="sng" algn="ctr">
              <a:noFill/>
              <a:prstDash val="solid"/>
              <a:round/>
              <a:headEnd type="none" w="med" len="med"/>
              <a:tailEnd type="none" w="med" len="med"/>
            </a:ln>
            <a:effectLst>
              <a:outerShdw dist="38100" dir="10800000" algn="r" rotWithShape="0">
                <a:schemeClr val="accent1">
                  <a:lumMod val="75000"/>
                </a:schemeClr>
              </a:outerShdw>
            </a:effectLst>
          </p:spPr>
          <p:txBody>
            <a:bodyPr vert="horz" wrap="none" lIns="91440" tIns="45720" rIns="91440" bIns="45720" numCol="1" rtlCol="0" anchor="ctr" anchorCtr="0" compatLnSpc="1">
              <a:prstTxWarp prst="textNoShape">
                <a:avLst/>
              </a:prstTxWarp>
              <a:noAutofit/>
            </a:bodyPr>
            <a:lstStyle/>
            <a:p>
              <a:pPr algn="ctr" fontAlgn="base">
                <a:spcBef>
                  <a:spcPct val="0"/>
                </a:spcBef>
                <a:spcAft>
                  <a:spcPct val="0"/>
                </a:spcAft>
              </a:pPr>
              <a:r>
                <a:rPr lang="en-US" sz="1400" b="1" dirty="0">
                  <a:solidFill>
                    <a:schemeClr val="bg1"/>
                  </a:solidFill>
                  <a:effectLst>
                    <a:outerShdw blurRad="50800" dist="38100" dir="5400000" algn="t" rotWithShape="0">
                      <a:prstClr val="black">
                        <a:alpha val="40000"/>
                      </a:prstClr>
                    </a:outerShdw>
                  </a:effectLst>
                </a:rPr>
                <a:t>Who?</a:t>
              </a:r>
            </a:p>
          </p:txBody>
        </p:sp>
        <p:sp>
          <p:nvSpPr>
            <p:cNvPr id="51" name="Right Triangle 50">
              <a:extLst>
                <a:ext uri="{FF2B5EF4-FFF2-40B4-BE49-F238E27FC236}">
                  <a16:creationId xmlns:a16="http://schemas.microsoft.com/office/drawing/2014/main" id="{997DA1E6-9CC3-4E05-9D86-B7A330DEF870}"/>
                </a:ext>
              </a:extLst>
            </p:cNvPr>
            <p:cNvSpPr/>
            <p:nvPr/>
          </p:nvSpPr>
          <p:spPr bwMode="auto">
            <a:xfrm flipV="1">
              <a:off x="1092333" y="2701314"/>
              <a:ext cx="490445" cy="107232"/>
            </a:xfrm>
            <a:prstGeom prst="rtTriangle">
              <a:avLst/>
            </a:prstGeom>
            <a:solidFill>
              <a:schemeClr val="accent1">
                <a:lumMod val="75000"/>
              </a:schemeClr>
            </a:solidFill>
            <a:ln w="31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200" b="1" i="1" u="none" strike="noStrike" cap="none" normalizeH="0" baseline="0" dirty="0">
                <a:ln>
                  <a:noFill/>
                </a:ln>
                <a:solidFill>
                  <a:schemeClr val="tx1"/>
                </a:solidFill>
                <a:effectLst/>
              </a:endParaRPr>
            </a:p>
          </p:txBody>
        </p:sp>
      </p:grpSp>
      <p:grpSp>
        <p:nvGrpSpPr>
          <p:cNvPr id="4" name="Group 3">
            <a:extLst>
              <a:ext uri="{FF2B5EF4-FFF2-40B4-BE49-F238E27FC236}">
                <a16:creationId xmlns:a16="http://schemas.microsoft.com/office/drawing/2014/main" id="{973619F4-6DF5-443F-8F18-D906CED1A520}"/>
              </a:ext>
            </a:extLst>
          </p:cNvPr>
          <p:cNvGrpSpPr/>
          <p:nvPr/>
        </p:nvGrpSpPr>
        <p:grpSpPr>
          <a:xfrm>
            <a:off x="478155" y="2947915"/>
            <a:ext cx="5732145" cy="739641"/>
            <a:chOff x="478155" y="2914720"/>
            <a:chExt cx="5732145" cy="739641"/>
          </a:xfrm>
        </p:grpSpPr>
        <p:sp>
          <p:nvSpPr>
            <p:cNvPr id="53" name="Rectangle 52">
              <a:extLst>
                <a:ext uri="{FF2B5EF4-FFF2-40B4-BE49-F238E27FC236}">
                  <a16:creationId xmlns:a16="http://schemas.microsoft.com/office/drawing/2014/main" id="{8ED94698-9B88-457A-A208-BA0C66B8736C}"/>
                </a:ext>
              </a:extLst>
            </p:cNvPr>
            <p:cNvSpPr/>
            <p:nvPr/>
          </p:nvSpPr>
          <p:spPr bwMode="auto">
            <a:xfrm>
              <a:off x="1092334" y="3021952"/>
              <a:ext cx="5117966" cy="632409"/>
            </a:xfrm>
            <a:prstGeom prst="rect">
              <a:avLst/>
            </a:prstGeom>
            <a:solidFill>
              <a:schemeClr val="bg1"/>
            </a:solidFill>
            <a:ln w="3175" cap="flat" cmpd="sng" algn="ctr">
              <a:solidFill>
                <a:schemeClr val="accent2">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576263">
                <a:spcBef>
                  <a:spcPts val="0"/>
                </a:spcBef>
                <a:spcAft>
                  <a:spcPts val="0"/>
                </a:spcAft>
                <a:buSzPts val="1800"/>
              </a:pPr>
              <a:r>
                <a:rPr lang="en-US" sz="1200" dirty="0">
                  <a:cs typeface="Calibri" panose="020F0502020204030204" pitchFamily="34" charset="0"/>
                </a:rPr>
                <a:t>Design a methodology for the whole process of workshopping (communications, sessions, timing, etc.</a:t>
              </a:r>
            </a:p>
          </p:txBody>
        </p:sp>
        <p:sp>
          <p:nvSpPr>
            <p:cNvPr id="54" name="Rectangle 53">
              <a:extLst>
                <a:ext uri="{FF2B5EF4-FFF2-40B4-BE49-F238E27FC236}">
                  <a16:creationId xmlns:a16="http://schemas.microsoft.com/office/drawing/2014/main" id="{6EF627CA-C73B-4A6B-9337-7EAE0659D901}"/>
                </a:ext>
              </a:extLst>
            </p:cNvPr>
            <p:cNvSpPr/>
            <p:nvPr/>
          </p:nvSpPr>
          <p:spPr bwMode="auto">
            <a:xfrm>
              <a:off x="478155" y="2914720"/>
              <a:ext cx="1104622" cy="632409"/>
            </a:xfrm>
            <a:prstGeom prst="rect">
              <a:avLst/>
            </a:prstGeom>
            <a:solidFill>
              <a:schemeClr val="accent2"/>
            </a:solidFill>
            <a:ln w="3175" cap="flat" cmpd="sng" algn="ctr">
              <a:noFill/>
              <a:prstDash val="solid"/>
              <a:round/>
              <a:headEnd type="none" w="med" len="med"/>
              <a:tailEnd type="none" w="med" len="med"/>
            </a:ln>
            <a:effectLst>
              <a:outerShdw dist="38100" dir="10800000" algn="r" rotWithShape="0">
                <a:schemeClr val="accent2">
                  <a:lumMod val="75000"/>
                </a:schemeClr>
              </a:outerShdw>
            </a:effectLst>
          </p:spPr>
          <p:txBody>
            <a:bodyPr vert="horz" wrap="none" lIns="91440" tIns="45720" rIns="91440" bIns="45720" numCol="1" rtlCol="0" anchor="ctr" anchorCtr="0" compatLnSpc="1">
              <a:prstTxWarp prst="textNoShape">
                <a:avLst/>
              </a:prstTxWarp>
              <a:noAutofit/>
            </a:bodyPr>
            <a:lstStyle/>
            <a:p>
              <a:pPr algn="ctr" fontAlgn="base">
                <a:spcBef>
                  <a:spcPct val="0"/>
                </a:spcBef>
                <a:spcAft>
                  <a:spcPct val="0"/>
                </a:spcAft>
              </a:pPr>
              <a:r>
                <a:rPr lang="en-US" sz="1400" b="1" dirty="0">
                  <a:solidFill>
                    <a:schemeClr val="bg1"/>
                  </a:solidFill>
                  <a:effectLst>
                    <a:outerShdw blurRad="50800" dist="38100" dir="5400000" algn="t" rotWithShape="0">
                      <a:prstClr val="black">
                        <a:alpha val="40000"/>
                      </a:prstClr>
                    </a:outerShdw>
                  </a:effectLst>
                </a:rPr>
                <a:t>How?</a:t>
              </a:r>
            </a:p>
          </p:txBody>
        </p:sp>
        <p:sp>
          <p:nvSpPr>
            <p:cNvPr id="55" name="Right Triangle 54">
              <a:extLst>
                <a:ext uri="{FF2B5EF4-FFF2-40B4-BE49-F238E27FC236}">
                  <a16:creationId xmlns:a16="http://schemas.microsoft.com/office/drawing/2014/main" id="{3CF24A79-5A67-45B2-B189-E193FDEDDEC4}"/>
                </a:ext>
              </a:extLst>
            </p:cNvPr>
            <p:cNvSpPr/>
            <p:nvPr/>
          </p:nvSpPr>
          <p:spPr bwMode="auto">
            <a:xfrm flipV="1">
              <a:off x="1092333" y="3547129"/>
              <a:ext cx="490445" cy="107232"/>
            </a:xfrm>
            <a:prstGeom prst="rtTriangle">
              <a:avLst/>
            </a:prstGeom>
            <a:solidFill>
              <a:schemeClr val="accent2">
                <a:lumMod val="75000"/>
              </a:schemeClr>
            </a:solidFill>
            <a:ln w="31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200" b="1" i="1" u="none" strike="noStrike" cap="none" normalizeH="0" baseline="0" dirty="0">
                <a:ln>
                  <a:noFill/>
                </a:ln>
                <a:solidFill>
                  <a:schemeClr val="tx1"/>
                </a:solidFill>
                <a:effectLst/>
              </a:endParaRPr>
            </a:p>
          </p:txBody>
        </p:sp>
      </p:grpSp>
      <p:grpSp>
        <p:nvGrpSpPr>
          <p:cNvPr id="5" name="Group 4">
            <a:extLst>
              <a:ext uri="{FF2B5EF4-FFF2-40B4-BE49-F238E27FC236}">
                <a16:creationId xmlns:a16="http://schemas.microsoft.com/office/drawing/2014/main" id="{19910FE7-2600-403A-9BCC-DA63CE3A8F0E}"/>
              </a:ext>
            </a:extLst>
          </p:cNvPr>
          <p:cNvGrpSpPr/>
          <p:nvPr/>
        </p:nvGrpSpPr>
        <p:grpSpPr>
          <a:xfrm>
            <a:off x="478155" y="3782664"/>
            <a:ext cx="5732145" cy="739641"/>
            <a:chOff x="478155" y="3760535"/>
            <a:chExt cx="5732145" cy="739641"/>
          </a:xfrm>
        </p:grpSpPr>
        <p:sp>
          <p:nvSpPr>
            <p:cNvPr id="73" name="Rectangle 72">
              <a:extLst>
                <a:ext uri="{FF2B5EF4-FFF2-40B4-BE49-F238E27FC236}">
                  <a16:creationId xmlns:a16="http://schemas.microsoft.com/office/drawing/2014/main" id="{9A31647A-0E83-46A5-9257-C7D93CADE822}"/>
                </a:ext>
              </a:extLst>
            </p:cNvPr>
            <p:cNvSpPr/>
            <p:nvPr/>
          </p:nvSpPr>
          <p:spPr bwMode="auto">
            <a:xfrm>
              <a:off x="1092334" y="3867767"/>
              <a:ext cx="5117966" cy="632409"/>
            </a:xfrm>
            <a:prstGeom prst="rect">
              <a:avLst/>
            </a:prstGeom>
            <a:solidFill>
              <a:schemeClr val="bg1"/>
            </a:solidFill>
            <a:ln w="3175" cap="flat" cmpd="sng" algn="ctr">
              <a:solidFill>
                <a:schemeClr val="accent4">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576263">
                <a:spcBef>
                  <a:spcPts val="0"/>
                </a:spcBef>
                <a:spcAft>
                  <a:spcPts val="0"/>
                </a:spcAft>
                <a:buSzPts val="1800"/>
              </a:pPr>
              <a:r>
                <a:rPr lang="en-US" sz="1200" dirty="0">
                  <a:cs typeface="Calibri" panose="020F0502020204030204" pitchFamily="34" charset="0"/>
                </a:rPr>
                <a:t>Define Outcomes, Outputs and Indicators and key issues to be addressed on this workshop</a:t>
              </a:r>
            </a:p>
          </p:txBody>
        </p:sp>
        <p:sp>
          <p:nvSpPr>
            <p:cNvPr id="75" name="Rectangle 74">
              <a:extLst>
                <a:ext uri="{FF2B5EF4-FFF2-40B4-BE49-F238E27FC236}">
                  <a16:creationId xmlns:a16="http://schemas.microsoft.com/office/drawing/2014/main" id="{50B4E26A-9F7F-4DB9-9240-BBB8B62B34F8}"/>
                </a:ext>
              </a:extLst>
            </p:cNvPr>
            <p:cNvSpPr/>
            <p:nvPr/>
          </p:nvSpPr>
          <p:spPr bwMode="auto">
            <a:xfrm>
              <a:off x="478155" y="3760535"/>
              <a:ext cx="1104622" cy="632409"/>
            </a:xfrm>
            <a:prstGeom prst="rect">
              <a:avLst/>
            </a:prstGeom>
            <a:solidFill>
              <a:schemeClr val="accent4"/>
            </a:solidFill>
            <a:ln w="3175" cap="flat" cmpd="sng" algn="ctr">
              <a:noFill/>
              <a:prstDash val="solid"/>
              <a:round/>
              <a:headEnd type="none" w="med" len="med"/>
              <a:tailEnd type="none" w="med" len="med"/>
            </a:ln>
            <a:effectLst>
              <a:outerShdw dist="38100" dir="10800000" algn="r" rotWithShape="0">
                <a:schemeClr val="accent3">
                  <a:lumMod val="50000"/>
                </a:schemeClr>
              </a:outerShdw>
            </a:effectLst>
          </p:spPr>
          <p:txBody>
            <a:bodyPr vert="horz" wrap="none" lIns="91440" tIns="45720" rIns="91440" bIns="45720" numCol="1" rtlCol="0" anchor="ctr" anchorCtr="0" compatLnSpc="1">
              <a:prstTxWarp prst="textNoShape">
                <a:avLst/>
              </a:prstTxWarp>
              <a:noAutofit/>
            </a:bodyPr>
            <a:lstStyle/>
            <a:p>
              <a:pPr algn="ctr" fontAlgn="base">
                <a:spcBef>
                  <a:spcPct val="0"/>
                </a:spcBef>
                <a:spcAft>
                  <a:spcPct val="0"/>
                </a:spcAft>
              </a:pPr>
              <a:r>
                <a:rPr lang="en-US" sz="1400" b="1" dirty="0">
                  <a:solidFill>
                    <a:schemeClr val="bg1"/>
                  </a:solidFill>
                  <a:effectLst>
                    <a:outerShdw blurRad="50800" dist="38100" dir="5400000" algn="t" rotWithShape="0">
                      <a:prstClr val="black">
                        <a:alpha val="40000"/>
                      </a:prstClr>
                    </a:outerShdw>
                  </a:effectLst>
                </a:rPr>
                <a:t>What?</a:t>
              </a:r>
            </a:p>
          </p:txBody>
        </p:sp>
        <p:sp>
          <p:nvSpPr>
            <p:cNvPr id="76" name="Right Triangle 75">
              <a:extLst>
                <a:ext uri="{FF2B5EF4-FFF2-40B4-BE49-F238E27FC236}">
                  <a16:creationId xmlns:a16="http://schemas.microsoft.com/office/drawing/2014/main" id="{71848D1F-F244-4F6C-95CF-27029E1BCE54}"/>
                </a:ext>
              </a:extLst>
            </p:cNvPr>
            <p:cNvSpPr/>
            <p:nvPr/>
          </p:nvSpPr>
          <p:spPr bwMode="auto">
            <a:xfrm flipV="1">
              <a:off x="1092333" y="4392944"/>
              <a:ext cx="490445" cy="107232"/>
            </a:xfrm>
            <a:prstGeom prst="rtTriangle">
              <a:avLst/>
            </a:prstGeom>
            <a:solidFill>
              <a:schemeClr val="accent4">
                <a:lumMod val="75000"/>
              </a:schemeClr>
            </a:solidFill>
            <a:ln w="31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200" b="1" i="1" u="none" strike="noStrike" cap="none" normalizeH="0" baseline="0" dirty="0">
                <a:ln>
                  <a:noFill/>
                </a:ln>
                <a:solidFill>
                  <a:schemeClr val="tx1"/>
                </a:solidFill>
                <a:effectLst/>
              </a:endParaRPr>
            </a:p>
          </p:txBody>
        </p:sp>
      </p:grpSp>
      <p:grpSp>
        <p:nvGrpSpPr>
          <p:cNvPr id="6" name="Group 5">
            <a:extLst>
              <a:ext uri="{FF2B5EF4-FFF2-40B4-BE49-F238E27FC236}">
                <a16:creationId xmlns:a16="http://schemas.microsoft.com/office/drawing/2014/main" id="{7C010598-1372-4334-8825-59A872FECDBF}"/>
              </a:ext>
            </a:extLst>
          </p:cNvPr>
          <p:cNvGrpSpPr/>
          <p:nvPr/>
        </p:nvGrpSpPr>
        <p:grpSpPr>
          <a:xfrm>
            <a:off x="478155" y="4617413"/>
            <a:ext cx="5732145" cy="739641"/>
            <a:chOff x="478155" y="4606350"/>
            <a:chExt cx="5732145" cy="739641"/>
          </a:xfrm>
        </p:grpSpPr>
        <p:sp>
          <p:nvSpPr>
            <p:cNvPr id="78" name="Rectangle 77">
              <a:extLst>
                <a:ext uri="{FF2B5EF4-FFF2-40B4-BE49-F238E27FC236}">
                  <a16:creationId xmlns:a16="http://schemas.microsoft.com/office/drawing/2014/main" id="{56D82FB3-A556-467A-B2C2-FD7B48F1008F}"/>
                </a:ext>
              </a:extLst>
            </p:cNvPr>
            <p:cNvSpPr/>
            <p:nvPr/>
          </p:nvSpPr>
          <p:spPr bwMode="auto">
            <a:xfrm>
              <a:off x="1092334" y="4713582"/>
              <a:ext cx="5117966" cy="632409"/>
            </a:xfrm>
            <a:prstGeom prst="rect">
              <a:avLst/>
            </a:prstGeom>
            <a:solidFill>
              <a:schemeClr val="bg1"/>
            </a:solidFill>
            <a:ln w="317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576263">
                <a:spcBef>
                  <a:spcPts val="0"/>
                </a:spcBef>
                <a:spcAft>
                  <a:spcPts val="0"/>
                </a:spcAft>
                <a:buSzPts val="1800"/>
              </a:pPr>
              <a:r>
                <a:rPr lang="en-US" sz="1200" dirty="0">
                  <a:cs typeface="Calibri" panose="020F0502020204030204" pitchFamily="34" charset="0"/>
                </a:rPr>
                <a:t>Define correct timing of future workshop sessions as well as the timeline to carry out the results and conclusions of the workshop, with correct prioritization</a:t>
              </a:r>
            </a:p>
          </p:txBody>
        </p:sp>
        <p:sp>
          <p:nvSpPr>
            <p:cNvPr id="79" name="Rectangle 78">
              <a:extLst>
                <a:ext uri="{FF2B5EF4-FFF2-40B4-BE49-F238E27FC236}">
                  <a16:creationId xmlns:a16="http://schemas.microsoft.com/office/drawing/2014/main" id="{77361470-097B-4211-A059-949163C491C3}"/>
                </a:ext>
              </a:extLst>
            </p:cNvPr>
            <p:cNvSpPr/>
            <p:nvPr/>
          </p:nvSpPr>
          <p:spPr bwMode="auto">
            <a:xfrm>
              <a:off x="478155" y="4606350"/>
              <a:ext cx="1104622" cy="632409"/>
            </a:xfrm>
            <a:prstGeom prst="rect">
              <a:avLst/>
            </a:prstGeom>
            <a:solidFill>
              <a:schemeClr val="accent5"/>
            </a:solidFill>
            <a:ln w="3175" cap="flat" cmpd="sng" algn="ctr">
              <a:noFill/>
              <a:prstDash val="solid"/>
              <a:round/>
              <a:headEnd type="none" w="med" len="med"/>
              <a:tailEnd type="none" w="med" len="med"/>
            </a:ln>
            <a:effectLst>
              <a:outerShdw dist="38100" dir="10800000" algn="r" rotWithShape="0">
                <a:schemeClr val="accent5">
                  <a:lumMod val="75000"/>
                </a:schemeClr>
              </a:outerShdw>
            </a:effectLst>
          </p:spPr>
          <p:txBody>
            <a:bodyPr vert="horz" wrap="none" lIns="91440" tIns="45720" rIns="91440" bIns="45720" numCol="1" rtlCol="0" anchor="ctr" anchorCtr="0" compatLnSpc="1">
              <a:prstTxWarp prst="textNoShape">
                <a:avLst/>
              </a:prstTxWarp>
              <a:noAutofit/>
            </a:bodyPr>
            <a:lstStyle/>
            <a:p>
              <a:pPr algn="ctr" fontAlgn="base">
                <a:spcBef>
                  <a:spcPct val="0"/>
                </a:spcBef>
                <a:spcAft>
                  <a:spcPct val="0"/>
                </a:spcAft>
              </a:pPr>
              <a:r>
                <a:rPr lang="en-US" sz="1400" b="1" dirty="0">
                  <a:solidFill>
                    <a:schemeClr val="bg1"/>
                  </a:solidFill>
                  <a:effectLst>
                    <a:outerShdw blurRad="50800" dist="38100" dir="5400000" algn="t" rotWithShape="0">
                      <a:prstClr val="black">
                        <a:alpha val="40000"/>
                      </a:prstClr>
                    </a:outerShdw>
                  </a:effectLst>
                </a:rPr>
                <a:t>When?</a:t>
              </a:r>
            </a:p>
          </p:txBody>
        </p:sp>
        <p:sp>
          <p:nvSpPr>
            <p:cNvPr id="80" name="Right Triangle 79">
              <a:extLst>
                <a:ext uri="{FF2B5EF4-FFF2-40B4-BE49-F238E27FC236}">
                  <a16:creationId xmlns:a16="http://schemas.microsoft.com/office/drawing/2014/main" id="{24F8895B-636A-460A-A72B-ACFCC9334CCD}"/>
                </a:ext>
              </a:extLst>
            </p:cNvPr>
            <p:cNvSpPr/>
            <p:nvPr/>
          </p:nvSpPr>
          <p:spPr bwMode="auto">
            <a:xfrm flipV="1">
              <a:off x="1092333" y="5238759"/>
              <a:ext cx="490445" cy="107232"/>
            </a:xfrm>
            <a:prstGeom prst="rtTriangle">
              <a:avLst/>
            </a:prstGeom>
            <a:solidFill>
              <a:schemeClr val="accent5">
                <a:lumMod val="75000"/>
              </a:schemeClr>
            </a:solidFill>
            <a:ln w="31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200" b="1" i="1" u="none" strike="noStrike" cap="none" normalizeH="0" baseline="0" dirty="0">
                <a:ln>
                  <a:noFill/>
                </a:ln>
                <a:solidFill>
                  <a:schemeClr val="tx1"/>
                </a:solidFill>
                <a:effectLst/>
              </a:endParaRPr>
            </a:p>
          </p:txBody>
        </p:sp>
      </p:grpSp>
      <p:sp>
        <p:nvSpPr>
          <p:cNvPr id="81" name="Rectangle 80">
            <a:extLst>
              <a:ext uri="{FF2B5EF4-FFF2-40B4-BE49-F238E27FC236}">
                <a16:creationId xmlns:a16="http://schemas.microsoft.com/office/drawing/2014/main" id="{ABC2FA3A-E510-44A5-8F5F-D79E855D13A8}"/>
              </a:ext>
            </a:extLst>
          </p:cNvPr>
          <p:cNvSpPr/>
          <p:nvPr/>
        </p:nvSpPr>
        <p:spPr bwMode="gray">
          <a:xfrm>
            <a:off x="1" y="1163016"/>
            <a:ext cx="6210300" cy="855042"/>
          </a:xfrm>
          <a:prstGeom prst="rect">
            <a:avLst/>
          </a:prstGeom>
          <a:solidFill>
            <a:schemeClr val="bg1">
              <a:lumMod val="95000"/>
            </a:schemeClr>
          </a:solidFill>
          <a:ln w="3175" algn="ctr">
            <a:solidFill>
              <a:schemeClr val="bg1">
                <a:lumMod val="95000"/>
              </a:schemeClr>
            </a:solidFill>
            <a:miter lim="800000"/>
            <a:headEnd/>
            <a:tailEnd/>
          </a:ln>
        </p:spPr>
        <p:txBody>
          <a:bodyPr wrap="square" lIns="502920" tIns="88900" rIns="88900" bIns="88900" rtlCol="0" anchor="ctr">
            <a:spAutoFit/>
          </a:bodyPr>
          <a:lstStyle/>
          <a:p>
            <a:pPr>
              <a:lnSpc>
                <a:spcPct val="106000"/>
              </a:lnSpc>
              <a:buFont typeface="Wingdings 2" pitchFamily="18" charset="2"/>
              <a:buNone/>
            </a:pPr>
            <a:r>
              <a:rPr lang="en-US" sz="1400" dirty="0"/>
              <a:t>Our communication plan will involve constant communication with all stakeholders, including select Ministries/ States. We will solicit inputs through surveys and conduct workshops. Issues to be solved at this stage are:</a:t>
            </a:r>
          </a:p>
        </p:txBody>
      </p:sp>
      <p:grpSp>
        <p:nvGrpSpPr>
          <p:cNvPr id="7" name="Group 6">
            <a:extLst>
              <a:ext uri="{FF2B5EF4-FFF2-40B4-BE49-F238E27FC236}">
                <a16:creationId xmlns:a16="http://schemas.microsoft.com/office/drawing/2014/main" id="{5CE03CB6-C648-43E6-A4EF-E3184D5EA3A5}"/>
              </a:ext>
            </a:extLst>
          </p:cNvPr>
          <p:cNvGrpSpPr/>
          <p:nvPr/>
        </p:nvGrpSpPr>
        <p:grpSpPr>
          <a:xfrm>
            <a:off x="478155" y="5452164"/>
            <a:ext cx="5732145" cy="739641"/>
            <a:chOff x="478155" y="5452164"/>
            <a:chExt cx="5732145" cy="739641"/>
          </a:xfrm>
        </p:grpSpPr>
        <p:sp>
          <p:nvSpPr>
            <p:cNvPr id="83" name="Rectangle 82">
              <a:extLst>
                <a:ext uri="{FF2B5EF4-FFF2-40B4-BE49-F238E27FC236}">
                  <a16:creationId xmlns:a16="http://schemas.microsoft.com/office/drawing/2014/main" id="{5370E6FA-4F9B-4F6D-A829-2E98B91E3336}"/>
                </a:ext>
              </a:extLst>
            </p:cNvPr>
            <p:cNvSpPr/>
            <p:nvPr/>
          </p:nvSpPr>
          <p:spPr bwMode="auto">
            <a:xfrm>
              <a:off x="1092334" y="5559396"/>
              <a:ext cx="5117966" cy="632409"/>
            </a:xfrm>
            <a:prstGeom prst="rect">
              <a:avLst/>
            </a:prstGeom>
            <a:solidFill>
              <a:schemeClr val="bg1"/>
            </a:solidFill>
            <a:ln w="317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576263">
                <a:spcBef>
                  <a:spcPts val="0"/>
                </a:spcBef>
                <a:spcAft>
                  <a:spcPts val="0"/>
                </a:spcAft>
                <a:buSzPts val="1800"/>
              </a:pPr>
              <a:r>
                <a:rPr lang="en-US" sz="1200" dirty="0">
                  <a:cs typeface="Calibri" panose="020F0502020204030204" pitchFamily="34" charset="0"/>
                </a:rPr>
                <a:t>Define correct timing of future workshop sessions as well as the timeline to carry out the results and conclusions of the workshop, with correct prioritization</a:t>
              </a:r>
            </a:p>
          </p:txBody>
        </p:sp>
        <p:sp>
          <p:nvSpPr>
            <p:cNvPr id="84" name="Rectangle 83">
              <a:extLst>
                <a:ext uri="{FF2B5EF4-FFF2-40B4-BE49-F238E27FC236}">
                  <a16:creationId xmlns:a16="http://schemas.microsoft.com/office/drawing/2014/main" id="{6B8CF4FD-2D52-40E8-BA08-6D3E922D2888}"/>
                </a:ext>
              </a:extLst>
            </p:cNvPr>
            <p:cNvSpPr/>
            <p:nvPr/>
          </p:nvSpPr>
          <p:spPr bwMode="auto">
            <a:xfrm>
              <a:off x="478155" y="5452164"/>
              <a:ext cx="1104622" cy="632409"/>
            </a:xfrm>
            <a:prstGeom prst="rect">
              <a:avLst/>
            </a:prstGeom>
            <a:solidFill>
              <a:schemeClr val="accent6"/>
            </a:solidFill>
            <a:ln w="3175" cap="flat" cmpd="sng" algn="ctr">
              <a:noFill/>
              <a:prstDash val="solid"/>
              <a:round/>
              <a:headEnd type="none" w="med" len="med"/>
              <a:tailEnd type="none" w="med" len="med"/>
            </a:ln>
            <a:effectLst>
              <a:outerShdw dist="38100" dir="10800000" algn="r" rotWithShape="0">
                <a:schemeClr val="accent6">
                  <a:lumMod val="75000"/>
                </a:schemeClr>
              </a:outerShdw>
            </a:effectLst>
          </p:spPr>
          <p:txBody>
            <a:bodyPr vert="horz" wrap="none" lIns="91440" tIns="45720" rIns="91440" bIns="45720" numCol="1" rtlCol="0" anchor="ctr" anchorCtr="0" compatLnSpc="1">
              <a:prstTxWarp prst="textNoShape">
                <a:avLst/>
              </a:prstTxWarp>
              <a:noAutofit/>
            </a:bodyPr>
            <a:lstStyle/>
            <a:p>
              <a:pPr algn="ctr" fontAlgn="base">
                <a:spcBef>
                  <a:spcPct val="0"/>
                </a:spcBef>
                <a:spcAft>
                  <a:spcPct val="0"/>
                </a:spcAft>
              </a:pPr>
              <a:r>
                <a:rPr lang="en-US" sz="1400" b="1" dirty="0">
                  <a:solidFill>
                    <a:schemeClr val="bg1"/>
                  </a:solidFill>
                  <a:effectLst>
                    <a:outerShdw blurRad="50800" dist="38100" dir="5400000" algn="t" rotWithShape="0">
                      <a:prstClr val="black">
                        <a:alpha val="40000"/>
                      </a:prstClr>
                    </a:outerShdw>
                  </a:effectLst>
                </a:rPr>
                <a:t>Where?</a:t>
              </a:r>
            </a:p>
          </p:txBody>
        </p:sp>
        <p:sp>
          <p:nvSpPr>
            <p:cNvPr id="85" name="Right Triangle 84">
              <a:extLst>
                <a:ext uri="{FF2B5EF4-FFF2-40B4-BE49-F238E27FC236}">
                  <a16:creationId xmlns:a16="http://schemas.microsoft.com/office/drawing/2014/main" id="{96206EDB-CBAA-4B53-9FF4-DB0261B89B27}"/>
                </a:ext>
              </a:extLst>
            </p:cNvPr>
            <p:cNvSpPr/>
            <p:nvPr/>
          </p:nvSpPr>
          <p:spPr bwMode="auto">
            <a:xfrm flipV="1">
              <a:off x="1092333" y="6084573"/>
              <a:ext cx="490445" cy="107232"/>
            </a:xfrm>
            <a:prstGeom prst="rtTriangle">
              <a:avLst/>
            </a:prstGeom>
            <a:solidFill>
              <a:schemeClr val="accent6">
                <a:lumMod val="75000"/>
              </a:schemeClr>
            </a:solidFill>
            <a:ln w="31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200" b="1" i="1" u="none" strike="noStrike" cap="none" normalizeH="0" baseline="0" dirty="0">
                <a:ln>
                  <a:noFill/>
                </a:ln>
                <a:solidFill>
                  <a:schemeClr val="tx1"/>
                </a:solidFill>
                <a:effectLst/>
              </a:endParaRPr>
            </a:p>
          </p:txBody>
        </p:sp>
      </p:grpSp>
      <p:grpSp>
        <p:nvGrpSpPr>
          <p:cNvPr id="16" name="Group 15">
            <a:extLst>
              <a:ext uri="{FF2B5EF4-FFF2-40B4-BE49-F238E27FC236}">
                <a16:creationId xmlns:a16="http://schemas.microsoft.com/office/drawing/2014/main" id="{DBB08B6E-497A-4EA5-BEE4-0EC071133BB6}"/>
              </a:ext>
            </a:extLst>
          </p:cNvPr>
          <p:cNvGrpSpPr/>
          <p:nvPr/>
        </p:nvGrpSpPr>
        <p:grpSpPr>
          <a:xfrm>
            <a:off x="6350000" y="3366744"/>
            <a:ext cx="5362575" cy="2836663"/>
            <a:chOff x="6350000" y="3385070"/>
            <a:chExt cx="5362575" cy="2836663"/>
          </a:xfrm>
        </p:grpSpPr>
        <p:sp>
          <p:nvSpPr>
            <p:cNvPr id="20" name="TextBox 19">
              <a:extLst>
                <a:ext uri="{FF2B5EF4-FFF2-40B4-BE49-F238E27FC236}">
                  <a16:creationId xmlns:a16="http://schemas.microsoft.com/office/drawing/2014/main" id="{E2585712-D118-4290-AF44-9640DB74D21B}"/>
                </a:ext>
              </a:extLst>
            </p:cNvPr>
            <p:cNvSpPr txBox="1"/>
            <p:nvPr/>
          </p:nvSpPr>
          <p:spPr>
            <a:xfrm>
              <a:off x="9152255" y="4044775"/>
              <a:ext cx="2560320" cy="1828800"/>
            </a:xfrm>
            <a:prstGeom prst="rect">
              <a:avLst/>
            </a:prstGeom>
            <a:solidFill>
              <a:schemeClr val="bg1">
                <a:lumMod val="95000"/>
              </a:schemeClr>
            </a:solidFill>
          </p:spPr>
          <p:txBody>
            <a:bodyPr wrap="square" lIns="45720" tIns="45720" rIns="45720" bIns="45720" rtlCol="0">
              <a:noAutofit/>
            </a:body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200" dirty="0">
                  <a:solidFill>
                    <a:prstClr val="black"/>
                  </a:solidFill>
                  <a:latin typeface="+mj-lt"/>
                  <a:ea typeface="Verdana" panose="020B0604030504040204" pitchFamily="34" charset="0"/>
                  <a:cs typeface="Verdana" panose="020B0604030504040204" pitchFamily="34" charset="0"/>
                </a:rPr>
                <a:t>In a </a:t>
              </a:r>
              <a:r>
                <a:rPr kumimoji="0" lang="en-US" sz="12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shareable framework for policy makers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Managed for future decision making</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Active data collection from secondary sources undertaken on a continuous basis</a:t>
              </a:r>
              <a:endParaRPr kumimoji="0" lang="en-IN" sz="12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21" name="TextBox 20">
              <a:extLst>
                <a:ext uri="{FF2B5EF4-FFF2-40B4-BE49-F238E27FC236}">
                  <a16:creationId xmlns:a16="http://schemas.microsoft.com/office/drawing/2014/main" id="{3038173E-4713-4CDA-9EBE-E30223C5DC18}"/>
                </a:ext>
              </a:extLst>
            </p:cNvPr>
            <p:cNvSpPr txBox="1"/>
            <p:nvPr/>
          </p:nvSpPr>
          <p:spPr>
            <a:xfrm>
              <a:off x="6350000" y="4044775"/>
              <a:ext cx="2560320" cy="1831271"/>
            </a:xfrm>
            <a:prstGeom prst="rect">
              <a:avLst/>
            </a:prstGeom>
            <a:solidFill>
              <a:schemeClr val="bg1">
                <a:lumMod val="95000"/>
              </a:schemeClr>
            </a:solidFill>
          </p:spPr>
          <p:txBody>
            <a:bodyPr wrap="square" lIns="45720" tIns="45720" rIns="45720" bIns="45720" rtlCol="0">
              <a:spAutoFit/>
            </a:body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Discuss the proposed implementation roadmap</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Design Agenda materials </a:t>
              </a:r>
              <a:r>
                <a:rPr kumimoji="0" lang="en-US" sz="12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such as case studies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Outline delivery mechanism and evaluation methodology </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Formalize evaluation strategy, workshops will be evaluated and findings to be presented to officials </a:t>
              </a:r>
            </a:p>
          </p:txBody>
        </p:sp>
        <p:sp>
          <p:nvSpPr>
            <p:cNvPr id="22" name="Rounded Rectangle 32">
              <a:extLst>
                <a:ext uri="{FF2B5EF4-FFF2-40B4-BE49-F238E27FC236}">
                  <a16:creationId xmlns:a16="http://schemas.microsoft.com/office/drawing/2014/main" id="{401AED64-F7DF-4D27-94A6-661E5EDFC9F5}"/>
                </a:ext>
              </a:extLst>
            </p:cNvPr>
            <p:cNvSpPr/>
            <p:nvPr/>
          </p:nvSpPr>
          <p:spPr>
            <a:xfrm rot="16200000">
              <a:off x="8894129" y="3403287"/>
              <a:ext cx="274320" cy="536257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mj-lt"/>
                  <a:ea typeface="Verdana" panose="020B0604030504040204" pitchFamily="34" charset="0"/>
                  <a:cs typeface="Vani" panose="02040502050405020303" pitchFamily="18" charset="0"/>
                </a:rPr>
                <a:t>Continuous training and knowledge building throughout the project</a:t>
              </a:r>
              <a:endParaRPr kumimoji="0" lang="en-IN" sz="1200" b="1" i="0" u="none" strike="noStrike" kern="1200" cap="none" spc="0" normalizeH="0" baseline="0" noProof="0" dirty="0">
                <a:ln>
                  <a:noFill/>
                </a:ln>
                <a:solidFill>
                  <a:prstClr val="white"/>
                </a:solidFill>
                <a:effectLst/>
                <a:uLnTx/>
                <a:uFillTx/>
                <a:latin typeface="+mj-lt"/>
                <a:ea typeface="Verdana" panose="020B0604030504040204" pitchFamily="34" charset="0"/>
                <a:cs typeface="Vani" panose="02040502050405020303" pitchFamily="18" charset="0"/>
              </a:endParaRPr>
            </a:p>
          </p:txBody>
        </p:sp>
        <p:sp>
          <p:nvSpPr>
            <p:cNvPr id="9" name="Rectangle: Rounded Corners 8">
              <a:extLst>
                <a:ext uri="{FF2B5EF4-FFF2-40B4-BE49-F238E27FC236}">
                  <a16:creationId xmlns:a16="http://schemas.microsoft.com/office/drawing/2014/main" id="{EE972879-6276-4D69-BC11-9F1284AA4E57}"/>
                </a:ext>
              </a:extLst>
            </p:cNvPr>
            <p:cNvSpPr/>
            <p:nvPr/>
          </p:nvSpPr>
          <p:spPr bwMode="gray">
            <a:xfrm>
              <a:off x="8147368" y="3385070"/>
              <a:ext cx="1767839" cy="303657"/>
            </a:xfrm>
            <a:prstGeom prst="round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GB" sz="1400" b="1" dirty="0">
                  <a:solidFill>
                    <a:schemeClr val="bg1"/>
                  </a:solidFill>
                </a:rPr>
                <a:t>Approach</a:t>
              </a:r>
              <a:endParaRPr lang="en-IN" sz="1400" b="1" dirty="0">
                <a:solidFill>
                  <a:schemeClr val="bg1"/>
                </a:solidFill>
              </a:endParaRPr>
            </a:p>
          </p:txBody>
        </p:sp>
        <p:sp>
          <p:nvSpPr>
            <p:cNvPr id="10" name="Rectangle 9">
              <a:extLst>
                <a:ext uri="{FF2B5EF4-FFF2-40B4-BE49-F238E27FC236}">
                  <a16:creationId xmlns:a16="http://schemas.microsoft.com/office/drawing/2014/main" id="{8698A62A-61E4-48B0-87F2-9F9F205F9C83}"/>
                </a:ext>
              </a:extLst>
            </p:cNvPr>
            <p:cNvSpPr/>
            <p:nvPr/>
          </p:nvSpPr>
          <p:spPr>
            <a:xfrm>
              <a:off x="6350000" y="3787634"/>
              <a:ext cx="2560320" cy="276999"/>
            </a:xfrm>
            <a:prstGeom prst="rect">
              <a:avLst/>
            </a:prstGeom>
            <a:solidFill>
              <a:schemeClr val="accent2">
                <a:lumMod val="20000"/>
                <a:lumOff val="80000"/>
              </a:schemeClr>
            </a:solidFill>
          </p:spPr>
          <p:txBody>
            <a:bodyPr wrap="none">
              <a:spAutoFit/>
            </a:bodyPr>
            <a:lstStyle/>
            <a:p>
              <a:pPr lvl="0" algn="ctr">
                <a:spcAft>
                  <a:spcPts val="200"/>
                </a:spcAft>
                <a:defRPr/>
              </a:pPr>
              <a:r>
                <a:rPr lang="en-US" sz="1200" b="1" dirty="0">
                  <a:ea typeface="Verdana" panose="020B0604030504040204" pitchFamily="34" charset="0"/>
                  <a:cs typeface="Verdana" panose="020B0604030504040204" pitchFamily="34" charset="0"/>
                </a:rPr>
                <a:t>Trainings and Workshops</a:t>
              </a:r>
            </a:p>
          </p:txBody>
        </p:sp>
        <p:sp>
          <p:nvSpPr>
            <p:cNvPr id="11" name="Rectangle 10">
              <a:extLst>
                <a:ext uri="{FF2B5EF4-FFF2-40B4-BE49-F238E27FC236}">
                  <a16:creationId xmlns:a16="http://schemas.microsoft.com/office/drawing/2014/main" id="{9DC7CB97-E99A-4124-9682-160D7D234FE9}"/>
                </a:ext>
              </a:extLst>
            </p:cNvPr>
            <p:cNvSpPr/>
            <p:nvPr/>
          </p:nvSpPr>
          <p:spPr>
            <a:xfrm>
              <a:off x="9152255" y="3787634"/>
              <a:ext cx="2560320" cy="276999"/>
            </a:xfrm>
            <a:prstGeom prst="rect">
              <a:avLst/>
            </a:prstGeom>
            <a:solidFill>
              <a:schemeClr val="accent2">
                <a:lumMod val="20000"/>
                <a:lumOff val="80000"/>
              </a:schemeClr>
            </a:solidFill>
          </p:spPr>
          <p:txBody>
            <a:bodyPr wrap="none">
              <a:spAutoFit/>
            </a:bodyPr>
            <a:lstStyle/>
            <a:p>
              <a:pPr lvl="0" algn="ctr">
                <a:spcAft>
                  <a:spcPts val="200"/>
                </a:spcAft>
                <a:defRPr/>
              </a:pPr>
              <a:r>
                <a:rPr lang="en-US" sz="1200" b="1" dirty="0">
                  <a:ea typeface="Verdana" panose="020B0604030504040204" pitchFamily="34" charset="0"/>
                  <a:cs typeface="Verdana" panose="020B0604030504040204" pitchFamily="34" charset="0"/>
                </a:rPr>
                <a:t>Knowledge Storage</a:t>
              </a:r>
            </a:p>
          </p:txBody>
        </p:sp>
        <p:cxnSp>
          <p:nvCxnSpPr>
            <p:cNvPr id="13" name="Connector: Elbow 12">
              <a:extLst>
                <a:ext uri="{FF2B5EF4-FFF2-40B4-BE49-F238E27FC236}">
                  <a16:creationId xmlns:a16="http://schemas.microsoft.com/office/drawing/2014/main" id="{F3C7085D-04AB-4EB5-A979-43C38041665E}"/>
                </a:ext>
              </a:extLst>
            </p:cNvPr>
            <p:cNvCxnSpPr>
              <a:stCxn id="9" idx="1"/>
              <a:endCxn id="10" idx="0"/>
            </p:cNvCxnSpPr>
            <p:nvPr/>
          </p:nvCxnSpPr>
          <p:spPr>
            <a:xfrm rot="10800000" flipV="1">
              <a:off x="7630160" y="3536898"/>
              <a:ext cx="517208" cy="250735"/>
            </a:xfrm>
            <a:prstGeom prst="bentConnector2">
              <a:avLst/>
            </a:prstGeom>
            <a:ln w="127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A860896A-C826-4E10-90E8-90C247384323}"/>
                </a:ext>
              </a:extLst>
            </p:cNvPr>
            <p:cNvCxnSpPr>
              <a:stCxn id="9" idx="3"/>
              <a:endCxn id="11" idx="0"/>
            </p:cNvCxnSpPr>
            <p:nvPr/>
          </p:nvCxnSpPr>
          <p:spPr>
            <a:xfrm>
              <a:off x="9915207" y="3536899"/>
              <a:ext cx="517208" cy="250735"/>
            </a:xfrm>
            <a:prstGeom prst="bentConnector2">
              <a:avLst/>
            </a:prstGeom>
            <a:ln w="127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537550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IesoQRCQ.0OHSklvKjpXog"/>
</p:tagLst>
</file>

<file path=ppt/theme/theme1.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7C0B5E8C28FBB4DB6BB6E6547CA8A70" ma:contentTypeVersion="13" ma:contentTypeDescription="Create a new document." ma:contentTypeScope="" ma:versionID="0a46a10188038176b4a387d52ea71e7a">
  <xsd:schema xmlns:xsd="http://www.w3.org/2001/XMLSchema" xmlns:xs="http://www.w3.org/2001/XMLSchema" xmlns:p="http://schemas.microsoft.com/office/2006/metadata/properties" xmlns:ns3="8f1e2369-70da-40d7-b978-99d0855b91b8" xmlns:ns4="8ee28f6f-733e-446a-845c-015b8614e1f7" targetNamespace="http://schemas.microsoft.com/office/2006/metadata/properties" ma:root="true" ma:fieldsID="79067f50d15324d46a422f953b0a6563" ns3:_="" ns4:_="">
    <xsd:import namespace="8f1e2369-70da-40d7-b978-99d0855b91b8"/>
    <xsd:import namespace="8ee28f6f-733e-446a-845c-015b8614e1f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e2369-70da-40d7-b978-99d0855b91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ee28f6f-733e-446a-845c-015b8614e1f7"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BF5FBC8-9FF1-4377-BFED-A78611F885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e2369-70da-40d7-b978-99d0855b91b8"/>
    <ds:schemaRef ds:uri="8ee28f6f-733e-446a-845c-015b8614e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12E9EB6-BE14-4E9B-B53A-6D95BDD731E5}">
  <ds:schemaRefs>
    <ds:schemaRef ds:uri="http://schemas.microsoft.com/sharepoint/v3/contenttype/forms"/>
  </ds:schemaRefs>
</ds:datastoreItem>
</file>

<file path=customXml/itemProps3.xml><?xml version="1.0" encoding="utf-8"?>
<ds:datastoreItem xmlns:ds="http://schemas.openxmlformats.org/officeDocument/2006/customXml" ds:itemID="{BA05E49B-70B5-4FEC-89D5-F69F52BE5B81}">
  <ds:schemaRefs>
    <ds:schemaRef ds:uri="8f1e2369-70da-40d7-b978-99d0855b91b8"/>
    <ds:schemaRef ds:uri="http://purl.org/dc/elements/1.1/"/>
    <ds:schemaRef ds:uri="http://schemas.microsoft.com/office/2006/metadata/properties"/>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8ee28f6f-733e-446a-845c-015b8614e1f7"/>
    <ds:schemaRef ds:uri="http://www.w3.org/XML/1998/namespace"/>
    <ds:schemaRef ds:uri="http://purl.org/dc/dcmitype/"/>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
  <TotalTime>5095</TotalTime>
  <Words>3154</Words>
  <Application>Microsoft Office PowerPoint</Application>
  <PresentationFormat>Widescreen</PresentationFormat>
  <Paragraphs>403</Paragraphs>
  <Slides>18</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9" baseType="lpstr">
      <vt:lpstr>ＭＳ Ｐゴシック</vt:lpstr>
      <vt:lpstr>Arial</vt:lpstr>
      <vt:lpstr>Calibri</vt:lpstr>
      <vt:lpstr>Calibri Light</vt:lpstr>
      <vt:lpstr>Gotham Book</vt:lpstr>
      <vt:lpstr>Open Sans</vt:lpstr>
      <vt:lpstr>Raleway</vt:lpstr>
      <vt:lpstr>Verdana</vt:lpstr>
      <vt:lpstr>Wingdings 2</vt:lpstr>
      <vt:lpstr>Deloitte Brand Theme</vt:lpstr>
      <vt:lpstr>think-cell Slide</vt:lpstr>
      <vt:lpstr>Establishment of a Program Management Unit (PMU) to support Development Monitoring &amp; Evaluation Office (DMEO) in the Institutionalization of Output Outcome Monitoring Framework, Government of India </vt:lpstr>
      <vt:lpstr>With you today …</vt:lpstr>
      <vt:lpstr>PowerPoint Presentation</vt:lpstr>
      <vt:lpstr>Background</vt:lpstr>
      <vt:lpstr>Challenges and Potential Solutions</vt:lpstr>
      <vt:lpstr>Challenges and Potential Solutions</vt:lpstr>
      <vt:lpstr>PowerPoint Presentation</vt:lpstr>
      <vt:lpstr>Approach and methodology</vt:lpstr>
      <vt:lpstr>Maturity Assessment for Ministries/ Departments and States</vt:lpstr>
      <vt:lpstr>Workplan</vt:lpstr>
      <vt:lpstr>Why Deloitte</vt:lpstr>
      <vt:lpstr>PowerPoint Presentation</vt:lpstr>
      <vt:lpstr>IMAGINE - Discover and Design</vt:lpstr>
      <vt:lpstr>DELIVER – Refine and Build</vt:lpstr>
      <vt:lpstr>RUN – Scale</vt:lpstr>
      <vt:lpstr>Good Practices</vt:lpstr>
      <vt:lpstr>Dashboard</vt:lpstr>
      <vt:lpstr>Communication plan and Knowledge transfer</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heading in Calibri  Light Green that can be up to  three lines of text</dc:title>
  <dc:creator>Schulfer, Gretchen</dc:creator>
  <cp:lastModifiedBy>Agarwal, Kartik</cp:lastModifiedBy>
  <cp:revision>224</cp:revision>
  <cp:lastPrinted>2014-06-25T02:16:22Z</cp:lastPrinted>
  <dcterms:created xsi:type="dcterms:W3CDTF">2020-03-02T22:28:28Z</dcterms:created>
  <dcterms:modified xsi:type="dcterms:W3CDTF">2026-09-09T04:06:48Z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0x01010097C0B5E8C28FBB4DB6BB6E6547CA8A70</vt:lpwstr>
  </property>
</Properties>
</file>